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0693400" cy="7556500"/>
  <p:notesSz cx="10693400" cy="7556500"/>
  <p:embeddedFontLst>
    <p:embeddedFont>
      <p:font typeface="AQLSTS+CambriaMath" panose="02010600030101010101"/>
      <p:regular r:id="rId43"/>
    </p:embeddedFont>
    <p:embeddedFont>
      <p:font typeface="BGOEJJ+CambriaMath" panose="02010600030101010101"/>
      <p:regular r:id="rId44"/>
    </p:embeddedFont>
    <p:embeddedFont>
      <p:font typeface="BIIUEC+Calibri-Italic" panose="02010600030101010101"/>
      <p:regular r:id="rId45"/>
    </p:embeddedFont>
    <p:embeddedFont>
      <p:font typeface="BJWHHU+Calibri" panose="02010600030101010101"/>
      <p:regular r:id="rId46"/>
    </p:embeddedFont>
    <p:embeddedFont>
      <p:font typeface="HAIBBO+Wingdings-Regular" panose="02010600030101010101"/>
      <p:regular r:id="rId47"/>
    </p:embeddedFont>
    <p:embeddedFont>
      <p:font typeface="IIJPII+Calibri-Bold" panose="02010600030101010101"/>
      <p:regular r:id="rId48"/>
    </p:embeddedFont>
    <p:embeddedFont>
      <p:font typeface="IJHIHP+CambriaMath" panose="02010600030101010101"/>
      <p:regular r:id="rId49"/>
    </p:embeddedFont>
    <p:embeddedFont>
      <p:font typeface="Liberation Mono" panose="02010600030101010101" charset="0"/>
      <p:regular r:id="rId50"/>
    </p:embeddedFont>
    <p:embeddedFont>
      <p:font typeface="QNTEJG+CambriaMath" panose="02010600030101010101"/>
      <p:regular r:id="rId51"/>
    </p:embeddedFont>
    <p:embeddedFont>
      <p:font typeface="RCJOGL+Calibri-Bold" panose="02010600030101010101"/>
      <p:regular r:id="rId52"/>
    </p:embeddedFont>
    <p:embeddedFont>
      <p:font typeface="ROCVNK+CambriaMath" panose="02010600030101010101"/>
      <p:regular r:id="rId53"/>
    </p:embeddedFont>
    <p:embeddedFont>
      <p:font typeface="TSTUTO+ArialMT" panose="02010600030101010101"/>
      <p:regular r:id="rId54"/>
    </p:embeddedFont>
    <p:embeddedFont>
      <p:font typeface="VRPTNA+Calibri-Bold" panose="02010600030101010101"/>
      <p:regular r:id="rId55"/>
    </p:embeddedFont>
    <p:embeddedFont>
      <p:font typeface="WROTKO+Calibri" panose="02010600030101010101"/>
      <p:regular r:id="rId5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892" y="6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39" Type="http://schemas.openxmlformats.org/officeDocument/2006/relationships/image" Target="../media/image59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42" Type="http://schemas.openxmlformats.org/officeDocument/2006/relationships/image" Target="../media/image62.png"/><Relationship Id="rId47" Type="http://schemas.openxmlformats.org/officeDocument/2006/relationships/image" Target="../media/image67.png"/><Relationship Id="rId50" Type="http://schemas.openxmlformats.org/officeDocument/2006/relationships/image" Target="../media/image70.png"/><Relationship Id="rId55" Type="http://schemas.openxmlformats.org/officeDocument/2006/relationships/image" Target="../media/image75.png"/><Relationship Id="rId63" Type="http://schemas.openxmlformats.org/officeDocument/2006/relationships/image" Target="../media/image8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9" Type="http://schemas.openxmlformats.org/officeDocument/2006/relationships/image" Target="../media/image49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image" Target="../media/image60.png"/><Relationship Id="rId45" Type="http://schemas.openxmlformats.org/officeDocument/2006/relationships/image" Target="../media/image65.png"/><Relationship Id="rId53" Type="http://schemas.openxmlformats.org/officeDocument/2006/relationships/image" Target="../media/image73.png"/><Relationship Id="rId58" Type="http://schemas.openxmlformats.org/officeDocument/2006/relationships/image" Target="../media/image78.png"/><Relationship Id="rId5" Type="http://schemas.openxmlformats.org/officeDocument/2006/relationships/image" Target="../media/image25.png"/><Relationship Id="rId61" Type="http://schemas.openxmlformats.org/officeDocument/2006/relationships/image" Target="../media/image81.png"/><Relationship Id="rId19" Type="http://schemas.openxmlformats.org/officeDocument/2006/relationships/image" Target="../media/image3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43" Type="http://schemas.openxmlformats.org/officeDocument/2006/relationships/image" Target="../media/image63.png"/><Relationship Id="rId48" Type="http://schemas.openxmlformats.org/officeDocument/2006/relationships/image" Target="../media/image68.png"/><Relationship Id="rId56" Type="http://schemas.openxmlformats.org/officeDocument/2006/relationships/image" Target="../media/image76.png"/><Relationship Id="rId8" Type="http://schemas.openxmlformats.org/officeDocument/2006/relationships/image" Target="../media/image28.png"/><Relationship Id="rId51" Type="http://schemas.openxmlformats.org/officeDocument/2006/relationships/image" Target="../media/image71.png"/><Relationship Id="rId3" Type="http://schemas.openxmlformats.org/officeDocument/2006/relationships/image" Target="../media/image23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Relationship Id="rId46" Type="http://schemas.openxmlformats.org/officeDocument/2006/relationships/image" Target="../media/image66.png"/><Relationship Id="rId59" Type="http://schemas.openxmlformats.org/officeDocument/2006/relationships/image" Target="../media/image79.png"/><Relationship Id="rId20" Type="http://schemas.openxmlformats.org/officeDocument/2006/relationships/image" Target="../media/image40.png"/><Relationship Id="rId41" Type="http://schemas.openxmlformats.org/officeDocument/2006/relationships/image" Target="../media/image61.png"/><Relationship Id="rId54" Type="http://schemas.openxmlformats.org/officeDocument/2006/relationships/image" Target="../media/image74.png"/><Relationship Id="rId6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49" Type="http://schemas.openxmlformats.org/officeDocument/2006/relationships/image" Target="../media/image69.png"/><Relationship Id="rId57" Type="http://schemas.openxmlformats.org/officeDocument/2006/relationships/image" Target="../media/image77.png"/><Relationship Id="rId10" Type="http://schemas.openxmlformats.org/officeDocument/2006/relationships/image" Target="../media/image30.png"/><Relationship Id="rId31" Type="http://schemas.openxmlformats.org/officeDocument/2006/relationships/image" Target="../media/image51.png"/><Relationship Id="rId44" Type="http://schemas.openxmlformats.org/officeDocument/2006/relationships/image" Target="../media/image64.png"/><Relationship Id="rId52" Type="http://schemas.openxmlformats.org/officeDocument/2006/relationships/image" Target="../media/image72.png"/><Relationship Id="rId60" Type="http://schemas.openxmlformats.org/officeDocument/2006/relationships/image" Target="../media/image8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05.png"/><Relationship Id="rId26" Type="http://schemas.openxmlformats.org/officeDocument/2006/relationships/image" Target="../media/image113.png"/><Relationship Id="rId3" Type="http://schemas.openxmlformats.org/officeDocument/2006/relationships/image" Target="../media/image90.png"/><Relationship Id="rId21" Type="http://schemas.openxmlformats.org/officeDocument/2006/relationships/image" Target="../media/image108.png"/><Relationship Id="rId34" Type="http://schemas.openxmlformats.org/officeDocument/2006/relationships/image" Target="../media/image121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17" Type="http://schemas.openxmlformats.org/officeDocument/2006/relationships/image" Target="../media/image104.png"/><Relationship Id="rId25" Type="http://schemas.openxmlformats.org/officeDocument/2006/relationships/image" Target="../media/image112.png"/><Relationship Id="rId33" Type="http://schemas.openxmlformats.org/officeDocument/2006/relationships/image" Target="../media/image120.png"/><Relationship Id="rId2" Type="http://schemas.openxmlformats.org/officeDocument/2006/relationships/image" Target="../media/image89.png"/><Relationship Id="rId16" Type="http://schemas.openxmlformats.org/officeDocument/2006/relationships/image" Target="../media/image103.png"/><Relationship Id="rId20" Type="http://schemas.openxmlformats.org/officeDocument/2006/relationships/image" Target="../media/image107.png"/><Relationship Id="rId29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24" Type="http://schemas.openxmlformats.org/officeDocument/2006/relationships/image" Target="../media/image111.png"/><Relationship Id="rId32" Type="http://schemas.openxmlformats.org/officeDocument/2006/relationships/image" Target="../media/image119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23" Type="http://schemas.openxmlformats.org/officeDocument/2006/relationships/image" Target="../media/image110.png"/><Relationship Id="rId28" Type="http://schemas.openxmlformats.org/officeDocument/2006/relationships/image" Target="../media/image115.png"/><Relationship Id="rId36" Type="http://schemas.openxmlformats.org/officeDocument/2006/relationships/image" Target="../media/image123.png"/><Relationship Id="rId10" Type="http://schemas.openxmlformats.org/officeDocument/2006/relationships/image" Target="../media/image97.png"/><Relationship Id="rId19" Type="http://schemas.openxmlformats.org/officeDocument/2006/relationships/image" Target="../media/image106.png"/><Relationship Id="rId31" Type="http://schemas.openxmlformats.org/officeDocument/2006/relationships/image" Target="../media/image118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Relationship Id="rId22" Type="http://schemas.openxmlformats.org/officeDocument/2006/relationships/image" Target="../media/image109.png"/><Relationship Id="rId27" Type="http://schemas.openxmlformats.org/officeDocument/2006/relationships/image" Target="../media/image114.png"/><Relationship Id="rId30" Type="http://schemas.openxmlformats.org/officeDocument/2006/relationships/image" Target="../media/image117.png"/><Relationship Id="rId35" Type="http://schemas.openxmlformats.org/officeDocument/2006/relationships/image" Target="../media/image122.png"/><Relationship Id="rId8" Type="http://schemas.openxmlformats.org/officeDocument/2006/relationships/image" Target="../media/image9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50.png"/><Relationship Id="rId3" Type="http://schemas.openxmlformats.org/officeDocument/2006/relationships/image" Target="../media/image127.png"/><Relationship Id="rId21" Type="http://schemas.openxmlformats.org/officeDocument/2006/relationships/image" Target="../media/image14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2" Type="http://schemas.openxmlformats.org/officeDocument/2006/relationships/image" Target="../media/image126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2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26" Type="http://schemas.openxmlformats.org/officeDocument/2006/relationships/image" Target="../media/image186.png"/><Relationship Id="rId3" Type="http://schemas.openxmlformats.org/officeDocument/2006/relationships/image" Target="../media/image163.png"/><Relationship Id="rId21" Type="http://schemas.openxmlformats.org/officeDocument/2006/relationships/image" Target="../media/image181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5.png"/><Relationship Id="rId2" Type="http://schemas.openxmlformats.org/officeDocument/2006/relationships/image" Target="../media/image162.png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29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24" Type="http://schemas.openxmlformats.org/officeDocument/2006/relationships/image" Target="../media/image184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28" Type="http://schemas.openxmlformats.org/officeDocument/2006/relationships/image" Target="../media/image188.png"/><Relationship Id="rId10" Type="http://schemas.openxmlformats.org/officeDocument/2006/relationships/image" Target="../media/image170.png"/><Relationship Id="rId19" Type="http://schemas.openxmlformats.org/officeDocument/2006/relationships/image" Target="../media/image179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Relationship Id="rId27" Type="http://schemas.openxmlformats.org/officeDocument/2006/relationships/image" Target="../media/image18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6.png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6848" y="2644417"/>
            <a:ext cx="3622598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F243E"/>
                </a:solidFill>
                <a:latin typeface="RCJOGL+Calibri-Bold"/>
                <a:cs typeface="RCJOGL+Calibri-Bold"/>
              </a:rPr>
              <a:t>INT305</a:t>
            </a:r>
            <a:r>
              <a:rPr sz="2500" spc="-354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6" dirty="0">
                <a:solidFill>
                  <a:srgbClr val="0F243E"/>
                </a:solidFill>
                <a:latin typeface="RCJOGL+Calibri-Bold"/>
                <a:cs typeface="RCJOGL+Calibri-Bold"/>
              </a:rPr>
              <a:t>Machine</a:t>
            </a:r>
            <a:r>
              <a:rPr sz="2500" spc="-926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RCJOGL+Calibri-Bold"/>
                <a:cs typeface="RCJOGL+Calibri-Bold"/>
              </a:rPr>
              <a:t>Learning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8537" y="3089425"/>
            <a:ext cx="1379171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4" dirty="0">
                <a:solidFill>
                  <a:srgbClr val="0F243E"/>
                </a:solidFill>
                <a:latin typeface="RCJOGL+Calibri-Bold"/>
                <a:cs typeface="RCJOGL+Calibri-Bold"/>
              </a:rPr>
              <a:t>Lecture</a:t>
            </a:r>
            <a:r>
              <a:rPr sz="2500" spc="-923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dirty="0">
                <a:solidFill>
                  <a:srgbClr val="0F243E"/>
                </a:solidFill>
                <a:latin typeface="RCJOGL+Calibri-Bold"/>
                <a:cs typeface="RCJOGL+Calibri-Bold"/>
              </a:rPr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4112" y="3470425"/>
            <a:ext cx="838682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3" dirty="0">
                <a:solidFill>
                  <a:srgbClr val="0F243E"/>
                </a:solidFill>
                <a:latin typeface="RCJOGL+Calibri-Bold"/>
                <a:cs typeface="RCJOGL+Calibri-Bold"/>
              </a:rPr>
              <a:t>Linear</a:t>
            </a:r>
            <a:r>
              <a:rPr sz="2500" spc="-927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RCJOGL+Calibri-Bold"/>
                <a:cs typeface="RCJOGL+Calibri-Bold"/>
              </a:rPr>
              <a:t>Classifiers,</a:t>
            </a:r>
            <a:r>
              <a:rPr sz="2500" spc="-930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RCJOGL+Calibri-Bold"/>
                <a:cs typeface="RCJOGL+Calibri-Bold"/>
              </a:rPr>
              <a:t>Logistic</a:t>
            </a:r>
            <a:r>
              <a:rPr sz="2500" spc="-927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5" dirty="0">
                <a:solidFill>
                  <a:srgbClr val="0F243E"/>
                </a:solidFill>
                <a:latin typeface="RCJOGL+Calibri-Bold"/>
                <a:cs typeface="RCJOGL+Calibri-Bold"/>
              </a:rPr>
              <a:t>Regression,</a:t>
            </a:r>
            <a:r>
              <a:rPr sz="2500" spc="-932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4" dirty="0">
                <a:solidFill>
                  <a:srgbClr val="0F243E"/>
                </a:solidFill>
                <a:latin typeface="RCJOGL+Calibri-Bold"/>
                <a:cs typeface="RCJOGL+Calibri-Bold"/>
              </a:rPr>
              <a:t>Multiclass</a:t>
            </a:r>
            <a:r>
              <a:rPr sz="2500" spc="-929" dirty="0">
                <a:solidFill>
                  <a:srgbClr val="0F243E"/>
                </a:solidFill>
                <a:latin typeface="RCJOGL+Calibri-Bold"/>
                <a:cs typeface="RCJOGL+Calibri-Bold"/>
              </a:rPr>
              <a:t> </a:t>
            </a:r>
            <a:r>
              <a:rPr sz="2500" spc="13" dirty="0">
                <a:solidFill>
                  <a:srgbClr val="0F243E"/>
                </a:solidFill>
                <a:latin typeface="RCJOGL+Calibri-Bold"/>
                <a:cs typeface="RCJOGL+Calibri-Bold"/>
              </a:rPr>
              <a:t>Classification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746119" y="4497231"/>
            <a:ext cx="3747626" cy="112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3759" marR="0">
              <a:lnSpc>
                <a:spcPts val="2564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Sichen</a:t>
            </a:r>
            <a:r>
              <a:rPr sz="2100" spc="-786" dirty="0">
                <a:solidFill>
                  <a:srgbClr val="0F243E"/>
                </a:solidFill>
                <a:latin typeface="IIJPII+Calibri-Bold"/>
                <a:cs typeface="IIJPII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Liu</a:t>
            </a:r>
          </a:p>
          <a:p>
            <a:pPr marL="0" marR="0">
              <a:lnSpc>
                <a:spcPts val="2564"/>
              </a:lnSpc>
              <a:spcBef>
                <a:spcPts val="409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Department</a:t>
            </a:r>
            <a:r>
              <a:rPr sz="2100" spc="-785" dirty="0">
                <a:solidFill>
                  <a:srgbClr val="0F243E"/>
                </a:solidFill>
                <a:latin typeface="IIJPII+Calibri-Bold"/>
                <a:cs typeface="IIJPII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Intelligence</a:t>
            </a:r>
            <a:r>
              <a:rPr sz="2100" spc="-784" dirty="0">
                <a:solidFill>
                  <a:srgbClr val="0F243E"/>
                </a:solidFill>
                <a:latin typeface="IIJPII+Calibri-Bold"/>
                <a:cs typeface="IIJPII+Calibri-Bold"/>
              </a:rPr>
              <a:t> </a:t>
            </a: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Science</a:t>
            </a:r>
          </a:p>
          <a:p>
            <a:pPr marL="491401" marR="0">
              <a:lnSpc>
                <a:spcPts val="2564"/>
              </a:lnSpc>
              <a:spcBef>
                <a:spcPts val="435"/>
              </a:spcBef>
              <a:spcAft>
                <a:spcPts val="0"/>
              </a:spcAft>
            </a:pPr>
            <a:r>
              <a:rPr sz="2100" dirty="0">
                <a:solidFill>
                  <a:srgbClr val="0F243E"/>
                </a:solidFill>
                <a:latin typeface="IIJPII+Calibri-Bold"/>
                <a:cs typeface="IIJPII+Calibri-Bold"/>
              </a:rPr>
              <a:t>Sichen.Liu@xjtlu.edu.cn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1" y="1196613"/>
            <a:ext cx="138974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2060"/>
                </a:solidFill>
                <a:latin typeface="BJWHHU+Calibri"/>
                <a:cs typeface="BJWHHU+Calibri"/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41654"/>
            <a:ext cx="519879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Classification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predicting a discrete-valued target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0608" y="2204076"/>
            <a:ext cx="7168799" cy="602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FF0000"/>
                </a:solidFill>
                <a:latin typeface="TSTUTO+ArialMT"/>
                <a:cs typeface="TSTUTO+ArialMT"/>
              </a:rPr>
              <a:t>Binary classification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: predicting a binary-valued target</a:t>
            </a:r>
          </a:p>
          <a:p>
            <a:pPr marL="0" marR="0">
              <a:lnSpc>
                <a:spcPts val="2228"/>
              </a:lnSpc>
              <a:spcBef>
                <a:spcPts val="94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FF0000"/>
                </a:solidFill>
                <a:latin typeface="TSTUTO+ArialMT"/>
                <a:cs typeface="TSTUTO+ArialMT"/>
              </a:rPr>
              <a:t>Multiclass classification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: predicting a discrete(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&gt;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2)-valued target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3192502"/>
            <a:ext cx="358571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Examples of binary classification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60608" y="3634462"/>
            <a:ext cx="8396694" cy="905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Predict whether a patient has a disease, given the presence or absence of various</a:t>
            </a:r>
          </a:p>
          <a:p>
            <a:pPr marL="271468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symptoms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Classify e-mails as spam or non-spam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0608" y="4497046"/>
            <a:ext cx="551336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Predict whether a financial transaction is fraudulent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1" y="1196613"/>
            <a:ext cx="138974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44702"/>
            <a:ext cx="276800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Binary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linear</a:t>
            </a:r>
            <a:r>
              <a:rPr sz="1900" spc="-715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classification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2113394"/>
            <a:ext cx="8545128" cy="652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Classification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given a </a:t>
            </a:r>
            <a:r>
              <a:rPr sz="1900" spc="56" dirty="0">
                <a:solidFill>
                  <a:srgbClr val="000000"/>
                </a:solidFill>
                <a:latin typeface="IJHIHP+CambriaMath"/>
                <a:cs typeface="IJHIHP+CambriaMath"/>
              </a:rPr>
              <a:t>ꢀ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-dimensional input </a:t>
            </a:r>
            <a:r>
              <a:rPr sz="1900" spc="353" dirty="0">
                <a:solidFill>
                  <a:srgbClr val="000000"/>
                </a:solidFill>
                <a:latin typeface="IJHIHP+CambriaMath"/>
                <a:cs typeface="IJHIHP+CambriaMath"/>
              </a:rPr>
              <a:t>ꢁ∈ℝ</a:t>
            </a:r>
            <a:r>
              <a:rPr sz="2100" baseline="37894" dirty="0">
                <a:solidFill>
                  <a:srgbClr val="000000"/>
                </a:solidFill>
                <a:latin typeface="BGOEJJ+CambriaMath"/>
                <a:cs typeface="BGOEJJ+CambriaMath"/>
              </a:rPr>
              <a:t>!</a:t>
            </a:r>
            <a:r>
              <a:rPr sz="2100" spc="-315" baseline="378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predict a discrete-valued target</a:t>
            </a:r>
          </a:p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Binary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predict a binary target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576" dirty="0">
                <a:solidFill>
                  <a:srgbClr val="000000"/>
                </a:solidFill>
                <a:latin typeface="IJHIHP+CambriaMath"/>
                <a:cs typeface="IJHIHP+CambriaMath"/>
              </a:rPr>
              <a:t>ꢂ∈</a:t>
            </a:r>
            <a:r>
              <a:rPr sz="1900" spc="-4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0,1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75688" y="2857694"/>
            <a:ext cx="8006829" cy="906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Training examples with </a:t>
            </a:r>
            <a:r>
              <a:rPr sz="1900" spc="540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are called </a:t>
            </a:r>
            <a:r>
              <a:rPr sz="1900" dirty="0">
                <a:solidFill>
                  <a:srgbClr val="FF0000"/>
                </a:solidFill>
                <a:latin typeface="TSTUTO+ArialMT"/>
                <a:cs typeface="TSTUTO+ArialMT"/>
              </a:rPr>
              <a:t>positive examples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, and training</a:t>
            </a:r>
          </a:p>
          <a:p>
            <a:pPr marL="271463" marR="0">
              <a:lnSpc>
                <a:spcPts val="2228"/>
              </a:lnSpc>
              <a:spcBef>
                <a:spcPts val="7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examples with </a:t>
            </a:r>
            <a:r>
              <a:rPr sz="1900" spc="540" dirty="0">
                <a:solidFill>
                  <a:srgbClr val="000000"/>
                </a:solidFill>
                <a:latin typeface="IJHIHP+CambriaMath"/>
                <a:cs typeface="IJHIHP+CambriaMath"/>
              </a:rPr>
              <a:t>ꢂ=0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are called </a:t>
            </a:r>
            <a:r>
              <a:rPr sz="1900" dirty="0">
                <a:solidFill>
                  <a:srgbClr val="FF0000"/>
                </a:solidFill>
                <a:latin typeface="TSTUTO+ArialMT"/>
                <a:cs typeface="TSTUTO+ArialMT"/>
              </a:rPr>
              <a:t>negative examples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. Sorry.</a:t>
            </a:r>
          </a:p>
          <a:p>
            <a:pPr marL="0" marR="0">
              <a:lnSpc>
                <a:spcPts val="2228"/>
              </a:lnSpc>
              <a:spcBef>
                <a:spcPts val="75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spc="576" dirty="0">
                <a:solidFill>
                  <a:srgbClr val="000000"/>
                </a:solidFill>
                <a:latin typeface="IJHIHP+CambriaMath"/>
                <a:cs typeface="IJHIHP+CambriaMath"/>
              </a:rPr>
              <a:t>ꢂ∈</a:t>
            </a:r>
            <a:r>
              <a:rPr sz="1900" spc="-4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0,1</a:t>
            </a:r>
            <a:r>
              <a:rPr sz="1900" spc="1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or </a:t>
            </a:r>
            <a:r>
              <a:rPr sz="1900" spc="576" dirty="0">
                <a:solidFill>
                  <a:srgbClr val="000000"/>
                </a:solidFill>
                <a:latin typeface="IJHIHP+CambriaMath"/>
                <a:cs typeface="IJHIHP+CambriaMath"/>
              </a:rPr>
              <a:t>ꢂ∈</a:t>
            </a:r>
            <a:r>
              <a:rPr sz="1900" spc="-4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−1,</a:t>
            </a:r>
            <a:r>
              <a:rPr sz="1900" spc="-8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+1</a:t>
            </a:r>
            <a:r>
              <a:rPr sz="1900" spc="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is for computational convenience.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69157" y="3884398"/>
            <a:ext cx="799572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Linear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model prediction </a:t>
            </a:r>
            <a:r>
              <a:rPr sz="1900" spc="454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a linear function of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followed by a threshold </a:t>
            </a:r>
            <a:r>
              <a:rPr sz="1900" spc="38" dirty="0">
                <a:solidFill>
                  <a:srgbClr val="000000"/>
                </a:solidFill>
                <a:latin typeface="IJHIHP+CambriaMath"/>
                <a:cs typeface="IJHIHP+CambriaMath"/>
              </a:rPr>
              <a:t>ꢄ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33989" y="4234803"/>
            <a:ext cx="1418185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spc="421" dirty="0">
                <a:solidFill>
                  <a:srgbClr val="000000"/>
                </a:solidFill>
                <a:latin typeface="IJHIHP+CambriaMath"/>
                <a:cs typeface="IJHIHP+CambriaMath"/>
              </a:rPr>
              <a:t>ꢁ+ꢇ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08728" y="4765741"/>
            <a:ext cx="1347433" cy="619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ꢈꢉꢅ≥ꢄ</a:t>
            </a:r>
          </a:p>
          <a:p>
            <a:pPr marL="0" marR="0">
              <a:lnSpc>
                <a:spcPts val="2228"/>
              </a:lnSpc>
              <a:spcBef>
                <a:spcPts val="17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ꢈꢉꢅ&lt;ꢄ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36199" y="4927285"/>
            <a:ext cx="72491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40" dirty="0">
                <a:solidFill>
                  <a:srgbClr val="000000"/>
                </a:solidFill>
                <a:latin typeface="IJHIHP+CambriaMath"/>
                <a:cs typeface="IJHIHP+CambriaMath"/>
              </a:rPr>
              <a:t>ꢃ=2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1" y="1196613"/>
            <a:ext cx="205756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Simplifications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41654"/>
            <a:ext cx="268957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Eliminating</a:t>
            </a:r>
            <a:r>
              <a:rPr sz="1900" spc="-715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the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threshold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0608" y="2107414"/>
            <a:ext cx="784410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can assume without loss of generality (WLOG) that the threshold</a:t>
            </a:r>
            <a:r>
              <a:rPr sz="1900" spc="-1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363" dirty="0">
                <a:solidFill>
                  <a:srgbClr val="000000"/>
                </a:solidFill>
                <a:latin typeface="IJHIHP+CambriaMath"/>
                <a:cs typeface="IJHIHP+CambriaMath"/>
              </a:rPr>
              <a:t>ꢄ=0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55975" y="2448675"/>
            <a:ext cx="1419112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82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spc="281" dirty="0">
                <a:solidFill>
                  <a:srgbClr val="000000"/>
                </a:solidFill>
                <a:latin typeface="IJHIHP+CambriaMath"/>
                <a:cs typeface="IJHIHP+CambriaMath"/>
              </a:rPr>
              <a:t>ꢁ+ꢇ</a:t>
            </a:r>
            <a:r>
              <a:rPr sz="1900" spc="-5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5" dirty="0">
                <a:solidFill>
                  <a:srgbClr val="000000"/>
                </a:solidFill>
                <a:latin typeface="IJHIHP+CambriaMath"/>
                <a:cs typeface="IJHIHP+CambriaMath"/>
              </a:rPr>
              <a:t>≥ꢄ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429847" y="2448675"/>
            <a:ext cx="1844605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82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spc="346" dirty="0">
                <a:solidFill>
                  <a:srgbClr val="000000"/>
                </a:solidFill>
                <a:latin typeface="IJHIHP+CambriaMath"/>
                <a:cs typeface="IJHIHP+CambriaMath"/>
              </a:rPr>
              <a:t>ꢁ+ꢇ−ꢄ</a:t>
            </a:r>
            <a:r>
              <a:rPr sz="1900" spc="-5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≥</a:t>
            </a:r>
            <a:r>
              <a:rPr sz="1900" spc="-6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50750" y="3037526"/>
            <a:ext cx="672484" cy="3558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≜ꢊ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9156" y="3445486"/>
            <a:ext cx="212790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Eliminating</a:t>
            </a:r>
            <a:r>
              <a:rPr sz="1900" spc="-715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the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bias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60608" y="3808198"/>
            <a:ext cx="809094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Add a dummy feature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1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which always takes the value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 the weight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98" dirty="0">
                <a:solidFill>
                  <a:srgbClr val="000000"/>
                </a:solidFill>
                <a:latin typeface="IJHIHP+CambriaMath"/>
                <a:cs typeface="IJHIHP+CambriaMath"/>
              </a:rPr>
              <a:t>=ꢇ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653472" y="3917810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233905" y="3917810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32077" y="4100806"/>
            <a:ext cx="474174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equivalent to a bias (same as linear regression)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9156" y="4466566"/>
            <a:ext cx="4613489" cy="1095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Simplified</a:t>
            </a:r>
            <a:r>
              <a:rPr sz="1900" spc="-715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model</a:t>
            </a:r>
          </a:p>
          <a:p>
            <a:pPr marL="291452" marR="0">
              <a:lnSpc>
                <a:spcPts val="2320"/>
              </a:lnSpc>
              <a:spcBef>
                <a:spcPts val="366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Receive input </a:t>
            </a:r>
            <a:r>
              <a:rPr sz="1900" spc="353" dirty="0">
                <a:solidFill>
                  <a:srgbClr val="000000"/>
                </a:solidFill>
                <a:latin typeface="IJHIHP+CambriaMath"/>
                <a:cs typeface="IJHIHP+CambriaMath"/>
              </a:rPr>
              <a:t>ꢁ∈ℝ</a:t>
            </a:r>
            <a:r>
              <a:rPr sz="2100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!$%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with </a:t>
            </a:r>
            <a:r>
              <a:rPr sz="1900" spc="-21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  <a:p>
            <a:pPr marL="3612521" marR="0">
              <a:lnSpc>
                <a:spcPts val="2228"/>
              </a:lnSpc>
              <a:spcBef>
                <a:spcPts val="469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951806" y="5744150"/>
            <a:ext cx="1366272" cy="619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ꢈꢉꢅ≥0</a:t>
            </a:r>
          </a:p>
          <a:p>
            <a:pPr marL="0" marR="0">
              <a:lnSpc>
                <a:spcPts val="2228"/>
              </a:lnSpc>
              <a:spcBef>
                <a:spcPts val="17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ꢈꢉꢅ&lt;0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79265" y="5902646"/>
            <a:ext cx="72491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40" dirty="0">
                <a:solidFill>
                  <a:srgbClr val="000000"/>
                </a:solidFill>
                <a:latin typeface="IJHIHP+CambriaMath"/>
                <a:cs typeface="IJHIHP+CambriaMath"/>
              </a:rPr>
              <a:t>ꢃ=2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1" y="1196613"/>
            <a:ext cx="138929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0258" y="3040102"/>
            <a:ext cx="729938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Let’s consider some simple examples to examine the properties of our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1721" y="3332710"/>
            <a:ext cx="77461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model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0258" y="3905734"/>
            <a:ext cx="764226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Let‘s focus on minimizing the training set error, and forget about whether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1721" y="4198342"/>
            <a:ext cx="389241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our model will generalize to a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93271" y="1196613"/>
            <a:ext cx="138929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4877" y="3564358"/>
            <a:ext cx="7182508" cy="648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Suppose this is our training set, with the dummy feature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-2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spc="496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included.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Which conditions on </a:t>
            </a:r>
            <a:r>
              <a:rPr sz="1900" spc="-61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2100" spc="7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spc="-104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2100" spc="496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guarantee perfect classification?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6502" y="4189198"/>
            <a:ext cx="621167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When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need: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543" dirty="0">
                <a:solidFill>
                  <a:srgbClr val="000000"/>
                </a:solidFill>
                <a:latin typeface="IJHIHP+CambriaMath"/>
                <a:cs typeface="IJHIHP+CambriaMath"/>
              </a:rPr>
              <a:t>ꢅ=ꢊ</a:t>
            </a:r>
            <a:r>
              <a:rPr sz="1900" spc="-8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≥0</a:t>
            </a:r>
            <a:r>
              <a:rPr sz="1900" spc="46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≥0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61679" y="429881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3319" y="4298811"/>
            <a:ext cx="128865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25374" y="429881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57721" y="4442653"/>
            <a:ext cx="1446968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26502" y="4481806"/>
            <a:ext cx="467299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When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need: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543" dirty="0">
                <a:solidFill>
                  <a:srgbClr val="000000"/>
                </a:solidFill>
                <a:latin typeface="IJHIHP+CambriaMath"/>
                <a:cs typeface="IJHIHP+CambriaMath"/>
              </a:rPr>
              <a:t>ꢅ=ꢊ</a:t>
            </a:r>
            <a:r>
              <a:rPr sz="1900" spc="-8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28193" y="4551795"/>
            <a:ext cx="8189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61679" y="4591419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153319" y="4591419"/>
            <a:ext cx="128865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4877" y="5012158"/>
            <a:ext cx="396965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 solution: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=−</a:t>
            </a:r>
            <a:r>
              <a:rPr sz="1900" dirty="0">
                <a:solidFill>
                  <a:srgbClr val="000000"/>
                </a:solidFill>
                <a:latin typeface="ROCVNK+CambriaMath"/>
                <a:cs typeface="ROCVNK+CambriaMath"/>
              </a:rPr>
              <a:t>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65246" y="5121770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003256" y="5121770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4877" y="5304766"/>
            <a:ext cx="280269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this the only solution?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138929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Examples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5336" y="2531558"/>
            <a:ext cx="260048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43" dirty="0">
                <a:solidFill>
                  <a:srgbClr val="000000"/>
                </a:solidFill>
                <a:latin typeface="IJHIHP+CambriaMath"/>
                <a:cs typeface="IJHIHP+CambriaMath"/>
              </a:rPr>
              <a:t>ꢅ=ꢊ</a:t>
            </a:r>
            <a:r>
              <a:rPr sz="1900" spc="-8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60555" y="2640699"/>
            <a:ext cx="209553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44044" y="2860270"/>
            <a:ext cx="1525480" cy="356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Need: </a:t>
            </a:r>
            <a:r>
              <a:rPr sz="1900" spc="-61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69216" y="3219934"/>
            <a:ext cx="209475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Need: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81889" y="3332594"/>
            <a:ext cx="82454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74855" y="3564358"/>
            <a:ext cx="208916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Need: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87528" y="3673970"/>
            <a:ext cx="8189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22761" y="3902686"/>
            <a:ext cx="265843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Need: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3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≥0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35434" y="4015346"/>
            <a:ext cx="138823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975241" y="4643350"/>
            <a:ext cx="467374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 solution: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−1.5,ꢊ</a:t>
            </a:r>
            <a:r>
              <a:rPr sz="1900" spc="1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3" dirty="0">
                <a:solidFill>
                  <a:srgbClr val="000000"/>
                </a:solidFill>
                <a:latin typeface="IJHIHP+CambriaMath"/>
                <a:cs typeface="IJHIHP+CambriaMath"/>
              </a:rPr>
              <a:t>1,ꢊ</a:t>
            </a:r>
            <a:r>
              <a:rPr sz="1900" spc="1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944148" y="47529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118974" y="47529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37438" y="47529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978496"/>
            <a:ext cx="9652000" cy="5513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089144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1" dirty="0">
                <a:solidFill>
                  <a:srgbClr val="001F5F"/>
                </a:solidFill>
                <a:latin typeface="BJWHHU+Calibri"/>
                <a:cs typeface="BJWHHU+Calibri"/>
              </a:rPr>
              <a:t>The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Geometric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Picture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56894"/>
            <a:ext cx="448902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Input Space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or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Data Space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NOT 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3558262"/>
            <a:ext cx="324299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Training examples are points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7" y="3850870"/>
            <a:ext cx="620997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Weights (hypotheses)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can be represented by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half-spaces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77326" y="4125075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04640" y="4125075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3461" y="4153093"/>
            <a:ext cx="3980771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ꢌ</a:t>
            </a:r>
            <a:r>
              <a:rPr sz="1900" spc="3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7" dirty="0">
                <a:solidFill>
                  <a:srgbClr val="000000"/>
                </a:solidFill>
                <a:latin typeface="IJHIHP+CambriaMath"/>
                <a:cs typeface="IJHIHP+CambriaMath"/>
              </a:rPr>
              <a:t>ꢁ:ꢆ</a:t>
            </a:r>
            <a:r>
              <a:rPr sz="1900" spc="-5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ꢁ≥0</a:t>
            </a:r>
            <a:r>
              <a:rPr sz="1900" spc="-93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,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ꢌ</a:t>
            </a:r>
            <a:r>
              <a:rPr sz="1900" spc="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7" dirty="0">
                <a:solidFill>
                  <a:srgbClr val="000000"/>
                </a:solidFill>
                <a:latin typeface="IJHIHP+CambriaMath"/>
                <a:cs typeface="IJHIHP+CambriaMath"/>
              </a:rPr>
              <a:t>ꢁ:ꢆ</a:t>
            </a:r>
            <a:r>
              <a:rPr sz="1900" spc="-5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ꢁ&lt;0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95283" y="4262235"/>
            <a:ext cx="28175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$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22599" y="4262235"/>
            <a:ext cx="28175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'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56438" y="4539718"/>
            <a:ext cx="699786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boundaries of these half-spaces pass through the origin (why?)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9157" y="4981563"/>
            <a:ext cx="6548898" cy="720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boundary is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decision boundary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  <a:r>
              <a:rPr sz="1900" spc="728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ꢁ:</a:t>
            </a:r>
            <a:r>
              <a:rPr sz="1900" spc="-82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spc="526" dirty="0">
                <a:solidFill>
                  <a:srgbClr val="000000"/>
                </a:solidFill>
                <a:latin typeface="IJHIHP+CambriaMath"/>
                <a:cs typeface="IJHIHP+CambriaMath"/>
              </a:rPr>
              <a:t>ꢁ=0</a:t>
            </a:r>
          </a:p>
          <a:p>
            <a:pPr marL="487281" marR="0">
              <a:lnSpc>
                <a:spcPts val="2320"/>
              </a:lnSpc>
              <a:spcBef>
                <a:spcPts val="561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 2-D, it’s a line, but in high dimens</a:t>
            </a:r>
            <a:r>
              <a:rPr sz="1900" u="sng" dirty="0">
                <a:solidFill>
                  <a:srgbClr val="000000"/>
                </a:solidFill>
                <a:latin typeface="WROTKO+Calibri"/>
                <a:cs typeface="WROTKO+Calibri"/>
              </a:rPr>
              <a:t>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 it is </a:t>
            </a:r>
            <a:r>
              <a:rPr sz="1900" u="sng" dirty="0">
                <a:solidFill>
                  <a:srgbClr val="000000"/>
                </a:solidFill>
                <a:latin typeface="WROTKO+Calibri"/>
                <a:cs typeface="WROTKO+Calibri"/>
              </a:rPr>
              <a:t>a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 hyperplane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9157" y="5871694"/>
            <a:ext cx="855944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the training examples can be perfectly separated by a linear decision rule, we say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40620" y="6164302"/>
            <a:ext cx="264642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data is linearly separable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57798" y="1025893"/>
            <a:ext cx="10435602" cy="6004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089144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1" dirty="0">
                <a:solidFill>
                  <a:srgbClr val="001F5F"/>
                </a:solidFill>
                <a:latin typeface="BJWHHU+Calibri"/>
                <a:cs typeface="BJWHHU+Calibri"/>
              </a:rPr>
              <a:t>The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Geometric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Picture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52972"/>
            <a:ext cx="1655012" cy="307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TSTUTO+ArialMT"/>
                <a:cs typeface="TSTUTO+ArialMT"/>
              </a:rPr>
              <a:t>Weight Space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7066" y="2412685"/>
            <a:ext cx="883278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-61" dirty="0">
                <a:solidFill>
                  <a:srgbClr val="92D050"/>
                </a:solidFill>
                <a:latin typeface="IJHIHP+CambriaMath"/>
                <a:cs typeface="IJHIHP+CambriaMath"/>
              </a:rPr>
              <a:t>ꢊ</a:t>
            </a:r>
            <a:r>
              <a:rPr sz="2100" baseline="-20210" dirty="0">
                <a:solidFill>
                  <a:srgbClr val="92D05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92D05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92D050"/>
                </a:solidFill>
                <a:latin typeface="IJHIHP+CambriaMath"/>
                <a:cs typeface="IJHIHP+CambriaMath"/>
              </a:rPr>
              <a:t>≥0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79885" y="2833309"/>
            <a:ext cx="144695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FF0000"/>
                </a:solidFill>
                <a:latin typeface="IJHIHP+CambriaMath"/>
                <a:cs typeface="IJHIHP+CambriaMath"/>
              </a:rPr>
              <a:t>+ꢊ</a:t>
            </a:r>
            <a:r>
              <a:rPr sz="1900" spc="-256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FF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0345" y="2945499"/>
            <a:ext cx="8189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FF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FF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FF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156" y="3341854"/>
            <a:ext cx="8708182" cy="119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Weights (hypotheses)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are points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Each training example </a:t>
            </a:r>
            <a:r>
              <a:rPr sz="1900" spc="427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specifies a half-space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must lie in to be correctly classified: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spc="82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spc="353" dirty="0">
                <a:solidFill>
                  <a:srgbClr val="000000"/>
                </a:solidFill>
                <a:latin typeface="IJHIHP+CambriaMath"/>
                <a:cs typeface="IJHIHP+CambriaMath"/>
              </a:rPr>
              <a:t>ꢁ≥0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NOT example: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30446" y="4603726"/>
            <a:ext cx="256494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spc="550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78388" y="4585909"/>
            <a:ext cx="2409959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(ꢊ</a:t>
            </a:r>
            <a:r>
              <a:rPr sz="1900" spc="-3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3" dirty="0">
                <a:solidFill>
                  <a:srgbClr val="000000"/>
                </a:solidFill>
                <a:latin typeface="IJHIHP+CambriaMath"/>
                <a:cs typeface="IJHIHP+CambriaMath"/>
              </a:rPr>
              <a:t>,ꢊ</a:t>
            </a:r>
            <a:r>
              <a:rPr sz="1900" spc="-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1" dirty="0">
                <a:solidFill>
                  <a:srgbClr val="000000"/>
                </a:solidFill>
                <a:latin typeface="IJHIHP+CambriaMath"/>
                <a:cs typeface="IJHIHP+CambriaMath"/>
              </a:rPr>
              <a:t>)∈</a:t>
            </a:r>
            <a:r>
              <a:rPr sz="1900" spc="-4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5" dirty="0">
                <a:solidFill>
                  <a:srgbClr val="000000"/>
                </a:solidFill>
                <a:latin typeface="IJHIHP+CambriaMath"/>
                <a:cs typeface="IJHIHP+CambriaMath"/>
              </a:rPr>
              <a:t>ꢆ:ꢊ</a:t>
            </a:r>
            <a:r>
              <a:rPr sz="1900" spc="1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≥0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27734" y="4713338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221115" y="4713338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449394" y="4695051"/>
            <a:ext cx="62120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12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875528" y="469505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30446" y="4896334"/>
            <a:ext cx="256494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</a:t>
            </a:r>
            <a:r>
              <a:rPr sz="1900" spc="550" dirty="0">
                <a:solidFill>
                  <a:srgbClr val="000000"/>
                </a:solidFill>
                <a:latin typeface="IJHIHP+CambriaMath"/>
                <a:cs typeface="IJHIHP+CambriaMath"/>
              </a:rPr>
              <a:t>ꢂ=0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4096" y="4878517"/>
            <a:ext cx="297363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(ꢊ</a:t>
            </a:r>
            <a:r>
              <a:rPr sz="1900" spc="-3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3" dirty="0">
                <a:solidFill>
                  <a:srgbClr val="000000"/>
                </a:solidFill>
                <a:latin typeface="IJHIHP+CambriaMath"/>
                <a:cs typeface="IJHIHP+CambriaMath"/>
              </a:rPr>
              <a:t>,ꢊ</a:t>
            </a:r>
            <a:r>
              <a:rPr sz="1900" spc="-67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1" dirty="0">
                <a:solidFill>
                  <a:srgbClr val="000000"/>
                </a:solidFill>
                <a:latin typeface="IJHIHP+CambriaMath"/>
                <a:cs typeface="IJHIHP+CambriaMath"/>
              </a:rPr>
              <a:t>)∈</a:t>
            </a:r>
            <a:r>
              <a:rPr sz="1900" spc="-4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5" dirty="0">
                <a:solidFill>
                  <a:srgbClr val="000000"/>
                </a:solidFill>
                <a:latin typeface="IJHIHP+CambriaMath"/>
                <a:cs typeface="IJHIHP+CambriaMath"/>
              </a:rPr>
              <a:t>ꢆ:ꢊ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27734" y="500594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221115" y="5005947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45101" y="4987658"/>
            <a:ext cx="62120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12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871235" y="4987658"/>
            <a:ext cx="8189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69156" y="5362678"/>
            <a:ext cx="899911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region satisfying all the constraints is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feasible region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; if this region is nonempty,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40618" y="5655286"/>
            <a:ext cx="433552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problem is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feasible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otw it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is infeasible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089144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1" dirty="0">
                <a:solidFill>
                  <a:srgbClr val="001F5F"/>
                </a:solidFill>
                <a:latin typeface="BJWHHU+Calibri"/>
                <a:cs typeface="BJWHHU+Calibri"/>
              </a:rPr>
              <a:t>The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Geometric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Picture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738350"/>
            <a:ext cx="8852315" cy="902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AND</a:t>
            </a:r>
            <a:r>
              <a:rPr sz="1900" spc="-710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 requires three dimensions, including the dummy one.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To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visualize data space and weight space for a 3-D example, we can look at a 2-D slice.</a:t>
            </a:r>
          </a:p>
          <a:p>
            <a:pPr marL="0" marR="0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visualizations are similar.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0933" y="3677134"/>
            <a:ext cx="538558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Feasible set will always have a corner at the origin.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089144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1" dirty="0">
                <a:solidFill>
                  <a:srgbClr val="001F5F"/>
                </a:solidFill>
                <a:latin typeface="BJWHHU+Calibri"/>
                <a:cs typeface="BJWHHU+Calibri"/>
              </a:rPr>
              <a:t>The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Geometric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Picture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56894"/>
            <a:ext cx="352359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Visualizations of the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AND</a:t>
            </a:r>
            <a:r>
              <a:rPr sz="1900" spc="-710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4877" y="4369030"/>
            <a:ext cx="2333688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</a:t>
            </a:r>
            <a:r>
              <a:rPr sz="1900" spc="849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Slice for </a:t>
            </a:r>
            <a:r>
              <a:rPr sz="1900" spc="-2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85612" y="4369030"/>
            <a:ext cx="4215145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</a:t>
            </a:r>
            <a:r>
              <a:rPr sz="1900" spc="112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Slice for </a:t>
            </a:r>
            <a:r>
              <a:rPr sz="1900" spc="-61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−1.5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the constraints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4877" y="4661638"/>
            <a:ext cx="591547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</a:t>
            </a:r>
            <a:r>
              <a:rPr sz="1900" spc="112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 sol: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−1.5,ꢊ</a:t>
            </a:r>
            <a:r>
              <a:rPr sz="1900" spc="1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3" dirty="0">
                <a:solidFill>
                  <a:srgbClr val="000000"/>
                </a:solidFill>
                <a:latin typeface="IJHIHP+CambriaMath"/>
                <a:cs typeface="IJHIHP+CambriaMath"/>
              </a:rPr>
              <a:t>1,ꢊ</a:t>
            </a:r>
            <a:r>
              <a:rPr sz="1900" spc="1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spc="21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-</a:t>
            </a:r>
            <a:r>
              <a:rPr sz="1900" spc="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2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48712" y="477125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23538" y="477125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42002" y="477125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27534" y="477125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24877" y="4942054"/>
            <a:ext cx="231579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</a:t>
            </a:r>
            <a:r>
              <a:rPr sz="1900" spc="112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Decision boundary: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85612" y="4942526"/>
            <a:ext cx="1724006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-</a:t>
            </a:r>
            <a:r>
              <a:rPr sz="1900" spc="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127534" y="5051667"/>
            <a:ext cx="82454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85612" y="5235134"/>
            <a:ext cx="171841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-</a:t>
            </a:r>
            <a:r>
              <a:rPr sz="1900" spc="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&lt;0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11569" y="5286950"/>
            <a:ext cx="272228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-3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14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8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7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2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127534" y="5344275"/>
            <a:ext cx="81896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82039" y="5396091"/>
            <a:ext cx="209554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1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  <a:r>
              <a:rPr sz="1400" spc="2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685612" y="5527741"/>
            <a:ext cx="228769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-</a:t>
            </a:r>
            <a:r>
              <a:rPr sz="1900" spc="3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1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3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+ꢊ</a:t>
            </a:r>
            <a:r>
              <a:rPr sz="1900" spc="-2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30" dirty="0">
                <a:solidFill>
                  <a:srgbClr val="000000"/>
                </a:solidFill>
                <a:latin typeface="IJHIHP+CambriaMath"/>
                <a:cs typeface="IJHIHP+CambriaMath"/>
              </a:rPr>
              <a:t>≥0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98104" y="5655758"/>
            <a:ext cx="213858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−1.5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+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+ꢋ</a:t>
            </a:r>
            <a:r>
              <a:rPr sz="1900" spc="-1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=0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127534" y="5636882"/>
            <a:ext cx="138823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1400" spc="27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283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00515" y="5764899"/>
            <a:ext cx="77990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  <a:r>
              <a:rPr sz="1400" spc="248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4766805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22" dirty="0">
                <a:solidFill>
                  <a:srgbClr val="001F5F"/>
                </a:solidFill>
                <a:latin typeface="BJWHHU+Calibri"/>
                <a:cs typeface="BJWHHU+Calibri"/>
              </a:rPr>
              <a:t>Summary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|</a:t>
            </a:r>
            <a:r>
              <a:rPr sz="2500" spc="24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Binary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Classifiers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29346"/>
            <a:ext cx="8557473" cy="652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Summary:</a:t>
            </a:r>
            <a:r>
              <a:rPr sz="1900" spc="-717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targets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ꢂ</a:t>
            </a:r>
            <a:r>
              <a:rPr sz="1900" spc="-5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∈</a:t>
            </a:r>
            <a:r>
              <a:rPr sz="1900" spc="-6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{0,1}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inputs </a:t>
            </a:r>
            <a:r>
              <a:rPr sz="1900" spc="353" dirty="0">
                <a:solidFill>
                  <a:srgbClr val="000000"/>
                </a:solidFill>
                <a:latin typeface="IJHIHP+CambriaMath"/>
                <a:cs typeface="IJHIHP+CambriaMath"/>
              </a:rPr>
              <a:t>ꢁ∈ℝ</a:t>
            </a:r>
            <a:r>
              <a:rPr sz="2100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!$%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with </a:t>
            </a:r>
            <a:r>
              <a:rPr sz="1900" spc="-2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and model is defined by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weights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149153" y="2210931"/>
            <a:ext cx="1000968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19281" y="2738821"/>
            <a:ext cx="1366285" cy="6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ꢈꢉꢅ≥0</a:t>
            </a:r>
          </a:p>
          <a:p>
            <a:pPr marL="0" marR="0">
              <a:lnSpc>
                <a:spcPts val="2228"/>
              </a:lnSpc>
              <a:spcBef>
                <a:spcPts val="19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4" dirty="0">
                <a:solidFill>
                  <a:srgbClr val="000000"/>
                </a:solidFill>
                <a:latin typeface="IJHIHP+CambriaMath"/>
                <a:cs typeface="IJHIHP+CambriaMath"/>
              </a:rPr>
              <a:t>ꢈꢉꢅ&lt;0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46740" y="2900366"/>
            <a:ext cx="72491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40" dirty="0">
                <a:solidFill>
                  <a:srgbClr val="000000"/>
                </a:solidFill>
                <a:latin typeface="IJHIHP+CambriaMath"/>
                <a:cs typeface="IJHIHP+CambriaMath"/>
              </a:rPr>
              <a:t>ꢃ=2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156" y="3497302"/>
            <a:ext cx="8429979" cy="613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How can we find good values for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?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training set is linearly separable, we could solve for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using linear programming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70121" y="4210534"/>
            <a:ext cx="860209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could also apply an iterative procedure known as the </a:t>
            </a:r>
            <a:r>
              <a:rPr sz="1900" dirty="0">
                <a:solidFill>
                  <a:srgbClr val="000000"/>
                </a:solidFill>
                <a:latin typeface="BIIUEC+Calibri-Italic"/>
                <a:cs typeface="BIIUEC+Calibri-Italic"/>
              </a:rPr>
              <a:t>perceptron</a:t>
            </a:r>
            <a:r>
              <a:rPr sz="1900" spc="-714" dirty="0">
                <a:solidFill>
                  <a:srgbClr val="000000"/>
                </a:solidFill>
                <a:latin typeface="BIIUEC+Calibri-Italic"/>
                <a:cs typeface="BIIUEC+Calibri-Italic"/>
              </a:rPr>
              <a:t> </a:t>
            </a:r>
            <a:r>
              <a:rPr sz="1900" dirty="0">
                <a:solidFill>
                  <a:srgbClr val="000000"/>
                </a:solidFill>
                <a:latin typeface="BIIUEC+Calibri-Italic"/>
                <a:cs typeface="BIIUEC+Calibri-Italic"/>
              </a:rPr>
              <a:t>algorithm</a:t>
            </a:r>
            <a:r>
              <a:rPr sz="1900" spc="-717" dirty="0">
                <a:solidFill>
                  <a:srgbClr val="000000"/>
                </a:solidFill>
                <a:latin typeface="BIIUEC+Calibri-Italic"/>
                <a:cs typeface="BIIUEC+Calibri-Italic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(but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41583" y="4503142"/>
            <a:ext cx="380216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this is primarily of historical interest).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69156" y="4948150"/>
            <a:ext cx="5500403" cy="6863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it‘s not linearly separable, the problem is harder</a:t>
            </a:r>
          </a:p>
          <a:p>
            <a:pPr marL="200964" marR="0">
              <a:lnSpc>
                <a:spcPts val="2320"/>
              </a:lnSpc>
              <a:spcBef>
                <a:spcPts val="463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Data is almost never linearly separable in real life.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812611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Towards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79989" y="3445486"/>
            <a:ext cx="289487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Towards Logistic Regression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364183" y="1054100"/>
            <a:ext cx="10222714" cy="5464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051250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Loss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345158"/>
            <a:ext cx="7861308" cy="735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Instead: define loss function then try to minimize the resulting cost function</a:t>
            </a:r>
          </a:p>
          <a:p>
            <a:pPr marL="246208" marR="0">
              <a:lnSpc>
                <a:spcPts val="2320"/>
              </a:lnSpc>
              <a:spcBef>
                <a:spcPts val="897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Recall : cost is loss averaged (or summed) over the training 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6" y="3500350"/>
            <a:ext cx="440793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Seemingly obvious loss function:</a:t>
            </a:r>
            <a:r>
              <a:rPr sz="1900" spc="-17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0-1 loss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70170" y="4171381"/>
            <a:ext cx="1344207" cy="619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1" dirty="0">
                <a:solidFill>
                  <a:srgbClr val="000000"/>
                </a:solidFill>
                <a:latin typeface="IJHIHP+CambriaMath"/>
                <a:cs typeface="IJHIHP+CambriaMath"/>
              </a:rPr>
              <a:t>ꢈꢉꢃ=ꢂ</a:t>
            </a:r>
          </a:p>
          <a:p>
            <a:pPr marL="0" marR="0">
              <a:lnSpc>
                <a:spcPts val="2228"/>
              </a:lnSpc>
              <a:spcBef>
                <a:spcPts val="17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1" dirty="0">
                <a:solidFill>
                  <a:srgbClr val="000000"/>
                </a:solidFill>
                <a:latin typeface="IJHIHP+CambriaMath"/>
                <a:cs typeface="IJHIHP+CambriaMath"/>
              </a:rPr>
              <a:t>ꢈꢉꢃ≠ꢂ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11613" y="4329878"/>
            <a:ext cx="1610930" cy="358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2100" baseline="-21473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  <a:r>
              <a:rPr sz="2100" spc="-393" baseline="-214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IJHIHP+CambriaMath"/>
                <a:cs typeface="IJHIHP+CambriaMath"/>
              </a:rPr>
              <a:t>ꢃ,ꢂ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10862" y="4918141"/>
            <a:ext cx="122335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30" dirty="0">
                <a:solidFill>
                  <a:srgbClr val="000000"/>
                </a:solidFill>
                <a:latin typeface="IJHIHP+CambriaMath"/>
                <a:cs typeface="IJHIHP+CambriaMath"/>
              </a:rPr>
              <a:t>=ꢎ[ꢃ</a:t>
            </a:r>
            <a:r>
              <a:rPr sz="1900" spc="-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91" dirty="0">
                <a:solidFill>
                  <a:srgbClr val="000000"/>
                </a:solidFill>
                <a:latin typeface="IJHIHP+CambriaMath"/>
                <a:cs typeface="IJHIHP+CambriaMath"/>
              </a:rPr>
              <a:t>≠ꢂ]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63681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1: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0" dirty="0">
                <a:solidFill>
                  <a:srgbClr val="001F5F"/>
                </a:solidFill>
                <a:latin typeface="BJWHHU+Calibri"/>
                <a:cs typeface="BJWHHU+Calibri"/>
              </a:rPr>
              <a:t>0-1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723110"/>
            <a:ext cx="876532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Usually, the cost </a:t>
            </a:r>
            <a:r>
              <a:rPr sz="1900" spc="489" dirty="0">
                <a:solidFill>
                  <a:srgbClr val="000000"/>
                </a:solidFill>
                <a:latin typeface="IJHIHP+CambriaMath"/>
                <a:cs typeface="IJHIHP+CambriaMath"/>
              </a:rPr>
              <a:t>ꢏ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the averaged loss over training examples; for 0-1 loss, this is the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618" y="3015718"/>
            <a:ext cx="226676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misclassification rate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53330" y="3512427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63720" y="3628837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56123" y="3783699"/>
            <a:ext cx="10128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  <a:r>
              <a:rPr sz="1400" spc="256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867848" y="3811717"/>
            <a:ext cx="217302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91" dirty="0">
                <a:solidFill>
                  <a:srgbClr val="000000"/>
                </a:solidFill>
                <a:latin typeface="IJHIHP+CambriaMath"/>
                <a:cs typeface="IJHIHP+CambriaMath"/>
              </a:rPr>
              <a:t>ꢏ=</a:t>
            </a:r>
            <a:r>
              <a:rPr sz="1900" spc="5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30" dirty="0">
                <a:solidFill>
                  <a:srgbClr val="000000"/>
                </a:solidFill>
                <a:latin typeface="IJHIHP+CambriaMath"/>
                <a:cs typeface="IJHIHP+CambriaMath"/>
              </a:rPr>
              <a:t>Kꢎꢃ</a:t>
            </a:r>
            <a:r>
              <a:rPr sz="1900" spc="90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≠ꢂ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38777" y="3973396"/>
            <a:ext cx="32913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73193" y="4179938"/>
            <a:ext cx="45108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BGOEJJ+CambriaMath"/>
                <a:cs typeface="BGOEJJ+CambriaMath"/>
              </a:rPr>
              <a:t>()%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63681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1: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0" dirty="0">
                <a:solidFill>
                  <a:srgbClr val="001F5F"/>
                </a:solidFill>
                <a:latin typeface="BJWHHU+Calibri"/>
                <a:cs typeface="BJWHHU+Calibri"/>
              </a:rPr>
              <a:t>0-1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9633" y="2841982"/>
            <a:ext cx="7444406" cy="332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Problem: how to optimize? In general, a hard problem (can be NP-hard)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9633" y="3415006"/>
            <a:ext cx="867576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This is due to the step function (0-1 loss) not being nice (continuous/smooth/convex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51096" y="3707614"/>
            <a:ext cx="52848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etc)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10106622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63681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1: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0" dirty="0">
                <a:solidFill>
                  <a:srgbClr val="001F5F"/>
                </a:solidFill>
                <a:latin typeface="BJWHHU+Calibri"/>
                <a:cs typeface="BJWHHU+Calibri"/>
              </a:rPr>
              <a:t>0-1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loss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41654"/>
            <a:ext cx="5335391" cy="905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Minimum of a function will be at its critical points.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Let’s try to find the critical point of 0-1 loss.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Chain rule: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2732" y="2516318"/>
            <a:ext cx="209549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39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23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26674" y="2625458"/>
            <a:ext cx="48751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76139" y="2625458"/>
            <a:ext cx="48751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735474" y="2699197"/>
            <a:ext cx="332668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56303" y="2860742"/>
            <a:ext cx="197311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  <a:r>
              <a:rPr sz="1900" spc="42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  <a:r>
              <a:rPr sz="1900" spc="70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45914" y="2969882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47753" y="2969882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156" y="3180782"/>
            <a:ext cx="4977124" cy="3680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But </a:t>
            </a:r>
            <a:r>
              <a:rPr sz="1900" spc="25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400" spc="18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⁄ꢑꢅ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zero everywhere it’s defined!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8976" y="5414965"/>
            <a:ext cx="7651508" cy="9389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spc="25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400" spc="18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  <a:r>
              <a:rPr sz="1900" spc="17" dirty="0">
                <a:solidFill>
                  <a:srgbClr val="000000"/>
                </a:solidFill>
                <a:latin typeface="IJHIHP+CambriaMath"/>
                <a:cs typeface="IJHIHP+CambriaMath"/>
              </a:rPr>
              <a:t>⁄ꢑꢊ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  <a:r>
              <a:rPr sz="1400" spc="-1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means that changing the weights by a very small amount</a:t>
            </a:r>
          </a:p>
          <a:p>
            <a:pPr marL="271467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probably has no effect on the loss.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Almost any point has 0 gradient!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9145" y="1220997"/>
            <a:ext cx="394462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2: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033" y="2345158"/>
            <a:ext cx="8894595" cy="92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Sometimes we can replace the loss function we care about with one which is easier to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optimize. This is known as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relaxation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with a smooth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surrogate loss function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0" marR="0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One problem with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2100" spc="18" baseline="-21473" dirty="0">
                <a:solidFill>
                  <a:srgbClr val="000000"/>
                </a:solidFill>
                <a:latin typeface="BGOEJJ+CambriaMath"/>
                <a:cs typeface="BGOEJJ+CambriaMath"/>
              </a:rPr>
              <a:t>#'%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defined in terms of final prediction, which inherently involves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033" y="3207742"/>
            <a:ext cx="4747067" cy="625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462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 </a:t>
            </a:r>
            <a:r>
              <a:rPr sz="1900" u="sng" dirty="0">
                <a:solidFill>
                  <a:srgbClr val="000000"/>
                </a:solidFill>
                <a:latin typeface="WROTKO+Calibri"/>
                <a:cs typeface="WROTKO+Calibri"/>
              </a:rPr>
              <a:t>discontinuity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Instead, define loss in terms of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spc="-4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27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directly.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3140" y="3472802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1249" y="3853802"/>
            <a:ext cx="4420634" cy="363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Redo notation for convenience: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7894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15306" y="1054100"/>
            <a:ext cx="9981218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94462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2: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3087" y="2134846"/>
            <a:ext cx="819429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already know how to fit a linear regression model. Can we use this instead?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82642" y="2598027"/>
            <a:ext cx="1000955" cy="69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  <a:p>
            <a:pPr marL="434581" marR="0">
              <a:lnSpc>
                <a:spcPts val="2228"/>
              </a:lnSpc>
              <a:spcBef>
                <a:spcPts val="48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01131" y="312533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15841" y="3153350"/>
            <a:ext cx="223729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1900" spc="13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6" dirty="0">
                <a:solidFill>
                  <a:srgbClr val="000000"/>
                </a:solidFill>
                <a:latin typeface="IJHIHP+CambriaMath"/>
                <a:cs typeface="IJHIHP+CambriaMath"/>
              </a:rPr>
              <a:t>ꢅ,ꢂ</a:t>
            </a:r>
            <a:r>
              <a:rPr sz="1900" spc="1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7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(ꢅ</a:t>
            </a:r>
            <a:r>
              <a:rPr sz="1900" spc="-6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6" dirty="0">
                <a:solidFill>
                  <a:srgbClr val="000000"/>
                </a:solidFill>
                <a:latin typeface="IJHIHP+CambriaMath"/>
                <a:cs typeface="IJHIHP+CambriaMath"/>
              </a:rPr>
              <a:t>−ꢂ)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69168" y="3262490"/>
            <a:ext cx="36588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./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17223" y="3315028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OCVNK+CambriaMath"/>
                <a:cs typeface="ROCVNK+CambriaMath"/>
              </a:rPr>
              <a:t>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3087" y="3878302"/>
            <a:ext cx="871093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Doesn’t matter that the targets are actually binary. Treat them as continuous values.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252433" y="4140314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53087" y="4219678"/>
            <a:ext cx="849811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this loss function, it makes sense to make final predictions by thresholding</a:t>
            </a:r>
            <a:r>
              <a:rPr sz="1900" spc="-2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46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52433" y="440244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24549" y="4576294"/>
            <a:ext cx="81903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(why?)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10098024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94462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2: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41654"/>
            <a:ext cx="149467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The</a:t>
            </a:r>
            <a:r>
              <a:rPr sz="1900" spc="-712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problem: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5632" y="4600678"/>
            <a:ext cx="8378484" cy="902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loss function hates when you make correct predictions with high confidence!</a:t>
            </a:r>
          </a:p>
          <a:p>
            <a:pPr marL="0" marR="0">
              <a:lnSpc>
                <a:spcPts val="2320"/>
              </a:lnSpc>
              <a:spcBef>
                <a:spcPts val="216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It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it’s more unhappy about </a:t>
            </a:r>
            <a:r>
              <a:rPr sz="1900" spc="271" dirty="0">
                <a:solidFill>
                  <a:srgbClr val="000000"/>
                </a:solidFill>
                <a:latin typeface="IJHIHP+CambriaMath"/>
                <a:cs typeface="IJHIHP+CambriaMath"/>
              </a:rPr>
              <a:t>ꢅ=10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than </a:t>
            </a: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bject 1"/>
          <p:cNvSpPr/>
          <p:nvPr/>
        </p:nvSpPr>
        <p:spPr>
          <a:xfrm>
            <a:off x="5783910" y="746315"/>
            <a:ext cx="31889" cy="259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539702" y="483286"/>
            <a:ext cx="215150" cy="2796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89867" y="557301"/>
            <a:ext cx="205384" cy="2143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42129" y="478053"/>
            <a:ext cx="372948" cy="3100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58702" y="563918"/>
            <a:ext cx="18326" cy="312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6373" y="736028"/>
            <a:ext cx="33045" cy="399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77868" y="572465"/>
            <a:ext cx="318567" cy="2291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4254" y="507479"/>
            <a:ext cx="298234" cy="30751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21341" y="509117"/>
            <a:ext cx="315125" cy="26902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9787" y="562152"/>
            <a:ext cx="203796" cy="23577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30486" y="490004"/>
            <a:ext cx="424675" cy="2940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95867" y="543382"/>
            <a:ext cx="237223" cy="25741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14206" y="560095"/>
            <a:ext cx="41592" cy="2255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10638" y="575411"/>
            <a:ext cx="184912" cy="25256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34578" y="614971"/>
            <a:ext cx="101117" cy="15575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19313" y="482345"/>
            <a:ext cx="187020" cy="34886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19313" y="482345"/>
            <a:ext cx="187020" cy="24560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86954" y="612013"/>
            <a:ext cx="215684" cy="20585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2031" y="481685"/>
            <a:ext cx="614333" cy="37313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7443" y="620026"/>
            <a:ext cx="139124" cy="22386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9324" y="569900"/>
            <a:ext cx="197178" cy="26708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065982" y="144259"/>
            <a:ext cx="340703" cy="26814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188092" y="144259"/>
            <a:ext cx="27026" cy="441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962159" y="349224"/>
            <a:ext cx="20649" cy="1731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393910" y="37007"/>
            <a:ext cx="538201" cy="30873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087562" y="91770"/>
            <a:ext cx="269340" cy="26831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9087562" y="91770"/>
            <a:ext cx="214527" cy="26831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12085" y="31851"/>
            <a:ext cx="19545" cy="3126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70912" y="89331"/>
            <a:ext cx="201396" cy="23977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598408" y="70154"/>
            <a:ext cx="184683" cy="28064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408136" y="113538"/>
            <a:ext cx="162928" cy="24540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71002" y="139725"/>
            <a:ext cx="208254" cy="21475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665326" y="183159"/>
            <a:ext cx="403365" cy="19116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31417" y="172605"/>
            <a:ext cx="258026" cy="19686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95998" y="135305"/>
            <a:ext cx="147434" cy="20264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76225" y="85521"/>
            <a:ext cx="473062" cy="283374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93282" y="107416"/>
            <a:ext cx="155778" cy="24792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42597" y="65696"/>
            <a:ext cx="411784" cy="28813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55462" y="186067"/>
            <a:ext cx="15506" cy="1277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54713" y="65696"/>
            <a:ext cx="135928" cy="9207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48083" y="90779"/>
            <a:ext cx="143726" cy="24780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94643" y="3632"/>
            <a:ext cx="510679" cy="34818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917414" y="187400"/>
            <a:ext cx="126695" cy="18087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520349" y="127863"/>
            <a:ext cx="355879" cy="25840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289933" y="347941"/>
            <a:ext cx="43154" cy="3667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041686" y="127012"/>
            <a:ext cx="184619" cy="216141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58272" y="152793"/>
            <a:ext cx="13233" cy="1995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813644" y="130682"/>
            <a:ext cx="162547" cy="256247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390112" y="112763"/>
            <a:ext cx="389534" cy="27539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390112" y="194526"/>
            <a:ext cx="143624" cy="14500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59925" y="56680"/>
            <a:ext cx="205092" cy="38577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16910" y="164274"/>
            <a:ext cx="127368" cy="22532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709583" y="116916"/>
            <a:ext cx="190487" cy="31898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72767" y="205575"/>
            <a:ext cx="749134" cy="284835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395664" y="168020"/>
            <a:ext cx="28867" cy="18542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2767" y="218008"/>
            <a:ext cx="510666" cy="272401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260699" y="128816"/>
            <a:ext cx="490147" cy="269697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60699" y="128816"/>
            <a:ext cx="84014" cy="269697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11397" y="112306"/>
            <a:ext cx="524662" cy="320331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1397" y="222021"/>
            <a:ext cx="143355" cy="183908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68567" y="188938"/>
            <a:ext cx="222355" cy="240169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20700" y="1054100"/>
            <a:ext cx="10138384" cy="5620137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69145" y="1220997"/>
            <a:ext cx="5237111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3: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Activation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Function</a:t>
            </a:r>
          </a:p>
        </p:txBody>
      </p:sp>
      <p:sp>
        <p:nvSpPr>
          <p:cNvPr id="65" name="object 65"/>
          <p:cNvSpPr txBox="1"/>
          <p:nvPr/>
        </p:nvSpPr>
        <p:spPr>
          <a:xfrm>
            <a:off x="769157" y="1741654"/>
            <a:ext cx="8557018" cy="905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There’s obviously no reason to predict values outside [0, 1]. Let’s squash </a:t>
            </a:r>
            <a:r>
              <a:rPr sz="1900" spc="454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into this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interval.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logistic function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a kind of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sigmoid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or S-shaped function: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699025" y="2772350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590201" y="2955230"/>
            <a:ext cx="86760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ꢒ</a:t>
            </a:r>
            <a:r>
              <a:rPr sz="1900" spc="-3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spc="2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4371873" y="3104093"/>
            <a:ext cx="927216" cy="333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9" dirty="0">
                <a:solidFill>
                  <a:srgbClr val="000000"/>
                </a:solidFill>
                <a:latin typeface="IJHIHP+CambriaMath"/>
                <a:cs typeface="IJHIHP+CambriaMath"/>
              </a:rPr>
              <a:t>1+ꢓ</a:t>
            </a:r>
            <a:r>
              <a:rPr sz="2100" baseline="30315" dirty="0">
                <a:solidFill>
                  <a:srgbClr val="000000"/>
                </a:solidFill>
                <a:latin typeface="BGOEJJ+CambriaMath"/>
                <a:cs typeface="BGOEJJ+CambriaMath"/>
              </a:rPr>
              <a:t>'0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1195504" y="3747122"/>
            <a:ext cx="38463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'%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2640190" y="3765997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⁄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769157" y="3774670"/>
            <a:ext cx="477880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ꢒ</a:t>
            </a:r>
            <a:r>
              <a:rPr sz="1900" spc="16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2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log(ꢃ</a:t>
            </a:r>
            <a:r>
              <a:rPr sz="1900" spc="-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5" dirty="0">
                <a:solidFill>
                  <a:srgbClr val="000000"/>
                </a:solidFill>
                <a:latin typeface="IJHIHP+CambriaMath"/>
                <a:cs typeface="IJHIHP+CambriaMath"/>
              </a:rPr>
              <a:t>(1−ꢃ))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called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logit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769157" y="4055086"/>
            <a:ext cx="671447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 linear model with a logistic nonlinearity is known as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log-linear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3950169" y="4426826"/>
            <a:ext cx="1000955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3944315" y="4817558"/>
            <a:ext cx="1073070" cy="613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-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0" dirty="0">
                <a:solidFill>
                  <a:srgbClr val="000000"/>
                </a:solidFill>
                <a:latin typeface="IJHIHP+CambriaMath"/>
                <a:cs typeface="IJHIHP+CambriaMath"/>
              </a:rPr>
              <a:t>ꢒ(ꢅ)</a:t>
            </a:r>
          </a:p>
          <a:p>
            <a:pPr marL="481762" marR="0">
              <a:lnSpc>
                <a:spcPts val="2228"/>
              </a:lnSpc>
              <a:spcBef>
                <a:spcPts val="75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5327586" y="5265026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&amp;</a:t>
            </a:r>
          </a:p>
        </p:txBody>
      </p:sp>
      <p:sp>
        <p:nvSpPr>
          <p:cNvPr id="76" name="object 76"/>
          <p:cNvSpPr txBox="1"/>
          <p:nvPr/>
        </p:nvSpPr>
        <p:spPr>
          <a:xfrm>
            <a:off x="3207105" y="5293046"/>
            <a:ext cx="227248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1900" spc="139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IJHIHP+CambriaMath"/>
                <a:cs typeface="IJHIHP+CambriaMath"/>
              </a:rPr>
              <a:t>ꢃ,ꢂ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7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(ꢃ</a:t>
            </a:r>
            <a:r>
              <a:rPr sz="1900" spc="-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56" dirty="0">
                <a:solidFill>
                  <a:srgbClr val="000000"/>
                </a:solidFill>
                <a:latin typeface="IJHIHP+CambriaMath"/>
                <a:cs typeface="IJHIHP+CambriaMath"/>
              </a:rPr>
              <a:t>−ꢂ)</a:t>
            </a:r>
          </a:p>
        </p:txBody>
      </p:sp>
      <p:sp>
        <p:nvSpPr>
          <p:cNvPr id="77" name="object 77"/>
          <p:cNvSpPr txBox="1"/>
          <p:nvPr/>
        </p:nvSpPr>
        <p:spPr>
          <a:xfrm>
            <a:off x="3360432" y="5402187"/>
            <a:ext cx="36588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./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4426077" y="5454724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ROCVNK+CambriaMath"/>
                <a:cs typeface="ROCVNK+CambriaMath"/>
              </a:rPr>
              <a:t>2</a:t>
            </a:r>
          </a:p>
        </p:txBody>
      </p:sp>
      <p:sp>
        <p:nvSpPr>
          <p:cNvPr id="79" name="object 79"/>
          <p:cNvSpPr txBox="1"/>
          <p:nvPr/>
        </p:nvSpPr>
        <p:spPr>
          <a:xfrm>
            <a:off x="769157" y="5798542"/>
            <a:ext cx="536567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Used in this way, </a:t>
            </a:r>
            <a:r>
              <a:rPr sz="1900" spc="469" dirty="0">
                <a:solidFill>
                  <a:srgbClr val="000000"/>
                </a:solidFill>
                <a:latin typeface="IJHIHP+CambriaMath"/>
                <a:cs typeface="IJHIHP+CambriaMath"/>
              </a:rPr>
              <a:t>ꢒ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called an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activation function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/>
          <p:cNvSpPr/>
          <p:nvPr/>
        </p:nvSpPr>
        <p:spPr>
          <a:xfrm>
            <a:off x="520700" y="987856"/>
            <a:ext cx="10101682" cy="5501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0486072" y="232664"/>
            <a:ext cx="32156" cy="1639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66764" y="139877"/>
            <a:ext cx="4146346" cy="8270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74498" y="212178"/>
            <a:ext cx="661263" cy="2076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0700" y="987856"/>
            <a:ext cx="9665754" cy="55018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9145" y="1220997"/>
            <a:ext cx="5237111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9" dirty="0">
                <a:solidFill>
                  <a:srgbClr val="001F5F"/>
                </a:solidFill>
                <a:latin typeface="BJWHHU+Calibri"/>
                <a:cs typeface="BJWHHU+Calibri"/>
              </a:rPr>
              <a:t>Attempt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20" dirty="0">
                <a:solidFill>
                  <a:srgbClr val="001F5F"/>
                </a:solidFill>
                <a:latin typeface="BJWHHU+Calibri"/>
                <a:cs typeface="BJWHHU+Calibri"/>
              </a:rPr>
              <a:t>3: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Activation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Function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156" y="1741654"/>
            <a:ext cx="149467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The</a:t>
            </a:r>
            <a:r>
              <a:rPr sz="1900" spc="-712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problem: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9156" y="2107414"/>
            <a:ext cx="4739992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(plot of </a:t>
            </a:r>
            <a:r>
              <a:rPr sz="1900" spc="41" dirty="0">
                <a:solidFill>
                  <a:srgbClr val="000000"/>
                </a:solidFill>
                <a:latin typeface="IJHIHP+CambriaMath"/>
                <a:cs typeface="IJHIHP+CambriaMath"/>
              </a:rPr>
              <a:t>ℒ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./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as a function of </a:t>
            </a:r>
            <a:r>
              <a:rPr sz="1900" spc="34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assuming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56464" y="3104582"/>
            <a:ext cx="145006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17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-3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61708" y="3287461"/>
            <a:ext cx="332668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06096" y="3449005"/>
            <a:ext cx="1501630" cy="321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  <a:r>
              <a:rPr sz="1900" spc="19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  <a:r>
              <a:rPr sz="1900" spc="-66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5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95707" y="3558146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726058" y="3558146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9156" y="4567150"/>
            <a:ext cx="336468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</a:t>
            </a:r>
            <a:r>
              <a:rPr sz="1900" spc="363" dirty="0">
                <a:solidFill>
                  <a:srgbClr val="000000"/>
                </a:solidFill>
                <a:latin typeface="IJHIHP+CambriaMath"/>
                <a:cs typeface="IJHIHP+CambriaMath"/>
              </a:rPr>
              <a:t>ꢅ≪0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we have </a:t>
            </a:r>
            <a:r>
              <a:rPr sz="1900" spc="20" dirty="0">
                <a:solidFill>
                  <a:srgbClr val="000000"/>
                </a:solidFill>
                <a:latin typeface="IJHIHP+CambriaMath"/>
                <a:cs typeface="IJHIHP+CambriaMath"/>
              </a:rPr>
              <a:t>ꢒ(ꢅ)</a:t>
            </a:r>
            <a:r>
              <a:rPr sz="1900" spc="-6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≈</a:t>
            </a:r>
            <a:r>
              <a:rPr sz="1900" spc="-61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40618" y="4856595"/>
            <a:ext cx="37534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1ꢀ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889529" y="4856595"/>
            <a:ext cx="37534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1ꢀ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9156" y="4935958"/>
            <a:ext cx="870062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3214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≈0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(check) </a:t>
            </a:r>
            <a:r>
              <a:rPr sz="1900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è</a:t>
            </a:r>
            <a:r>
              <a:rPr sz="1900" spc="24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≈0</a:t>
            </a:r>
            <a:r>
              <a:rPr sz="1900" spc="426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è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derivative w.r.t.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-1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small </a:t>
            </a:r>
            <a:r>
              <a:rPr sz="1900" spc="426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è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-1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like a critical point.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730786" y="5045570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114896" y="5045570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48109" y="5118723"/>
            <a:ext cx="35641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10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832316" y="5118723"/>
            <a:ext cx="478749" cy="2778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31" dirty="0">
                <a:solidFill>
                  <a:srgbClr val="000000"/>
                </a:solidFill>
                <a:latin typeface="BGOEJJ+CambriaMath"/>
                <a:cs typeface="BGOEJJ+CambriaMath"/>
              </a:rPr>
              <a:t>13</a:t>
            </a:r>
          </a:p>
          <a:p>
            <a:pPr marL="25800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AQLSTS+CambriaMath"/>
                <a:cs typeface="AQLSTS+CambriaMath"/>
              </a:rPr>
              <a:t>!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9156" y="5344390"/>
            <a:ext cx="868516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the prediction is really wrong, you should be far from a critical point (which is your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40618" y="5636998"/>
            <a:ext cx="210271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candidate solution).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1"/>
          <p:cNvSpPr/>
          <p:nvPr/>
        </p:nvSpPr>
        <p:spPr>
          <a:xfrm>
            <a:off x="6912623" y="671207"/>
            <a:ext cx="19418" cy="130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6294869" y="447167"/>
            <a:ext cx="572249" cy="260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294869" y="478561"/>
            <a:ext cx="183286" cy="2069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11635" y="488162"/>
            <a:ext cx="1026020" cy="2084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211635" y="488162"/>
            <a:ext cx="722173" cy="2084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34800" y="523735"/>
            <a:ext cx="240233" cy="20134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43501" y="655028"/>
            <a:ext cx="39116" cy="4603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14685" y="522020"/>
            <a:ext cx="230251" cy="2148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86174" y="550976"/>
            <a:ext cx="371411" cy="16898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86174" y="550976"/>
            <a:ext cx="155765" cy="16898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44836" y="565022"/>
            <a:ext cx="210489" cy="1740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38423" y="678294"/>
            <a:ext cx="37795" cy="3296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1452" y="457530"/>
            <a:ext cx="628522" cy="2343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31452" y="521627"/>
            <a:ext cx="171932" cy="17004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24913" y="473087"/>
            <a:ext cx="861441" cy="25806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0700" y="87376"/>
            <a:ext cx="1107022" cy="67745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70447" y="37680"/>
            <a:ext cx="987488" cy="32802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31688" y="97320"/>
            <a:ext cx="1021194" cy="25044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15800" y="221983"/>
            <a:ext cx="88265" cy="177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49598" y="71996"/>
            <a:ext cx="1025042" cy="2864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49598" y="144995"/>
            <a:ext cx="308660" cy="21343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82491" y="154076"/>
            <a:ext cx="124015" cy="17204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65702" y="105384"/>
            <a:ext cx="378993" cy="23867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90493" y="313982"/>
            <a:ext cx="25552" cy="2162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48012" y="153174"/>
            <a:ext cx="309714" cy="23562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99041" y="175424"/>
            <a:ext cx="20015" cy="2269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17837" y="178396"/>
            <a:ext cx="153733" cy="18770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947924" y="272351"/>
            <a:ext cx="37160" cy="65341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55823" y="197891"/>
            <a:ext cx="160388" cy="17142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443873" y="103708"/>
            <a:ext cx="221208" cy="27311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64930" y="181317"/>
            <a:ext cx="136512" cy="22918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31771" y="118211"/>
            <a:ext cx="148056" cy="29523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22572" y="87376"/>
            <a:ext cx="975150" cy="65697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02487" y="238594"/>
            <a:ext cx="104453" cy="14093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9145" y="1220997"/>
            <a:ext cx="262045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769157" y="1756894"/>
            <a:ext cx="8940826" cy="1198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Because </a:t>
            </a:r>
            <a:r>
              <a:rPr sz="1900" spc="556" dirty="0">
                <a:solidFill>
                  <a:srgbClr val="000000"/>
                </a:solidFill>
                <a:latin typeface="IJHIHP+CambriaMath"/>
                <a:cs typeface="IJHIHP+CambriaMath"/>
              </a:rPr>
              <a:t>ꢃ∈</a:t>
            </a:r>
            <a:r>
              <a:rPr sz="1900" spc="-4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3" dirty="0">
                <a:solidFill>
                  <a:srgbClr val="000000"/>
                </a:solidFill>
                <a:latin typeface="IJHIHP+CambriaMath"/>
                <a:cs typeface="IJHIHP+CambriaMath"/>
              </a:rPr>
              <a:t>0,1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we can interpret it as the estimated probability that</a:t>
            </a:r>
            <a:r>
              <a:rPr sz="1900" spc="-1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 If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then we want to heavily penalize</a:t>
            </a:r>
            <a:r>
              <a:rPr sz="1900" spc="-12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269" dirty="0">
                <a:solidFill>
                  <a:srgbClr val="000000"/>
                </a:solidFill>
                <a:latin typeface="IJHIHP+CambriaMath"/>
                <a:cs typeface="IJHIHP+CambriaMath"/>
              </a:rPr>
              <a:t>ꢃ≈1.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pundits who were 99% confident Clinton would win were much more wrong than</a:t>
            </a:r>
          </a:p>
          <a:p>
            <a:pPr marL="271462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ones who were only 90% confident.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69157" y="2915134"/>
            <a:ext cx="581095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Cross-entropy loss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(aka log loss) captures this intuition: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231502" y="3464245"/>
            <a:ext cx="2464746" cy="6229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0629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−logꢃ</a:t>
            </a:r>
            <a:r>
              <a:rPr sz="1900" spc="323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5" dirty="0">
                <a:solidFill>
                  <a:srgbClr val="000000"/>
                </a:solidFill>
                <a:latin typeface="IJHIHP+CambriaMath"/>
                <a:cs typeface="IJHIHP+CambriaMath"/>
              </a:rPr>
              <a:t>ꢈꢉꢂ=1</a:t>
            </a:r>
          </a:p>
          <a:p>
            <a:pPr marL="0" marR="0">
              <a:lnSpc>
                <a:spcPts val="2228"/>
              </a:lnSpc>
              <a:spcBef>
                <a:spcPts val="197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−log(1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" dirty="0">
                <a:solidFill>
                  <a:srgbClr val="000000"/>
                </a:solidFill>
                <a:latin typeface="IJHIHP+CambriaMath"/>
                <a:cs typeface="IJHIHP+CambriaMath"/>
              </a:rPr>
              <a:t>ꢃ)</a:t>
            </a:r>
            <a:r>
              <a:rPr sz="1900" spc="7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5" dirty="0">
                <a:solidFill>
                  <a:srgbClr val="000000"/>
                </a:solidFill>
                <a:latin typeface="IJHIHP+CambriaMath"/>
                <a:cs typeface="IJHIHP+CambriaMath"/>
              </a:rPr>
              <a:t>ꢈꢉꢂ=0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881022" y="3625790"/>
            <a:ext cx="1502865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2100" spc="-1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  <a:r>
              <a:rPr sz="2100" spc="-388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IJHIHP+CambriaMath"/>
                <a:cs typeface="IJHIHP+CambriaMath"/>
              </a:rPr>
              <a:t>ꢃ,ꢂ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=2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863761" y="4290253"/>
            <a:ext cx="320721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−ꢂlogꢃ</a:t>
            </a:r>
            <a:r>
              <a:rPr sz="1900" spc="-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IJHIHP+CambriaMath"/>
                <a:cs typeface="IJHIHP+CambriaMath"/>
              </a:rPr>
              <a:t>1−ꢂ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log(1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" dirty="0">
                <a:solidFill>
                  <a:srgbClr val="000000"/>
                </a:solidFill>
                <a:latin typeface="IJHIHP+CambriaMath"/>
                <a:cs typeface="IJHIHP+CambriaMath"/>
              </a:rPr>
              <a:t>ꢃ)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62045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84326"/>
            <a:ext cx="202068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Logistic regression: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92845" y="2338946"/>
            <a:ext cx="1000968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2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2100" spc="77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6990" y="2726630"/>
            <a:ext cx="1075671" cy="595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-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0" dirty="0">
                <a:solidFill>
                  <a:srgbClr val="000000"/>
                </a:solidFill>
                <a:latin typeface="IJHIHP+CambriaMath"/>
                <a:cs typeface="IJHIHP+CambriaMath"/>
              </a:rPr>
              <a:t>ꢒ(ꢅ)</a:t>
            </a:r>
          </a:p>
          <a:p>
            <a:pPr marL="789660" marR="0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02751" y="3183830"/>
            <a:ext cx="332668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49486" y="3332693"/>
            <a:ext cx="927216" cy="333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spc="279" dirty="0">
                <a:solidFill>
                  <a:srgbClr val="000000"/>
                </a:solidFill>
                <a:latin typeface="IJHIHP+CambriaMath"/>
                <a:cs typeface="IJHIHP+CambriaMath"/>
              </a:rPr>
              <a:t>1+ꢓ</a:t>
            </a:r>
            <a:r>
              <a:rPr sz="2100" baseline="30315" dirty="0">
                <a:solidFill>
                  <a:srgbClr val="000000"/>
                </a:solidFill>
                <a:latin typeface="BGOEJJ+CambriaMath"/>
                <a:cs typeface="BGOEJJ+CambriaMath"/>
              </a:rPr>
              <a:t>'0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32013" y="3744661"/>
            <a:ext cx="4190768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2100" spc="-1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  <a:r>
              <a:rPr sz="2100" spc="-388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IJHIHP+CambriaMath"/>
                <a:cs typeface="IJHIHP+CambriaMath"/>
              </a:rPr>
              <a:t>ꢃ,ꢂ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−ꢂlogꢃ</a:t>
            </a:r>
            <a:r>
              <a:rPr sz="1900" spc="-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IJHIHP+CambriaMath"/>
                <a:cs typeface="IJHIHP+CambriaMath"/>
              </a:rPr>
              <a:t>1−ꢂ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log(1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" dirty="0">
                <a:solidFill>
                  <a:srgbClr val="000000"/>
                </a:solidFill>
                <a:latin typeface="IJHIHP+CambriaMath"/>
                <a:cs typeface="IJHIHP+CambriaMath"/>
              </a:rPr>
              <a:t>ꢃ)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20126" y="4719550"/>
            <a:ext cx="239420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Plot is for target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367" dirty="0">
                <a:solidFill>
                  <a:srgbClr val="000000"/>
                </a:solidFill>
                <a:latin typeface="IJHIHP+CambriaMath"/>
                <a:cs typeface="IJHIHP+CambriaMath"/>
              </a:rPr>
              <a:t>ꢂ=1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07191" y="1054100"/>
            <a:ext cx="9665509" cy="5479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5424533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Gradient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Descent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for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9472" y="2061694"/>
            <a:ext cx="765783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How do we minimize the cost </a:t>
            </a:r>
            <a:r>
              <a:rPr sz="1900" spc="489" dirty="0">
                <a:solidFill>
                  <a:srgbClr val="000000"/>
                </a:solidFill>
                <a:latin typeface="IJHIHP+CambriaMath"/>
                <a:cs typeface="IJHIHP+CambriaMath"/>
              </a:rPr>
              <a:t>ꢏ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for logistic regression? No direct solution.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80922" y="2482318"/>
            <a:ext cx="800506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Taking derivatives of </a:t>
            </a:r>
            <a:r>
              <a:rPr sz="1900" spc="489" dirty="0">
                <a:solidFill>
                  <a:srgbClr val="000000"/>
                </a:solidFill>
                <a:latin typeface="IJHIHP+CambriaMath"/>
                <a:cs typeface="IJHIHP+CambriaMath"/>
              </a:rPr>
              <a:t>ꢏ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w.r.t.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 setting them to 0 doesn’t have an explicit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2384" y="2774926"/>
            <a:ext cx="100731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solution.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9472" y="3219934"/>
            <a:ext cx="833936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However, the logistic loss is a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convex function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so let’s consider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gradient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60934" y="3512542"/>
            <a:ext cx="387115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descent</a:t>
            </a:r>
            <a:r>
              <a:rPr sz="1900" spc="-10" dirty="0">
                <a:solidFill>
                  <a:srgbClr val="FF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method from the last lecture.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80922" y="4009366"/>
            <a:ext cx="8171836" cy="902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Recall: we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initialize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weights to something reasonable and repeatedly adjust</a:t>
            </a:r>
          </a:p>
          <a:p>
            <a:pPr marL="271462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them in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direction of steepest descent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 standard initialization is </a:t>
            </a:r>
            <a:r>
              <a:rPr sz="1900" spc="350" dirty="0">
                <a:solidFill>
                  <a:srgbClr val="000000"/>
                </a:solidFill>
                <a:latin typeface="IJHIHP+CambriaMath"/>
                <a:cs typeface="IJHIHP+CambriaMath"/>
              </a:rPr>
              <a:t>ꢆ=0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 (why?)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10010801" y="7216060"/>
            <a:ext cx="584403" cy="306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10010801" y="7216060"/>
            <a:ext cx="424827" cy="2674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840988" y="7340898"/>
            <a:ext cx="77267" cy="12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851669" y="7275415"/>
            <a:ext cx="80683" cy="249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0121" y="7221774"/>
            <a:ext cx="391427" cy="3051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78925" y="7308502"/>
            <a:ext cx="118453" cy="175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35365" y="7217889"/>
            <a:ext cx="152615" cy="2767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64892" y="7208174"/>
            <a:ext cx="138252" cy="2239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80717" y="7215164"/>
            <a:ext cx="115303" cy="1509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96618" y="7209180"/>
            <a:ext cx="400113" cy="29840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17510" y="7232572"/>
            <a:ext cx="117334" cy="14263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81925" y="7219565"/>
            <a:ext cx="282371" cy="26975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18476" y="7295849"/>
            <a:ext cx="135952" cy="2890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0328" y="7355096"/>
            <a:ext cx="81457" cy="135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00024" y="7284985"/>
            <a:ext cx="116179" cy="1893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47129" y="7206132"/>
            <a:ext cx="213524" cy="2260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48285" y="7206012"/>
            <a:ext cx="521310" cy="21852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48285" y="7206012"/>
            <a:ext cx="201345" cy="21428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98184" y="7216194"/>
            <a:ext cx="106934" cy="15581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90158" y="7223619"/>
            <a:ext cx="70180" cy="16354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69762" y="7249232"/>
            <a:ext cx="146735" cy="14092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19065" y="7192982"/>
            <a:ext cx="498182" cy="30503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19065" y="7192982"/>
            <a:ext cx="329984" cy="27169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205247" y="7233577"/>
            <a:ext cx="85991" cy="15406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09439" y="7207178"/>
            <a:ext cx="254456" cy="19628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33036" y="7319501"/>
            <a:ext cx="64693" cy="1270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715065" y="7256164"/>
            <a:ext cx="112343" cy="187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9227" y="1054100"/>
            <a:ext cx="10427449" cy="609298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69145" y="1220997"/>
            <a:ext cx="3319255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Gradient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Loss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69156" y="1769086"/>
            <a:ext cx="274772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Back to logistic regression: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3020149" y="2117030"/>
            <a:ext cx="4190768" cy="3588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2100" spc="-10" baseline="-21473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  <a:r>
              <a:rPr sz="2100" spc="-388" baseline="-214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4" dirty="0">
                <a:solidFill>
                  <a:srgbClr val="000000"/>
                </a:solidFill>
                <a:latin typeface="IJHIHP+CambriaMath"/>
                <a:cs typeface="IJHIHP+CambriaMath"/>
              </a:rPr>
              <a:t>ꢃ,ꢂ</a:t>
            </a:r>
            <a:r>
              <a:rPr sz="1900" spc="1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−ꢂlogꢃ</a:t>
            </a:r>
            <a:r>
              <a:rPr sz="1900" spc="-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6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IJHIHP+CambriaMath"/>
                <a:cs typeface="IJHIHP+CambriaMath"/>
              </a:rPr>
              <a:t>1−ꢂ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log(1</a:t>
            </a:r>
            <a:r>
              <a:rPr sz="1900" spc="-72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-7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" dirty="0">
                <a:solidFill>
                  <a:srgbClr val="000000"/>
                </a:solidFill>
                <a:latin typeface="IJHIHP+CambriaMath"/>
                <a:cs typeface="IJHIHP+CambriaMath"/>
              </a:rPr>
              <a:t>ꢃ)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087205" y="2516318"/>
            <a:ext cx="3302538" cy="336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-58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40" dirty="0">
                <a:solidFill>
                  <a:srgbClr val="000000"/>
                </a:solidFill>
                <a:latin typeface="IJHIHP+CambriaMath"/>
                <a:cs typeface="IJHIHP+CambriaMath"/>
              </a:rPr>
              <a:t>1⁄(1+ꢓ</a:t>
            </a:r>
            <a:r>
              <a:rPr sz="1900" spc="67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)</a:t>
            </a:r>
            <a:r>
              <a:rPr sz="1900" spc="-2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and</a:t>
            </a:r>
            <a:r>
              <a:rPr sz="1900" spc="67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spc="543" dirty="0">
                <a:solidFill>
                  <a:srgbClr val="000000"/>
                </a:solidFill>
                <a:latin typeface="IJHIHP+CambriaMath"/>
                <a:cs typeface="IJHIHP+CambriaMath"/>
              </a:rPr>
              <a:t>ꢅ=ꢆ</a:t>
            </a:r>
            <a:r>
              <a:rPr sz="1900" spc="-9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459452" y="2500490"/>
            <a:ext cx="3758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'0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6028931" y="2500490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769156" y="2872462"/>
            <a:ext cx="112811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Therefore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325967" y="3171638"/>
            <a:ext cx="413207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299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20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ꢑꢃ</a:t>
            </a:r>
            <a:r>
              <a:rPr sz="1900" spc="78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  <a:r>
              <a:rPr sz="1900" spc="47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ꢂ</a:t>
            </a:r>
            <a:r>
              <a:rPr sz="1900" spc="14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IJHIHP+CambriaMath"/>
                <a:cs typeface="IJHIHP+CambriaMath"/>
              </a:rPr>
              <a:t>1−ꢂ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619895" y="3280778"/>
            <a:ext cx="36223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2" dirty="0">
                <a:solidFill>
                  <a:srgbClr val="000000"/>
                </a:solidFill>
                <a:latin typeface="BGOEJJ+CambriaMath"/>
                <a:cs typeface="BGOEJJ+CambriaMath"/>
              </a:rPr>
              <a:t>ꢁꢂ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444938" y="3280778"/>
            <a:ext cx="38055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ꢃꢄ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2904286" y="3354517"/>
            <a:ext cx="5074999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398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V</a:t>
            </a:r>
            <a:r>
              <a:rPr sz="1900" spc="185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V</a:t>
            </a:r>
            <a:r>
              <a:rPr sz="1900" spc="286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32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6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+</a:t>
            </a:r>
            <a:r>
              <a:rPr sz="1900" spc="50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40" dirty="0">
                <a:solidFill>
                  <a:srgbClr val="000000"/>
                </a:solidFill>
                <a:latin typeface="IJHIHP+CambriaMath"/>
                <a:cs typeface="IJHIHP+CambriaMath"/>
              </a:rPr>
              <a:t>Vꢃ(1−ꢃ)Vꢋ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7802816" y="3463658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2387295" y="3516061"/>
            <a:ext cx="4091975" cy="3212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  <a:r>
              <a:rPr sz="1900" spc="33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ꢑꢃ</a:t>
            </a:r>
            <a:r>
              <a:rPr sz="1900" spc="134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  <a:r>
              <a:rPr sz="1900" spc="34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  <a:r>
              <a:rPr sz="1900" spc="45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11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9" dirty="0">
                <a:solidFill>
                  <a:srgbClr val="000000"/>
                </a:solidFill>
                <a:latin typeface="IJHIHP+CambriaMath"/>
                <a:cs typeface="IJHIHP+CambriaMath"/>
              </a:rPr>
              <a:t>1−ꢃ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676906" y="3625202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594136" y="3625202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757559" y="3887917"/>
            <a:ext cx="1314988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(ꢃ</a:t>
            </a:r>
            <a:r>
              <a:rPr sz="1900" spc="-6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16" dirty="0">
                <a:solidFill>
                  <a:srgbClr val="000000"/>
                </a:solidFill>
                <a:latin typeface="IJHIHP+CambriaMath"/>
                <a:cs typeface="IJHIHP+CambriaMath"/>
              </a:rPr>
              <a:t>−ꢂ)ꢋ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91218" y="4119094"/>
            <a:ext cx="126267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(verify this)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791218" y="4524478"/>
            <a:ext cx="832942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Gradient descent (coordinatewise) update to find the weights of logistic regression: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5428983" y="4799270"/>
            <a:ext cx="44899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ꢑꢕ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4071620" y="4982150"/>
            <a:ext cx="141641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ꢊ</a:t>
            </a:r>
            <a:r>
              <a:rPr sz="1900" spc="-6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←ꢊ</a:t>
            </a:r>
            <a:r>
              <a:rPr sz="1900" spc="-69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−ꢔ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4220616" y="5091291"/>
            <a:ext cx="82018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  <a:r>
              <a:rPr sz="1400" spc="31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5382984" y="5143694"/>
            <a:ext cx="525441" cy="358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5" dirty="0">
                <a:solidFill>
                  <a:srgbClr val="000000"/>
                </a:solidFill>
                <a:latin typeface="IJHIHP+CambriaMath"/>
                <a:cs typeface="IJHIHP+CambriaMath"/>
              </a:rPr>
              <a:t>ꢑꢊ</a:t>
            </a:r>
            <a:r>
              <a:rPr sz="2100" baseline="-21473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5469471" y="5466195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170564" y="5582606"/>
            <a:ext cx="29708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ꢔ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6993026" y="5697843"/>
            <a:ext cx="403701" cy="4539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007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  <a:p>
            <a:pPr marL="0" marR="0">
              <a:lnSpc>
                <a:spcPts val="1632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6017971" y="5737467"/>
            <a:ext cx="91345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spc="29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373219" y="5765485"/>
            <a:ext cx="279627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=ꢊ</a:t>
            </a:r>
            <a:r>
              <a:rPr sz="1900" spc="-69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−</a:t>
            </a:r>
            <a:r>
              <a:rPr sz="1900" spc="103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K(ꢃ</a:t>
            </a:r>
            <a:r>
              <a:rPr sz="1900" spc="1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−ꢂ</a:t>
            </a:r>
            <a:r>
              <a:rPr sz="1900" spc="3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)ꢋ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768951" y="5874626"/>
            <a:ext cx="235830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5154930" y="5927164"/>
            <a:ext cx="32913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5389334" y="6133707"/>
            <a:ext cx="45108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BGOEJJ+CambriaMath"/>
                <a:cs typeface="BGOEJJ+CambriaMath"/>
              </a:rPr>
              <a:t>()%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5424533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Gradient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Descent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for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Logistic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99566"/>
            <a:ext cx="428342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Comparison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of</a:t>
            </a:r>
            <a:r>
              <a:rPr sz="1900" spc="-712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gradient</a:t>
            </a:r>
            <a:r>
              <a:rPr sz="1900" spc="-710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descent</a:t>
            </a:r>
            <a:r>
              <a:rPr sz="1900" spc="-711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updates: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2253718"/>
            <a:ext cx="216739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Linear regression: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32604" y="2335899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33696" y="2452309"/>
            <a:ext cx="29708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ꢔ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1117" y="2607170"/>
            <a:ext cx="137377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spc="29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  <a:r>
              <a:rPr sz="1400" spc="109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605111" y="2635190"/>
            <a:ext cx="3025869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9" dirty="0">
                <a:solidFill>
                  <a:srgbClr val="000000"/>
                </a:solidFill>
                <a:latin typeface="IJHIHP+CambriaMath"/>
                <a:cs typeface="IJHIHP+CambriaMath"/>
              </a:rPr>
              <a:t>ꢆ←ꢆ−</a:t>
            </a:r>
            <a:r>
              <a:rPr sz="1900" spc="6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K(ꢃ</a:t>
            </a:r>
            <a:r>
              <a:rPr sz="1900" spc="1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−ꢂ</a:t>
            </a:r>
            <a:r>
              <a:rPr sz="1900" spc="3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)ꢁ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18063" y="2796868"/>
            <a:ext cx="32913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852479" y="3003410"/>
            <a:ext cx="45108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BGOEJJ+CambriaMath"/>
                <a:cs typeface="BGOEJJ+CambriaMath"/>
              </a:rPr>
              <a:t>()%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157" y="3411958"/>
            <a:ext cx="229214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Logistic regression: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926215" y="3527666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27308" y="3644078"/>
            <a:ext cx="297085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ꢔ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74728" y="3798938"/>
            <a:ext cx="13737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spc="297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  <a:r>
              <a:rPr sz="1400" spc="109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598710" y="3826958"/>
            <a:ext cx="302588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369" dirty="0">
                <a:solidFill>
                  <a:srgbClr val="000000"/>
                </a:solidFill>
                <a:latin typeface="IJHIHP+CambriaMath"/>
                <a:cs typeface="IJHIHP+CambriaMath"/>
              </a:rPr>
              <a:t>ꢆ←ꢆ−</a:t>
            </a:r>
            <a:r>
              <a:rPr sz="1900" spc="66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K(ꢃ</a:t>
            </a:r>
            <a:r>
              <a:rPr sz="1900" spc="113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−ꢂ</a:t>
            </a:r>
            <a:r>
              <a:rPr sz="1900" spc="3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)ꢁ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11674" y="3988636"/>
            <a:ext cx="32913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46091" y="4195179"/>
            <a:ext cx="45107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BGOEJJ+CambriaMath"/>
                <a:cs typeface="BGOEJJ+CambriaMath"/>
              </a:rPr>
              <a:t>()%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9157" y="4570198"/>
            <a:ext cx="838880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Not a coincidence! These are both examples of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generalized linear models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 But we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40620" y="4862806"/>
            <a:ext cx="267071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won’t go in further detail.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753362" y="5137011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69157" y="5216374"/>
            <a:ext cx="891208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Notice</a:t>
            </a:r>
            <a:r>
              <a:rPr sz="1900" spc="1512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 front of sums due to averaged losses. This is why you need smaller learning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35620" y="5399138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533887" y="5533251"/>
            <a:ext cx="824414" cy="34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9</a:t>
            </a:r>
            <a:r>
              <a:rPr sz="1400" spc="2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⁄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40620" y="5560798"/>
            <a:ext cx="463458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rate when cost is summed losses 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(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ꢔ</a:t>
            </a:r>
            <a:r>
              <a:rPr sz="1900" spc="5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=ꢔ</a:t>
            </a:r>
            <a:r>
              <a:rPr sz="1900" spc="-55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25057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Multiclass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89250" y="3628366"/>
            <a:ext cx="487421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Multiclass Classification and Softmax Regression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138974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083030"/>
            <a:ext cx="519879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Classification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predicting a discrete-valued target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5527" y="2528038"/>
            <a:ext cx="6674248" cy="62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Binary classification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predicting a binary-valued target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Multiclass classification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 predicting a discrete-(&gt;2)-valued target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3530830"/>
            <a:ext cx="401256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Examples of multi-class classification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5527" y="3881350"/>
            <a:ext cx="5011743" cy="62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Predict the value of a handwritten digit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Classify e-mails as spam, travel, work, personal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25057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Multiclass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12" y="2509750"/>
            <a:ext cx="538899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Classification tasks with more than two categories: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25057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Multiclass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7" y="2070838"/>
            <a:ext cx="4074766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Targets form a discrete set</a:t>
            </a:r>
            <a:r>
              <a:rPr sz="1900" spc="723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187" dirty="0">
                <a:solidFill>
                  <a:srgbClr val="000000"/>
                </a:solidFill>
                <a:latin typeface="IJHIHP+CambriaMath"/>
                <a:cs typeface="IJHIHP+CambriaMath"/>
              </a:rPr>
              <a:t>1,⋯,ꢖ</a:t>
            </a:r>
            <a:r>
              <a:rPr sz="1900" spc="-5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2643862"/>
            <a:ext cx="815018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It’s often more convenient to represent them as</a:t>
            </a:r>
            <a:r>
              <a:rPr sz="1900" spc="-13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one-hot vectors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or a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one-of-K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40620" y="2936470"/>
            <a:ext cx="111559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encoding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10940" y="3320402"/>
            <a:ext cx="2995879" cy="349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28" dirty="0">
                <a:solidFill>
                  <a:srgbClr val="000000"/>
                </a:solidFill>
                <a:latin typeface="IJHIHP+CambriaMath"/>
                <a:cs typeface="IJHIHP+CambriaMath"/>
              </a:rPr>
              <a:t>ꢗ=</a:t>
            </a:r>
            <a:r>
              <a:rPr sz="1900" spc="-3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08" dirty="0">
                <a:solidFill>
                  <a:srgbClr val="000000"/>
                </a:solidFill>
                <a:latin typeface="IJHIHP+CambriaMath"/>
                <a:cs typeface="IJHIHP+CambriaMath"/>
              </a:rPr>
              <a:t>0,⋯,0,1,0⋯,0</a:t>
            </a:r>
            <a:r>
              <a:rPr sz="1900" spc="-3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6" dirty="0">
                <a:solidFill>
                  <a:srgbClr val="000000"/>
                </a:solidFill>
                <a:latin typeface="IJHIHP+CambriaMath"/>
                <a:cs typeface="IJHIHP+CambriaMath"/>
              </a:rPr>
              <a:t>∈ℝ</a:t>
            </a:r>
            <a:r>
              <a:rPr sz="2100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35043" y="4030702"/>
            <a:ext cx="124821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entry </a:t>
            </a:r>
            <a:r>
              <a:rPr sz="1900" spc="482" dirty="0">
                <a:solidFill>
                  <a:srgbClr val="000000"/>
                </a:solidFill>
                <a:latin typeface="IJHIHP+CambriaMath"/>
                <a:cs typeface="IJHIHP+CambriaMath"/>
              </a:rPr>
              <a:t>ꢘ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"/>
          <p:cNvSpPr/>
          <p:nvPr/>
        </p:nvSpPr>
        <p:spPr>
          <a:xfrm>
            <a:off x="5181422" y="575691"/>
            <a:ext cx="516509" cy="2492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5431383" y="516661"/>
            <a:ext cx="31762" cy="29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20700" y="707567"/>
            <a:ext cx="10132060" cy="57821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9145" y="1220997"/>
            <a:ext cx="412919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Multiclass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1769086"/>
            <a:ext cx="8163277" cy="1491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can start with a linear function of the inputs.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Now there are </a:t>
            </a:r>
            <a:r>
              <a:rPr sz="1900" spc="482" dirty="0">
                <a:solidFill>
                  <a:srgbClr val="000000"/>
                </a:solidFill>
                <a:latin typeface="IJHIHP+CambriaMath"/>
                <a:cs typeface="IJHIHP+CambriaMath"/>
              </a:rPr>
              <a:t>ꢀ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input dimensions and </a:t>
            </a:r>
            <a:r>
              <a:rPr sz="1900" spc="482" dirty="0">
                <a:solidFill>
                  <a:srgbClr val="000000"/>
                </a:solidFill>
                <a:latin typeface="IJHIHP+CambriaMath"/>
                <a:cs typeface="IJHIHP+CambriaMath"/>
              </a:rPr>
              <a:t>ꢖ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output dimensions, so we need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28" dirty="0">
                <a:solidFill>
                  <a:srgbClr val="000000"/>
                </a:solidFill>
                <a:latin typeface="IJHIHP+CambriaMath"/>
                <a:cs typeface="IJHIHP+CambriaMath"/>
              </a:rPr>
              <a:t>ꢖ×ꢀ</a:t>
            </a:r>
          </a:p>
          <a:p>
            <a:pPr marL="271462" marR="0">
              <a:lnSpc>
                <a:spcPts val="220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weights, which we arrange as a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weight matrix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ꢙ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0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Also, we have a </a:t>
            </a:r>
            <a:r>
              <a:rPr sz="1900" spc="57" dirty="0">
                <a:solidFill>
                  <a:srgbClr val="000000"/>
                </a:solidFill>
                <a:latin typeface="IJHIHP+CambriaMath"/>
                <a:cs typeface="IJHIHP+CambriaMath"/>
              </a:rPr>
              <a:t>ꢖ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-dimensional vector </a:t>
            </a:r>
            <a:r>
              <a:rPr sz="1900" spc="421" dirty="0">
                <a:solidFill>
                  <a:srgbClr val="000000"/>
                </a:solidFill>
                <a:latin typeface="IJHIHP+CambriaMath"/>
                <a:cs typeface="IJHIHP+CambriaMath"/>
              </a:rPr>
              <a:t>ꢚ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of biases.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 linear function of the inputs: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96169" y="3268587"/>
            <a:ext cx="2796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!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354463" y="3567878"/>
            <a:ext cx="419098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spc="30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80" dirty="0">
                <a:solidFill>
                  <a:srgbClr val="000000"/>
                </a:solidFill>
                <a:latin typeface="IJHIHP+CambriaMath"/>
                <a:cs typeface="IJHIHP+CambriaMath"/>
              </a:rPr>
              <a:t>=Kꢊ</a:t>
            </a:r>
            <a:r>
              <a:rPr sz="1900" spc="1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1900" spc="-1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+ꢇ</a:t>
            </a:r>
            <a:r>
              <a:rPr sz="1900" spc="9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for</a:t>
            </a:r>
            <a:r>
              <a:rPr sz="1900" spc="10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ꢘ</a:t>
            </a:r>
            <a:r>
              <a:rPr sz="1900" spc="-55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IJHIHP+CambriaMath"/>
                <a:cs typeface="IJHIHP+CambriaMath"/>
              </a:rPr>
              <a:t>=1,</a:t>
            </a:r>
            <a:r>
              <a:rPr sz="1900" dirty="0">
                <a:solidFill>
                  <a:srgbClr val="000000"/>
                </a:solidFill>
                <a:latin typeface="ROCVNK+CambriaMath"/>
                <a:cs typeface="ROCVNK+CambriaMath"/>
              </a:rPr>
              <a:t>2</a:t>
            </a:r>
            <a:r>
              <a:rPr sz="1900" spc="313" dirty="0">
                <a:solidFill>
                  <a:srgbClr val="000000"/>
                </a:solidFill>
                <a:latin typeface="IJHIHP+CambriaMath"/>
                <a:cs typeface="IJHIHP+CambriaMath"/>
              </a:rPr>
              <a:t>,⋯,ꢖ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65461" y="3677019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31766" y="3677019"/>
            <a:ext cx="1079179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&lt;-</a:t>
            </a:r>
            <a:r>
              <a:rPr sz="1400" spc="1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-</a:t>
            </a:r>
            <a:r>
              <a:rPr sz="1400" spc="25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01668" y="3936099"/>
            <a:ext cx="47244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7" dirty="0">
                <a:solidFill>
                  <a:srgbClr val="000000"/>
                </a:solidFill>
                <a:latin typeface="BGOEJJ+CambriaMath"/>
                <a:cs typeface="BGOEJJ+CambriaMath"/>
              </a:rPr>
              <a:t>-)%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156" y="4362819"/>
            <a:ext cx="8584758" cy="676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can eliminate the bias </a:t>
            </a:r>
            <a:r>
              <a:rPr sz="1900" spc="421" dirty="0">
                <a:solidFill>
                  <a:srgbClr val="000000"/>
                </a:solidFill>
                <a:latin typeface="IJHIHP+CambriaMath"/>
                <a:cs typeface="IJHIHP+CambriaMath"/>
              </a:rPr>
              <a:t>ꢚ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by taking </a:t>
            </a:r>
            <a:r>
              <a:rPr sz="1900" spc="353" dirty="0">
                <a:solidFill>
                  <a:srgbClr val="000000"/>
                </a:solidFill>
                <a:latin typeface="IJHIHP+CambriaMath"/>
                <a:cs typeface="IJHIHP+CambriaMath"/>
              </a:rPr>
              <a:t>ꢙ∈ℝ</a:t>
            </a:r>
            <a:r>
              <a:rPr sz="2100" spc="11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:×</a:t>
            </a:r>
            <a:r>
              <a:rPr sz="2100" baseline="36631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2100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!$%</a:t>
            </a:r>
            <a:r>
              <a:rPr sz="2100" spc="496" baseline="36631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 adding a dummy variable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spc="-2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 So, vectorized: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03423" y="5012158"/>
            <a:ext cx="5012301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316" dirty="0">
                <a:solidFill>
                  <a:srgbClr val="000000"/>
                </a:solidFill>
                <a:latin typeface="IJHIHP+CambriaMath"/>
                <a:cs typeface="IJHIHP+CambriaMath"/>
              </a:rPr>
              <a:t>ꢛ=ꢙꢁ+ꢚ</a:t>
            </a:r>
            <a:r>
              <a:rPr sz="1900" spc="72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or with dummy </a:t>
            </a:r>
            <a:r>
              <a:rPr sz="1900" spc="-21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13894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1389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spc="84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3" dirty="0">
                <a:solidFill>
                  <a:srgbClr val="000000"/>
                </a:solidFill>
                <a:latin typeface="IJHIHP+CambriaMath"/>
                <a:cs typeface="IJHIHP+CambriaMath"/>
              </a:rPr>
              <a:t>ꢛ=ꢙꢁ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4129192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Multiclass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7" y="2467078"/>
            <a:ext cx="679565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How can we turn this linear prediction into a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one-hot prediction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2759686"/>
            <a:ext cx="881196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can interpret the magnitude of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spc="2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as a measure of how much the model prefers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ꢘ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22813" y="2869299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0620" y="3040102"/>
            <a:ext cx="176704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as its prediction.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9157" y="3332710"/>
            <a:ext cx="309287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we do this, we should set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79976" y="3778190"/>
            <a:ext cx="1994033" cy="619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  <a:r>
              <a:rPr sz="1900" spc="75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ꢈ</a:t>
            </a:r>
            <a:r>
              <a:rPr sz="1900" spc="-5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70" dirty="0">
                <a:solidFill>
                  <a:srgbClr val="000000"/>
                </a:solidFill>
                <a:latin typeface="IJHIHP+CambriaMath"/>
                <a:cs typeface="IJHIHP+CambriaMath"/>
              </a:rPr>
              <a:t>argmax</a:t>
            </a:r>
            <a:r>
              <a:rPr sz="1900" spc="-20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</a:p>
          <a:p>
            <a:pPr marL="0" marR="0">
              <a:lnSpc>
                <a:spcPts val="2228"/>
              </a:lnSpc>
              <a:spcBef>
                <a:spcPts val="173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0</a:t>
            </a:r>
            <a:r>
              <a:rPr sz="1900" spc="2914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otherwise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82957" y="3887331"/>
            <a:ext cx="49297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  <a:r>
              <a:rPr sz="1400" spc="14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41229" y="3915349"/>
            <a:ext cx="791132" cy="3558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-62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2100" spc="-61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3" dirty="0">
                <a:solidFill>
                  <a:srgbClr val="000000"/>
                </a:solidFill>
                <a:latin typeface="IJHIHP+CambriaMath"/>
                <a:cs typeface="IJHIHP+CambriaMath"/>
              </a:rPr>
              <a:t>=2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1"/>
          <p:cNvSpPr/>
          <p:nvPr/>
        </p:nvSpPr>
        <p:spPr>
          <a:xfrm>
            <a:off x="9420555" y="39027"/>
            <a:ext cx="1049566" cy="3368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9014511" y="50253"/>
            <a:ext cx="358025" cy="2560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782520" y="67474"/>
            <a:ext cx="404685" cy="2296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54809" y="80771"/>
            <a:ext cx="446316" cy="241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554809" y="117944"/>
            <a:ext cx="205829" cy="2046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54999" y="298525"/>
            <a:ext cx="48666" cy="740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68883" y="15049"/>
            <a:ext cx="1106424" cy="31870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45576" y="16091"/>
            <a:ext cx="30734" cy="446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68883" y="15049"/>
            <a:ext cx="769581" cy="3187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54419" y="51701"/>
            <a:ext cx="686803" cy="2808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77291" y="62065"/>
            <a:ext cx="29756" cy="249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51003" y="54432"/>
            <a:ext cx="471233" cy="29546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1003" y="70281"/>
            <a:ext cx="188061" cy="27961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21552" y="58737"/>
            <a:ext cx="171335" cy="26073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51195" y="57201"/>
            <a:ext cx="625881" cy="27066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21413" y="87109"/>
            <a:ext cx="23291" cy="2668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92775" y="57201"/>
            <a:ext cx="494843" cy="2668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13745" y="46710"/>
            <a:ext cx="1043508" cy="27593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61677" y="48780"/>
            <a:ext cx="1017599" cy="29871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61677" y="48780"/>
            <a:ext cx="752931" cy="29871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94533" y="82486"/>
            <a:ext cx="323926" cy="24036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11285" y="64084"/>
            <a:ext cx="426872" cy="27931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33435" y="80898"/>
            <a:ext cx="248907" cy="24533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40547" y="84353"/>
            <a:ext cx="165163" cy="27090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38414" y="81635"/>
            <a:ext cx="552780" cy="26657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38414" y="131089"/>
            <a:ext cx="128219" cy="10231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36164" y="158686"/>
            <a:ext cx="658752" cy="25511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0700" y="442620"/>
            <a:ext cx="10112616" cy="604707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69145" y="1220997"/>
            <a:ext cx="272068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Softmax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69156" y="1756894"/>
            <a:ext cx="661717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need to soften our predictions for the sake of optimization.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69156" y="2049502"/>
            <a:ext cx="749127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We want soft predictions that are like probabilities, i.e., </a:t>
            </a:r>
            <a:r>
              <a:rPr sz="1900" spc="527" dirty="0">
                <a:solidFill>
                  <a:srgbClr val="000000"/>
                </a:solidFill>
                <a:latin typeface="IJHIHP+CambriaMath"/>
                <a:cs typeface="IJHIHP+CambriaMath"/>
              </a:rPr>
              <a:t>0≤ꢃ</a:t>
            </a:r>
            <a:r>
              <a:rPr sz="1900" spc="-24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5" dirty="0">
                <a:solidFill>
                  <a:srgbClr val="000000"/>
                </a:solidFill>
                <a:latin typeface="IJHIHP+CambriaMath"/>
                <a:cs typeface="IJHIHP+CambriaMath"/>
              </a:rPr>
              <a:t>≤1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162188" y="2040829"/>
            <a:ext cx="1232654" cy="374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∑</a:t>
            </a:r>
            <a:r>
              <a:rPr sz="1900" spc="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2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.</a:t>
            </a:r>
          </a:p>
          <a:p>
            <a:pPr marL="170967" marR="0">
              <a:lnSpc>
                <a:spcPts val="1642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  <a:r>
              <a:rPr sz="1400" spc="51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7114387" y="2159115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769156" y="2329918"/>
            <a:ext cx="775265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 natural activation function to use is the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softmax function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a multivariable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040618" y="2622526"/>
            <a:ext cx="385673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generalization of the logistic function: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6481013" y="3213722"/>
            <a:ext cx="385712" cy="349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54" dirty="0">
                <a:solidFill>
                  <a:srgbClr val="000000"/>
                </a:solidFill>
                <a:latin typeface="IJHIHP+CambriaMath"/>
                <a:cs typeface="IJHIHP+CambriaMath"/>
              </a:rPr>
              <a:t>ꢓ</a:t>
            </a:r>
            <a:r>
              <a:rPr sz="2100" baseline="36631" dirty="0">
                <a:solidFill>
                  <a:srgbClr val="000000"/>
                </a:solidFill>
                <a:latin typeface="BGOEJJ+CambriaMath"/>
                <a:cs typeface="BGOEJJ+CambriaMath"/>
              </a:rPr>
              <a:t>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6713207" y="3286522"/>
            <a:ext cx="242168" cy="201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000000"/>
                </a:solidFill>
                <a:latin typeface="AQLSTS+CambriaMath"/>
                <a:cs typeface="AQLSTS+CambriaMath"/>
              </a:rPr>
              <a:t>"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331235" y="3424621"/>
            <a:ext cx="300416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286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softmax(ꢅ</a:t>
            </a:r>
            <a:r>
              <a:rPr sz="1900" spc="-35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313" dirty="0">
                <a:solidFill>
                  <a:srgbClr val="000000"/>
                </a:solidFill>
                <a:latin typeface="IJHIHP+CambriaMath"/>
                <a:cs typeface="IJHIHP+CambriaMath"/>
              </a:rPr>
              <a:t>,⋯,ꢅ</a:t>
            </a:r>
            <a:r>
              <a:rPr sz="1900" spc="-37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)</a:t>
            </a:r>
            <a:r>
              <a:rPr sz="1900" spc="35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458425" y="3533763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923320" y="3533763"/>
            <a:ext cx="2552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%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5570905" y="3533763"/>
            <a:ext cx="50277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:</a:t>
            </a:r>
            <a:r>
              <a:rPr sz="1400" spc="6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6784149" y="3552051"/>
            <a:ext cx="246508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0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249467" y="3577022"/>
            <a:ext cx="667585" cy="3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∑</a:t>
            </a:r>
            <a:r>
              <a:rPr sz="1900" spc="62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ꢓ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6877139" y="3609610"/>
            <a:ext cx="304951" cy="247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90"/>
              </a:lnSpc>
              <a:spcBef>
                <a:spcPts val="0"/>
              </a:spcBef>
              <a:spcAft>
                <a:spcPts val="0"/>
              </a:spcAft>
            </a:pPr>
            <a:r>
              <a:rPr sz="1100" spc="25" dirty="0">
                <a:solidFill>
                  <a:srgbClr val="000000"/>
                </a:solidFill>
                <a:latin typeface="AQLSTS+CambriaMath"/>
                <a:cs typeface="AQLSTS+CambriaMath"/>
              </a:rPr>
              <a:t>"</a:t>
            </a:r>
            <a:r>
              <a:rPr sz="1650" baseline="32727" dirty="0">
                <a:solidFill>
                  <a:srgbClr val="000000"/>
                </a:solidFill>
                <a:latin typeface="AQLSTS+CambriaMath"/>
                <a:cs typeface="AQLSTS+CambriaMath"/>
              </a:rPr>
              <a:t>#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6420434" y="3707146"/>
            <a:ext cx="327367" cy="265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62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  <a:r>
              <a:rPr sz="1650" baseline="30857" dirty="0">
                <a:solidFill>
                  <a:srgbClr val="000000"/>
                </a:solidFill>
                <a:latin typeface="AQLSTS+CambriaMath"/>
                <a:cs typeface="AQLSTS+CambriaMath"/>
              </a:rPr>
              <a:t>#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060610" y="3997174"/>
            <a:ext cx="694216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Outputs can be interpreted as probabilities (positive and sum to 1)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1060610" y="4289782"/>
            <a:ext cx="8061191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spc="628" dirty="0">
                <a:solidFill>
                  <a:srgbClr val="000000"/>
                </a:solidFill>
                <a:latin typeface="HAIBBO+Wingdings-Regular"/>
                <a:cs typeface="HAIBBO+Wingdings-Regular"/>
              </a:rPr>
              <a:t>Ø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ꢅ</a:t>
            </a:r>
            <a:r>
              <a:rPr sz="1900" spc="20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is much larger than the others, then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softmax(ꢛ)</a:t>
            </a:r>
            <a:r>
              <a:rPr sz="1900" spc="34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≈1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and it behaves like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1631581" y="4399395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6526809" y="4399395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332077" y="4567150"/>
            <a:ext cx="93945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argmax.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10066033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72068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Softmax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7" y="1924534"/>
            <a:ext cx="879445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a model outputs a vector of class probabilities, we can use cross-entropy as the loss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40620" y="2217142"/>
            <a:ext cx="103675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function: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45658" y="2412099"/>
            <a:ext cx="280454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08132" y="2708342"/>
            <a:ext cx="2629241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1900" spc="148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04" dirty="0">
                <a:solidFill>
                  <a:srgbClr val="000000"/>
                </a:solidFill>
                <a:latin typeface="IJHIHP+CambriaMath"/>
                <a:cs typeface="IJHIHP+CambriaMath"/>
              </a:rPr>
              <a:t>ꢜ,ꢗ</a:t>
            </a:r>
            <a:r>
              <a:rPr sz="1900" spc="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8" dirty="0">
                <a:solidFill>
                  <a:srgbClr val="000000"/>
                </a:solidFill>
                <a:latin typeface="IJHIHP+CambriaMath"/>
                <a:cs typeface="IJHIHP+CambriaMath"/>
              </a:rPr>
              <a:t>−Kꢂ</a:t>
            </a:r>
            <a:r>
              <a:rPr sz="1900" spc="-47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logꢃ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61459" y="2820531"/>
            <a:ext cx="37812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14999" y="2820531"/>
            <a:ext cx="82209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  <a:r>
              <a:rPr sz="1400" spc="273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40794" y="3076563"/>
            <a:ext cx="495472" cy="426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3" dirty="0">
                <a:solidFill>
                  <a:srgbClr val="000000"/>
                </a:solidFill>
                <a:latin typeface="BGOEJJ+CambriaMath"/>
                <a:cs typeface="BGOEJJ+CambriaMath"/>
              </a:rPr>
              <a:t>&lt;)%</a:t>
            </a:r>
          </a:p>
          <a:p>
            <a:pPr marL="89611" marR="0">
              <a:lnSpc>
                <a:spcPts val="1415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02759" y="3284413"/>
            <a:ext cx="1473451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173" dirty="0">
                <a:solidFill>
                  <a:srgbClr val="000000"/>
                </a:solidFill>
                <a:latin typeface="IJHIHP+CambriaMath"/>
                <a:cs typeface="IJHIHP+CambriaMath"/>
              </a:rPr>
              <a:t>=−ꢗ</a:t>
            </a:r>
            <a:r>
              <a:rPr sz="1900" spc="-5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(logꢜ)</a:t>
            </a: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60607" y="3768574"/>
            <a:ext cx="386852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where the log is applied elementwise.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9157" y="4530574"/>
            <a:ext cx="8724857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Just like with logistic regression, we typically combine the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softmax and cross-entropy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40620" y="4823182"/>
            <a:ext cx="391362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into a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softmax-cross-entropy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function.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10108488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272068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Softmax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4" dirty="0">
                <a:solidFill>
                  <a:srgbClr val="001F5F"/>
                </a:solidFill>
                <a:latin typeface="BJWHHU+Calibri"/>
                <a:cs typeface="BJWHHU+Calibri"/>
              </a:rPr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756894"/>
            <a:ext cx="4542426" cy="35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Softmax regression (with dummy</a:t>
            </a:r>
            <a:r>
              <a:rPr sz="1900" spc="-11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spc="-20" dirty="0">
                <a:solidFill>
                  <a:srgbClr val="000000"/>
                </a:solidFill>
                <a:latin typeface="IJHIHP+CambriaMath"/>
                <a:cs typeface="IJHIHP+CambriaMath"/>
              </a:rPr>
              <a:t>ꢋ</a:t>
            </a:r>
            <a:r>
              <a:rPr sz="2100" baseline="-20210" dirty="0">
                <a:solidFill>
                  <a:srgbClr val="000000"/>
                </a:solidFill>
                <a:latin typeface="BGOEJJ+CambriaMath"/>
                <a:cs typeface="BGOEJJ+CambriaMath"/>
              </a:rPr>
              <a:t>#</a:t>
            </a:r>
            <a:r>
              <a:rPr sz="2100" spc="-662" baseline="-202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262" dirty="0">
                <a:solidFill>
                  <a:srgbClr val="000000"/>
                </a:solidFill>
                <a:latin typeface="IJHIHP+CambriaMath"/>
                <a:cs typeface="IJHIHP+CambriaMath"/>
              </a:rPr>
              <a:t>=1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933569" y="2275526"/>
            <a:ext cx="947336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263" dirty="0">
                <a:solidFill>
                  <a:srgbClr val="000000"/>
                </a:solidFill>
                <a:latin typeface="IJHIHP+CambriaMath"/>
                <a:cs typeface="IJHIHP+CambriaMath"/>
              </a:rPr>
              <a:t>ꢛ=ꢙꢁ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19878" y="2635190"/>
            <a:ext cx="1740112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ꢜ</a:t>
            </a:r>
            <a:r>
              <a:rPr sz="1900" spc="-61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-61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softmax(ꢛ)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65990" y="2966834"/>
            <a:ext cx="22428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⊺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684293" y="2994854"/>
            <a:ext cx="1860064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ꢍ</a:t>
            </a:r>
            <a:r>
              <a:rPr sz="1900" spc="1227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3" dirty="0">
                <a:solidFill>
                  <a:srgbClr val="000000"/>
                </a:solidFill>
                <a:latin typeface="IJHIHP+CambriaMath"/>
                <a:cs typeface="IJHIHP+CambriaMath"/>
              </a:rPr>
              <a:t>=−ꢗ</a:t>
            </a:r>
            <a:r>
              <a:rPr sz="1900" spc="-59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(logꢜ)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37620" y="3103994"/>
            <a:ext cx="37812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69156" y="3497302"/>
            <a:ext cx="6360065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Gradient descent updates can be derived for each row of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ꢙ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66401" y="3802573"/>
            <a:ext cx="1991569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311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ꢑꢍ</a:t>
            </a:r>
            <a:r>
              <a:rPr sz="1900" spc="232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60330" y="3911714"/>
            <a:ext cx="378122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01717" y="3911714"/>
            <a:ext cx="958173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-10" dirty="0">
                <a:solidFill>
                  <a:srgbClr val="000000"/>
                </a:solidFill>
                <a:latin typeface="BGOEJJ+CambriaMath"/>
                <a:cs typeface="BGOEJJ+CambriaMath"/>
              </a:rPr>
              <a:t>4/</a:t>
            </a:r>
            <a:r>
              <a:rPr sz="1400" spc="290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161053" y="3985453"/>
            <a:ext cx="3118019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=</a:t>
            </a:r>
            <a:r>
              <a:rPr sz="1900" spc="3959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V</a:t>
            </a:r>
            <a:r>
              <a:rPr sz="1900" spc="3345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175" dirty="0">
                <a:solidFill>
                  <a:srgbClr val="000000"/>
                </a:solidFill>
                <a:latin typeface="IJHIHP+CambriaMath"/>
                <a:cs typeface="IJHIHP+CambriaMath"/>
              </a:rPr>
              <a:t>=(ꢃ</a:t>
            </a:r>
            <a:r>
              <a:rPr sz="190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−ꢂ</a:t>
            </a:r>
            <a:r>
              <a:rPr sz="1900" spc="-62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23" dirty="0">
                <a:solidFill>
                  <a:srgbClr val="000000"/>
                </a:solidFill>
                <a:latin typeface="IJHIHP+CambriaMath"/>
                <a:cs typeface="IJHIHP+CambriaMath"/>
              </a:rPr>
              <a:t>)Vꢁ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101207" y="4094595"/>
            <a:ext cx="760967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  <a:r>
              <a:rPr sz="1400" spc="225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605606" y="4146997"/>
            <a:ext cx="199296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spc="51" dirty="0">
                <a:solidFill>
                  <a:srgbClr val="000000"/>
                </a:solidFill>
                <a:latin typeface="IJHIHP+CambriaMath"/>
                <a:cs typeface="IJHIHP+CambriaMath"/>
              </a:rPr>
              <a:t>ꢑꢆ</a:t>
            </a:r>
            <a:r>
              <a:rPr sz="1900" spc="3090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ꢑꢅ</a:t>
            </a:r>
            <a:r>
              <a:rPr sz="1900" spc="171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0" dirty="0">
                <a:solidFill>
                  <a:srgbClr val="000000"/>
                </a:solidFill>
                <a:latin typeface="IJHIHP+CambriaMath"/>
                <a:cs typeface="IJHIHP+CambriaMath"/>
              </a:rPr>
              <a:t>ꢑꢆ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932770" y="4259187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736401" y="4259187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37733" y="4259187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509933" y="4527411"/>
            <a:ext cx="286791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*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220322" y="4643822"/>
            <a:ext cx="286010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1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010326" y="4765155"/>
            <a:ext cx="320804" cy="441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07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</a:p>
          <a:p>
            <a:pPr marL="0" marR="0">
              <a:lnSpc>
                <a:spcPts val="1535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46100" y="4765155"/>
            <a:ext cx="304865" cy="441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31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</a:p>
          <a:p>
            <a:pPr marL="0" marR="0">
              <a:lnSpc>
                <a:spcPts val="1535"/>
              </a:lnSpc>
              <a:spcBef>
                <a:spcPts val="5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181837" y="4798682"/>
            <a:ext cx="36670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(</a:t>
            </a:r>
            <a:r>
              <a:rPr sz="1400" spc="42" dirty="0">
                <a:solidFill>
                  <a:srgbClr val="000000"/>
                </a:solidFill>
                <a:latin typeface="BGOEJJ+CambriaMath"/>
                <a:cs typeface="BGOEJJ+CambriaMath"/>
              </a:rPr>
              <a:t>(</a:t>
            </a:r>
            <a:r>
              <a:rPr sz="1400" dirty="0">
                <a:solidFill>
                  <a:srgbClr val="000000"/>
                </a:solidFill>
                <a:latin typeface="QNTEJG+CambriaMath"/>
                <a:cs typeface="QNTEJG+CambriaMath"/>
              </a:rPr>
              <a:t>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62870" y="4826702"/>
            <a:ext cx="3561757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ꢆ</a:t>
            </a:r>
            <a:r>
              <a:rPr sz="1900" spc="28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529" dirty="0">
                <a:solidFill>
                  <a:srgbClr val="000000"/>
                </a:solidFill>
                <a:latin typeface="IJHIHP+CambriaMath"/>
                <a:cs typeface="IJHIHP+CambriaMath"/>
              </a:rPr>
              <a:t>←ꢆ</a:t>
            </a:r>
            <a:r>
              <a:rPr sz="1900" spc="-352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−ꢔ</a:t>
            </a:r>
            <a:r>
              <a:rPr sz="1900" spc="57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K</a:t>
            </a:r>
            <a:r>
              <a:rPr sz="1900" spc="108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ꢃ</a:t>
            </a:r>
            <a:r>
              <a:rPr sz="1900" spc="1133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spc="417" dirty="0">
                <a:solidFill>
                  <a:srgbClr val="000000"/>
                </a:solidFill>
                <a:latin typeface="IJHIHP+CambriaMath"/>
                <a:cs typeface="IJHIHP+CambriaMath"/>
              </a:rPr>
              <a:t>−ꢂ</a:t>
            </a:r>
            <a:r>
              <a:rPr sz="1900" spc="1561" dirty="0">
                <a:solidFill>
                  <a:srgbClr val="000000"/>
                </a:solidFill>
                <a:latin typeface="Liberation Mono"/>
                <a:cs typeface="Liberation Mono"/>
              </a:rPr>
              <a:t> </a:t>
            </a: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ꢁ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3949420" y="4935843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594352" y="4935843"/>
            <a:ext cx="259965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/>
                </a:solidFill>
                <a:latin typeface="BGOEJJ+CambriaMath"/>
                <a:cs typeface="BGOEJJ+CambriaMath"/>
              </a:rPr>
              <a:t>&lt;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195392" y="4988380"/>
            <a:ext cx="329133" cy="321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IJHIHP+CambriaMath"/>
                <a:cs typeface="IJHIHP+CambriaMath"/>
              </a:rPr>
              <a:t>ꢐ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429796" y="5194923"/>
            <a:ext cx="451086" cy="246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400" spc="16" dirty="0">
                <a:solidFill>
                  <a:srgbClr val="000000"/>
                </a:solidFill>
                <a:latin typeface="BGOEJJ+CambriaMath"/>
                <a:cs typeface="BGOEJJ+CambriaMath"/>
              </a:rPr>
              <a:t>()%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69156" y="5521174"/>
            <a:ext cx="6674073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Similar to linear/logistic reg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(no coincidence) (verify the update)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1"/>
          <p:cNvSpPr/>
          <p:nvPr/>
        </p:nvSpPr>
        <p:spPr>
          <a:xfrm>
            <a:off x="3623221" y="6800997"/>
            <a:ext cx="533641" cy="2945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3623221" y="6800997"/>
            <a:ext cx="440347" cy="2945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74428" y="6862172"/>
            <a:ext cx="212267" cy="1826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7905" y="6817604"/>
            <a:ext cx="265747" cy="271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80740" y="6938686"/>
            <a:ext cx="108305" cy="197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66301" y="6863978"/>
            <a:ext cx="93370" cy="305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368" y="305079"/>
            <a:ext cx="10046142" cy="61950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9145" y="1220997"/>
            <a:ext cx="2808257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Prove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the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gradient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926658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Limits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34693" y="2378686"/>
            <a:ext cx="5094142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Some datasets are not linearly separable, e.g.</a:t>
            </a:r>
            <a:r>
              <a:rPr sz="1900" spc="-12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XOR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34693" y="4945102"/>
            <a:ext cx="4009914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Visually obvious, but how to show this?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10068255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926658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Limits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1860526"/>
            <a:ext cx="6860910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Showing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that</a:t>
            </a:r>
            <a:r>
              <a:rPr sz="1900" spc="-711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XOR</a:t>
            </a:r>
            <a:r>
              <a:rPr sz="1900" spc="-716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is</a:t>
            </a:r>
            <a:r>
              <a:rPr sz="1900" spc="-709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not</a:t>
            </a:r>
            <a:r>
              <a:rPr sz="1900" spc="-709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linearly</a:t>
            </a:r>
            <a:r>
              <a:rPr sz="1900" spc="-713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separable</a:t>
            </a:r>
            <a:r>
              <a:rPr sz="1900" spc="-712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(proof</a:t>
            </a:r>
            <a:r>
              <a:rPr sz="1900" spc="-713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by</a:t>
            </a:r>
            <a:r>
              <a:rPr sz="1900" spc="-714" dirty="0">
                <a:solidFill>
                  <a:srgbClr val="000000"/>
                </a:solidFill>
                <a:latin typeface="VRPTNA+Calibri-Bold"/>
                <a:cs typeface="VRPTNA+Calibri-Bold"/>
              </a:rPr>
              <a:t>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contradiction)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6" y="2287246"/>
            <a:ext cx="8930269" cy="148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If two points lie in a half-space, line segment connecting them also lie in the same half-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space.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Suppose there were some feasible weights (hypothesis). If the positive examples are in</a:t>
            </a:r>
          </a:p>
          <a:p>
            <a:pPr marL="271462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the positive half-space, then the green line segment must be as well.</a:t>
            </a:r>
          </a:p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Similarly, the red line segment must line within the negative half-space.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9156" y="5758918"/>
            <a:ext cx="6631008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But the intersection can’t lie in both half-spaces. Contradiction!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770249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3926658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7" dirty="0">
                <a:solidFill>
                  <a:srgbClr val="001F5F"/>
                </a:solidFill>
                <a:latin typeface="BJWHHU+Calibri"/>
                <a:cs typeface="BJWHHU+Calibri"/>
              </a:rPr>
              <a:t>Limits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8" dirty="0">
                <a:solidFill>
                  <a:srgbClr val="001F5F"/>
                </a:solidFill>
                <a:latin typeface="BJWHHU+Calibri"/>
                <a:cs typeface="BJWHHU+Calibri"/>
              </a:rPr>
              <a:t>of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Linear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3" dirty="0">
                <a:solidFill>
                  <a:srgbClr val="001F5F"/>
                </a:solidFill>
                <a:latin typeface="BJWHHU+Calibri"/>
                <a:cs typeface="BJWHHU+Calibri"/>
              </a:rPr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7" y="1772134"/>
            <a:ext cx="8458398" cy="625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Sometimes we can overcome this limitation using</a:t>
            </a:r>
            <a:r>
              <a:rPr sz="1900" spc="-16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WROTKO+Calibri"/>
                <a:cs typeface="WROTKO+Calibri"/>
              </a:rPr>
              <a:t>feature maps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, just like for linear</a:t>
            </a:r>
          </a:p>
          <a:p>
            <a:pPr marL="271462" marR="0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regression. E.g., for </a:t>
            </a:r>
            <a:r>
              <a:rPr sz="1900" dirty="0">
                <a:solidFill>
                  <a:srgbClr val="000000"/>
                </a:solidFill>
                <a:latin typeface="VRPTNA+Calibri-Bold"/>
                <a:cs typeface="VRPTNA+Calibri-Bold"/>
              </a:rPr>
              <a:t>XOR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9157" y="5536414"/>
            <a:ext cx="3653959" cy="33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TSTUTO+ArialMT"/>
                <a:cs typeface="TSTUTO+ArialMT"/>
              </a:rPr>
              <a:t>•</a:t>
            </a:r>
            <a:r>
              <a:rPr sz="1900" spc="943" dirty="0">
                <a:solidFill>
                  <a:srgbClr val="000000"/>
                </a:solidFill>
                <a:latin typeface="TSTUTO+ArialMT"/>
                <a:cs typeface="TSTUTO+ArialMT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This is linearly separable.</a:t>
            </a:r>
            <a:r>
              <a:rPr sz="1900" spc="-10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(Try it!)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520700" y="1054100"/>
            <a:ext cx="9652000" cy="5435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9145" y="1220997"/>
            <a:ext cx="1682609" cy="425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053"/>
              </a:lnSpc>
              <a:spcBef>
                <a:spcPts val="0"/>
              </a:spcBef>
              <a:spcAft>
                <a:spcPts val="0"/>
              </a:spcAft>
            </a:pPr>
            <a:r>
              <a:rPr sz="2500" spc="16" dirty="0">
                <a:solidFill>
                  <a:srgbClr val="001F5F"/>
                </a:solidFill>
                <a:latin typeface="BJWHHU+Calibri"/>
                <a:cs typeface="BJWHHU+Calibri"/>
              </a:rPr>
              <a:t>Next</a:t>
            </a:r>
            <a:r>
              <a:rPr sz="2500" dirty="0">
                <a:solidFill>
                  <a:srgbClr val="001F5F"/>
                </a:solidFill>
                <a:latin typeface="BJWHHU+Calibri"/>
                <a:cs typeface="BJWHHU+Calibri"/>
              </a:rPr>
              <a:t> </a:t>
            </a:r>
            <a:r>
              <a:rPr sz="2500" spc="15" dirty="0">
                <a:solidFill>
                  <a:srgbClr val="001F5F"/>
                </a:solidFill>
                <a:latin typeface="BJWHHU+Calibri"/>
                <a:cs typeface="BJWHHU+Calibri"/>
              </a:rPr>
              <a:t>time...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9156" y="2043406"/>
            <a:ext cx="8309858" cy="62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Feature maps are hard to design well, so next time we’ll see how to</a:t>
            </a:r>
            <a:r>
              <a:rPr sz="1900" spc="-17" dirty="0">
                <a:solidFill>
                  <a:srgbClr val="000000"/>
                </a:solidFill>
                <a:latin typeface="WROTKO+Calibri"/>
                <a:cs typeface="WROTKO+Calibri"/>
              </a:rPr>
              <a:t> </a:t>
            </a:r>
            <a:r>
              <a:rPr sz="1900" dirty="0">
                <a:solidFill>
                  <a:srgbClr val="000000"/>
                </a:solidFill>
                <a:latin typeface="BIIUEC+Calibri-Italic"/>
                <a:cs typeface="BIIUEC+Calibri-Italic"/>
              </a:rPr>
              <a:t>learn</a:t>
            </a:r>
            <a:r>
              <a:rPr sz="1900" spc="-711" dirty="0">
                <a:solidFill>
                  <a:srgbClr val="000000"/>
                </a:solidFill>
                <a:latin typeface="BIIUEC+Calibri-Italic"/>
                <a:cs typeface="BIIUEC+Calibri-Italic"/>
              </a:rPr>
              <a:t> </a:t>
            </a: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nonlinear</a:t>
            </a:r>
          </a:p>
          <a:p>
            <a:pPr marL="0" marR="0"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WROTKO+Calibri"/>
                <a:cs typeface="WROTKO+Calibri"/>
              </a:rPr>
              <a:t>feature maps directly using neural networks…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2953</Words>
  <Application>Microsoft Office PowerPoint</Application>
  <PresentationFormat>自定义</PresentationFormat>
  <Paragraphs>463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ROCVNK+CambriaMath</vt:lpstr>
      <vt:lpstr>AQLSTS+CambriaMath</vt:lpstr>
      <vt:lpstr>TSTUTO+ArialMT</vt:lpstr>
      <vt:lpstr>Calibri</vt:lpstr>
      <vt:lpstr>WROTKO+Calibri</vt:lpstr>
      <vt:lpstr>BJWHHU+Calibri</vt:lpstr>
      <vt:lpstr>HAIBBO+Wingdings-Regular</vt:lpstr>
      <vt:lpstr>BGOEJJ+CambriaMath</vt:lpstr>
      <vt:lpstr>BIIUEC+Calibri-Italic</vt:lpstr>
      <vt:lpstr>RCJOGL+Calibri-Bold</vt:lpstr>
      <vt:lpstr>QNTEJG+CambriaMath</vt:lpstr>
      <vt:lpstr>Liberation Mono</vt:lpstr>
      <vt:lpstr>VRPTNA+Calibri-Bold</vt:lpstr>
      <vt:lpstr>IIJPII+Calibri-Bold</vt:lpstr>
      <vt:lpstr>IJHIHP+CambriaMath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bae</dc:creator>
  <cp:lastModifiedBy>Huang Junhao</cp:lastModifiedBy>
  <cp:revision>2</cp:revision>
  <cp:lastPrinted>2025-12-21T11:19:22Z</cp:lastPrinted>
  <dcterms:modified xsi:type="dcterms:W3CDTF">2025-12-21T11:21:48Z</dcterms:modified>
</cp:coreProperties>
</file>