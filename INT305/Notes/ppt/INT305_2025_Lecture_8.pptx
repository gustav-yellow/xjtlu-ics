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12192000" cy="6858000"/>
  <p:embeddedFontLst>
    <p:embeddedFont>
      <p:font typeface="AAIPRK+Wingdings" panose="02010600030101010101" charset="2"/>
      <p:regular r:id="rId50"/>
    </p:embeddedFont>
    <p:embeddedFont>
      <p:font typeface="AGLFKJ+Calibri" panose="02010600030101010101"/>
      <p:regular r:id="rId51"/>
    </p:embeddedFont>
    <p:embeddedFont>
      <p:font typeface="ALKDEI+TimesNewRomanPS-BoldMT" panose="02010600030101010101"/>
      <p:regular r:id="rId52"/>
    </p:embeddedFont>
    <p:embeddedFont>
      <p:font typeface="ANKHGI+Wingdings" panose="02010600030101010101" charset="2"/>
      <p:regular r:id="rId53"/>
    </p:embeddedFont>
    <p:embeddedFont>
      <p:font typeface="BCETJT+Arial" panose="02010600030101010101" charset="0"/>
      <p:regular r:id="rId54"/>
    </p:embeddedFont>
    <p:embeddedFont>
      <p:font typeface="BSBGHK+Cambria Math" panose="02010600030101010101" charset="0"/>
      <p:regular r:id="rId55"/>
    </p:embeddedFont>
    <p:embeddedFont>
      <p:font typeface="BVNMMR+Calibri-Bold" panose="02010600030101010101"/>
      <p:regular r:id="rId56"/>
    </p:embeddedFont>
    <p:embeddedFont>
      <p:font typeface="CPGAPM+Cambria Math" panose="02010600030101010101" charset="0"/>
      <p:regular r:id="rId57"/>
    </p:embeddedFont>
    <p:embeddedFont>
      <p:font typeface="DQLOPQ+Calibri-Bold" panose="02010600030101010101"/>
      <p:regular r:id="rId58"/>
    </p:embeddedFont>
    <p:embeddedFont>
      <p:font typeface="EHDBQP+Arial" panose="02010600030101010101" charset="0"/>
      <p:regular r:id="rId59"/>
    </p:embeddedFont>
    <p:embeddedFont>
      <p:font typeface="EHSILK+PingFangSC-Regular" panose="02010600030101010101"/>
      <p:regular r:id="rId60"/>
    </p:embeddedFont>
    <p:embeddedFont>
      <p:font typeface="FJVOMK+Helvetica" panose="02010600030101010101"/>
      <p:regular r:id="rId61"/>
    </p:embeddedFont>
    <p:embeddedFont>
      <p:font typeface="GBJMJG+Calibri" panose="02010600030101010101" charset="0"/>
      <p:regular r:id="rId62"/>
    </p:embeddedFont>
    <p:embeddedFont>
      <p:font typeface="GUKKPG+Calibri-Bold" panose="02010600030101010101"/>
      <p:regular r:id="rId63"/>
    </p:embeddedFont>
    <p:embeddedFont>
      <p:font typeface="HUFBDF+Calibri-Bold" panose="02010600030101010101"/>
      <p:regular r:id="rId64"/>
    </p:embeddedFont>
    <p:embeddedFont>
      <p:font typeface="IAFUBI+Calibri" panose="02010600030101010101" charset="0"/>
      <p:regular r:id="rId65"/>
    </p:embeddedFont>
    <p:embeddedFont>
      <p:font typeface="IDQSAH+Cambria Math" panose="02010600030101010101" charset="0"/>
      <p:regular r:id="rId66"/>
    </p:embeddedFont>
    <p:embeddedFont>
      <p:font typeface="IGJELP+Calibri" panose="02010600030101010101" charset="0"/>
      <p:regular r:id="rId67"/>
    </p:embeddedFont>
    <p:embeddedFont>
      <p:font typeface="IJWACL+Calibri" panose="02010600030101010101"/>
      <p:regular r:id="rId68"/>
    </p:embeddedFont>
    <p:embeddedFont>
      <p:font typeface="ISBJBE+Calibri-Bold" panose="02010600030101010101"/>
      <p:regular r:id="rId69"/>
    </p:embeddedFont>
    <p:embeddedFont>
      <p:font typeface="IUGTFN+Cambria Math" panose="02010600030101010101" charset="0"/>
      <p:regular r:id="rId70"/>
    </p:embeddedFont>
    <p:embeddedFont>
      <p:font typeface="JEBKFO+Arial" panose="02010600030101010101" charset="0"/>
      <p:regular r:id="rId71"/>
    </p:embeddedFont>
    <p:embeddedFont>
      <p:font typeface="JLDRBV+Cambria Math" panose="02010600030101010101" charset="0"/>
      <p:regular r:id="rId72"/>
    </p:embeddedFont>
    <p:embeddedFont>
      <p:font typeface="JPKEDI+Cambria Math" panose="02010600030101010101" charset="0"/>
      <p:regular r:id="rId73"/>
    </p:embeddedFont>
    <p:embeddedFont>
      <p:font typeface="JSPHJA+Cambria Math" panose="02010600030101010101" charset="0"/>
      <p:regular r:id="rId74"/>
    </p:embeddedFont>
    <p:embeddedFont>
      <p:font typeface="JTLUDH+Cambria Math" panose="02010600030101010101" charset="0"/>
      <p:regular r:id="rId75"/>
    </p:embeddedFont>
    <p:embeddedFont>
      <p:font typeface="KEMFGQ+ArialMT" panose="02010600030101010101"/>
      <p:regular r:id="rId76"/>
    </p:embeddedFont>
    <p:embeddedFont>
      <p:font typeface="KPBWGE+Wingdings" panose="02010600030101010101" charset="2"/>
      <p:regular r:id="rId77"/>
    </p:embeddedFont>
    <p:embeddedFont>
      <p:font typeface="LFSRBR+Calibri" panose="02010600030101010101" charset="0"/>
      <p:regular r:id="rId78"/>
    </p:embeddedFont>
    <p:embeddedFont>
      <p:font typeface="LGNVHC+Wingdings" panose="02010600030101010101" charset="2"/>
      <p:regular r:id="rId79"/>
    </p:embeddedFont>
    <p:embeddedFont>
      <p:font typeface="LGSGHP+Cambria Math" panose="02010600030101010101" charset="0"/>
      <p:regular r:id="rId80"/>
    </p:embeddedFont>
    <p:embeddedFont>
      <p:font typeface="Liberation Mono" panose="02010600030101010101" charset="0"/>
      <p:regular r:id="rId81"/>
    </p:embeddedFont>
    <p:embeddedFont>
      <p:font typeface="LJADDH+Arial" panose="02010600030101010101" charset="0"/>
      <p:regular r:id="rId82"/>
    </p:embeddedFont>
    <p:embeddedFont>
      <p:font typeface="MHFKGB+Arial" panose="02010600030101010101" charset="0"/>
      <p:regular r:id="rId83"/>
    </p:embeddedFont>
    <p:embeddedFont>
      <p:font typeface="MOUQGC+Calibri-Bold" panose="02010600030101010101"/>
      <p:regular r:id="rId84"/>
    </p:embeddedFont>
    <p:embeddedFont>
      <p:font typeface="MUFSMI+Cambria Math" panose="02010600030101010101" charset="0"/>
      <p:regular r:id="rId85"/>
    </p:embeddedFont>
    <p:embeddedFont>
      <p:font typeface="NAWOLP+Cambria Math" panose="02010600030101010101" charset="0"/>
      <p:regular r:id="rId86"/>
    </p:embeddedFont>
    <p:embeddedFont>
      <p:font typeface="NFADIN+Calibri" panose="02010600030101010101"/>
      <p:regular r:id="rId87"/>
    </p:embeddedFont>
    <p:embeddedFont>
      <p:font typeface="NKELNM+Calibri" panose="02010600030101010101"/>
      <p:regular r:id="rId88"/>
    </p:embeddedFont>
    <p:embeddedFont>
      <p:font typeface="NMUCRU+Calibri" panose="02010600030101010101"/>
      <p:regular r:id="rId89"/>
    </p:embeddedFont>
    <p:embeddedFont>
      <p:font typeface="OFOQBK+ArialMT" panose="02010600030101010101"/>
      <p:regular r:id="rId90"/>
    </p:embeddedFont>
    <p:embeddedFont>
      <p:font typeface="OHNVRH+Calibri" panose="02010600030101010101"/>
      <p:regular r:id="rId91"/>
    </p:embeddedFont>
    <p:embeddedFont>
      <p:font typeface="PAQCTE+TimesNewRomanPSMT" panose="02010600030101010101"/>
      <p:regular r:id="rId92"/>
    </p:embeddedFont>
    <p:embeddedFont>
      <p:font typeface="QHBTRU+TimesNewRomanPS-BoldMT" panose="02010600030101010101"/>
      <p:regular r:id="rId93"/>
    </p:embeddedFont>
    <p:embeddedFont>
      <p:font typeface="QPRCPU+Calibri" panose="02010600030101010101" charset="0"/>
      <p:regular r:id="rId94"/>
    </p:embeddedFont>
    <p:embeddedFont>
      <p:font typeface="RFPMOC+Wingdings" panose="02010600030101010101" charset="2"/>
      <p:regular r:id="rId95"/>
    </p:embeddedFont>
    <p:embeddedFont>
      <p:font typeface="RPOLIE+Arial" panose="02010600030101010101" charset="0"/>
      <p:regular r:id="rId96"/>
    </p:embeddedFont>
    <p:embeddedFont>
      <p:font typeface="SMDUGA+PingFangSC-Regular" panose="02010600030101010101"/>
      <p:regular r:id="rId97"/>
    </p:embeddedFont>
    <p:embeddedFont>
      <p:font typeface="SNHPAQ+PingFangSC-Semibold" panose="02010600030101010101"/>
      <p:regular r:id="rId98"/>
    </p:embeddedFont>
    <p:embeddedFont>
      <p:font typeface="TCTGUI+Calibri-Bold" panose="02010600030101010101"/>
      <p:regular r:id="rId99"/>
    </p:embeddedFont>
    <p:embeddedFont>
      <p:font typeface="TFPMGG+Wingdings" panose="02010600030101010101" charset="2"/>
      <p:regular r:id="rId100"/>
    </p:embeddedFont>
    <p:embeddedFont>
      <p:font typeface="TKAHQR+Arial" panose="02010600030101010101" charset="0"/>
      <p:regular r:id="rId101"/>
    </p:embeddedFont>
    <p:embeddedFont>
      <p:font typeface="TPUTWT+Calibri-Italic" panose="02010600030101010101"/>
      <p:regular r:id="rId102"/>
    </p:embeddedFont>
    <p:embeddedFont>
      <p:font typeface="UCNSES+Helvetica-Bold" panose="02010600030101010101"/>
      <p:regular r:id="rId103"/>
    </p:embeddedFont>
    <p:embeddedFont>
      <p:font typeface="UFRHOB+Calibri" panose="02010600030101010101" charset="0"/>
      <p:regular r:id="rId104"/>
    </p:embeddedFont>
    <p:embeddedFont>
      <p:font typeface="UHAVBR+Cambria Math" panose="02010600030101010101" charset="0"/>
      <p:regular r:id="rId105"/>
    </p:embeddedFont>
    <p:embeddedFont>
      <p:font typeface="UNWVMN+Arial" panose="02010600030101010101" charset="0"/>
      <p:regular r:id="rId106"/>
    </p:embeddedFont>
    <p:embeddedFont>
      <p:font typeface="URFBMD+Calibri-Bold" panose="02010600030101010101"/>
      <p:regular r:id="rId107"/>
    </p:embeddedFont>
    <p:embeddedFont>
      <p:font typeface="VECTKV+Calibri-Bold" panose="02010600030101010101"/>
      <p:regular r:id="rId108"/>
    </p:embeddedFont>
    <p:embeddedFont>
      <p:font typeface="VUMMUU+Calibri" panose="02010600030101010101"/>
      <p:regular r:id="rId109"/>
    </p:embeddedFont>
    <p:embeddedFont>
      <p:font typeface="WPJABT+Cambria Math" panose="02010600030101010101" charset="0"/>
      <p:regular r:id="rId110"/>
    </p:embeddedFont>
    <p:embeddedFont>
      <p:font typeface="WRHJUD+Calibri" panose="02010600030101010101"/>
      <p:regular r:id="rId11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96" y="7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4.fntdata"/><Relationship Id="rId68" Type="http://schemas.openxmlformats.org/officeDocument/2006/relationships/font" Target="fonts/font19.fntdata"/><Relationship Id="rId84" Type="http://schemas.openxmlformats.org/officeDocument/2006/relationships/font" Target="fonts/font35.fntdata"/><Relationship Id="rId89" Type="http://schemas.openxmlformats.org/officeDocument/2006/relationships/font" Target="fonts/font40.fntdata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font" Target="fonts/font58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74" Type="http://schemas.openxmlformats.org/officeDocument/2006/relationships/font" Target="fonts/font25.fntdata"/><Relationship Id="rId79" Type="http://schemas.openxmlformats.org/officeDocument/2006/relationships/font" Target="fonts/font30.fntdata"/><Relationship Id="rId102" Type="http://schemas.openxmlformats.org/officeDocument/2006/relationships/font" Target="fonts/font53.fntdata"/><Relationship Id="rId5" Type="http://schemas.openxmlformats.org/officeDocument/2006/relationships/slide" Target="slides/slide4.xml"/><Relationship Id="rId90" Type="http://schemas.openxmlformats.org/officeDocument/2006/relationships/font" Target="fonts/font41.fntdata"/><Relationship Id="rId95" Type="http://schemas.openxmlformats.org/officeDocument/2006/relationships/font" Target="fonts/font46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font" Target="fonts/font15.fntdata"/><Relationship Id="rId69" Type="http://schemas.openxmlformats.org/officeDocument/2006/relationships/font" Target="fonts/font20.fntdata"/><Relationship Id="rId113" Type="http://schemas.openxmlformats.org/officeDocument/2006/relationships/viewProps" Target="viewProps.xml"/><Relationship Id="rId80" Type="http://schemas.openxmlformats.org/officeDocument/2006/relationships/font" Target="fonts/font31.fntdata"/><Relationship Id="rId85" Type="http://schemas.openxmlformats.org/officeDocument/2006/relationships/font" Target="fonts/font36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font" Target="fonts/font10.fntdata"/><Relationship Id="rId103" Type="http://schemas.openxmlformats.org/officeDocument/2006/relationships/font" Target="fonts/font54.fntdata"/><Relationship Id="rId108" Type="http://schemas.openxmlformats.org/officeDocument/2006/relationships/font" Target="fonts/font59.fntdata"/><Relationship Id="rId54" Type="http://schemas.openxmlformats.org/officeDocument/2006/relationships/font" Target="fonts/font5.fntdata"/><Relationship Id="rId70" Type="http://schemas.openxmlformats.org/officeDocument/2006/relationships/font" Target="fonts/font21.fntdata"/><Relationship Id="rId75" Type="http://schemas.openxmlformats.org/officeDocument/2006/relationships/font" Target="fonts/font26.fntdata"/><Relationship Id="rId91" Type="http://schemas.openxmlformats.org/officeDocument/2006/relationships/font" Target="fonts/font42.fntdata"/><Relationship Id="rId96" Type="http://schemas.openxmlformats.org/officeDocument/2006/relationships/font" Target="fonts/font4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8.fntdata"/><Relationship Id="rId106" Type="http://schemas.openxmlformats.org/officeDocument/2006/relationships/font" Target="fonts/font57.fntdata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73" Type="http://schemas.openxmlformats.org/officeDocument/2006/relationships/font" Target="fonts/font24.fntdata"/><Relationship Id="rId78" Type="http://schemas.openxmlformats.org/officeDocument/2006/relationships/font" Target="fonts/font29.fntdata"/><Relationship Id="rId81" Type="http://schemas.openxmlformats.org/officeDocument/2006/relationships/font" Target="fonts/font32.fntdata"/><Relationship Id="rId86" Type="http://schemas.openxmlformats.org/officeDocument/2006/relationships/font" Target="fonts/font37.fntdata"/><Relationship Id="rId94" Type="http://schemas.openxmlformats.org/officeDocument/2006/relationships/font" Target="fonts/font45.fntdata"/><Relationship Id="rId99" Type="http://schemas.openxmlformats.org/officeDocument/2006/relationships/font" Target="fonts/font50.fntdata"/><Relationship Id="rId101" Type="http://schemas.openxmlformats.org/officeDocument/2006/relationships/font" Target="fonts/font5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60.fntdata"/><Relationship Id="rId34" Type="http://schemas.openxmlformats.org/officeDocument/2006/relationships/slide" Target="slides/slide3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6" Type="http://schemas.openxmlformats.org/officeDocument/2006/relationships/font" Target="fonts/font27.fntdata"/><Relationship Id="rId97" Type="http://schemas.openxmlformats.org/officeDocument/2006/relationships/font" Target="fonts/font48.fntdata"/><Relationship Id="rId104" Type="http://schemas.openxmlformats.org/officeDocument/2006/relationships/font" Target="fonts/font55.fntdata"/><Relationship Id="rId7" Type="http://schemas.openxmlformats.org/officeDocument/2006/relationships/slide" Target="slides/slide6.xml"/><Relationship Id="rId71" Type="http://schemas.openxmlformats.org/officeDocument/2006/relationships/font" Target="fonts/font22.fntdata"/><Relationship Id="rId92" Type="http://schemas.openxmlformats.org/officeDocument/2006/relationships/font" Target="fonts/font4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7.fntdata"/><Relationship Id="rId87" Type="http://schemas.openxmlformats.org/officeDocument/2006/relationships/font" Target="fonts/font38.fntdata"/><Relationship Id="rId110" Type="http://schemas.openxmlformats.org/officeDocument/2006/relationships/font" Target="fonts/font61.fntdata"/><Relationship Id="rId115" Type="http://schemas.openxmlformats.org/officeDocument/2006/relationships/tableStyles" Target="tableStyles.xml"/><Relationship Id="rId61" Type="http://schemas.openxmlformats.org/officeDocument/2006/relationships/font" Target="fonts/font12.fntdata"/><Relationship Id="rId82" Type="http://schemas.openxmlformats.org/officeDocument/2006/relationships/font" Target="fonts/font3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font" Target="fonts/font7.fntdata"/><Relationship Id="rId77" Type="http://schemas.openxmlformats.org/officeDocument/2006/relationships/font" Target="fonts/font28.fntdata"/><Relationship Id="rId100" Type="http://schemas.openxmlformats.org/officeDocument/2006/relationships/font" Target="fonts/font51.fntdata"/><Relationship Id="rId105" Type="http://schemas.openxmlformats.org/officeDocument/2006/relationships/font" Target="fonts/font56.fntdata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72" Type="http://schemas.openxmlformats.org/officeDocument/2006/relationships/font" Target="fonts/font23.fntdata"/><Relationship Id="rId93" Type="http://schemas.openxmlformats.org/officeDocument/2006/relationships/font" Target="fonts/font44.fntdata"/><Relationship Id="rId98" Type="http://schemas.openxmlformats.org/officeDocument/2006/relationships/font" Target="fonts/font49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font" Target="fonts/font13.fntdata"/><Relationship Id="rId83" Type="http://schemas.openxmlformats.org/officeDocument/2006/relationships/font" Target="fonts/font34.fntdata"/><Relationship Id="rId88" Type="http://schemas.openxmlformats.org/officeDocument/2006/relationships/font" Target="fonts/font39.fntdata"/><Relationship Id="rId111" Type="http://schemas.openxmlformats.org/officeDocument/2006/relationships/font" Target="fonts/font6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92651" y="2076767"/>
            <a:ext cx="4535543" cy="1010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3" dirty="0">
                <a:solidFill>
                  <a:srgbClr val="0F243E"/>
                </a:solidFill>
                <a:latin typeface="MOUQGC+Calibri-Bold"/>
                <a:cs typeface="MOUQGC+Calibri-Bold"/>
              </a:rPr>
              <a:t>INT305</a:t>
            </a:r>
            <a:r>
              <a:rPr sz="3250" spc="-506" dirty="0">
                <a:solidFill>
                  <a:srgbClr val="0F243E"/>
                </a:solidFill>
                <a:latin typeface="MOUQGC+Calibri-Bold"/>
                <a:cs typeface="MOUQGC+Calibri-Bold"/>
              </a:rPr>
              <a:t> </a:t>
            </a:r>
            <a:r>
              <a:rPr sz="3250" spc="-32" dirty="0">
                <a:solidFill>
                  <a:srgbClr val="0F243E"/>
                </a:solidFill>
                <a:latin typeface="MOUQGC+Calibri-Bold"/>
                <a:cs typeface="MOUQGC+Calibri-Bold"/>
              </a:rPr>
              <a:t>Machine</a:t>
            </a:r>
            <a:r>
              <a:rPr sz="3250" spc="-1161" dirty="0">
                <a:solidFill>
                  <a:srgbClr val="0F243E"/>
                </a:solidFill>
                <a:latin typeface="MOUQGC+Calibri-Bold"/>
                <a:cs typeface="MOUQGC+Calibri-Bold"/>
              </a:rPr>
              <a:t> </a:t>
            </a:r>
            <a:r>
              <a:rPr sz="3250" spc="-33" dirty="0">
                <a:solidFill>
                  <a:srgbClr val="0F243E"/>
                </a:solidFill>
                <a:latin typeface="MOUQGC+Calibri-Bold"/>
                <a:cs typeface="MOUQGC+Calibri-Bold"/>
              </a:rPr>
              <a:t>Learning</a:t>
            </a:r>
          </a:p>
          <a:p>
            <a:pPr marL="1417954" marR="0">
              <a:lnSpc>
                <a:spcPts val="3230"/>
              </a:lnSpc>
              <a:spcBef>
                <a:spcPts val="1249"/>
              </a:spcBef>
              <a:spcAft>
                <a:spcPts val="0"/>
              </a:spcAft>
            </a:pPr>
            <a:r>
              <a:rPr sz="3250" spc="-24" dirty="0">
                <a:solidFill>
                  <a:srgbClr val="0F243E"/>
                </a:solidFill>
                <a:latin typeface="MOUQGC+Calibri-Bold"/>
                <a:cs typeface="MOUQGC+Calibri-Bold"/>
              </a:rPr>
              <a:t>Lecture</a:t>
            </a:r>
            <a:r>
              <a:rPr sz="3250" spc="-1239" dirty="0">
                <a:solidFill>
                  <a:srgbClr val="0F243E"/>
                </a:solidFill>
                <a:latin typeface="MOUQGC+Calibri-Bold"/>
                <a:cs typeface="MOUQGC+Calibri-Bold"/>
              </a:rPr>
              <a:t> </a:t>
            </a:r>
            <a:r>
              <a:rPr sz="3250" dirty="0">
                <a:solidFill>
                  <a:srgbClr val="0F243E"/>
                </a:solidFill>
                <a:latin typeface="MOUQGC+Calibri-Bold"/>
                <a:cs typeface="MOUQGC+Calibri-Bold"/>
              </a:rPr>
              <a:t>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50181" y="3202241"/>
            <a:ext cx="3425924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F243E"/>
                </a:solidFill>
                <a:latin typeface="MOUQGC+Calibri-Bold"/>
                <a:cs typeface="MOUQGC+Calibri-Bold"/>
              </a:rPr>
              <a:t>Bagging</a:t>
            </a:r>
            <a:r>
              <a:rPr sz="3250" spc="-1230" dirty="0">
                <a:solidFill>
                  <a:srgbClr val="0F243E"/>
                </a:solidFill>
                <a:latin typeface="MOUQGC+Calibri-Bold"/>
                <a:cs typeface="MOUQGC+Calibri-Bold"/>
              </a:rPr>
              <a:t> </a:t>
            </a:r>
            <a:r>
              <a:rPr sz="3250" dirty="0">
                <a:solidFill>
                  <a:srgbClr val="0F243E"/>
                </a:solidFill>
                <a:latin typeface="MOUQGC+Calibri-Bold"/>
                <a:cs typeface="MOUQGC+Calibri-Bold"/>
              </a:rPr>
              <a:t>&amp;</a:t>
            </a:r>
            <a:r>
              <a:rPr sz="3250" spc="-1313" dirty="0">
                <a:solidFill>
                  <a:srgbClr val="0F243E"/>
                </a:solidFill>
                <a:latin typeface="MOUQGC+Calibri-Bold"/>
                <a:cs typeface="MOUQGC+Calibri-Bold"/>
              </a:rPr>
              <a:t> </a:t>
            </a:r>
            <a:r>
              <a:rPr sz="3250" spc="-20" dirty="0">
                <a:solidFill>
                  <a:srgbClr val="0F243E"/>
                </a:solidFill>
                <a:latin typeface="MOUQGC+Calibri-Bold"/>
                <a:cs typeface="MOUQGC+Calibri-Bold"/>
              </a:rPr>
              <a:t>Boosting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3105" y="4403233"/>
            <a:ext cx="1348827" cy="381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700" spc="-22" dirty="0">
                <a:solidFill>
                  <a:srgbClr val="0F243E"/>
                </a:solidFill>
                <a:latin typeface="MOUQGC+Calibri-Bold"/>
                <a:cs typeface="MOUQGC+Calibri-Bold"/>
              </a:rPr>
              <a:t>Siyue</a:t>
            </a:r>
            <a:r>
              <a:rPr sz="2700" spc="-991" dirty="0">
                <a:solidFill>
                  <a:srgbClr val="0F243E"/>
                </a:solidFill>
                <a:latin typeface="MOUQGC+Calibri-Bold"/>
                <a:cs typeface="MOUQGC+Calibri-Bold"/>
              </a:rPr>
              <a:t> </a:t>
            </a:r>
            <a:r>
              <a:rPr sz="2700" spc="25" dirty="0">
                <a:solidFill>
                  <a:srgbClr val="0F243E"/>
                </a:solidFill>
                <a:latin typeface="MOUQGC+Calibri-Bold"/>
                <a:cs typeface="MOUQGC+Calibri-Bold"/>
              </a:rPr>
              <a:t>Yu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77334" y="4889516"/>
            <a:ext cx="4697432" cy="867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700" spc="-16" dirty="0">
                <a:solidFill>
                  <a:srgbClr val="0F243E"/>
                </a:solidFill>
                <a:latin typeface="MOUQGC+Calibri-Bold"/>
                <a:cs typeface="MOUQGC+Calibri-Bold"/>
              </a:rPr>
              <a:t>Department</a:t>
            </a:r>
            <a:r>
              <a:rPr sz="2700" spc="-1040" dirty="0">
                <a:solidFill>
                  <a:srgbClr val="0F243E"/>
                </a:solidFill>
                <a:latin typeface="MOUQGC+Calibri-Bold"/>
                <a:cs typeface="MOUQGC+Calibri-Bold"/>
              </a:rPr>
              <a:t> </a:t>
            </a:r>
            <a:r>
              <a:rPr sz="2700" spc="-18" dirty="0">
                <a:solidFill>
                  <a:srgbClr val="0F243E"/>
                </a:solidFill>
                <a:latin typeface="MOUQGC+Calibri-Bold"/>
                <a:cs typeface="MOUQGC+Calibri-Bold"/>
              </a:rPr>
              <a:t>Intelligence</a:t>
            </a:r>
            <a:r>
              <a:rPr sz="2700" spc="-1015" dirty="0">
                <a:solidFill>
                  <a:srgbClr val="0F243E"/>
                </a:solidFill>
                <a:latin typeface="MOUQGC+Calibri-Bold"/>
                <a:cs typeface="MOUQGC+Calibri-Bold"/>
              </a:rPr>
              <a:t> </a:t>
            </a:r>
            <a:r>
              <a:rPr sz="2700" spc="-17" dirty="0">
                <a:solidFill>
                  <a:srgbClr val="0F243E"/>
                </a:solidFill>
                <a:latin typeface="MOUQGC+Calibri-Bold"/>
                <a:cs typeface="MOUQGC+Calibri-Bold"/>
              </a:rPr>
              <a:t>Science</a:t>
            </a:r>
          </a:p>
          <a:p>
            <a:pPr marL="575945" marR="0">
              <a:lnSpc>
                <a:spcPts val="2702"/>
              </a:lnSpc>
              <a:spcBef>
                <a:spcPts val="1127"/>
              </a:spcBef>
              <a:spcAft>
                <a:spcPts val="0"/>
              </a:spcAft>
            </a:pPr>
            <a:r>
              <a:rPr sz="2700" spc="-17" dirty="0">
                <a:solidFill>
                  <a:srgbClr val="0F243E"/>
                </a:solidFill>
                <a:latin typeface="MOUQGC+Calibri-Bold"/>
                <a:cs typeface="MOUQGC+Calibri-Bold"/>
              </a:rPr>
              <a:t>siyue.yu02@xjtlu.edu.cn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8998834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2060"/>
                </a:solidFill>
                <a:latin typeface="MOUQGC+Calibri-Bold"/>
                <a:cs typeface="MOUQGC+Calibri-Bold"/>
              </a:rPr>
              <a:t>Bias/Variance</a:t>
            </a:r>
            <a:r>
              <a:rPr sz="3250" spc="-1165" dirty="0">
                <a:solidFill>
                  <a:srgbClr val="002060"/>
                </a:solidFill>
                <a:latin typeface="MOUQGC+Calibri-Bold"/>
                <a:cs typeface="MOUQGC+Calibri-Bold"/>
              </a:rPr>
              <a:t> </a:t>
            </a:r>
            <a:r>
              <a:rPr sz="3250" spc="-24" dirty="0">
                <a:solidFill>
                  <a:srgbClr val="002060"/>
                </a:solidFill>
                <a:latin typeface="MOUQGC+Calibri-Bold"/>
                <a:cs typeface="MOUQGC+Calibri-Bold"/>
              </a:rPr>
              <a:t>Decomposition:</a:t>
            </a:r>
            <a:r>
              <a:rPr sz="3250" spc="-1256" dirty="0">
                <a:solidFill>
                  <a:srgbClr val="002060"/>
                </a:solidFill>
                <a:latin typeface="MOUQGC+Calibri-Bold"/>
                <a:cs typeface="MOUQGC+Calibri-Bold"/>
              </a:rPr>
              <a:t> </a:t>
            </a:r>
            <a:r>
              <a:rPr sz="3250" spc="-21" dirty="0">
                <a:solidFill>
                  <a:srgbClr val="002060"/>
                </a:solidFill>
                <a:latin typeface="MOUQGC+Calibri-Bold"/>
                <a:cs typeface="MOUQGC+Calibri-Bold"/>
              </a:rPr>
              <a:t>Another</a:t>
            </a:r>
            <a:r>
              <a:rPr sz="3250" spc="-1210" dirty="0">
                <a:solidFill>
                  <a:srgbClr val="002060"/>
                </a:solidFill>
                <a:latin typeface="MOUQGC+Calibri-Bold"/>
                <a:cs typeface="MOUQGC+Calibri-Bold"/>
              </a:rPr>
              <a:t> </a:t>
            </a:r>
            <a:r>
              <a:rPr sz="3250" spc="-19" dirty="0">
                <a:solidFill>
                  <a:srgbClr val="002060"/>
                </a:solidFill>
                <a:latin typeface="MOUQGC+Calibri-Bold"/>
                <a:cs typeface="MOUQGC+Calibri-Bold"/>
              </a:rPr>
              <a:t>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83801" y="165458"/>
            <a:ext cx="1590932" cy="3697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Bagging</a:t>
            </a:r>
            <a:r>
              <a:rPr sz="750" spc="-259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7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的⼯作原理（两步⾛）</a:t>
            </a:r>
          </a:p>
          <a:p>
            <a:pPr marL="0" marR="0">
              <a:lnSpc>
                <a:spcPts val="788"/>
              </a:lnSpc>
              <a:spcBef>
                <a:spcPts val="903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第⼀步：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Bootstrap</a:t>
            </a:r>
            <a:r>
              <a:rPr sz="650" spc="-225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采样</a:t>
            </a:r>
            <a:r>
              <a:rPr sz="650" spc="-226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-</a:t>
            </a:r>
            <a:r>
              <a:rPr sz="650" spc="-224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制造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“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多样性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”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48079" y="163958"/>
            <a:ext cx="2346021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Bagging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之所以强⼤，主要是因为它能有效降低模型的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⽅差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48079" y="363464"/>
            <a:ext cx="2895602" cy="3709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⽅差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：衡量模型对于训练数据微⼩变化的敏感度。⽅差⾼的模型（如深度决</a:t>
            </a:r>
          </a:p>
          <a:p>
            <a:pPr marL="0" marR="0">
              <a:lnSpc>
                <a:spcPts val="788"/>
              </a:lnSpc>
              <a:spcBef>
                <a:spcPts val="128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策树）容易对训练数据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“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过度学习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”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，即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过拟合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。它可能在新数据上表现很</a:t>
            </a:r>
          </a:p>
          <a:p>
            <a:pPr marL="0" marR="0">
              <a:lnSpc>
                <a:spcPts val="788"/>
              </a:lnSpc>
              <a:spcBef>
                <a:spcPts val="128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差。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83801" y="623864"/>
            <a:ext cx="5629465" cy="337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假设我们有⼀个原始训练数据集。为了训练出多个不同的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“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臭⽪匠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”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模型，我们不能⽤完全相同的数据，否则训练出来的模型会⼀模⼀样，没有多样性。</a:t>
            </a:r>
          </a:p>
          <a:p>
            <a:pPr marL="0" marR="0">
              <a:lnSpc>
                <a:spcPts val="788"/>
              </a:lnSpc>
              <a:spcBef>
                <a:spcPts val="782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Bagging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采⽤了⼀种⾮常聪明的⽅法来创造数据多样性：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48079" y="891314"/>
            <a:ext cx="1339155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Bagging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通过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“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平均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”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来降低⽅差：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83801" y="1022874"/>
            <a:ext cx="6483914" cy="337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有放回地随机抽取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：从原始数据集中，随机抽取⼀个样本，记录下来后，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再把这个样本放回去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。然后进⾏下⼀次抽取。</a:t>
            </a:r>
          </a:p>
          <a:p>
            <a:pPr marL="0" marR="0">
              <a:lnSpc>
                <a:spcPts val="788"/>
              </a:lnSpc>
              <a:spcBef>
                <a:spcPts val="782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形成⼀个新的训练集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：重复上述抽取过程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N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次（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N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通常等于原始数据集的⼤⼩），这样就形成了⼀个和原始数据集⼀样⼤的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新训练集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。这个新训练集被称为</a:t>
            </a:r>
            <a:r>
              <a:rPr sz="650" spc="-5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Bootstrap</a:t>
            </a:r>
            <a:r>
              <a:rPr sz="650" spc="-225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数据集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48079" y="1090820"/>
            <a:ext cx="2895600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单个复杂的模型可能很不稳定，换⼀套训练数据，预测结果可能天差地别。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48079" y="1385913"/>
            <a:ext cx="2872342" cy="3709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但是，通过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Bagging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组合多个模型后，某个模型的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“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错误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”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会被其他模型的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“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正</a:t>
            </a:r>
          </a:p>
          <a:p>
            <a:pPr marL="0" marR="0">
              <a:lnSpc>
                <a:spcPts val="788"/>
              </a:lnSpc>
              <a:spcBef>
                <a:spcPts val="128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确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”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所抵消。⼤家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“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吵吵闹闹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”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⼀平均，最终的结果反⽽会变得⾮常稳定和可</a:t>
            </a:r>
          </a:p>
          <a:p>
            <a:pPr marL="0" marR="0">
              <a:lnSpc>
                <a:spcPts val="788"/>
              </a:lnSpc>
              <a:spcBef>
                <a:spcPts val="128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靠。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83801" y="1517474"/>
            <a:ext cx="1072798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Bootstrap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数据集的特点：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83801" y="1716980"/>
            <a:ext cx="3726872" cy="337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样本重复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：由于是有放回抽样，⼀些样本可能会被抽到多次，⽽另⼀些样本可能⼀次都没被抽到。</a:t>
            </a:r>
          </a:p>
          <a:p>
            <a:pPr marL="0" marR="0">
              <a:lnSpc>
                <a:spcPts val="788"/>
              </a:lnSpc>
              <a:spcBef>
                <a:spcPts val="782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数据差异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：每个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Bootstrap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数据集都和原始数据集略有不同，这就为训练不同的模型提供了基础。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83801" y="2211579"/>
            <a:ext cx="2636963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我们重复这个过程，创建出⼏⼗个、⼏百个这样的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Bootstrap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数据集。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83801" y="2589800"/>
            <a:ext cx="1760230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第⼆步：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Aggregating</a:t>
            </a:r>
            <a:r>
              <a:rPr sz="650" spc="-225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聚合</a:t>
            </a:r>
            <a:r>
              <a:rPr sz="650" spc="-226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-</a:t>
            </a:r>
            <a:r>
              <a:rPr sz="650" spc="-224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综合⼤家的意⻅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83801" y="2816668"/>
            <a:ext cx="4798192" cy="7367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现在，我们为第⼀步中创建的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每⼀个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Bootstrap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数据集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，都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独⽴地训练⼀个基学习器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（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Base Learner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，⽐如决策树）。</a:t>
            </a:r>
          </a:p>
          <a:p>
            <a:pPr marL="0" marR="0">
              <a:lnSpc>
                <a:spcPts val="788"/>
              </a:lnSpc>
              <a:spcBef>
                <a:spcPts val="782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训练完成后，我们就得到了⼀个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“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模型委员会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”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。当有⼀个新的数据需要预测时，我们让委员会⾥的每个模型都进⾏预测，然后：</a:t>
            </a:r>
          </a:p>
          <a:p>
            <a:pPr marL="0" marR="0">
              <a:lnSpc>
                <a:spcPts val="788"/>
              </a:lnSpc>
              <a:spcBef>
                <a:spcPts val="732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对于回归问题（预测数值）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：我们将所有模型的预测结果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取平均值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，作为最终的预测结果。</a:t>
            </a:r>
          </a:p>
          <a:p>
            <a:pPr marL="0" marR="0">
              <a:lnSpc>
                <a:spcPts val="788"/>
              </a:lnSpc>
              <a:spcBef>
                <a:spcPts val="782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最终预测值</a:t>
            </a:r>
            <a:r>
              <a:rPr sz="650" spc="-5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= (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模型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1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预测值</a:t>
            </a:r>
            <a:r>
              <a:rPr sz="650" spc="-5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+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模型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2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预测值</a:t>
            </a:r>
            <a:r>
              <a:rPr sz="650" spc="-5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+ ... +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模型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M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预测值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) / 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83801" y="3614690"/>
            <a:ext cx="4391891" cy="337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对于分类问题（预测类别）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：我们采⽤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投票法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，即选择所有模型预测中出现次数最多的类别，作为最终的预测结果。</a:t>
            </a:r>
          </a:p>
          <a:p>
            <a:pPr marL="0" marR="0">
              <a:lnSpc>
                <a:spcPts val="788"/>
              </a:lnSpc>
              <a:spcBef>
                <a:spcPts val="782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最终预测类别</a:t>
            </a:r>
            <a:r>
              <a:rPr sz="650" spc="-5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=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票数最多的那个类别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575036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3" dirty="0">
                <a:solidFill>
                  <a:srgbClr val="001F5F"/>
                </a:solidFill>
                <a:latin typeface="URFBMD+Calibri-Bold"/>
                <a:cs typeface="URFBMD+Calibri-Bold"/>
              </a:rPr>
              <a:t>Bagging:</a:t>
            </a:r>
            <a:r>
              <a:rPr sz="3250" spc="-1248" dirty="0">
                <a:solidFill>
                  <a:srgbClr val="001F5F"/>
                </a:solidFill>
                <a:latin typeface="URFBMD+Calibri-Bold"/>
                <a:cs typeface="URFBMD+Calibri-Bold"/>
              </a:rPr>
              <a:t> </a:t>
            </a:r>
            <a:r>
              <a:rPr sz="3250" spc="-13" dirty="0">
                <a:solidFill>
                  <a:srgbClr val="001F5F"/>
                </a:solidFill>
                <a:latin typeface="URFBMD+Calibri-Bold"/>
                <a:cs typeface="URFBMD+Calibri-Bold"/>
              </a:rPr>
              <a:t>Motivation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30560" y="313458"/>
            <a:ext cx="4841125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⽤于解决我们在决策树中诊断出的“⾼⽅差”（过度拟合）问题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988070"/>
            <a:ext cx="10856981" cy="791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Suppose</a:t>
            </a:r>
            <a:r>
              <a:rPr sz="2400" spc="-1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WRHJUD+Calibri"/>
                <a:cs typeface="WRHJUD+Calibri"/>
              </a:rPr>
              <a:t>could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 somehow</a:t>
            </a:r>
            <a:r>
              <a:rPr sz="2400" spc="-1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sample</a:t>
            </a:r>
            <a:r>
              <a:rPr sz="2400" spc="7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580" dirty="0">
                <a:solidFill>
                  <a:srgbClr val="000000"/>
                </a:solidFill>
                <a:latin typeface="LGSGHP+Cambria Math"/>
                <a:cs typeface="LGSGHP+Cambria Math"/>
              </a:rPr>
              <a:t>ꢀ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independent training</a:t>
            </a:r>
            <a:r>
              <a:rPr sz="2400" spc="-2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sets</a:t>
            </a:r>
            <a:r>
              <a:rPr sz="2400" spc="2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from</a:t>
            </a:r>
            <a:r>
              <a:rPr sz="2400" spc="-5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75" dirty="0">
                <a:solidFill>
                  <a:srgbClr val="000000"/>
                </a:solidFill>
                <a:latin typeface="LGSGHP+Cambria Math"/>
                <a:cs typeface="LGSGHP+Cambria Math"/>
              </a:rPr>
              <a:t>ꢁ</a:t>
            </a:r>
            <a:r>
              <a:rPr sz="2650" baseline="-20416" dirty="0">
                <a:solidFill>
                  <a:srgbClr val="000000"/>
                </a:solidFill>
                <a:latin typeface="LGSGHP+Cambria Math"/>
                <a:cs typeface="LGSGHP+Cambria Math"/>
              </a:rPr>
              <a:t>sample</a:t>
            </a:r>
          </a:p>
          <a:p>
            <a:pPr marL="0" marR="0">
              <a:lnSpc>
                <a:spcPts val="2684"/>
              </a:lnSpc>
              <a:spcBef>
                <a:spcPts val="10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WRHJUD+Calibri"/>
                <a:cs typeface="WRHJUD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WRHJUD+Calibri"/>
                <a:cs typeface="WRHJUD+Calibri"/>
              </a:rPr>
              <a:t>could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WRHJUD+Calibri"/>
                <a:cs typeface="WRHJUD+Calibri"/>
              </a:rPr>
              <a:t>then</a:t>
            </a:r>
            <a:r>
              <a:rPr sz="2400" spc="-1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compute </a:t>
            </a:r>
            <a:r>
              <a:rPr sz="2400" spc="15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prediction</a:t>
            </a:r>
            <a:r>
              <a:rPr sz="2400" spc="7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ꢂ</a:t>
            </a:r>
            <a:r>
              <a:rPr sz="2400" spc="-20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based </a:t>
            </a:r>
            <a:r>
              <a:rPr sz="2400" spc="10" dirty="0">
                <a:solidFill>
                  <a:srgbClr val="000000"/>
                </a:solidFill>
                <a:latin typeface="WRHJUD+Calibri"/>
                <a:cs typeface="WRHJUD+Calibri"/>
              </a:rPr>
              <a:t>on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WRHJUD+Calibri"/>
                <a:cs typeface="WRHJUD+Calibri"/>
              </a:rPr>
              <a:t>each</a:t>
            </a:r>
            <a:r>
              <a:rPr sz="2400" spc="1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one,</a:t>
            </a:r>
            <a:r>
              <a:rPr sz="2400" spc="51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33" dirty="0">
                <a:solidFill>
                  <a:srgbClr val="000000"/>
                </a:solidFill>
                <a:latin typeface="WRHJUD+Calibri"/>
                <a:cs typeface="WRHJUD+Calibri"/>
              </a:rPr>
              <a:t>and</a:t>
            </a:r>
            <a:r>
              <a:rPr sz="2400" spc="-3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WRHJUD+Calibri"/>
                <a:cs typeface="WRHJUD+Calibri"/>
              </a:rPr>
              <a:t>take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spc="-2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average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399395" y="1035447"/>
            <a:ext cx="229424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00141" y="1556335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70635" y="1753820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7896" y="1807795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ꢄ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7225" y="1853427"/>
            <a:ext cx="1966149" cy="364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705" dirty="0">
                <a:solidFill>
                  <a:srgbClr val="000000"/>
                </a:solidFill>
                <a:latin typeface="LGSGHP+Cambria Math"/>
                <a:cs typeface="LGSGHP+Cambria Math"/>
              </a:rPr>
              <a:t>ꢂ=</a:t>
            </a:r>
            <a:r>
              <a:rPr sz="2400" spc="5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σ</a:t>
            </a:r>
            <a:r>
              <a:rPr sz="2400" spc="19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97" dirty="0">
                <a:solidFill>
                  <a:srgbClr val="000000"/>
                </a:solidFill>
                <a:latin typeface="LGSGHP+Cambria Math"/>
                <a:cs typeface="LGSGHP+Cambria Math"/>
              </a:rPr>
              <a:t>ꢂ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 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07896" y="1995120"/>
            <a:ext cx="817198" cy="2707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61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  <a:r>
              <a:rPr sz="1750" dirty="0">
                <a:solidFill>
                  <a:srgbClr val="000000"/>
                </a:solidFill>
                <a:latin typeface="CPGAPM+Cambria Math"/>
                <a:cs typeface="CPGAPM+Cambria Math"/>
              </a:rPr>
              <a:t>=</a:t>
            </a: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1</a:t>
            </a:r>
            <a:r>
              <a:rPr sz="1750" spc="6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29042" y="2086306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ꢄ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4007" y="2275182"/>
            <a:ext cx="7724769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How</a:t>
            </a:r>
            <a:r>
              <a:rPr sz="2400" spc="-1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does</a:t>
            </a:r>
            <a:r>
              <a:rPr sz="2400" spc="-6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this</a:t>
            </a:r>
            <a:r>
              <a:rPr sz="2400" spc="1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affect </a:t>
            </a:r>
            <a:r>
              <a:rPr sz="2400" spc="15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WRHJUD+Calibri"/>
                <a:cs typeface="WRHJUD+Calibri"/>
              </a:rPr>
              <a:t>three</a:t>
            </a:r>
            <a:r>
              <a:rPr sz="2400" spc="7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terms</a:t>
            </a:r>
            <a:r>
              <a:rPr sz="2400" spc="2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66" dirty="0">
                <a:solidFill>
                  <a:srgbClr val="000000"/>
                </a:solidFill>
                <a:latin typeface="WRHJUD+Calibri"/>
                <a:cs typeface="WRHJUD+Calibri"/>
              </a:rPr>
              <a:t>of</a:t>
            </a:r>
            <a:r>
              <a:rPr sz="2400" spc="6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expected loss?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45807" y="2749338"/>
            <a:ext cx="9614243" cy="750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URFBMD+Calibri-Bold"/>
                <a:cs typeface="URFBMD+Calibri-Bold"/>
              </a:rPr>
              <a:t>Bayes</a:t>
            </a:r>
            <a:r>
              <a:rPr sz="2400" spc="-906" dirty="0">
                <a:solidFill>
                  <a:srgbClr val="000000"/>
                </a:solidFill>
                <a:latin typeface="URFBMD+Calibri-Bold"/>
                <a:cs typeface="URFBMD+Calibri-Bold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URFBMD+Calibri-Bold"/>
                <a:cs typeface="URFBMD+Calibri-Bold"/>
              </a:rPr>
              <a:t>error:</a:t>
            </a:r>
            <a:r>
              <a:rPr sz="2400" spc="-913" dirty="0">
                <a:solidFill>
                  <a:srgbClr val="000000"/>
                </a:solidFill>
                <a:latin typeface="URFBMD+Calibri-Bold"/>
                <a:cs typeface="URFBMD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URFBMD+Calibri-Bold"/>
                <a:cs typeface="URFBMD+Calibri-Bold"/>
              </a:rPr>
              <a:t>unchanged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since</a:t>
            </a:r>
            <a:r>
              <a:rPr sz="2400" spc="6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65" dirty="0">
                <a:solidFill>
                  <a:srgbClr val="000000"/>
                </a:solidFill>
                <a:latin typeface="WRHJUD+Calibri"/>
                <a:cs typeface="WRHJUD+Calibri"/>
              </a:rPr>
              <a:t>we</a:t>
            </a:r>
            <a:r>
              <a:rPr sz="2400" spc="12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WRHJUD+Calibri"/>
                <a:cs typeface="WRHJUD+Calibri"/>
              </a:rPr>
              <a:t>have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WRHJUD+Calibri"/>
                <a:cs typeface="WRHJUD+Calibri"/>
              </a:rPr>
              <a:t>no</a:t>
            </a:r>
            <a:r>
              <a:rPr sz="2400" spc="-2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control</a:t>
            </a:r>
            <a:r>
              <a:rPr sz="2400" spc="3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over</a:t>
            </a:r>
            <a:r>
              <a:rPr sz="2400" spc="-1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WRHJUD+Calibri"/>
                <a:cs typeface="WRHJUD+Calibri"/>
              </a:rPr>
              <a:t>it</a:t>
            </a:r>
          </a:p>
          <a:p>
            <a:pPr marL="0" marR="0">
              <a:lnSpc>
                <a:spcPts val="2669"/>
              </a:lnSpc>
              <a:spcBef>
                <a:spcPts val="3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spc="12" dirty="0">
                <a:solidFill>
                  <a:srgbClr val="000000"/>
                </a:solidFill>
                <a:latin typeface="URFBMD+Calibri-Bold"/>
                <a:cs typeface="URFBMD+Calibri-Bold"/>
              </a:rPr>
              <a:t>Bias:</a:t>
            </a:r>
            <a:r>
              <a:rPr sz="2400" spc="-918" dirty="0">
                <a:solidFill>
                  <a:srgbClr val="000000"/>
                </a:solidFill>
                <a:latin typeface="URFBMD+Calibri-Bold"/>
                <a:cs typeface="URFBMD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URFBMD+Calibri-Bold"/>
                <a:cs typeface="URFBMD+Calibri-Bold"/>
              </a:rPr>
              <a:t>unchanged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,</a:t>
            </a:r>
            <a:r>
              <a:rPr sz="2400" spc="-1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since</a:t>
            </a:r>
            <a:r>
              <a:rPr sz="2400" spc="6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WRHJUD+Calibri"/>
                <a:cs typeface="WRHJUD+Calibri"/>
              </a:rPr>
              <a:t>averaged</a:t>
            </a:r>
            <a:r>
              <a:rPr sz="2400" spc="-1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prediction has</a:t>
            </a:r>
            <a:r>
              <a:rPr sz="2400" spc="2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spc="8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same expectation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688965" y="3549219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ꢄ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327015" y="3704205"/>
            <a:ext cx="321522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PGAPM+Cambria Math"/>
                <a:cs typeface="CPGAPM+Cambria Math"/>
              </a:rPr>
              <a:t>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935476" y="3935592"/>
            <a:ext cx="3707778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835" dirty="0">
                <a:solidFill>
                  <a:srgbClr val="000000"/>
                </a:solidFill>
                <a:latin typeface="LGSGHP+Cambria Math"/>
                <a:cs typeface="LGSGHP+Cambria Math"/>
              </a:rPr>
              <a:t>ꢅꢂ</a:t>
            </a:r>
            <a:r>
              <a:rPr sz="2400" spc="-7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5" dirty="0">
                <a:solidFill>
                  <a:srgbClr val="000000"/>
                </a:solidFill>
                <a:latin typeface="LGSGHP+Cambria Math"/>
                <a:cs typeface="LGSGHP+Cambria Math"/>
              </a:rPr>
              <a:t>=ꢅ</a:t>
            </a:r>
            <a:r>
              <a:rPr sz="2400" spc="17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400" dirty="0">
                <a:solidFill>
                  <a:srgbClr val="000000"/>
                </a:solidFill>
                <a:latin typeface="LGSGHP+Cambria Math"/>
                <a:cs typeface="LGSGHP+Cambria Math"/>
              </a:rPr>
              <a:t>෍ꢂ</a:t>
            </a:r>
            <a:r>
              <a:rPr sz="2400" spc="48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64" dirty="0">
                <a:solidFill>
                  <a:srgbClr val="000000"/>
                </a:solidFill>
                <a:latin typeface="LGSGHP+Cambria Math"/>
                <a:cs typeface="LGSGHP+Cambria Math"/>
              </a:rPr>
              <a:t>=ꢅ[ꢂ</a:t>
            </a:r>
            <a:r>
              <a:rPr sz="2400" spc="-74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]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208776" y="4064585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85990" y="4064585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281041" y="4139681"/>
            <a:ext cx="408204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ꢀ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45807" y="4391229"/>
            <a:ext cx="8975070" cy="583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60861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58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  <a:r>
              <a:rPr sz="1750" dirty="0">
                <a:solidFill>
                  <a:srgbClr val="000000"/>
                </a:solidFill>
                <a:latin typeface="CPGAPM+Cambria Math"/>
                <a:cs typeface="CPGAPM+Cambria Math"/>
              </a:rPr>
              <a:t>=</a:t>
            </a: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1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URFBMD+Calibri-Bold"/>
                <a:cs typeface="URFBMD+Calibri-Bold"/>
              </a:rPr>
              <a:t>Variance:</a:t>
            </a:r>
            <a:r>
              <a:rPr sz="2400" spc="-909" dirty="0">
                <a:solidFill>
                  <a:srgbClr val="000000"/>
                </a:solidFill>
                <a:latin typeface="URFBMD+Calibri-Bold"/>
                <a:cs typeface="URFBMD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URFBMD+Calibri-Bold"/>
                <a:cs typeface="URFBMD+Calibri-Bold"/>
              </a:rPr>
              <a:t>reduced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since</a:t>
            </a:r>
            <a:r>
              <a:rPr sz="2400" spc="65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we’re</a:t>
            </a:r>
            <a:r>
              <a:rPr sz="2400" spc="-13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averaging</a:t>
            </a:r>
            <a:r>
              <a:rPr sz="2400" spc="-17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QPRCPU+Calibri"/>
                <a:cs typeface="QPRCPU+Calibri"/>
              </a:rPr>
              <a:t>over</a:t>
            </a:r>
            <a:r>
              <a:rPr sz="2400" spc="-40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independent samples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718939" y="5119321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ꢄ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04610" y="5119321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ꢄ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34971" y="5274807"/>
            <a:ext cx="7051689" cy="5743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22399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PGAPM+Cambria Math"/>
                <a:cs typeface="CPGAPM+Cambria Math"/>
              </a:rPr>
              <a:t>1</a:t>
            </a:r>
            <a:r>
              <a:rPr sz="2400" spc="994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CPGAPM+Cambria Math"/>
                <a:cs typeface="CPGAPM+Cambria Math"/>
              </a:rPr>
              <a:t>1</a:t>
            </a:r>
          </a:p>
          <a:p>
            <a:pPr marL="0" marR="0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2400" spc="-24" dirty="0">
                <a:solidFill>
                  <a:srgbClr val="000000"/>
                </a:solidFill>
                <a:latin typeface="LGSGHP+Cambria Math"/>
                <a:cs typeface="LGSGHP+Cambria Math"/>
              </a:rPr>
              <a:t>V</a:t>
            </a:r>
            <a:r>
              <a:rPr sz="2400" spc="25" dirty="0">
                <a:solidFill>
                  <a:srgbClr val="000000"/>
                </a:solidFill>
                <a:latin typeface="CPGAPM+Cambria Math"/>
                <a:cs typeface="CPGAPM+Cambria Math"/>
              </a:rPr>
              <a:t>a</a:t>
            </a:r>
            <a:r>
              <a:rPr sz="2400" spc="839" dirty="0">
                <a:solidFill>
                  <a:srgbClr val="000000"/>
                </a:solidFill>
                <a:latin typeface="LGSGHP+Cambria Math"/>
                <a:cs typeface="LGSGHP+Cambria Math"/>
              </a:rPr>
              <a:t>rꢂ</a:t>
            </a:r>
            <a:r>
              <a:rPr sz="2400" spc="-73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31" dirty="0">
                <a:solidFill>
                  <a:srgbClr val="000000"/>
                </a:solidFill>
                <a:latin typeface="LGSGHP+Cambria Math"/>
                <a:cs typeface="LGSGHP+Cambria Math"/>
              </a:rPr>
              <a:t>=V</a:t>
            </a:r>
            <a:r>
              <a:rPr sz="2400" spc="29" dirty="0">
                <a:solidFill>
                  <a:srgbClr val="000000"/>
                </a:solidFill>
                <a:latin typeface="CPGAPM+Cambria Math"/>
                <a:cs typeface="CPGAPM+Cambria Math"/>
              </a:rPr>
              <a:t>a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r</a:t>
            </a:r>
            <a:r>
              <a:rPr sz="2400" spc="23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403" dirty="0">
                <a:solidFill>
                  <a:srgbClr val="000000"/>
                </a:solidFill>
                <a:latin typeface="LGSGHP+Cambria Math"/>
                <a:cs typeface="LGSGHP+Cambria Math"/>
              </a:rPr>
              <a:t>෍ꢂ</a:t>
            </a:r>
            <a:r>
              <a:rPr sz="2400" spc="4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=</a:t>
            </a:r>
            <a:r>
              <a:rPr sz="2400" spc="279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2" dirty="0">
                <a:solidFill>
                  <a:srgbClr val="000000"/>
                </a:solidFill>
                <a:latin typeface="LGSGHP+Cambria Math"/>
                <a:cs typeface="LGSGHP+Cambria Math"/>
              </a:rPr>
              <a:t>෍V</a:t>
            </a:r>
            <a:r>
              <a:rPr sz="2400" spc="25" dirty="0">
                <a:solidFill>
                  <a:srgbClr val="000000"/>
                </a:solidFill>
                <a:latin typeface="CPGAPM+Cambria Math"/>
                <a:cs typeface="CPGAPM+Cambria Math"/>
              </a:rPr>
              <a:t>a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r[ꢂ</a:t>
            </a:r>
            <a:r>
              <a:rPr sz="2400" spc="-74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34" dirty="0">
                <a:solidFill>
                  <a:srgbClr val="000000"/>
                </a:solidFill>
                <a:latin typeface="LGSGHP+Cambria Math"/>
                <a:cs typeface="LGSGHP+Cambria Math"/>
              </a:rPr>
              <a:t>]=</a:t>
            </a:r>
            <a:r>
              <a:rPr sz="2400" spc="134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LGSGHP+Cambria Math"/>
                <a:cs typeface="LGSGHP+Cambria Math"/>
              </a:rPr>
              <a:t>V</a:t>
            </a:r>
            <a:r>
              <a:rPr sz="2400" spc="25" dirty="0">
                <a:solidFill>
                  <a:srgbClr val="000000"/>
                </a:solidFill>
                <a:latin typeface="CPGAPM+Cambria Math"/>
                <a:cs typeface="CPGAPM+Cambria Math"/>
              </a:rPr>
              <a:t>a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r[ꢂ</a:t>
            </a:r>
            <a:r>
              <a:rPr sz="2400" spc="-74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]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137525" y="5274807"/>
            <a:ext cx="321346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PGAPM+Cambria Math"/>
                <a:cs typeface="CPGAPM+Cambria Math"/>
              </a:rPr>
              <a:t>1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238750" y="5634623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489825" y="5634623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129395" y="5634623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116320" y="5685105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311015" y="5709535"/>
            <a:ext cx="1952790" cy="509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ꢀ</a:t>
            </a:r>
            <a:r>
              <a:rPr sz="2400" spc="870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ꢀ</a:t>
            </a:r>
          </a:p>
          <a:p>
            <a:pPr marL="325754" marR="0">
              <a:lnSpc>
                <a:spcPts val="1454"/>
              </a:lnSpc>
              <a:spcBef>
                <a:spcPts val="0"/>
              </a:spcBef>
              <a:spcAft>
                <a:spcPts val="0"/>
              </a:spcAft>
            </a:pPr>
            <a:r>
              <a:rPr sz="1750" spc="61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  <a:r>
              <a:rPr sz="1750" dirty="0">
                <a:solidFill>
                  <a:srgbClr val="000000"/>
                </a:solidFill>
                <a:latin typeface="CPGAPM+Cambria Math"/>
                <a:cs typeface="CPGAPM+Cambria Math"/>
              </a:rPr>
              <a:t>=</a:t>
            </a: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1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091169" y="5709535"/>
            <a:ext cx="408470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ꢀ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322441" y="5961330"/>
            <a:ext cx="52699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58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  <a:r>
              <a:rPr sz="1750" dirty="0">
                <a:solidFill>
                  <a:srgbClr val="000000"/>
                </a:solidFill>
                <a:latin typeface="CPGAPM+Cambria Math"/>
                <a:cs typeface="CPGAPM+Cambria Math"/>
              </a:rPr>
              <a:t>=</a:t>
            </a: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12833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3" dirty="0">
                <a:solidFill>
                  <a:srgbClr val="001F5F"/>
                </a:solidFill>
                <a:latin typeface="URFBMD+Calibri-Bold"/>
                <a:cs typeface="URFBMD+Calibri-Bold"/>
              </a:rPr>
              <a:t>Bagging:</a:t>
            </a:r>
            <a:r>
              <a:rPr sz="3250" spc="-1248" dirty="0">
                <a:solidFill>
                  <a:srgbClr val="001F5F"/>
                </a:solidFill>
                <a:latin typeface="URFBMD+Calibri-Bold"/>
                <a:cs typeface="URFBMD+Calibri-Bold"/>
              </a:rPr>
              <a:t> </a:t>
            </a:r>
            <a:r>
              <a:rPr sz="3250" spc="-16" dirty="0">
                <a:solidFill>
                  <a:srgbClr val="001F5F"/>
                </a:solidFill>
                <a:latin typeface="URFBMD+Calibri-Bold"/>
                <a:cs typeface="URFBMD+Calibri-Bold"/>
              </a:rPr>
              <a:t>The</a:t>
            </a:r>
            <a:r>
              <a:rPr sz="3250" spc="-1173" dirty="0">
                <a:solidFill>
                  <a:srgbClr val="001F5F"/>
                </a:solidFill>
                <a:latin typeface="URFBMD+Calibri-Bold"/>
                <a:cs typeface="URFBMD+Calibri-Bold"/>
              </a:rPr>
              <a:t> </a:t>
            </a:r>
            <a:r>
              <a:rPr sz="3250" spc="-40" dirty="0">
                <a:solidFill>
                  <a:srgbClr val="001F5F"/>
                </a:solidFill>
                <a:latin typeface="URFBMD+Calibri-Bold"/>
                <a:cs typeface="URFBMD+Calibri-Bold"/>
              </a:rPr>
              <a:t>Idea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873483"/>
            <a:ext cx="10689768" cy="425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In</a:t>
            </a:r>
            <a:r>
              <a:rPr sz="2400" spc="-1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practice,</a:t>
            </a:r>
            <a:r>
              <a:rPr sz="2400" spc="6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 sampling</a:t>
            </a:r>
            <a:r>
              <a:rPr sz="2400" spc="-2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distribution</a:t>
            </a:r>
            <a:r>
              <a:rPr sz="2400" spc="9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75" dirty="0">
                <a:solidFill>
                  <a:srgbClr val="000000"/>
                </a:solidFill>
                <a:latin typeface="LGSGHP+Cambria Math"/>
                <a:cs typeface="LGSGHP+Cambria Math"/>
              </a:rPr>
              <a:t>ꢁ</a:t>
            </a:r>
            <a:r>
              <a:rPr sz="2650" baseline="-20416" dirty="0">
                <a:solidFill>
                  <a:srgbClr val="000000"/>
                </a:solidFill>
                <a:latin typeface="LGSGHP+Cambria Math"/>
                <a:cs typeface="LGSGHP+Cambria Math"/>
              </a:rPr>
              <a:t>sample</a:t>
            </a:r>
            <a:r>
              <a:rPr sz="2650" spc="-414" baseline="-204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WRHJUD+Calibri"/>
                <a:cs typeface="WRHJUD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often finite</a:t>
            </a:r>
            <a:r>
              <a:rPr sz="2400" spc="6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66" dirty="0">
                <a:solidFill>
                  <a:srgbClr val="000000"/>
                </a:solidFill>
                <a:latin typeface="WRHJUD+Calibri"/>
                <a:cs typeface="WRHJUD+Calibri"/>
              </a:rPr>
              <a:t>or</a:t>
            </a:r>
            <a:r>
              <a:rPr sz="2400" spc="10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expensive</a:t>
            </a:r>
            <a:r>
              <a:rPr sz="2400" spc="-1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WRHJUD+Calibri"/>
                <a:cs typeface="WRHJUD+Calibri"/>
              </a:rPr>
              <a:t>to</a:t>
            </a:r>
            <a:r>
              <a:rPr sz="2400" spc="4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225" y="1321832"/>
            <a:ext cx="833550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from.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1637040"/>
            <a:ext cx="10743959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9" dirty="0">
                <a:solidFill>
                  <a:srgbClr val="000000"/>
                </a:solidFill>
                <a:latin typeface="WRHJUD+Calibri"/>
                <a:cs typeface="WRHJUD+Calibri"/>
              </a:rPr>
              <a:t>So</a:t>
            </a:r>
            <a:r>
              <a:rPr sz="2400" spc="-2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training</a:t>
            </a:r>
            <a:r>
              <a:rPr sz="2400" spc="-1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separate</a:t>
            </a:r>
            <a:r>
              <a:rPr sz="2400" spc="-1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models</a:t>
            </a:r>
            <a:r>
              <a:rPr sz="2400" spc="1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67" dirty="0">
                <a:solidFill>
                  <a:srgbClr val="000000"/>
                </a:solidFill>
                <a:latin typeface="WRHJUD+Calibri"/>
                <a:cs typeface="WRHJUD+Calibri"/>
              </a:rPr>
              <a:t>on</a:t>
            </a:r>
            <a:r>
              <a:rPr sz="2400" spc="6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independently</a:t>
            </a:r>
            <a:r>
              <a:rPr sz="2400" spc="-5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sampled datasets</a:t>
            </a:r>
            <a:r>
              <a:rPr sz="2400" spc="2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WRHJUD+Calibri"/>
                <a:cs typeface="WRHJUD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WRHJUD+Calibri"/>
                <a:cs typeface="WRHJUD+Calibri"/>
              </a:rPr>
              <a:t>very</a:t>
            </a:r>
            <a:r>
              <a:rPr sz="2400" spc="-6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wasteful</a:t>
            </a:r>
            <a:r>
              <a:rPr sz="2400" spc="3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of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7225" y="2056146"/>
            <a:ext cx="806585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data!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7377" y="2545438"/>
            <a:ext cx="9472400" cy="379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KEMFGQ+ArialMT"/>
                <a:cs typeface="KEMFGQ+ArialMT"/>
              </a:rPr>
              <a:t>Why </a:t>
            </a:r>
            <a:r>
              <a:rPr sz="2400" spc="14" dirty="0">
                <a:solidFill>
                  <a:srgbClr val="000000"/>
                </a:solidFill>
                <a:latin typeface="KEMFGQ+ArialMT"/>
                <a:cs typeface="KEMFGQ+ArialMT"/>
              </a:rPr>
              <a:t>not</a:t>
            </a:r>
            <a:r>
              <a:rPr sz="2400" spc="-81" dirty="0">
                <a:solidFill>
                  <a:srgbClr val="000000"/>
                </a:solidFill>
                <a:latin typeface="KEMFGQ+ArialMT"/>
                <a:cs typeface="KEMFGQ+ArialMT"/>
              </a:rPr>
              <a:t> </a:t>
            </a:r>
            <a:r>
              <a:rPr sz="2400" dirty="0">
                <a:solidFill>
                  <a:srgbClr val="000000"/>
                </a:solidFill>
                <a:latin typeface="KEMFGQ+ArialMT"/>
                <a:cs typeface="KEMFGQ+ArialMT"/>
              </a:rPr>
              <a:t>train</a:t>
            </a:r>
            <a:r>
              <a:rPr sz="2400" spc="-65" dirty="0">
                <a:solidFill>
                  <a:srgbClr val="000000"/>
                </a:solidFill>
                <a:latin typeface="KEMFGQ+ArialMT"/>
                <a:cs typeface="KEMFGQ+ArialMT"/>
              </a:rPr>
              <a:t> </a:t>
            </a:r>
            <a:r>
              <a:rPr sz="2400" dirty="0">
                <a:solidFill>
                  <a:srgbClr val="000000"/>
                </a:solidFill>
                <a:latin typeface="KEMFGQ+ArialMT"/>
                <a:cs typeface="KEMFGQ+ArialMT"/>
              </a:rPr>
              <a:t>a</a:t>
            </a:r>
            <a:r>
              <a:rPr sz="2400" spc="14" dirty="0">
                <a:solidFill>
                  <a:srgbClr val="000000"/>
                </a:solidFill>
                <a:latin typeface="KEMFGQ+ArialMT"/>
                <a:cs typeface="KEMFGQ+ArialMT"/>
              </a:rPr>
              <a:t> </a:t>
            </a:r>
            <a:r>
              <a:rPr sz="2400" dirty="0">
                <a:solidFill>
                  <a:srgbClr val="000000"/>
                </a:solidFill>
                <a:latin typeface="KEMFGQ+ArialMT"/>
                <a:cs typeface="KEMFGQ+ArialMT"/>
              </a:rPr>
              <a:t>single</a:t>
            </a:r>
            <a:r>
              <a:rPr sz="2400" spc="11" dirty="0">
                <a:solidFill>
                  <a:srgbClr val="000000"/>
                </a:solidFill>
                <a:latin typeface="KEMFGQ+ArialMT"/>
                <a:cs typeface="KEMFGQ+ArialMT"/>
              </a:rPr>
              <a:t> </a:t>
            </a:r>
            <a:r>
              <a:rPr sz="2400" dirty="0">
                <a:solidFill>
                  <a:srgbClr val="000000"/>
                </a:solidFill>
                <a:latin typeface="KEMFGQ+ArialMT"/>
                <a:cs typeface="KEMFGQ+ArialMT"/>
              </a:rPr>
              <a:t>model </a:t>
            </a:r>
            <a:r>
              <a:rPr sz="2400" spc="19" dirty="0">
                <a:solidFill>
                  <a:srgbClr val="000000"/>
                </a:solidFill>
                <a:latin typeface="KEMFGQ+ArialMT"/>
                <a:cs typeface="KEMFGQ+ArialMT"/>
              </a:rPr>
              <a:t>on</a:t>
            </a:r>
            <a:r>
              <a:rPr sz="2400" spc="-75" dirty="0">
                <a:solidFill>
                  <a:srgbClr val="000000"/>
                </a:solidFill>
                <a:latin typeface="KEMFGQ+ArialMT"/>
                <a:cs typeface="KEMFGQ+ArialMT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KEMFGQ+ArialMT"/>
                <a:cs typeface="KEMFGQ+ArialMT"/>
              </a:rPr>
              <a:t>the</a:t>
            </a:r>
            <a:r>
              <a:rPr sz="2400" dirty="0">
                <a:solidFill>
                  <a:srgbClr val="000000"/>
                </a:solidFill>
                <a:latin typeface="KEMFGQ+ArialMT"/>
                <a:cs typeface="KEMFGQ+ArialMT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KEMFGQ+ArialMT"/>
                <a:cs typeface="KEMFGQ+ArialMT"/>
              </a:rPr>
              <a:t>uni</a:t>
            </a:r>
            <a:r>
              <a:rPr sz="2400" spc="-604" dirty="0">
                <a:solidFill>
                  <a:srgbClr val="000000"/>
                </a:solidFill>
                <a:latin typeface="KEMFGQ+ArialMT"/>
                <a:cs typeface="KEMFGQ+ArialMT"/>
              </a:rPr>
              <a:t> </a:t>
            </a:r>
            <a:r>
              <a:rPr sz="2400" spc="-30" dirty="0">
                <a:solidFill>
                  <a:srgbClr val="000000"/>
                </a:solidFill>
                <a:latin typeface="KEMFGQ+ArialMT"/>
                <a:cs typeface="KEMFGQ+ArialMT"/>
              </a:rPr>
              <a:t>on</a:t>
            </a:r>
            <a:r>
              <a:rPr sz="2400" spc="44" dirty="0">
                <a:solidFill>
                  <a:srgbClr val="000000"/>
                </a:solidFill>
                <a:latin typeface="KEMFGQ+ArialMT"/>
                <a:cs typeface="KEMFGQ+ArialMT"/>
              </a:rPr>
              <a:t> </a:t>
            </a:r>
            <a:r>
              <a:rPr sz="2400" spc="19" dirty="0">
                <a:solidFill>
                  <a:srgbClr val="000000"/>
                </a:solidFill>
                <a:latin typeface="KEMFGQ+ArialMT"/>
                <a:cs typeface="KEMFGQ+ArialMT"/>
              </a:rPr>
              <a:t>of</a:t>
            </a:r>
            <a:r>
              <a:rPr sz="2400" dirty="0">
                <a:solidFill>
                  <a:srgbClr val="000000"/>
                </a:solidFill>
                <a:latin typeface="KEMFGQ+ArialMT"/>
                <a:cs typeface="KEMFGQ+ArialMT"/>
              </a:rPr>
              <a:t> all sampled</a:t>
            </a:r>
            <a:r>
              <a:rPr sz="2400" spc="16" dirty="0">
                <a:solidFill>
                  <a:srgbClr val="000000"/>
                </a:solidFill>
                <a:latin typeface="KEMFGQ+ArialMT"/>
                <a:cs typeface="KEMFGQ+ArialMT"/>
              </a:rPr>
              <a:t> </a:t>
            </a:r>
            <a:r>
              <a:rPr sz="2400" dirty="0">
                <a:solidFill>
                  <a:srgbClr val="000000"/>
                </a:solidFill>
                <a:latin typeface="KEMFGQ+ArialMT"/>
                <a:cs typeface="KEMFGQ+ArialMT"/>
              </a:rPr>
              <a:t>datasets?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4007" y="3105795"/>
            <a:ext cx="11032224" cy="425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Solution:</a:t>
            </a:r>
            <a:r>
              <a:rPr sz="2400" spc="2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given training</a:t>
            </a:r>
            <a:r>
              <a:rPr sz="2400" spc="5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WRHJUD+Calibri"/>
                <a:cs typeface="WRHJUD+Calibri"/>
              </a:rPr>
              <a:t>set</a:t>
            </a:r>
            <a:r>
              <a:rPr sz="2400" spc="5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50" dirty="0">
                <a:solidFill>
                  <a:srgbClr val="000000"/>
                </a:solidFill>
                <a:latin typeface="LGSGHP+Cambria Math"/>
                <a:cs typeface="LGSGHP+Cambria Math"/>
              </a:rPr>
              <a:t>ꢆ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,</a:t>
            </a:r>
            <a:r>
              <a:rPr sz="2400" spc="-1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26" dirty="0">
                <a:solidFill>
                  <a:srgbClr val="000000"/>
                </a:solidFill>
                <a:latin typeface="WRHJUD+Calibri"/>
                <a:cs typeface="WRHJUD+Calibri"/>
              </a:rPr>
              <a:t>use</a:t>
            </a:r>
            <a:r>
              <a:rPr sz="2400" spc="-3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spc="1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empirical</a:t>
            </a:r>
            <a:r>
              <a:rPr sz="2400" spc="3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distribution</a:t>
            </a:r>
            <a:r>
              <a:rPr sz="2400" spc="-1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75" dirty="0">
                <a:solidFill>
                  <a:srgbClr val="000000"/>
                </a:solidFill>
                <a:latin typeface="LGSGHP+Cambria Math"/>
                <a:cs typeface="LGSGHP+Cambria Math"/>
              </a:rPr>
              <a:t>ꢁ</a:t>
            </a:r>
            <a:r>
              <a:rPr sz="2650" baseline="-20416" dirty="0">
                <a:solidFill>
                  <a:srgbClr val="000000"/>
                </a:solidFill>
                <a:latin typeface="LGSGHP+Cambria Math"/>
                <a:cs typeface="LGSGHP+Cambria Math"/>
              </a:rPr>
              <a:t>ꢆ</a:t>
            </a:r>
            <a:r>
              <a:rPr sz="2650" spc="-912" baseline="-204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WRHJUD+Calibri"/>
                <a:cs typeface="WRHJUD+Calibri"/>
              </a:rPr>
              <a:t>as</a:t>
            </a:r>
            <a:r>
              <a:rPr sz="2400" spc="4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31" dirty="0">
                <a:solidFill>
                  <a:srgbClr val="000000"/>
                </a:solidFill>
                <a:latin typeface="WRHJUD+Calibri"/>
                <a:cs typeface="WRHJUD+Calibri"/>
              </a:rPr>
              <a:t>pr</a:t>
            </a:r>
            <a:r>
              <a:rPr sz="2400" spc="-48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WRHJUD+Calibri"/>
                <a:cs typeface="WRHJUD+Calibri"/>
              </a:rPr>
              <a:t>oxy</a:t>
            </a:r>
            <a:r>
              <a:rPr sz="2400" spc="39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WRHJUD+Calibri"/>
                <a:cs typeface="WRHJUD+Calibri"/>
              </a:rPr>
              <a:t>for</a:t>
            </a:r>
            <a:r>
              <a:rPr sz="2400" spc="-2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76" dirty="0">
                <a:solidFill>
                  <a:srgbClr val="000000"/>
                </a:solidFill>
                <a:latin typeface="LGSGHP+Cambria Math"/>
                <a:cs typeface="LGSGHP+Cambria Math"/>
              </a:rPr>
              <a:t>ꢁ</a:t>
            </a:r>
            <a:r>
              <a:rPr sz="2650" baseline="-20416" dirty="0">
                <a:solidFill>
                  <a:srgbClr val="000000"/>
                </a:solidFill>
                <a:latin typeface="LGSGHP+Cambria Math"/>
                <a:cs typeface="LGSGHP+Cambria Math"/>
              </a:rPr>
              <a:t>sample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208766" y="3153172"/>
            <a:ext cx="229424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7225" y="3553857"/>
            <a:ext cx="6053645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WRHJUD+Calibri"/>
                <a:cs typeface="WRHJUD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called</a:t>
            </a:r>
            <a:r>
              <a:rPr sz="2400" spc="2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C44E5"/>
                </a:solidFill>
                <a:latin typeface="WRHJUD+Calibri"/>
                <a:cs typeface="WRHJUD+Calibri"/>
              </a:rPr>
              <a:t>bootstrap aggregation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or </a:t>
            </a:r>
            <a:r>
              <a:rPr sz="2400" dirty="0">
                <a:solidFill>
                  <a:srgbClr val="0C44E5"/>
                </a:solidFill>
                <a:latin typeface="WRHJUD+Calibri"/>
                <a:cs typeface="WRHJUD+Calibri"/>
              </a:rPr>
              <a:t>bagging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07377" y="4062137"/>
            <a:ext cx="10956585" cy="1485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spc="11" dirty="0">
                <a:solidFill>
                  <a:srgbClr val="000000"/>
                </a:solidFill>
                <a:latin typeface="WRHJUD+Calibri"/>
                <a:cs typeface="WRHJUD+Calibri"/>
              </a:rPr>
              <a:t>Take</a:t>
            </a:r>
            <a:r>
              <a:rPr sz="2400" spc="-2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single</a:t>
            </a:r>
            <a:r>
              <a:rPr sz="2400" spc="-1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dataset</a:t>
            </a:r>
            <a:r>
              <a:rPr sz="2400" spc="2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588" dirty="0">
                <a:solidFill>
                  <a:srgbClr val="000000"/>
                </a:solidFill>
                <a:latin typeface="LGSGHP+Cambria Math"/>
                <a:cs typeface="LGSGHP+Cambria Math"/>
              </a:rPr>
              <a:t>ꢆ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with</a:t>
            </a:r>
            <a:r>
              <a:rPr sz="2400" spc="-1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578" dirty="0">
                <a:solidFill>
                  <a:srgbClr val="000000"/>
                </a:solidFill>
                <a:latin typeface="LGSGHP+Cambria Math"/>
                <a:cs typeface="LGSGHP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examples.</a:t>
            </a:r>
          </a:p>
          <a:p>
            <a:pPr marL="0" marR="0">
              <a:lnSpc>
                <a:spcPts val="2853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Generate</a:t>
            </a:r>
            <a:r>
              <a:rPr sz="2400" spc="2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580" dirty="0">
                <a:solidFill>
                  <a:srgbClr val="000000"/>
                </a:solidFill>
                <a:latin typeface="LGSGHP+Cambria Math"/>
                <a:cs typeface="LGSGHP+Cambria Math"/>
              </a:rPr>
              <a:t>ꢀ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new</a:t>
            </a:r>
            <a:r>
              <a:rPr sz="2400" spc="-17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datasets</a:t>
            </a:r>
            <a:r>
              <a:rPr sz="2400" spc="19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(“resamples”</a:t>
            </a:r>
            <a:r>
              <a:rPr sz="2400" spc="26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spc="-66" dirty="0">
                <a:solidFill>
                  <a:srgbClr val="000000"/>
                </a:solidFill>
                <a:latin typeface="QPRCPU+Calibri"/>
                <a:cs typeface="QPRCPU+Calibri"/>
              </a:rPr>
              <a:t>or</a:t>
            </a:r>
            <a:r>
              <a:rPr sz="2400" spc="108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“bootstrap samples”),</a:t>
            </a:r>
            <a:r>
              <a:rPr sz="2400" spc="-14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each</a:t>
            </a:r>
            <a:r>
              <a:rPr sz="2400" spc="-12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QPRCPU+Calibri"/>
                <a:cs typeface="QPRCPU+Calibri"/>
              </a:rPr>
              <a:t>by</a:t>
            </a:r>
            <a:r>
              <a:rPr sz="2400" spc="-65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sampling</a:t>
            </a:r>
            <a:r>
              <a:rPr sz="2400" spc="126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ꢇ</a:t>
            </a:r>
          </a:p>
          <a:p>
            <a:pPr marL="343217" marR="0">
              <a:lnSpc>
                <a:spcPts val="2404"/>
              </a:lnSpc>
              <a:spcBef>
                <a:spcPts val="41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training</a:t>
            </a:r>
            <a:r>
              <a:rPr sz="2400" spc="-2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examples</a:t>
            </a:r>
            <a:r>
              <a:rPr sz="2400" spc="-5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from</a:t>
            </a:r>
            <a:r>
              <a:rPr sz="2400" spc="2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49" dirty="0">
                <a:solidFill>
                  <a:srgbClr val="000000"/>
                </a:solidFill>
                <a:latin typeface="LGSGHP+Cambria Math"/>
                <a:cs typeface="LGSGHP+Cambria Math"/>
              </a:rPr>
              <a:t>ꢆ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with replacement.</a:t>
            </a:r>
          </a:p>
          <a:p>
            <a:pPr marL="0" marR="0">
              <a:lnSpc>
                <a:spcPts val="2666"/>
              </a:lnSpc>
              <a:spcBef>
                <a:spcPts val="94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Average</a:t>
            </a:r>
            <a:r>
              <a:rPr sz="2400" spc="-2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 predictions</a:t>
            </a:r>
            <a:r>
              <a:rPr sz="2400" spc="-5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of models</a:t>
            </a:r>
            <a:r>
              <a:rPr sz="2400" spc="-6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trained on</a:t>
            </a:r>
            <a:r>
              <a:rPr sz="2400" spc="-1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WRHJUD+Calibri"/>
                <a:cs typeface="WRHJUD+Calibri"/>
              </a:rPr>
              <a:t>each</a:t>
            </a:r>
            <a:r>
              <a:rPr sz="2400" spc="1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of these</a:t>
            </a:r>
            <a:r>
              <a:rPr sz="2400" spc="-1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datasets.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4007" y="5700087"/>
            <a:ext cx="8778241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spc="-3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bootstrap </a:t>
            </a:r>
            <a:r>
              <a:rPr sz="2400" spc="-25" dirty="0">
                <a:solidFill>
                  <a:srgbClr val="000000"/>
                </a:solidFill>
                <a:latin typeface="WRHJUD+Calibri"/>
                <a:cs typeface="WRHJUD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WRHJUD+Calibri"/>
                <a:cs typeface="WRHJUD+Calibri"/>
              </a:rPr>
              <a:t>one</a:t>
            </a:r>
            <a:r>
              <a:rPr sz="2400" spc="1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of </a:t>
            </a:r>
            <a:r>
              <a:rPr sz="2400" spc="15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most important ideas</a:t>
            </a:r>
            <a:r>
              <a:rPr sz="2400" spc="2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WRHJUD+Calibri"/>
                <a:cs typeface="WRHJUD+Calibri"/>
              </a:rPr>
              <a:t>in</a:t>
            </a:r>
            <a:r>
              <a:rPr sz="2400" spc="2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WRHJUD+Calibri"/>
                <a:cs typeface="WRHJUD+Calibri"/>
              </a:rPr>
              <a:t>all</a:t>
            </a:r>
            <a:r>
              <a:rPr sz="2400" spc="2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67" dirty="0">
                <a:solidFill>
                  <a:srgbClr val="000000"/>
                </a:solidFill>
                <a:latin typeface="WRHJUD+Calibri"/>
                <a:cs typeface="WRHJUD+Calibri"/>
              </a:rPr>
              <a:t>of</a:t>
            </a:r>
            <a:r>
              <a:rPr sz="2400" spc="6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statistics!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07377" y="6211930"/>
            <a:ext cx="6281291" cy="423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Intuition:</a:t>
            </a:r>
            <a:r>
              <a:rPr sz="2400" spc="2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34" dirty="0">
                <a:solidFill>
                  <a:srgbClr val="000000"/>
                </a:solidFill>
                <a:latin typeface="WRHJUD+Calibri"/>
                <a:cs typeface="WRHJUD+Calibri"/>
              </a:rPr>
              <a:t>As</a:t>
            </a:r>
            <a:r>
              <a:rPr sz="2400" spc="709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ꢆ</a:t>
            </a:r>
            <a:r>
              <a:rPr sz="2400" spc="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36" dirty="0">
                <a:solidFill>
                  <a:srgbClr val="000000"/>
                </a:solidFill>
                <a:latin typeface="LGSGHP+Cambria Math"/>
                <a:cs typeface="LGSGHP+Cambria Math"/>
              </a:rPr>
              <a:t>→∞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,</a:t>
            </a:r>
            <a:r>
              <a:rPr sz="2400" spc="-1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we</a:t>
            </a:r>
            <a:r>
              <a:rPr sz="2400" spc="-1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WRHJUD+Calibri"/>
                <a:cs typeface="WRHJUD+Calibri"/>
              </a:rPr>
              <a:t>have</a:t>
            </a:r>
            <a:r>
              <a:rPr sz="2400" spc="51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ꢁ</a:t>
            </a:r>
            <a:r>
              <a:rPr sz="2400" spc="5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72" dirty="0">
                <a:solidFill>
                  <a:srgbClr val="000000"/>
                </a:solidFill>
                <a:latin typeface="LGSGHP+Cambria Math"/>
                <a:cs typeface="LGSGHP+Cambria Math"/>
              </a:rPr>
              <a:t>→ꢁ</a:t>
            </a:r>
          </a:p>
          <a:p>
            <a:pPr marL="4502467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650" baseline="-20416" dirty="0">
                <a:solidFill>
                  <a:srgbClr val="000000"/>
                </a:solidFill>
                <a:latin typeface="LGSGHP+Cambria Math"/>
                <a:cs typeface="LGSGHP+Cambria Math"/>
              </a:rPr>
              <a:t>ꢆ</a:t>
            </a:r>
            <a:r>
              <a:rPr sz="2650" spc="3159" baseline="-204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650" baseline="-20416" dirty="0">
                <a:solidFill>
                  <a:srgbClr val="000000"/>
                </a:solidFill>
                <a:latin typeface="LGSGHP+Cambria Math"/>
                <a:cs typeface="LGSGHP+Cambria Math"/>
              </a:rPr>
              <a:t>sample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48918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URFBMD+Calibri-Bold"/>
                <a:cs typeface="URFBMD+Calibri-Bold"/>
              </a:rPr>
              <a:t>Bagging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55390" y="5677467"/>
            <a:ext cx="3817832" cy="35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In</a:t>
            </a:r>
            <a:r>
              <a:rPr sz="2400" spc="-1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this</a:t>
            </a:r>
            <a:r>
              <a:rPr sz="2400" spc="1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WRHJUD+Calibri"/>
                <a:cs typeface="WRHJUD+Calibri"/>
              </a:rPr>
              <a:t>example</a:t>
            </a:r>
            <a:r>
              <a:rPr sz="2400" spc="6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457" dirty="0">
                <a:solidFill>
                  <a:srgbClr val="000000"/>
                </a:solidFill>
                <a:latin typeface="LGSGHP+Cambria Math"/>
                <a:cs typeface="LGSGHP+Cambria Math"/>
              </a:rPr>
              <a:t>ꢇ=7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, </a:t>
            </a:r>
            <a:r>
              <a:rPr sz="2400" spc="686" dirty="0">
                <a:solidFill>
                  <a:srgbClr val="000000"/>
                </a:solidFill>
                <a:latin typeface="LGSGHP+Cambria Math"/>
                <a:cs typeface="LGSGHP+Cambria Math"/>
              </a:rPr>
              <a:t>ꢀ=3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48918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URFBMD+Calibri-Bold"/>
                <a:cs typeface="URFBMD+Calibri-Bold"/>
              </a:rPr>
              <a:t>Bagging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01821" y="5055231"/>
            <a:ext cx="3744849" cy="35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Predicting</a:t>
            </a:r>
            <a:r>
              <a:rPr sz="2400" spc="-2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on</a:t>
            </a:r>
            <a:r>
              <a:rPr sz="2400" spc="-1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query</a:t>
            </a:r>
            <a:r>
              <a:rPr sz="2400" spc="-5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point</a:t>
            </a:r>
            <a:r>
              <a:rPr sz="2400" spc="4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6231884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3" dirty="0">
                <a:solidFill>
                  <a:srgbClr val="001F5F"/>
                </a:solidFill>
                <a:latin typeface="URFBMD+Calibri-Bold"/>
                <a:cs typeface="URFBMD+Calibri-Bold"/>
              </a:rPr>
              <a:t>Bagging:</a:t>
            </a:r>
            <a:r>
              <a:rPr sz="3250" spc="-1248" dirty="0">
                <a:solidFill>
                  <a:srgbClr val="001F5F"/>
                </a:solidFill>
                <a:latin typeface="URFBMD+Calibri-Bold"/>
                <a:cs typeface="URFBMD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URFBMD+Calibri-Bold"/>
                <a:cs typeface="URFBMD+Calibri-Bold"/>
              </a:rPr>
              <a:t>Effect</a:t>
            </a:r>
            <a:r>
              <a:rPr sz="3250" spc="-1268" dirty="0">
                <a:solidFill>
                  <a:srgbClr val="001F5F"/>
                </a:solidFill>
                <a:latin typeface="URFBMD+Calibri-Bold"/>
                <a:cs typeface="URFBMD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URFBMD+Calibri-Bold"/>
                <a:cs typeface="URFBMD+Calibri-Bold"/>
              </a:rPr>
              <a:t>on</a:t>
            </a:r>
            <a:r>
              <a:rPr sz="3250" spc="-1200" dirty="0">
                <a:solidFill>
                  <a:srgbClr val="001F5F"/>
                </a:solidFill>
                <a:latin typeface="URFBMD+Calibri-Bold"/>
                <a:cs typeface="URFBMD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URFBMD+Calibri-Bold"/>
                <a:cs typeface="URFBMD+Calibri-Bold"/>
              </a:rPr>
              <a:t>Hypothesis</a:t>
            </a:r>
            <a:r>
              <a:rPr sz="3250" spc="-1194" dirty="0">
                <a:solidFill>
                  <a:srgbClr val="001F5F"/>
                </a:solidFill>
                <a:latin typeface="URFBMD+Calibri-Bold"/>
                <a:cs typeface="URFBMD+Calibri-Bold"/>
              </a:rPr>
              <a:t> </a:t>
            </a:r>
            <a:r>
              <a:rPr sz="3250" spc="-22" dirty="0">
                <a:solidFill>
                  <a:srgbClr val="001F5F"/>
                </a:solidFill>
                <a:latin typeface="URFBMD+Calibri-Bold"/>
                <a:cs typeface="URFBMD+Calibri-Bold"/>
              </a:rPr>
              <a:t>Space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71019"/>
            <a:ext cx="8735474" cy="1125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WRHJUD+Calibri"/>
                <a:cs typeface="WRHJUD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saw</a:t>
            </a:r>
            <a:r>
              <a:rPr sz="2400" spc="-1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WRHJUD+Calibri"/>
                <a:cs typeface="WRHJUD+Calibri"/>
              </a:rPr>
              <a:t>that</a:t>
            </a:r>
            <a:r>
              <a:rPr sz="2400" spc="2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WRHJUD+Calibri"/>
                <a:cs typeface="WRHJUD+Calibri"/>
              </a:rPr>
              <a:t>in</a:t>
            </a:r>
            <a:r>
              <a:rPr sz="2400" spc="-5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WRHJUD+Calibri"/>
                <a:cs typeface="WRHJUD+Calibri"/>
              </a:rPr>
              <a:t>case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 of squared error,</a:t>
            </a:r>
            <a:r>
              <a:rPr sz="2400" spc="-1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bagging</a:t>
            </a:r>
            <a:r>
              <a:rPr sz="2400" spc="5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WRHJUD+Calibri"/>
                <a:cs typeface="WRHJUD+Calibri"/>
              </a:rPr>
              <a:t>does</a:t>
            </a:r>
            <a:r>
              <a:rPr sz="2400" spc="3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not</a:t>
            </a:r>
            <a:r>
              <a:rPr sz="2400" spc="-8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affect bias.</a:t>
            </a:r>
          </a:p>
          <a:p>
            <a:pPr marL="0" marR="0">
              <a:lnSpc>
                <a:spcPts val="2684"/>
              </a:lnSpc>
              <a:spcBef>
                <a:spcPts val="2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But</a:t>
            </a:r>
            <a:r>
              <a:rPr sz="2400" spc="1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WRHJUD+Calibri"/>
                <a:cs typeface="WRHJUD+Calibri"/>
              </a:rPr>
              <a:t>it</a:t>
            </a:r>
            <a:r>
              <a:rPr sz="2400" spc="2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can change</a:t>
            </a:r>
            <a:r>
              <a:rPr sz="2400" spc="-2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 hypothesis</a:t>
            </a:r>
            <a:r>
              <a:rPr sz="2400" spc="-5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WRHJUD+Calibri"/>
                <a:cs typeface="WRHJUD+Calibri"/>
              </a:rPr>
              <a:t>space</a:t>
            </a:r>
            <a:r>
              <a:rPr sz="2400" spc="-2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/</a:t>
            </a:r>
            <a:r>
              <a:rPr sz="2400" spc="-4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inductive</a:t>
            </a:r>
            <a:r>
              <a:rPr sz="2400" spc="-1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bias.</a:t>
            </a:r>
          </a:p>
          <a:p>
            <a:pPr marL="0" marR="0">
              <a:lnSpc>
                <a:spcPts val="2684"/>
              </a:lnSpc>
              <a:spcBef>
                <a:spcPts val="15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Illustrative</a:t>
            </a:r>
            <a:r>
              <a:rPr sz="2400" spc="-1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example: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0715" y="2171996"/>
            <a:ext cx="5287445" cy="1170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spc="37" dirty="0">
                <a:solidFill>
                  <a:srgbClr val="000000"/>
                </a:solidFill>
                <a:latin typeface="LGSGHP+Cambria Math"/>
                <a:cs typeface="LGSGHP+Cambria Math"/>
              </a:rPr>
              <a:t>ꢈ~ꢉ</a:t>
            </a:r>
            <a:r>
              <a:rPr sz="2400" spc="-4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−3,</a:t>
            </a:r>
            <a:r>
              <a:rPr sz="2400" spc="-1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3</a:t>
            </a:r>
            <a:r>
              <a:rPr sz="2400" spc="-4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,</a:t>
            </a:r>
            <a:r>
              <a:rPr sz="2400" spc="-10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2" dirty="0">
                <a:solidFill>
                  <a:srgbClr val="000000"/>
                </a:solidFill>
                <a:latin typeface="LGSGHP+Cambria Math"/>
                <a:cs typeface="LGSGHP+Cambria Math"/>
              </a:rPr>
              <a:t>ꢊ~ꢋ</a:t>
            </a:r>
            <a:r>
              <a:rPr sz="2400" spc="-36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0,</a:t>
            </a:r>
            <a:r>
              <a:rPr sz="2400" dirty="0">
                <a:solidFill>
                  <a:srgbClr val="000000"/>
                </a:solidFill>
                <a:latin typeface="CPGAPM+Cambria Math"/>
                <a:cs typeface="CPGAPM+Cambria Math"/>
              </a:rPr>
              <a:t>1</a:t>
            </a:r>
          </a:p>
          <a:p>
            <a:pPr marL="0" marR="0">
              <a:lnSpc>
                <a:spcPts val="2666"/>
              </a:lnSpc>
              <a:spcBef>
                <a:spcPts val="336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spc="763" dirty="0">
                <a:solidFill>
                  <a:srgbClr val="000000"/>
                </a:solidFill>
                <a:latin typeface="LGSGHP+Cambria Math"/>
                <a:cs typeface="LGSGHP+Cambria Math"/>
              </a:rPr>
              <a:t>ℋ=</a:t>
            </a:r>
            <a:r>
              <a:rPr sz="2400" spc="-6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9" dirty="0">
                <a:solidFill>
                  <a:srgbClr val="000000"/>
                </a:solidFill>
                <a:latin typeface="LGSGHP+Cambria Math"/>
                <a:cs typeface="LGSGHP+Cambria Math"/>
              </a:rPr>
              <a:t>ꢌꢈ|ꢌ</a:t>
            </a:r>
            <a:r>
              <a:rPr sz="24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∈</a:t>
            </a:r>
            <a:r>
              <a:rPr sz="2400" spc="16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−</a:t>
            </a:r>
            <a:r>
              <a:rPr sz="2400" dirty="0">
                <a:solidFill>
                  <a:srgbClr val="000000"/>
                </a:solidFill>
                <a:latin typeface="CPGAPM+Cambria Math"/>
                <a:cs typeface="CPGAPM+Cambria Math"/>
              </a:rPr>
              <a:t>1</a:t>
            </a:r>
            <a:r>
              <a:rPr sz="2400" spc="395" dirty="0">
                <a:solidFill>
                  <a:srgbClr val="000000"/>
                </a:solidFill>
                <a:latin typeface="LGSGHP+Cambria Math"/>
                <a:cs typeface="LGSGHP+Cambria Math"/>
              </a:rPr>
              <a:t>,</a:t>
            </a:r>
            <a:r>
              <a:rPr sz="2400" dirty="0">
                <a:solidFill>
                  <a:srgbClr val="000000"/>
                </a:solidFill>
                <a:latin typeface="CPGAPM+Cambria Math"/>
                <a:cs typeface="CPGAPM+Cambria Math"/>
              </a:rPr>
              <a:t>1</a:t>
            </a:r>
          </a:p>
          <a:p>
            <a:pPr marL="0" marR="0">
              <a:lnSpc>
                <a:spcPts val="2669"/>
              </a:lnSpc>
              <a:spcBef>
                <a:spcPts val="382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Sampled datasets</a:t>
            </a:r>
            <a:r>
              <a:rPr sz="2400" spc="2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&amp; fitted hypotheses: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0715" y="4413546"/>
            <a:ext cx="6788220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Ensembled hypotheses</a:t>
            </a:r>
            <a:r>
              <a:rPr sz="2400" spc="-4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WRHJUD+Calibri"/>
                <a:cs typeface="WRHJUD+Calibri"/>
              </a:rPr>
              <a:t>(mean</a:t>
            </a:r>
            <a:r>
              <a:rPr sz="2400" spc="-1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over</a:t>
            </a:r>
            <a:r>
              <a:rPr sz="2400" spc="6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WRHJUD+Calibri"/>
                <a:cs typeface="WRHJUD+Calibri"/>
              </a:rPr>
              <a:t>1000</a:t>
            </a:r>
            <a:r>
              <a:rPr sz="2400" spc="-1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samples):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59480" y="5029592"/>
            <a:ext cx="5326791" cy="3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5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spc="20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spc="-3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ensembled hypothesis</a:t>
            </a:r>
            <a:r>
              <a:rPr sz="2400" spc="19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WRHJUD+Calibri"/>
                <a:cs typeface="WRHJUD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WRHJUD+Calibri"/>
                <a:cs typeface="WRHJUD+Calibri"/>
              </a:rPr>
              <a:t>not</a:t>
            </a:r>
            <a:r>
              <a:rPr sz="2400" spc="2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WRHJUD+Calibri"/>
                <a:cs typeface="WRHJUD+Calibri"/>
              </a:rPr>
              <a:t>in</a:t>
            </a:r>
            <a:r>
              <a:rPr sz="2400" spc="-5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02634" y="5437902"/>
            <a:ext cx="3363055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original</a:t>
            </a:r>
            <a:r>
              <a:rPr sz="2400" spc="-4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hypothesis</a:t>
            </a:r>
            <a:r>
              <a:rPr sz="2400" spc="-5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WRHJUD+Calibri"/>
                <a:cs typeface="WRHJUD+Calibri"/>
              </a:rPr>
              <a:t>space!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4007" y="6088693"/>
            <a:ext cx="7901561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effect </a:t>
            </a:r>
            <a:r>
              <a:rPr sz="2400" spc="-25" dirty="0">
                <a:solidFill>
                  <a:srgbClr val="000000"/>
                </a:solidFill>
                <a:latin typeface="QPRCPU+Calibri"/>
                <a:cs typeface="QPRCPU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QPRCPU+Calibri"/>
                <a:cs typeface="QPRCPU+Calibri"/>
              </a:rPr>
              <a:t>most</a:t>
            </a:r>
            <a:r>
              <a:rPr sz="2400" spc="25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pronounced when</a:t>
            </a:r>
            <a:r>
              <a:rPr sz="2400" spc="-10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combining</a:t>
            </a:r>
            <a:r>
              <a:rPr sz="2400" spc="-20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classifiers…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548146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URFBMD+Calibri-Bold"/>
                <a:cs typeface="URFBMD+Calibri-Bold"/>
              </a:rPr>
              <a:t>Bagging</a:t>
            </a:r>
            <a:r>
              <a:rPr sz="3250" spc="-1230" dirty="0">
                <a:solidFill>
                  <a:srgbClr val="001F5F"/>
                </a:solidFill>
                <a:latin typeface="URFBMD+Calibri-Bold"/>
                <a:cs typeface="URFBMD+Calibri-Bold"/>
              </a:rPr>
              <a:t> </a:t>
            </a:r>
            <a:r>
              <a:rPr sz="3250" spc="-34" dirty="0">
                <a:solidFill>
                  <a:srgbClr val="001F5F"/>
                </a:solidFill>
                <a:latin typeface="URFBMD+Calibri-Bold"/>
                <a:cs typeface="URFBMD+Calibri-Bold"/>
              </a:rPr>
              <a:t>for</a:t>
            </a:r>
            <a:r>
              <a:rPr sz="3250" spc="-1197" dirty="0">
                <a:solidFill>
                  <a:srgbClr val="001F5F"/>
                </a:solidFill>
                <a:latin typeface="URFBMD+Calibri-Bold"/>
                <a:cs typeface="URFBMD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URFBMD+Calibri-Bold"/>
                <a:cs typeface="URFBMD+Calibri-Bold"/>
              </a:rPr>
              <a:t>Binary</a:t>
            </a:r>
            <a:r>
              <a:rPr sz="3250" spc="-1213" dirty="0">
                <a:solidFill>
                  <a:srgbClr val="001F5F"/>
                </a:solidFill>
                <a:latin typeface="URFBMD+Calibri-Bold"/>
                <a:cs typeface="URFBMD+Calibri-Bold"/>
              </a:rPr>
              <a:t> </a:t>
            </a:r>
            <a:r>
              <a:rPr sz="3250" spc="-17" dirty="0">
                <a:solidFill>
                  <a:srgbClr val="001F5F"/>
                </a:solidFill>
                <a:latin typeface="URFBMD+Calibri-Bold"/>
                <a:cs typeface="URFBMD+Calibri-Bold"/>
              </a:rPr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890534"/>
            <a:ext cx="11029048" cy="4252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If </a:t>
            </a:r>
            <a:r>
              <a:rPr sz="2400" spc="10" dirty="0">
                <a:solidFill>
                  <a:srgbClr val="000000"/>
                </a:solidFill>
                <a:latin typeface="WRHJUD+Calibri"/>
                <a:cs typeface="WRHJUD+Calibri"/>
              </a:rPr>
              <a:t>our</a:t>
            </a:r>
            <a:r>
              <a:rPr sz="2400" spc="-39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classifiers</a:t>
            </a:r>
            <a:r>
              <a:rPr sz="2400" spc="1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output</a:t>
            </a:r>
            <a:r>
              <a:rPr sz="2400" spc="-6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real-valued</a:t>
            </a:r>
            <a:r>
              <a:rPr sz="2400" spc="-1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probabilities,</a:t>
            </a:r>
            <a:r>
              <a:rPr sz="2400" spc="5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55" dirty="0">
                <a:solidFill>
                  <a:srgbClr val="000000"/>
                </a:solidFill>
                <a:latin typeface="LGSGHP+Cambria Math"/>
                <a:cs typeface="LGSGHP+Cambria Math"/>
              </a:rPr>
              <a:t>ꢍ</a:t>
            </a:r>
            <a:r>
              <a:rPr sz="2650" baseline="-20416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  <a:r>
              <a:rPr sz="2650" spc="-764" baseline="-204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∈</a:t>
            </a:r>
            <a:r>
              <a:rPr sz="2400" spc="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0,</a:t>
            </a:r>
            <a:r>
              <a:rPr sz="2400" spc="837" dirty="0">
                <a:solidFill>
                  <a:srgbClr val="000000"/>
                </a:solidFill>
                <a:latin typeface="CPGAPM+Cambria Math"/>
                <a:cs typeface="CPGAPM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,</a:t>
            </a:r>
            <a:r>
              <a:rPr sz="2400" spc="-1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WRHJUD+Calibri"/>
                <a:cs typeface="WRHJUD+Calibri"/>
              </a:rPr>
              <a:t>then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 we</a:t>
            </a:r>
            <a:r>
              <a:rPr sz="2400" spc="-1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can average</a:t>
            </a:r>
            <a:r>
              <a:rPr sz="2400" spc="-11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225" y="1300004"/>
            <a:ext cx="4143389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predictions</a:t>
            </a:r>
            <a:r>
              <a:rPr sz="2400" spc="1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before</a:t>
            </a:r>
            <a:r>
              <a:rPr sz="2400" spc="-1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thresholding: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59980" y="1601420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ꢄ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30185" y="1756278"/>
            <a:ext cx="300046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ꢍ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70519" y="1885900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38170" y="1987793"/>
            <a:ext cx="5891820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ꢂ</a:t>
            </a:r>
            <a:r>
              <a:rPr sz="2400" spc="53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LGSGHP+Cambria Math"/>
                <a:cs typeface="LGSGHP+Cambria Math"/>
              </a:rPr>
              <a:t>=ꢎ</a:t>
            </a:r>
            <a:r>
              <a:rPr sz="2400" spc="-10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ꢍ</a:t>
            </a:r>
            <a:r>
              <a:rPr sz="2400" spc="53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&gt;</a:t>
            </a:r>
            <a:r>
              <a:rPr sz="2400" spc="-7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0.5</a:t>
            </a:r>
            <a:r>
              <a:rPr sz="2400" spc="30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LGSGHP+Cambria Math"/>
                <a:cs typeface="LGSGHP+Cambria Math"/>
              </a:rPr>
              <a:t>=ꢎ</a:t>
            </a:r>
            <a:r>
              <a:rPr sz="2400" spc="-2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෍</a:t>
            </a:r>
            <a:r>
              <a:rPr sz="2400" spc="16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&gt;</a:t>
            </a:r>
            <a:r>
              <a:rPr sz="2400" spc="-7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0.5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98825" y="2116659"/>
            <a:ext cx="917528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bagged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884801" y="2116659"/>
            <a:ext cx="917090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bagged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819009" y="2191882"/>
            <a:ext cx="408204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ꢀ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4007" y="2443430"/>
            <a:ext cx="11301769" cy="703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063803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61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  <a:r>
              <a:rPr sz="1750" dirty="0">
                <a:solidFill>
                  <a:srgbClr val="000000"/>
                </a:solidFill>
                <a:latin typeface="CPGAPM+Cambria Math"/>
                <a:cs typeface="CPGAPM+Cambria Math"/>
              </a:rPr>
              <a:t>=</a:t>
            </a: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1</a:t>
            </a:r>
          </a:p>
          <a:p>
            <a:pPr marL="0" marR="0">
              <a:lnSpc>
                <a:spcPts val="2684"/>
              </a:lnSpc>
              <a:spcBef>
                <a:spcPts val="46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If </a:t>
            </a:r>
            <a:r>
              <a:rPr sz="2400" spc="10" dirty="0">
                <a:solidFill>
                  <a:srgbClr val="000000"/>
                </a:solidFill>
                <a:latin typeface="WRHJUD+Calibri"/>
                <a:cs typeface="WRHJUD+Calibri"/>
              </a:rPr>
              <a:t>our</a:t>
            </a:r>
            <a:r>
              <a:rPr sz="2400" spc="-39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classifiers</a:t>
            </a:r>
            <a:r>
              <a:rPr sz="2400" spc="1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output</a:t>
            </a:r>
            <a:r>
              <a:rPr sz="2400" spc="-6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binary</a:t>
            </a:r>
            <a:r>
              <a:rPr sz="2400" spc="1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decisions,</a:t>
            </a:r>
            <a:r>
              <a:rPr sz="2400" spc="8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76" dirty="0">
                <a:solidFill>
                  <a:srgbClr val="000000"/>
                </a:solidFill>
                <a:latin typeface="LGSGHP+Cambria Math"/>
                <a:cs typeface="LGSGHP+Cambria Math"/>
              </a:rPr>
              <a:t>ꢂ</a:t>
            </a:r>
            <a:r>
              <a:rPr sz="2650" baseline="-20375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  <a:r>
              <a:rPr sz="2650" spc="-763" baseline="-203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∈</a:t>
            </a:r>
            <a:r>
              <a:rPr sz="2400" spc="16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0,</a:t>
            </a:r>
            <a:r>
              <a:rPr sz="2400" dirty="0">
                <a:solidFill>
                  <a:srgbClr val="000000"/>
                </a:solidFill>
                <a:latin typeface="CPGAPM+Cambria Math"/>
                <a:cs typeface="CPGAPM+Cambria Math"/>
              </a:rPr>
              <a:t>1</a:t>
            </a:r>
            <a:r>
              <a:rPr sz="2400" spc="-5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we</a:t>
            </a:r>
            <a:r>
              <a:rPr sz="2400" spc="-19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can still</a:t>
            </a:r>
            <a:r>
              <a:rPr sz="2400" spc="-42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average</a:t>
            </a:r>
            <a:r>
              <a:rPr sz="2400" spc="-2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predictions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7225" y="3131582"/>
            <a:ext cx="2690238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before</a:t>
            </a:r>
            <a:r>
              <a:rPr sz="2400" spc="-18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thresholding: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812155" y="3391231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ꢄ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172200" y="3546089"/>
            <a:ext cx="323312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ꢂ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32855" y="3675584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010025" y="3777477"/>
            <a:ext cx="3371887" cy="38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ꢂ</a:t>
            </a:r>
            <a:r>
              <a:rPr sz="2400" spc="53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LGSGHP+Cambria Math"/>
                <a:cs typeface="LGSGHP+Cambria Math"/>
              </a:rPr>
              <a:t>=ꢎ</a:t>
            </a:r>
            <a:r>
              <a:rPr sz="2400" spc="-2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෍</a:t>
            </a:r>
            <a:r>
              <a:rPr sz="2400" spc="16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&gt;</a:t>
            </a:r>
            <a:r>
              <a:rPr sz="2400" spc="-7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0.5</a:t>
            </a:r>
          </a:p>
          <a:p>
            <a:pPr marL="160654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bagged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171184" y="3981566"/>
            <a:ext cx="408204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GSGHP+Cambria Math"/>
                <a:cs typeface="LGSGHP+Cambria Math"/>
              </a:rPr>
              <a:t>ꢀ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729859" y="4233114"/>
            <a:ext cx="52699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58" dirty="0">
                <a:solidFill>
                  <a:srgbClr val="000000"/>
                </a:solidFill>
                <a:latin typeface="LGSGHP+Cambria Math"/>
                <a:cs typeface="LGSGHP+Cambria Math"/>
              </a:rPr>
              <a:t>ꢃ</a:t>
            </a:r>
            <a:r>
              <a:rPr sz="1750" dirty="0">
                <a:solidFill>
                  <a:srgbClr val="000000"/>
                </a:solidFill>
                <a:latin typeface="CPGAPM+Cambria Math"/>
                <a:cs typeface="CPGAPM+Cambria Math"/>
              </a:rPr>
              <a:t>=</a:t>
            </a:r>
            <a:r>
              <a:rPr sz="1750" dirty="0">
                <a:solidFill>
                  <a:srgbClr val="000000"/>
                </a:solidFill>
                <a:latin typeface="LGSGHP+Cambria Math"/>
                <a:cs typeface="LGSGHP+Cambria Math"/>
              </a:rPr>
              <a:t>1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14007" y="4553214"/>
            <a:ext cx="9272764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NWVMN+Arial"/>
                <a:cs typeface="UNWVMN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A</a:t>
            </a:r>
            <a:r>
              <a:rPr sz="2400" spc="2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bagged classifier</a:t>
            </a:r>
            <a:r>
              <a:rPr sz="2400" spc="-2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can </a:t>
            </a:r>
            <a:r>
              <a:rPr sz="2400" spc="12" dirty="0">
                <a:solidFill>
                  <a:srgbClr val="000000"/>
                </a:solidFill>
                <a:latin typeface="WRHJUD+Calibri"/>
                <a:cs typeface="WRHJUD+Calibri"/>
              </a:rPr>
              <a:t>be</a:t>
            </a:r>
            <a:r>
              <a:rPr sz="2400" spc="-24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stronger</a:t>
            </a:r>
            <a:r>
              <a:rPr sz="2400" spc="-30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than </a:t>
            </a:r>
            <a:r>
              <a:rPr sz="2400" spc="-22" dirty="0">
                <a:solidFill>
                  <a:srgbClr val="000000"/>
                </a:solidFill>
                <a:latin typeface="WRHJUD+Calibri"/>
                <a:cs typeface="WRHJUD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average</a:t>
            </a:r>
            <a:r>
              <a:rPr sz="2400" spc="-16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underlying</a:t>
            </a:r>
            <a:r>
              <a:rPr sz="2400" spc="-25" dirty="0">
                <a:solidFill>
                  <a:srgbClr val="000000"/>
                </a:solidFill>
                <a:latin typeface="WRHJUD+Calibri"/>
                <a:cs typeface="WRHJU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model.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29297" y="5036577"/>
            <a:ext cx="10712017" cy="410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5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ANKHGI+Wingdings"/>
                <a:cs typeface="ANKHGI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E.g.,</a:t>
            </a:r>
            <a:r>
              <a:rPr sz="2400" spc="-27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individual</a:t>
            </a:r>
            <a:r>
              <a:rPr sz="2400" spc="30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accuracy</a:t>
            </a:r>
            <a:r>
              <a:rPr sz="2400" spc="-50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on</a:t>
            </a:r>
            <a:r>
              <a:rPr sz="2400" spc="-14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“Who</a:t>
            </a:r>
            <a:r>
              <a:rPr sz="2400" spc="-19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Wants</a:t>
            </a:r>
            <a:r>
              <a:rPr sz="2400" spc="21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spc="19" dirty="0">
                <a:solidFill>
                  <a:srgbClr val="000000"/>
                </a:solidFill>
                <a:latin typeface="QPRCPU+Calibri"/>
                <a:cs typeface="QPRCPU+Calibri"/>
              </a:rPr>
              <a:t>to</a:t>
            </a:r>
            <a:r>
              <a:rPr sz="2400" spc="-30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spc="-61" dirty="0">
                <a:solidFill>
                  <a:srgbClr val="000000"/>
                </a:solidFill>
                <a:latin typeface="QPRCPU+Calibri"/>
                <a:cs typeface="QPRCPU+Calibri"/>
              </a:rPr>
              <a:t>be</a:t>
            </a:r>
            <a:r>
              <a:rPr sz="2400" spc="121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Millionaire”</a:t>
            </a:r>
            <a:r>
              <a:rPr sz="2400" spc="31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QPRCPU+Calibri"/>
                <a:cs typeface="QPRCPU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only</a:t>
            </a:r>
            <a:r>
              <a:rPr sz="2400" spc="-51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spc="77" dirty="0">
                <a:solidFill>
                  <a:srgbClr val="000000"/>
                </a:solidFill>
                <a:latin typeface="QPRCPU+Calibri"/>
                <a:cs typeface="QPRCPU+Calibri"/>
              </a:rPr>
              <a:t>so</a:t>
            </a:r>
            <a:r>
              <a:rPr sz="2400" dirty="0">
                <a:solidFill>
                  <a:srgbClr val="000000"/>
                </a:solidFill>
                <a:latin typeface="WRHJUD+Calibri"/>
                <a:cs typeface="WRHJUD+Calibri"/>
              </a:rPr>
              <a:t>-</a:t>
            </a:r>
            <a:r>
              <a:rPr sz="2400" spc="-16" dirty="0">
                <a:solidFill>
                  <a:srgbClr val="000000"/>
                </a:solidFill>
                <a:latin typeface="QPRCPU+Calibri"/>
                <a:cs typeface="QPRCPU+Calibri"/>
              </a:rPr>
              <a:t>so,</a:t>
            </a:r>
            <a:r>
              <a:rPr sz="2400" spc="73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QPRCPU+Calibri"/>
                <a:cs typeface="QPRCPU+Calibri"/>
              </a:rPr>
              <a:t>but</a:t>
            </a:r>
            <a:r>
              <a:rPr sz="2400" spc="25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QPRCPU+Calibri"/>
                <a:cs typeface="QPRCPU+Calibri"/>
              </a:rPr>
              <a:t>“Ask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72515" y="5399400"/>
            <a:ext cx="4121197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QPRCPU+Calibri"/>
                <a:cs typeface="QPRCPU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Audience”</a:t>
            </a:r>
            <a:r>
              <a:rPr sz="2400" spc="-45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QPRCPU+Calibri"/>
                <a:cs typeface="QPRCPU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quite</a:t>
            </a:r>
            <a:r>
              <a:rPr sz="2400" spc="-16" dirty="0">
                <a:solidFill>
                  <a:srgbClr val="000000"/>
                </a:solidFill>
                <a:latin typeface="QPRCPU+Calibri"/>
                <a:cs typeface="QPRCP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PRCPU+Calibri"/>
                <a:cs typeface="QPRCPU+Calibri"/>
              </a:rPr>
              <a:t>effective.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10060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3" dirty="0">
                <a:solidFill>
                  <a:srgbClr val="001F5F"/>
                </a:solidFill>
                <a:latin typeface="DQLOPQ+Calibri-Bold"/>
                <a:cs typeface="DQLOPQ+Calibri-Bold"/>
              </a:rPr>
              <a:t>Bagging:</a:t>
            </a:r>
            <a:r>
              <a:rPr sz="3250" spc="-1248" dirty="0">
                <a:solidFill>
                  <a:srgbClr val="001F5F"/>
                </a:solidFill>
                <a:latin typeface="DQLOPQ+Calibri-Bold"/>
                <a:cs typeface="DQLOPQ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DQLOPQ+Calibri-Bold"/>
                <a:cs typeface="DQLOPQ+Calibri-Bold"/>
              </a:rPr>
              <a:t>Effect</a:t>
            </a:r>
            <a:r>
              <a:rPr sz="3250" spc="-1268" dirty="0">
                <a:solidFill>
                  <a:srgbClr val="001F5F"/>
                </a:solidFill>
                <a:latin typeface="DQLOPQ+Calibri-Bold"/>
                <a:cs typeface="DQLOPQ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DQLOPQ+Calibri-Bold"/>
                <a:cs typeface="DQLOPQ+Calibri-Bold"/>
              </a:rPr>
              <a:t>of</a:t>
            </a:r>
            <a:r>
              <a:rPr sz="3250" spc="-1234" dirty="0">
                <a:solidFill>
                  <a:srgbClr val="001F5F"/>
                </a:solidFill>
                <a:latin typeface="DQLOPQ+Calibri-Bold"/>
                <a:cs typeface="DQLOPQ+Calibri-Bold"/>
              </a:rPr>
              <a:t> </a:t>
            </a:r>
            <a:r>
              <a:rPr sz="3250" spc="-13" dirty="0">
                <a:solidFill>
                  <a:srgbClr val="001F5F"/>
                </a:solidFill>
                <a:latin typeface="DQLOPQ+Calibri-Bold"/>
                <a:cs typeface="DQLOPQ+Calibri-Bold"/>
              </a:rPr>
              <a:t>Correlation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4192" y="1356673"/>
            <a:ext cx="10171663" cy="410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AFUBI+Calibri"/>
                <a:cs typeface="IAFUBI+Calibri"/>
              </a:rPr>
              <a:t>Prob</a:t>
            </a:r>
            <a:r>
              <a:rPr sz="2400" strike="sngStrike" spc="47" dirty="0">
                <a:solidFill>
                  <a:srgbClr val="000000"/>
                </a:solidFill>
                <a:latin typeface="IAFUBI+Calibri"/>
                <a:cs typeface="IAFUBI+Calibri"/>
              </a:rPr>
              <a:t>l</a:t>
            </a:r>
            <a:r>
              <a:rPr sz="2400" spc="-18" dirty="0">
                <a:solidFill>
                  <a:srgbClr val="000000"/>
                </a:solidFill>
                <a:latin typeface="IAFUBI+Calibri"/>
                <a:cs typeface="IAFUBI+Calibri"/>
              </a:rPr>
              <a:t>em:</a:t>
            </a:r>
            <a:r>
              <a:rPr sz="2400" spc="32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IAFUBI+Calibri"/>
                <a:cs typeface="IAFUBI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AFUBI+Calibri"/>
                <a:cs typeface="IAFUBI+Calibri"/>
              </a:rPr>
              <a:t>datasets</a:t>
            </a:r>
            <a:r>
              <a:rPr sz="2400" spc="23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IAFUBI+Calibri"/>
                <a:cs typeface="IAFUBI+Calibri"/>
              </a:rPr>
              <a:t>are</a:t>
            </a:r>
            <a:r>
              <a:rPr sz="2400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IAFUBI+Calibri"/>
                <a:cs typeface="IAFUBI+Calibri"/>
              </a:rPr>
              <a:t>not</a:t>
            </a:r>
            <a:r>
              <a:rPr sz="2400" dirty="0">
                <a:solidFill>
                  <a:srgbClr val="000000"/>
                </a:solidFill>
                <a:latin typeface="IAFUBI+Calibri"/>
                <a:cs typeface="IAFUBI+Calibri"/>
              </a:rPr>
              <a:t> independent,</a:t>
            </a:r>
            <a:r>
              <a:rPr sz="2400" spc="-18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spc="-38" dirty="0">
                <a:solidFill>
                  <a:srgbClr val="000000"/>
                </a:solidFill>
                <a:latin typeface="IAFUBI+Calibri"/>
                <a:cs typeface="IAFUBI+Calibri"/>
              </a:rPr>
              <a:t>so</a:t>
            </a:r>
            <a:r>
              <a:rPr sz="2400" spc="29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AFUBI+Calibri"/>
                <a:cs typeface="IAFUBI+Calibri"/>
              </a:rPr>
              <a:t>we</a:t>
            </a:r>
            <a:r>
              <a:rPr sz="2400" spc="-19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AFUBI+Calibri"/>
                <a:cs typeface="IAFUBI+Calibri"/>
              </a:rPr>
              <a:t>don’t get </a:t>
            </a:r>
            <a:r>
              <a:rPr sz="2400" spc="-21" dirty="0">
                <a:solidFill>
                  <a:srgbClr val="000000"/>
                </a:solidFill>
                <a:latin typeface="IAFUBI+Calibri"/>
                <a:cs typeface="IAFUBI+Calibri"/>
              </a:rPr>
              <a:t>the</a:t>
            </a:r>
            <a:r>
              <a:rPr sz="2400" spc="128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1</a:t>
            </a:r>
            <a:r>
              <a:rPr sz="3600" baseline="4166" dirty="0">
                <a:solidFill>
                  <a:srgbClr val="000000"/>
                </a:solidFill>
                <a:latin typeface="IUGTFN+Cambria Math"/>
                <a:cs typeface="IUGTFN+Cambria Math"/>
              </a:rPr>
              <a:t>Τ</a:t>
            </a:r>
            <a:r>
              <a:rPr sz="2400" spc="581" dirty="0">
                <a:solidFill>
                  <a:srgbClr val="000000"/>
                </a:solidFill>
                <a:latin typeface="IUGTFN+Cambria Math"/>
                <a:cs typeface="IUGTFN+Cambria Math"/>
              </a:rPr>
              <a:t>ꢀ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variance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7410" y="1780318"/>
            <a:ext cx="1432005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reduction.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0270" y="2264614"/>
            <a:ext cx="9154306" cy="397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Possible </a:t>
            </a:r>
            <a:r>
              <a:rPr sz="2400" spc="21" dirty="0">
                <a:solidFill>
                  <a:srgbClr val="000000"/>
                </a:solidFill>
                <a:latin typeface="IJWACL+Calibri"/>
                <a:cs typeface="IJWACL+Calibri"/>
              </a:rPr>
              <a:t>to</a:t>
            </a:r>
            <a:r>
              <a:rPr sz="2400" spc="-2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show that </a:t>
            </a:r>
            <a:r>
              <a:rPr sz="2400" spc="-24" dirty="0">
                <a:solidFill>
                  <a:srgbClr val="000000"/>
                </a:solidFill>
                <a:latin typeface="IJWACL+Calibri"/>
                <a:cs typeface="IJWACL+Calibri"/>
              </a:rPr>
              <a:t>if</a:t>
            </a:r>
            <a:r>
              <a:rPr sz="2400" spc="2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  <a:r>
              <a:rPr sz="2400" spc="8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sampled predictions</a:t>
            </a:r>
            <a:r>
              <a:rPr sz="2400" spc="2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IJWACL+Calibri"/>
                <a:cs typeface="IJWACL+Calibri"/>
              </a:rPr>
              <a:t>have</a:t>
            </a:r>
            <a:r>
              <a:rPr sz="2400" spc="-1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variance</a:t>
            </a:r>
            <a:r>
              <a:rPr sz="2400" spc="-3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38" dirty="0">
                <a:solidFill>
                  <a:srgbClr val="000000"/>
                </a:solidFill>
                <a:latin typeface="IUGTFN+Cambria Math"/>
                <a:cs typeface="IUGTFN+Cambria Math"/>
              </a:rPr>
              <a:t>ꢁ</a:t>
            </a:r>
            <a:r>
              <a:rPr sz="2650" baseline="36708" dirty="0">
                <a:solidFill>
                  <a:srgbClr val="000000"/>
                </a:solidFill>
                <a:latin typeface="IUGTFN+Cambria Math"/>
                <a:cs typeface="IUGTFN+Cambria Math"/>
              </a:rPr>
              <a:t>2</a:t>
            </a:r>
            <a:r>
              <a:rPr sz="2650" spc="-953" baseline="3670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and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33170" y="2672196"/>
            <a:ext cx="2480747" cy="352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correlation </a:t>
            </a:r>
            <a:r>
              <a:rPr sz="2400" spc="25" dirty="0">
                <a:solidFill>
                  <a:srgbClr val="000000"/>
                </a:solidFill>
                <a:latin typeface="IUGTFN+Cambria Math"/>
                <a:cs typeface="IUGTFN+Cambria Math"/>
              </a:rPr>
              <a:t>ꢂ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IJWACL+Calibri"/>
                <a:cs typeface="IJWACL+Calibri"/>
              </a:rPr>
              <a:t>then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07255" y="3102306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IUGTFN+Cambria Math"/>
                <a:cs typeface="IUGTFN+Cambria Math"/>
              </a:rPr>
              <a:t>ꢄ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345305" y="3257165"/>
            <a:ext cx="1929977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1</a:t>
            </a:r>
            <a:r>
              <a:rPr sz="2400" spc="98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374890" y="3443555"/>
            <a:ext cx="115475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IUGTFN+Cambria Math"/>
                <a:cs typeface="IUGTFN+Cambria Math"/>
              </a:rPr>
              <a:t>2</a:t>
            </a:r>
            <a:r>
              <a:rPr sz="1750" spc="483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IUGTFN+Cambria Math"/>
                <a:cs typeface="IUGTFN+Cambria Math"/>
              </a:rPr>
              <a:t>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603371" y="3488552"/>
            <a:ext cx="4781851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Var</a:t>
            </a:r>
            <a:r>
              <a:rPr sz="2400" spc="288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400" dirty="0">
                <a:solidFill>
                  <a:srgbClr val="000000"/>
                </a:solidFill>
                <a:latin typeface="IUGTFN+Cambria Math"/>
                <a:cs typeface="IUGTFN+Cambria Math"/>
              </a:rPr>
              <a:t>෍ꢅ</a:t>
            </a:r>
            <a:r>
              <a:rPr sz="2400" spc="9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AWOLP+Cambria Math"/>
                <a:cs typeface="NAWOLP+Cambria Math"/>
              </a:rPr>
              <a:t>=</a:t>
            </a:r>
            <a:r>
              <a:rPr sz="2400" spc="26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31" dirty="0">
                <a:solidFill>
                  <a:srgbClr val="000000"/>
                </a:solidFill>
                <a:latin typeface="IUGTFN+Cambria Math"/>
                <a:cs typeface="IUGTFN+Cambria Math"/>
              </a:rPr>
              <a:t>1−ꢂ</a:t>
            </a:r>
            <a:r>
              <a:rPr sz="2400" spc="-9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ꢁ</a:t>
            </a:r>
            <a:r>
              <a:rPr sz="2400" spc="3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85" dirty="0">
                <a:solidFill>
                  <a:srgbClr val="000000"/>
                </a:solidFill>
                <a:latin typeface="IUGTFN+Cambria Math"/>
                <a:cs typeface="IUGTFN+Cambria Math"/>
              </a:rPr>
              <a:t>+ꢂꢁ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227066" y="3617545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IUGTFN+Cambria Math"/>
                <a:cs typeface="IUGTFN+Cambria Math"/>
              </a:rPr>
              <a:t>ꢃ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99204" y="3692768"/>
            <a:ext cx="2016659" cy="509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ꢀ</a:t>
            </a:r>
            <a:r>
              <a:rPr sz="2400" spc="921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ꢀ</a:t>
            </a:r>
          </a:p>
          <a:p>
            <a:pPr marL="325882" marR="0">
              <a:lnSpc>
                <a:spcPts val="1453"/>
              </a:lnSpc>
              <a:spcBef>
                <a:spcPts val="0"/>
              </a:spcBef>
              <a:spcAft>
                <a:spcPts val="0"/>
              </a:spcAft>
            </a:pPr>
            <a:r>
              <a:rPr sz="1750" spc="31" dirty="0">
                <a:solidFill>
                  <a:srgbClr val="000000"/>
                </a:solidFill>
                <a:latin typeface="IUGTFN+Cambria Math"/>
                <a:cs typeface="IUGTFN+Cambria Math"/>
              </a:rPr>
              <a:t>ꢃ=</a:t>
            </a:r>
            <a:r>
              <a:rPr sz="1750" dirty="0">
                <a:solidFill>
                  <a:srgbClr val="000000"/>
                </a:solidFill>
                <a:latin typeface="NAWOLP+Cambria Math"/>
                <a:cs typeface="NAWOLP+Cambria Math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2880266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DQLOPQ+Calibri-Bold"/>
                <a:cs typeface="DQLOPQ+Calibri-Bold"/>
              </a:rPr>
              <a:t>Random</a:t>
            </a:r>
            <a:r>
              <a:rPr sz="3250" spc="-1274" dirty="0">
                <a:solidFill>
                  <a:srgbClr val="001F5F"/>
                </a:solidFill>
                <a:latin typeface="DQLOPQ+Calibri-Bold"/>
                <a:cs typeface="DQLOPQ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DQLOPQ+Calibri-Bold"/>
                <a:cs typeface="DQLOPQ+Calibri-Bold"/>
              </a:rPr>
              <a:t>Forests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3156" y="988628"/>
            <a:ext cx="10954789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在构建每⼀棵决策树的每⼀个节点时，我们不再允许它看所有的特征（⽐如</a:t>
            </a:r>
            <a:r>
              <a:rPr sz="1350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 width 和</a:t>
            </a:r>
            <a:r>
              <a:rPr sz="1350" spc="18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 </a:t>
            </a:r>
            <a:r>
              <a:rPr sz="1350" spc="12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height）。我们强迫它只能从随机抽取的⼀⼩部分特征中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做选择！这就像把决策树的“眼睛”蒙住⼀部分。有些树只能看</a:t>
            </a:r>
            <a:r>
              <a:rPr sz="1350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 </a:t>
            </a:r>
            <a:r>
              <a:rPr sz="1350" spc="11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width，有些树只能看</a:t>
            </a:r>
            <a:r>
              <a:rPr sz="1350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 </a:t>
            </a:r>
            <a:r>
              <a:rPr sz="1350" spc="12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height。这样训练出来的树，肯定⻓得各不相同！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0702" y="1554109"/>
            <a:ext cx="10306514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B44E4"/>
                </a:solidFill>
                <a:latin typeface="IJWACL+Calibri"/>
                <a:cs typeface="IJWACL+Calibri"/>
              </a:rPr>
              <a:t>Random</a:t>
            </a:r>
            <a:r>
              <a:rPr sz="2400" spc="22" dirty="0">
                <a:solidFill>
                  <a:srgbClr val="0B44E4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JWACL+Calibri"/>
                <a:cs typeface="IJWACL+Calibri"/>
              </a:rPr>
              <a:t>forests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=</a:t>
            </a:r>
            <a:r>
              <a:rPr sz="2400" spc="-1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bagged decision</a:t>
            </a:r>
            <a:r>
              <a:rPr sz="2400" spc="-1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trees,</a:t>
            </a:r>
            <a:r>
              <a:rPr sz="2400" spc="-1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with </a:t>
            </a:r>
            <a:r>
              <a:rPr sz="2400" spc="10" dirty="0">
                <a:solidFill>
                  <a:srgbClr val="000000"/>
                </a:solidFill>
                <a:latin typeface="IJWACL+Calibri"/>
                <a:cs typeface="IJWACL+Calibri"/>
              </a:rPr>
              <a:t>one</a:t>
            </a:r>
            <a:r>
              <a:rPr sz="2400" spc="-2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extra</a:t>
            </a:r>
            <a:r>
              <a:rPr sz="2400" spc="-4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trick</a:t>
            </a:r>
            <a:r>
              <a:rPr sz="2400" spc="-6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IJWACL+Calibri"/>
                <a:cs typeface="IJWACL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decorrelate</a:t>
            </a:r>
            <a:r>
              <a:rPr sz="2400" spc="-1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3920" y="1963579"/>
            <a:ext cx="1544455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predictions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2330" y="2433965"/>
            <a:ext cx="10273615" cy="3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When choosing</a:t>
            </a:r>
            <a:r>
              <a:rPr sz="2400" spc="-2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each</a:t>
            </a:r>
            <a:r>
              <a:rPr sz="2400" spc="-1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IJWACL+Calibri"/>
                <a:cs typeface="IJWACL+Calibri"/>
              </a:rPr>
              <a:t>node</a:t>
            </a:r>
            <a:r>
              <a:rPr sz="2400" spc="-2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of</a:t>
            </a:r>
            <a:r>
              <a:rPr sz="2400" spc="-1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  <a:r>
              <a:rPr sz="2400" spc="1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decision</a:t>
            </a:r>
            <a:r>
              <a:rPr sz="2400" spc="-1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IJWACL+Calibri"/>
                <a:cs typeface="IJWACL+Calibri"/>
              </a:rPr>
              <a:t>tree,</a:t>
            </a:r>
            <a:r>
              <a:rPr sz="2400" spc="6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IJWACL+Calibri"/>
                <a:cs typeface="IJWACL+Calibri"/>
              </a:rPr>
              <a:t>choose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 a</a:t>
            </a:r>
            <a:r>
              <a:rPr sz="2400" spc="3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random</a:t>
            </a:r>
            <a:r>
              <a:rPr sz="2400" spc="-5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IJWACL+Calibri"/>
                <a:cs typeface="IJWACL+Calibri"/>
              </a:rPr>
              <a:t>set</a:t>
            </a:r>
            <a:r>
              <a:rPr sz="2400" spc="-1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of</a:t>
            </a:r>
            <a:r>
              <a:rPr sz="2400" spc="1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612" dirty="0">
                <a:solidFill>
                  <a:srgbClr val="000000"/>
                </a:solidFill>
                <a:latin typeface="IUGTFN+Cambria Math"/>
                <a:cs typeface="IUGTFN+Cambria Math"/>
              </a:rPr>
              <a:t>ꢆ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input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05547" y="2842403"/>
            <a:ext cx="6483317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features,</a:t>
            </a:r>
            <a:r>
              <a:rPr sz="2400" spc="5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and only</a:t>
            </a:r>
            <a:r>
              <a:rPr sz="2400" spc="-5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consider</a:t>
            </a:r>
            <a:r>
              <a:rPr sz="2400" spc="4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IJWACL+Calibri"/>
                <a:cs typeface="IJWACL+Calibri"/>
              </a:rPr>
              <a:t>splits</a:t>
            </a:r>
            <a:r>
              <a:rPr sz="2400" spc="2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IJWACL+Calibri"/>
                <a:cs typeface="IJWACL+Calibri"/>
              </a:rPr>
              <a:t>on</a:t>
            </a:r>
            <a:r>
              <a:rPr sz="2400" spc="-1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those</a:t>
            </a:r>
            <a:r>
              <a:rPr sz="2400" spc="-1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features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0702" y="3371147"/>
            <a:ext cx="10762385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Random</a:t>
            </a:r>
            <a:r>
              <a:rPr sz="2400" spc="2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forests</a:t>
            </a:r>
            <a:r>
              <a:rPr sz="2400" spc="1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IJWACL+Calibri"/>
                <a:cs typeface="IJWACL+Calibri"/>
              </a:rPr>
              <a:t>are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 probably</a:t>
            </a:r>
            <a:r>
              <a:rPr sz="2400" spc="2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best </a:t>
            </a:r>
            <a:r>
              <a:rPr sz="2400" spc="10" dirty="0">
                <a:solidFill>
                  <a:srgbClr val="000000"/>
                </a:solidFill>
                <a:latin typeface="IJWACL+Calibri"/>
                <a:cs typeface="IJWACL+Calibri"/>
              </a:rPr>
              <a:t>black-box</a:t>
            </a:r>
            <a:r>
              <a:rPr sz="2400" spc="-1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machine learning</a:t>
            </a:r>
            <a:r>
              <a:rPr sz="2400" spc="-2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algorithm</a:t>
            </a:r>
            <a:r>
              <a:rPr sz="2400" spc="-4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AFUBI+Calibri"/>
                <a:cs typeface="IAFUBI+Calibri"/>
              </a:rPr>
              <a:t>– </a:t>
            </a:r>
            <a:r>
              <a:rPr sz="2400" spc="12" dirty="0">
                <a:solidFill>
                  <a:srgbClr val="000000"/>
                </a:solidFill>
                <a:latin typeface="IJWACL+Calibri"/>
                <a:cs typeface="IJWACL+Calibri"/>
              </a:rPr>
              <a:t>they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3920" y="3794919"/>
            <a:ext cx="5556290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often work</a:t>
            </a:r>
            <a:r>
              <a:rPr sz="2400" spc="1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well</a:t>
            </a:r>
            <a:r>
              <a:rPr sz="2400" spc="3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JWACL+Calibri"/>
                <a:cs typeface="IJWACL+Calibri"/>
              </a:rPr>
              <a:t>with</a:t>
            </a:r>
            <a:r>
              <a:rPr sz="2400" spc="1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IJWACL+Calibri"/>
                <a:cs typeface="IJWACL+Calibri"/>
              </a:rPr>
              <a:t>no</a:t>
            </a:r>
            <a:r>
              <a:rPr sz="2400" spc="-2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tuning</a:t>
            </a:r>
            <a:r>
              <a:rPr sz="2400" spc="-2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whatsoever.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2330" y="4271687"/>
            <a:ext cx="8268213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2400" spc="12" dirty="0">
                <a:solidFill>
                  <a:srgbClr val="000000"/>
                </a:solidFill>
                <a:latin typeface="IJWACL+Calibri"/>
                <a:cs typeface="IJWACL+Calibri"/>
              </a:rPr>
              <a:t>one</a:t>
            </a:r>
            <a:r>
              <a:rPr sz="2400" spc="-2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IJWACL+Calibri"/>
                <a:cs typeface="IJWACL+Calibri"/>
              </a:rPr>
              <a:t>of</a:t>
            </a:r>
            <a:r>
              <a:rPr sz="2400" spc="-1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  <a:r>
              <a:rPr sz="2400" spc="1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most widely</a:t>
            </a:r>
            <a:r>
              <a:rPr sz="2400" spc="2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used</a:t>
            </a:r>
            <a:r>
              <a:rPr sz="2400" spc="1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algorithms</a:t>
            </a:r>
            <a:r>
              <a:rPr sz="2400" spc="1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JWACL+Calibri"/>
                <a:cs typeface="IJWACL+Calibri"/>
              </a:rPr>
              <a:t>in</a:t>
            </a:r>
            <a:r>
              <a:rPr sz="2400" spc="2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IJWACL+Calibri"/>
                <a:cs typeface="IJWACL+Calibri"/>
              </a:rPr>
              <a:t>Kaggle</a:t>
            </a:r>
            <a:r>
              <a:rPr sz="2400" spc="-1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competitions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177958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DQLOPQ+Calibri-Bold"/>
                <a:cs typeface="DQLOPQ+Calibri-Bold"/>
              </a:rPr>
              <a:t>Bagging</a:t>
            </a:r>
            <a:r>
              <a:rPr sz="3250" spc="-1230" dirty="0">
                <a:solidFill>
                  <a:srgbClr val="001F5F"/>
                </a:solidFill>
                <a:latin typeface="DQLOPQ+Calibri-Bold"/>
                <a:cs typeface="DQLOPQ+Calibri-Bold"/>
              </a:rPr>
              <a:t> </a:t>
            </a:r>
            <a:r>
              <a:rPr sz="3250" spc="-35" dirty="0">
                <a:solidFill>
                  <a:srgbClr val="001F5F"/>
                </a:solidFill>
                <a:latin typeface="DQLOPQ+Calibri-Bold"/>
                <a:cs typeface="DQLOPQ+Calibri-Bold"/>
              </a:rPr>
              <a:t>Summary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21344"/>
            <a:ext cx="7044491" cy="753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Bagging</a:t>
            </a:r>
            <a:r>
              <a:rPr sz="2400" spc="-2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reduces</a:t>
            </a:r>
            <a:r>
              <a:rPr sz="2400" spc="2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overfitting</a:t>
            </a:r>
            <a:r>
              <a:rPr sz="2400" spc="-2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IJWACL+Calibri"/>
                <a:cs typeface="IJWACL+Calibri"/>
              </a:rPr>
              <a:t>by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 averaging</a:t>
            </a:r>
            <a:r>
              <a:rPr sz="2400" spc="5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predictions.</a:t>
            </a:r>
          </a:p>
          <a:p>
            <a:pPr marL="0" marR="0">
              <a:lnSpc>
                <a:spcPts val="2686"/>
              </a:lnSpc>
              <a:spcBef>
                <a:spcPts val="2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Used </a:t>
            </a:r>
            <a:r>
              <a:rPr sz="2400" spc="-26" dirty="0">
                <a:solidFill>
                  <a:srgbClr val="000000"/>
                </a:solidFill>
                <a:latin typeface="IJWACL+Calibri"/>
                <a:cs typeface="IJWACL+Calibri"/>
              </a:rPr>
              <a:t>in</a:t>
            </a:r>
            <a:r>
              <a:rPr sz="2400" spc="2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most competition winners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75380" y="1055388"/>
            <a:ext cx="2692291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(</a:t>
            </a:r>
            <a:r>
              <a:rPr sz="1350" spc="14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减少过度拟合</a:t>
            </a:r>
            <a:r>
              <a:rPr sz="13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)</a:t>
            </a:r>
            <a:r>
              <a:rPr sz="1350" spc="14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：通过降低⽅差。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75380" y="1496985"/>
            <a:ext cx="3096491" cy="73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即使你已经有了⼀个很强的模型，再搞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⼏个模型来</a:t>
            </a:r>
            <a:r>
              <a:rPr sz="1350" spc="-109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Bagging </a:t>
            </a:r>
            <a:r>
              <a:rPr sz="1350" spc="14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⼀下（集成），通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常都能把分数再刷⾼⼀点。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6112" y="1905677"/>
            <a:ext cx="8170069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Even </a:t>
            </a:r>
            <a:r>
              <a:rPr sz="2400" spc="47" dirty="0">
                <a:solidFill>
                  <a:srgbClr val="000000"/>
                </a:solidFill>
                <a:latin typeface="IJWACL+Calibri"/>
                <a:cs typeface="IJWACL+Calibri"/>
              </a:rPr>
              <a:t>if</a:t>
            </a:r>
            <a:r>
              <a:rPr sz="2400" spc="-4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single</a:t>
            </a:r>
            <a:r>
              <a:rPr sz="2400" spc="-1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model</a:t>
            </a:r>
            <a:r>
              <a:rPr sz="2400" spc="3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JWACL+Calibri"/>
                <a:cs typeface="IJWACL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great,</a:t>
            </a:r>
            <a:r>
              <a:rPr sz="2400" spc="-1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IJWACL+Calibri"/>
                <a:cs typeface="IJWACL+Calibri"/>
              </a:rPr>
              <a:t>small</a:t>
            </a:r>
            <a:r>
              <a:rPr sz="2400" spc="4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ensemble</a:t>
            </a:r>
            <a:r>
              <a:rPr sz="2400" spc="-1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usually</a:t>
            </a:r>
            <a:r>
              <a:rPr sz="2400" spc="2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helps.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4007" y="2490226"/>
            <a:ext cx="1947237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Limitations: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6112" y="2889896"/>
            <a:ext cx="6974038" cy="1486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2400" spc="11" dirty="0">
                <a:solidFill>
                  <a:srgbClr val="000000"/>
                </a:solidFill>
                <a:latin typeface="IJWACL+Calibri"/>
                <a:cs typeface="IJWACL+Calibri"/>
              </a:rPr>
              <a:t>Does</a:t>
            </a:r>
            <a:r>
              <a:rPr sz="2400" spc="-6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not reduce </a:t>
            </a:r>
            <a:r>
              <a:rPr sz="2400" spc="11" dirty="0">
                <a:solidFill>
                  <a:srgbClr val="000000"/>
                </a:solidFill>
                <a:latin typeface="IJWACL+Calibri"/>
                <a:cs typeface="IJWACL+Calibri"/>
              </a:rPr>
              <a:t>bias</a:t>
            </a:r>
            <a:r>
              <a:rPr sz="2400" spc="-6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IJWACL+Calibri"/>
                <a:cs typeface="IJWACL+Calibri"/>
              </a:rPr>
              <a:t>in</a:t>
            </a:r>
            <a:r>
              <a:rPr sz="2400" spc="-5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IJWACL+Calibri"/>
                <a:cs typeface="IJWACL+Calibri"/>
              </a:rPr>
              <a:t>case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 of squared error.</a:t>
            </a:r>
          </a:p>
          <a:p>
            <a:pPr marL="0" marR="0">
              <a:lnSpc>
                <a:spcPts val="2666"/>
              </a:lnSpc>
              <a:spcBef>
                <a:spcPts val="45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There</a:t>
            </a:r>
            <a:r>
              <a:rPr sz="2400" spc="-2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JWACL+Calibri"/>
                <a:cs typeface="IJWACL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still</a:t>
            </a:r>
            <a:r>
              <a:rPr sz="2400" spc="-4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correlation between classifiers.</a:t>
            </a:r>
          </a:p>
          <a:p>
            <a:pPr marL="532447" marR="0">
              <a:lnSpc>
                <a:spcPts val="2669"/>
              </a:lnSpc>
              <a:spcBef>
                <a:spcPts val="429"/>
              </a:spcBef>
              <a:spcAft>
                <a:spcPts val="0"/>
              </a:spcAft>
            </a:pPr>
            <a:r>
              <a:rPr sz="2400" spc="795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Random</a:t>
            </a:r>
            <a:r>
              <a:rPr sz="2400" spc="1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forest solution:</a:t>
            </a:r>
            <a:r>
              <a:rPr sz="2400" spc="1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IJWACL+Calibri"/>
                <a:cs typeface="IJWACL+Calibri"/>
              </a:rPr>
              <a:t>Add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 more</a:t>
            </a:r>
            <a:r>
              <a:rPr sz="2400" spc="-2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randomness.</a:t>
            </a:r>
          </a:p>
          <a:p>
            <a:pPr marL="0" marR="0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Naive</a:t>
            </a:r>
            <a:r>
              <a:rPr sz="2400" spc="-1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mixture</a:t>
            </a:r>
            <a:r>
              <a:rPr sz="2400" spc="6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IJWACL+Calibri"/>
                <a:cs typeface="IJWACL+Calibri"/>
              </a:rPr>
              <a:t>(all</a:t>
            </a:r>
            <a:r>
              <a:rPr sz="2400" spc="-3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members</a:t>
            </a:r>
            <a:r>
              <a:rPr sz="2400" spc="1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weighted equally).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78560" y="4476792"/>
            <a:ext cx="10316529" cy="112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5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If members</a:t>
            </a:r>
            <a:r>
              <a:rPr sz="2400" spc="1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IJWACL+Calibri"/>
                <a:cs typeface="IJWACL+Calibri"/>
              </a:rPr>
              <a:t>are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IJWACL+Calibri"/>
                <a:cs typeface="IJWACL+Calibri"/>
              </a:rPr>
              <a:t>very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 different</a:t>
            </a:r>
            <a:r>
              <a:rPr sz="2400" spc="-7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(e.g.,</a:t>
            </a:r>
            <a:r>
              <a:rPr sz="2400" spc="-2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different algorithms,</a:t>
            </a:r>
            <a:r>
              <a:rPr sz="2400" spc="6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different data</a:t>
            </a:r>
            <a:r>
              <a:rPr sz="2400" spc="2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sources,</a:t>
            </a:r>
          </a:p>
          <a:p>
            <a:pPr marL="343153" marR="0">
              <a:lnSpc>
                <a:spcPts val="2402"/>
              </a:lnSpc>
              <a:spcBef>
                <a:spcPts val="4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etc.),</a:t>
            </a:r>
            <a:r>
              <a:rPr sz="2400" spc="-1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we</a:t>
            </a:r>
            <a:r>
              <a:rPr sz="2400" spc="-1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can often obtain better</a:t>
            </a:r>
            <a:r>
              <a:rPr sz="2400" spc="5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results</a:t>
            </a:r>
            <a:r>
              <a:rPr sz="2400" spc="2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IJWACL+Calibri"/>
                <a:cs typeface="IJWACL+Calibri"/>
              </a:rPr>
              <a:t>by</a:t>
            </a:r>
            <a:r>
              <a:rPr sz="2400" spc="-6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using</a:t>
            </a:r>
            <a:r>
              <a:rPr sz="2400" spc="-3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principled approach </a:t>
            </a:r>
            <a:r>
              <a:rPr sz="2400" spc="-54" dirty="0">
                <a:solidFill>
                  <a:srgbClr val="000000"/>
                </a:solidFill>
                <a:latin typeface="IJWACL+Calibri"/>
                <a:cs typeface="IJWACL+Calibri"/>
              </a:rPr>
              <a:t>to</a:t>
            </a:r>
          </a:p>
          <a:p>
            <a:pPr marL="343153" marR="0">
              <a:lnSpc>
                <a:spcPts val="2405"/>
              </a:lnSpc>
              <a:spcBef>
                <a:spcPts val="52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weighted</a:t>
            </a:r>
            <a:r>
              <a:rPr sz="2400" spc="-1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ensembling.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4007" y="5780445"/>
            <a:ext cx="11224061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Boosting,</a:t>
            </a:r>
            <a:r>
              <a:rPr sz="2400" spc="6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61" dirty="0">
                <a:solidFill>
                  <a:srgbClr val="000000"/>
                </a:solidFill>
                <a:latin typeface="IJWACL+Calibri"/>
                <a:cs typeface="IJWACL+Calibri"/>
              </a:rPr>
              <a:t>up</a:t>
            </a:r>
            <a:r>
              <a:rPr sz="2400" spc="5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IJWACL+Calibri"/>
                <a:cs typeface="IJWACL+Calibri"/>
              </a:rPr>
              <a:t>next,</a:t>
            </a:r>
            <a:r>
              <a:rPr sz="2400" spc="-2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can</a:t>
            </a:r>
            <a:r>
              <a:rPr sz="2400" spc="-1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IJWACL+Calibri"/>
                <a:cs typeface="IJWACL+Calibri"/>
              </a:rPr>
              <a:t>be</a:t>
            </a:r>
            <a:r>
              <a:rPr sz="2400" spc="-2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viewed </a:t>
            </a:r>
            <a:r>
              <a:rPr sz="2400" spc="48" dirty="0">
                <a:solidFill>
                  <a:srgbClr val="000000"/>
                </a:solidFill>
                <a:latin typeface="IJWACL+Calibri"/>
                <a:cs typeface="IJWACL+Calibri"/>
              </a:rPr>
              <a:t>as</a:t>
            </a:r>
            <a:r>
              <a:rPr sz="2400" spc="-10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48" dirty="0">
                <a:solidFill>
                  <a:srgbClr val="000000"/>
                </a:solidFill>
                <a:latin typeface="IJWACL+Calibri"/>
                <a:cs typeface="IJWACL+Calibri"/>
              </a:rPr>
              <a:t>an</a:t>
            </a:r>
            <a:r>
              <a:rPr sz="2400" spc="-5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approach </a:t>
            </a:r>
            <a:r>
              <a:rPr sz="2400" spc="-54" dirty="0">
                <a:solidFill>
                  <a:srgbClr val="000000"/>
                </a:solidFill>
                <a:latin typeface="IJWACL+Calibri"/>
                <a:cs typeface="IJWACL+Calibri"/>
              </a:rPr>
              <a:t>to</a:t>
            </a:r>
            <a:r>
              <a:rPr sz="2400" spc="4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weighted</a:t>
            </a:r>
            <a:r>
              <a:rPr sz="2400" spc="9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ensembling</a:t>
            </a:r>
            <a:r>
              <a:rPr sz="2400" spc="2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that strongly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7225" y="6200220"/>
            <a:ext cx="4370784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decorrelates</a:t>
            </a:r>
            <a:r>
              <a:rPr sz="2400" spc="54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ensemble</a:t>
            </a:r>
            <a:r>
              <a:rPr sz="2400" spc="-1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members.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64461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DQLOPQ+Calibri-Bold"/>
                <a:cs typeface="DQLOPQ+Calibri-Bold"/>
              </a:rPr>
              <a:t>Boosting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8880" y="1337701"/>
            <a:ext cx="1571739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B44E4"/>
                </a:solidFill>
                <a:latin typeface="IJWACL+Calibri"/>
                <a:cs typeface="IJWACL+Calibri"/>
              </a:rPr>
              <a:t>Boosting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72565" y="1827572"/>
            <a:ext cx="9074403" cy="1123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Train</a:t>
            </a:r>
            <a:r>
              <a:rPr sz="2400" spc="-1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classifiers</a:t>
            </a:r>
            <a:r>
              <a:rPr sz="2400" spc="2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sequentially,</a:t>
            </a:r>
            <a:r>
              <a:rPr sz="2400" spc="-2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each</a:t>
            </a:r>
            <a:r>
              <a:rPr sz="2400" spc="-1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IJWACL+Calibri"/>
                <a:cs typeface="IJWACL+Calibri"/>
              </a:rPr>
              <a:t>time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 focusing</a:t>
            </a:r>
            <a:r>
              <a:rPr sz="2400" spc="-2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on</a:t>
            </a:r>
            <a:r>
              <a:rPr sz="2400" spc="-1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training</a:t>
            </a:r>
            <a:r>
              <a:rPr sz="2400" spc="5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examples</a:t>
            </a:r>
          </a:p>
          <a:p>
            <a:pPr marL="343281" marR="0">
              <a:lnSpc>
                <a:spcPts val="2402"/>
              </a:lnSpc>
              <a:spcBef>
                <a:spcPts val="4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that </a:t>
            </a:r>
            <a:r>
              <a:rPr sz="2400" spc="-21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 previous</a:t>
            </a:r>
            <a:r>
              <a:rPr sz="2400" spc="1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IJWACL+Calibri"/>
                <a:cs typeface="IJWACL+Calibri"/>
              </a:rPr>
              <a:t>ones</a:t>
            </a:r>
            <a:r>
              <a:rPr sz="2400" spc="3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got </a:t>
            </a:r>
            <a:r>
              <a:rPr sz="2400" spc="-11" dirty="0">
                <a:solidFill>
                  <a:srgbClr val="000000"/>
                </a:solidFill>
                <a:latin typeface="IJWACL+Calibri"/>
                <a:cs typeface="IJWACL+Calibri"/>
              </a:rPr>
              <a:t>wrong.</a:t>
            </a:r>
          </a:p>
          <a:p>
            <a:pPr marL="0" marR="0">
              <a:lnSpc>
                <a:spcPts val="2666"/>
              </a:lnSpc>
              <a:spcBef>
                <a:spcPts val="17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2400" spc="20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  <a:r>
              <a:rPr sz="2400" spc="-3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shifting</a:t>
            </a:r>
            <a:r>
              <a:rPr sz="2400" spc="-1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focus</a:t>
            </a:r>
            <a:r>
              <a:rPr sz="2400" spc="1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strongly</a:t>
            </a:r>
            <a:r>
              <a:rPr sz="2400" spc="2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decorrelates</a:t>
            </a:r>
            <a:r>
              <a:rPr sz="2400" spc="-5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their</a:t>
            </a:r>
            <a:r>
              <a:rPr sz="2400" spc="4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predictions.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98880" y="3168914"/>
            <a:ext cx="8986327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7" dirty="0">
                <a:solidFill>
                  <a:srgbClr val="000000"/>
                </a:solidFill>
                <a:latin typeface="IJWACL+Calibri"/>
                <a:cs typeface="IJWACL+Calibri"/>
              </a:rPr>
              <a:t>To</a:t>
            </a:r>
            <a:r>
              <a:rPr sz="2400" spc="-3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focus</a:t>
            </a:r>
            <a:r>
              <a:rPr sz="2400" spc="-5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on</a:t>
            </a:r>
            <a:r>
              <a:rPr sz="2400" spc="-1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specific</a:t>
            </a:r>
            <a:r>
              <a:rPr sz="2400" spc="-6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examples,</a:t>
            </a:r>
            <a:r>
              <a:rPr sz="2400" spc="-2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boosting</a:t>
            </a:r>
            <a:r>
              <a:rPr sz="2400" spc="-2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uses</a:t>
            </a:r>
            <a:r>
              <a:rPr sz="2400" spc="2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a</a:t>
            </a:r>
            <a:r>
              <a:rPr sz="2400" spc="4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JWACL+Calibri"/>
                <a:cs typeface="IJWACL+Calibri"/>
              </a:rPr>
              <a:t>weighted training</a:t>
            </a:r>
            <a:r>
              <a:rPr sz="2400" spc="-16" dirty="0">
                <a:solidFill>
                  <a:srgbClr val="0B44E4"/>
                </a:solidFill>
                <a:latin typeface="IJWACL+Calibri"/>
                <a:cs typeface="IJWACL+Calibri"/>
              </a:rPr>
              <a:t> </a:t>
            </a:r>
            <a:r>
              <a:rPr sz="2400" spc="17" dirty="0">
                <a:solidFill>
                  <a:srgbClr val="0B44E4"/>
                </a:solidFill>
                <a:latin typeface="IJWACL+Calibri"/>
                <a:cs typeface="IJWACL+Calibri"/>
              </a:rPr>
              <a:t>set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1270" y="4531453"/>
            <a:ext cx="6021302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Bagging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：请</a:t>
            </a:r>
            <a:r>
              <a:rPr sz="1350" spc="-109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10 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个⽔平差不多的⽼师，每⼈随机改⼀部分卷⼦，最后平均分。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1270" y="4857035"/>
            <a:ext cx="11125519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Boosting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：先请第</a:t>
            </a:r>
            <a:r>
              <a:rPr sz="1350" spc="-109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1</a:t>
            </a:r>
            <a:r>
              <a:rPr sz="1350" spc="1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个⽼师改卷⼦。他改错的那些难题，被加粗标记出来，交给第</a:t>
            </a:r>
            <a:r>
              <a:rPr sz="1350" spc="-109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2</a:t>
            </a:r>
            <a:r>
              <a:rPr sz="1350" spc="1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个更厉害的⽼师专⻔攻克。第</a:t>
            </a:r>
            <a:r>
              <a:rPr sz="1350" spc="-109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2</a:t>
            </a:r>
            <a:r>
              <a:rPr sz="1350" spc="1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个⽼师还搞不定的，交给第</a:t>
            </a:r>
            <a:r>
              <a:rPr sz="1350" spc="-109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3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个</a:t>
            </a:r>
            <a:r>
              <a:rPr sz="1350" spc="14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……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86918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1F5F"/>
                </a:solidFill>
                <a:latin typeface="DQLOPQ+Calibri-Bold"/>
                <a:cs typeface="DQLOPQ+Calibri-Bold"/>
              </a:rPr>
              <a:t>Weighted</a:t>
            </a:r>
            <a:r>
              <a:rPr sz="3250" spc="-1196" dirty="0">
                <a:solidFill>
                  <a:srgbClr val="001F5F"/>
                </a:solidFill>
                <a:latin typeface="DQLOPQ+Calibri-Bold"/>
                <a:cs typeface="DQLOPQ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DQLOPQ+Calibri-Bold"/>
                <a:cs typeface="DQLOPQ+Calibri-Bold"/>
              </a:rPr>
              <a:t>Training</a:t>
            </a:r>
            <a:r>
              <a:rPr sz="3250" spc="-1300" dirty="0">
                <a:solidFill>
                  <a:srgbClr val="001F5F"/>
                </a:solidFill>
                <a:latin typeface="DQLOPQ+Calibri-Bold"/>
                <a:cs typeface="DQLOPQ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DQLOPQ+Calibri-Bold"/>
                <a:cs typeface="DQLOPQ+Calibri-Bold"/>
              </a:rPr>
              <a:t>set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23278" y="389708"/>
            <a:ext cx="3269673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通过改变样本权重来影响模型的训练⽬标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69690" y="1040715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NAWOLP+Cambria Math"/>
                <a:cs typeface="NAWOLP+Cambria Math"/>
              </a:rPr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1102564"/>
            <a:ext cx="10632940" cy="402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  <a:r>
              <a:rPr sz="2400" spc="-3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misclassification </a:t>
            </a:r>
            <a:r>
              <a:rPr sz="2400" spc="18" dirty="0">
                <a:solidFill>
                  <a:srgbClr val="000000"/>
                </a:solidFill>
                <a:latin typeface="IJWACL+Calibri"/>
                <a:cs typeface="IJWACL+Calibri"/>
              </a:rPr>
              <a:t>rate</a:t>
            </a:r>
            <a:r>
              <a:rPr sz="2400" spc="345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750" dirty="0">
                <a:solidFill>
                  <a:srgbClr val="000000"/>
                </a:solidFill>
                <a:latin typeface="IUGTFN+Cambria Math"/>
                <a:cs typeface="IUGTFN+Cambria Math"/>
              </a:rPr>
              <a:t>ꢇ</a:t>
            </a:r>
            <a:r>
              <a:rPr sz="1750" spc="148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ꢉ</a:t>
            </a:r>
            <a:r>
              <a:rPr sz="2400" spc="-5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IUGTFN+Cambria Math"/>
                <a:cs typeface="IUGTFN+Cambria Math"/>
              </a:rPr>
              <a:t>ℎ(ꢊ</a:t>
            </a:r>
            <a:r>
              <a:rPr sz="2650" spc="44" baseline="36791" dirty="0">
                <a:solidFill>
                  <a:srgbClr val="000000"/>
                </a:solidFill>
                <a:latin typeface="IUGTFN+Cambria Math"/>
                <a:cs typeface="IUGTFN+Cambria Math"/>
              </a:rPr>
              <a:t>(ꢈ)</a:t>
            </a:r>
            <a:r>
              <a:rPr sz="2400" spc="444" dirty="0">
                <a:solidFill>
                  <a:srgbClr val="000000"/>
                </a:solidFill>
                <a:latin typeface="IUGTFN+Cambria Math"/>
                <a:cs typeface="IUGTFN+Cambria Math"/>
              </a:rPr>
              <a:t>)≠ꢋ</a:t>
            </a:r>
            <a:r>
              <a:rPr sz="2650" spc="16" baseline="36791" dirty="0">
                <a:solidFill>
                  <a:srgbClr val="000000"/>
                </a:solidFill>
                <a:latin typeface="IUGTFN+Cambria Math"/>
                <a:cs typeface="IUGTFN+Cambria Math"/>
              </a:rPr>
              <a:t>(ꢈ)</a:t>
            </a:r>
            <a:r>
              <a:rPr sz="2650" spc="-116" baseline="3679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weights</a:t>
            </a:r>
            <a:r>
              <a:rPr sz="2400" spc="-5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each training</a:t>
            </a:r>
            <a:r>
              <a:rPr sz="2400" spc="-2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example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72001" y="1140322"/>
            <a:ext cx="368574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σ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87901" y="1287476"/>
            <a:ext cx="589858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18" dirty="0">
                <a:solidFill>
                  <a:srgbClr val="000000"/>
                </a:solidFill>
                <a:latin typeface="IUGTFN+Cambria Math"/>
                <a:cs typeface="IUGTFN+Cambria Math"/>
              </a:rPr>
              <a:t>ꢈ=</a:t>
            </a:r>
            <a:r>
              <a:rPr sz="1750" dirty="0">
                <a:solidFill>
                  <a:srgbClr val="000000"/>
                </a:solidFill>
                <a:latin typeface="NAWOLP+Cambria Math"/>
                <a:cs typeface="NAWOLP+Cambria Math"/>
              </a:rPr>
              <a:t>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847465" y="1373201"/>
            <a:ext cx="318229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IUGTFN+Cambria Math"/>
                <a:cs typeface="IUGTFN+Cambria Math"/>
              </a:rPr>
              <a:t>ꢇ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7225" y="1599978"/>
            <a:ext cx="1127167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equally.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68467" y="1639184"/>
            <a:ext cx="8630172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这个公式意味着每⼀个训练样本对最终误差的贡献都是⼀样的（权重均为</a:t>
            </a:r>
            <a:r>
              <a:rPr sz="1350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1/N）。模型会平等地对待所有样本。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4007" y="1925076"/>
            <a:ext cx="10662576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IJWACL+Calibri"/>
                <a:cs typeface="IJWACL+Calibri"/>
              </a:rPr>
              <a:t>Key</a:t>
            </a:r>
            <a:r>
              <a:rPr sz="2400" spc="-6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IJWACL+Calibri"/>
                <a:cs typeface="IJWACL+Calibri"/>
              </a:rPr>
              <a:t>idea: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63" dirty="0">
                <a:solidFill>
                  <a:srgbClr val="000000"/>
                </a:solidFill>
                <a:latin typeface="IJWACL+Calibri"/>
                <a:cs typeface="IJWACL+Calibri"/>
              </a:rPr>
              <a:t>we</a:t>
            </a:r>
            <a:r>
              <a:rPr sz="2400" spc="12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32" dirty="0">
                <a:solidFill>
                  <a:srgbClr val="000000"/>
                </a:solidFill>
                <a:latin typeface="IJWACL+Calibri"/>
                <a:cs typeface="IJWACL+Calibri"/>
              </a:rPr>
              <a:t>can</a:t>
            </a:r>
            <a:r>
              <a:rPr sz="2400" spc="2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learn a</a:t>
            </a:r>
            <a:r>
              <a:rPr sz="2400" spc="3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classifier</a:t>
            </a:r>
            <a:r>
              <a:rPr sz="2400" spc="5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using</a:t>
            </a:r>
            <a:r>
              <a:rPr sz="2400" spc="-1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different costs</a:t>
            </a:r>
            <a:r>
              <a:rPr sz="2400" spc="-5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(aka</a:t>
            </a:r>
            <a:r>
              <a:rPr sz="2400" spc="-5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weights) </a:t>
            </a:r>
            <a:r>
              <a:rPr sz="2400" spc="11" dirty="0">
                <a:solidFill>
                  <a:srgbClr val="000000"/>
                </a:solidFill>
                <a:latin typeface="IJWACL+Calibri"/>
                <a:cs typeface="IJWACL+Calibri"/>
              </a:rPr>
              <a:t>for</a:t>
            </a:r>
            <a:r>
              <a:rPr sz="2400" spc="-4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examples.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877744" y="2374807"/>
            <a:ext cx="3777165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我们可以给不同的训练样本分配不同的代价 (costs) 或</a:t>
            </a:r>
            <a:r>
              <a:rPr sz="1100" spc="-1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权重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(weights)。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4007" y="2418090"/>
            <a:ext cx="7400789" cy="994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3217" marR="0">
              <a:lnSpc>
                <a:spcPts val="2935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AFUBI+Calibri"/>
                <a:cs typeface="IAFUBI+Calibri"/>
              </a:rPr>
              <a:t>Classifier</a:t>
            </a:r>
            <a:r>
              <a:rPr sz="2400" spc="47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AFUBI+Calibri"/>
                <a:cs typeface="IAFUBI+Calibri"/>
              </a:rPr>
              <a:t>“tries</a:t>
            </a:r>
            <a:r>
              <a:rPr sz="2400" spc="26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AFUBI+Calibri"/>
                <a:cs typeface="IAFUBI+Calibri"/>
              </a:rPr>
              <a:t>harder”</a:t>
            </a:r>
            <a:r>
              <a:rPr sz="2400" spc="27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spc="-66" dirty="0">
                <a:solidFill>
                  <a:srgbClr val="000000"/>
                </a:solidFill>
                <a:latin typeface="IAFUBI+Calibri"/>
                <a:cs typeface="IAFUBI+Calibri"/>
              </a:rPr>
              <a:t>on</a:t>
            </a:r>
            <a:r>
              <a:rPr sz="2400" spc="58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AFUBI+Calibri"/>
                <a:cs typeface="IAFUBI+Calibri"/>
              </a:rPr>
              <a:t>examples</a:t>
            </a:r>
            <a:r>
              <a:rPr sz="2400" spc="16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AFUBI+Calibri"/>
                <a:cs typeface="IAFUBI+Calibri"/>
              </a:rPr>
              <a:t>with higher</a:t>
            </a:r>
            <a:r>
              <a:rPr sz="2400" spc="-27" dirty="0">
                <a:solidFill>
                  <a:srgbClr val="000000"/>
                </a:solidFill>
                <a:latin typeface="IAFUBI+Calibri"/>
                <a:cs typeface="IAFUBI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AFUBI+Calibri"/>
                <a:cs typeface="IAFUBI+Calibri"/>
              </a:rPr>
              <a:t>cost</a:t>
            </a:r>
          </a:p>
          <a:p>
            <a:pPr marL="0" marR="0">
              <a:lnSpc>
                <a:spcPts val="2684"/>
              </a:lnSpc>
              <a:spcBef>
                <a:spcPts val="181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Change</a:t>
            </a:r>
            <a:r>
              <a:rPr sz="2400" spc="-1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cost function: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877744" y="2845862"/>
            <a:ext cx="4308765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如果赋予某些样本更⾼的权重，分类器在训练时为了最⼩化总代价，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就必须优先保证这些⾼权重样本被分类正确。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78915" y="3529915"/>
            <a:ext cx="318229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IUGTFN+Cambria Math"/>
                <a:cs typeface="IUGTFN+Cambria Math"/>
              </a:rPr>
              <a:t>ꢇ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067171" y="3529915"/>
            <a:ext cx="318229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IUGTFN+Cambria Math"/>
                <a:cs typeface="IUGTFN+Cambria Math"/>
              </a:rPr>
              <a:t>ꢇ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67535" y="3684774"/>
            <a:ext cx="321522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1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836545" y="3871164"/>
            <a:ext cx="1490977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16" dirty="0">
                <a:solidFill>
                  <a:srgbClr val="000000"/>
                </a:solidFill>
                <a:latin typeface="IUGTFN+Cambria Math"/>
                <a:cs typeface="IUGTFN+Cambria Math"/>
              </a:rPr>
              <a:t>(ꢈ)</a:t>
            </a:r>
            <a:r>
              <a:rPr sz="1750" spc="424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spc="15" dirty="0">
                <a:solidFill>
                  <a:srgbClr val="000000"/>
                </a:solidFill>
                <a:latin typeface="IUGTFN+Cambria Math"/>
                <a:cs typeface="IUGTFN+Cambria Math"/>
              </a:rPr>
              <a:t>(ꢈ)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531995" y="3871164"/>
            <a:ext cx="4690996" cy="393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6521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16" dirty="0">
                <a:solidFill>
                  <a:srgbClr val="0B44E4"/>
                </a:solidFill>
                <a:latin typeface="IUGTFN+Cambria Math"/>
                <a:cs typeface="IUGTFN+Cambria Math"/>
              </a:rPr>
              <a:t>(ꢈ)</a:t>
            </a:r>
            <a:r>
              <a:rPr sz="1750" spc="4687" dirty="0">
                <a:solidFill>
                  <a:srgbClr val="0B44E4"/>
                </a:solidFill>
                <a:latin typeface="Liberation Mono"/>
                <a:cs typeface="Liberation Mono"/>
              </a:rPr>
              <a:t> </a:t>
            </a:r>
            <a:r>
              <a:rPr sz="1750" spc="16" dirty="0">
                <a:solidFill>
                  <a:srgbClr val="000000"/>
                </a:solidFill>
                <a:latin typeface="IUGTFN+Cambria Math"/>
                <a:cs typeface="IUGTFN+Cambria Math"/>
              </a:rPr>
              <a:t>(ꢈ)</a:t>
            </a:r>
            <a:r>
              <a:rPr sz="1750" spc="423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spc="16" dirty="0">
                <a:solidFill>
                  <a:srgbClr val="000000"/>
                </a:solidFill>
                <a:latin typeface="IUGTFN+Cambria Math"/>
                <a:cs typeface="IUGTFN+Cambria Math"/>
              </a:rPr>
              <a:t>(ꢈ)</a:t>
            </a:r>
          </a:p>
          <a:p>
            <a:pPr marL="0" marR="0">
              <a:lnSpc>
                <a:spcPts val="848"/>
              </a:lnSpc>
              <a:spcBef>
                <a:spcPts val="5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becomes</a:t>
            </a:r>
            <a:r>
              <a:rPr sz="2400" spc="182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540" dirty="0">
                <a:solidFill>
                  <a:srgbClr val="000000"/>
                </a:solidFill>
                <a:latin typeface="IUGTFN+Cambria Math"/>
                <a:cs typeface="IUGTFN+Cambria Math"/>
              </a:rPr>
              <a:t>෍</a:t>
            </a:r>
            <a:r>
              <a:rPr sz="2400" dirty="0">
                <a:solidFill>
                  <a:srgbClr val="0B44E4"/>
                </a:solidFill>
                <a:latin typeface="IUGTFN+Cambria Math"/>
                <a:cs typeface="IUGTFN+Cambria Math"/>
              </a:rPr>
              <a:t>ꢌ</a:t>
            </a:r>
            <a:r>
              <a:rPr sz="2400" spc="1429" dirty="0">
                <a:solidFill>
                  <a:srgbClr val="0B44E4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ꢉ</a:t>
            </a:r>
            <a:r>
              <a:rPr sz="2400" spc="-5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IUGTFN+Cambria Math"/>
                <a:cs typeface="IUGTFN+Cambria Math"/>
              </a:rPr>
              <a:t>ℎ(ꢊ</a:t>
            </a:r>
            <a:r>
              <a:rPr sz="2400" spc="13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7" dirty="0">
                <a:solidFill>
                  <a:srgbClr val="000000"/>
                </a:solidFill>
                <a:latin typeface="IUGTFN+Cambria Math"/>
                <a:cs typeface="IUGTFN+Cambria Math"/>
              </a:rPr>
              <a:t>)≠ꢋ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63345" y="3916288"/>
            <a:ext cx="2614912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෍</a:t>
            </a:r>
            <a:r>
              <a:rPr sz="2400" spc="13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ꢉ</a:t>
            </a:r>
            <a:r>
              <a:rPr sz="2400" spc="-5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IUGTFN+Cambria Math"/>
                <a:cs typeface="IUGTFN+Cambria Math"/>
              </a:rPr>
              <a:t>ℎ(ꢊ</a:t>
            </a:r>
            <a:r>
              <a:rPr sz="2400" spc="139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6" dirty="0">
                <a:solidFill>
                  <a:srgbClr val="000000"/>
                </a:solidFill>
                <a:latin typeface="IUGTFN+Cambria Math"/>
                <a:cs typeface="IUGTFN+Cambria Math"/>
              </a:rPr>
              <a:t>)≠ꢋ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836166" y="4120377"/>
            <a:ext cx="375874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ꢍ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346200" y="4371925"/>
            <a:ext cx="58960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17" dirty="0">
                <a:solidFill>
                  <a:srgbClr val="000000"/>
                </a:solidFill>
                <a:latin typeface="IUGTFN+Cambria Math"/>
                <a:cs typeface="IUGTFN+Cambria Math"/>
              </a:rPr>
              <a:t>ꢈ=</a:t>
            </a:r>
            <a:r>
              <a:rPr sz="1750" dirty="0">
                <a:solidFill>
                  <a:srgbClr val="000000"/>
                </a:solidFill>
                <a:latin typeface="NAWOLP+Cambria Math"/>
                <a:cs typeface="NAWOLP+Cambria Math"/>
              </a:rPr>
              <a:t>1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934329" y="4371925"/>
            <a:ext cx="58998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18" dirty="0">
                <a:solidFill>
                  <a:srgbClr val="000000"/>
                </a:solidFill>
                <a:latin typeface="IUGTFN+Cambria Math"/>
                <a:cs typeface="IUGTFN+Cambria Math"/>
              </a:rPr>
              <a:t>ꢈ=</a:t>
            </a:r>
            <a:r>
              <a:rPr sz="1750" dirty="0">
                <a:solidFill>
                  <a:srgbClr val="000000"/>
                </a:solidFill>
                <a:latin typeface="NAWOLP+Cambria Math"/>
                <a:cs typeface="NAWOLP+Cambria Math"/>
              </a:rPr>
              <a:t>1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14007" y="4860495"/>
            <a:ext cx="6794118" cy="402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Usually</a:t>
            </a:r>
            <a:r>
              <a:rPr sz="2400" spc="1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require each </a:t>
            </a:r>
            <a:r>
              <a:rPr sz="2400" spc="152" dirty="0">
                <a:solidFill>
                  <a:srgbClr val="000000"/>
                </a:solidFill>
                <a:latin typeface="IUGTFN+Cambria Math"/>
                <a:cs typeface="IUGTFN+Cambria Math"/>
              </a:rPr>
              <a:t>ꢌ</a:t>
            </a:r>
            <a:r>
              <a:rPr sz="2650" spc="15" baseline="36666" dirty="0">
                <a:solidFill>
                  <a:srgbClr val="000000"/>
                </a:solidFill>
                <a:latin typeface="IUGTFN+Cambria Math"/>
                <a:cs typeface="IUGTFN+Cambria Math"/>
              </a:rPr>
              <a:t>(ꢈ)</a:t>
            </a:r>
            <a:r>
              <a:rPr sz="2650" spc="-839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35" dirty="0">
                <a:solidFill>
                  <a:srgbClr val="000000"/>
                </a:solidFill>
                <a:latin typeface="IUGTFN+Cambria Math"/>
                <a:cs typeface="IUGTFN+Cambria Math"/>
              </a:rPr>
              <a:t>&gt;0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and</a:t>
            </a:r>
            <a:r>
              <a:rPr sz="2400" spc="172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750" dirty="0">
                <a:solidFill>
                  <a:srgbClr val="000000"/>
                </a:solidFill>
                <a:latin typeface="IUGTFN+Cambria Math"/>
                <a:cs typeface="IUGTFN+Cambria Math"/>
              </a:rPr>
              <a:t>ꢇ</a:t>
            </a:r>
            <a:r>
              <a:rPr sz="1750" spc="148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50" dirty="0">
                <a:solidFill>
                  <a:srgbClr val="000000"/>
                </a:solidFill>
                <a:latin typeface="IUGTFN+Cambria Math"/>
                <a:cs typeface="IUGTFN+Cambria Math"/>
              </a:rPr>
              <a:t>ꢌ</a:t>
            </a:r>
            <a:r>
              <a:rPr sz="2650" spc="16" baseline="36666" dirty="0">
                <a:solidFill>
                  <a:srgbClr val="000000"/>
                </a:solidFill>
                <a:latin typeface="IUGTFN+Cambria Math"/>
                <a:cs typeface="IUGTFN+Cambria Math"/>
              </a:rPr>
              <a:t>(ꢈ)</a:t>
            </a:r>
            <a:r>
              <a:rPr sz="2650" spc="-841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NAWOLP+Cambria Math"/>
                <a:cs typeface="NAWOLP+Cambria Math"/>
              </a:rPr>
              <a:t>=</a:t>
            </a: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017770" y="4898005"/>
            <a:ext cx="368799" cy="343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UGTFN+Cambria Math"/>
                <a:cs typeface="IUGTFN+Cambria Math"/>
              </a:rPr>
              <a:t>σ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234051" y="5045407"/>
            <a:ext cx="589858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18" dirty="0">
                <a:solidFill>
                  <a:srgbClr val="000000"/>
                </a:solidFill>
                <a:latin typeface="IUGTFN+Cambria Math"/>
                <a:cs typeface="IUGTFN+Cambria Math"/>
              </a:rPr>
              <a:t>ꢈ=</a:t>
            </a:r>
            <a:r>
              <a:rPr sz="1750" dirty="0">
                <a:solidFill>
                  <a:srgbClr val="000000"/>
                </a:solidFill>
                <a:latin typeface="NAWOLP+Cambria Math"/>
                <a:cs typeface="NAWOLP+Cambria Math"/>
              </a:rPr>
              <a:t>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231322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DQLOPQ+Calibri-Bold"/>
                <a:cs typeface="DQLOPQ+Calibri-Bold"/>
              </a:rPr>
              <a:t>AdaBoost</a:t>
            </a:r>
            <a:r>
              <a:rPr sz="3250" spc="-1252" dirty="0">
                <a:solidFill>
                  <a:srgbClr val="001F5F"/>
                </a:solidFill>
                <a:latin typeface="DQLOPQ+Calibri-Bold"/>
                <a:cs typeface="DQLOPQ+Calibri-Bold"/>
              </a:rPr>
              <a:t> </a:t>
            </a:r>
            <a:r>
              <a:rPr sz="3250" spc="-24" dirty="0">
                <a:solidFill>
                  <a:srgbClr val="001F5F"/>
                </a:solidFill>
                <a:latin typeface="DQLOPQ+Calibri-Bold"/>
                <a:cs typeface="DQLOPQ+Calibri-Bold"/>
              </a:rPr>
              <a:t>(Adaptive</a:t>
            </a:r>
            <a:r>
              <a:rPr sz="3250" spc="-1162" dirty="0">
                <a:solidFill>
                  <a:srgbClr val="001F5F"/>
                </a:solidFill>
                <a:latin typeface="DQLOPQ+Calibri-Bold"/>
                <a:cs typeface="DQLOPQ+Calibri-Bold"/>
              </a:rPr>
              <a:t> </a:t>
            </a:r>
            <a:r>
              <a:rPr sz="3250" spc="-22" dirty="0">
                <a:solidFill>
                  <a:srgbClr val="001F5F"/>
                </a:solidFill>
                <a:latin typeface="DQLOPQ+Calibri-Bold"/>
                <a:cs typeface="DQLOPQ+Calibri-Bold"/>
              </a:rPr>
              <a:t>Boosting)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88070"/>
            <a:ext cx="7113959" cy="753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IJWACL+Calibri"/>
                <a:cs typeface="IJWACL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can</a:t>
            </a:r>
            <a:r>
              <a:rPr sz="2400" spc="-1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IJWACL+Calibri"/>
                <a:cs typeface="IJWACL+Calibri"/>
              </a:rPr>
              <a:t>now</a:t>
            </a:r>
            <a:r>
              <a:rPr sz="2400" spc="2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describe</a:t>
            </a:r>
            <a:r>
              <a:rPr sz="2400" spc="6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  <a:r>
              <a:rPr sz="2400" spc="6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JWACL+Calibri"/>
                <a:cs typeface="IJWACL+Calibri"/>
              </a:rPr>
              <a:t>AdaBoost</a:t>
            </a:r>
            <a:r>
              <a:rPr sz="2400" spc="25" dirty="0">
                <a:solidFill>
                  <a:srgbClr val="0B44E4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algorithm.</a:t>
            </a:r>
          </a:p>
          <a:p>
            <a:pPr marL="0" marR="0">
              <a:lnSpc>
                <a:spcPts val="2686"/>
              </a:lnSpc>
              <a:spcBef>
                <a:spcPts val="2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Given a</a:t>
            </a:r>
            <a:r>
              <a:rPr sz="2400" spc="3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IJWACL+Calibri"/>
                <a:cs typeface="IJWACL+Calibri"/>
              </a:rPr>
              <a:t>base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 classifier,</a:t>
            </a:r>
            <a:r>
              <a:rPr sz="2400" spc="-1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IJWACL+Calibri"/>
                <a:cs typeface="IJWACL+Calibri"/>
              </a:rPr>
              <a:t>key</a:t>
            </a:r>
            <a:r>
              <a:rPr sz="2400" spc="-6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steps</a:t>
            </a:r>
            <a:r>
              <a:rPr sz="2400" spc="1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of AdaBoost </a:t>
            </a:r>
            <a:r>
              <a:rPr sz="2400" spc="-11" dirty="0">
                <a:solidFill>
                  <a:srgbClr val="000000"/>
                </a:solidFill>
                <a:latin typeface="IJWACL+Calibri"/>
                <a:cs typeface="IJWACL+Calibri"/>
              </a:rPr>
              <a:t>are: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9297" y="1834833"/>
            <a:ext cx="10451978" cy="1516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B44E4"/>
                </a:solidFill>
                <a:latin typeface="IJWACL+Calibri"/>
                <a:cs typeface="IJWACL+Calibri"/>
              </a:rPr>
              <a:t>1.</a:t>
            </a:r>
            <a:r>
              <a:rPr sz="2050" spc="-72" dirty="0">
                <a:solidFill>
                  <a:srgbClr val="0B44E4"/>
                </a:solidFill>
                <a:latin typeface="IJWACL+Calibri"/>
                <a:cs typeface="IJWACL+Calibri"/>
              </a:rPr>
              <a:t> </a:t>
            </a:r>
            <a:r>
              <a:rPr sz="2050" spc="12" dirty="0">
                <a:solidFill>
                  <a:srgbClr val="000000"/>
                </a:solidFill>
                <a:latin typeface="IJWACL+Calibri"/>
                <a:cs typeface="IJWACL+Calibri"/>
              </a:rPr>
              <a:t>At</a:t>
            </a:r>
            <a:r>
              <a:rPr sz="2050" spc="-3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31" dirty="0">
                <a:solidFill>
                  <a:srgbClr val="000000"/>
                </a:solidFill>
                <a:latin typeface="IJWACL+Calibri"/>
                <a:cs typeface="IJWACL+Calibri"/>
              </a:rPr>
              <a:t>each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6" dirty="0">
                <a:solidFill>
                  <a:srgbClr val="000000"/>
                </a:solidFill>
                <a:latin typeface="IJWACL+Calibri"/>
                <a:cs typeface="IJWACL+Calibri"/>
              </a:rPr>
              <a:t>iteration,</a:t>
            </a:r>
            <a:r>
              <a:rPr sz="2050" spc="1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24" dirty="0">
                <a:solidFill>
                  <a:srgbClr val="000000"/>
                </a:solidFill>
                <a:latin typeface="IJWACL+Calibri"/>
                <a:cs typeface="IJWACL+Calibri"/>
              </a:rPr>
              <a:t>re-weight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9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  <a:r>
              <a:rPr sz="2050" spc="-3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2" dirty="0">
                <a:solidFill>
                  <a:srgbClr val="000000"/>
                </a:solidFill>
                <a:latin typeface="IJWACL+Calibri"/>
                <a:cs typeface="IJWACL+Calibri"/>
              </a:rPr>
              <a:t>training</a:t>
            </a:r>
            <a:r>
              <a:rPr sz="2050" spc="-6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2" dirty="0">
                <a:solidFill>
                  <a:srgbClr val="000000"/>
                </a:solidFill>
                <a:latin typeface="IJWACL+Calibri"/>
                <a:cs typeface="IJWACL+Calibri"/>
              </a:rPr>
              <a:t>samples</a:t>
            </a:r>
            <a:r>
              <a:rPr sz="2050" spc="-5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28" dirty="0">
                <a:solidFill>
                  <a:srgbClr val="000000"/>
                </a:solidFill>
                <a:latin typeface="IJWACL+Calibri"/>
                <a:cs typeface="IJWACL+Calibri"/>
              </a:rPr>
              <a:t>by</a:t>
            </a:r>
            <a:r>
              <a:rPr sz="2050" spc="-1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6" dirty="0">
                <a:solidFill>
                  <a:srgbClr val="000000"/>
                </a:solidFill>
                <a:latin typeface="IJWACL+Calibri"/>
                <a:cs typeface="IJWACL+Calibri"/>
              </a:rPr>
              <a:t>assigning</a:t>
            </a:r>
            <a:r>
              <a:rPr sz="2050" spc="-6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21" dirty="0">
                <a:solidFill>
                  <a:srgbClr val="000000"/>
                </a:solidFill>
                <a:latin typeface="IJWACL+Calibri"/>
                <a:cs typeface="IJWACL+Calibri"/>
              </a:rPr>
              <a:t>larger</a:t>
            </a:r>
            <a:r>
              <a:rPr sz="2050" spc="4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22" dirty="0">
                <a:solidFill>
                  <a:srgbClr val="000000"/>
                </a:solidFill>
                <a:latin typeface="IJWACL+Calibri"/>
                <a:cs typeface="IJWACL+Calibri"/>
              </a:rPr>
              <a:t>weights</a:t>
            </a:r>
            <a:r>
              <a:rPr sz="2050" spc="-4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to</a:t>
            </a:r>
            <a:r>
              <a:rPr sz="2050" spc="-4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24" dirty="0">
                <a:solidFill>
                  <a:srgbClr val="000000"/>
                </a:solidFill>
                <a:latin typeface="IJWACL+Calibri"/>
                <a:cs typeface="IJWACL+Calibri"/>
              </a:rPr>
              <a:t>samples</a:t>
            </a:r>
            <a:r>
              <a:rPr sz="2050" spc="3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5" dirty="0">
                <a:solidFill>
                  <a:srgbClr val="000000"/>
                </a:solidFill>
                <a:latin typeface="IJWACL+Calibri"/>
                <a:cs typeface="IJWACL+Calibri"/>
              </a:rPr>
              <a:t>(i.e.,</a:t>
            </a:r>
            <a:r>
              <a:rPr sz="2050" spc="1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39" dirty="0">
                <a:solidFill>
                  <a:srgbClr val="000000"/>
                </a:solidFill>
                <a:latin typeface="IJWACL+Calibri"/>
                <a:cs typeface="IJWACL+Calibri"/>
              </a:rPr>
              <a:t>data</a:t>
            </a:r>
          </a:p>
          <a:p>
            <a:pPr marL="0" marR="0">
              <a:lnSpc>
                <a:spcPts val="2027"/>
              </a:lnSpc>
              <a:spcBef>
                <a:spcPts val="376"/>
              </a:spcBef>
              <a:spcAft>
                <a:spcPts val="0"/>
              </a:spcAft>
            </a:pPr>
            <a:r>
              <a:rPr sz="2050" spc="-16" dirty="0">
                <a:solidFill>
                  <a:srgbClr val="000000"/>
                </a:solidFill>
                <a:latin typeface="IJWACL+Calibri"/>
                <a:cs typeface="IJWACL+Calibri"/>
              </a:rPr>
              <a:t>points)</a:t>
            </a:r>
            <a:r>
              <a:rPr sz="2050" spc="-1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6" dirty="0">
                <a:solidFill>
                  <a:srgbClr val="000000"/>
                </a:solidFill>
                <a:latin typeface="IJWACL+Calibri"/>
                <a:cs typeface="IJWACL+Calibri"/>
              </a:rPr>
              <a:t>that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41" dirty="0">
                <a:solidFill>
                  <a:srgbClr val="000000"/>
                </a:solidFill>
                <a:latin typeface="IJWACL+Calibri"/>
                <a:cs typeface="IJWACL+Calibri"/>
              </a:rPr>
              <a:t>were</a:t>
            </a:r>
            <a:r>
              <a:rPr sz="2050" spc="5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5" dirty="0">
                <a:solidFill>
                  <a:srgbClr val="000000"/>
                </a:solidFill>
                <a:latin typeface="IJWACL+Calibri"/>
                <a:cs typeface="IJWACL+Calibri"/>
              </a:rPr>
              <a:t>classified</a:t>
            </a:r>
            <a:r>
              <a:rPr sz="2050" spc="-2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8" dirty="0">
                <a:solidFill>
                  <a:srgbClr val="000000"/>
                </a:solidFill>
                <a:latin typeface="IJWACL+Calibri"/>
                <a:cs typeface="IJWACL+Calibri"/>
              </a:rPr>
              <a:t>incorrectly.</a:t>
            </a:r>
          </a:p>
          <a:p>
            <a:pPr marL="0" marR="0">
              <a:lnSpc>
                <a:spcPts val="2027"/>
              </a:lnSpc>
              <a:spcBef>
                <a:spcPts val="374"/>
              </a:spcBef>
              <a:spcAft>
                <a:spcPts val="0"/>
              </a:spcAft>
            </a:pPr>
            <a:r>
              <a:rPr sz="2050" dirty="0">
                <a:solidFill>
                  <a:srgbClr val="0B44E4"/>
                </a:solidFill>
                <a:latin typeface="IJWACL+Calibri"/>
                <a:cs typeface="IJWACL+Calibri"/>
              </a:rPr>
              <a:t>2.</a:t>
            </a:r>
            <a:r>
              <a:rPr sz="2050" spc="-73" dirty="0">
                <a:solidFill>
                  <a:srgbClr val="0B44E4"/>
                </a:solidFill>
                <a:latin typeface="IJWACL+Calibri"/>
                <a:cs typeface="IJWACL+Calibri"/>
              </a:rPr>
              <a:t> </a:t>
            </a:r>
            <a:r>
              <a:rPr sz="2050" spc="-23" dirty="0">
                <a:solidFill>
                  <a:srgbClr val="000000"/>
                </a:solidFill>
                <a:latin typeface="IJWACL+Calibri"/>
                <a:cs typeface="IJWACL+Calibri"/>
              </a:rPr>
              <a:t>Train</a:t>
            </a:r>
            <a:r>
              <a:rPr sz="2050" spc="-1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a</a:t>
            </a:r>
            <a:r>
              <a:rPr sz="2050" spc="-1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new</a:t>
            </a:r>
            <a:r>
              <a:rPr sz="2050" spc="-5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29" dirty="0">
                <a:solidFill>
                  <a:srgbClr val="000000"/>
                </a:solidFill>
                <a:latin typeface="IJWACL+Calibri"/>
                <a:cs typeface="IJWACL+Calibri"/>
              </a:rPr>
              <a:t>base </a:t>
            </a:r>
            <a:r>
              <a:rPr sz="2050" spc="-15" dirty="0">
                <a:solidFill>
                  <a:srgbClr val="000000"/>
                </a:solidFill>
                <a:latin typeface="IJWACL+Calibri"/>
                <a:cs typeface="IJWACL+Calibri"/>
              </a:rPr>
              <a:t>classifier</a:t>
            </a:r>
            <a:r>
              <a:rPr sz="2050" spc="3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32" dirty="0">
                <a:solidFill>
                  <a:srgbClr val="000000"/>
                </a:solidFill>
                <a:latin typeface="IJWACL+Calibri"/>
                <a:cs typeface="IJWACL+Calibri"/>
              </a:rPr>
              <a:t>based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31" dirty="0">
                <a:solidFill>
                  <a:srgbClr val="000000"/>
                </a:solidFill>
                <a:latin typeface="IJWACL+Calibri"/>
                <a:cs typeface="IJWACL+Calibri"/>
              </a:rPr>
              <a:t>on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9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  <a:r>
              <a:rPr sz="2050" spc="3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21" dirty="0">
                <a:solidFill>
                  <a:srgbClr val="000000"/>
                </a:solidFill>
                <a:latin typeface="IJWACL+Calibri"/>
                <a:cs typeface="IJWACL+Calibri"/>
              </a:rPr>
              <a:t>re-weighted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6" dirty="0">
                <a:solidFill>
                  <a:srgbClr val="000000"/>
                </a:solidFill>
                <a:latin typeface="IJWACL+Calibri"/>
                <a:cs typeface="IJWACL+Calibri"/>
              </a:rPr>
              <a:t>samples.</a:t>
            </a:r>
          </a:p>
          <a:p>
            <a:pPr marL="0" marR="0">
              <a:lnSpc>
                <a:spcPts val="2029"/>
              </a:lnSpc>
              <a:spcBef>
                <a:spcPts val="373"/>
              </a:spcBef>
              <a:spcAft>
                <a:spcPts val="0"/>
              </a:spcAft>
            </a:pPr>
            <a:r>
              <a:rPr sz="2050" dirty="0">
                <a:solidFill>
                  <a:srgbClr val="0B44E4"/>
                </a:solidFill>
                <a:latin typeface="IJWACL+Calibri"/>
                <a:cs typeface="IJWACL+Calibri"/>
              </a:rPr>
              <a:t>3.</a:t>
            </a:r>
            <a:r>
              <a:rPr sz="2050" spc="-72" dirty="0">
                <a:solidFill>
                  <a:srgbClr val="0B44E4"/>
                </a:solidFill>
                <a:latin typeface="IJWACL+Calibri"/>
                <a:cs typeface="IJWACL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Add</a:t>
            </a:r>
            <a:r>
              <a:rPr sz="2050" spc="-3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20" dirty="0">
                <a:solidFill>
                  <a:srgbClr val="000000"/>
                </a:solidFill>
                <a:latin typeface="IJWACL+Calibri"/>
                <a:cs typeface="IJWACL+Calibri"/>
              </a:rPr>
              <a:t>it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 to</a:t>
            </a:r>
            <a:r>
              <a:rPr sz="2050" spc="-4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9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  <a:r>
              <a:rPr sz="2050" spc="-3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9" dirty="0">
                <a:solidFill>
                  <a:srgbClr val="000000"/>
                </a:solidFill>
                <a:latin typeface="IJWACL+Calibri"/>
                <a:cs typeface="IJWACL+Calibri"/>
              </a:rPr>
              <a:t>ensemble</a:t>
            </a:r>
            <a:r>
              <a:rPr sz="2050" spc="-3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32" dirty="0">
                <a:solidFill>
                  <a:srgbClr val="000000"/>
                </a:solidFill>
                <a:latin typeface="IJWACL+Calibri"/>
                <a:cs typeface="IJWACL+Calibri"/>
              </a:rPr>
              <a:t>of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0" dirty="0">
                <a:solidFill>
                  <a:srgbClr val="000000"/>
                </a:solidFill>
                <a:latin typeface="IJWACL+Calibri"/>
                <a:cs typeface="IJWACL+Calibri"/>
              </a:rPr>
              <a:t>classifiers</a:t>
            </a:r>
            <a:r>
              <a:rPr sz="2050" spc="-5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22" dirty="0">
                <a:solidFill>
                  <a:srgbClr val="000000"/>
                </a:solidFill>
                <a:latin typeface="IJWACL+Calibri"/>
                <a:cs typeface="IJWACL+Calibri"/>
              </a:rPr>
              <a:t>with </a:t>
            </a:r>
            <a:r>
              <a:rPr sz="2050" spc="-10" dirty="0">
                <a:solidFill>
                  <a:srgbClr val="000000"/>
                </a:solidFill>
                <a:latin typeface="IJWACL+Calibri"/>
                <a:cs typeface="IJWACL+Calibri"/>
              </a:rPr>
              <a:t>an</a:t>
            </a:r>
            <a:r>
              <a:rPr sz="2050" spc="-2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6" dirty="0">
                <a:solidFill>
                  <a:srgbClr val="000000"/>
                </a:solidFill>
                <a:latin typeface="IJWACL+Calibri"/>
                <a:cs typeface="IJWACL+Calibri"/>
              </a:rPr>
              <a:t>appropriate</a:t>
            </a:r>
            <a:r>
              <a:rPr sz="2050" spc="-4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22" dirty="0">
                <a:solidFill>
                  <a:srgbClr val="000000"/>
                </a:solidFill>
                <a:latin typeface="IJWACL+Calibri"/>
                <a:cs typeface="IJWACL+Calibri"/>
              </a:rPr>
              <a:t>weight.</a:t>
            </a:r>
          </a:p>
          <a:p>
            <a:pPr marL="0" marR="0">
              <a:lnSpc>
                <a:spcPts val="2027"/>
              </a:lnSpc>
              <a:spcBef>
                <a:spcPts val="376"/>
              </a:spcBef>
              <a:spcAft>
                <a:spcPts val="0"/>
              </a:spcAft>
            </a:pPr>
            <a:r>
              <a:rPr sz="2050" dirty="0">
                <a:solidFill>
                  <a:srgbClr val="0B44E4"/>
                </a:solidFill>
                <a:latin typeface="IJWACL+Calibri"/>
                <a:cs typeface="IJWACL+Calibri"/>
              </a:rPr>
              <a:t>4.</a:t>
            </a:r>
            <a:r>
              <a:rPr sz="2050" spc="-73" dirty="0">
                <a:solidFill>
                  <a:srgbClr val="0B44E4"/>
                </a:solidFill>
                <a:latin typeface="IJWACL+Calibri"/>
                <a:cs typeface="IJWACL+Calibri"/>
              </a:rPr>
              <a:t> </a:t>
            </a:r>
            <a:r>
              <a:rPr sz="2050" spc="-23" dirty="0">
                <a:solidFill>
                  <a:srgbClr val="000000"/>
                </a:solidFill>
                <a:latin typeface="IJWACL+Calibri"/>
                <a:cs typeface="IJWACL+Calibri"/>
              </a:rPr>
              <a:t>Repeat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9" dirty="0">
                <a:solidFill>
                  <a:srgbClr val="000000"/>
                </a:solidFill>
                <a:latin typeface="IJWACL+Calibri"/>
                <a:cs typeface="IJWACL+Calibri"/>
              </a:rPr>
              <a:t>the</a:t>
            </a:r>
            <a:r>
              <a:rPr sz="2050" spc="-3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15" dirty="0">
                <a:solidFill>
                  <a:srgbClr val="000000"/>
                </a:solidFill>
                <a:latin typeface="IJWACL+Calibri"/>
                <a:cs typeface="IJWACL+Calibri"/>
              </a:rPr>
              <a:t>process</a:t>
            </a:r>
            <a:r>
              <a:rPr sz="2050" spc="-5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IJWACL+Calibri"/>
                <a:cs typeface="IJWACL+Calibri"/>
              </a:rPr>
              <a:t>many</a:t>
            </a:r>
            <a:r>
              <a:rPr sz="2050" spc="-3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23" dirty="0">
                <a:solidFill>
                  <a:srgbClr val="000000"/>
                </a:solidFill>
                <a:latin typeface="IJWACL+Calibri"/>
                <a:cs typeface="IJWACL+Calibri"/>
              </a:rPr>
              <a:t>times.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3553851"/>
            <a:ext cx="4537075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Requirements</a:t>
            </a:r>
            <a:r>
              <a:rPr sz="2400" spc="-5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IJWACL+Calibri"/>
                <a:cs typeface="IJWACL+Calibri"/>
              </a:rPr>
              <a:t>for</a:t>
            </a:r>
            <a:r>
              <a:rPr sz="2400" spc="-4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base</a:t>
            </a:r>
            <a:r>
              <a:rPr sz="2400" spc="-1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classifier: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9297" y="4029617"/>
            <a:ext cx="10744087" cy="6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1900" spc="5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-17" dirty="0">
                <a:solidFill>
                  <a:srgbClr val="000000"/>
                </a:solidFill>
                <a:latin typeface="IJWACL+Calibri"/>
                <a:cs typeface="IJWACL+Calibri"/>
              </a:rPr>
              <a:t>Needs</a:t>
            </a:r>
            <a:r>
              <a:rPr sz="1900" spc="-3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36" dirty="0">
                <a:solidFill>
                  <a:srgbClr val="000000"/>
                </a:solidFill>
                <a:latin typeface="IJWACL+Calibri"/>
                <a:cs typeface="IJWACL+Calibri"/>
              </a:rPr>
              <a:t>to</a:t>
            </a:r>
            <a:r>
              <a:rPr sz="1900" spc="2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14" dirty="0">
                <a:solidFill>
                  <a:srgbClr val="000000"/>
                </a:solidFill>
                <a:latin typeface="IJWACL+Calibri"/>
                <a:cs typeface="IJWACL+Calibri"/>
              </a:rPr>
              <a:t>minimize</a:t>
            </a:r>
            <a:r>
              <a:rPr sz="1900" spc="-1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21" dirty="0">
                <a:solidFill>
                  <a:srgbClr val="000000"/>
                </a:solidFill>
                <a:latin typeface="IJWACL+Calibri"/>
                <a:cs typeface="IJWACL+Calibri"/>
              </a:rPr>
              <a:t>weighted</a:t>
            </a:r>
            <a:r>
              <a:rPr sz="1900" spc="1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22" dirty="0">
                <a:solidFill>
                  <a:srgbClr val="000000"/>
                </a:solidFill>
                <a:latin typeface="IJWACL+Calibri"/>
                <a:cs typeface="IJWACL+Calibri"/>
              </a:rPr>
              <a:t>error.</a:t>
            </a:r>
          </a:p>
          <a:p>
            <a:pPr marL="0" marR="0">
              <a:lnSpc>
                <a:spcPts val="2083"/>
              </a:lnSpc>
              <a:spcBef>
                <a:spcPts val="24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LGNVHC+Wingdings"/>
                <a:cs typeface="LGNVHC+Wingdings"/>
              </a:rPr>
              <a:t>➢</a:t>
            </a:r>
            <a:r>
              <a:rPr sz="1900" spc="5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-18" dirty="0">
                <a:solidFill>
                  <a:srgbClr val="000000"/>
                </a:solidFill>
                <a:latin typeface="IJWACL+Calibri"/>
                <a:cs typeface="IJWACL+Calibri"/>
              </a:rPr>
              <a:t>Ensemble</a:t>
            </a:r>
            <a:r>
              <a:rPr sz="190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14" dirty="0">
                <a:solidFill>
                  <a:srgbClr val="000000"/>
                </a:solidFill>
                <a:latin typeface="IJWACL+Calibri"/>
                <a:cs typeface="IJWACL+Calibri"/>
              </a:rPr>
              <a:t>may</a:t>
            </a:r>
            <a:r>
              <a:rPr sz="190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21" dirty="0">
                <a:solidFill>
                  <a:srgbClr val="000000"/>
                </a:solidFill>
                <a:latin typeface="IJWACL+Calibri"/>
                <a:cs typeface="IJWACL+Calibri"/>
              </a:rPr>
              <a:t>get</a:t>
            </a:r>
            <a:r>
              <a:rPr sz="190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23" dirty="0">
                <a:solidFill>
                  <a:srgbClr val="000000"/>
                </a:solidFill>
                <a:latin typeface="IJWACL+Calibri"/>
                <a:cs typeface="IJWACL+Calibri"/>
              </a:rPr>
              <a:t>very</a:t>
            </a:r>
            <a:r>
              <a:rPr sz="190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21" dirty="0">
                <a:solidFill>
                  <a:srgbClr val="000000"/>
                </a:solidFill>
                <a:latin typeface="IJWACL+Calibri"/>
                <a:cs typeface="IJWACL+Calibri"/>
              </a:rPr>
              <a:t>large,</a:t>
            </a:r>
            <a:r>
              <a:rPr sz="1900" spc="1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IJWACL+Calibri"/>
                <a:cs typeface="IJWACL+Calibri"/>
              </a:rPr>
              <a:t>so</a:t>
            </a:r>
            <a:r>
              <a:rPr sz="1900" spc="-86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10" dirty="0">
                <a:solidFill>
                  <a:srgbClr val="000000"/>
                </a:solidFill>
                <a:latin typeface="IJWACL+Calibri"/>
                <a:cs typeface="IJWACL+Calibri"/>
              </a:rPr>
              <a:t>base</a:t>
            </a:r>
            <a:r>
              <a:rPr sz="1900" spc="-1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13" dirty="0">
                <a:solidFill>
                  <a:srgbClr val="000000"/>
                </a:solidFill>
                <a:latin typeface="IJWACL+Calibri"/>
                <a:cs typeface="IJWACL+Calibri"/>
              </a:rPr>
              <a:t>classifier</a:t>
            </a:r>
            <a:r>
              <a:rPr sz="1900" spc="-2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12" dirty="0">
                <a:solidFill>
                  <a:srgbClr val="000000"/>
                </a:solidFill>
                <a:latin typeface="IJWACL+Calibri"/>
                <a:cs typeface="IJWACL+Calibri"/>
              </a:rPr>
              <a:t>must</a:t>
            </a:r>
            <a:r>
              <a:rPr sz="190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24" dirty="0">
                <a:solidFill>
                  <a:srgbClr val="000000"/>
                </a:solidFill>
                <a:latin typeface="IJWACL+Calibri"/>
                <a:cs typeface="IJWACL+Calibri"/>
              </a:rPr>
              <a:t>be</a:t>
            </a:r>
            <a:r>
              <a:rPr sz="190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24" dirty="0">
                <a:solidFill>
                  <a:srgbClr val="000000"/>
                </a:solidFill>
                <a:latin typeface="IJWACL+Calibri"/>
                <a:cs typeface="IJWACL+Calibri"/>
              </a:rPr>
              <a:t>fast.</a:t>
            </a:r>
            <a:r>
              <a:rPr sz="1900" spc="1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45" dirty="0">
                <a:solidFill>
                  <a:srgbClr val="000000"/>
                </a:solidFill>
                <a:latin typeface="IJWACL+Calibri"/>
                <a:cs typeface="IJWACL+Calibri"/>
              </a:rPr>
              <a:t>It</a:t>
            </a:r>
            <a:r>
              <a:rPr sz="1900" spc="-6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18" dirty="0">
                <a:solidFill>
                  <a:srgbClr val="000000"/>
                </a:solidFill>
                <a:latin typeface="IJWACL+Calibri"/>
                <a:cs typeface="IJWACL+Calibri"/>
              </a:rPr>
              <a:t>turns</a:t>
            </a:r>
            <a:r>
              <a:rPr sz="1900" spc="-3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26" dirty="0">
                <a:solidFill>
                  <a:srgbClr val="000000"/>
                </a:solidFill>
                <a:latin typeface="IJWACL+Calibri"/>
                <a:cs typeface="IJWACL+Calibri"/>
              </a:rPr>
              <a:t>out</a:t>
            </a:r>
            <a:r>
              <a:rPr sz="1900" dirty="0">
                <a:solidFill>
                  <a:srgbClr val="000000"/>
                </a:solidFill>
                <a:latin typeface="IJWACL+Calibri"/>
                <a:cs typeface="IJWACL+Calibri"/>
              </a:rPr>
              <a:t> that</a:t>
            </a:r>
            <a:r>
              <a:rPr sz="1900" spc="-1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16" dirty="0">
                <a:solidFill>
                  <a:srgbClr val="000000"/>
                </a:solidFill>
                <a:latin typeface="IJWACL+Calibri"/>
                <a:cs typeface="IJWACL+Calibri"/>
              </a:rPr>
              <a:t>any</a:t>
            </a:r>
            <a:r>
              <a:rPr sz="190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34" dirty="0">
                <a:solidFill>
                  <a:srgbClr val="000000"/>
                </a:solidFill>
                <a:latin typeface="IJWACL+Calibri"/>
                <a:cs typeface="IJWACL+Calibri"/>
              </a:rPr>
              <a:t>so</a:t>
            </a:r>
            <a:r>
              <a:rPr sz="1900" spc="-33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1900" spc="-13" dirty="0">
                <a:solidFill>
                  <a:srgbClr val="000000"/>
                </a:solidFill>
                <a:latin typeface="IJWACL+Calibri"/>
                <a:cs typeface="IJWACL+Calibri"/>
              </a:rPr>
              <a:t>-called</a:t>
            </a:r>
            <a:r>
              <a:rPr sz="190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050" spc="-32" dirty="0">
                <a:solidFill>
                  <a:srgbClr val="0B44E4"/>
                </a:solidFill>
                <a:latin typeface="IJWACL+Calibri"/>
                <a:cs typeface="IJWACL+Calibri"/>
              </a:rPr>
              <a:t>weak</a:t>
            </a:r>
            <a:r>
              <a:rPr sz="2050" dirty="0">
                <a:solidFill>
                  <a:srgbClr val="0B44E4"/>
                </a:solidFill>
                <a:latin typeface="IJWACL+Calibri"/>
                <a:cs typeface="IJWACL+Calibri"/>
              </a:rPr>
              <a:t> </a:t>
            </a:r>
            <a:r>
              <a:rPr sz="2050" spc="-18" dirty="0">
                <a:solidFill>
                  <a:srgbClr val="0B44E4"/>
                </a:solidFill>
                <a:latin typeface="IJWACL+Calibri"/>
                <a:cs typeface="IJWACL+Calibri"/>
              </a:rPr>
              <a:t>learner</a:t>
            </a:r>
            <a:r>
              <a:rPr sz="2050" spc="38" dirty="0">
                <a:solidFill>
                  <a:srgbClr val="0B44E4"/>
                </a:solidFill>
                <a:latin typeface="IJWACL+Calibri"/>
                <a:cs typeface="IJWACL+Calibri"/>
              </a:rPr>
              <a:t> </a:t>
            </a:r>
            <a:r>
              <a:rPr sz="2050" dirty="0">
                <a:solidFill>
                  <a:srgbClr val="0B44E4"/>
                </a:solidFill>
                <a:latin typeface="IJWACL+Calibri"/>
                <a:cs typeface="IJWACL+Calibri"/>
              </a:rPr>
              <a:t>/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72515" y="4661456"/>
            <a:ext cx="1894465" cy="295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spc="-15" dirty="0">
                <a:solidFill>
                  <a:srgbClr val="0B44E4"/>
                </a:solidFill>
                <a:latin typeface="IJWACL+Calibri"/>
                <a:cs typeface="IJWACL+Calibri"/>
              </a:rPr>
              <a:t>classifier</a:t>
            </a:r>
            <a:r>
              <a:rPr sz="2050" spc="10" dirty="0">
                <a:solidFill>
                  <a:srgbClr val="0B44E4"/>
                </a:solidFill>
                <a:latin typeface="IJWACL+Calibri"/>
                <a:cs typeface="IJWACL+Calibri"/>
              </a:rPr>
              <a:t> </a:t>
            </a:r>
            <a:r>
              <a:rPr sz="1900" spc="-16" dirty="0">
                <a:solidFill>
                  <a:srgbClr val="000000"/>
                </a:solidFill>
                <a:latin typeface="IJWACL+Calibri"/>
                <a:cs typeface="IJWACL+Calibri"/>
              </a:rPr>
              <a:t>suffices.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4007" y="5012794"/>
            <a:ext cx="10679014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CETJT+Arial"/>
                <a:cs typeface="BCETJT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Individually,</a:t>
            </a:r>
            <a:r>
              <a:rPr sz="2400" spc="-15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weak</a:t>
            </a:r>
            <a:r>
              <a:rPr sz="2400" spc="1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learners</a:t>
            </a:r>
            <a:r>
              <a:rPr sz="2400" spc="1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-31" dirty="0">
                <a:solidFill>
                  <a:srgbClr val="000000"/>
                </a:solidFill>
                <a:latin typeface="IJWACL+Calibri"/>
                <a:cs typeface="IJWACL+Calibri"/>
              </a:rPr>
              <a:t>may</a:t>
            </a:r>
            <a:r>
              <a:rPr sz="2400" spc="50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have</a:t>
            </a:r>
            <a:r>
              <a:rPr sz="2400" spc="-21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high </a:t>
            </a:r>
            <a:r>
              <a:rPr sz="2400" spc="11" dirty="0">
                <a:solidFill>
                  <a:srgbClr val="000000"/>
                </a:solidFill>
                <a:latin typeface="IJWACL+Calibri"/>
                <a:cs typeface="IJWACL+Calibri"/>
              </a:rPr>
              <a:t>bias</a:t>
            </a:r>
            <a:r>
              <a:rPr sz="2400" spc="-6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(underfit).</a:t>
            </a:r>
            <a:r>
              <a:rPr sz="2400" spc="-23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spc="44" dirty="0">
                <a:solidFill>
                  <a:srgbClr val="000000"/>
                </a:solidFill>
                <a:latin typeface="IJWACL+Calibri"/>
                <a:cs typeface="IJWACL+Calibri"/>
              </a:rPr>
              <a:t>By</a:t>
            </a:r>
            <a:r>
              <a:rPr sz="2400" spc="-9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making</a:t>
            </a:r>
            <a:r>
              <a:rPr sz="2400" spc="-28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each</a:t>
            </a:r>
            <a:r>
              <a:rPr sz="2400" spc="-1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classifier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7225" y="5432505"/>
            <a:ext cx="6522274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focus</a:t>
            </a:r>
            <a:r>
              <a:rPr sz="2400" spc="19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on</a:t>
            </a:r>
            <a:r>
              <a:rPr sz="2400" spc="-14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previous</a:t>
            </a:r>
            <a:r>
              <a:rPr sz="2400" spc="2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mistakes,</a:t>
            </a:r>
            <a:r>
              <a:rPr sz="2400" spc="-12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AdaBoost</a:t>
            </a:r>
            <a:r>
              <a:rPr sz="2400" spc="77" dirty="0">
                <a:solidFill>
                  <a:srgbClr val="000000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JWACL+Calibri"/>
                <a:cs typeface="IJWACL+Calibri"/>
              </a:rPr>
              <a:t>reduces</a:t>
            </a:r>
            <a:r>
              <a:rPr sz="2400" spc="24" dirty="0">
                <a:solidFill>
                  <a:srgbClr val="0B44E4"/>
                </a:solidFill>
                <a:latin typeface="IJWACL+Calibri"/>
                <a:cs typeface="IJWACL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JWACL+Calibri"/>
                <a:cs typeface="IJWACL+Calibri"/>
              </a:rPr>
              <a:t>bias</a:t>
            </a:r>
            <a:r>
              <a:rPr sz="2400" dirty="0">
                <a:solidFill>
                  <a:srgbClr val="000000"/>
                </a:solidFill>
                <a:latin typeface="IJWACL+Calibri"/>
                <a:cs typeface="IJWACL+Calibr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9769" y="519326"/>
            <a:ext cx="5177617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1.</a:t>
            </a:r>
            <a:r>
              <a:rPr sz="1350" spc="763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算法步骤</a:t>
            </a:r>
            <a:r>
              <a:rPr sz="13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</a:t>
            </a:r>
            <a:r>
              <a:rPr sz="1350" spc="18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AdaBoost 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通过⼀个循环过程来构建分类器集合：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9769" y="844907"/>
            <a:ext cx="8940167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步骤</a:t>
            </a:r>
            <a:r>
              <a:rPr sz="1350" spc="-355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spc="12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1（重加权）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：在每⼀轮迭代开始时，调整训练样本的权重。对于上⼀轮被分类错误的样本，增加它们的权重；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对于分类正确的样本，降低权重。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9769" y="1412944"/>
            <a:ext cx="8963374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步骤</a:t>
            </a:r>
            <a:r>
              <a:rPr sz="1350" spc="-355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2（训练）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：基于这些重新加权的样本，训练⼀个新的基分类器</a:t>
            </a:r>
            <a:r>
              <a:rPr sz="13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(Base </a:t>
            </a:r>
            <a:r>
              <a:rPr sz="1350" spc="1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Classiﬁer)。这个分类器会把重点放在处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理那些之前做错的样本上。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9769" y="1980980"/>
            <a:ext cx="8973070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步骤</a:t>
            </a:r>
            <a:r>
              <a:rPr sz="1350" spc="-355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3（集成）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：将这个新训练的基分类器加⼊到分类器集合中。注意，每个基分类器本身也会被分配⼀个权重（表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现越好的分类器，在最终决策中话语权越⼤）。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9769" y="2549017"/>
            <a:ext cx="4816707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步骤</a:t>
            </a:r>
            <a:r>
              <a:rPr sz="1350" spc="-355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4（重复）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：重复上述过程多次，构建出⼀系列分类器。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9769" y="3117053"/>
            <a:ext cx="1920240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2.</a:t>
            </a:r>
            <a:r>
              <a:rPr sz="1350" spc="-36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对基分类器的要求：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9769" y="3442635"/>
            <a:ext cx="6560128" cy="572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基分类器必须⽀持</a:t>
            </a: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最⼩化加权误差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（即能处理上⼀张幻灯⽚提到的加权代价函数）。</a:t>
            </a:r>
          </a:p>
          <a:p>
            <a:pPr marL="0" marR="0">
              <a:lnSpc>
                <a:spcPts val="1641"/>
              </a:lnSpc>
              <a:spcBef>
                <a:spcPts val="971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由于集成模型通常包含很多个基分类器，所以基分类器必须</a:t>
            </a: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计算速度快</a:t>
            </a:r>
            <a:r>
              <a:rPr sz="13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9769" y="4093799"/>
            <a:ext cx="8934799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弱分类器</a:t>
            </a:r>
            <a:r>
              <a:rPr sz="1350" spc="-355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(Weak</a:t>
            </a:r>
            <a:r>
              <a:rPr sz="1350" spc="-356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Learner)</a:t>
            </a:r>
            <a:r>
              <a:rPr sz="1350" spc="-358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即可满⾜要求：即那些准确率只需略⾼于随机猜测（&gt;50%）的简单模型（例如只有⼀层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深度的决策树，称为“决策树桩”）。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9769" y="4904290"/>
            <a:ext cx="2588895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3.</a:t>
            </a:r>
            <a:r>
              <a:rPr sz="1350" spc="-36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降低偏差</a:t>
            </a:r>
            <a:r>
              <a:rPr sz="1350" spc="-355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(Reducing</a:t>
            </a:r>
            <a:r>
              <a:rPr sz="1350" spc="-35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Bias)：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39769" y="5229872"/>
            <a:ext cx="6775392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单个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弱分类器通常太简单，存在</a:t>
            </a: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⾼偏差</a:t>
            </a:r>
            <a:r>
              <a:rPr sz="1350" spc="-355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(High</a:t>
            </a:r>
            <a:r>
              <a:rPr sz="1350" spc="-35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Bias)</a:t>
            </a:r>
            <a:r>
              <a:rPr sz="1350" spc="-358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和</a:t>
            </a:r>
            <a:r>
              <a:rPr sz="1350" spc="18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⽋拟合</a:t>
            </a:r>
            <a:r>
              <a:rPr sz="1350" spc="-355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(Underﬁtting)</a:t>
            </a:r>
            <a:r>
              <a:rPr sz="1350" spc="-358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的问题。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39769" y="5555454"/>
            <a:ext cx="8882845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Boosting</a:t>
            </a:r>
            <a:r>
              <a:rPr sz="1350" spc="-35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的作⽤</a:t>
            </a:r>
            <a:r>
              <a:rPr sz="1350" spc="1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：通过迫使每⼀个新的分类器去修正前⼀个分类器的错误，AdaBoost</a:t>
            </a:r>
            <a:r>
              <a:rPr sz="13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能够逐步逼近复杂的决策边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界。因此，AdaBoost</a:t>
            </a:r>
            <a:r>
              <a:rPr sz="13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的主要作⽤是降低偏差</a:t>
            </a:r>
            <a:r>
              <a:rPr sz="13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350" spc="1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(Bias)，将多个弱分类器组合成⼀个强分类器。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4196852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5" dirty="0">
                <a:solidFill>
                  <a:srgbClr val="001F5F"/>
                </a:solidFill>
                <a:latin typeface="ISBJBE+Calibri-Bold"/>
                <a:cs typeface="ISBJBE+Calibri-Bold"/>
              </a:rPr>
              <a:t>Weak</a:t>
            </a:r>
            <a:r>
              <a:rPr sz="3250" spc="-1227" dirty="0">
                <a:solidFill>
                  <a:srgbClr val="001F5F"/>
                </a:solidFill>
                <a:latin typeface="ISBJBE+Calibri-Bold"/>
                <a:cs typeface="ISBJBE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ISBJBE+Calibri-Bold"/>
                <a:cs typeface="ISBJBE+Calibri-Bold"/>
              </a:rPr>
              <a:t>Learner/Classifier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237338"/>
            <a:ext cx="10881970" cy="1125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(Informal)</a:t>
            </a:r>
            <a:r>
              <a:rPr sz="2400" spc="-7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Weak learner</a:t>
            </a:r>
            <a:r>
              <a:rPr sz="2400" spc="-3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OHNVRH+Calibri"/>
                <a:cs typeface="OHNVRH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learning</a:t>
            </a:r>
            <a:r>
              <a:rPr sz="2400" spc="-2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algorithm</a:t>
            </a:r>
            <a:r>
              <a:rPr sz="2400" spc="1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OHNVRH+Calibri"/>
                <a:cs typeface="OHNVRH+Calibri"/>
              </a:rPr>
              <a:t>that</a:t>
            </a:r>
            <a:r>
              <a:rPr sz="2400" spc="2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outputs</a:t>
            </a:r>
            <a:r>
              <a:rPr sz="2400" spc="1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hypothesis</a:t>
            </a:r>
            <a:r>
              <a:rPr sz="2400" spc="19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(e.g.,</a:t>
            </a:r>
            <a:r>
              <a:rPr sz="2400" spc="-26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a</a:t>
            </a:r>
          </a:p>
          <a:p>
            <a:pPr marL="343217" marR="0">
              <a:lnSpc>
                <a:spcPts val="2402"/>
              </a:lnSpc>
              <a:spcBef>
                <a:spcPts val="40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classifier) that</a:t>
            </a:r>
            <a:r>
              <a:rPr sz="2400" spc="-7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performs</a:t>
            </a:r>
            <a:r>
              <a:rPr sz="2400" spc="-6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slightly</a:t>
            </a:r>
            <a:r>
              <a:rPr sz="2400" spc="2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better</a:t>
            </a:r>
            <a:r>
              <a:rPr sz="2400" spc="5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OHNVRH+Calibri"/>
                <a:cs typeface="OHNVRH+Calibri"/>
              </a:rPr>
              <a:t>than</a:t>
            </a:r>
            <a:r>
              <a:rPr sz="2400" spc="18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chance,</a:t>
            </a:r>
            <a:r>
              <a:rPr sz="2400" spc="6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e.g.,</a:t>
            </a:r>
            <a:r>
              <a:rPr sz="2400" spc="-2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OHNVRH+Calibri"/>
                <a:cs typeface="OHNVRH+Calibri"/>
              </a:rPr>
              <a:t>it</a:t>
            </a:r>
            <a:r>
              <a:rPr sz="2400" spc="26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predicts</a:t>
            </a:r>
            <a:r>
              <a:rPr sz="2400" spc="2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OHNVRH+Calibri"/>
                <a:cs typeface="OHNVRH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correct label</a:t>
            </a:r>
          </a:p>
          <a:p>
            <a:pPr marL="343217" marR="0">
              <a:lnSpc>
                <a:spcPts val="2402"/>
              </a:lnSpc>
              <a:spcBef>
                <a:spcPts val="57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with probability</a:t>
            </a:r>
            <a:r>
              <a:rPr sz="2400" spc="2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OHNVRH+Calibri"/>
                <a:cs typeface="OHNVRH+Calibri"/>
              </a:rPr>
              <a:t>0.51</a:t>
            </a:r>
            <a:r>
              <a:rPr sz="2400" spc="5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OHNVRH+Calibri"/>
                <a:cs typeface="OHNVRH+Calibri"/>
              </a:rPr>
              <a:t>in</a:t>
            </a:r>
            <a:r>
              <a:rPr sz="2400" spc="2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binary</a:t>
            </a:r>
            <a:r>
              <a:rPr sz="2400" spc="-6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label</a:t>
            </a:r>
            <a:r>
              <a:rPr sz="2400" spc="-48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OHNVRH+Calibri"/>
                <a:cs typeface="OHNVRH+Calibri"/>
              </a:rPr>
              <a:t>case.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2334364"/>
            <a:ext cx="9147828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OHNVRH+Calibri"/>
                <a:cs typeface="OHNVRH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OHNVRH+Calibri"/>
                <a:cs typeface="OHNVRH+Calibri"/>
              </a:rPr>
              <a:t>are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 interested</a:t>
            </a:r>
            <a:r>
              <a:rPr sz="2400" spc="-1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OHNVRH+Calibri"/>
                <a:cs typeface="OHNVRH+Calibri"/>
              </a:rPr>
              <a:t>in</a:t>
            </a:r>
            <a:r>
              <a:rPr sz="2400" spc="2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weak</a:t>
            </a:r>
            <a:r>
              <a:rPr sz="2400" spc="1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learners</a:t>
            </a:r>
            <a:r>
              <a:rPr sz="2400" spc="-6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that </a:t>
            </a:r>
            <a:r>
              <a:rPr sz="2400" spc="-18" dirty="0">
                <a:solidFill>
                  <a:srgbClr val="000000"/>
                </a:solidFill>
                <a:latin typeface="OHNVRH+Calibri"/>
                <a:cs typeface="OHNVRH+Calibri"/>
              </a:rPr>
              <a:t>are</a:t>
            </a:r>
            <a:r>
              <a:rPr sz="2400" spc="11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TPUTWT+Calibri-Italic"/>
                <a:cs typeface="TPUTWT+Calibri-Italic"/>
              </a:rPr>
              <a:t>computationally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efficient.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6932" y="2811568"/>
            <a:ext cx="8353321" cy="751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TFPMGG+Wingdings"/>
                <a:cs typeface="TFPMGG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Decision trees</a:t>
            </a:r>
          </a:p>
          <a:p>
            <a:pPr marL="0" marR="0">
              <a:lnSpc>
                <a:spcPts val="2666"/>
              </a:lnSpc>
              <a:spcBef>
                <a:spcPts val="43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TFPMGG+Wingdings"/>
                <a:cs typeface="TFPMGG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Even simpler: </a:t>
            </a:r>
            <a:r>
              <a:rPr sz="2400" dirty="0">
                <a:solidFill>
                  <a:srgbClr val="0B44E4"/>
                </a:solidFill>
                <a:latin typeface="OHNVRH+Calibri"/>
                <a:cs typeface="OHNVRH+Calibri"/>
              </a:rPr>
              <a:t>Decision Stump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:</a:t>
            </a:r>
            <a:r>
              <a:rPr sz="2400" spc="1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A</a:t>
            </a:r>
            <a:r>
              <a:rPr sz="2400" spc="-55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decision</a:t>
            </a:r>
            <a:r>
              <a:rPr sz="2400" spc="-1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tree</a:t>
            </a:r>
            <a:r>
              <a:rPr sz="2400" spc="-1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with a</a:t>
            </a:r>
            <a:r>
              <a:rPr sz="2400" spc="-4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single</a:t>
            </a:r>
            <a:r>
              <a:rPr sz="2400" spc="-1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split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3887" y="4010345"/>
            <a:ext cx="10568112" cy="931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4"/>
              </a:lnSpc>
              <a:spcBef>
                <a:spcPts val="0"/>
              </a:spcBef>
              <a:spcAft>
                <a:spcPts val="0"/>
              </a:spcAft>
            </a:pPr>
            <a:r>
              <a:rPr sz="2050" spc="-23" dirty="0">
                <a:solidFill>
                  <a:srgbClr val="000000"/>
                </a:solidFill>
                <a:latin typeface="IGJELP+Calibri"/>
                <a:cs typeface="IGJELP+Calibri"/>
              </a:rPr>
              <a:t>[Formal</a:t>
            </a:r>
            <a:r>
              <a:rPr sz="2050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spc="-17" dirty="0">
                <a:solidFill>
                  <a:srgbClr val="000000"/>
                </a:solidFill>
                <a:latin typeface="IGJELP+Calibri"/>
                <a:cs typeface="IGJELP+Calibri"/>
              </a:rPr>
              <a:t>definition</a:t>
            </a:r>
            <a:r>
              <a:rPr sz="2050" spc="-23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spc="-31" dirty="0">
                <a:solidFill>
                  <a:srgbClr val="000000"/>
                </a:solidFill>
                <a:latin typeface="IGJELP+Calibri"/>
                <a:cs typeface="IGJELP+Calibri"/>
              </a:rPr>
              <a:t>of</a:t>
            </a:r>
            <a:r>
              <a:rPr sz="2050" dirty="0">
                <a:solidFill>
                  <a:srgbClr val="000000"/>
                </a:solidFill>
                <a:latin typeface="IGJELP+Calibri"/>
                <a:cs typeface="IGJELP+Calibri"/>
              </a:rPr>
              <a:t> weak</a:t>
            </a:r>
            <a:r>
              <a:rPr sz="2050" spc="-34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spc="-15" dirty="0">
                <a:solidFill>
                  <a:srgbClr val="000000"/>
                </a:solidFill>
                <a:latin typeface="IGJELP+Calibri"/>
                <a:cs typeface="IGJELP+Calibri"/>
              </a:rPr>
              <a:t>learnability</a:t>
            </a:r>
            <a:r>
              <a:rPr sz="2050" spc="-30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spc="-19" dirty="0">
                <a:solidFill>
                  <a:srgbClr val="000000"/>
                </a:solidFill>
                <a:latin typeface="IGJELP+Calibri"/>
                <a:cs typeface="IGJELP+Calibri"/>
              </a:rPr>
              <a:t>has</a:t>
            </a:r>
            <a:r>
              <a:rPr sz="2050" spc="-42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spc="-15" dirty="0">
                <a:solidFill>
                  <a:srgbClr val="000000"/>
                </a:solidFill>
                <a:latin typeface="IGJELP+Calibri"/>
                <a:cs typeface="IGJELP+Calibri"/>
              </a:rPr>
              <a:t>quantifies</a:t>
            </a:r>
            <a:r>
              <a:rPr sz="2050" spc="-50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spc="-16" dirty="0">
                <a:solidFill>
                  <a:srgbClr val="000000"/>
                </a:solidFill>
                <a:latin typeface="IGJELP+Calibri"/>
                <a:cs typeface="IGJELP+Calibri"/>
              </a:rPr>
              <a:t>such</a:t>
            </a:r>
            <a:r>
              <a:rPr sz="2050" spc="-24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spc="-11" dirty="0">
                <a:solidFill>
                  <a:srgbClr val="000000"/>
                </a:solidFill>
                <a:latin typeface="IGJELP+Calibri"/>
                <a:cs typeface="IGJELP+Calibri"/>
              </a:rPr>
              <a:t>as</a:t>
            </a:r>
            <a:r>
              <a:rPr sz="2050" spc="-50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IGJELP+Calibri"/>
                <a:cs typeface="IGJELP+Calibri"/>
              </a:rPr>
              <a:t>“for</a:t>
            </a:r>
            <a:r>
              <a:rPr sz="2050" spc="-48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spc="-17" dirty="0">
                <a:solidFill>
                  <a:srgbClr val="000000"/>
                </a:solidFill>
                <a:latin typeface="IGJELP+Calibri"/>
                <a:cs typeface="IGJELP+Calibri"/>
              </a:rPr>
              <a:t>any</a:t>
            </a:r>
            <a:r>
              <a:rPr sz="2050" spc="-24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spc="-19" dirty="0">
                <a:solidFill>
                  <a:srgbClr val="000000"/>
                </a:solidFill>
                <a:latin typeface="IGJELP+Calibri"/>
                <a:cs typeface="IGJELP+Calibri"/>
              </a:rPr>
              <a:t>distribution</a:t>
            </a:r>
            <a:r>
              <a:rPr sz="2050" spc="-21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IGJELP+Calibri"/>
                <a:cs typeface="IGJELP+Calibri"/>
              </a:rPr>
              <a:t>over</a:t>
            </a:r>
            <a:r>
              <a:rPr sz="2050" spc="-43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spc="-14" dirty="0">
                <a:solidFill>
                  <a:srgbClr val="000000"/>
                </a:solidFill>
                <a:latin typeface="IGJELP+Calibri"/>
                <a:cs typeface="IGJELP+Calibri"/>
              </a:rPr>
              <a:t>data”</a:t>
            </a:r>
            <a:r>
              <a:rPr sz="2050" spc="-28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spc="-17" dirty="0">
                <a:solidFill>
                  <a:srgbClr val="000000"/>
                </a:solidFill>
                <a:latin typeface="IGJELP+Calibri"/>
                <a:cs typeface="IGJELP+Calibri"/>
              </a:rPr>
              <a:t>and</a:t>
            </a:r>
            <a:r>
              <a:rPr sz="2050" spc="-23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050" spc="-19" dirty="0">
                <a:solidFill>
                  <a:srgbClr val="000000"/>
                </a:solidFill>
                <a:latin typeface="IGJELP+Calibri"/>
                <a:cs typeface="IGJELP+Calibri"/>
              </a:rPr>
              <a:t>the</a:t>
            </a:r>
          </a:p>
          <a:p>
            <a:pPr marL="0" marR="0">
              <a:lnSpc>
                <a:spcPts val="2027"/>
              </a:lnSpc>
              <a:spcBef>
                <a:spcPts val="338"/>
              </a:spcBef>
              <a:spcAft>
                <a:spcPts val="0"/>
              </a:spcAft>
            </a:pPr>
            <a:r>
              <a:rPr sz="2050" spc="-23" dirty="0">
                <a:solidFill>
                  <a:srgbClr val="000000"/>
                </a:solidFill>
                <a:latin typeface="OHNVRH+Calibri"/>
                <a:cs typeface="OHNVRH+Calibri"/>
              </a:rPr>
              <a:t>requirement</a:t>
            </a:r>
            <a:r>
              <a:rPr sz="205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16" dirty="0">
                <a:solidFill>
                  <a:srgbClr val="000000"/>
                </a:solidFill>
                <a:latin typeface="OHNVRH+Calibri"/>
                <a:cs typeface="OHNVRH+Calibri"/>
              </a:rPr>
              <a:t>that</a:t>
            </a:r>
            <a:r>
              <a:rPr sz="205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14" dirty="0">
                <a:solidFill>
                  <a:srgbClr val="000000"/>
                </a:solidFill>
                <a:latin typeface="OHNVRH+Calibri"/>
                <a:cs typeface="OHNVRH+Calibri"/>
              </a:rPr>
              <a:t>its</a:t>
            </a:r>
            <a:r>
              <a:rPr sz="2050" spc="18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19" dirty="0">
                <a:solidFill>
                  <a:srgbClr val="000000"/>
                </a:solidFill>
                <a:latin typeface="OHNVRH+Calibri"/>
                <a:cs typeface="OHNVRH+Calibri"/>
              </a:rPr>
              <a:t>guarantee</a:t>
            </a:r>
            <a:r>
              <a:rPr sz="2050" spc="-39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26" dirty="0">
                <a:solidFill>
                  <a:srgbClr val="000000"/>
                </a:solidFill>
                <a:latin typeface="OHNVRH+Calibri"/>
                <a:cs typeface="OHNVRH+Calibri"/>
              </a:rPr>
              <a:t>holds</a:t>
            </a:r>
            <a:r>
              <a:rPr sz="2050" spc="3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26" dirty="0">
                <a:solidFill>
                  <a:srgbClr val="000000"/>
                </a:solidFill>
                <a:latin typeface="OHNVRH+Calibri"/>
                <a:cs typeface="OHNVRH+Calibri"/>
              </a:rPr>
              <a:t>only</a:t>
            </a:r>
            <a:r>
              <a:rPr sz="2050" spc="-15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19" dirty="0">
                <a:solidFill>
                  <a:srgbClr val="000000"/>
                </a:solidFill>
                <a:latin typeface="OHNVRH+Calibri"/>
                <a:cs typeface="OHNVRH+Calibri"/>
              </a:rPr>
              <a:t>probabilistically.]</a:t>
            </a:r>
          </a:p>
          <a:p>
            <a:pPr marL="4847644" marR="0">
              <a:lnSpc>
                <a:spcPts val="1313"/>
              </a:lnSpc>
              <a:spcBef>
                <a:spcPts val="882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计算效率</a:t>
            </a:r>
            <a:r>
              <a:rPr sz="1100" spc="-296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(Computationally</a:t>
            </a:r>
            <a:r>
              <a:rPr sz="1100" spc="-296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Eﬃcient)：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1103" y="4797377"/>
            <a:ext cx="2343358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⾮正式定义</a:t>
            </a:r>
            <a:r>
              <a:rPr sz="1100" spc="-296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(Informal</a:t>
            </a:r>
            <a:r>
              <a:rPr sz="1100" spc="-29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Deﬁnition)：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71532" y="5014424"/>
            <a:ext cx="5663877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我们不仅要求它能分类，还要求它计算速度⾮常快。因为 Boosting 需要串⾏训练成百上千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个这样的分类器，如果单个分类器太慢，整体训练时间将不可接受。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1103" y="5074468"/>
            <a:ext cx="4308764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弱学习器是⼀种学习算法，它输出的假设（模型）只需要⽐随机猜测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(Chance) 稍微好⼀点点即可。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71532" y="5485478"/>
            <a:ext cx="845127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⾸选模型：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71103" y="5545522"/>
            <a:ext cx="4719690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在⼆分类问题（⽐如抛硬币猜正反）中，随机猜测的准确率是 50% (0.5)。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71532" y="5762569"/>
            <a:ext cx="3297521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1.</a:t>
            </a:r>
            <a:r>
              <a:rPr sz="1100" spc="87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决策树 (Decision Trees)：特别是⾮常浅的树。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71103" y="5822613"/>
            <a:ext cx="4655266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因此，⼀个弱分类器只要能在新数据上达到 51% (0.51) 的准确率，就被认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为是合格的。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471532" y="6039660"/>
            <a:ext cx="5480443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2.</a:t>
            </a:r>
            <a:r>
              <a:rPr sz="1100" spc="658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决策树桩 (Decision Stump)：这是最简单的决策树，它只包含⼀个分裂节点 (single</a:t>
            </a:r>
          </a:p>
          <a:p>
            <a:pPr marL="249381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split)。也就是只问⼀个问题（⽐如“x &gt; 5 吗？”）就⽴即做决定。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289872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5" dirty="0">
                <a:solidFill>
                  <a:srgbClr val="001F5F"/>
                </a:solidFill>
                <a:latin typeface="ISBJBE+Calibri-Bold"/>
                <a:cs typeface="ISBJBE+Calibri-Bold"/>
              </a:rPr>
              <a:t>Weak</a:t>
            </a:r>
            <a:r>
              <a:rPr sz="3250" spc="-1227" dirty="0">
                <a:solidFill>
                  <a:srgbClr val="001F5F"/>
                </a:solidFill>
                <a:latin typeface="ISBJBE+Calibri-Bold"/>
                <a:cs typeface="ISBJBE+Calibri-Bold"/>
              </a:rPr>
              <a:t> </a:t>
            </a:r>
            <a:r>
              <a:rPr sz="3250" spc="-13" dirty="0">
                <a:solidFill>
                  <a:srgbClr val="001F5F"/>
                </a:solidFill>
                <a:latin typeface="ISBJBE+Calibri-Bold"/>
                <a:cs typeface="ISBJBE+Calibri-Bold"/>
              </a:rPr>
              <a:t>Classifiers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71011" y="1057639"/>
            <a:ext cx="3377564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左图</a:t>
            </a:r>
            <a:r>
              <a:rPr sz="1350" spc="-355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(Vertical)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：这是通过垂直切分（例如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x1 &lt;</a:t>
            </a:r>
            <a:r>
              <a:rPr sz="1350" spc="1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350" spc="1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threshold）得到的分类边界。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71011" y="1625676"/>
            <a:ext cx="3418434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右图</a:t>
            </a:r>
            <a:r>
              <a:rPr sz="1350" spc="-355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(Horizontal)</a:t>
            </a:r>
            <a:r>
              <a:rPr sz="13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：这是通过⽔平切分（例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如</a:t>
            </a:r>
            <a:r>
              <a:rPr sz="1350" spc="18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x2 &lt;</a:t>
            </a:r>
            <a:r>
              <a:rPr sz="1350" spc="1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350" spc="1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threshold）得到的分类边界。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20631" y="2451084"/>
            <a:ext cx="3488437" cy="59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⽆论是垂直切还是⽔平切，单⼀的决策树桩都⽆法完美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地将所有 + 和</a:t>
            </a:r>
            <a:r>
              <a:rPr sz="1100" spc="-1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- 分开。它们只能做到“⼤概分对了⼀部</a:t>
            </a:r>
          </a:p>
          <a:p>
            <a:pPr marL="0" marR="0">
              <a:lnSpc>
                <a:spcPts val="1313"/>
              </a:lnSpc>
              <a:spcBef>
                <a:spcPts val="26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分”，这正符合“弱分类器”的定义。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4344" y="3305334"/>
            <a:ext cx="10603897" cy="7060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These</a:t>
            </a:r>
            <a:r>
              <a:rPr sz="2400" spc="-1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weak</a:t>
            </a:r>
            <a:r>
              <a:rPr sz="2400" spc="18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classifiers,</a:t>
            </a:r>
            <a:r>
              <a:rPr sz="2400" spc="58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OHNVRH+Calibri"/>
                <a:cs typeface="OHNVRH+Calibri"/>
              </a:rPr>
              <a:t>which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OHNVRH+Calibri"/>
                <a:cs typeface="OHNVRH+Calibri"/>
              </a:rPr>
              <a:t>are</a:t>
            </a:r>
            <a:r>
              <a:rPr sz="2400" spc="-3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decision stumps,</a:t>
            </a:r>
            <a:r>
              <a:rPr sz="2400" spc="-15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consist</a:t>
            </a:r>
            <a:r>
              <a:rPr sz="2400" spc="-75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of </a:t>
            </a:r>
            <a:r>
              <a:rPr sz="2400" spc="15" dirty="0">
                <a:solidFill>
                  <a:srgbClr val="000000"/>
                </a:solidFill>
                <a:latin typeface="OHNVRH+Calibri"/>
                <a:cs typeface="OHNVRH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OHNVRH+Calibri"/>
                <a:cs typeface="OHNVRH+Calibri"/>
              </a:rPr>
              <a:t>set</a:t>
            </a:r>
            <a:r>
              <a:rPr sz="2400" spc="2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of horizonal</a:t>
            </a:r>
            <a:r>
              <a:rPr sz="2400" spc="-4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30" dirty="0">
                <a:solidFill>
                  <a:srgbClr val="000000"/>
                </a:solidFill>
                <a:latin typeface="OHNVRH+Calibri"/>
                <a:cs typeface="OHNVRH+Calibri"/>
              </a:rPr>
              <a:t>and</a:t>
            </a:r>
          </a:p>
          <a:p>
            <a:pPr marL="0" marR="0">
              <a:lnSpc>
                <a:spcPts val="2402"/>
              </a:lnSpc>
              <a:spcBef>
                <a:spcPts val="45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vertical</a:t>
            </a:r>
            <a:r>
              <a:rPr sz="2400" spc="-46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OHNVRH+Calibri"/>
                <a:cs typeface="OHNVRH+Calibri"/>
              </a:rPr>
              <a:t>half</a:t>
            </a:r>
            <a:r>
              <a:rPr sz="2400" spc="-1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spaces.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289872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5" dirty="0">
                <a:solidFill>
                  <a:srgbClr val="001F5F"/>
                </a:solidFill>
                <a:latin typeface="ISBJBE+Calibri-Bold"/>
                <a:cs typeface="ISBJBE+Calibri-Bold"/>
              </a:rPr>
              <a:t>Weak</a:t>
            </a:r>
            <a:r>
              <a:rPr sz="3250" spc="-1227" dirty="0">
                <a:solidFill>
                  <a:srgbClr val="001F5F"/>
                </a:solidFill>
                <a:latin typeface="ISBJBE+Calibri-Bold"/>
                <a:cs typeface="ISBJBE+Calibri-Bold"/>
              </a:rPr>
              <a:t> </a:t>
            </a:r>
            <a:r>
              <a:rPr sz="3250" spc="-13" dirty="0">
                <a:solidFill>
                  <a:srgbClr val="001F5F"/>
                </a:solidFill>
                <a:latin typeface="ISBJBE+Calibri-Bold"/>
                <a:cs typeface="ISBJBE+Calibri-Bold"/>
              </a:rPr>
              <a:t>Classifiers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1055" y="887536"/>
            <a:ext cx="3789218" cy="73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⼀个单独的弱分类器（如决策树桩）太简单了，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它⽆法使训练误差变得很⼩（即⾼偏差</a:t>
            </a:r>
            <a:r>
              <a:rPr sz="1350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 High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2" dirty="0">
                <a:solidFill>
                  <a:srgbClr val="000000"/>
                </a:solidFill>
                <a:latin typeface="EHSILK+PingFangSC-Regular"/>
                <a:cs typeface="EHSILK+PingFangSC-Regular"/>
              </a:rPr>
              <a:t>Bias）。它⽆法拟合复杂的数据分布。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71778" y="911553"/>
            <a:ext cx="4227022" cy="786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虽然单个分类器很弱，但只要它保证⽐随机猜测好⼀点点，那么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AdaBoost 就可以通过组合它们，最终逼近任意复杂的函数</a:t>
            </a:r>
          </a:p>
          <a:p>
            <a:pPr marL="0" marR="0">
              <a:lnSpc>
                <a:spcPts val="1313"/>
              </a:lnSpc>
              <a:spcBef>
                <a:spcPts val="26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（Universal Function Approximator）。</a:t>
            </a:r>
            <a:r>
              <a:rPr sz="110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AdaBoost </a:t>
            </a: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能把⾼偏差的弱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分类器组合成⼀个低偏差的强模型。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2569314"/>
            <a:ext cx="11452889" cy="753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A </a:t>
            </a:r>
            <a:r>
              <a:rPr sz="2400" dirty="0">
                <a:solidFill>
                  <a:srgbClr val="000000"/>
                </a:solidFill>
                <a:latin typeface="TPUTWT+Calibri-Italic"/>
                <a:cs typeface="TPUTWT+Calibri-Italic"/>
              </a:rPr>
              <a:t>single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weak</a:t>
            </a:r>
            <a:r>
              <a:rPr sz="2400" spc="18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classifier</a:t>
            </a:r>
            <a:r>
              <a:rPr sz="2400" spc="-29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OHNVRH+Calibri"/>
                <a:cs typeface="OHNVRH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not</a:t>
            </a:r>
            <a:r>
              <a:rPr sz="2400" spc="-8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capable</a:t>
            </a:r>
            <a:r>
              <a:rPr sz="2400" spc="-2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of </a:t>
            </a:r>
            <a:r>
              <a:rPr sz="2400" spc="-10" dirty="0">
                <a:solidFill>
                  <a:srgbClr val="000000"/>
                </a:solidFill>
                <a:latin typeface="OHNVRH+Calibri"/>
                <a:cs typeface="OHNVRH+Calibri"/>
              </a:rPr>
              <a:t>making</a:t>
            </a:r>
            <a:r>
              <a:rPr sz="2400" spc="-1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OHNVRH+Calibri"/>
                <a:cs typeface="OHNVRH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training</a:t>
            </a:r>
            <a:r>
              <a:rPr sz="2400" spc="5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error</a:t>
            </a:r>
            <a:r>
              <a:rPr sz="2400" spc="-2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small</a:t>
            </a:r>
          </a:p>
          <a:p>
            <a:pPr marL="0" marR="0">
              <a:lnSpc>
                <a:spcPts val="2684"/>
              </a:lnSpc>
              <a:spcBef>
                <a:spcPts val="2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But</a:t>
            </a:r>
            <a:r>
              <a:rPr sz="2400" spc="1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OHNVRH+Calibri"/>
                <a:cs typeface="OHNVRH+Calibri"/>
              </a:rPr>
              <a:t>if</a:t>
            </a:r>
            <a:r>
              <a:rPr sz="2400" spc="2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can guarantee</a:t>
            </a:r>
            <a:r>
              <a:rPr sz="2400" spc="68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OHNVRH+Calibri"/>
                <a:cs typeface="OHNVRH+Calibri"/>
              </a:rPr>
              <a:t>that</a:t>
            </a:r>
            <a:r>
              <a:rPr sz="2400" spc="2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OHNVRH+Calibri"/>
                <a:cs typeface="OHNVRH+Calibri"/>
              </a:rPr>
              <a:t>it</a:t>
            </a:r>
            <a:r>
              <a:rPr sz="2400" spc="48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performs</a:t>
            </a:r>
            <a:r>
              <a:rPr sz="2400" spc="2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slightly</a:t>
            </a:r>
            <a:r>
              <a:rPr sz="2400" spc="-5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better</a:t>
            </a:r>
            <a:r>
              <a:rPr sz="2400" spc="5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than chance,</a:t>
            </a:r>
            <a:r>
              <a:rPr sz="2400" spc="-1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i.e., </a:t>
            </a:r>
            <a:r>
              <a:rPr sz="2400" spc="15" dirty="0">
                <a:solidFill>
                  <a:srgbClr val="000000"/>
                </a:solidFill>
                <a:latin typeface="OHNVRH+Calibri"/>
                <a:cs typeface="OHNVRH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weighted error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37344" y="3306649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JLDRBV+Cambria Math"/>
                <a:cs typeface="JLDRBV+Cambria Math"/>
              </a:rPr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7225" y="3418956"/>
            <a:ext cx="11064467" cy="38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of classifier</a:t>
            </a:r>
            <a:r>
              <a:rPr sz="2400" spc="-2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587" dirty="0">
                <a:solidFill>
                  <a:srgbClr val="000000"/>
                </a:solidFill>
                <a:latin typeface="JLDRBV+Cambria Math"/>
                <a:cs typeface="JLDRBV+Cambria Math"/>
              </a:rPr>
              <a:t>ℎ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according</a:t>
            </a:r>
            <a:r>
              <a:rPr sz="2400" spc="55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OHNVRH+Calibri"/>
                <a:cs typeface="OHNVRH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OHNVRH+Calibri"/>
                <a:cs typeface="OHNVRH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given </a:t>
            </a:r>
            <a:r>
              <a:rPr sz="2400" spc="-10" dirty="0">
                <a:solidFill>
                  <a:srgbClr val="000000"/>
                </a:solidFill>
                <a:latin typeface="OHNVRH+Calibri"/>
                <a:cs typeface="OHNVRH+Calibri"/>
              </a:rPr>
              <a:t>weights</a:t>
            </a:r>
            <a:r>
              <a:rPr sz="2400" spc="7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665" dirty="0">
                <a:solidFill>
                  <a:srgbClr val="000000"/>
                </a:solidFill>
                <a:latin typeface="JLDRBV+Cambria Math"/>
                <a:cs typeface="JLDRBV+Cambria Math"/>
              </a:rPr>
              <a:t>ꢀ=</a:t>
            </a:r>
            <a:r>
              <a:rPr sz="2400" spc="-4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ꢁ</a:t>
            </a:r>
            <a:r>
              <a:rPr sz="2400" spc="-4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6" dirty="0">
                <a:solidFill>
                  <a:srgbClr val="000000"/>
                </a:solidFill>
                <a:latin typeface="JLDRBV+Cambria Math"/>
                <a:cs typeface="JLDRBV+Cambria Math"/>
              </a:rPr>
              <a:t>,⋯,ꢁ</a:t>
            </a:r>
            <a:r>
              <a:rPr sz="2400" spc="109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OHNVRH+Calibri"/>
                <a:cs typeface="OHNVRH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OHNVRH+Calibri"/>
                <a:cs typeface="OHNVRH+Calibri"/>
              </a:rPr>
              <a:t>at</a:t>
            </a:r>
            <a:r>
              <a:rPr sz="2400" spc="2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most</a:t>
            </a:r>
            <a:r>
              <a:rPr sz="2400" spc="155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567" dirty="0">
                <a:solidFill>
                  <a:srgbClr val="000000"/>
                </a:solidFill>
                <a:latin typeface="JLDRBV+Cambria Math"/>
                <a:cs typeface="JLDRBV+Cambria Math"/>
              </a:rPr>
              <a:t>−ꢃ</a:t>
            </a:r>
            <a:r>
              <a:rPr sz="2400" spc="11" dirty="0">
                <a:solidFill>
                  <a:srgbClr val="000000"/>
                </a:solidFill>
                <a:latin typeface="OHNVRH+Calibri"/>
                <a:cs typeface="OHNVRH+Calibri"/>
              </a:rPr>
              <a:t>for</a:t>
            </a:r>
            <a:r>
              <a:rPr sz="2400" spc="-4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some</a:t>
            </a:r>
          </a:p>
          <a:p>
            <a:pPr marL="6538976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JLDRBV+Cambria Math"/>
                <a:cs typeface="JLDRBV+Cambria Math"/>
              </a:rPr>
              <a:t>1</a:t>
            </a:r>
            <a:r>
              <a:rPr sz="1750" spc="49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JLDRBV+Cambria Math"/>
                <a:cs typeface="JLDRBV+Cambria Math"/>
              </a:rPr>
              <a:t>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737344" y="3639135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JLDRBV+Cambria Math"/>
                <a:cs typeface="JLDRBV+Cambria Math"/>
              </a:rPr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7225" y="3857868"/>
            <a:ext cx="9199952" cy="352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467" dirty="0">
                <a:solidFill>
                  <a:srgbClr val="000000"/>
                </a:solidFill>
                <a:latin typeface="JLDRBV+Cambria Math"/>
                <a:cs typeface="JLDRBV+Cambria Math"/>
              </a:rPr>
              <a:t>ꢃ&gt;0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using</a:t>
            </a:r>
            <a:r>
              <a:rPr sz="2400" spc="-3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OHNVRH+Calibri"/>
                <a:cs typeface="OHNVRH+Calibri"/>
              </a:rPr>
              <a:t>it</a:t>
            </a:r>
            <a:r>
              <a:rPr sz="2400" spc="26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with AdaBoost gives</a:t>
            </a:r>
            <a:r>
              <a:rPr sz="2400" spc="-5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OHNVRH+Calibri"/>
                <a:cs typeface="OHNVRH+Calibri"/>
              </a:rPr>
              <a:t>us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 a</a:t>
            </a:r>
            <a:r>
              <a:rPr sz="2400" spc="-4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universal</a:t>
            </a:r>
            <a:r>
              <a:rPr sz="2400" spc="-46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function approximator!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4007" y="4181198"/>
            <a:ext cx="11064548" cy="1125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Last lecture</a:t>
            </a:r>
            <a:r>
              <a:rPr sz="2400" spc="-1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used information gain</a:t>
            </a:r>
            <a:r>
              <a:rPr sz="2400" spc="-1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OHNVRH+Calibri"/>
                <a:cs typeface="OHNVRH+Calibri"/>
              </a:rPr>
              <a:t>as</a:t>
            </a:r>
            <a:r>
              <a:rPr sz="2400" spc="39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OHNVRH+Calibri"/>
                <a:cs typeface="OHNVRH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 splitting</a:t>
            </a:r>
            <a:r>
              <a:rPr sz="2400" spc="-2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criterion.</a:t>
            </a:r>
            <a:r>
              <a:rPr sz="2400" spc="-2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When using</a:t>
            </a:r>
            <a:r>
              <a:rPr sz="2400" spc="-3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decision</a:t>
            </a:r>
          </a:p>
          <a:p>
            <a:pPr marL="343217" marR="0">
              <a:lnSpc>
                <a:spcPts val="2930"/>
              </a:lnSpc>
              <a:spcBef>
                <a:spcPts val="9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stumps</a:t>
            </a:r>
            <a:r>
              <a:rPr sz="2400" spc="25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with AdaBoost we</a:t>
            </a:r>
            <a:r>
              <a:rPr sz="2400" spc="-21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often </a:t>
            </a:r>
            <a:r>
              <a:rPr sz="2400" spc="23" dirty="0">
                <a:solidFill>
                  <a:srgbClr val="000000"/>
                </a:solidFill>
                <a:latin typeface="IGJELP+Calibri"/>
                <a:cs typeface="IGJELP+Calibri"/>
              </a:rPr>
              <a:t>use</a:t>
            </a:r>
            <a:r>
              <a:rPr sz="2400" spc="-35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“GINI</a:t>
            </a:r>
            <a:r>
              <a:rPr sz="2400" spc="54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Impurity”,</a:t>
            </a:r>
            <a:r>
              <a:rPr sz="2400" spc="51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which</a:t>
            </a:r>
            <a:r>
              <a:rPr sz="2400" spc="-1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(roughly</a:t>
            </a:r>
            <a:r>
              <a:rPr sz="2400" spc="28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speaking) picks</a:t>
            </a:r>
          </a:p>
          <a:p>
            <a:pPr marL="343217" marR="0">
              <a:lnSpc>
                <a:spcPts val="2405"/>
              </a:lnSpc>
              <a:spcBef>
                <a:spcPts val="403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OHNVRH+Calibri"/>
                <a:cs typeface="OHNVRH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split </a:t>
            </a:r>
            <a:r>
              <a:rPr sz="2400" spc="-22" dirty="0">
                <a:solidFill>
                  <a:srgbClr val="000000"/>
                </a:solidFill>
                <a:latin typeface="OHNVRH+Calibri"/>
                <a:cs typeface="OHNVRH+Calibri"/>
              </a:rPr>
              <a:t>that</a:t>
            </a:r>
            <a:r>
              <a:rPr sz="2400" spc="2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directly</a:t>
            </a:r>
            <a:r>
              <a:rPr sz="2400" spc="18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minimizes</a:t>
            </a:r>
            <a:r>
              <a:rPr sz="2400" spc="2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error.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4007" y="5273734"/>
            <a:ext cx="11416578" cy="773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IGJELP+Calibri"/>
                <a:cs typeface="IGJELP+Calibri"/>
              </a:rPr>
              <a:t>Now</a:t>
            </a:r>
            <a:r>
              <a:rPr sz="2400" spc="-24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let’s</a:t>
            </a:r>
            <a:r>
              <a:rPr sz="2400" spc="-57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IGJELP+Calibri"/>
                <a:cs typeface="IGJELP+Calibri"/>
              </a:rPr>
              <a:t>see</a:t>
            </a:r>
            <a:r>
              <a:rPr sz="2400" spc="-28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IGJELP+Calibri"/>
                <a:cs typeface="IGJELP+Calibri"/>
              </a:rPr>
              <a:t>how</a:t>
            </a:r>
            <a:r>
              <a:rPr sz="2400" spc="-17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AdaBoost </a:t>
            </a:r>
            <a:r>
              <a:rPr sz="2400" spc="-10" dirty="0">
                <a:solidFill>
                  <a:srgbClr val="000000"/>
                </a:solidFill>
                <a:latin typeface="IGJELP+Calibri"/>
                <a:cs typeface="IGJELP+Calibri"/>
              </a:rPr>
              <a:t>combines</a:t>
            </a:r>
            <a:r>
              <a:rPr sz="2400" spc="31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IGJELP+Calibri"/>
                <a:cs typeface="IGJELP+Calibri"/>
              </a:rPr>
              <a:t>set</a:t>
            </a:r>
            <a:r>
              <a:rPr sz="2400" spc="24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of weak</a:t>
            </a:r>
            <a:r>
              <a:rPr sz="2400" spc="17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classifiers</a:t>
            </a:r>
            <a:r>
              <a:rPr sz="2400" spc="24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GJELP+Calibri"/>
                <a:cs typeface="IGJELP+Calibri"/>
              </a:rPr>
              <a:t>in</a:t>
            </a:r>
            <a:r>
              <a:rPr sz="2400" spc="21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order</a:t>
            </a:r>
            <a:r>
              <a:rPr sz="2400" spc="45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IGJELP+Calibri"/>
                <a:cs typeface="IGJELP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IGJELP+Calibri"/>
                <a:cs typeface="IGJELP+Calibri"/>
              </a:rPr>
              <a:t>make</a:t>
            </a:r>
            <a:r>
              <a:rPr sz="2400" spc="-25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better</a:t>
            </a:r>
          </a:p>
          <a:p>
            <a:pPr marL="343217" marR="0">
              <a:lnSpc>
                <a:spcPts val="285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ensemble</a:t>
            </a:r>
            <a:r>
              <a:rPr sz="2400" spc="-13" dirty="0">
                <a:solidFill>
                  <a:srgbClr val="000000"/>
                </a:solidFill>
                <a:latin typeface="IGJELP+Calibri"/>
                <a:cs typeface="IGJELP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GJELP+Calibri"/>
                <a:cs typeface="IGJELP+Calibri"/>
              </a:rPr>
              <a:t>of classifiers…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120295" y="5765114"/>
            <a:ext cx="5114821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在之前的决策树课程中，我们使⽤“信息增益 (Information Gain)”来选择分裂点。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120295" y="6042205"/>
            <a:ext cx="5454118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在</a:t>
            </a:r>
            <a:r>
              <a:rPr sz="1100" spc="-1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AdaBoost 中使⽤决策树桩时，通常使⽤ </a:t>
            </a:r>
            <a:r>
              <a:rPr sz="110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“基尼不纯度</a:t>
            </a:r>
            <a:r>
              <a:rPr sz="1100" spc="-297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(GINI</a:t>
            </a:r>
            <a:r>
              <a:rPr sz="1100" spc="-294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Impurity)”</a:t>
            </a:r>
            <a:r>
              <a:rPr sz="1100" spc="-297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作为标准。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120295" y="6319296"/>
            <a:ext cx="5971309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简单来说，基尼不纯度是⼀种更直接衡量分类误差的⽅法，它能帮我们快速找到那个能让加权误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差最⼩的切分点。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405818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2" dirty="0">
                <a:solidFill>
                  <a:srgbClr val="001F5F"/>
                </a:solidFill>
                <a:latin typeface="ISBJBE+Calibri-Bold"/>
                <a:cs typeface="ISBJBE+Calibri-Bold"/>
              </a:rPr>
              <a:t>Notation</a:t>
            </a:r>
            <a:r>
              <a:rPr sz="3250" spc="-1198" dirty="0">
                <a:solidFill>
                  <a:srgbClr val="001F5F"/>
                </a:solidFill>
                <a:latin typeface="ISBJBE+Calibri-Bold"/>
                <a:cs typeface="ISBJBE+Calibri-Bold"/>
              </a:rPr>
              <a:t> </a:t>
            </a:r>
            <a:r>
              <a:rPr sz="3250" spc="-49" dirty="0">
                <a:solidFill>
                  <a:srgbClr val="001F5F"/>
                </a:solidFill>
                <a:latin typeface="ISBJBE+Calibri-Bold"/>
                <a:cs typeface="ISBJBE+Calibri-Bold"/>
              </a:rPr>
              <a:t>in</a:t>
            </a:r>
            <a:r>
              <a:rPr sz="3250" spc="-1171" dirty="0">
                <a:solidFill>
                  <a:srgbClr val="001F5F"/>
                </a:solidFill>
                <a:latin typeface="ISBJBE+Calibri-Bold"/>
                <a:cs typeface="ISBJBE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ISBJBE+Calibri-Bold"/>
                <a:cs typeface="ISBJBE+Calibri-Bold"/>
              </a:rPr>
              <a:t>this</a:t>
            </a:r>
            <a:r>
              <a:rPr sz="3250" spc="-1200" dirty="0">
                <a:solidFill>
                  <a:srgbClr val="001F5F"/>
                </a:solidFill>
                <a:latin typeface="ISBJBE+Calibri-Bold"/>
                <a:cs typeface="ISBJBE+Calibri-Bold"/>
              </a:rPr>
              <a:t> </a:t>
            </a:r>
            <a:r>
              <a:rPr sz="3250" spc="-26" dirty="0">
                <a:solidFill>
                  <a:srgbClr val="001F5F"/>
                </a:solidFill>
                <a:latin typeface="ISBJBE+Calibri-Bold"/>
                <a:cs typeface="ISBJBE+Calibri-Bold"/>
              </a:rPr>
              <a:t>lecture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91176" y="1312495"/>
            <a:ext cx="318229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JLDRBV+Cambria Math"/>
                <a:cs typeface="JLDRBV+Cambria Math"/>
              </a:rPr>
              <a:t>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9825" y="1403167"/>
            <a:ext cx="3971790" cy="431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Input:</a:t>
            </a:r>
            <a:r>
              <a:rPr sz="2400" spc="19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Data</a:t>
            </a:r>
            <a:r>
              <a:rPr sz="2400" spc="-2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55" dirty="0">
                <a:solidFill>
                  <a:srgbClr val="000000"/>
                </a:solidFill>
                <a:latin typeface="JLDRBV+Cambria Math"/>
                <a:cs typeface="JLDRBV+Cambria Math"/>
              </a:rPr>
              <a:t>ꢄ</a:t>
            </a:r>
            <a:r>
              <a:rPr sz="2650" baseline="-22181" dirty="0">
                <a:solidFill>
                  <a:srgbClr val="000000"/>
                </a:solidFill>
                <a:latin typeface="JLDRBV+Cambria Math"/>
                <a:cs typeface="JLDRBV+Cambria Math"/>
              </a:rPr>
              <a:t>ꢂ</a:t>
            </a:r>
            <a:r>
              <a:rPr sz="2650" spc="-779" baseline="-2218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=</a:t>
            </a:r>
            <a:r>
              <a:rPr sz="2400" spc="15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96" dirty="0">
                <a:solidFill>
                  <a:srgbClr val="000000"/>
                </a:solidFill>
                <a:latin typeface="JLDRBV+Cambria Math"/>
                <a:cs typeface="JLDRBV+Cambria Math"/>
              </a:rPr>
              <a:t>ꢅ</a:t>
            </a:r>
            <a:r>
              <a:rPr sz="2550" spc="68" baseline="36666" dirty="0">
                <a:solidFill>
                  <a:srgbClr val="000000"/>
                </a:solidFill>
                <a:latin typeface="JLDRBV+Cambria Math"/>
                <a:cs typeface="JLDRBV+Cambria Math"/>
              </a:rPr>
              <a:t>(ꢆ)</a:t>
            </a:r>
            <a:r>
              <a:rPr sz="2400" spc="197" dirty="0">
                <a:solidFill>
                  <a:srgbClr val="000000"/>
                </a:solidFill>
                <a:latin typeface="JLDRBV+Cambria Math"/>
                <a:cs typeface="JLDRBV+Cambria Math"/>
              </a:rPr>
              <a:t>,ꢇ</a:t>
            </a:r>
            <a:r>
              <a:rPr sz="2550" spc="43" baseline="36666" dirty="0">
                <a:solidFill>
                  <a:srgbClr val="000000"/>
                </a:solidFill>
                <a:latin typeface="JLDRBV+Cambria Math"/>
                <a:cs typeface="JLDRBV+Cambria Math"/>
              </a:rPr>
              <a:t>(ꢆ)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11241" y="1403167"/>
            <a:ext cx="2876205" cy="3967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where </a:t>
            </a:r>
            <a:r>
              <a:rPr sz="2400" spc="137" dirty="0">
                <a:solidFill>
                  <a:srgbClr val="000000"/>
                </a:solidFill>
                <a:latin typeface="JLDRBV+Cambria Math"/>
                <a:cs typeface="JLDRBV+Cambria Math"/>
              </a:rPr>
              <a:t>ꢇ</a:t>
            </a:r>
            <a:r>
              <a:rPr sz="2550" spc="43" baseline="36666" dirty="0">
                <a:solidFill>
                  <a:srgbClr val="000000"/>
                </a:solidFill>
                <a:latin typeface="JLDRBV+Cambria Math"/>
                <a:cs typeface="JLDRBV+Cambria Math"/>
              </a:rPr>
              <a:t>(ꢆ)</a:t>
            </a:r>
            <a:r>
              <a:rPr sz="2550" spc="-275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∈</a:t>
            </a:r>
            <a:r>
              <a:rPr sz="2400" spc="16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−</a:t>
            </a:r>
            <a:r>
              <a:rPr sz="2400" dirty="0">
                <a:solidFill>
                  <a:srgbClr val="000000"/>
                </a:solidFill>
                <a:latin typeface="BSBGHK+Cambria Math"/>
                <a:cs typeface="BSBGHK+Cambria Math"/>
              </a:rPr>
              <a:t>1</a:t>
            </a:r>
            <a:r>
              <a:rPr sz="2400" spc="198" dirty="0">
                <a:solidFill>
                  <a:srgbClr val="000000"/>
                </a:solidFill>
                <a:latin typeface="JLDRBV+Cambria Math"/>
                <a:cs typeface="JLDRBV+Cambria Math"/>
              </a:rPr>
              <a:t>,+</a:t>
            </a:r>
            <a:r>
              <a:rPr sz="2400" dirty="0">
                <a:solidFill>
                  <a:srgbClr val="000000"/>
                </a:solidFill>
                <a:latin typeface="BSBGHK+Cambria Math"/>
                <a:cs typeface="BSBGHK+Cambria Math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91176" y="1658570"/>
            <a:ext cx="589858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31" dirty="0">
                <a:solidFill>
                  <a:srgbClr val="000000"/>
                </a:solidFill>
                <a:latin typeface="JLDRBV+Cambria Math"/>
                <a:cs typeface="JLDRBV+Cambria Math"/>
              </a:rPr>
              <a:t>ꢆ</a:t>
            </a:r>
            <a:r>
              <a:rPr sz="1750" dirty="0">
                <a:solidFill>
                  <a:srgbClr val="000000"/>
                </a:solidFill>
                <a:latin typeface="BSBGHK+Cambria Math"/>
                <a:cs typeface="BSBGHK+Cambria Math"/>
              </a:rPr>
              <a:t>=</a:t>
            </a:r>
            <a:r>
              <a:rPr sz="1750" dirty="0">
                <a:solidFill>
                  <a:srgbClr val="000000"/>
                </a:solidFill>
                <a:latin typeface="JLDRBV+Cambria Math"/>
                <a:cs typeface="JLDRBV+Cambria Math"/>
              </a:rPr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05661" y="2116151"/>
            <a:ext cx="8817902" cy="7594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5" dirty="0">
                <a:solidFill>
                  <a:srgbClr val="000000"/>
                </a:solidFill>
                <a:latin typeface="TFPMGG+Wingdings"/>
                <a:cs typeface="TFPMGG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OHNVRH+Calibri"/>
                <a:cs typeface="OHNVRH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different from</a:t>
            </a:r>
            <a:r>
              <a:rPr sz="2400" spc="1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previous</a:t>
            </a:r>
            <a:r>
              <a:rPr sz="2400" spc="2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lectures</a:t>
            </a:r>
            <a:r>
              <a:rPr sz="2400" spc="26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where</a:t>
            </a:r>
            <a:r>
              <a:rPr sz="2400" spc="-15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we</a:t>
            </a:r>
            <a:r>
              <a:rPr sz="2400" spc="-19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had</a:t>
            </a:r>
            <a:r>
              <a:rPr sz="2400" spc="9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37" dirty="0">
                <a:solidFill>
                  <a:srgbClr val="000000"/>
                </a:solidFill>
                <a:latin typeface="JLDRBV+Cambria Math"/>
                <a:cs typeface="JLDRBV+Cambria Math"/>
              </a:rPr>
              <a:t>ꢇ</a:t>
            </a:r>
            <a:r>
              <a:rPr sz="2650" spc="17" baseline="36625" dirty="0">
                <a:solidFill>
                  <a:srgbClr val="000000"/>
                </a:solidFill>
                <a:latin typeface="JLDRBV+Cambria Math"/>
                <a:cs typeface="JLDRBV+Cambria Math"/>
              </a:rPr>
              <a:t>(ꢆ)</a:t>
            </a:r>
            <a:r>
              <a:rPr sz="2650" spc="-841" baseline="366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∈</a:t>
            </a:r>
            <a:r>
              <a:rPr sz="2400" spc="16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0,</a:t>
            </a:r>
            <a:r>
              <a:rPr sz="2400" spc="-10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+</a:t>
            </a:r>
            <a:r>
              <a:rPr sz="2400" dirty="0">
                <a:solidFill>
                  <a:srgbClr val="000000"/>
                </a:solidFill>
                <a:latin typeface="BSBGHK+Cambria Math"/>
                <a:cs typeface="BSBGHK+Cambria Math"/>
              </a:rPr>
              <a:t>1</a:t>
            </a:r>
          </a:p>
          <a:p>
            <a:pPr marL="0" marR="0">
              <a:lnSpc>
                <a:spcPts val="2666"/>
              </a:lnSpc>
              <a:spcBef>
                <a:spcPts val="44"/>
              </a:spcBef>
              <a:spcAft>
                <a:spcPts val="0"/>
              </a:spcAft>
            </a:pPr>
            <a:r>
              <a:rPr sz="2400" spc="795" dirty="0">
                <a:solidFill>
                  <a:srgbClr val="000000"/>
                </a:solidFill>
                <a:latin typeface="TFPMGG+Wingdings"/>
                <a:cs typeface="TFPMGG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It </a:t>
            </a:r>
            <a:r>
              <a:rPr sz="2400" spc="-25" dirty="0">
                <a:solidFill>
                  <a:srgbClr val="000000"/>
                </a:solidFill>
                <a:latin typeface="OHNVRH+Calibri"/>
                <a:cs typeface="OHNVRH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OHNVRH+Calibri"/>
                <a:cs typeface="OHNVRH+Calibri"/>
              </a:rPr>
              <a:t>for</a:t>
            </a:r>
            <a:r>
              <a:rPr sz="2400" spc="-4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notational</a:t>
            </a:r>
            <a:r>
              <a:rPr sz="2400" spc="-4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convenience,</a:t>
            </a:r>
            <a:r>
              <a:rPr sz="2400" spc="6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OHNVRH+Calibri"/>
                <a:cs typeface="OHNVRH+Calibri"/>
              </a:rPr>
              <a:t>otw</a:t>
            </a:r>
            <a:r>
              <a:rPr sz="2400" spc="-55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equivalent.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39825" y="3307344"/>
            <a:ext cx="5545491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A</a:t>
            </a:r>
            <a:r>
              <a:rPr sz="2400" spc="1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classifier</a:t>
            </a:r>
            <a:r>
              <a:rPr sz="2400" spc="5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or</a:t>
            </a:r>
            <a:r>
              <a:rPr sz="2400" spc="-3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hypothesis</a:t>
            </a:r>
            <a:r>
              <a:rPr sz="2400" spc="4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51" dirty="0">
                <a:solidFill>
                  <a:srgbClr val="000000"/>
                </a:solidFill>
                <a:latin typeface="JLDRBV+Cambria Math"/>
                <a:cs typeface="JLDRBV+Cambria Math"/>
              </a:rPr>
              <a:t>ℎ:ꢅ</a:t>
            </a:r>
            <a:r>
              <a:rPr sz="2400" spc="-7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→</a:t>
            </a:r>
            <a:r>
              <a:rPr sz="2400" spc="16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−</a:t>
            </a:r>
            <a:r>
              <a:rPr sz="2400" dirty="0">
                <a:solidFill>
                  <a:srgbClr val="000000"/>
                </a:solidFill>
                <a:latin typeface="BSBGHK+Cambria Math"/>
                <a:cs typeface="BSBGHK+Cambria Math"/>
              </a:rPr>
              <a:t>1</a:t>
            </a:r>
            <a:r>
              <a:rPr sz="2400" spc="197" dirty="0">
                <a:solidFill>
                  <a:srgbClr val="000000"/>
                </a:solidFill>
                <a:latin typeface="JLDRBV+Cambria Math"/>
                <a:cs typeface="JLDRBV+Cambria Math"/>
              </a:rPr>
              <a:t>,+</a:t>
            </a:r>
            <a:r>
              <a:rPr sz="2400" dirty="0">
                <a:solidFill>
                  <a:srgbClr val="000000"/>
                </a:solidFill>
                <a:latin typeface="BSBGHK+Cambria Math"/>
                <a:cs typeface="BSBGHK+Cambria Math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167630" y="4044519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JLDRBV+Cambria Math"/>
                <a:cs typeface="JLDRBV+Cambria Math"/>
              </a:rPr>
              <a:t>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39825" y="4111575"/>
            <a:ext cx="6802904" cy="397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0-1</a:t>
            </a:r>
            <a:r>
              <a:rPr sz="2400" spc="-3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OHNVRH+Calibri"/>
                <a:cs typeface="OHNVRH+Calibri"/>
              </a:rPr>
              <a:t>loss:</a:t>
            </a:r>
            <a:r>
              <a:rPr sz="2400" spc="-48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854" dirty="0">
                <a:solidFill>
                  <a:srgbClr val="000000"/>
                </a:solidFill>
                <a:latin typeface="JLDRBV+Cambria Math"/>
                <a:cs typeface="JLDRBV+Cambria Math"/>
              </a:rPr>
              <a:t>ꢈℎ</a:t>
            </a:r>
            <a:r>
              <a:rPr sz="2400" spc="-116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857" dirty="0">
                <a:solidFill>
                  <a:srgbClr val="000000"/>
                </a:solidFill>
                <a:latin typeface="JLDRBV+Cambria Math"/>
                <a:cs typeface="JLDRBV+Cambria Math"/>
              </a:rPr>
              <a:t>ꢉ</a:t>
            </a:r>
            <a:r>
              <a:rPr sz="2650" baseline="36666" dirty="0">
                <a:solidFill>
                  <a:srgbClr val="000000"/>
                </a:solidFill>
                <a:latin typeface="JLDRBV+Cambria Math"/>
                <a:cs typeface="JLDRBV+Cambria Math"/>
              </a:rPr>
              <a:t>ꢆ</a:t>
            </a:r>
            <a:r>
              <a:rPr sz="2650" spc="1013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4" dirty="0">
                <a:solidFill>
                  <a:srgbClr val="000000"/>
                </a:solidFill>
                <a:latin typeface="JLDRBV+Cambria Math"/>
                <a:cs typeface="JLDRBV+Cambria Math"/>
              </a:rPr>
              <a:t>≠ꢇ</a:t>
            </a:r>
            <a:r>
              <a:rPr sz="2400" spc="-123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650" baseline="36666" dirty="0">
                <a:solidFill>
                  <a:srgbClr val="000000"/>
                </a:solidFill>
                <a:latin typeface="JLDRBV+Cambria Math"/>
                <a:cs typeface="JLDRBV+Cambria Math"/>
              </a:rPr>
              <a:t>ꢆ</a:t>
            </a:r>
            <a:r>
              <a:rPr sz="2650" spc="789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=</a:t>
            </a:r>
            <a:r>
              <a:rPr sz="2400" spc="6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(</a:t>
            </a:r>
            <a:r>
              <a:rPr sz="2400" spc="531" dirty="0">
                <a:solidFill>
                  <a:srgbClr val="000000"/>
                </a:solidFill>
                <a:latin typeface="BSBGHK+Cambria Math"/>
                <a:cs typeface="BSBGHK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−</a:t>
            </a:r>
            <a:r>
              <a:rPr sz="2400" spc="-9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JLDRBV+Cambria Math"/>
                <a:cs typeface="JLDRBV+Cambria Math"/>
              </a:rPr>
              <a:t>ℎ(ꢉ</a:t>
            </a:r>
            <a:r>
              <a:rPr sz="2650" spc="44" baseline="36666" dirty="0">
                <a:solidFill>
                  <a:srgbClr val="000000"/>
                </a:solidFill>
                <a:latin typeface="JLDRBV+Cambria Math"/>
                <a:cs typeface="JLDRBV+Cambria Math"/>
              </a:rPr>
              <a:t>(ꢆ)</a:t>
            </a:r>
            <a:r>
              <a:rPr sz="2400" spc="357" dirty="0">
                <a:solidFill>
                  <a:srgbClr val="000000"/>
                </a:solidFill>
                <a:latin typeface="JLDRBV+Cambria Math"/>
                <a:cs typeface="JLDRBV+Cambria Math"/>
              </a:rPr>
              <a:t>)∙ꢇ</a:t>
            </a:r>
            <a:r>
              <a:rPr sz="2650" spc="44" baseline="36666" dirty="0">
                <a:solidFill>
                  <a:srgbClr val="000000"/>
                </a:solidFill>
                <a:latin typeface="JLDRBV+Cambria Math"/>
                <a:cs typeface="JLDRBV+Cambria Math"/>
              </a:rPr>
              <a:t>(ꢆ)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67630" y="4377005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JLDRBV+Cambria Math"/>
                <a:cs typeface="JLDRBV+Cambria Math"/>
              </a:rPr>
              <a:t>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67096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ISBJBE+Calibri-Bold"/>
                <a:cs typeface="ISBJBE+Calibri-Bold"/>
              </a:rPr>
              <a:t>Ada</a:t>
            </a:r>
            <a:r>
              <a:rPr sz="3250" spc="-1286" dirty="0">
                <a:solidFill>
                  <a:srgbClr val="001F5F"/>
                </a:solidFill>
                <a:latin typeface="ISBJBE+Calibri-Bold"/>
                <a:cs typeface="ISBJBE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ISBJBE+Calibri-Bold"/>
                <a:cs typeface="ISBJBE+Calibri-Bold"/>
              </a:rPr>
              <a:t>Boost</a:t>
            </a:r>
            <a:r>
              <a:rPr sz="3250" spc="-1184" dirty="0">
                <a:solidFill>
                  <a:srgbClr val="001F5F"/>
                </a:solidFill>
                <a:latin typeface="ISBJBE+Calibri-Bold"/>
                <a:cs typeface="ISBJBE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ISBJBE+Calibri-Bold"/>
                <a:cs typeface="ISBJBE+Calibri-Bold"/>
              </a:rPr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04293"/>
            <a:ext cx="10846472" cy="1125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Input:</a:t>
            </a:r>
            <a:r>
              <a:rPr sz="2400" spc="1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Data</a:t>
            </a:r>
            <a:r>
              <a:rPr sz="2400" spc="-3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-56" dirty="0">
                <a:solidFill>
                  <a:srgbClr val="000000"/>
                </a:solidFill>
                <a:latin typeface="JLDRBV+Cambria Math"/>
                <a:cs typeface="JLDRBV+Cambria Math"/>
              </a:rPr>
              <a:t>ꢄ</a:t>
            </a:r>
            <a:r>
              <a:rPr sz="2650" spc="143" baseline="-20499" dirty="0">
                <a:solidFill>
                  <a:srgbClr val="000000"/>
                </a:solidFill>
                <a:latin typeface="JLDRBV+Cambria Math"/>
                <a:cs typeface="JLDRBV+Cambria Math"/>
              </a:rPr>
              <a:t>ꢂ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,</a:t>
            </a:r>
            <a:r>
              <a:rPr sz="2400" spc="-1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weak</a:t>
            </a:r>
            <a:r>
              <a:rPr sz="2400" spc="2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classifier</a:t>
            </a:r>
            <a:r>
              <a:rPr sz="2400" spc="-4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WeakLearn</a:t>
            </a:r>
            <a:r>
              <a:rPr sz="2400" spc="1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OHNVRH+Calibri"/>
                <a:cs typeface="OHNVRH+Calibri"/>
              </a:rPr>
              <a:t>(a</a:t>
            </a:r>
            <a:r>
              <a:rPr sz="2400" spc="-6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classification procedure</a:t>
            </a:r>
            <a:r>
              <a:rPr sz="2400" spc="-1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that returns</a:t>
            </a:r>
            <a:r>
              <a:rPr sz="2400" spc="2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a</a:t>
            </a:r>
          </a:p>
          <a:p>
            <a:pPr marL="343217" marR="0">
              <a:lnSpc>
                <a:spcPts val="2404"/>
              </a:lnSpc>
              <a:spcBef>
                <a:spcPts val="10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classifier</a:t>
            </a:r>
            <a:r>
              <a:rPr sz="2400" spc="-13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49" dirty="0">
                <a:solidFill>
                  <a:srgbClr val="000000"/>
                </a:solidFill>
                <a:latin typeface="JLDRBV+Cambria Math"/>
                <a:cs typeface="JLDRBV+Cambria Math"/>
              </a:rPr>
              <a:t>ℎ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e.g.</a:t>
            </a:r>
            <a:r>
              <a:rPr sz="2400" spc="-2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OHNVRH+Calibri"/>
                <a:cs typeface="OHNVRH+Calibri"/>
              </a:rPr>
              <a:t>best</a:t>
            </a:r>
            <a:r>
              <a:rPr sz="2400" spc="-16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decision stump, from</a:t>
            </a:r>
            <a:r>
              <a:rPr sz="2400" spc="1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OHNVRH+Calibri"/>
                <a:cs typeface="OHNVRH+Calibri"/>
              </a:rPr>
              <a:t>set</a:t>
            </a:r>
            <a:r>
              <a:rPr sz="2400" spc="-1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of classifiers</a:t>
            </a:r>
            <a:r>
              <a:rPr sz="2400" spc="98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94" dirty="0">
                <a:solidFill>
                  <a:srgbClr val="000000"/>
                </a:solidFill>
                <a:latin typeface="JLDRBV+Cambria Math"/>
                <a:cs typeface="JLDRBV+Cambria Math"/>
              </a:rPr>
              <a:t>ℋ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e.g.,</a:t>
            </a:r>
            <a:r>
              <a:rPr sz="2400" spc="-2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OHNVRH+Calibri"/>
                <a:cs typeface="OHNVRH+Calibri"/>
              </a:rPr>
              <a:t>all</a:t>
            </a:r>
            <a:r>
              <a:rPr sz="2400" spc="2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possible</a:t>
            </a:r>
          </a:p>
          <a:p>
            <a:pPr marL="343217" marR="0">
              <a:lnSpc>
                <a:spcPts val="2404"/>
              </a:lnSpc>
              <a:spcBef>
                <a:spcPts val="45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decision stumps),</a:t>
            </a:r>
            <a:r>
              <a:rPr sz="2400" spc="-2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number</a:t>
            </a:r>
            <a:r>
              <a:rPr sz="2400" spc="-2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of iterations</a:t>
            </a:r>
            <a:r>
              <a:rPr sz="2400" spc="8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ꢊ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2101606"/>
            <a:ext cx="3229124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Output:</a:t>
            </a:r>
            <a:r>
              <a:rPr sz="2400" spc="16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Classifier</a:t>
            </a:r>
            <a:r>
              <a:rPr sz="2400" spc="16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ꢋ</a:t>
            </a:r>
            <a:r>
              <a:rPr sz="2400" spc="-3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ꢉ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44796" y="2476450"/>
            <a:ext cx="27934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JLDRBV+Cambria Math"/>
                <a:cs typeface="JLDRBV+Cambria Math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2543506"/>
            <a:ext cx="6837064" cy="397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Initialize</a:t>
            </a:r>
            <a:r>
              <a:rPr sz="2400" spc="-1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sample</a:t>
            </a:r>
            <a:r>
              <a:rPr sz="2400" spc="-17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weights:</a:t>
            </a:r>
            <a:r>
              <a:rPr sz="2400" spc="16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149" dirty="0">
                <a:solidFill>
                  <a:srgbClr val="000000"/>
                </a:solidFill>
                <a:latin typeface="JLDRBV+Cambria Math"/>
                <a:cs typeface="JLDRBV+Cambria Math"/>
              </a:rPr>
              <a:t>ꢁ</a:t>
            </a:r>
            <a:r>
              <a:rPr sz="2650" spc="16" baseline="36666" dirty="0">
                <a:solidFill>
                  <a:srgbClr val="000000"/>
                </a:solidFill>
                <a:latin typeface="JLDRBV+Cambria Math"/>
                <a:cs typeface="JLDRBV+Cambria Math"/>
              </a:rPr>
              <a:t>(ꢆ)</a:t>
            </a:r>
            <a:r>
              <a:rPr sz="2650" spc="-843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=</a:t>
            </a:r>
            <a:r>
              <a:rPr sz="2400" spc="113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OHNVRH+Calibri"/>
                <a:cs typeface="OHNVRH+Calibri"/>
              </a:rPr>
              <a:t>for</a:t>
            </a:r>
            <a:r>
              <a:rPr sz="2400" spc="-3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685" dirty="0">
                <a:solidFill>
                  <a:srgbClr val="000000"/>
                </a:solidFill>
                <a:latin typeface="JLDRBV+Cambria Math"/>
                <a:cs typeface="JLDRBV+Cambria Math"/>
              </a:rPr>
              <a:t>ꢌ=</a:t>
            </a:r>
            <a:r>
              <a:rPr sz="2400" dirty="0">
                <a:solidFill>
                  <a:srgbClr val="000000"/>
                </a:solidFill>
                <a:latin typeface="BSBGHK+Cambria Math"/>
                <a:cs typeface="BSBGHK+Cambria Math"/>
              </a:rPr>
              <a:t>1</a:t>
            </a:r>
            <a:r>
              <a:rPr sz="2400" spc="396" dirty="0">
                <a:solidFill>
                  <a:srgbClr val="000000"/>
                </a:solidFill>
                <a:latin typeface="JLDRBV+Cambria Math"/>
                <a:cs typeface="JLDRBV+Cambria Math"/>
              </a:rPr>
              <a:t>,⋯,ꢍ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22444" y="2809056"/>
            <a:ext cx="317989" cy="257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JLDRBV+Cambria Math"/>
                <a:cs typeface="JLDRBV+Cambria Math"/>
              </a:rPr>
              <a:t>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4007" y="2988701"/>
            <a:ext cx="2382583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OHNVRH+Calibri"/>
                <a:cs typeface="OHNVRH+Calibri"/>
              </a:rPr>
              <a:t>For</a:t>
            </a:r>
            <a:r>
              <a:rPr sz="2400" spc="-48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400" spc="696" dirty="0">
                <a:solidFill>
                  <a:srgbClr val="000000"/>
                </a:solidFill>
                <a:latin typeface="JLDRBV+Cambria Math"/>
                <a:cs typeface="JLDRBV+Cambria Math"/>
              </a:rPr>
              <a:t>ꢇ=</a:t>
            </a:r>
            <a:r>
              <a:rPr sz="2400" dirty="0">
                <a:solidFill>
                  <a:srgbClr val="000000"/>
                </a:solidFill>
                <a:latin typeface="BSBGHK+Cambria Math"/>
                <a:cs typeface="BSBGHK+Cambria Math"/>
              </a:rPr>
              <a:t>1</a:t>
            </a:r>
            <a:r>
              <a:rPr sz="2400" spc="396" dirty="0">
                <a:solidFill>
                  <a:srgbClr val="000000"/>
                </a:solidFill>
                <a:latin typeface="JLDRBV+Cambria Math"/>
                <a:cs typeface="JLDRBV+Cambria Math"/>
              </a:rPr>
              <a:t>,⋯,ꢊ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6932" y="3486459"/>
            <a:ext cx="7254030" cy="333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TFPMGG+Wingdings"/>
                <a:cs typeface="TFPMGG+Wingdings"/>
              </a:rPr>
              <a:t>➢</a:t>
            </a:r>
            <a:r>
              <a:rPr sz="2050" spc="-1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OHNVRH+Calibri"/>
                <a:cs typeface="OHNVRH+Calibri"/>
              </a:rPr>
              <a:t>Fit</a:t>
            </a:r>
            <a:r>
              <a:rPr sz="2050" spc="-3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OHNVRH+Calibri"/>
                <a:cs typeface="OHNVRH+Calibri"/>
              </a:rPr>
              <a:t>a</a:t>
            </a:r>
            <a:r>
              <a:rPr sz="2050" spc="-95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OHNVRH+Calibri"/>
                <a:cs typeface="OHNVRH+Calibri"/>
              </a:rPr>
              <a:t>classifier</a:t>
            </a:r>
            <a:r>
              <a:rPr sz="2050" spc="-46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OHNVRH+Calibri"/>
                <a:cs typeface="OHNVRH+Calibri"/>
              </a:rPr>
              <a:t>to</a:t>
            </a:r>
            <a:r>
              <a:rPr sz="2050" spc="-4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26" dirty="0">
                <a:solidFill>
                  <a:srgbClr val="000000"/>
                </a:solidFill>
                <a:latin typeface="OHNVRH+Calibri"/>
                <a:cs typeface="OHNVRH+Calibri"/>
              </a:rPr>
              <a:t>weighted</a:t>
            </a:r>
            <a:r>
              <a:rPr sz="2050" spc="-1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15" dirty="0">
                <a:solidFill>
                  <a:srgbClr val="000000"/>
                </a:solidFill>
                <a:latin typeface="OHNVRH+Calibri"/>
                <a:cs typeface="OHNVRH+Calibri"/>
              </a:rPr>
              <a:t>data</a:t>
            </a:r>
            <a:r>
              <a:rPr sz="2050" dirty="0">
                <a:solidFill>
                  <a:srgbClr val="000000"/>
                </a:solidFill>
                <a:latin typeface="OHNVRH+Calibri"/>
                <a:cs typeface="OHNVRH+Calibri"/>
              </a:rPr>
              <a:t> (</a:t>
            </a:r>
            <a:r>
              <a:rPr sz="2050" dirty="0">
                <a:solidFill>
                  <a:srgbClr val="000000"/>
                </a:solidFill>
                <a:latin typeface="JLDRBV+Cambria Math"/>
                <a:cs typeface="JLDRBV+Cambria Math"/>
              </a:rPr>
              <a:t>ℎ</a:t>
            </a:r>
            <a:r>
              <a:rPr sz="2050" spc="6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JLDRBV+Cambria Math"/>
                <a:cs typeface="JLDRBV+Cambria Math"/>
              </a:rPr>
              <a:t>←</a:t>
            </a:r>
            <a:r>
              <a:rPr sz="2050" spc="-71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25" dirty="0">
                <a:solidFill>
                  <a:srgbClr val="000000"/>
                </a:solidFill>
                <a:latin typeface="JLDRBV+Cambria Math"/>
                <a:cs typeface="JLDRBV+Cambria Math"/>
              </a:rPr>
              <a:t>WeakLearn(ꢄ</a:t>
            </a:r>
            <a:r>
              <a:rPr sz="2050" spc="-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JLDRBV+Cambria Math"/>
                <a:cs typeface="JLDRBV+Cambria Math"/>
              </a:rPr>
              <a:t>,</a:t>
            </a:r>
            <a:r>
              <a:rPr sz="2050" spc="-23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34" dirty="0">
                <a:solidFill>
                  <a:srgbClr val="000000"/>
                </a:solidFill>
                <a:latin typeface="JLDRBV+Cambria Math"/>
                <a:cs typeface="JLDRBV+Cambria Math"/>
              </a:rPr>
              <a:t>ꢀ)</a:t>
            </a:r>
            <a:r>
              <a:rPr sz="2050" spc="-21" dirty="0">
                <a:solidFill>
                  <a:srgbClr val="000000"/>
                </a:solidFill>
                <a:latin typeface="OHNVRH+Calibri"/>
                <a:cs typeface="OHNVRH+Calibri"/>
              </a:rPr>
              <a:t>),</a:t>
            </a:r>
            <a:r>
              <a:rPr sz="2050" spc="2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25" dirty="0">
                <a:solidFill>
                  <a:srgbClr val="000000"/>
                </a:solidFill>
                <a:latin typeface="OHNVRH+Calibri"/>
                <a:cs typeface="OHNVRH+Calibri"/>
              </a:rPr>
              <a:t>e.g.,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96841" y="3629050"/>
            <a:ext cx="232106" cy="219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6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JLDRBV+Cambria Math"/>
                <a:cs typeface="JLDRBV+Cambria Math"/>
              </a:rPr>
              <a:t>ꢎ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79184" y="3629050"/>
            <a:ext cx="289191" cy="219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6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JLDRBV+Cambria Math"/>
                <a:cs typeface="JLDRBV+Cambria Math"/>
              </a:rPr>
              <a:t>ꢂ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710176" y="4417756"/>
            <a:ext cx="280733" cy="190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LDRBV+Cambria Math"/>
                <a:cs typeface="JLDRBV+Cambria Math"/>
              </a:rPr>
              <a:t>ꢒ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226304" y="4424234"/>
            <a:ext cx="387233" cy="190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LDRBV+Cambria Math"/>
                <a:cs typeface="JLDRBV+Cambria Math"/>
              </a:rPr>
              <a:t>(ꢑ)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008370" y="4424234"/>
            <a:ext cx="933714" cy="190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LDRBV+Cambria Math"/>
                <a:cs typeface="JLDRBV+Cambria Math"/>
              </a:rPr>
              <a:t>(ꢑ)</a:t>
            </a:r>
            <a:r>
              <a:rPr sz="1200" spc="17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LDRBV+Cambria Math"/>
                <a:cs typeface="JLDRBV+Cambria Math"/>
              </a:rPr>
              <a:t>(ꢑ)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578731" y="4462304"/>
            <a:ext cx="2116291" cy="227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JLDRBV+Cambria Math"/>
                <a:cs typeface="JLDRBV+Cambria Math"/>
              </a:rPr>
              <a:t>σ</a:t>
            </a:r>
            <a:r>
              <a:rPr sz="1450" spc="193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50" dirty="0">
                <a:solidFill>
                  <a:srgbClr val="000000"/>
                </a:solidFill>
                <a:latin typeface="JLDRBV+Cambria Math"/>
                <a:cs typeface="JLDRBV+Cambria Math"/>
              </a:rPr>
              <a:t>ꢓ</a:t>
            </a:r>
            <a:r>
              <a:rPr sz="1450" spc="11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50" dirty="0">
                <a:solidFill>
                  <a:srgbClr val="000000"/>
                </a:solidFill>
                <a:latin typeface="JLDRBV+Cambria Math"/>
                <a:cs typeface="JLDRBV+Cambria Math"/>
              </a:rPr>
              <a:t>ꢈ</a:t>
            </a:r>
            <a:r>
              <a:rPr sz="145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50" dirty="0">
                <a:solidFill>
                  <a:srgbClr val="000000"/>
                </a:solidFill>
                <a:latin typeface="BSBGHK+Cambria Math"/>
                <a:cs typeface="BSBGHK+Cambria Math"/>
              </a:rPr>
              <a:t>ℎ</a:t>
            </a:r>
            <a:r>
              <a:rPr sz="1450" spc="-2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50" dirty="0">
                <a:solidFill>
                  <a:srgbClr val="000000"/>
                </a:solidFill>
                <a:latin typeface="JLDRBV+Cambria Math"/>
                <a:cs typeface="JLDRBV+Cambria Math"/>
              </a:rPr>
              <a:t>(ꢕ</a:t>
            </a:r>
            <a:r>
              <a:rPr sz="1450" spc="11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50" dirty="0">
                <a:solidFill>
                  <a:srgbClr val="000000"/>
                </a:solidFill>
                <a:latin typeface="JLDRBV+Cambria Math"/>
                <a:cs typeface="JLDRBV+Cambria Math"/>
              </a:rPr>
              <a:t>)</a:t>
            </a:r>
            <a:r>
              <a:rPr sz="1450" spc="10" dirty="0">
                <a:solidFill>
                  <a:srgbClr val="000000"/>
                </a:solidFill>
                <a:latin typeface="BSBGHK+Cambria Math"/>
                <a:cs typeface="BSBGHK+Cambria Math"/>
              </a:rPr>
              <a:t>≠</a:t>
            </a:r>
            <a:r>
              <a:rPr sz="1450" dirty="0">
                <a:solidFill>
                  <a:srgbClr val="000000"/>
                </a:solidFill>
                <a:latin typeface="JLDRBV+Cambria Math"/>
                <a:cs typeface="JLDRBV+Cambria Math"/>
              </a:rPr>
              <a:t>ꢎ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56932" y="4535733"/>
            <a:ext cx="4318972" cy="361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TFPMGG+Wingdings"/>
                <a:cs typeface="TFPMGG+Wingdings"/>
              </a:rPr>
              <a:t>➢</a:t>
            </a:r>
            <a:r>
              <a:rPr sz="2050" spc="-1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21" dirty="0">
                <a:solidFill>
                  <a:srgbClr val="000000"/>
                </a:solidFill>
                <a:latin typeface="OHNVRH+Calibri"/>
                <a:cs typeface="OHNVRH+Calibri"/>
              </a:rPr>
              <a:t>Compute</a:t>
            </a:r>
            <a:r>
              <a:rPr sz="2050" spc="-4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26" dirty="0">
                <a:solidFill>
                  <a:srgbClr val="000000"/>
                </a:solidFill>
                <a:latin typeface="OHNVRH+Calibri"/>
                <a:cs typeface="OHNVRH+Calibri"/>
              </a:rPr>
              <a:t>weighted</a:t>
            </a:r>
            <a:r>
              <a:rPr sz="2050" spc="-14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20" dirty="0">
                <a:solidFill>
                  <a:srgbClr val="000000"/>
                </a:solidFill>
                <a:latin typeface="OHNVRH+Calibri"/>
                <a:cs typeface="OHNVRH+Calibri"/>
              </a:rPr>
              <a:t>error</a:t>
            </a:r>
            <a:r>
              <a:rPr sz="2050" spc="21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23" dirty="0">
                <a:solidFill>
                  <a:srgbClr val="000000"/>
                </a:solidFill>
                <a:latin typeface="JLDRBV+Cambria Math"/>
                <a:cs typeface="JLDRBV+Cambria Math"/>
              </a:rPr>
              <a:t>err</a:t>
            </a:r>
            <a:r>
              <a:rPr sz="2200" baseline="-19902" dirty="0">
                <a:solidFill>
                  <a:srgbClr val="000000"/>
                </a:solidFill>
                <a:latin typeface="JLDRBV+Cambria Math"/>
                <a:cs typeface="JLDRBV+Cambria Math"/>
              </a:rPr>
              <a:t>ꢎ</a:t>
            </a:r>
            <a:r>
              <a:rPr sz="2200" spc="-194" baseline="-1990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JLDRBV+Cambria Math"/>
                <a:cs typeface="JLDRBV+Cambria Math"/>
              </a:rPr>
              <a:t>=</a:t>
            </a:r>
            <a:r>
              <a:rPr sz="2050" spc="3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800" baseline="42878" dirty="0">
                <a:solidFill>
                  <a:srgbClr val="000000"/>
                </a:solidFill>
                <a:latin typeface="JLDRBV+Cambria Math"/>
                <a:cs typeface="JLDRBV+Cambria Math"/>
              </a:rPr>
              <a:t>ꢑ</a:t>
            </a:r>
            <a:r>
              <a:rPr sz="1800" baseline="42878" dirty="0">
                <a:solidFill>
                  <a:srgbClr val="000000"/>
                </a:solidFill>
                <a:latin typeface="UHAVBR+Cambria Math"/>
                <a:cs typeface="UHAVBR+Cambria Math"/>
              </a:rPr>
              <a:t>=1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734939" y="4530399"/>
            <a:ext cx="224432" cy="190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1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LDRBV+Cambria Math"/>
                <a:cs typeface="JLDRBV+Cambria Math"/>
              </a:rPr>
              <a:t>ꢔ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410200" y="4706809"/>
            <a:ext cx="280733" cy="190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LDRBV+Cambria Math"/>
                <a:cs typeface="JLDRBV+Cambria Math"/>
              </a:rPr>
              <a:t>ꢒ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926455" y="4720398"/>
            <a:ext cx="387233" cy="190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LDRBV+Cambria Math"/>
                <a:cs typeface="JLDRBV+Cambria Math"/>
              </a:rPr>
              <a:t>(ꢑ)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278755" y="4746650"/>
            <a:ext cx="787426" cy="2269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JLDRBV+Cambria Math"/>
                <a:cs typeface="JLDRBV+Cambria Math"/>
              </a:rPr>
              <a:t>σ</a:t>
            </a:r>
            <a:r>
              <a:rPr sz="1400" spc="20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50" dirty="0">
                <a:solidFill>
                  <a:srgbClr val="000000"/>
                </a:solidFill>
                <a:latin typeface="JLDRBV+Cambria Math"/>
                <a:cs typeface="JLDRBV+Cambria Math"/>
              </a:rPr>
              <a:t>ꢓ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901184" y="4826944"/>
            <a:ext cx="1193117" cy="346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9015" marR="0">
              <a:lnSpc>
                <a:spcPts val="1201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LDRBV+Cambria Math"/>
                <a:cs typeface="JLDRBV+Cambria Math"/>
              </a:rPr>
              <a:t>ꢑ</a:t>
            </a:r>
            <a:r>
              <a:rPr sz="1200" dirty="0">
                <a:solidFill>
                  <a:srgbClr val="000000"/>
                </a:solidFill>
                <a:latin typeface="UHAVBR+Cambria Math"/>
                <a:cs typeface="UHAVBR+Cambria Math"/>
              </a:rPr>
              <a:t>=1</a:t>
            </a:r>
          </a:p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JLDRBV+Cambria Math"/>
                <a:cs typeface="JLDRBV+Cambria Math"/>
              </a:rPr>
              <a:t>1</a:t>
            </a:r>
            <a:r>
              <a:rPr sz="1450" spc="239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50" spc="11" dirty="0">
                <a:solidFill>
                  <a:srgbClr val="000000"/>
                </a:solidFill>
                <a:latin typeface="JLDRBV+Cambria Math"/>
                <a:cs typeface="JLDRBV+Cambria Math"/>
              </a:rPr>
              <a:t>1</a:t>
            </a:r>
            <a:r>
              <a:rPr sz="1450" dirty="0">
                <a:solidFill>
                  <a:srgbClr val="000000"/>
                </a:solidFill>
                <a:latin typeface="BSBGHK+Cambria Math"/>
                <a:cs typeface="BSBGHK+Cambria Math"/>
              </a:rPr>
              <a:t>−err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56932" y="5012618"/>
            <a:ext cx="4674582" cy="361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TFPMGG+Wingdings"/>
                <a:cs typeface="TFPMGG+Wingdings"/>
              </a:rPr>
              <a:t>➢</a:t>
            </a:r>
            <a:r>
              <a:rPr sz="2050" spc="-1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21" dirty="0">
                <a:solidFill>
                  <a:srgbClr val="000000"/>
                </a:solidFill>
                <a:latin typeface="OHNVRH+Calibri"/>
                <a:cs typeface="OHNVRH+Calibri"/>
              </a:rPr>
              <a:t>Compute</a:t>
            </a:r>
            <a:r>
              <a:rPr sz="2050" spc="-42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15" dirty="0">
                <a:solidFill>
                  <a:srgbClr val="000000"/>
                </a:solidFill>
                <a:latin typeface="OHNVRH+Calibri"/>
                <a:cs typeface="OHNVRH+Calibri"/>
              </a:rPr>
              <a:t>classifier</a:t>
            </a:r>
            <a:r>
              <a:rPr sz="2050" spc="-38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18" dirty="0">
                <a:solidFill>
                  <a:srgbClr val="000000"/>
                </a:solidFill>
                <a:latin typeface="OHNVRH+Calibri"/>
                <a:cs typeface="OHNVRH+Calibri"/>
              </a:rPr>
              <a:t>coefficient</a:t>
            </a:r>
            <a:r>
              <a:rPr sz="2050" spc="39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26" dirty="0">
                <a:solidFill>
                  <a:srgbClr val="000000"/>
                </a:solidFill>
                <a:latin typeface="JLDRBV+Cambria Math"/>
                <a:cs typeface="JLDRBV+Cambria Math"/>
              </a:rPr>
              <a:t>ꢐ</a:t>
            </a:r>
            <a:r>
              <a:rPr sz="2200" baseline="-19902" dirty="0">
                <a:solidFill>
                  <a:srgbClr val="000000"/>
                </a:solidFill>
                <a:latin typeface="JLDRBV+Cambria Math"/>
                <a:cs typeface="JLDRBV+Cambria Math"/>
              </a:rPr>
              <a:t>ꢎ</a:t>
            </a:r>
            <a:r>
              <a:rPr sz="2200" spc="-644" baseline="-1990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dirty="0">
                <a:solidFill>
                  <a:srgbClr val="000000"/>
                </a:solidFill>
                <a:latin typeface="JLDRBV+Cambria Math"/>
                <a:cs typeface="JLDRBV+Cambria Math"/>
              </a:rPr>
              <a:t>=</a:t>
            </a:r>
            <a:r>
              <a:rPr sz="2050" spc="48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35" dirty="0">
                <a:solidFill>
                  <a:srgbClr val="000000"/>
                </a:solidFill>
                <a:latin typeface="JLDRBV+Cambria Math"/>
                <a:cs typeface="JLDRBV+Cambria Math"/>
              </a:rPr>
              <a:t>log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943854" y="5014269"/>
            <a:ext cx="224432" cy="190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1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LDRBV+Cambria Math"/>
                <a:cs typeface="JLDRBV+Cambria Math"/>
              </a:rPr>
              <a:t>ꢔ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080506" y="5043547"/>
            <a:ext cx="1199741" cy="303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2050" spc="-10" dirty="0">
                <a:solidFill>
                  <a:srgbClr val="000000"/>
                </a:solidFill>
                <a:latin typeface="OHNVRH+Calibri"/>
                <a:cs typeface="OHNVRH+Calibri"/>
              </a:rPr>
              <a:t>(</a:t>
            </a:r>
            <a:r>
              <a:rPr sz="2050" dirty="0">
                <a:solidFill>
                  <a:srgbClr val="000000"/>
                </a:solidFill>
                <a:latin typeface="JLDRBV+Cambria Math"/>
                <a:cs typeface="JLDRBV+Cambria Math"/>
              </a:rPr>
              <a:t>∈</a:t>
            </a:r>
            <a:r>
              <a:rPr sz="2050" spc="-69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47" dirty="0">
                <a:solidFill>
                  <a:srgbClr val="000000"/>
                </a:solidFill>
                <a:latin typeface="JLDRBV+Cambria Math"/>
                <a:cs typeface="JLDRBV+Cambria Math"/>
              </a:rPr>
              <a:t>(0,∞)</a:t>
            </a:r>
            <a:r>
              <a:rPr sz="2050" dirty="0">
                <a:solidFill>
                  <a:srgbClr val="000000"/>
                </a:solidFill>
                <a:latin typeface="OHNVRH+Calibri"/>
                <a:cs typeface="OHNVRH+Calibri"/>
              </a:rPr>
              <a:t>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901184" y="5230908"/>
            <a:ext cx="1145713" cy="2510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JLDRBV+Cambria Math"/>
                <a:cs typeface="JLDRBV+Cambria Math"/>
              </a:rPr>
              <a:t>2</a:t>
            </a:r>
            <a:r>
              <a:rPr sz="1450" spc="33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50" dirty="0">
                <a:solidFill>
                  <a:srgbClr val="000000"/>
                </a:solidFill>
                <a:latin typeface="BSBGHK+Cambria Math"/>
                <a:cs typeface="BSBGHK+Cambria Math"/>
              </a:rPr>
              <a:t>err</a:t>
            </a:r>
            <a:r>
              <a:rPr sz="1800" baseline="-20551" dirty="0">
                <a:solidFill>
                  <a:srgbClr val="000000"/>
                </a:solidFill>
                <a:latin typeface="JLDRBV+Cambria Math"/>
                <a:cs typeface="JLDRBV+Cambria Math"/>
              </a:rPr>
              <a:t>ꢔ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56932" y="5422891"/>
            <a:ext cx="2644679" cy="333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2050" dirty="0">
                <a:solidFill>
                  <a:srgbClr val="000000"/>
                </a:solidFill>
                <a:latin typeface="TFPMGG+Wingdings"/>
                <a:cs typeface="TFPMGG+Wingdings"/>
              </a:rPr>
              <a:t>➢</a:t>
            </a:r>
            <a:r>
              <a:rPr sz="2050" spc="-1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050" spc="-22" dirty="0">
                <a:solidFill>
                  <a:srgbClr val="000000"/>
                </a:solidFill>
                <a:latin typeface="OHNVRH+Calibri"/>
                <a:cs typeface="OHNVRH+Calibri"/>
              </a:rPr>
              <a:t>Update</a:t>
            </a:r>
            <a:r>
              <a:rPr sz="2050" spc="-36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15" dirty="0">
                <a:solidFill>
                  <a:srgbClr val="000000"/>
                </a:solidFill>
                <a:latin typeface="OHNVRH+Calibri"/>
                <a:cs typeface="OHNVRH+Calibri"/>
              </a:rPr>
              <a:t>data</a:t>
            </a:r>
            <a:r>
              <a:rPr sz="2050" dirty="0">
                <a:solidFill>
                  <a:srgbClr val="000000"/>
                </a:solidFill>
                <a:latin typeface="OHNVRH+Calibri"/>
                <a:cs typeface="OHNVRH+Calibri"/>
              </a:rPr>
              <a:t> </a:t>
            </a:r>
            <a:r>
              <a:rPr sz="2050" spc="-23" dirty="0">
                <a:solidFill>
                  <a:srgbClr val="000000"/>
                </a:solidFill>
                <a:latin typeface="OHNVRH+Calibri"/>
                <a:cs typeface="OHNVRH+Calibri"/>
              </a:rPr>
              <a:t>weights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14007" y="6276925"/>
            <a:ext cx="4894411" cy="4024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HFKGB+Arial"/>
                <a:cs typeface="MHFKG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HNVRH+Calibri"/>
                <a:cs typeface="OHNVRH+Calibri"/>
              </a:rPr>
              <a:t>Return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ꢋ</a:t>
            </a:r>
            <a:r>
              <a:rPr sz="2400" spc="-3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x</a:t>
            </a:r>
            <a:r>
              <a:rPr sz="2400" spc="2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=</a:t>
            </a:r>
            <a:r>
              <a:rPr sz="2400" spc="-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sign(</a:t>
            </a:r>
            <a:r>
              <a:rPr sz="2400" spc="2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650" baseline="38437" dirty="0">
                <a:solidFill>
                  <a:srgbClr val="000000"/>
                </a:solidFill>
                <a:latin typeface="JLDRBV+Cambria Math"/>
                <a:cs typeface="JLDRBV+Cambria Math"/>
              </a:rPr>
              <a:t>ꢏ</a:t>
            </a:r>
            <a:r>
              <a:rPr sz="2650" spc="846" baseline="384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ꢐ</a:t>
            </a:r>
            <a:r>
              <a:rPr sz="2400" spc="-5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ℎ</a:t>
            </a:r>
            <a:r>
              <a:rPr sz="2400" spc="-5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(ꢅ))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265551" y="6314937"/>
            <a:ext cx="368574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JLDRBV+Cambria Math"/>
                <a:cs typeface="JLDRBV+Cambria Math"/>
              </a:rPr>
              <a:t>σ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3481451" y="6456878"/>
            <a:ext cx="1164811" cy="2628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51" dirty="0">
                <a:solidFill>
                  <a:srgbClr val="000000"/>
                </a:solidFill>
                <a:latin typeface="JLDRBV+Cambria Math"/>
                <a:cs typeface="JLDRBV+Cambria Math"/>
              </a:rPr>
              <a:t>ꢎ</a:t>
            </a:r>
            <a:r>
              <a:rPr sz="1750" dirty="0">
                <a:solidFill>
                  <a:srgbClr val="000000"/>
                </a:solidFill>
                <a:latin typeface="BSBGHK+Cambria Math"/>
                <a:cs typeface="BSBGHK+Cambria Math"/>
              </a:rPr>
              <a:t>=</a:t>
            </a:r>
            <a:r>
              <a:rPr sz="1750" dirty="0">
                <a:solidFill>
                  <a:srgbClr val="000000"/>
                </a:solidFill>
                <a:latin typeface="JLDRBV+Cambria Math"/>
                <a:cs typeface="JLDRBV+Cambria Math"/>
              </a:rPr>
              <a:t>1</a:t>
            </a:r>
            <a:r>
              <a:rPr sz="1750" spc="78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00" dirty="0">
                <a:solidFill>
                  <a:srgbClr val="000000"/>
                </a:solidFill>
                <a:latin typeface="JLDRBV+Cambria Math"/>
                <a:cs typeface="JLDRBV+Cambria Math"/>
              </a:rPr>
              <a:t>ꢎ</a:t>
            </a:r>
            <a:r>
              <a:rPr sz="1700" spc="49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00" dirty="0">
                <a:solidFill>
                  <a:srgbClr val="000000"/>
                </a:solidFill>
                <a:latin typeface="JLDRBV+Cambria Math"/>
                <a:cs typeface="JLDRBV+Cambria Math"/>
              </a:rPr>
              <a:t>ꢎ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442128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TCTGUI+Calibri-Bold"/>
                <a:cs typeface="TCTGUI+Calibri-Bold"/>
              </a:rPr>
              <a:t>Weighting</a:t>
            </a:r>
            <a:r>
              <a:rPr sz="3250" spc="-1228" dirty="0">
                <a:solidFill>
                  <a:srgbClr val="001F5F"/>
                </a:solidFill>
                <a:latin typeface="TCTGUI+Calibri-Bold"/>
                <a:cs typeface="TCTGUI+Calibri-Bold"/>
              </a:rPr>
              <a:t> </a:t>
            </a:r>
            <a:r>
              <a:rPr sz="3250" spc="-24" dirty="0">
                <a:solidFill>
                  <a:srgbClr val="001F5F"/>
                </a:solidFill>
                <a:latin typeface="TCTGUI+Calibri-Bold"/>
                <a:cs typeface="TCTGUI+Calibri-Bold"/>
              </a:rPr>
              <a:t>Intuition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7377" y="990931"/>
            <a:ext cx="7829831" cy="464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43078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WPJABT+Cambria Math"/>
                <a:cs typeface="WPJABT+Cambria Math"/>
              </a:rPr>
              <a:t>1</a:t>
            </a:r>
            <a:r>
              <a:rPr sz="1750" spc="286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WPJABT+Cambria Math"/>
                <a:cs typeface="WPJABT+Cambria Math"/>
              </a:rPr>
              <a:t>1−err</a:t>
            </a:r>
          </a:p>
          <a:p>
            <a:pPr marL="0" marR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JEBKFO+Arial"/>
                <a:cs typeface="JEBKFO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Recall:</a:t>
            </a:r>
            <a:r>
              <a:rPr sz="2400" spc="-13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ꢀ</a:t>
            </a:r>
            <a:r>
              <a:rPr sz="2400" spc="-3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ꢁ</a:t>
            </a:r>
            <a:r>
              <a:rPr sz="2400" spc="2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=</a:t>
            </a:r>
            <a:r>
              <a:rPr sz="2400" spc="-77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WPJABT+Cambria Math"/>
                <a:cs typeface="WPJABT+Cambria Math"/>
              </a:rPr>
              <a:t>sign</a:t>
            </a:r>
            <a:r>
              <a:rPr sz="2400" spc="12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WPJABT+Cambria Math"/>
                <a:cs typeface="WPJABT+Cambria Math"/>
              </a:rPr>
              <a:t>ꢃ</a:t>
            </a:r>
            <a:r>
              <a:rPr sz="1750" spc="138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ꢄ</a:t>
            </a:r>
            <a:r>
              <a:rPr sz="2400" spc="-5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ℎ</a:t>
            </a:r>
            <a:r>
              <a:rPr sz="2400" spc="-50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(ꢁ)</a:t>
            </a:r>
            <a:r>
              <a:rPr sz="2400" spc="9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where </a:t>
            </a: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ꢄ</a:t>
            </a:r>
            <a:r>
              <a:rPr sz="2400" spc="14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=</a:t>
            </a:r>
            <a:r>
              <a:rPr sz="2400" spc="6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WPJABT+Cambria Math"/>
                <a:cs typeface="WPJABT+Cambria Math"/>
              </a:rPr>
              <a:t>log</a:t>
            </a:r>
            <a:r>
              <a:rPr sz="2400" spc="38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50" dirty="0">
                <a:solidFill>
                  <a:srgbClr val="000000"/>
                </a:solidFill>
                <a:latin typeface="WPJABT+Cambria Math"/>
                <a:cs typeface="WPJABT+Cambria Math"/>
              </a:rPr>
              <a:t>ꢅ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37203" y="1090538"/>
            <a:ext cx="368574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σ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53484" y="1231850"/>
            <a:ext cx="1165078" cy="26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00" spc="73" dirty="0">
                <a:solidFill>
                  <a:srgbClr val="000000"/>
                </a:solidFill>
                <a:latin typeface="WPJABT+Cambria Math"/>
                <a:cs typeface="WPJABT+Cambria Math"/>
              </a:rPr>
              <a:t>ꢂ</a:t>
            </a:r>
            <a:r>
              <a:rPr sz="1700" spc="41" dirty="0">
                <a:solidFill>
                  <a:srgbClr val="000000"/>
                </a:solidFill>
                <a:latin typeface="IDQSAH+Cambria Math"/>
                <a:cs typeface="IDQSAH+Cambria Math"/>
              </a:rPr>
              <a:t>=</a:t>
            </a:r>
            <a:r>
              <a:rPr sz="1700" dirty="0">
                <a:solidFill>
                  <a:srgbClr val="000000"/>
                </a:solidFill>
                <a:latin typeface="WPJABT+Cambria Math"/>
                <a:cs typeface="WPJABT+Cambria Math"/>
              </a:rPr>
              <a:t>1</a:t>
            </a:r>
            <a:r>
              <a:rPr sz="1700" spc="84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WPJABT+Cambria Math"/>
                <a:cs typeface="WPJABT+Cambria Math"/>
              </a:rPr>
              <a:t>ꢂ</a:t>
            </a:r>
            <a:r>
              <a:rPr sz="1750" spc="44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WPJABT+Cambria Math"/>
                <a:cs typeface="WPJABT+Cambria Math"/>
              </a:rPr>
              <a:t>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36741" y="1231850"/>
            <a:ext cx="249026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WPJABT+Cambria Math"/>
                <a:cs typeface="WPJABT+Cambria Math"/>
              </a:rPr>
              <a:t>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50456" y="1323290"/>
            <a:ext cx="1255852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WPJABT+Cambria Math"/>
                <a:cs typeface="WPJABT+Cambria Math"/>
              </a:rPr>
              <a:t>2</a:t>
            </a:r>
            <a:r>
              <a:rPr sz="1750" spc="40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WPJABT+Cambria Math"/>
                <a:cs typeface="WPJABT+Cambria Math"/>
              </a:rPr>
              <a:t>err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53705" y="1398676"/>
            <a:ext cx="237938" cy="219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6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WPJABT+Cambria Math"/>
                <a:cs typeface="WPJABT+Cambria Math"/>
              </a:rPr>
              <a:t>ꢅ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7377" y="4851156"/>
            <a:ext cx="9938620" cy="752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JEBKFO+Arial"/>
                <a:cs typeface="JEBKFO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Weak classifiers</a:t>
            </a:r>
            <a:r>
              <a:rPr sz="2400" spc="24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which</a:t>
            </a:r>
            <a:r>
              <a:rPr sz="2400" spc="-13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get</a:t>
            </a:r>
            <a:r>
              <a:rPr sz="2400" spc="-75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lower</a:t>
            </a:r>
            <a:r>
              <a:rPr sz="2400" spc="50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weighted </a:t>
            </a:r>
            <a:r>
              <a:rPr sz="2400" spc="15" dirty="0">
                <a:solidFill>
                  <a:srgbClr val="000000"/>
                </a:solidFill>
                <a:latin typeface="AGLFKJ+Calibri"/>
                <a:cs typeface="AGLFKJ+Calibri"/>
              </a:rPr>
              <a:t>error</a:t>
            </a:r>
            <a:r>
              <a:rPr sz="2400" spc="-44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get </a:t>
            </a:r>
            <a:r>
              <a:rPr sz="2400" spc="-16" dirty="0">
                <a:solidFill>
                  <a:srgbClr val="000000"/>
                </a:solidFill>
                <a:latin typeface="AGLFKJ+Calibri"/>
                <a:cs typeface="AGLFKJ+Calibri"/>
              </a:rPr>
              <a:t>more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 weight </a:t>
            </a:r>
            <a:r>
              <a:rPr sz="2400" spc="47" dirty="0">
                <a:solidFill>
                  <a:srgbClr val="000000"/>
                </a:solidFill>
                <a:latin typeface="AGLFKJ+Calibri"/>
                <a:cs typeface="AGLFKJ+Calibri"/>
              </a:rPr>
              <a:t>in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AGLFKJ+Calibri"/>
                <a:cs typeface="AGLFKJ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final</a:t>
            </a:r>
          </a:p>
          <a:p>
            <a:pPr marL="343217" marR="0">
              <a:lnSpc>
                <a:spcPts val="2405"/>
              </a:lnSpc>
              <a:spcBef>
                <a:spcPts val="44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classifier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7377" y="5607635"/>
            <a:ext cx="9353463" cy="787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JEBKFO+Arial"/>
                <a:cs typeface="JEBKFO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Also:</a:t>
            </a:r>
            <a:r>
              <a:rPr sz="2400" spc="13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spc="150" dirty="0">
                <a:solidFill>
                  <a:srgbClr val="000000"/>
                </a:solidFill>
                <a:latin typeface="WPJABT+Cambria Math"/>
                <a:cs typeface="WPJABT+Cambria Math"/>
              </a:rPr>
              <a:t>ꢆ</a:t>
            </a:r>
            <a:r>
              <a:rPr sz="2650" spc="16" baseline="36666" dirty="0">
                <a:solidFill>
                  <a:srgbClr val="000000"/>
                </a:solidFill>
                <a:latin typeface="WPJABT+Cambria Math"/>
                <a:cs typeface="WPJABT+Cambria Math"/>
              </a:rPr>
              <a:t>(ꢇ)</a:t>
            </a:r>
            <a:r>
              <a:rPr sz="2650" spc="-839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35" dirty="0">
                <a:solidFill>
                  <a:srgbClr val="000000"/>
                </a:solidFill>
                <a:latin typeface="WPJABT+Cambria Math"/>
                <a:cs typeface="WPJABT+Cambria Math"/>
              </a:rPr>
              <a:t>←ꢆ</a:t>
            </a:r>
            <a:r>
              <a:rPr sz="2650" spc="44" baseline="36666" dirty="0">
                <a:solidFill>
                  <a:srgbClr val="000000"/>
                </a:solidFill>
                <a:latin typeface="WPJABT+Cambria Math"/>
                <a:cs typeface="WPJABT+Cambria Math"/>
              </a:rPr>
              <a:t>(ꢇ)</a:t>
            </a:r>
            <a:r>
              <a:rPr sz="2400" spc="26" dirty="0">
                <a:solidFill>
                  <a:srgbClr val="000000"/>
                </a:solidFill>
                <a:latin typeface="IDQSAH+Cambria Math"/>
                <a:cs typeface="IDQSAH+Cambria Math"/>
              </a:rPr>
              <a:t>e</a:t>
            </a:r>
            <a:r>
              <a:rPr sz="2400" spc="-36" dirty="0">
                <a:solidFill>
                  <a:srgbClr val="000000"/>
                </a:solidFill>
                <a:latin typeface="WPJABT+Cambria Math"/>
                <a:cs typeface="WPJABT+Cambria Math"/>
              </a:rPr>
              <a:t>xp</a:t>
            </a:r>
            <a:r>
              <a:rPr sz="2400" spc="-3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DQSAH+Cambria Math"/>
                <a:cs typeface="IDQSAH+Cambria Math"/>
              </a:rPr>
              <a:t>2</a:t>
            </a: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ꢄ</a:t>
            </a:r>
            <a:r>
              <a:rPr sz="2650" spc="151" baseline="-22646" dirty="0">
                <a:solidFill>
                  <a:srgbClr val="000000"/>
                </a:solidFill>
                <a:latin typeface="WPJABT+Cambria Math"/>
                <a:cs typeface="WPJABT+Cambria Math"/>
              </a:rPr>
              <a:t>ꢂ</a:t>
            </a: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ꢈ</a:t>
            </a:r>
            <a:r>
              <a:rPr sz="2400" spc="-51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ℎ</a:t>
            </a:r>
            <a:r>
              <a:rPr sz="2650" spc="152" baseline="-22646" dirty="0">
                <a:solidFill>
                  <a:srgbClr val="000000"/>
                </a:solidFill>
                <a:latin typeface="WPJABT+Cambria Math"/>
                <a:cs typeface="WPJABT+Cambria Math"/>
              </a:rPr>
              <a:t>ꢂ</a:t>
            </a:r>
            <a:r>
              <a:rPr sz="2400" spc="51" dirty="0">
                <a:solidFill>
                  <a:srgbClr val="000000"/>
                </a:solidFill>
                <a:latin typeface="WPJABT+Cambria Math"/>
                <a:cs typeface="WPJABT+Cambria Math"/>
              </a:rPr>
              <a:t>(ꢁ</a:t>
            </a:r>
            <a:r>
              <a:rPr sz="2650" spc="43" baseline="36666" dirty="0">
                <a:solidFill>
                  <a:srgbClr val="000000"/>
                </a:solidFill>
                <a:latin typeface="WPJABT+Cambria Math"/>
                <a:cs typeface="WPJABT+Cambria Math"/>
              </a:rPr>
              <a:t>(ꢇ)</a:t>
            </a:r>
            <a:r>
              <a:rPr sz="2400" spc="444" dirty="0">
                <a:solidFill>
                  <a:srgbClr val="000000"/>
                </a:solidFill>
                <a:latin typeface="WPJABT+Cambria Math"/>
                <a:cs typeface="WPJABT+Cambria Math"/>
              </a:rPr>
              <a:t>)≠ꢉ</a:t>
            </a:r>
            <a:r>
              <a:rPr sz="2650" spc="15" baseline="36666" dirty="0">
                <a:solidFill>
                  <a:srgbClr val="000000"/>
                </a:solidFill>
                <a:latin typeface="WPJABT+Cambria Math"/>
                <a:cs typeface="WPJABT+Cambria Math"/>
              </a:rPr>
              <a:t>(ꢇ)</a:t>
            </a:r>
          </a:p>
          <a:p>
            <a:pPr marL="826452" marR="0">
              <a:lnSpc>
                <a:spcPts val="2666"/>
              </a:lnSpc>
              <a:spcBef>
                <a:spcPts val="3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AAIPRK+Wingdings"/>
                <a:cs typeface="AAIPR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If </a:t>
            </a:r>
            <a:r>
              <a:rPr sz="2400" dirty="0">
                <a:solidFill>
                  <a:srgbClr val="000000"/>
                </a:solidFill>
                <a:latin typeface="IDQSAH+Cambria Math"/>
                <a:cs typeface="IDQSAH+Cambria Math"/>
              </a:rPr>
              <a:t>err</a:t>
            </a:r>
            <a:r>
              <a:rPr sz="2400" spc="1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≈</a:t>
            </a:r>
            <a:r>
              <a:rPr sz="2400" spc="-7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31" dirty="0">
                <a:solidFill>
                  <a:srgbClr val="000000"/>
                </a:solidFill>
                <a:latin typeface="WPJABT+Cambria Math"/>
                <a:cs typeface="WPJABT+Cambria Math"/>
              </a:rPr>
              <a:t>0,ꢄ</a:t>
            </a:r>
            <a:r>
              <a:rPr sz="2400" spc="-1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high </a:t>
            </a:r>
            <a:r>
              <a:rPr sz="2400" spc="34" dirty="0">
                <a:solidFill>
                  <a:srgbClr val="000000"/>
                </a:solidFill>
                <a:latin typeface="AGLFKJ+Calibri"/>
                <a:cs typeface="AGLFKJ+Calibri"/>
              </a:rPr>
              <a:t>so</a:t>
            </a:r>
            <a:r>
              <a:rPr sz="2400" spc="483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misclassified examples</a:t>
            </a:r>
            <a:r>
              <a:rPr sz="2400" spc="-52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get more</a:t>
            </a:r>
            <a:r>
              <a:rPr sz="2400" spc="-20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attention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15540" y="6171833"/>
            <a:ext cx="249026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WPJABT+Cambria Math"/>
                <a:cs typeface="WPJABT+Cambria Math"/>
              </a:rPr>
              <a:t>ꢂ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389884" y="6171833"/>
            <a:ext cx="249026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WPJABT+Cambria Math"/>
                <a:cs typeface="WPJABT+Cambria Math"/>
              </a:rPr>
              <a:t>ꢂ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33830" y="6368172"/>
            <a:ext cx="8697949" cy="3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AAIPRK+Wingdings"/>
                <a:cs typeface="AAIPR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If </a:t>
            </a:r>
            <a:r>
              <a:rPr sz="2400" dirty="0">
                <a:solidFill>
                  <a:srgbClr val="000000"/>
                </a:solidFill>
                <a:latin typeface="IDQSAH+Cambria Math"/>
                <a:cs typeface="IDQSAH+Cambria Math"/>
              </a:rPr>
              <a:t>err</a:t>
            </a:r>
            <a:r>
              <a:rPr sz="2400" spc="1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PJABT+Cambria Math"/>
                <a:cs typeface="WPJABT+Cambria Math"/>
              </a:rPr>
              <a:t>≈</a:t>
            </a:r>
            <a:r>
              <a:rPr sz="2400" spc="-7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78" dirty="0">
                <a:solidFill>
                  <a:srgbClr val="000000"/>
                </a:solidFill>
                <a:latin typeface="WPJABT+Cambria Math"/>
                <a:cs typeface="WPJABT+Cambria Math"/>
              </a:rPr>
              <a:t>0.5,ꢄ</a:t>
            </a:r>
            <a:r>
              <a:rPr sz="2400" spc="-6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AGLFKJ+Calibri"/>
                <a:cs typeface="AGLFKJ+Calibri"/>
              </a:rPr>
              <a:t>low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spc="33" dirty="0">
                <a:solidFill>
                  <a:srgbClr val="000000"/>
                </a:solidFill>
                <a:latin typeface="AGLFKJ+Calibri"/>
                <a:cs typeface="AGLFKJ+Calibri"/>
              </a:rPr>
              <a:t>so</a:t>
            </a:r>
            <a:r>
              <a:rPr sz="2400" spc="-45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misclassified examples</a:t>
            </a:r>
            <a:r>
              <a:rPr sz="2400" spc="-57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AGLFKJ+Calibri"/>
                <a:cs typeface="AGLFKJ+Calibri"/>
              </a:rPr>
              <a:t>are</a:t>
            </a:r>
            <a:r>
              <a:rPr sz="2400" spc="-30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not</a:t>
            </a:r>
            <a:r>
              <a:rPr sz="2400" spc="-81" dirty="0">
                <a:solidFill>
                  <a:srgbClr val="000000"/>
                </a:solidFill>
                <a:latin typeface="AGLFKJ+Calibri"/>
                <a:cs typeface="AGLFKJ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GLFKJ+Calibri"/>
                <a:cs typeface="AGLFKJ+Calibri"/>
              </a:rPr>
              <a:t>emphasized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415540" y="6534418"/>
            <a:ext cx="249026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WPJABT+Cambria Math"/>
                <a:cs typeface="WPJABT+Cambria Math"/>
              </a:rPr>
              <a:t>ꢂ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620389" y="6534418"/>
            <a:ext cx="249026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WPJABT+Cambria Math"/>
                <a:cs typeface="WPJABT+Cambria Math"/>
              </a:rPr>
              <a:t>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325034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BVNMMR+Calibri-Bold"/>
                <a:cs typeface="BVNMMR+Calibri-Bold"/>
              </a:rPr>
              <a:t>AdaBoost</a:t>
            </a:r>
            <a:r>
              <a:rPr sz="3250" spc="-1272" dirty="0">
                <a:solidFill>
                  <a:srgbClr val="001F5F"/>
                </a:solidFill>
                <a:latin typeface="Liberation Mono"/>
                <a:cs typeface="Liberation Mono"/>
              </a:rPr>
              <a:t> </a:t>
            </a:r>
            <a:r>
              <a:rPr sz="3250" spc="-16" dirty="0">
                <a:solidFill>
                  <a:srgbClr val="001F5F"/>
                </a:solidFill>
                <a:latin typeface="BVNMMR+Calibri-Bold"/>
                <a:cs typeface="BVNMMR+Calibri-Bold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9075" y="1471051"/>
            <a:ext cx="2125492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JADDH+Arial"/>
                <a:cs typeface="LJADDH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FADIN+Calibri"/>
                <a:cs typeface="NFADIN+Calibri"/>
              </a:rPr>
              <a:t>Training</a:t>
            </a:r>
            <a:r>
              <a:rPr sz="2400" spc="-27" dirty="0">
                <a:solidFill>
                  <a:srgbClr val="000000"/>
                </a:solidFill>
                <a:latin typeface="NFADIN+Calibri"/>
                <a:cs typeface="NFADIN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FADIN+Calibri"/>
                <a:cs typeface="NFADIN+Calibri"/>
              </a:rPr>
              <a:t>data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325034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BVNMMR+Calibri-Bold"/>
                <a:cs typeface="BVNMMR+Calibri-Bold"/>
              </a:rPr>
              <a:t>AdaBoost</a:t>
            </a:r>
            <a:r>
              <a:rPr sz="3250" spc="-1272" dirty="0">
                <a:solidFill>
                  <a:srgbClr val="001F5F"/>
                </a:solidFill>
                <a:latin typeface="Liberation Mono"/>
                <a:cs typeface="Liberation Mono"/>
              </a:rPr>
              <a:t> </a:t>
            </a:r>
            <a:r>
              <a:rPr sz="3250" spc="-16" dirty="0">
                <a:solidFill>
                  <a:srgbClr val="001F5F"/>
                </a:solidFill>
                <a:latin typeface="BVNMMR+Calibri-Bold"/>
                <a:cs typeface="BVNMMR+Calibri-Bold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08760" y="1021344"/>
            <a:ext cx="1526012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JADDH+Arial"/>
                <a:cs typeface="LJADDH+Arial"/>
              </a:rPr>
              <a:t>•</a:t>
            </a:r>
            <a:r>
              <a:rPr sz="2400" spc="4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FADIN+Calibri"/>
                <a:cs typeface="NFADIN+Calibri"/>
              </a:rPr>
              <a:t>Round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325034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BVNMMR+Calibri-Bold"/>
                <a:cs typeface="BVNMMR+Calibri-Bold"/>
              </a:rPr>
              <a:t>AdaBoost</a:t>
            </a:r>
            <a:r>
              <a:rPr sz="3250" spc="-1272" dirty="0">
                <a:solidFill>
                  <a:srgbClr val="001F5F"/>
                </a:solidFill>
                <a:latin typeface="Liberation Mono"/>
                <a:cs typeface="Liberation Mono"/>
              </a:rPr>
              <a:t> </a:t>
            </a:r>
            <a:r>
              <a:rPr sz="3250" spc="-16" dirty="0">
                <a:solidFill>
                  <a:srgbClr val="001F5F"/>
                </a:solidFill>
                <a:latin typeface="BVNMMR+Calibri-Bold"/>
                <a:cs typeface="BVNMMR+Calibri-Bold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08760" y="1021344"/>
            <a:ext cx="1526012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JADDH+Arial"/>
                <a:cs typeface="LJADDH+Arial"/>
              </a:rPr>
              <a:t>•</a:t>
            </a:r>
            <a:r>
              <a:rPr sz="2400" spc="4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FADIN+Calibri"/>
                <a:cs typeface="NFADIN+Calibri"/>
              </a:rPr>
              <a:t>Round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325034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BVNMMR+Calibri-Bold"/>
                <a:cs typeface="BVNMMR+Calibri-Bold"/>
              </a:rPr>
              <a:t>AdaBoost</a:t>
            </a:r>
            <a:r>
              <a:rPr sz="3250" spc="-1272" dirty="0">
                <a:solidFill>
                  <a:srgbClr val="001F5F"/>
                </a:solidFill>
                <a:latin typeface="Liberation Mono"/>
                <a:cs typeface="Liberation Mono"/>
              </a:rPr>
              <a:t> </a:t>
            </a:r>
            <a:r>
              <a:rPr sz="3250" spc="-16" dirty="0">
                <a:solidFill>
                  <a:srgbClr val="001F5F"/>
                </a:solidFill>
                <a:latin typeface="BVNMMR+Calibri-Bold"/>
                <a:cs typeface="BVNMMR+Calibri-Bold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08760" y="1021344"/>
            <a:ext cx="1526012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JADDH+Arial"/>
                <a:cs typeface="LJADDH+Arial"/>
              </a:rPr>
              <a:t>•</a:t>
            </a:r>
            <a:r>
              <a:rPr sz="2400" spc="4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FADIN+Calibri"/>
                <a:cs typeface="NFADIN+Calibri"/>
              </a:rPr>
              <a:t>Round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325034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BVNMMR+Calibri-Bold"/>
                <a:cs typeface="BVNMMR+Calibri-Bold"/>
              </a:rPr>
              <a:t>AdaBoost</a:t>
            </a:r>
            <a:r>
              <a:rPr sz="3250" spc="-1272" dirty="0">
                <a:solidFill>
                  <a:srgbClr val="001F5F"/>
                </a:solidFill>
                <a:latin typeface="Liberation Mono"/>
                <a:cs typeface="Liberation Mono"/>
              </a:rPr>
              <a:t> </a:t>
            </a:r>
            <a:r>
              <a:rPr sz="3250" spc="-16" dirty="0">
                <a:solidFill>
                  <a:srgbClr val="001F5F"/>
                </a:solidFill>
                <a:latin typeface="BVNMMR+Calibri-Bold"/>
                <a:cs typeface="BVNMMR+Calibri-Bold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4990" y="1104656"/>
            <a:ext cx="2219787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JADDH+Arial"/>
                <a:cs typeface="LJADDH+Arial"/>
              </a:rPr>
              <a:t>•</a:t>
            </a:r>
            <a:r>
              <a:rPr sz="2400" spc="4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FADIN+Calibri"/>
                <a:cs typeface="NFADIN+Calibri"/>
              </a:rPr>
              <a:t>Final</a:t>
            </a:r>
            <a:r>
              <a:rPr sz="2400" spc="36" dirty="0">
                <a:solidFill>
                  <a:srgbClr val="000000"/>
                </a:solidFill>
                <a:latin typeface="NFADIN+Calibri"/>
                <a:cs typeface="NFADIN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FADIN+Calibri"/>
                <a:cs typeface="NFADIN+Calibri"/>
              </a:rPr>
              <a:t>classifier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576926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BVNMMR+Calibri-Bold"/>
                <a:cs typeface="BVNMMR+Calibri-Bold"/>
              </a:rPr>
              <a:t>AdaBoost</a:t>
            </a:r>
            <a:r>
              <a:rPr sz="3250" spc="-1272" dirty="0">
                <a:solidFill>
                  <a:srgbClr val="001F5F"/>
                </a:solidFill>
                <a:latin typeface="Liberation Mono"/>
                <a:cs typeface="Liberation Mono"/>
              </a:rPr>
              <a:t> </a:t>
            </a:r>
            <a:r>
              <a:rPr sz="3250" spc="-16" dirty="0">
                <a:solidFill>
                  <a:srgbClr val="001F5F"/>
                </a:solidFill>
                <a:latin typeface="BVNMMR+Calibri-Bold"/>
                <a:cs typeface="BVNMMR+Calibri-Bold"/>
              </a:rPr>
              <a:t>Algorithm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325034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VECTKV+Calibri-Bold"/>
                <a:cs typeface="VECTKV+Calibri-Bold"/>
              </a:rPr>
              <a:t>AdaBoost</a:t>
            </a:r>
            <a:r>
              <a:rPr sz="3250" spc="-1252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VECTKV+Calibri-Bold"/>
                <a:cs typeface="VECTKV+Calibri-Bold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5337503"/>
            <a:ext cx="10808860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VUMMUU+Calibri"/>
                <a:cs typeface="VUMMUU+Calibri"/>
              </a:rPr>
              <a:t>Each</a:t>
            </a:r>
            <a:r>
              <a:rPr sz="2400" spc="-1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figure</a:t>
            </a:r>
            <a:r>
              <a:rPr sz="2400" spc="-1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shows</a:t>
            </a:r>
            <a:r>
              <a:rPr sz="2400" spc="2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 number</a:t>
            </a:r>
            <a:r>
              <a:rPr sz="2400" spc="5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583" dirty="0">
                <a:solidFill>
                  <a:srgbClr val="000000"/>
                </a:solidFill>
                <a:latin typeface="MUFSMI+Cambria Math"/>
                <a:cs typeface="MUFSMI+Cambria Math"/>
              </a:rPr>
              <a:t>ꢀ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of base</a:t>
            </a:r>
            <a:r>
              <a:rPr sz="2400" spc="-19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learners</a:t>
            </a:r>
            <a:r>
              <a:rPr sz="2400" spc="-5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trained </a:t>
            </a:r>
            <a:r>
              <a:rPr sz="2400" spc="-38" dirty="0">
                <a:solidFill>
                  <a:srgbClr val="000000"/>
                </a:solidFill>
                <a:latin typeface="VUMMUU+Calibri"/>
                <a:cs typeface="VUMMUU+Calibri"/>
              </a:rPr>
              <a:t>so</a:t>
            </a:r>
            <a:r>
              <a:rPr sz="2400" spc="29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far,</a:t>
            </a:r>
            <a:r>
              <a:rPr sz="2400" spc="6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 decision</a:t>
            </a:r>
            <a:r>
              <a:rPr sz="2400" spc="-1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67" dirty="0">
                <a:solidFill>
                  <a:srgbClr val="000000"/>
                </a:solidFill>
                <a:latin typeface="VUMMUU+Calibri"/>
                <a:cs typeface="VUMMUU+Calibri"/>
              </a:rPr>
              <a:t>of</a:t>
            </a:r>
            <a:r>
              <a:rPr sz="2400" spc="65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225" y="5747464"/>
            <a:ext cx="9867105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most recent learner</a:t>
            </a:r>
            <a:r>
              <a:rPr sz="2400" spc="-3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(dashed black),</a:t>
            </a:r>
            <a:r>
              <a:rPr sz="2400" spc="5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and </a:t>
            </a:r>
            <a:r>
              <a:rPr sz="2400" spc="-21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 boundary</a:t>
            </a:r>
            <a:r>
              <a:rPr sz="2400" spc="1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of </a:t>
            </a:r>
            <a:r>
              <a:rPr sz="2400" spc="-21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 ensemble</a:t>
            </a:r>
            <a:r>
              <a:rPr sz="2400" spc="-1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(green)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667893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VECTKV+Calibri-Bold"/>
                <a:cs typeface="VECTKV+Calibri-Bold"/>
              </a:rPr>
              <a:t>AdaBoost</a:t>
            </a:r>
            <a:r>
              <a:rPr sz="3250" spc="-1252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VECTKV+Calibri-Bold"/>
                <a:cs typeface="VECTKV+Calibri-Bold"/>
              </a:rPr>
              <a:t>Minimizes</a:t>
            </a:r>
            <a:r>
              <a:rPr sz="3250" spc="-1197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42" dirty="0">
                <a:solidFill>
                  <a:srgbClr val="001F5F"/>
                </a:solidFill>
                <a:latin typeface="VECTKV+Calibri-Bold"/>
                <a:cs typeface="VECTKV+Calibri-Bold"/>
              </a:rPr>
              <a:t>the</a:t>
            </a:r>
            <a:r>
              <a:rPr sz="3250" spc="-1225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VECTKV+Calibri-Bold"/>
                <a:cs typeface="VECTKV+Calibri-Bold"/>
              </a:rPr>
              <a:t>Training</a:t>
            </a:r>
            <a:r>
              <a:rPr sz="3250" spc="-1219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VECTKV+Calibri-Bold"/>
                <a:cs typeface="VECTKV+Calibri-Bold"/>
              </a:rPr>
              <a:t>Error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76593" y="375444"/>
            <a:ext cx="4620491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AdaBoost </a:t>
            </a: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算法的⼀个核⼼理论保证：它能以极快的速度最⼩化训练误差。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3397" y="4466219"/>
            <a:ext cx="10588168" cy="112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VUMMUU+Calibri"/>
                <a:cs typeface="VUMMUU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under</a:t>
            </a:r>
            <a:r>
              <a:rPr sz="2400" spc="-1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simplifying</a:t>
            </a:r>
            <a:r>
              <a:rPr sz="2400" spc="5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assumption that </a:t>
            </a:r>
            <a:r>
              <a:rPr sz="2400" spc="-19" dirty="0">
                <a:solidFill>
                  <a:srgbClr val="000000"/>
                </a:solidFill>
                <a:latin typeface="VUMMUU+Calibri"/>
                <a:cs typeface="VUMMUU+Calibri"/>
              </a:rPr>
              <a:t>each</a:t>
            </a:r>
            <a:r>
              <a:rPr sz="2400" spc="15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VUMMUU+Calibri"/>
                <a:cs typeface="VUMMUU+Calibri"/>
              </a:rPr>
              <a:t>weak</a:t>
            </a:r>
            <a:r>
              <a:rPr sz="2400" spc="-7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learner</a:t>
            </a:r>
            <a:r>
              <a:rPr sz="2400" spc="-3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VUMMUU+Calibri"/>
                <a:cs typeface="VUMMUU+Calibri"/>
              </a:rPr>
              <a:t>is</a:t>
            </a:r>
            <a:r>
              <a:rPr sz="2400" spc="1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66" dirty="0">
                <a:solidFill>
                  <a:srgbClr val="000000"/>
                </a:solidFill>
                <a:latin typeface="MUFSMI+Cambria Math"/>
                <a:cs typeface="MUFSMI+Cambria Math"/>
              </a:rPr>
              <a:t>ꢁ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-better</a:t>
            </a:r>
            <a:r>
              <a:rPr sz="2400" spc="5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VUMMUU+Calibri"/>
                <a:cs typeface="VUMMUU+Calibri"/>
              </a:rPr>
              <a:t>than</a:t>
            </a:r>
            <a:r>
              <a:rPr sz="2400" spc="1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</a:t>
            </a:r>
          </a:p>
          <a:p>
            <a:pPr marL="343217" marR="0">
              <a:lnSpc>
                <a:spcPts val="2405"/>
              </a:lnSpc>
              <a:spcBef>
                <a:spcPts val="44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random</a:t>
            </a:r>
            <a:r>
              <a:rPr sz="2400" spc="1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predictor.</a:t>
            </a:r>
          </a:p>
          <a:p>
            <a:pPr marL="0" marR="0">
              <a:lnSpc>
                <a:spcPts val="2684"/>
              </a:lnSpc>
              <a:spcBef>
                <a:spcPts val="15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VUMMUU+Calibri"/>
                <a:cs typeface="VUMMUU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called geometric</a:t>
            </a:r>
            <a:r>
              <a:rPr sz="2400" spc="-5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convergence.</a:t>
            </a:r>
            <a:r>
              <a:rPr sz="2400" spc="5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It</a:t>
            </a:r>
            <a:r>
              <a:rPr sz="2400" spc="-7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VUMMUU+Calibri"/>
                <a:cs typeface="VUMMUU+Calibri"/>
              </a:rPr>
              <a:t>is</a:t>
            </a:r>
            <a:r>
              <a:rPr sz="2400" spc="-10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VUMMUU+Calibri"/>
                <a:cs typeface="VUMMUU+Calibri"/>
              </a:rPr>
              <a:t>fast!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73834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VECTKV+Calibri-Bold"/>
                <a:cs typeface="VECTKV+Calibri-Bold"/>
              </a:rPr>
              <a:t>Generalization</a:t>
            </a:r>
            <a:r>
              <a:rPr sz="3250" spc="-1277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VECTKV+Calibri-Bold"/>
                <a:cs typeface="VECTKV+Calibri-Bold"/>
              </a:rPr>
              <a:t>Error</a:t>
            </a:r>
            <a:r>
              <a:rPr sz="3250" spc="-1211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VECTKV+Calibri-Bold"/>
                <a:cs typeface="VECTKV+Calibri-Bold"/>
              </a:rPr>
              <a:t>of</a:t>
            </a:r>
            <a:r>
              <a:rPr sz="3250" spc="-1219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2" dirty="0">
                <a:solidFill>
                  <a:srgbClr val="001F5F"/>
                </a:solidFill>
                <a:latin typeface="VECTKV+Calibri-Bold"/>
                <a:cs typeface="VECTKV+Calibri-Bold"/>
              </a:rPr>
              <a:t>AdaBoost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73768"/>
            <a:ext cx="10761745" cy="1139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AdaBoost’s</a:t>
            </a:r>
            <a:r>
              <a:rPr sz="2400" spc="17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training</a:t>
            </a:r>
            <a:r>
              <a:rPr sz="2400" spc="-15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error</a:t>
            </a:r>
            <a:r>
              <a:rPr sz="2400" spc="48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(loss)</a:t>
            </a:r>
            <a:r>
              <a:rPr sz="2400" spc="-69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converges</a:t>
            </a:r>
            <a:r>
              <a:rPr sz="2400" spc="13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GBJMJG+Calibri"/>
                <a:cs typeface="GBJMJG+Calibri"/>
              </a:rPr>
              <a:t>to</a:t>
            </a:r>
            <a:r>
              <a:rPr sz="2400" spc="-29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GBJMJG+Calibri"/>
                <a:cs typeface="GBJMJG+Calibri"/>
              </a:rPr>
              <a:t>zero.</a:t>
            </a:r>
            <a:r>
              <a:rPr sz="2400" spc="-13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What about </a:t>
            </a:r>
            <a:r>
              <a:rPr sz="2400" spc="-21" dirty="0">
                <a:solidFill>
                  <a:srgbClr val="000000"/>
                </a:solidFill>
                <a:latin typeface="GBJMJG+Calibri"/>
                <a:cs typeface="GBJMJG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 test error</a:t>
            </a:r>
            <a:r>
              <a:rPr sz="2400" spc="48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of</a:t>
            </a:r>
            <a:r>
              <a:rPr sz="2400" spc="77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spc="76" dirty="0">
                <a:solidFill>
                  <a:srgbClr val="000000"/>
                </a:solidFill>
                <a:latin typeface="MUFSMI+Cambria Math"/>
                <a:cs typeface="MUFSMI+Cambria Math"/>
              </a:rPr>
              <a:t>ꢂ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?</a:t>
            </a:r>
          </a:p>
          <a:p>
            <a:pPr marL="0" marR="0">
              <a:lnSpc>
                <a:spcPts val="285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7" dirty="0">
                <a:solidFill>
                  <a:srgbClr val="000000"/>
                </a:solidFill>
                <a:latin typeface="VUMMUU+Calibri"/>
                <a:cs typeface="VUMMUU+Calibri"/>
              </a:rPr>
              <a:t>As</a:t>
            </a:r>
            <a:r>
              <a:rPr sz="2400" spc="-95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add more</a:t>
            </a:r>
            <a:r>
              <a:rPr sz="2400" spc="-2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weak</a:t>
            </a:r>
            <a:r>
              <a:rPr sz="2400" spc="1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classifiers,</a:t>
            </a:r>
            <a:r>
              <a:rPr sz="2400" spc="-1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overall</a:t>
            </a:r>
            <a:r>
              <a:rPr sz="2400" spc="29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classifier</a:t>
            </a:r>
            <a:r>
              <a:rPr sz="2400" spc="12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613" dirty="0">
                <a:solidFill>
                  <a:srgbClr val="000000"/>
                </a:solidFill>
                <a:latin typeface="MUFSMI+Cambria Math"/>
                <a:cs typeface="MUFSMI+Cambria Math"/>
              </a:rPr>
              <a:t>ꢂ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becomes</a:t>
            </a:r>
            <a:r>
              <a:rPr sz="2400" spc="-57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GBJMJG+Calibri"/>
                <a:cs typeface="GBJMJG+Calibri"/>
              </a:rPr>
              <a:t>more</a:t>
            </a:r>
            <a:r>
              <a:rPr sz="2400" spc="-20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“complex”.</a:t>
            </a:r>
          </a:p>
          <a:p>
            <a:pPr marL="0" marR="0">
              <a:lnSpc>
                <a:spcPts val="2684"/>
              </a:lnSpc>
              <a:spcBef>
                <a:spcPts val="10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VUMMUU+Calibri"/>
                <a:cs typeface="VUMMUU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expect </a:t>
            </a:r>
            <a:r>
              <a:rPr sz="2400" spc="-15" dirty="0">
                <a:solidFill>
                  <a:srgbClr val="000000"/>
                </a:solidFill>
                <a:latin typeface="VUMMUU+Calibri"/>
                <a:cs typeface="VUMMUU+Calibri"/>
              </a:rPr>
              <a:t>more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 complex classifiers</a:t>
            </a:r>
            <a:r>
              <a:rPr sz="2400" spc="1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overfit.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2084969"/>
            <a:ext cx="7301397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If </a:t>
            </a:r>
            <a:r>
              <a:rPr sz="2400" spc="10" dirty="0">
                <a:solidFill>
                  <a:srgbClr val="000000"/>
                </a:solidFill>
                <a:latin typeface="VUMMUU+Calibri"/>
                <a:cs typeface="VUMMUU+Calibri"/>
              </a:rPr>
              <a:t>one</a:t>
            </a:r>
            <a:r>
              <a:rPr sz="2400" spc="-2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runs</a:t>
            </a:r>
            <a:r>
              <a:rPr sz="2400" spc="-5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AdaBoost</a:t>
            </a:r>
            <a:r>
              <a:rPr sz="2400" spc="-7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long</a:t>
            </a:r>
            <a:r>
              <a:rPr sz="2400" spc="5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enough, </a:t>
            </a:r>
            <a:r>
              <a:rPr sz="2400" spc="-25" dirty="0">
                <a:solidFill>
                  <a:srgbClr val="000000"/>
                </a:solidFill>
                <a:latin typeface="VUMMUU+Calibri"/>
                <a:cs typeface="VUMMUU+Calibri"/>
              </a:rPr>
              <a:t>it</a:t>
            </a:r>
            <a:r>
              <a:rPr sz="2400" spc="2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can </a:t>
            </a:r>
            <a:r>
              <a:rPr sz="2400" spc="-25" dirty="0">
                <a:solidFill>
                  <a:srgbClr val="000000"/>
                </a:solidFill>
                <a:latin typeface="VUMMUU+Calibri"/>
                <a:cs typeface="VUMMUU+Calibri"/>
              </a:rPr>
              <a:t>in</a:t>
            </a:r>
            <a:r>
              <a:rPr sz="2400" spc="21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fact overfit.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1356" y="3023962"/>
            <a:ext cx="622588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模型变复杂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1356" y="3223467"/>
            <a:ext cx="3026542" cy="254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随着我们添加越来越多的弱分类器（迭代次数</a:t>
            </a:r>
            <a:r>
              <a:rPr sz="650" spc="-46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FJVOMK+Helvetica"/>
                <a:cs typeface="FJVOMK+Helvetica"/>
              </a:rPr>
              <a:t>T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增加），强分类器</a:t>
            </a:r>
            <a:r>
              <a:rPr sz="650" spc="-3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FJVOMK+Helvetica"/>
                <a:cs typeface="FJVOMK+Helvetica"/>
              </a:rPr>
              <a:t>H(x)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会变得</a:t>
            </a:r>
          </a:p>
          <a:p>
            <a:pPr marL="0" marR="0">
              <a:lnSpc>
                <a:spcPts val="788"/>
              </a:lnSpc>
              <a:spcBef>
                <a:spcPts val="128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越来越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复杂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1356" y="3634948"/>
            <a:ext cx="1196199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训练误差</a:t>
            </a:r>
            <a:r>
              <a:rPr sz="650" spc="-207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650" dirty="0">
                <a:solidFill>
                  <a:srgbClr val="000000"/>
                </a:solidFill>
                <a:latin typeface="UCNSES+Helvetica-Bold"/>
                <a:cs typeface="UCNSES+Helvetica-Bold"/>
              </a:rPr>
              <a:t>(Training</a:t>
            </a:r>
            <a:r>
              <a:rPr sz="650" spc="-202" dirty="0">
                <a:solidFill>
                  <a:srgbClr val="000000"/>
                </a:solidFill>
                <a:latin typeface="UCNSES+Helvetica-Bold"/>
                <a:cs typeface="UCNSES+Helvetica-Bold"/>
              </a:rPr>
              <a:t> </a:t>
            </a:r>
            <a:r>
              <a:rPr sz="650" dirty="0">
                <a:solidFill>
                  <a:srgbClr val="000000"/>
                </a:solidFill>
                <a:latin typeface="UCNSES+Helvetica-Bold"/>
                <a:cs typeface="UCNSES+Helvetica-Bold"/>
              </a:rPr>
              <a:t>Error)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1356" y="3834453"/>
            <a:ext cx="3048054" cy="254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如图中蓝线所示，随着模型变复杂，训练误差会⼀路下降，最终接近</a:t>
            </a:r>
            <a:r>
              <a:rPr sz="650" spc="-35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FJVOMK+Helvetica"/>
                <a:cs typeface="FJVOMK+Helvetica"/>
              </a:rPr>
              <a:t>0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。这符合</a:t>
            </a:r>
          </a:p>
          <a:p>
            <a:pPr marL="0" marR="0">
              <a:lnSpc>
                <a:spcPts val="788"/>
              </a:lnSpc>
              <a:spcBef>
                <a:spcPts val="128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我们之前的理论。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1356" y="4245933"/>
            <a:ext cx="1018045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测试误差</a:t>
            </a:r>
            <a:r>
              <a:rPr sz="650" spc="-207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650" spc="-10" dirty="0">
                <a:solidFill>
                  <a:srgbClr val="000000"/>
                </a:solidFill>
                <a:latin typeface="UCNSES+Helvetica-Bold"/>
                <a:cs typeface="UCNSES+Helvetica-Bold"/>
              </a:rPr>
              <a:t>(Test</a:t>
            </a:r>
            <a:r>
              <a:rPr sz="650" spc="-196" dirty="0">
                <a:solidFill>
                  <a:srgbClr val="000000"/>
                </a:solidFill>
                <a:latin typeface="UCNSES+Helvetica-Bold"/>
                <a:cs typeface="UCNSES+Helvetica-Bold"/>
              </a:rPr>
              <a:t> </a:t>
            </a:r>
            <a:r>
              <a:rPr sz="650" dirty="0">
                <a:solidFill>
                  <a:srgbClr val="000000"/>
                </a:solidFill>
                <a:latin typeface="UCNSES+Helvetica-Bold"/>
                <a:cs typeface="UCNSES+Helvetica-Bold"/>
              </a:rPr>
              <a:t>Error)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1356" y="4445438"/>
            <a:ext cx="1233055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如图中红线所示，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这是关键！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1356" y="4644944"/>
            <a:ext cx="2424762" cy="337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起初，测试误差随着模型变强⽽下降（从</a:t>
            </a:r>
            <a:r>
              <a:rPr sz="650" spc="-35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FJVOMK+Helvetica"/>
                <a:cs typeface="FJVOMK+Helvetica"/>
              </a:rPr>
              <a:t>28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降到</a:t>
            </a:r>
            <a:r>
              <a:rPr sz="650" spc="-35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FJVOMK+Helvetica"/>
                <a:cs typeface="FJVOMK+Helvetica"/>
              </a:rPr>
              <a:t>15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左右）。</a:t>
            </a:r>
          </a:p>
          <a:p>
            <a:pPr marL="0" marR="0">
              <a:lnSpc>
                <a:spcPts val="788"/>
              </a:lnSpc>
              <a:spcBef>
                <a:spcPts val="782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但是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，在迭代约</a:t>
            </a:r>
            <a:r>
              <a:rPr sz="650" spc="-35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FJVOMK+Helvetica"/>
                <a:cs typeface="FJVOMK+Helvetica"/>
              </a:rPr>
              <a:t>10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次后，测试误差开始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反弹上升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。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31356" y="5043955"/>
            <a:ext cx="3001823" cy="254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这就是典型的</a:t>
            </a:r>
            <a:r>
              <a:rPr sz="650" dirty="0">
                <a:solidFill>
                  <a:srgbClr val="000000"/>
                </a:solidFill>
                <a:latin typeface="UCNSES+Helvetica-Bold"/>
                <a:cs typeface="UCNSES+Helvetica-Bold"/>
              </a:rPr>
              <a:t>“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过度拟合</a:t>
            </a:r>
            <a:r>
              <a:rPr sz="650" dirty="0">
                <a:solidFill>
                  <a:srgbClr val="000000"/>
                </a:solidFill>
                <a:latin typeface="UCNSES+Helvetica-Bold"/>
                <a:cs typeface="UCNSES+Helvetica-Bold"/>
              </a:rPr>
              <a:t>”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！</a:t>
            </a:r>
            <a:r>
              <a:rPr sz="650" spc="-203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模型太复杂了，开始死记硬背训练数据中的噪声，</a:t>
            </a:r>
          </a:p>
          <a:p>
            <a:pPr marL="0" marR="0">
              <a:lnSpc>
                <a:spcPts val="788"/>
              </a:lnSpc>
              <a:spcBef>
                <a:spcPts val="128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导致泛化能⼒变差。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73834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VECTKV+Calibri-Bold"/>
                <a:cs typeface="VECTKV+Calibri-Bold"/>
              </a:rPr>
              <a:t>Generalization</a:t>
            </a:r>
            <a:r>
              <a:rPr sz="3250" spc="-1277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VECTKV+Calibri-Bold"/>
                <a:cs typeface="VECTKV+Calibri-Bold"/>
              </a:rPr>
              <a:t>Error</a:t>
            </a:r>
            <a:r>
              <a:rPr sz="3250" spc="-1211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VECTKV+Calibri-Bold"/>
                <a:cs typeface="VECTKV+Calibri-Bold"/>
              </a:rPr>
              <a:t>of</a:t>
            </a:r>
            <a:r>
              <a:rPr sz="3250" spc="-1219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2" dirty="0">
                <a:solidFill>
                  <a:srgbClr val="001F5F"/>
                </a:solidFill>
                <a:latin typeface="VECTKV+Calibri-Bold"/>
                <a:cs typeface="VECTKV+Calibri-Bold"/>
              </a:rPr>
              <a:t>AdaBoost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120752"/>
            <a:ext cx="9418988" cy="7535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VUMMUU+Calibri"/>
                <a:cs typeface="VUMMUU+Calibri"/>
              </a:rPr>
              <a:t>But</a:t>
            </a:r>
            <a:r>
              <a:rPr sz="2400" spc="1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often </a:t>
            </a:r>
            <a:r>
              <a:rPr sz="2400" spc="46" dirty="0">
                <a:solidFill>
                  <a:srgbClr val="000000"/>
                </a:solidFill>
                <a:latin typeface="VUMMUU+Calibri"/>
                <a:cs typeface="VUMMUU+Calibri"/>
              </a:rPr>
              <a:t>it</a:t>
            </a:r>
            <a:r>
              <a:rPr sz="2400" spc="-45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VUMMUU+Calibri"/>
                <a:cs typeface="VUMMUU+Calibri"/>
              </a:rPr>
              <a:t>does</a:t>
            </a:r>
            <a:r>
              <a:rPr sz="2400" spc="3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VUMMUU+Calibri"/>
                <a:cs typeface="VUMMUU+Calibri"/>
              </a:rPr>
              <a:t>not!</a:t>
            </a:r>
          </a:p>
          <a:p>
            <a:pPr marL="0" marR="0">
              <a:lnSpc>
                <a:spcPts val="2684"/>
              </a:lnSpc>
              <a:spcBef>
                <a:spcPts val="7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Sometimes</a:t>
            </a:r>
            <a:r>
              <a:rPr sz="2400" spc="-55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test error</a:t>
            </a:r>
            <a:r>
              <a:rPr sz="2400" spc="-2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decreases</a:t>
            </a:r>
            <a:r>
              <a:rPr sz="2400" spc="-5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VUMMUU+Calibri"/>
                <a:cs typeface="VUMMUU+Calibri"/>
              </a:rPr>
              <a:t>even</a:t>
            </a:r>
            <a:r>
              <a:rPr sz="2400" spc="-1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after</a:t>
            </a:r>
            <a:r>
              <a:rPr sz="2400" spc="-2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training</a:t>
            </a:r>
            <a:r>
              <a:rPr sz="2400" spc="-1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VUMMUU+Calibri"/>
                <a:cs typeface="VUMMUU+Calibri"/>
              </a:rPr>
              <a:t>error</a:t>
            </a:r>
            <a:r>
              <a:rPr sz="2400" spc="-4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VUMMUU+Calibri"/>
                <a:cs typeface="VUMMUU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zero!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61155" y="2210365"/>
            <a:ext cx="539461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现象描述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61155" y="2409870"/>
            <a:ext cx="2480940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这⾥的测试误差（</a:t>
            </a:r>
            <a:r>
              <a:rPr sz="650" spc="-13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Test</a:t>
            </a:r>
            <a:r>
              <a:rPr sz="650" spc="16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 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Error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）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并没有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像上⼀张图那样反弹上升。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61155" y="2609375"/>
            <a:ext cx="3394363" cy="337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相反，它在训练误差降到</a:t>
            </a:r>
            <a:r>
              <a:rPr sz="650" spc="-5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0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之后，竟然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还在继续下降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（或者⾄少保持平稳，没有恶化）！</a:t>
            </a:r>
          </a:p>
          <a:p>
            <a:pPr marL="0" marR="0">
              <a:lnSpc>
                <a:spcPts val="788"/>
              </a:lnSpc>
              <a:spcBef>
                <a:spcPts val="782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即使迭代到了</a:t>
            </a:r>
            <a:r>
              <a:rPr sz="650" spc="-5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1000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次，模型已经极其复杂了，它依然表现良好。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261155" y="3103975"/>
            <a:ext cx="1623336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为什么会这样？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(How</a:t>
            </a:r>
            <a:r>
              <a:rPr sz="650" spc="-225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does</a:t>
            </a:r>
            <a:r>
              <a:rPr sz="650" spc="-226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that</a:t>
            </a:r>
            <a:r>
              <a:rPr sz="650" spc="-226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happen?)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261155" y="3303480"/>
            <a:ext cx="3385031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按照传统理论，训练误差为</a:t>
            </a:r>
            <a:r>
              <a:rPr sz="650" spc="-5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0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后，再训练就是纯粹的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“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死记硬背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”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，应该导致过拟合才对。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261155" y="3502985"/>
            <a:ext cx="3412671" cy="254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但</a:t>
            </a:r>
            <a:r>
              <a:rPr sz="650" spc="-8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AdaBoost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似乎有⼀种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“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免疫⼒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”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，即使在那之后，它似乎还在学习某种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“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有⽤的东⻄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”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，⽽</a:t>
            </a:r>
          </a:p>
          <a:p>
            <a:pPr marL="0" marR="0">
              <a:lnSpc>
                <a:spcPts val="788"/>
              </a:lnSpc>
              <a:spcBef>
                <a:spcPts val="128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不是噪声。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261155" y="3914457"/>
            <a:ext cx="622588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解释的伏笔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：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261155" y="4113962"/>
            <a:ext cx="2785540" cy="13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幻灯⽚最后说：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“</a:t>
            </a:r>
            <a:r>
              <a:rPr sz="650" dirty="0">
                <a:solidFill>
                  <a:srgbClr val="000000"/>
                </a:solidFill>
                <a:latin typeface="QHBTRU+TimesNewRomanPS-BoldMT"/>
                <a:cs typeface="QHBTRU+TimesNewRomanPS-BoldMT"/>
              </a:rPr>
              <a:t>N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ext,</a:t>
            </a:r>
            <a:r>
              <a:rPr sz="650" spc="-227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we</a:t>
            </a:r>
            <a:r>
              <a:rPr sz="650" spc="-227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provide</a:t>
            </a:r>
            <a:r>
              <a:rPr sz="650" spc="-224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an</a:t>
            </a:r>
            <a:r>
              <a:rPr sz="650" spc="-226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alternative</a:t>
            </a:r>
            <a:r>
              <a:rPr sz="650" spc="-226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viewpoint</a:t>
            </a:r>
            <a:r>
              <a:rPr sz="650" spc="-227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on</a:t>
            </a:r>
            <a:r>
              <a:rPr sz="650" spc="-262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AdaBoost.”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261155" y="4313468"/>
            <a:ext cx="3405814" cy="487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这暗示了</a:t>
            </a:r>
            <a:r>
              <a:rPr sz="650" spc="-89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AdaBoost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背后还有⼀个更深层的机制（通常被称为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“</a:t>
            </a:r>
            <a:r>
              <a:rPr sz="650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间隔理论</a:t>
            </a:r>
            <a:r>
              <a:rPr sz="650" spc="-226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(Margin</a:t>
            </a:r>
          </a:p>
          <a:p>
            <a:pPr marL="0" marR="0">
              <a:lnSpc>
                <a:spcPts val="788"/>
              </a:lnSpc>
              <a:spcBef>
                <a:spcPts val="128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LKDEI+TimesNewRomanPS-BoldMT"/>
                <a:cs typeface="ALKDEI+TimesNewRomanPS-BoldMT"/>
              </a:rPr>
              <a:t>Theory)”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），它解释了为什么</a:t>
            </a:r>
            <a:r>
              <a:rPr sz="650" spc="-89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AdaBoost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往往能抵抗过拟合，即使在模型⾮常复杂的情况</a:t>
            </a:r>
          </a:p>
          <a:p>
            <a:pPr marL="0" marR="0">
              <a:lnSpc>
                <a:spcPts val="788"/>
              </a:lnSpc>
              <a:spcBef>
                <a:spcPts val="128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下。简单来说，即使所有点都分对了，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AdaBoost 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还在努⼒让分类的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“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信⼼</a:t>
            </a:r>
            <a:r>
              <a:rPr sz="650" dirty="0">
                <a:solidFill>
                  <a:srgbClr val="000000"/>
                </a:solidFill>
                <a:latin typeface="PAQCTE+TimesNewRomanPSMT"/>
                <a:cs typeface="PAQCTE+TimesNewRomanPSMT"/>
              </a:rPr>
              <a:t>”</a:t>
            </a: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（间隔）变得更</a:t>
            </a:r>
          </a:p>
          <a:p>
            <a:pPr marL="0" marR="0">
              <a:lnSpc>
                <a:spcPts val="788"/>
              </a:lnSpc>
              <a:spcBef>
                <a:spcPts val="128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⼤、更稳固。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4007" y="5146304"/>
            <a:ext cx="7413548" cy="7625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How</a:t>
            </a:r>
            <a:r>
              <a:rPr sz="2400" spc="-1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does</a:t>
            </a:r>
            <a:r>
              <a:rPr sz="2400" spc="-5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that happen?</a:t>
            </a:r>
          </a:p>
          <a:p>
            <a:pPr marL="0" marR="0">
              <a:lnSpc>
                <a:spcPts val="2686"/>
              </a:lnSpc>
              <a:spcBef>
                <a:spcPts val="10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Next,</a:t>
            </a:r>
            <a:r>
              <a:rPr sz="2400" spc="-1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provide</a:t>
            </a:r>
            <a:r>
              <a:rPr sz="2400" spc="-1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VUMMUU+Calibri"/>
                <a:cs typeface="VUMMUU+Calibri"/>
              </a:rPr>
              <a:t>an</a:t>
            </a:r>
            <a:r>
              <a:rPr sz="2400" spc="1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alternative</a:t>
            </a:r>
            <a:r>
              <a:rPr sz="2400" spc="-1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viewpoint on</a:t>
            </a:r>
            <a:r>
              <a:rPr sz="2400" spc="-1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AdaBoost.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2927030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6" dirty="0">
                <a:solidFill>
                  <a:srgbClr val="001F5F"/>
                </a:solidFill>
                <a:latin typeface="VECTKV+Calibri-Bold"/>
                <a:cs typeface="VECTKV+Calibri-Bold"/>
              </a:rPr>
              <a:t>Additive</a:t>
            </a:r>
            <a:r>
              <a:rPr sz="3250" spc="-1247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VECTKV+Calibri-Bold"/>
                <a:cs typeface="VECTKV+Calibri-Bold"/>
              </a:rPr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12694" y="321354"/>
            <a:ext cx="4089724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将</a:t>
            </a:r>
            <a:r>
              <a:rPr sz="1100" spc="-1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110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AdaBoost 解释为⼀种加性模型 (Additive Model) 的拟合过程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940367"/>
            <a:ext cx="9133667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Next,</a:t>
            </a:r>
            <a:r>
              <a:rPr sz="2400" spc="-16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GBJMJG+Calibri"/>
                <a:cs typeface="GBJMJG+Calibri"/>
              </a:rPr>
              <a:t>we’ll</a:t>
            </a:r>
            <a:r>
              <a:rPr sz="2400" spc="-57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GBJMJG+Calibri"/>
                <a:cs typeface="GBJMJG+Calibri"/>
              </a:rPr>
              <a:t>now</a:t>
            </a:r>
            <a:r>
              <a:rPr sz="2400" spc="-20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interpret AdaBoost </a:t>
            </a:r>
            <a:r>
              <a:rPr sz="2400" spc="-23" dirty="0">
                <a:solidFill>
                  <a:srgbClr val="000000"/>
                </a:solidFill>
                <a:latin typeface="GBJMJG+Calibri"/>
                <a:cs typeface="GBJMJG+Calibri"/>
              </a:rPr>
              <a:t>as</a:t>
            </a:r>
            <a:r>
              <a:rPr sz="2400" spc="43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a</a:t>
            </a:r>
            <a:r>
              <a:rPr sz="2400" spc="-39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way</a:t>
            </a:r>
            <a:r>
              <a:rPr sz="2400" spc="28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GBJMJG+Calibri"/>
                <a:cs typeface="GBJMJG+Calibri"/>
              </a:rPr>
              <a:t>of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 fitting</a:t>
            </a:r>
            <a:r>
              <a:rPr sz="2400" spc="61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GBJMJG+Calibri"/>
                <a:cs typeface="GBJMJG+Calibri"/>
              </a:rPr>
              <a:t>an</a:t>
            </a:r>
            <a:r>
              <a:rPr sz="2400" spc="21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additive</a:t>
            </a:r>
            <a:r>
              <a:rPr sz="2400" spc="-12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model.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1417076"/>
            <a:ext cx="11048216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Consider</a:t>
            </a:r>
            <a:r>
              <a:rPr sz="2400" spc="5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hypothesis</a:t>
            </a:r>
            <a:r>
              <a:rPr sz="2400" spc="-5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class</a:t>
            </a:r>
            <a:r>
              <a:rPr sz="2400" spc="19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633" dirty="0">
                <a:solidFill>
                  <a:srgbClr val="000000"/>
                </a:solidFill>
                <a:latin typeface="MUFSMI+Cambria Math"/>
                <a:cs typeface="MUFSMI+Cambria Math"/>
              </a:rPr>
              <a:t>ℋ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with each</a:t>
            </a:r>
            <a:r>
              <a:rPr sz="2400" spc="-1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ℎ</a:t>
            </a:r>
            <a:r>
              <a:rPr sz="24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→</a:t>
            </a:r>
            <a:r>
              <a:rPr sz="2400" spc="16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−1,</a:t>
            </a:r>
            <a:r>
              <a:rPr sz="2400" spc="-1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+1</a:t>
            </a:r>
            <a:r>
              <a:rPr sz="2400" spc="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within </a:t>
            </a:r>
            <a:r>
              <a:rPr sz="2400" spc="97" dirty="0">
                <a:solidFill>
                  <a:srgbClr val="000000"/>
                </a:solidFill>
                <a:latin typeface="MUFSMI+Cambria Math"/>
                <a:cs typeface="MUFSMI+Cambria Math"/>
              </a:rPr>
              <a:t>ℋ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VUMMUU+Calibri"/>
                <a:cs typeface="VUMMUU+Calibri"/>
              </a:rPr>
              <a:t>i.e.,</a:t>
            </a:r>
            <a:r>
              <a:rPr sz="2400" spc="-4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ℎ</a:t>
            </a:r>
            <a:r>
              <a:rPr sz="2400" spc="-1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71" dirty="0">
                <a:solidFill>
                  <a:srgbClr val="000000"/>
                </a:solidFill>
                <a:latin typeface="MUFSMI+Cambria Math"/>
                <a:cs typeface="MUFSMI+Cambria Math"/>
              </a:rPr>
              <a:t>∈ℋ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.</a:t>
            </a:r>
            <a:r>
              <a:rPr sz="2400" spc="-2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These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902325" y="1584656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ꢃ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613265" y="1584656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ꢃ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7225" y="1765232"/>
            <a:ext cx="8710103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spc="18" dirty="0">
                <a:solidFill>
                  <a:srgbClr val="000000"/>
                </a:solidFill>
                <a:latin typeface="GBJMJG+Calibri"/>
                <a:cs typeface="GBJMJG+Calibri"/>
              </a:rPr>
              <a:t>are</a:t>
            </a:r>
            <a:r>
              <a:rPr sz="2400" spc="-30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GBJMJG+Calibri"/>
                <a:cs typeface="GBJMJG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 “weak learners”,</a:t>
            </a:r>
            <a:r>
              <a:rPr sz="2400" spc="-12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spc="30" dirty="0">
                <a:solidFill>
                  <a:srgbClr val="000000"/>
                </a:solidFill>
                <a:latin typeface="GBJMJG+Calibri"/>
                <a:cs typeface="GBJMJG+Calibri"/>
              </a:rPr>
              <a:t>and</a:t>
            </a:r>
            <a:r>
              <a:rPr sz="2400" spc="-36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GBJMJG+Calibri"/>
                <a:cs typeface="GBJMJG+Calibri"/>
              </a:rPr>
              <a:t>in</a:t>
            </a:r>
            <a:r>
              <a:rPr sz="2400" spc="21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this</a:t>
            </a:r>
            <a:r>
              <a:rPr sz="2400" spc="-55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context they’re</a:t>
            </a:r>
            <a:r>
              <a:rPr sz="2400" spc="-10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also called</a:t>
            </a:r>
            <a:r>
              <a:rPr sz="2400" spc="73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ECTKV+Calibri-Bold"/>
                <a:cs typeface="VECTKV+Calibri-Bold"/>
              </a:rPr>
              <a:t>bases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4007" y="2151103"/>
            <a:ext cx="5900477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7" dirty="0">
                <a:solidFill>
                  <a:srgbClr val="000000"/>
                </a:solidFill>
                <a:latin typeface="VUMMUU+Calibri"/>
                <a:cs typeface="VUMMUU+Calibri"/>
              </a:rPr>
              <a:t>An</a:t>
            </a:r>
            <a:r>
              <a:rPr sz="2400" spc="-7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ECTKV+Calibri-Bold"/>
                <a:cs typeface="VECTKV+Calibri-Bold"/>
              </a:rPr>
              <a:t>additive</a:t>
            </a:r>
            <a:r>
              <a:rPr sz="2400" spc="-849" dirty="0">
                <a:solidFill>
                  <a:srgbClr val="000000"/>
                </a:solidFill>
                <a:latin typeface="VECTKV+Calibri-Bold"/>
                <a:cs typeface="VECTKV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VECTKV+Calibri-Bold"/>
                <a:cs typeface="VECTKV+Calibri-Bold"/>
              </a:rPr>
              <a:t>model</a:t>
            </a:r>
            <a:r>
              <a:rPr sz="2400" spc="-872" dirty="0">
                <a:solidFill>
                  <a:srgbClr val="000000"/>
                </a:solidFill>
                <a:latin typeface="VECTKV+Calibri-Bold"/>
                <a:cs typeface="VECTKV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with</a:t>
            </a:r>
            <a:r>
              <a:rPr sz="2400" spc="-1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584" dirty="0">
                <a:solidFill>
                  <a:srgbClr val="000000"/>
                </a:solidFill>
                <a:latin typeface="MUFSMI+Cambria Math"/>
                <a:cs typeface="MUFSMI+Cambria Math"/>
              </a:rPr>
              <a:t>ꢀ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terms</a:t>
            </a:r>
            <a:r>
              <a:rPr sz="2400" spc="2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VUMMUU+Calibri"/>
                <a:cs typeface="VUMMUU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given </a:t>
            </a:r>
            <a:r>
              <a:rPr sz="2400" spc="11" dirty="0">
                <a:solidFill>
                  <a:srgbClr val="000000"/>
                </a:solidFill>
                <a:latin typeface="VUMMUU+Calibri"/>
                <a:cs typeface="VUMMUU+Calibri"/>
              </a:rPr>
              <a:t>by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661279" y="2801951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195191" y="2821569"/>
            <a:ext cx="3094037" cy="382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ꢂ</a:t>
            </a:r>
            <a:r>
              <a:rPr sz="2400" spc="11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ꢄ</a:t>
            </a:r>
            <a:r>
              <a:rPr sz="2400" spc="2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MUFSMI+Cambria Math"/>
                <a:cs typeface="MUFSMI+Cambria Math"/>
              </a:rPr>
              <a:t>=σ</a:t>
            </a:r>
            <a:r>
              <a:rPr sz="2400" spc="126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ꢆ</a:t>
            </a:r>
            <a:r>
              <a:rPr sz="2400" spc="-66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ℎ</a:t>
            </a:r>
            <a:r>
              <a:rPr sz="2400" spc="-66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(ꢇ)</a:t>
            </a:r>
            <a:r>
              <a:rPr sz="2400" dirty="0">
                <a:solidFill>
                  <a:srgbClr val="000000"/>
                </a:solidFill>
                <a:latin typeface="OFOQBK+ArialMT"/>
                <a:cs typeface="OFOQBK+ArialMT"/>
              </a:rPr>
              <a:t>,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99534" y="2989276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661279" y="2989276"/>
            <a:ext cx="1107267" cy="2709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58" dirty="0">
                <a:solidFill>
                  <a:srgbClr val="000000"/>
                </a:solidFill>
                <a:latin typeface="MUFSMI+Cambria Math"/>
                <a:cs typeface="MUFSMI+Cambria Math"/>
              </a:rPr>
              <a:t>ꢃ</a:t>
            </a:r>
            <a:r>
              <a:rPr sz="1750" dirty="0">
                <a:solidFill>
                  <a:srgbClr val="000000"/>
                </a:solidFill>
                <a:latin typeface="JSPHJA+Cambria Math"/>
                <a:cs typeface="JSPHJA+Cambria Math"/>
              </a:rPr>
              <a:t>=1</a:t>
            </a:r>
            <a:r>
              <a:rPr sz="1750" spc="78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ꢃ</a:t>
            </a:r>
            <a:r>
              <a:rPr sz="1750" spc="44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ꢃ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688334" y="3398470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74687" y="3443220"/>
            <a:ext cx="3467687" cy="386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VUMMUU+Calibri"/>
                <a:cs typeface="VUMMUU+Calibri"/>
              </a:rPr>
              <a:t>Where</a:t>
            </a:r>
            <a:r>
              <a:rPr sz="2400" spc="95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ꢆ</a:t>
            </a:r>
            <a:r>
              <a:rPr sz="2400" spc="-38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7" dirty="0">
                <a:solidFill>
                  <a:srgbClr val="000000"/>
                </a:solidFill>
                <a:latin typeface="MUFSMI+Cambria Math"/>
                <a:cs typeface="MUFSMI+Cambria Math"/>
              </a:rPr>
              <a:t>,⋯,ꢆ</a:t>
            </a:r>
            <a:r>
              <a:rPr sz="2400" spc="15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72" dirty="0">
                <a:solidFill>
                  <a:srgbClr val="000000"/>
                </a:solidFill>
                <a:latin typeface="MUFSMI+Cambria Math"/>
                <a:cs typeface="MUFSMI+Cambria Math"/>
              </a:rPr>
              <a:t>∈ℝ</a:t>
            </a:r>
            <a:r>
              <a:rPr sz="2400" spc="-3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.</a:t>
            </a:r>
          </a:p>
          <a:p>
            <a:pPr marL="1214056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JSPHJA+Cambria Math"/>
                <a:cs typeface="JSPHJA+Cambria Math"/>
              </a:rPr>
              <a:t>1</a:t>
            </a:r>
            <a:r>
              <a:rPr sz="1750" spc="47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14007" y="3968126"/>
            <a:ext cx="10923670" cy="1139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Observe</a:t>
            </a:r>
            <a:r>
              <a:rPr sz="2400" spc="-11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that we’re</a:t>
            </a:r>
            <a:r>
              <a:rPr sz="2400" spc="-13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taking</a:t>
            </a:r>
            <a:r>
              <a:rPr sz="2400" spc="-25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GBJMJG+Calibri"/>
                <a:cs typeface="GBJMJG+Calibri"/>
              </a:rPr>
              <a:t>linear</a:t>
            </a:r>
            <a:r>
              <a:rPr sz="2400" spc="54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combination of </a:t>
            </a:r>
            <a:r>
              <a:rPr sz="2400" spc="-17" dirty="0">
                <a:solidFill>
                  <a:srgbClr val="000000"/>
                </a:solidFill>
                <a:latin typeface="GBJMJG+Calibri"/>
                <a:cs typeface="GBJMJG+Calibri"/>
              </a:rPr>
              <a:t>base</a:t>
            </a:r>
            <a:r>
              <a:rPr sz="2400" dirty="0">
                <a:solidFill>
                  <a:srgbClr val="000000"/>
                </a:solidFill>
                <a:latin typeface="GBJMJG+Calibri"/>
                <a:cs typeface="GBJMJG+Calibri"/>
              </a:rPr>
              <a:t> classifiers</a:t>
            </a:r>
            <a:r>
              <a:rPr sz="2400" spc="126" dirty="0">
                <a:solidFill>
                  <a:srgbClr val="000000"/>
                </a:solidFill>
                <a:latin typeface="GBJMJG+Calibri"/>
                <a:cs typeface="GBJMJG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ℎ</a:t>
            </a:r>
            <a:r>
              <a:rPr sz="2550" spc="176" baseline="-20541" dirty="0">
                <a:solidFill>
                  <a:srgbClr val="000000"/>
                </a:solidFill>
                <a:latin typeface="MUFSMI+Cambria Math"/>
                <a:cs typeface="MUFSMI+Cambria Math"/>
              </a:rPr>
              <a:t>ꢃ</a:t>
            </a:r>
            <a:r>
              <a:rPr sz="2400" spc="27" dirty="0">
                <a:solidFill>
                  <a:srgbClr val="000000"/>
                </a:solidFill>
                <a:latin typeface="MUFSMI+Cambria Math"/>
                <a:cs typeface="MUFSMI+Cambria Math"/>
              </a:rPr>
              <a:t>(ꢄ)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,</a:t>
            </a:r>
            <a:r>
              <a:rPr sz="2400" spc="-1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just like </a:t>
            </a:r>
            <a:r>
              <a:rPr sz="2400" spc="46" dirty="0">
                <a:solidFill>
                  <a:srgbClr val="000000"/>
                </a:solidFill>
                <a:latin typeface="VUMMUU+Calibri"/>
                <a:cs typeface="VUMMUU+Calibri"/>
              </a:rPr>
              <a:t>in</a:t>
            </a:r>
          </a:p>
          <a:p>
            <a:pPr marL="343217" marR="0">
              <a:lnSpc>
                <a:spcPts val="2402"/>
              </a:lnSpc>
              <a:spcBef>
                <a:spcPts val="17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boosting.</a:t>
            </a:r>
          </a:p>
          <a:p>
            <a:pPr marL="0" marR="0">
              <a:lnSpc>
                <a:spcPts val="2686"/>
              </a:lnSpc>
              <a:spcBef>
                <a:spcPts val="19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EHDBQP+Arial"/>
                <a:cs typeface="EHDBQP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Note </a:t>
            </a:r>
            <a:r>
              <a:rPr sz="2400" spc="18" dirty="0">
                <a:solidFill>
                  <a:srgbClr val="000000"/>
                </a:solidFill>
                <a:latin typeface="VUMMUU+Calibri"/>
                <a:cs typeface="VUMMUU+Calibri"/>
              </a:rPr>
              <a:t>also</a:t>
            </a:r>
            <a:r>
              <a:rPr sz="2400" spc="-3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 connection</a:t>
            </a:r>
            <a:r>
              <a:rPr sz="2400" spc="-1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VUMMUU+Calibri"/>
                <a:cs typeface="VUMMUU+Calibri"/>
              </a:rPr>
              <a:t>to</a:t>
            </a:r>
            <a:r>
              <a:rPr sz="2400" spc="4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feature</a:t>
            </a:r>
            <a:r>
              <a:rPr sz="2400" spc="-15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maps </a:t>
            </a:r>
            <a:r>
              <a:rPr sz="2400" spc="-23" dirty="0">
                <a:solidFill>
                  <a:srgbClr val="000000"/>
                </a:solidFill>
                <a:latin typeface="VUMMUU+Calibri"/>
                <a:cs typeface="VUMMUU+Calibri"/>
              </a:rPr>
              <a:t>(or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 basis</a:t>
            </a:r>
            <a:r>
              <a:rPr sz="2400" spc="1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expansions) that</a:t>
            </a:r>
            <a:r>
              <a:rPr sz="2400" spc="-7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saw</a:t>
            </a:r>
            <a:r>
              <a:rPr sz="2400" spc="-1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VUMMUU+Calibri"/>
                <a:cs typeface="VUMMUU+Calibri"/>
              </a:rPr>
              <a:t>in</a:t>
            </a:r>
            <a:r>
              <a:rPr sz="2400" spc="-5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VUMMUU+Calibri"/>
                <a:cs typeface="VUMMUU+Calibri"/>
              </a:rPr>
              <a:t>linear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7225" y="5127133"/>
            <a:ext cx="4163683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regression</a:t>
            </a:r>
            <a:r>
              <a:rPr sz="2400" spc="-1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and neural</a:t>
            </a:r>
            <a:r>
              <a:rPr sz="2400" spc="-4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networks!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862263" y="5155157"/>
            <a:ext cx="6634554" cy="171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50" spc="2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幻灯⽚最后指出，这与我们在线性回归或神经⽹络中看到的特征映射</a:t>
            </a:r>
            <a:r>
              <a:rPr sz="8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850" spc="11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(Feature</a:t>
            </a:r>
            <a:r>
              <a:rPr sz="8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8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Maps)</a:t>
            </a:r>
            <a:r>
              <a:rPr sz="8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或</a:t>
            </a:r>
            <a:r>
              <a:rPr sz="850" spc="3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850" spc="2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基函数展开</a:t>
            </a:r>
            <a:r>
              <a:rPr sz="8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850" spc="11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(Basis</a:t>
            </a:r>
            <a:r>
              <a:rPr sz="8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850" spc="1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Expansions)</a:t>
            </a:r>
            <a:r>
              <a:rPr sz="8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850" spc="2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⾮常相似。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862263" y="5393455"/>
            <a:ext cx="1039090" cy="171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50" spc="2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核⼼逻辑的变化：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862263" y="5870052"/>
            <a:ext cx="2499360" cy="171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50" spc="23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传统线性模型：</a:t>
            </a:r>
            <a:r>
              <a:rPr sz="850" spc="2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直接对原始特征</a:t>
            </a:r>
            <a:r>
              <a:rPr sz="8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x</a:t>
            </a:r>
            <a:r>
              <a:rPr sz="850" spc="19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850" spc="2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进⾏加权求和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762851" y="5870052"/>
            <a:ext cx="263236" cy="171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。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862263" y="6108350"/>
            <a:ext cx="6740626" cy="3267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50" spc="23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加性模型</a:t>
            </a:r>
            <a:r>
              <a:rPr sz="850" spc="-219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 </a:t>
            </a:r>
            <a:r>
              <a:rPr sz="850" spc="13" dirty="0">
                <a:solidFill>
                  <a:srgbClr val="000000"/>
                </a:solidFill>
                <a:latin typeface="SNHPAQ+PingFangSC-Semibold"/>
                <a:cs typeface="SNHPAQ+PingFangSC-Semibold"/>
              </a:rPr>
              <a:t>(AdaBoost)：</a:t>
            </a:r>
            <a:r>
              <a:rPr sz="850" spc="2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先通过函数</a:t>
            </a:r>
            <a:r>
              <a:rPr sz="8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850" spc="1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hi</a:t>
            </a:r>
            <a:r>
              <a:rPr sz="8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850" spc="2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将原始数据</a:t>
            </a:r>
            <a:r>
              <a:rPr sz="8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x</a:t>
            </a:r>
            <a:r>
              <a:rPr sz="850" spc="19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850" spc="22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转换（映射）成⼀个新的“特征”（即分类结果</a:t>
            </a:r>
            <a:r>
              <a:rPr sz="8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850" spc="14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-1</a:t>
            </a:r>
            <a:r>
              <a:rPr sz="85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或</a:t>
            </a:r>
            <a:r>
              <a:rPr sz="850" spc="3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 </a:t>
            </a:r>
            <a:r>
              <a:rPr sz="850" spc="20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+1），然后再对这些“新特征”</a:t>
            </a:r>
          </a:p>
          <a:p>
            <a:pPr marL="0" marR="0">
              <a:lnSpc>
                <a:spcPts val="1050"/>
              </a:lnSpc>
              <a:spcBef>
                <a:spcPts val="121"/>
              </a:spcBef>
              <a:spcAft>
                <a:spcPts val="0"/>
              </a:spcAft>
            </a:pPr>
            <a:r>
              <a:rPr sz="850" spc="23" dirty="0">
                <a:solidFill>
                  <a:srgbClr val="000000"/>
                </a:solidFill>
                <a:latin typeface="SMDUGA+PingFangSC-Regular"/>
                <a:cs typeface="SMDUGA+PingFangSC-Regular"/>
              </a:rPr>
              <a:t>进⾏加权求和。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6621882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VECTKV+Calibri-Bold"/>
                <a:cs typeface="VECTKV+Calibri-Bold"/>
              </a:rPr>
              <a:t>Stagewise</a:t>
            </a:r>
            <a:r>
              <a:rPr sz="3250" spc="-1228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VECTKV+Calibri-Bold"/>
                <a:cs typeface="VECTKV+Calibri-Bold"/>
              </a:rPr>
              <a:t>Training</a:t>
            </a:r>
            <a:r>
              <a:rPr sz="3250" spc="-1234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2" dirty="0">
                <a:solidFill>
                  <a:srgbClr val="001F5F"/>
                </a:solidFill>
                <a:latin typeface="VECTKV+Calibri-Bold"/>
                <a:cs typeface="VECTKV+Calibri-Bold"/>
              </a:rPr>
              <a:t>of</a:t>
            </a:r>
            <a:r>
              <a:rPr sz="3250" spc="-1234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17" dirty="0">
                <a:solidFill>
                  <a:srgbClr val="001F5F"/>
                </a:solidFill>
                <a:latin typeface="VECTKV+Calibri-Bold"/>
                <a:cs typeface="VECTKV+Calibri-Bold"/>
              </a:rPr>
              <a:t>Additive</a:t>
            </a:r>
            <a:r>
              <a:rPr sz="3250" spc="-1246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9" dirty="0">
                <a:solidFill>
                  <a:srgbClr val="001F5F"/>
                </a:solidFill>
                <a:latin typeface="VECTKV+Calibri-Bold"/>
                <a:cs typeface="VECTKV+Calibri-Bold"/>
              </a:rPr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85120"/>
            <a:ext cx="9445755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</a:t>
            </a:r>
            <a:r>
              <a:rPr sz="2400" spc="19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greedy</a:t>
            </a:r>
            <a:r>
              <a:rPr sz="2400" spc="-55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appr</a:t>
            </a:r>
            <a:r>
              <a:rPr sz="2400" spc="-48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VUMMUU+Calibri"/>
                <a:cs typeface="VUMMUU+Calibri"/>
              </a:rPr>
              <a:t>oach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VUMMUU+Calibri"/>
                <a:cs typeface="VUMMUU+Calibri"/>
              </a:rPr>
              <a:t>to</a:t>
            </a:r>
            <a:r>
              <a:rPr sz="2400" spc="-3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fitting</a:t>
            </a:r>
            <a:r>
              <a:rPr sz="2400" spc="-2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additive</a:t>
            </a:r>
            <a:r>
              <a:rPr sz="2400" spc="-1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models,</a:t>
            </a:r>
            <a:r>
              <a:rPr sz="2400" spc="-1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known </a:t>
            </a:r>
            <a:r>
              <a:rPr sz="2400" spc="-22" dirty="0">
                <a:solidFill>
                  <a:srgbClr val="000000"/>
                </a:solidFill>
                <a:latin typeface="VUMMUU+Calibri"/>
                <a:cs typeface="VUMMUU+Calibri"/>
              </a:rPr>
              <a:t>as</a:t>
            </a:r>
            <a:r>
              <a:rPr sz="2400" spc="4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ECTKV+Calibri-Bold"/>
                <a:cs typeface="VECTKV+Calibri-Bold"/>
              </a:rPr>
              <a:t>stagewise</a:t>
            </a:r>
            <a:r>
              <a:rPr sz="2400" spc="-927" dirty="0">
                <a:solidFill>
                  <a:srgbClr val="000000"/>
                </a:solidFill>
                <a:latin typeface="VECTKV+Calibri-Bold"/>
                <a:cs typeface="VECTKV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VECTKV+Calibri-Bold"/>
                <a:cs typeface="VECTKV+Calibri-Bold"/>
              </a:rPr>
              <a:t>training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1736206"/>
            <a:ext cx="3051529" cy="714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4" dirty="0">
                <a:solidFill>
                  <a:srgbClr val="000000"/>
                </a:solidFill>
                <a:latin typeface="VUMMUU+Calibri"/>
                <a:cs typeface="VUMMUU+Calibri"/>
              </a:rPr>
              <a:t>1.</a:t>
            </a:r>
            <a:r>
              <a:rPr sz="2400" spc="126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Initialize</a:t>
            </a:r>
            <a:r>
              <a:rPr sz="2400" spc="-25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138" dirty="0">
                <a:solidFill>
                  <a:srgbClr val="000000"/>
                </a:solidFill>
                <a:latin typeface="MUFSMI+Cambria Math"/>
                <a:cs typeface="MUFSMI+Cambria Math"/>
              </a:rPr>
              <a:t>ꢂ</a:t>
            </a:r>
            <a:r>
              <a:rPr sz="2650" baseline="-20458" dirty="0">
                <a:solidFill>
                  <a:srgbClr val="000000"/>
                </a:solidFill>
                <a:latin typeface="MUFSMI+Cambria Math"/>
                <a:cs typeface="MUFSMI+Cambria Math"/>
              </a:rPr>
              <a:t>0</a:t>
            </a:r>
            <a:r>
              <a:rPr sz="2650" spc="-493" baseline="-204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ꢄ</a:t>
            </a:r>
            <a:r>
              <a:rPr sz="2400" spc="29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MUFSMI+Cambria Math"/>
                <a:cs typeface="MUFSMI+Cambria Math"/>
              </a:rPr>
              <a:t>=</a:t>
            </a:r>
            <a:r>
              <a:rPr sz="2400" dirty="0">
                <a:solidFill>
                  <a:srgbClr val="000000"/>
                </a:solidFill>
                <a:latin typeface="JSPHJA+Cambria Math"/>
                <a:cs typeface="JSPHJA+Cambria Math"/>
              </a:rPr>
              <a:t> 0</a:t>
            </a:r>
          </a:p>
          <a:p>
            <a:pPr marL="0" marR="0">
              <a:lnSpc>
                <a:spcPts val="2404"/>
              </a:lnSpc>
              <a:spcBef>
                <a:spcPts val="110"/>
              </a:spcBef>
              <a:spcAft>
                <a:spcPts val="0"/>
              </a:spcAft>
            </a:pPr>
            <a:r>
              <a:rPr sz="2400" spc="-14" dirty="0">
                <a:solidFill>
                  <a:srgbClr val="000000"/>
                </a:solidFill>
                <a:latin typeface="VUMMUU+Calibri"/>
                <a:cs typeface="VUMMUU+Calibri"/>
              </a:rPr>
              <a:t>2.</a:t>
            </a:r>
            <a:r>
              <a:rPr sz="2400" spc="126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VUMMUU+Calibri"/>
                <a:cs typeface="VUMMUU+Calibri"/>
              </a:rPr>
              <a:t>For</a:t>
            </a:r>
            <a:r>
              <a:rPr sz="2400" spc="-5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457" dirty="0">
                <a:solidFill>
                  <a:srgbClr val="000000"/>
                </a:solidFill>
                <a:latin typeface="MUFSMI+Cambria Math"/>
                <a:cs typeface="MUFSMI+Cambria Math"/>
              </a:rPr>
              <a:t>ꢀ=1</a:t>
            </a:r>
            <a:r>
              <a:rPr sz="2400" spc="20" dirty="0">
                <a:solidFill>
                  <a:srgbClr val="000000"/>
                </a:solidFill>
                <a:latin typeface="VUMMUU+Calibri"/>
                <a:cs typeface="VUMMUU+Calibri"/>
              </a:rPr>
              <a:t>to</a:t>
            </a:r>
            <a:r>
              <a:rPr sz="2400" spc="-5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51" dirty="0">
                <a:solidFill>
                  <a:srgbClr val="000000"/>
                </a:solidFill>
                <a:latin typeface="MUFSMI+Cambria Math"/>
                <a:cs typeface="MUFSMI+Cambria Math"/>
              </a:rPr>
              <a:t>ꢈ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0105" y="2538868"/>
            <a:ext cx="10358506" cy="3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RFPMOC+Wingdings"/>
                <a:cs typeface="RFPMOC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Compute</a:t>
            </a:r>
            <a:r>
              <a:rPr sz="2400" spc="-1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  <a:r>
              <a:rPr sz="2400" spc="4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43" dirty="0">
                <a:solidFill>
                  <a:srgbClr val="000000"/>
                </a:solidFill>
                <a:latin typeface="MUFSMI+Cambria Math"/>
                <a:cs typeface="MUFSMI+Cambria Math"/>
              </a:rPr>
              <a:t>ꢀ</a:t>
            </a:r>
            <a:r>
              <a:rPr sz="2400" spc="13" dirty="0">
                <a:solidFill>
                  <a:srgbClr val="000000"/>
                </a:solidFill>
                <a:latin typeface="VUMMUU+Calibri"/>
                <a:cs typeface="VUMMUU+Calibri"/>
              </a:rPr>
              <a:t>-th</a:t>
            </a:r>
            <a:r>
              <a:rPr sz="2400" spc="-4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hypothesis</a:t>
            </a:r>
            <a:r>
              <a:rPr sz="2400" spc="2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ꢂ</a:t>
            </a:r>
            <a:r>
              <a:rPr sz="2400" spc="138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4" dirty="0">
                <a:solidFill>
                  <a:srgbClr val="000000"/>
                </a:solidFill>
                <a:latin typeface="MUFSMI+Cambria Math"/>
                <a:cs typeface="MUFSMI+Cambria Math"/>
              </a:rPr>
              <a:t>=ꢂ</a:t>
            </a:r>
            <a:r>
              <a:rPr sz="2400" spc="23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30" dirty="0">
                <a:solidFill>
                  <a:srgbClr val="000000"/>
                </a:solidFill>
                <a:latin typeface="MUFSMI+Cambria Math"/>
                <a:cs typeface="MUFSMI+Cambria Math"/>
              </a:rPr>
              <a:t>+ꢆ</a:t>
            </a:r>
            <a:r>
              <a:rPr sz="2400" spc="-20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ℎ</a:t>
            </a:r>
            <a:r>
              <a:rPr sz="2400" spc="3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,</a:t>
            </a:r>
            <a:r>
              <a:rPr sz="2400" spc="-11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VUMMUU+Calibri"/>
                <a:cs typeface="VUMMUU+Calibri"/>
              </a:rPr>
              <a:t>i.e.</a:t>
            </a:r>
            <a:r>
              <a:rPr sz="2400" spc="-7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ℎ</a:t>
            </a:r>
            <a:r>
              <a:rPr sz="2400" spc="8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and</a:t>
            </a:r>
            <a:r>
              <a:rPr sz="2400" spc="2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ꢆ</a:t>
            </a:r>
            <a:r>
              <a:rPr sz="2400" spc="3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,</a:t>
            </a:r>
            <a:r>
              <a:rPr sz="2400" spc="-1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assuming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75885" y="2704669"/>
            <a:ext cx="469878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  <a:r>
              <a:rPr sz="1750" spc="43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spc="34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  <a:r>
              <a:rPr sz="1750" dirty="0">
                <a:solidFill>
                  <a:srgbClr val="000000"/>
                </a:solidFill>
                <a:latin typeface="JSPHJA+Cambria Math"/>
                <a:cs typeface="JSPHJA+Cambria Math"/>
              </a:rPr>
              <a:t>−1</a:t>
            </a:r>
            <a:r>
              <a:rPr sz="1750" spc="334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  <a:r>
              <a:rPr sz="175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  <a:r>
              <a:rPr sz="1750" spc="504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  <a:r>
              <a:rPr sz="1750" spc="52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3322" y="2938388"/>
            <a:ext cx="4945437" cy="3865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previous</a:t>
            </a:r>
            <a:r>
              <a:rPr sz="2400" spc="-6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additive</a:t>
            </a:r>
            <a:r>
              <a:rPr sz="2400" spc="-1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model</a:t>
            </a:r>
            <a:r>
              <a:rPr sz="2400" spc="19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137" dirty="0">
                <a:solidFill>
                  <a:srgbClr val="000000"/>
                </a:solidFill>
                <a:latin typeface="MUFSMI+Cambria Math"/>
                <a:cs typeface="MUFSMI+Cambria Math"/>
              </a:rPr>
              <a:t>ꢂ</a:t>
            </a:r>
            <a:r>
              <a:rPr sz="2650" spc="31" baseline="-20375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  <a:r>
              <a:rPr sz="2650" baseline="-20375" dirty="0">
                <a:solidFill>
                  <a:srgbClr val="000000"/>
                </a:solidFill>
                <a:latin typeface="JSPHJA+Cambria Math"/>
                <a:cs typeface="JSPHJA+Cambria Math"/>
              </a:rPr>
              <a:t>−1</a:t>
            </a:r>
            <a:r>
              <a:rPr sz="2400" spc="-25" dirty="0">
                <a:solidFill>
                  <a:srgbClr val="000000"/>
                </a:solidFill>
                <a:latin typeface="VUMMUU+Calibri"/>
                <a:cs typeface="VUMMUU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fixed: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0105" y="4733078"/>
            <a:ext cx="6394108" cy="973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RFPMOC+Wingdings"/>
                <a:cs typeface="RFPMOC+Wingdings"/>
              </a:rPr>
              <a:t>➢</a:t>
            </a:r>
            <a:r>
              <a:rPr sz="2400" spc="-11" dirty="0">
                <a:solidFill>
                  <a:srgbClr val="000000"/>
                </a:solidFill>
                <a:latin typeface="VUMMUU+Calibri"/>
                <a:cs typeface="VUMMUU+Calibri"/>
              </a:rPr>
              <a:t>Add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VUMMUU+Calibri"/>
                <a:cs typeface="VUMMUU+Calibri"/>
              </a:rPr>
              <a:t>it</a:t>
            </a:r>
            <a:r>
              <a:rPr sz="2400" spc="-4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52" dirty="0">
                <a:solidFill>
                  <a:srgbClr val="000000"/>
                </a:solidFill>
                <a:latin typeface="VUMMUU+Calibri"/>
                <a:cs typeface="VUMMUU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additive</a:t>
            </a:r>
            <a:r>
              <a:rPr sz="2400" spc="-1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model</a:t>
            </a:r>
          </a:p>
          <a:p>
            <a:pPr marL="3484245" marR="0">
              <a:lnSpc>
                <a:spcPts val="2404"/>
              </a:lnSpc>
              <a:spcBef>
                <a:spcPts val="181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ꢂ</a:t>
            </a:r>
            <a:r>
              <a:rPr sz="2400" spc="13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MUFSMI+Cambria Math"/>
                <a:cs typeface="MUFSMI+Cambria Math"/>
              </a:rPr>
              <a:t>=ꢂ</a:t>
            </a:r>
            <a:r>
              <a:rPr sz="2400" spc="235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29" dirty="0">
                <a:solidFill>
                  <a:srgbClr val="000000"/>
                </a:solidFill>
                <a:latin typeface="MUFSMI+Cambria Math"/>
                <a:cs typeface="MUFSMI+Cambria Math"/>
              </a:rPr>
              <a:t>+ꢆ</a:t>
            </a:r>
            <a:r>
              <a:rPr sz="2400" spc="-2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ℎ</a:t>
            </a:r>
          </a:p>
          <a:p>
            <a:pPr marL="3689096" marR="0">
              <a:lnSpc>
                <a:spcPts val="1729"/>
              </a:lnSpc>
              <a:spcBef>
                <a:spcPts val="5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  <a:r>
              <a:rPr sz="1750" spc="433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spc="33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  <a:r>
              <a:rPr sz="1750" dirty="0">
                <a:solidFill>
                  <a:srgbClr val="000000"/>
                </a:solidFill>
                <a:latin typeface="JSPHJA+Cambria Math"/>
                <a:cs typeface="JSPHJA+Cambria Math"/>
              </a:rPr>
              <a:t>−1</a:t>
            </a:r>
            <a:r>
              <a:rPr sz="1750" spc="334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  <a:r>
              <a:rPr sz="1750" spc="4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MUFSMI+Cambria Math"/>
                <a:cs typeface="MUFSMI+Cambria Math"/>
              </a:rPr>
              <a:t>ꢅ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6683733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6" dirty="0">
                <a:solidFill>
                  <a:srgbClr val="001F5F"/>
                </a:solidFill>
                <a:latin typeface="VECTKV+Calibri-Bold"/>
                <a:cs typeface="VECTKV+Calibri-Bold"/>
              </a:rPr>
              <a:t>Additive</a:t>
            </a:r>
            <a:r>
              <a:rPr sz="3250" spc="-1247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VECTKV+Calibri-Bold"/>
                <a:cs typeface="VECTKV+Calibri-Bold"/>
              </a:rPr>
              <a:t>Models</a:t>
            </a:r>
            <a:r>
              <a:rPr sz="3250" spc="-1194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5" dirty="0">
                <a:solidFill>
                  <a:srgbClr val="001F5F"/>
                </a:solidFill>
                <a:latin typeface="VECTKV+Calibri-Bold"/>
                <a:cs typeface="VECTKV+Calibri-Bold"/>
              </a:rPr>
              <a:t>with</a:t>
            </a:r>
            <a:r>
              <a:rPr sz="3250" spc="-1259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VECTKV+Calibri-Bold"/>
                <a:cs typeface="VECTKV+Calibri-Bold"/>
              </a:rPr>
              <a:t>Exponential</a:t>
            </a:r>
            <a:r>
              <a:rPr sz="3250" spc="-1232" dirty="0">
                <a:solidFill>
                  <a:srgbClr val="001F5F"/>
                </a:solidFill>
                <a:latin typeface="VECTKV+Calibri-Bold"/>
                <a:cs typeface="VECTKV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VECTKV+Calibri-Bold"/>
                <a:cs typeface="VECTKV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3455" y="1335167"/>
            <a:ext cx="3793401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Consider</a:t>
            </a:r>
            <a:r>
              <a:rPr sz="2400" spc="52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 exponential</a:t>
            </a:r>
            <a:r>
              <a:rPr sz="2400" spc="-4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loss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75634" y="2014717"/>
            <a:ext cx="2760361" cy="38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54" dirty="0">
                <a:solidFill>
                  <a:srgbClr val="000000"/>
                </a:solidFill>
                <a:latin typeface="MUFSMI+Cambria Math"/>
                <a:cs typeface="MUFSMI+Cambria Math"/>
              </a:rPr>
              <a:t>ℒ</a:t>
            </a:r>
            <a:r>
              <a:rPr sz="2650" baseline="-20416" dirty="0">
                <a:solidFill>
                  <a:srgbClr val="000000"/>
                </a:solidFill>
                <a:latin typeface="MUFSMI+Cambria Math"/>
                <a:cs typeface="MUFSMI+Cambria Math"/>
              </a:rPr>
              <a:t>E</a:t>
            </a:r>
            <a:r>
              <a:rPr sz="2650" spc="-488" baseline="-204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7" dirty="0">
                <a:solidFill>
                  <a:srgbClr val="000000"/>
                </a:solidFill>
                <a:latin typeface="MUFSMI+Cambria Math"/>
                <a:cs typeface="MUFSMI+Cambria Math"/>
              </a:rPr>
              <a:t>ꢉ,ꢊ</a:t>
            </a:r>
            <a:r>
              <a:rPr sz="2400" spc="13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=</a:t>
            </a:r>
            <a:r>
              <a:rPr sz="2400" spc="-7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UFSMI+Cambria Math"/>
                <a:cs typeface="MUFSMI+Cambria Math"/>
              </a:rPr>
              <a:t>exp(−ꢊꢉ)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3455" y="2644156"/>
            <a:ext cx="9517508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37" dirty="0">
                <a:solidFill>
                  <a:srgbClr val="000000"/>
                </a:solidFill>
                <a:latin typeface="VUMMUU+Calibri"/>
                <a:cs typeface="VUMMUU+Calibri"/>
              </a:rPr>
              <a:t>We</a:t>
            </a:r>
            <a:r>
              <a:rPr sz="2400" spc="-4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want </a:t>
            </a:r>
            <a:r>
              <a:rPr sz="2400" spc="-54" dirty="0">
                <a:solidFill>
                  <a:srgbClr val="000000"/>
                </a:solidFill>
                <a:latin typeface="VUMMUU+Calibri"/>
                <a:cs typeface="VUMMUU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VUMMUU+Calibri"/>
                <a:cs typeface="VUMMUU+Calibri"/>
              </a:rPr>
              <a:t>see</a:t>
            </a:r>
            <a:r>
              <a:rPr sz="2400" spc="-28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VUMMUU+Calibri"/>
                <a:cs typeface="VUMMUU+Calibri"/>
              </a:rPr>
              <a:t>how</a:t>
            </a:r>
            <a:r>
              <a:rPr sz="2400" spc="-2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VUMMUU+Calibri"/>
                <a:cs typeface="VUMMU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 stagewise</a:t>
            </a:r>
            <a:r>
              <a:rPr sz="2400" spc="6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training</a:t>
            </a:r>
            <a:r>
              <a:rPr sz="2400" spc="-15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of additive</a:t>
            </a:r>
            <a:r>
              <a:rPr sz="2400" spc="-13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models</a:t>
            </a:r>
            <a:r>
              <a:rPr sz="2400" spc="-60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can </a:t>
            </a:r>
            <a:r>
              <a:rPr sz="2400" spc="12" dirty="0">
                <a:solidFill>
                  <a:srgbClr val="000000"/>
                </a:solidFill>
                <a:latin typeface="VUMMUU+Calibri"/>
                <a:cs typeface="VUMMUU+Calibri"/>
              </a:rPr>
              <a:t>be</a:t>
            </a:r>
            <a:r>
              <a:rPr sz="2400" spc="-24" dirty="0">
                <a:solidFill>
                  <a:srgbClr val="000000"/>
                </a:solidFill>
                <a:latin typeface="VUMMUU+Calibri"/>
                <a:cs typeface="VUMMU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UMMUU+Calibri"/>
                <a:cs typeface="VUMMUU+Calibri"/>
              </a:rPr>
              <a:t>done.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6683733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6" dirty="0">
                <a:solidFill>
                  <a:srgbClr val="001F5F"/>
                </a:solidFill>
                <a:latin typeface="GUKKPG+Calibri-Bold"/>
                <a:cs typeface="GUKKPG+Calibri-Bold"/>
              </a:rPr>
              <a:t>Additive</a:t>
            </a:r>
            <a:r>
              <a:rPr sz="3250" spc="-1247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GUKKPG+Calibri-Bold"/>
                <a:cs typeface="GUKKPG+Calibri-Bold"/>
              </a:rPr>
              <a:t>Models</a:t>
            </a:r>
            <a:r>
              <a:rPr sz="3250" spc="-1194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5" dirty="0">
                <a:solidFill>
                  <a:srgbClr val="001F5F"/>
                </a:solidFill>
                <a:latin typeface="GUKKPG+Calibri-Bold"/>
                <a:cs typeface="GUKKPG+Calibri-Bold"/>
              </a:rPr>
              <a:t>with</a:t>
            </a:r>
            <a:r>
              <a:rPr sz="3250" spc="-1259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GUKKPG+Calibri-Bold"/>
                <a:cs typeface="GUKKPG+Calibri-Bold"/>
              </a:rPr>
              <a:t>Exponential</a:t>
            </a:r>
            <a:r>
              <a:rPr sz="3250" spc="-1232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GUKKPG+Calibri-Bold"/>
                <a:cs typeface="GUKKPG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7530" y="1102757"/>
            <a:ext cx="3793402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Consider</a:t>
            </a:r>
            <a:r>
              <a:rPr sz="2400" spc="52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NMUCRU+Calibri"/>
                <a:cs typeface="NMUCR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 exponential</a:t>
            </a:r>
            <a:r>
              <a:rPr sz="2400" spc="-44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loss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44416" y="1588765"/>
            <a:ext cx="2760366" cy="387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spc="52" dirty="0">
                <a:solidFill>
                  <a:srgbClr val="000000"/>
                </a:solidFill>
                <a:latin typeface="JPKEDI+Cambria Math"/>
                <a:cs typeface="JPKEDI+Cambria Math"/>
              </a:rPr>
              <a:t>ℒ</a:t>
            </a:r>
            <a:r>
              <a:rPr sz="2550" baseline="-20500" dirty="0">
                <a:solidFill>
                  <a:srgbClr val="000000"/>
                </a:solidFill>
                <a:latin typeface="JPKEDI+Cambria Math"/>
                <a:cs typeface="JPKEDI+Cambria Math"/>
              </a:rPr>
              <a:t>E</a:t>
            </a:r>
            <a:r>
              <a:rPr sz="2550" spc="-395" baseline="-205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7" dirty="0">
                <a:solidFill>
                  <a:srgbClr val="000000"/>
                </a:solidFill>
                <a:latin typeface="JPKEDI+Cambria Math"/>
                <a:cs typeface="JPKEDI+Cambria Math"/>
              </a:rPr>
              <a:t>ꢀ,ꢁ</a:t>
            </a:r>
            <a:r>
              <a:rPr sz="2400" spc="13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PKEDI+Cambria Math"/>
                <a:cs typeface="JPKEDI+Cambria Math"/>
              </a:rPr>
              <a:t>=</a:t>
            </a:r>
            <a:r>
              <a:rPr sz="2400" spc="-7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PKEDI+Cambria Math"/>
                <a:cs typeface="JPKEDI+Cambria Math"/>
              </a:rPr>
              <a:t>exp(−ꢁꢀ)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7530" y="2142633"/>
            <a:ext cx="9517507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37" dirty="0">
                <a:solidFill>
                  <a:srgbClr val="000000"/>
                </a:solidFill>
                <a:latin typeface="NMUCRU+Calibri"/>
                <a:cs typeface="NMUCRU+Calibri"/>
              </a:rPr>
              <a:t>We</a:t>
            </a:r>
            <a:r>
              <a:rPr sz="2400" spc="-48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want </a:t>
            </a:r>
            <a:r>
              <a:rPr sz="2400" spc="-54" dirty="0">
                <a:solidFill>
                  <a:srgbClr val="000000"/>
                </a:solidFill>
                <a:latin typeface="NMUCRU+Calibri"/>
                <a:cs typeface="NMUCRU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NMUCRU+Calibri"/>
                <a:cs typeface="NMUCRU+Calibri"/>
              </a:rPr>
              <a:t>see</a:t>
            </a:r>
            <a:r>
              <a:rPr sz="2400" spc="-28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NMUCRU+Calibri"/>
                <a:cs typeface="NMUCRU+Calibri"/>
              </a:rPr>
              <a:t>how</a:t>
            </a:r>
            <a:r>
              <a:rPr sz="2400" spc="-20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NMUCRU+Calibri"/>
                <a:cs typeface="NMUCR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 stagewise</a:t>
            </a:r>
            <a:r>
              <a:rPr sz="2400" spc="64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training</a:t>
            </a:r>
            <a:r>
              <a:rPr sz="2400" spc="-15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of additive</a:t>
            </a:r>
            <a:r>
              <a:rPr sz="2400" spc="-13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models</a:t>
            </a:r>
            <a:r>
              <a:rPr sz="2400" spc="-60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can </a:t>
            </a:r>
            <a:r>
              <a:rPr sz="2400" spc="12" dirty="0">
                <a:solidFill>
                  <a:srgbClr val="000000"/>
                </a:solidFill>
                <a:latin typeface="NMUCRU+Calibri"/>
                <a:cs typeface="NMUCRU+Calibri"/>
              </a:rPr>
              <a:t>be</a:t>
            </a:r>
            <a:r>
              <a:rPr sz="2400" spc="-24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done.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63690" y="5892795"/>
            <a:ext cx="3300597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FSRBR+Calibri"/>
                <a:cs typeface="LFSRBR+Calibri"/>
              </a:rPr>
              <a:t>(doesn’t depend on</a:t>
            </a:r>
            <a:r>
              <a:rPr sz="2400" spc="12" dirty="0">
                <a:solidFill>
                  <a:srgbClr val="000000"/>
                </a:solidFill>
                <a:latin typeface="LFSRBR+Calibri"/>
                <a:cs typeface="LFSRBR+Calibri"/>
              </a:rPr>
              <a:t> </a:t>
            </a:r>
            <a:r>
              <a:rPr sz="2400" spc="24" dirty="0">
                <a:solidFill>
                  <a:srgbClr val="000000"/>
                </a:solidFill>
                <a:latin typeface="JPKEDI+Cambria Math"/>
                <a:cs typeface="JPKEDI+Cambria Math"/>
              </a:rPr>
              <a:t>ℎ,</a:t>
            </a:r>
            <a:r>
              <a:rPr sz="2400" spc="-1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PKEDI+Cambria Math"/>
                <a:cs typeface="JPKEDI+Cambria Math"/>
              </a:rPr>
              <a:t>ꢂ</a:t>
            </a:r>
            <a:r>
              <a:rPr sz="2400" spc="25" dirty="0">
                <a:solidFill>
                  <a:srgbClr val="000000"/>
                </a:solidFill>
                <a:latin typeface="NMUCRU+Calibri"/>
                <a:cs typeface="NMUCRU+Calibri"/>
              </a:rPr>
              <a:t>).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7530" y="5946299"/>
            <a:ext cx="2206570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Here</a:t>
            </a:r>
            <a:r>
              <a:rPr sz="2400" spc="-12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we</a:t>
            </a:r>
            <a:r>
              <a:rPr sz="2400" spc="-14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defined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6683733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6" dirty="0">
                <a:solidFill>
                  <a:srgbClr val="001F5F"/>
                </a:solidFill>
                <a:latin typeface="GUKKPG+Calibri-Bold"/>
                <a:cs typeface="GUKKPG+Calibri-Bold"/>
              </a:rPr>
              <a:t>Additive</a:t>
            </a:r>
            <a:r>
              <a:rPr sz="3250" spc="-1247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GUKKPG+Calibri-Bold"/>
                <a:cs typeface="GUKKPG+Calibri-Bold"/>
              </a:rPr>
              <a:t>Models</a:t>
            </a:r>
            <a:r>
              <a:rPr sz="3250" spc="-1194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5" dirty="0">
                <a:solidFill>
                  <a:srgbClr val="001F5F"/>
                </a:solidFill>
                <a:latin typeface="GUKKPG+Calibri-Bold"/>
                <a:cs typeface="GUKKPG+Calibri-Bold"/>
              </a:rPr>
              <a:t>with</a:t>
            </a:r>
            <a:r>
              <a:rPr sz="3250" spc="-1259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GUKKPG+Calibri-Bold"/>
                <a:cs typeface="GUKKPG+Calibri-Bold"/>
              </a:rPr>
              <a:t>Exponential</a:t>
            </a:r>
            <a:r>
              <a:rPr sz="3250" spc="-1232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GUKKPG+Calibri-Bold"/>
                <a:cs typeface="GUKKPG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86933"/>
            <a:ext cx="6896894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39" dirty="0">
                <a:solidFill>
                  <a:srgbClr val="000000"/>
                </a:solidFill>
                <a:latin typeface="NMUCRU+Calibri"/>
                <a:cs typeface="NMUCRU+Calibri"/>
              </a:rPr>
              <a:t>We</a:t>
            </a:r>
            <a:r>
              <a:rPr sz="2400" spc="-48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want </a:t>
            </a:r>
            <a:r>
              <a:rPr sz="2400" spc="-52" dirty="0">
                <a:solidFill>
                  <a:srgbClr val="000000"/>
                </a:solidFill>
                <a:latin typeface="NMUCRU+Calibri"/>
                <a:cs typeface="NMUCRU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solve</a:t>
            </a:r>
            <a:r>
              <a:rPr sz="2400" spc="65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NMUCRU+Calibri"/>
                <a:cs typeface="NMUCR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 following</a:t>
            </a:r>
            <a:r>
              <a:rPr sz="2400" spc="54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minimization problem: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4344" y="2182251"/>
            <a:ext cx="3517782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RPOLIE+Arial"/>
                <a:cs typeface="RPOLIE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Recall</a:t>
            </a:r>
            <a:r>
              <a:rPr sz="2400" spc="-46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from</a:t>
            </a:r>
            <a:r>
              <a:rPr sz="2400" spc="12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Slide </a:t>
            </a:r>
            <a:r>
              <a:rPr sz="2400" spc="-13" dirty="0">
                <a:solidFill>
                  <a:srgbClr val="000000"/>
                </a:solidFill>
                <a:latin typeface="NMUCRU+Calibri"/>
                <a:cs typeface="NMUCRU+Calibri"/>
              </a:rPr>
              <a:t>23</a:t>
            </a:r>
            <a:r>
              <a:rPr sz="2400" spc="-14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that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4344" y="3650719"/>
            <a:ext cx="7167028" cy="42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RPOLIE+Arial"/>
                <a:cs typeface="RPOLIE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Thus,</a:t>
            </a:r>
            <a:r>
              <a:rPr sz="2400" spc="-16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NMUCRU+Calibri"/>
                <a:cs typeface="NMUCRU+Calibri"/>
              </a:rPr>
              <a:t>for</a:t>
            </a:r>
            <a:r>
              <a:rPr sz="2400" spc="-41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PKEDI+Cambria Math"/>
                <a:cs typeface="JPKEDI+Cambria Math"/>
              </a:rPr>
              <a:t>ℎ</a:t>
            </a:r>
            <a:r>
              <a:rPr sz="2650" spc="131" baseline="-20499" dirty="0">
                <a:solidFill>
                  <a:srgbClr val="000000"/>
                </a:solidFill>
                <a:latin typeface="JPKEDI+Cambria Math"/>
                <a:cs typeface="JPKEDI+Cambria Math"/>
              </a:rPr>
              <a:t>ꢃ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,</a:t>
            </a:r>
            <a:r>
              <a:rPr sz="2400" spc="-16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NMUCRU+Calibri"/>
                <a:cs typeface="NMUCRU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NMUCRU+Calibri"/>
                <a:cs typeface="NMUCRU+Calibri"/>
              </a:rPr>
              <a:t>above</a:t>
            </a:r>
            <a:r>
              <a:rPr sz="2400" spc="70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minimization </a:t>
            </a:r>
            <a:r>
              <a:rPr sz="2400" spc="46" dirty="0">
                <a:solidFill>
                  <a:srgbClr val="000000"/>
                </a:solidFill>
                <a:latin typeface="NMUCRU+Calibri"/>
                <a:cs typeface="NMUCRU+Calibri"/>
              </a:rPr>
              <a:t>is</a:t>
            </a:r>
            <a:r>
              <a:rPr sz="2400" spc="-103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equivalent </a:t>
            </a:r>
            <a:r>
              <a:rPr sz="2400" spc="13" dirty="0">
                <a:solidFill>
                  <a:srgbClr val="000000"/>
                </a:solidFill>
                <a:latin typeface="NMUCRU+Calibri"/>
                <a:cs typeface="NMUCRU+Calibri"/>
              </a:rPr>
              <a:t>to: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4344" y="6207453"/>
            <a:ext cx="8134289" cy="425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RPOLIE+Arial"/>
                <a:cs typeface="RPOLIE+Arial"/>
              </a:rPr>
              <a:t>•</a:t>
            </a:r>
            <a:r>
              <a:rPr sz="2400" spc="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This</a:t>
            </a:r>
            <a:r>
              <a:rPr sz="2400" spc="15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NMUCRU+Calibri"/>
                <a:cs typeface="NMUCRU+Calibri"/>
              </a:rPr>
              <a:t>means</a:t>
            </a:r>
            <a:r>
              <a:rPr sz="2400" spc="33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that</a:t>
            </a:r>
            <a:r>
              <a:rPr sz="2400" spc="-51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PKEDI+Cambria Math"/>
                <a:cs typeface="JPKEDI+Cambria Math"/>
              </a:rPr>
              <a:t>ℎ</a:t>
            </a:r>
            <a:r>
              <a:rPr sz="2650" baseline="-20416" dirty="0">
                <a:solidFill>
                  <a:srgbClr val="000000"/>
                </a:solidFill>
                <a:latin typeface="JPKEDI+Cambria Math"/>
                <a:cs typeface="JPKEDI+Cambria Math"/>
              </a:rPr>
              <a:t>ꢃ</a:t>
            </a:r>
            <a:r>
              <a:rPr sz="2650" spc="-922" baseline="-204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NMUCRU+Calibri"/>
                <a:cs typeface="NMUCRU+Calibri"/>
              </a:rPr>
              <a:t>is</a:t>
            </a:r>
            <a:r>
              <a:rPr sz="2400" spc="45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NMUCRU+Calibri"/>
                <a:cs typeface="NMUCRU+Calibri"/>
              </a:rPr>
              <a:t>the</a:t>
            </a:r>
            <a:r>
              <a:rPr sz="2400" spc="-26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minimizer</a:t>
            </a:r>
            <a:r>
              <a:rPr sz="2400" spc="55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-62" dirty="0">
                <a:solidFill>
                  <a:srgbClr val="000000"/>
                </a:solidFill>
                <a:latin typeface="NMUCRU+Calibri"/>
                <a:cs typeface="NMUCRU+Calibri"/>
              </a:rPr>
              <a:t>of</a:t>
            </a:r>
            <a:r>
              <a:rPr sz="2400" spc="60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NMUCRU+Calibri"/>
                <a:cs typeface="NMUCRU+Calibri"/>
              </a:rPr>
              <a:t>the</a:t>
            </a:r>
            <a:r>
              <a:rPr sz="2400" spc="-26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weighted 0/1-loss.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6683733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6" dirty="0">
                <a:solidFill>
                  <a:srgbClr val="001F5F"/>
                </a:solidFill>
                <a:latin typeface="GUKKPG+Calibri-Bold"/>
                <a:cs typeface="GUKKPG+Calibri-Bold"/>
              </a:rPr>
              <a:t>Additive</a:t>
            </a:r>
            <a:r>
              <a:rPr sz="3250" spc="-1247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GUKKPG+Calibri-Bold"/>
                <a:cs typeface="GUKKPG+Calibri-Bold"/>
              </a:rPr>
              <a:t>Models</a:t>
            </a:r>
            <a:r>
              <a:rPr sz="3250" spc="-1194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5" dirty="0">
                <a:solidFill>
                  <a:srgbClr val="001F5F"/>
                </a:solidFill>
                <a:latin typeface="GUKKPG+Calibri-Bold"/>
                <a:cs typeface="GUKKPG+Calibri-Bold"/>
              </a:rPr>
              <a:t>with</a:t>
            </a:r>
            <a:r>
              <a:rPr sz="3250" spc="-1259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GUKKPG+Calibri-Bold"/>
                <a:cs typeface="GUKKPG+Calibri-Bold"/>
              </a:rPr>
              <a:t>Exponential</a:t>
            </a:r>
            <a:r>
              <a:rPr sz="3250" spc="-1232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19" dirty="0">
                <a:solidFill>
                  <a:srgbClr val="001F5F"/>
                </a:solidFill>
                <a:latin typeface="GUKKPG+Calibri-Bold"/>
                <a:cs typeface="GUKKPG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187714"/>
            <a:ext cx="10857085" cy="4252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RPOLIE+Arial"/>
                <a:cs typeface="RPOLIE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NMUCRU+Calibri"/>
                <a:cs typeface="NMUCRU+Calibri"/>
              </a:rPr>
              <a:t>Now</a:t>
            </a:r>
            <a:r>
              <a:rPr sz="2400" spc="-24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NMUCRU+Calibri"/>
                <a:cs typeface="NMUCRU+Calibri"/>
              </a:rPr>
              <a:t>that</a:t>
            </a:r>
            <a:r>
              <a:rPr sz="2400" spc="24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obtained</a:t>
            </a:r>
            <a:r>
              <a:rPr sz="2400" spc="29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PKEDI+Cambria Math"/>
                <a:cs typeface="JPKEDI+Cambria Math"/>
              </a:rPr>
              <a:t>ℎ</a:t>
            </a:r>
            <a:r>
              <a:rPr sz="2650" spc="134" baseline="-20416" dirty="0">
                <a:solidFill>
                  <a:srgbClr val="000000"/>
                </a:solidFill>
                <a:latin typeface="JPKEDI+Cambria Math"/>
                <a:cs typeface="JPKEDI+Cambria Math"/>
              </a:rPr>
              <a:t>ꢃ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we</a:t>
            </a:r>
            <a:r>
              <a:rPr sz="2400" spc="-19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can plug</a:t>
            </a:r>
            <a:r>
              <a:rPr sz="2400" spc="-22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NMUCRU+Calibri"/>
                <a:cs typeface="NMUCRU+Calibri"/>
              </a:rPr>
              <a:t>it</a:t>
            </a:r>
            <a:r>
              <a:rPr sz="2400" spc="-117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into</a:t>
            </a:r>
            <a:r>
              <a:rPr sz="2400" spc="-11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NMUCRU+Calibri"/>
                <a:cs typeface="NMUCRU+Calibri"/>
              </a:rPr>
              <a:t>our</a:t>
            </a:r>
            <a:r>
              <a:rPr sz="2400" spc="-39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exponential</a:t>
            </a:r>
            <a:r>
              <a:rPr sz="2400" spc="-44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loss</a:t>
            </a:r>
            <a:r>
              <a:rPr sz="2400" spc="14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objective (1) and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225" y="1589013"/>
            <a:ext cx="1774379" cy="3865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solve </a:t>
            </a:r>
            <a:r>
              <a:rPr sz="2400" spc="11" dirty="0">
                <a:solidFill>
                  <a:srgbClr val="000000"/>
                </a:solidFill>
                <a:latin typeface="NMUCRU+Calibri"/>
                <a:cs typeface="NMUCRU+Calibri"/>
              </a:rPr>
              <a:t>for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PKEDI+Cambria Math"/>
                <a:cs typeface="JPKEDI+Cambria Math"/>
              </a:rPr>
              <a:t>ꢂ</a:t>
            </a:r>
            <a:r>
              <a:rPr sz="2650" spc="134" baseline="-20375" dirty="0">
                <a:solidFill>
                  <a:srgbClr val="000000"/>
                </a:solidFill>
                <a:latin typeface="JPKEDI+Cambria Math"/>
                <a:cs typeface="JPKEDI+Cambria Math"/>
              </a:rPr>
              <a:t>ꢃ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1907551"/>
            <a:ext cx="10882688" cy="767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RPOLIE+Arial"/>
                <a:cs typeface="RPOLIE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LFSRBR+Calibri"/>
                <a:cs typeface="LFSRBR+Calibri"/>
              </a:rPr>
              <a:t>The</a:t>
            </a:r>
            <a:r>
              <a:rPr sz="2400" spc="-32" dirty="0">
                <a:solidFill>
                  <a:srgbClr val="000000"/>
                </a:solidFill>
                <a:latin typeface="LFSRBR+Calibri"/>
                <a:cs typeface="LFSRB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FSRBR+Calibri"/>
                <a:cs typeface="LFSRBR+Calibri"/>
              </a:rPr>
              <a:t>derivation </a:t>
            </a:r>
            <a:r>
              <a:rPr sz="2400" spc="-26" dirty="0">
                <a:solidFill>
                  <a:srgbClr val="000000"/>
                </a:solidFill>
                <a:latin typeface="LFSRBR+Calibri"/>
                <a:cs typeface="LFSRBR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LFSRBR+Calibri"/>
                <a:cs typeface="LFSRB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FSRBR+Calibri"/>
                <a:cs typeface="LFSRBR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LFSRBR+Calibri"/>
                <a:cs typeface="LFSRB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FSRBR+Calibri"/>
                <a:cs typeface="LFSRBR+Calibri"/>
              </a:rPr>
              <a:t>bit laborious</a:t>
            </a:r>
            <a:r>
              <a:rPr sz="2400" spc="-60" dirty="0">
                <a:solidFill>
                  <a:srgbClr val="000000"/>
                </a:solidFill>
                <a:latin typeface="LFSRBR+Calibri"/>
                <a:cs typeface="LFSRBR+Calibri"/>
              </a:rPr>
              <a:t> </a:t>
            </a:r>
            <a:r>
              <a:rPr sz="2400" spc="30" dirty="0">
                <a:solidFill>
                  <a:srgbClr val="000000"/>
                </a:solidFill>
                <a:latin typeface="LFSRBR+Calibri"/>
                <a:cs typeface="LFSRBR+Calibri"/>
              </a:rPr>
              <a:t>and</a:t>
            </a:r>
            <a:r>
              <a:rPr sz="2400" spc="-37" dirty="0">
                <a:solidFill>
                  <a:srgbClr val="000000"/>
                </a:solidFill>
                <a:latin typeface="LFSRBR+Calibri"/>
                <a:cs typeface="LFSRB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FSRBR+Calibri"/>
                <a:cs typeface="LFSRBR+Calibri"/>
              </a:rPr>
              <a:t>doesn’t</a:t>
            </a:r>
            <a:r>
              <a:rPr sz="2400" spc="-74" dirty="0">
                <a:solidFill>
                  <a:srgbClr val="000000"/>
                </a:solidFill>
                <a:latin typeface="LFSRBR+Calibri"/>
                <a:cs typeface="LFSRB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FSRBR+Calibri"/>
                <a:cs typeface="LFSRBR+Calibri"/>
              </a:rPr>
              <a:t>provide</a:t>
            </a:r>
            <a:r>
              <a:rPr sz="2400" spc="-17" dirty="0">
                <a:solidFill>
                  <a:srgbClr val="000000"/>
                </a:solidFill>
                <a:latin typeface="LFSRBR+Calibri"/>
                <a:cs typeface="LFSRB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FSRBR+Calibri"/>
                <a:cs typeface="LFSRBR+Calibri"/>
              </a:rPr>
              <a:t>additional</a:t>
            </a:r>
            <a:r>
              <a:rPr sz="2400" spc="32" dirty="0">
                <a:solidFill>
                  <a:srgbClr val="000000"/>
                </a:solidFill>
                <a:latin typeface="LFSRBR+Calibri"/>
                <a:cs typeface="LFSRB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FSRBR+Calibri"/>
                <a:cs typeface="LFSRBR+Calibri"/>
              </a:rPr>
              <a:t>insight,</a:t>
            </a:r>
            <a:r>
              <a:rPr sz="2400" spc="187" dirty="0">
                <a:solidFill>
                  <a:srgbClr val="000000"/>
                </a:solidFill>
                <a:latin typeface="LFSRBR+Calibri"/>
                <a:cs typeface="LFSRBR+Calibri"/>
              </a:rPr>
              <a:t> </a:t>
            </a:r>
            <a:r>
              <a:rPr sz="2400" spc="35" dirty="0">
                <a:solidFill>
                  <a:srgbClr val="000000"/>
                </a:solidFill>
                <a:latin typeface="NMUCRU+Calibri"/>
                <a:cs typeface="NMUCRU+Calibri"/>
              </a:rPr>
              <a:t>so</a:t>
            </a:r>
            <a:r>
              <a:rPr sz="2400" spc="-40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-63" dirty="0">
                <a:solidFill>
                  <a:srgbClr val="000000"/>
                </a:solidFill>
                <a:latin typeface="NMUCRU+Calibri"/>
                <a:cs typeface="NMUCRU+Calibri"/>
              </a:rPr>
              <a:t>we</a:t>
            </a:r>
            <a:r>
              <a:rPr sz="2400" spc="130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skip it.</a:t>
            </a:r>
          </a:p>
          <a:p>
            <a:pPr marL="0" marR="0">
              <a:lnSpc>
                <a:spcPts val="2684"/>
              </a:lnSpc>
              <a:spcBef>
                <a:spcPts val="8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RPOLIE+Arial"/>
                <a:cs typeface="RPOLIE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NMUCRU+Calibri"/>
                <a:cs typeface="NMUCRU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arrive at: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0082" y="4148324"/>
            <a:ext cx="6038601" cy="3872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where </a:t>
            </a:r>
            <a:r>
              <a:rPr sz="2400" dirty="0">
                <a:solidFill>
                  <a:srgbClr val="000000"/>
                </a:solidFill>
                <a:latin typeface="JPKEDI+Cambria Math"/>
                <a:cs typeface="JPKEDI+Cambria Math"/>
              </a:rPr>
              <a:t>err</a:t>
            </a:r>
            <a:r>
              <a:rPr sz="2550" baseline="-20541" dirty="0">
                <a:solidFill>
                  <a:srgbClr val="000000"/>
                </a:solidFill>
                <a:latin typeface="JPKEDI+Cambria Math"/>
                <a:cs typeface="JPKEDI+Cambria Math"/>
              </a:rPr>
              <a:t>ꢃ</a:t>
            </a:r>
            <a:r>
              <a:rPr sz="2550" spc="-815" baseline="-205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NMUCRU+Calibri"/>
                <a:cs typeface="NMUCRU+Calibri"/>
              </a:rPr>
              <a:t>is</a:t>
            </a:r>
            <a:r>
              <a:rPr sz="2400" spc="44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NMUCRU+Calibri"/>
                <a:cs typeface="NMUCRU+Calibri"/>
              </a:rPr>
              <a:t>the</a:t>
            </a:r>
            <a:r>
              <a:rPr sz="2400" spc="-25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weighted classification error: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3207" y="278702"/>
            <a:ext cx="667552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GUKKPG+Calibri-Bold"/>
                <a:cs typeface="GUKKPG+Calibri-Bold"/>
              </a:rPr>
              <a:t>Additive</a:t>
            </a:r>
            <a:r>
              <a:rPr sz="3250" spc="-1246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9" dirty="0">
                <a:solidFill>
                  <a:srgbClr val="001F5F"/>
                </a:solidFill>
                <a:latin typeface="GUKKPG+Calibri-Bold"/>
                <a:cs typeface="GUKKPG+Calibri-Bold"/>
              </a:rPr>
              <a:t>Models</a:t>
            </a:r>
            <a:r>
              <a:rPr sz="3250" spc="-1195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GUKKPG+Calibri-Bold"/>
                <a:cs typeface="GUKKPG+Calibri-Bold"/>
              </a:rPr>
              <a:t>with</a:t>
            </a:r>
            <a:r>
              <a:rPr sz="3250" spc="-1271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3" dirty="0">
                <a:solidFill>
                  <a:srgbClr val="001F5F"/>
                </a:solidFill>
                <a:latin typeface="GUKKPG+Calibri-Bold"/>
                <a:cs typeface="GUKKPG+Calibri-Bold"/>
              </a:rPr>
              <a:t>Exponential</a:t>
            </a:r>
            <a:r>
              <a:rPr sz="3250" spc="-1230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2" dirty="0">
                <a:solidFill>
                  <a:srgbClr val="001F5F"/>
                </a:solidFill>
                <a:latin typeface="GUKKPG+Calibri-Bold"/>
                <a:cs typeface="GUKKPG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0410" y="1251982"/>
            <a:ext cx="7599580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39" dirty="0">
                <a:solidFill>
                  <a:srgbClr val="000000"/>
                </a:solidFill>
                <a:latin typeface="NMUCRU+Calibri"/>
                <a:cs typeface="NMUCRU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can</a:t>
            </a:r>
            <a:r>
              <a:rPr sz="2400" spc="-10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NMUCRU+Calibri"/>
                <a:cs typeface="NMUCRU+Calibri"/>
              </a:rPr>
              <a:t>now</a:t>
            </a:r>
            <a:r>
              <a:rPr sz="2400" spc="20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find </a:t>
            </a:r>
            <a:r>
              <a:rPr sz="2400" spc="15" dirty="0">
                <a:solidFill>
                  <a:srgbClr val="000000"/>
                </a:solidFill>
                <a:latin typeface="NMUCRU+Calibri"/>
                <a:cs typeface="NMUCRU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updated weights</a:t>
            </a:r>
            <a:r>
              <a:rPr sz="2400" spc="16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NMUCRU+Calibri"/>
                <a:cs typeface="NMUCRU+Calibri"/>
              </a:rPr>
              <a:t>for</a:t>
            </a:r>
            <a:r>
              <a:rPr sz="2400" spc="71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NMUCRU+Calibri"/>
                <a:cs typeface="NMUCR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 next iteration: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3207" y="278702"/>
            <a:ext cx="667552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7" dirty="0">
                <a:solidFill>
                  <a:srgbClr val="001F5F"/>
                </a:solidFill>
                <a:latin typeface="GUKKPG+Calibri-Bold"/>
                <a:cs typeface="GUKKPG+Calibri-Bold"/>
              </a:rPr>
              <a:t>Additive</a:t>
            </a:r>
            <a:r>
              <a:rPr sz="3250" spc="-1246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9" dirty="0">
                <a:solidFill>
                  <a:srgbClr val="001F5F"/>
                </a:solidFill>
                <a:latin typeface="GUKKPG+Calibri-Bold"/>
                <a:cs typeface="GUKKPG+Calibri-Bold"/>
              </a:rPr>
              <a:t>Models</a:t>
            </a:r>
            <a:r>
              <a:rPr sz="3250" spc="-1195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GUKKPG+Calibri-Bold"/>
                <a:cs typeface="GUKKPG+Calibri-Bold"/>
              </a:rPr>
              <a:t>with</a:t>
            </a:r>
            <a:r>
              <a:rPr sz="3250" spc="-1271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3" dirty="0">
                <a:solidFill>
                  <a:srgbClr val="001F5F"/>
                </a:solidFill>
                <a:latin typeface="GUKKPG+Calibri-Bold"/>
                <a:cs typeface="GUKKPG+Calibri-Bold"/>
              </a:rPr>
              <a:t>Exponential</a:t>
            </a:r>
            <a:r>
              <a:rPr sz="3250" spc="-1230" dirty="0">
                <a:solidFill>
                  <a:srgbClr val="001F5F"/>
                </a:solidFill>
                <a:latin typeface="GUKKPG+Calibri-Bold"/>
                <a:cs typeface="GUKKPG+Calibri-Bold"/>
              </a:rPr>
              <a:t> </a:t>
            </a:r>
            <a:r>
              <a:rPr sz="3250" spc="-22" dirty="0">
                <a:solidFill>
                  <a:srgbClr val="001F5F"/>
                </a:solidFill>
                <a:latin typeface="GUKKPG+Calibri-Bold"/>
                <a:cs typeface="GUKKPG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68666" y="1218134"/>
            <a:ext cx="357544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JPKEDI+Cambria Math"/>
                <a:cs typeface="JPKEDI+Cambria Math"/>
              </a:rPr>
              <a:t>ꢃ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7085" y="1275965"/>
            <a:ext cx="6914096" cy="387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spc="28" dirty="0">
                <a:solidFill>
                  <a:srgbClr val="000000"/>
                </a:solidFill>
                <a:latin typeface="NMUCRU+Calibri"/>
                <a:cs typeface="NMUCRU+Calibri"/>
              </a:rPr>
              <a:t>To</a:t>
            </a:r>
            <a:r>
              <a:rPr sz="2400" spc="-40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summarize,</a:t>
            </a:r>
            <a:r>
              <a:rPr sz="2400" spc="-13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we</a:t>
            </a:r>
            <a:r>
              <a:rPr sz="2400" spc="-14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obtain </a:t>
            </a:r>
            <a:r>
              <a:rPr sz="2400" spc="-21" dirty="0">
                <a:solidFill>
                  <a:srgbClr val="000000"/>
                </a:solidFill>
                <a:latin typeface="NMUCRU+Calibri"/>
                <a:cs typeface="NMUCR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 additive</a:t>
            </a:r>
            <a:r>
              <a:rPr sz="2400" spc="-13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NMUCRU+Calibri"/>
                <a:cs typeface="NMUCRU+Calibri"/>
              </a:rPr>
              <a:t>model</a:t>
            </a:r>
            <a:r>
              <a:rPr sz="2400" spc="32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spc="-138" dirty="0">
                <a:solidFill>
                  <a:srgbClr val="000000"/>
                </a:solidFill>
                <a:latin typeface="JPKEDI+Cambria Math"/>
                <a:cs typeface="JPKEDI+Cambria Math"/>
              </a:rPr>
              <a:t>ꢄ</a:t>
            </a:r>
            <a:r>
              <a:rPr sz="2650" baseline="-20499" dirty="0">
                <a:solidFill>
                  <a:srgbClr val="000000"/>
                </a:solidFill>
                <a:latin typeface="JPKEDI+Cambria Math"/>
                <a:cs typeface="JPKEDI+Cambria Math"/>
              </a:rPr>
              <a:t>ꢃ</a:t>
            </a:r>
            <a:r>
              <a:rPr sz="2650" spc="-461" baseline="-2049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PKEDI+Cambria Math"/>
                <a:cs typeface="JPKEDI+Cambria Math"/>
              </a:rPr>
              <a:t>ꢅ</a:t>
            </a:r>
            <a:r>
              <a:rPr sz="2400" spc="2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PKEDI+Cambria Math"/>
                <a:cs typeface="JPKEDI+Cambria Math"/>
              </a:rPr>
              <a:t>=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52639" y="1263893"/>
            <a:ext cx="2378347" cy="364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JPKEDI+Cambria Math"/>
                <a:cs typeface="JPKEDI+Cambria Math"/>
              </a:rPr>
              <a:t>σ</a:t>
            </a:r>
            <a:r>
              <a:rPr sz="2400" spc="19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85" dirty="0">
                <a:solidFill>
                  <a:srgbClr val="000000"/>
                </a:solidFill>
                <a:latin typeface="JPKEDI+Cambria Math"/>
                <a:cs typeface="JPKEDI+Cambria Math"/>
              </a:rPr>
              <a:t>ꢂℎ</a:t>
            </a:r>
            <a:r>
              <a:rPr sz="2400" spc="-66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PKEDI+Cambria Math"/>
                <a:cs typeface="JPKEDI+Cambria Math"/>
              </a:rPr>
              <a:t>(ꢇ)</a:t>
            </a:r>
          </a:p>
          <a:p>
            <a:pPr marL="1675129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with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68666" y="1405459"/>
            <a:ext cx="1107140" cy="2707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61" dirty="0">
                <a:solidFill>
                  <a:srgbClr val="000000"/>
                </a:solidFill>
                <a:latin typeface="JPKEDI+Cambria Math"/>
                <a:cs typeface="JPKEDI+Cambria Math"/>
              </a:rPr>
              <a:t>ꢆ</a:t>
            </a:r>
            <a:r>
              <a:rPr sz="1750" dirty="0">
                <a:solidFill>
                  <a:srgbClr val="000000"/>
                </a:solidFill>
                <a:latin typeface="JTLUDH+Cambria Math"/>
                <a:cs typeface="JTLUDH+Cambria Math"/>
              </a:rPr>
              <a:t>=</a:t>
            </a:r>
            <a:r>
              <a:rPr sz="1750" dirty="0">
                <a:solidFill>
                  <a:srgbClr val="000000"/>
                </a:solidFill>
                <a:latin typeface="JPKEDI+Cambria Math"/>
                <a:cs typeface="JPKEDI+Cambria Math"/>
              </a:rPr>
              <a:t>1</a:t>
            </a:r>
            <a:r>
              <a:rPr sz="1750" spc="7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JPKEDI+Cambria Math"/>
                <a:cs typeface="JPKEDI+Cambria Math"/>
              </a:rPr>
              <a:t>ꢆ</a:t>
            </a:r>
            <a:r>
              <a:rPr sz="1750" spc="44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JPKEDI+Cambria Math"/>
                <a:cs typeface="JPKEDI+Cambria Math"/>
              </a:rPr>
              <a:t>ꢆ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7085" y="4814967"/>
            <a:ext cx="4686959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37" dirty="0">
                <a:solidFill>
                  <a:srgbClr val="000000"/>
                </a:solidFill>
                <a:latin typeface="NMUCRU+Calibri"/>
                <a:cs typeface="NMUCRU+Calibri"/>
              </a:rPr>
              <a:t>We</a:t>
            </a:r>
            <a:r>
              <a:rPr sz="2400" spc="-48" dirty="0">
                <a:solidFill>
                  <a:srgbClr val="000000"/>
                </a:solidFill>
                <a:latin typeface="NMUCRU+Calibri"/>
                <a:cs typeface="NMUCR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derived </a:t>
            </a:r>
            <a:r>
              <a:rPr sz="2400" spc="-21" dirty="0">
                <a:solidFill>
                  <a:srgbClr val="000000"/>
                </a:solidFill>
                <a:latin typeface="NMUCRU+Calibri"/>
                <a:cs typeface="NMUCR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NMUCRU+Calibri"/>
                <a:cs typeface="NMUCRU+Calibri"/>
              </a:rPr>
              <a:t> AdaBoost algorithm!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34081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HUFBDF+Calibri-Bold"/>
                <a:cs typeface="HUFBDF+Calibri-Bold"/>
              </a:rPr>
              <a:t>Boosting</a:t>
            </a:r>
            <a:r>
              <a:rPr sz="3250" spc="-1230" dirty="0">
                <a:solidFill>
                  <a:srgbClr val="001F5F"/>
                </a:solidFill>
                <a:latin typeface="HUFBDF+Calibri-Bold"/>
                <a:cs typeface="HUFBDF+Calibri-Bold"/>
              </a:rPr>
              <a:t> </a:t>
            </a:r>
            <a:r>
              <a:rPr sz="3250" spc="-24" dirty="0">
                <a:solidFill>
                  <a:srgbClr val="001F5F"/>
                </a:solidFill>
                <a:latin typeface="HUFBDF+Calibri-Bold"/>
                <a:cs typeface="HUFBDF+Calibri-Bold"/>
              </a:rPr>
              <a:t>Summary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1575" y="1919963"/>
            <a:ext cx="8982811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TKAHQR+Arial"/>
                <a:cs typeface="TKAHQR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Boosting</a:t>
            </a:r>
            <a:r>
              <a:rPr sz="2400" spc="57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reduces</a:t>
            </a:r>
            <a:r>
              <a:rPr sz="2400" spc="20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NKELNM+Calibri"/>
                <a:cs typeface="NKELNM+Calibri"/>
              </a:rPr>
              <a:t>bias</a:t>
            </a:r>
            <a:r>
              <a:rPr sz="2400" spc="28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NKELNM+Calibri"/>
                <a:cs typeface="NKELNM+Calibri"/>
              </a:rPr>
              <a:t>by</a:t>
            </a:r>
            <a:r>
              <a:rPr sz="2400" spc="-65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generating</a:t>
            </a:r>
            <a:r>
              <a:rPr sz="2400" spc="51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NKELNM+Calibri"/>
                <a:cs typeface="NKELNM+Calibri"/>
              </a:rPr>
              <a:t>an</a:t>
            </a:r>
            <a:r>
              <a:rPr sz="2400" spc="17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ensemble</a:t>
            </a:r>
            <a:r>
              <a:rPr sz="2400" spc="-13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of weak</a:t>
            </a:r>
            <a:r>
              <a:rPr sz="2400" spc="18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classifiers.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71575" y="2654277"/>
            <a:ext cx="8325515" cy="1125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TKAHQR+Arial"/>
                <a:cs typeface="TKAHQR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NKELNM+Calibri"/>
                <a:cs typeface="NKELNM+Calibri"/>
              </a:rPr>
              <a:t>Each</a:t>
            </a:r>
            <a:r>
              <a:rPr sz="2400" spc="-19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classifier</a:t>
            </a:r>
            <a:r>
              <a:rPr sz="2400" spc="51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NKELNM+Calibri"/>
                <a:cs typeface="NKELNM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trained </a:t>
            </a:r>
            <a:r>
              <a:rPr sz="2400" spc="19" dirty="0">
                <a:solidFill>
                  <a:srgbClr val="000000"/>
                </a:solidFill>
                <a:latin typeface="NKELNM+Calibri"/>
                <a:cs typeface="NKELNM+Calibri"/>
              </a:rPr>
              <a:t>to</a:t>
            </a:r>
            <a:r>
              <a:rPr sz="2400" spc="-30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reduce errors</a:t>
            </a:r>
            <a:r>
              <a:rPr sz="2400" spc="19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of previous</a:t>
            </a:r>
            <a:r>
              <a:rPr sz="2400" spc="20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ensemble.</a:t>
            </a:r>
          </a:p>
          <a:p>
            <a:pPr marL="0" marR="0">
              <a:lnSpc>
                <a:spcPts val="2684"/>
              </a:lnSpc>
              <a:spcBef>
                <a:spcPts val="300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TKAHQR+Arial"/>
                <a:cs typeface="TKAHQR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It </a:t>
            </a:r>
            <a:r>
              <a:rPr sz="2400" spc="-25" dirty="0">
                <a:solidFill>
                  <a:srgbClr val="000000"/>
                </a:solidFill>
                <a:latin typeface="NKELNM+Calibri"/>
                <a:cs typeface="NKELNM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quite</a:t>
            </a:r>
            <a:r>
              <a:rPr sz="2400" spc="-16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resilient </a:t>
            </a:r>
            <a:r>
              <a:rPr sz="2400" spc="18" dirty="0">
                <a:solidFill>
                  <a:srgbClr val="000000"/>
                </a:solidFill>
                <a:latin typeface="NKELNM+Calibri"/>
                <a:cs typeface="NKELNM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overfitting,</a:t>
            </a:r>
            <a:r>
              <a:rPr sz="2400" spc="-20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though </a:t>
            </a:r>
            <a:r>
              <a:rPr sz="2400" spc="47" dirty="0">
                <a:solidFill>
                  <a:srgbClr val="000000"/>
                </a:solidFill>
                <a:latin typeface="NKELNM+Calibri"/>
                <a:cs typeface="NKELNM+Calibri"/>
              </a:rPr>
              <a:t>it</a:t>
            </a:r>
            <a:r>
              <a:rPr sz="2400" spc="-117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can overfit.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071298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1F5F"/>
                </a:solidFill>
                <a:latin typeface="HUFBDF+Calibri-Bold"/>
                <a:cs typeface="HUFBDF+Calibri-Bold"/>
              </a:rPr>
              <a:t>Ensembles</a:t>
            </a:r>
            <a:r>
              <a:rPr sz="3250" spc="-1271" dirty="0">
                <a:solidFill>
                  <a:srgbClr val="001F5F"/>
                </a:solidFill>
                <a:latin typeface="HUFBDF+Calibri-Bold"/>
                <a:cs typeface="HUFBDF+Calibri-Bold"/>
              </a:rPr>
              <a:t> </a:t>
            </a:r>
            <a:r>
              <a:rPr sz="3250" spc="-12" dirty="0">
                <a:solidFill>
                  <a:srgbClr val="001F5F"/>
                </a:solidFill>
                <a:latin typeface="HUFBDF+Calibri-Bold"/>
                <a:cs typeface="HUFBDF+Calibri-Bold"/>
              </a:rPr>
              <a:t>Recap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21344"/>
            <a:ext cx="7328589" cy="753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TKAHQR+Arial"/>
                <a:cs typeface="TKAHQR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Ensembles</a:t>
            </a:r>
            <a:r>
              <a:rPr sz="2400" spc="-55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combine</a:t>
            </a:r>
            <a:r>
              <a:rPr sz="2400" spc="-12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classifiers</a:t>
            </a:r>
            <a:r>
              <a:rPr sz="2400" spc="17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NKELNM+Calibri"/>
                <a:cs typeface="NKELNM+Calibri"/>
              </a:rPr>
              <a:t>to</a:t>
            </a:r>
            <a:r>
              <a:rPr sz="2400" spc="-29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improve performance</a:t>
            </a:r>
          </a:p>
          <a:p>
            <a:pPr marL="0" marR="0">
              <a:lnSpc>
                <a:spcPts val="2686"/>
              </a:lnSpc>
              <a:spcBef>
                <a:spcPts val="2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TKAHQR+Arial"/>
                <a:cs typeface="TKAHQR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Boosting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0550" y="1947968"/>
            <a:ext cx="7564063" cy="1122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KPBWGE+Wingdings"/>
                <a:cs typeface="KPBWGE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Reduces</a:t>
            </a:r>
            <a:r>
              <a:rPr sz="2400" spc="-58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NKELNM+Calibri"/>
                <a:cs typeface="NKELNM+Calibri"/>
              </a:rPr>
              <a:t>bias</a:t>
            </a:r>
          </a:p>
          <a:p>
            <a:pPr marL="0" marR="0">
              <a:lnSpc>
                <a:spcPts val="2669"/>
              </a:lnSpc>
              <a:spcBef>
                <a:spcPts val="3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KPBWGE+Wingdings"/>
                <a:cs typeface="KPBWGE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Increases</a:t>
            </a:r>
            <a:r>
              <a:rPr sz="2400" spc="24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variance</a:t>
            </a:r>
            <a:r>
              <a:rPr sz="2400" spc="-11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(large</a:t>
            </a:r>
            <a:r>
              <a:rPr sz="2400" spc="-22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ensemble</a:t>
            </a:r>
            <a:r>
              <a:rPr sz="2400" spc="-12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can</a:t>
            </a:r>
            <a:r>
              <a:rPr sz="2400" spc="-12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cause overfitting)</a:t>
            </a:r>
          </a:p>
          <a:p>
            <a:pPr marL="0" marR="0">
              <a:lnSpc>
                <a:spcPts val="2666"/>
              </a:lnSpc>
              <a:spcBef>
                <a:spcPts val="16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KPBWGE+Wingdings"/>
                <a:cs typeface="KPBWGE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Sequential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0550" y="3044867"/>
            <a:ext cx="6325226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KPBWGE+Wingdings"/>
                <a:cs typeface="KPBWGE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High dependency</a:t>
            </a:r>
            <a:r>
              <a:rPr sz="2400" spc="15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between ensemble</a:t>
            </a:r>
            <a:r>
              <a:rPr sz="2400" spc="-11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elements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3587125"/>
            <a:ext cx="1467631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TKAHQR+Arial"/>
                <a:cs typeface="TKAHQR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Bagging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0550" y="4116383"/>
            <a:ext cx="7623231" cy="11393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KPBWGE+Wingdings"/>
                <a:cs typeface="KPBWGE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UFRHOB+Calibri"/>
                <a:cs typeface="UFRHOB+Calibri"/>
              </a:rPr>
              <a:t>Reduces</a:t>
            </a:r>
            <a:r>
              <a:rPr sz="2400" spc="-58" dirty="0">
                <a:solidFill>
                  <a:srgbClr val="000000"/>
                </a:solidFill>
                <a:latin typeface="UFRHOB+Calibri"/>
                <a:cs typeface="UFRHOB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UFRHOB+Calibri"/>
                <a:cs typeface="UFRHOB+Calibri"/>
              </a:rPr>
              <a:t>variance</a:t>
            </a:r>
            <a:r>
              <a:rPr sz="2400" spc="-10" dirty="0">
                <a:solidFill>
                  <a:srgbClr val="000000"/>
                </a:solidFill>
                <a:latin typeface="UFRHOB+Calibri"/>
                <a:cs typeface="UFRHOB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UFRHOB+Calibri"/>
                <a:cs typeface="UFRHOB+Calibri"/>
              </a:rPr>
              <a:t>(large</a:t>
            </a:r>
            <a:r>
              <a:rPr sz="2400" spc="-21" dirty="0">
                <a:solidFill>
                  <a:srgbClr val="000000"/>
                </a:solidFill>
                <a:latin typeface="UFRHOB+Calibri"/>
                <a:cs typeface="UFRHOB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UFRHOB+Calibri"/>
                <a:cs typeface="UFRHOB+Calibri"/>
              </a:rPr>
              <a:t>ensemble</a:t>
            </a:r>
            <a:r>
              <a:rPr sz="2400" spc="-11" dirty="0">
                <a:solidFill>
                  <a:srgbClr val="000000"/>
                </a:solidFill>
                <a:latin typeface="UFRHOB+Calibri"/>
                <a:cs typeface="UFRHOB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UFRHOB+Calibri"/>
                <a:cs typeface="UFRHOB+Calibri"/>
              </a:rPr>
              <a:t>can’t cause overfitting)</a:t>
            </a:r>
          </a:p>
          <a:p>
            <a:pPr marL="0" marR="0">
              <a:lnSpc>
                <a:spcPts val="2669"/>
              </a:lnSpc>
              <a:spcBef>
                <a:spcPts val="44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KPBWGE+Wingdings"/>
                <a:cs typeface="KPBWGE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Bias</a:t>
            </a:r>
            <a:r>
              <a:rPr sz="2400" spc="19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NKELNM+Calibri"/>
                <a:cs typeface="NKELNM+Calibri"/>
              </a:rPr>
              <a:t>is</a:t>
            </a:r>
            <a:r>
              <a:rPr sz="2400" spc="44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NKELNM+Calibri"/>
                <a:cs typeface="NKELNM+Calibri"/>
              </a:rPr>
              <a:t>not</a:t>
            </a:r>
            <a:r>
              <a:rPr sz="2400" spc="25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changed</a:t>
            </a:r>
            <a:r>
              <a:rPr sz="2400" spc="-13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(much)</a:t>
            </a:r>
          </a:p>
          <a:p>
            <a:pPr marL="0" marR="0">
              <a:lnSpc>
                <a:spcPts val="2666"/>
              </a:lnSpc>
              <a:spcBef>
                <a:spcPts val="17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KPBWGE+Wingdings"/>
                <a:cs typeface="KPBWGE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Parallel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0550" y="5228982"/>
            <a:ext cx="7870174" cy="3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KPBWGE+Wingdings"/>
                <a:cs typeface="KPBWGE+Wingdings"/>
              </a:rPr>
              <a:t>➢</a:t>
            </a:r>
            <a:r>
              <a:rPr sz="2400" spc="10" dirty="0">
                <a:solidFill>
                  <a:srgbClr val="000000"/>
                </a:solidFill>
                <a:latin typeface="NKELNM+Calibri"/>
                <a:cs typeface="NKELNM+Calibri"/>
              </a:rPr>
              <a:t>Want</a:t>
            </a:r>
            <a:r>
              <a:rPr sz="2400" spc="-10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NKELNM+Calibri"/>
                <a:cs typeface="NKELNM+Calibri"/>
              </a:rPr>
              <a:t>to</a:t>
            </a:r>
            <a:r>
              <a:rPr sz="2400" spc="44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minimize</a:t>
            </a:r>
            <a:r>
              <a:rPr sz="2400" spc="-14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correlation between ensemble</a:t>
            </a:r>
            <a:r>
              <a:rPr sz="2400" spc="60" dirty="0">
                <a:solidFill>
                  <a:srgbClr val="000000"/>
                </a:solidFill>
                <a:latin typeface="NKELNM+Calibri"/>
                <a:cs typeface="NKELN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NKELNM+Calibri"/>
                <a:cs typeface="NKELNM+Calibri"/>
              </a:rPr>
              <a:t>elements.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3810</Words>
  <Application>Microsoft Office PowerPoint</Application>
  <PresentationFormat>宽屏</PresentationFormat>
  <Paragraphs>482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112" baseType="lpstr">
      <vt:lpstr>IDQSAH+Cambria Math</vt:lpstr>
      <vt:lpstr>IUGTFN+Cambria Math</vt:lpstr>
      <vt:lpstr>CPGAPM+Cambria Math</vt:lpstr>
      <vt:lpstr>TKAHQR+Arial</vt:lpstr>
      <vt:lpstr>FJVOMK+Helvetica</vt:lpstr>
      <vt:lpstr>NAWOLP+Cambria Math</vt:lpstr>
      <vt:lpstr>KEMFGQ+ArialMT</vt:lpstr>
      <vt:lpstr>RFPMOC+Wingdings</vt:lpstr>
      <vt:lpstr>JEBKFO+Arial</vt:lpstr>
      <vt:lpstr>Liberation Mono</vt:lpstr>
      <vt:lpstr>EHDBQP+Arial</vt:lpstr>
      <vt:lpstr>OHNVRH+Calibri</vt:lpstr>
      <vt:lpstr>Calibri</vt:lpstr>
      <vt:lpstr>LJADDH+Arial</vt:lpstr>
      <vt:lpstr>KPBWGE+Wingdings</vt:lpstr>
      <vt:lpstr>LGSGHP+Cambria Math</vt:lpstr>
      <vt:lpstr>JPKEDI+Cambria Math</vt:lpstr>
      <vt:lpstr>HUFBDF+Calibri-Bold</vt:lpstr>
      <vt:lpstr>JSPHJA+Cambria Math</vt:lpstr>
      <vt:lpstr>WPJABT+Cambria Math</vt:lpstr>
      <vt:lpstr>MUFSMI+Cambria Math</vt:lpstr>
      <vt:lpstr>IGJELP+Calibri</vt:lpstr>
      <vt:lpstr>LGNVHC+Wingdings</vt:lpstr>
      <vt:lpstr>VECTKV+Calibri-Bold</vt:lpstr>
      <vt:lpstr>BVNMMR+Calibri-Bold</vt:lpstr>
      <vt:lpstr>ALKDEI+TimesNewRomanPS-BoldMT</vt:lpstr>
      <vt:lpstr>QPRCPU+Calibri</vt:lpstr>
      <vt:lpstr>BCETJT+Arial</vt:lpstr>
      <vt:lpstr>SNHPAQ+PingFangSC-Semibold</vt:lpstr>
      <vt:lpstr>NKELNM+Calibri</vt:lpstr>
      <vt:lpstr>IAFUBI+Calibri</vt:lpstr>
      <vt:lpstr>NMUCRU+Calibri</vt:lpstr>
      <vt:lpstr>UNWVMN+Arial</vt:lpstr>
      <vt:lpstr>EHSILK+PingFangSC-Regular</vt:lpstr>
      <vt:lpstr>RPOLIE+Arial</vt:lpstr>
      <vt:lpstr>MHFKGB+Arial</vt:lpstr>
      <vt:lpstr>GBJMJG+Calibri</vt:lpstr>
      <vt:lpstr>MOUQGC+Calibri-Bold</vt:lpstr>
      <vt:lpstr>TFPMGG+Wingdings</vt:lpstr>
      <vt:lpstr>AGLFKJ+Calibri</vt:lpstr>
      <vt:lpstr>DQLOPQ+Calibri-Bold</vt:lpstr>
      <vt:lpstr>VUMMUU+Calibri</vt:lpstr>
      <vt:lpstr>BSBGHK+Cambria Math</vt:lpstr>
      <vt:lpstr>WRHJUD+Calibri</vt:lpstr>
      <vt:lpstr>GUKKPG+Calibri-Bold</vt:lpstr>
      <vt:lpstr>TCTGUI+Calibri-Bold</vt:lpstr>
      <vt:lpstr>QHBTRU+TimesNewRomanPS-BoldMT</vt:lpstr>
      <vt:lpstr>UFRHOB+Calibri</vt:lpstr>
      <vt:lpstr>OFOQBK+ArialMT</vt:lpstr>
      <vt:lpstr>AAIPRK+Wingdings</vt:lpstr>
      <vt:lpstr>JLDRBV+Cambria Math</vt:lpstr>
      <vt:lpstr>LFSRBR+Calibri</vt:lpstr>
      <vt:lpstr>UCNSES+Helvetica-Bold</vt:lpstr>
      <vt:lpstr>IJWACL+Calibri</vt:lpstr>
      <vt:lpstr>ANKHGI+Wingdings</vt:lpstr>
      <vt:lpstr>NFADIN+Calibri</vt:lpstr>
      <vt:lpstr>UHAVBR+Cambria Math</vt:lpstr>
      <vt:lpstr>TPUTWT+Calibri-Italic</vt:lpstr>
      <vt:lpstr>URFBMD+Calibri-Bold</vt:lpstr>
      <vt:lpstr>ISBJBE+Calibri-Bold</vt:lpstr>
      <vt:lpstr>SMDUGA+PingFangSC-Regular</vt:lpstr>
      <vt:lpstr>PAQCTE+TimesNewRomanPSMT</vt:lpstr>
      <vt:lpstr>JTLUDH+Cambria Math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bae</dc:creator>
  <cp:lastModifiedBy>Huang Junhao</cp:lastModifiedBy>
  <cp:revision>2</cp:revision>
  <cp:lastPrinted>2025-12-21T11:34:23Z</cp:lastPrinted>
  <dcterms:modified xsi:type="dcterms:W3CDTF">2025-12-21T11:34:28Z</dcterms:modified>
</cp:coreProperties>
</file>