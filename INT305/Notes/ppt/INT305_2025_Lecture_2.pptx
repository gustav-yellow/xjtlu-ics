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892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0206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0206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0206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0206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7199" y="1675281"/>
            <a:ext cx="8913495" cy="0"/>
          </a:xfrm>
          <a:custGeom>
            <a:avLst/>
            <a:gdLst/>
            <a:ahLst/>
            <a:cxnLst/>
            <a:rect l="l" t="t" r="r" b="b"/>
            <a:pathLst>
              <a:path w="8913495">
                <a:moveTo>
                  <a:pt x="0" y="0"/>
                </a:moveTo>
                <a:lnTo>
                  <a:pt x="8912899" y="0"/>
                </a:lnTo>
              </a:path>
            </a:pathLst>
          </a:custGeom>
          <a:ln w="15098">
            <a:solidFill>
              <a:srgbClr val="002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444" y="1168537"/>
            <a:ext cx="6115684" cy="4314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0206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8356" y="1717266"/>
            <a:ext cx="8763635" cy="3507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ichen.Liu@xjtlu.edu.c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2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jpg"/><Relationship Id="rId10" Type="http://schemas.openxmlformats.org/officeDocument/2006/relationships/image" Target="../media/image69.png"/><Relationship Id="rId4" Type="http://schemas.openxmlformats.org/officeDocument/2006/relationships/image" Target="../media/image63.jpg"/><Relationship Id="rId9" Type="http://schemas.openxmlformats.org/officeDocument/2006/relationships/image" Target="../media/image6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jpg"/><Relationship Id="rId4" Type="http://schemas.openxmlformats.org/officeDocument/2006/relationships/image" Target="../media/image7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26" Type="http://schemas.openxmlformats.org/officeDocument/2006/relationships/image" Target="../media/image105.png"/><Relationship Id="rId3" Type="http://schemas.openxmlformats.org/officeDocument/2006/relationships/image" Target="../media/image82.png"/><Relationship Id="rId21" Type="http://schemas.openxmlformats.org/officeDocument/2006/relationships/image" Target="../media/image100.png"/><Relationship Id="rId34" Type="http://schemas.openxmlformats.org/officeDocument/2006/relationships/image" Target="../media/image113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5" Type="http://schemas.openxmlformats.org/officeDocument/2006/relationships/image" Target="../media/image104.png"/><Relationship Id="rId33" Type="http://schemas.openxmlformats.org/officeDocument/2006/relationships/image" Target="../media/image112.png"/><Relationship Id="rId2" Type="http://schemas.openxmlformats.org/officeDocument/2006/relationships/image" Target="../media/image81.png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29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24" Type="http://schemas.openxmlformats.org/officeDocument/2006/relationships/image" Target="../media/image103.png"/><Relationship Id="rId32" Type="http://schemas.openxmlformats.org/officeDocument/2006/relationships/image" Target="../media/image111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28" Type="http://schemas.openxmlformats.org/officeDocument/2006/relationships/image" Target="../media/image107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31" Type="http://schemas.openxmlformats.org/officeDocument/2006/relationships/image" Target="../media/image110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Relationship Id="rId27" Type="http://schemas.openxmlformats.org/officeDocument/2006/relationships/image" Target="../media/image106.png"/><Relationship Id="rId30" Type="http://schemas.openxmlformats.org/officeDocument/2006/relationships/image" Target="../media/image109.png"/><Relationship Id="rId35" Type="http://schemas.openxmlformats.org/officeDocument/2006/relationships/image" Target="../media/image114.png"/><Relationship Id="rId8" Type="http://schemas.openxmlformats.org/officeDocument/2006/relationships/image" Target="../media/image8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" Type="http://schemas.openxmlformats.org/officeDocument/2006/relationships/image" Target="../media/image115.png"/><Relationship Id="rId16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image" Target="../media/image128.png"/><Relationship Id="rId10" Type="http://schemas.openxmlformats.org/officeDocument/2006/relationships/image" Target="../media/image123.png"/><Relationship Id="rId19" Type="http://schemas.openxmlformats.org/officeDocument/2006/relationships/image" Target="../media/image132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26" Type="http://schemas.openxmlformats.org/officeDocument/2006/relationships/image" Target="../media/image157.png"/><Relationship Id="rId3" Type="http://schemas.openxmlformats.org/officeDocument/2006/relationships/image" Target="../media/image134.jpg"/><Relationship Id="rId21" Type="http://schemas.openxmlformats.org/officeDocument/2006/relationships/image" Target="../media/image152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5" Type="http://schemas.openxmlformats.org/officeDocument/2006/relationships/image" Target="../media/image156.png"/><Relationship Id="rId2" Type="http://schemas.openxmlformats.org/officeDocument/2006/relationships/image" Target="../media/image133.png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29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24" Type="http://schemas.openxmlformats.org/officeDocument/2006/relationships/image" Target="../media/image155.png"/><Relationship Id="rId5" Type="http://schemas.openxmlformats.org/officeDocument/2006/relationships/image" Target="../media/image136.png"/><Relationship Id="rId15" Type="http://schemas.openxmlformats.org/officeDocument/2006/relationships/image" Target="../media/image146.png"/><Relationship Id="rId23" Type="http://schemas.openxmlformats.org/officeDocument/2006/relationships/image" Target="../media/image154.png"/><Relationship Id="rId28" Type="http://schemas.openxmlformats.org/officeDocument/2006/relationships/image" Target="../media/image159.png"/><Relationship Id="rId10" Type="http://schemas.openxmlformats.org/officeDocument/2006/relationships/image" Target="../media/image141.png"/><Relationship Id="rId19" Type="http://schemas.openxmlformats.org/officeDocument/2006/relationships/image" Target="../media/image150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Relationship Id="rId22" Type="http://schemas.openxmlformats.org/officeDocument/2006/relationships/image" Target="../media/image153.png"/><Relationship Id="rId27" Type="http://schemas.openxmlformats.org/officeDocument/2006/relationships/image" Target="../media/image1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2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12" Type="http://schemas.openxmlformats.org/officeDocument/2006/relationships/image" Target="../media/image171.png"/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image" Target="../media/image164.png"/><Relationship Id="rId10" Type="http://schemas.openxmlformats.org/officeDocument/2006/relationships/image" Target="../media/image169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12" Type="http://schemas.openxmlformats.org/officeDocument/2006/relationships/image" Target="../media/image192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11" Type="http://schemas.openxmlformats.org/officeDocument/2006/relationships/image" Target="../media/image191.png"/><Relationship Id="rId5" Type="http://schemas.openxmlformats.org/officeDocument/2006/relationships/image" Target="../media/image185.png"/><Relationship Id="rId10" Type="http://schemas.openxmlformats.org/officeDocument/2006/relationships/image" Target="../media/image190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13" Type="http://schemas.openxmlformats.org/officeDocument/2006/relationships/image" Target="../media/image204.png"/><Relationship Id="rId3" Type="http://schemas.openxmlformats.org/officeDocument/2006/relationships/image" Target="../media/image194.png"/><Relationship Id="rId7" Type="http://schemas.openxmlformats.org/officeDocument/2006/relationships/image" Target="../media/image198.png"/><Relationship Id="rId12" Type="http://schemas.openxmlformats.org/officeDocument/2006/relationships/image" Target="../media/image203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11" Type="http://schemas.openxmlformats.org/officeDocument/2006/relationships/image" Target="../media/image202.png"/><Relationship Id="rId5" Type="http://schemas.openxmlformats.org/officeDocument/2006/relationships/image" Target="../media/image196.png"/><Relationship Id="rId15" Type="http://schemas.openxmlformats.org/officeDocument/2006/relationships/image" Target="../media/image206.png"/><Relationship Id="rId10" Type="http://schemas.openxmlformats.org/officeDocument/2006/relationships/image" Target="../media/image201.png"/><Relationship Id="rId4" Type="http://schemas.openxmlformats.org/officeDocument/2006/relationships/image" Target="../media/image195.png"/><Relationship Id="rId9" Type="http://schemas.openxmlformats.org/officeDocument/2006/relationships/image" Target="../media/image200.png"/><Relationship Id="rId14" Type="http://schemas.openxmlformats.org/officeDocument/2006/relationships/image" Target="../media/image20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7" Type="http://schemas.openxmlformats.org/officeDocument/2006/relationships/image" Target="../media/image212.png"/><Relationship Id="rId2" Type="http://schemas.openxmlformats.org/officeDocument/2006/relationships/image" Target="../media/image20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4" Type="http://schemas.openxmlformats.org/officeDocument/2006/relationships/image" Target="../media/image20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3" Type="http://schemas.openxmlformats.org/officeDocument/2006/relationships/image" Target="../media/image213.png"/><Relationship Id="rId7" Type="http://schemas.openxmlformats.org/officeDocument/2006/relationships/image" Target="../media/image217.png"/><Relationship Id="rId2" Type="http://schemas.openxmlformats.org/officeDocument/2006/relationships/image" Target="../media/image20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6.png"/><Relationship Id="rId5" Type="http://schemas.openxmlformats.org/officeDocument/2006/relationships/image" Target="../media/image215.png"/><Relationship Id="rId4" Type="http://schemas.openxmlformats.org/officeDocument/2006/relationships/image" Target="../media/image2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jpg"/><Relationship Id="rId2" Type="http://schemas.openxmlformats.org/officeDocument/2006/relationships/image" Target="../media/image2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jp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29.png"/><Relationship Id="rId4" Type="http://schemas.openxmlformats.org/officeDocument/2006/relationships/image" Target="../media/image22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3" Type="http://schemas.openxmlformats.org/officeDocument/2006/relationships/image" Target="../media/image232.png"/><Relationship Id="rId7" Type="http://schemas.openxmlformats.org/officeDocument/2006/relationships/image" Target="../media/image236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5" Type="http://schemas.openxmlformats.org/officeDocument/2006/relationships/image" Target="../media/image234.png"/><Relationship Id="rId4" Type="http://schemas.openxmlformats.org/officeDocument/2006/relationships/image" Target="../media/image233.png"/><Relationship Id="rId9" Type="http://schemas.openxmlformats.org/officeDocument/2006/relationships/image" Target="../media/image23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13" Type="http://schemas.openxmlformats.org/officeDocument/2006/relationships/image" Target="../media/image250.png"/><Relationship Id="rId18" Type="http://schemas.openxmlformats.org/officeDocument/2006/relationships/image" Target="../media/image255.png"/><Relationship Id="rId3" Type="http://schemas.openxmlformats.org/officeDocument/2006/relationships/image" Target="../media/image240.png"/><Relationship Id="rId21" Type="http://schemas.openxmlformats.org/officeDocument/2006/relationships/image" Target="../media/image258.png"/><Relationship Id="rId7" Type="http://schemas.openxmlformats.org/officeDocument/2006/relationships/image" Target="../media/image244.png"/><Relationship Id="rId12" Type="http://schemas.openxmlformats.org/officeDocument/2006/relationships/image" Target="../media/image249.png"/><Relationship Id="rId17" Type="http://schemas.openxmlformats.org/officeDocument/2006/relationships/image" Target="../media/image254.png"/><Relationship Id="rId2" Type="http://schemas.openxmlformats.org/officeDocument/2006/relationships/image" Target="../media/image239.png"/><Relationship Id="rId16" Type="http://schemas.openxmlformats.org/officeDocument/2006/relationships/image" Target="../media/image253.png"/><Relationship Id="rId20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3.png"/><Relationship Id="rId11" Type="http://schemas.openxmlformats.org/officeDocument/2006/relationships/image" Target="../media/image248.png"/><Relationship Id="rId5" Type="http://schemas.openxmlformats.org/officeDocument/2006/relationships/image" Target="../media/image242.png"/><Relationship Id="rId15" Type="http://schemas.openxmlformats.org/officeDocument/2006/relationships/image" Target="../media/image252.png"/><Relationship Id="rId10" Type="http://schemas.openxmlformats.org/officeDocument/2006/relationships/image" Target="../media/image247.png"/><Relationship Id="rId19" Type="http://schemas.openxmlformats.org/officeDocument/2006/relationships/image" Target="../media/image256.png"/><Relationship Id="rId4" Type="http://schemas.openxmlformats.org/officeDocument/2006/relationships/image" Target="../media/image241.png"/><Relationship Id="rId9" Type="http://schemas.openxmlformats.org/officeDocument/2006/relationships/image" Target="../media/image246.png"/><Relationship Id="rId14" Type="http://schemas.openxmlformats.org/officeDocument/2006/relationships/image" Target="../media/image251.png"/><Relationship Id="rId22" Type="http://schemas.openxmlformats.org/officeDocument/2006/relationships/image" Target="../media/image25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2.png"/><Relationship Id="rId18" Type="http://schemas.openxmlformats.org/officeDocument/2006/relationships/image" Target="../media/image277.png"/><Relationship Id="rId26" Type="http://schemas.openxmlformats.org/officeDocument/2006/relationships/image" Target="../media/image285.png"/><Relationship Id="rId21" Type="http://schemas.openxmlformats.org/officeDocument/2006/relationships/image" Target="../media/image280.png"/><Relationship Id="rId34" Type="http://schemas.openxmlformats.org/officeDocument/2006/relationships/image" Target="../media/image293.png"/><Relationship Id="rId7" Type="http://schemas.openxmlformats.org/officeDocument/2006/relationships/image" Target="../media/image266.png"/><Relationship Id="rId12" Type="http://schemas.openxmlformats.org/officeDocument/2006/relationships/image" Target="../media/image271.png"/><Relationship Id="rId17" Type="http://schemas.openxmlformats.org/officeDocument/2006/relationships/image" Target="../media/image276.png"/><Relationship Id="rId25" Type="http://schemas.openxmlformats.org/officeDocument/2006/relationships/image" Target="../media/image284.png"/><Relationship Id="rId33" Type="http://schemas.openxmlformats.org/officeDocument/2006/relationships/image" Target="../media/image292.png"/><Relationship Id="rId38" Type="http://schemas.openxmlformats.org/officeDocument/2006/relationships/image" Target="../media/image297.png"/><Relationship Id="rId2" Type="http://schemas.openxmlformats.org/officeDocument/2006/relationships/image" Target="../media/image261.jpg"/><Relationship Id="rId16" Type="http://schemas.openxmlformats.org/officeDocument/2006/relationships/image" Target="../media/image275.png"/><Relationship Id="rId20" Type="http://schemas.openxmlformats.org/officeDocument/2006/relationships/image" Target="../media/image279.png"/><Relationship Id="rId29" Type="http://schemas.openxmlformats.org/officeDocument/2006/relationships/image" Target="../media/image2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5.png"/><Relationship Id="rId11" Type="http://schemas.openxmlformats.org/officeDocument/2006/relationships/image" Target="../media/image270.png"/><Relationship Id="rId24" Type="http://schemas.openxmlformats.org/officeDocument/2006/relationships/image" Target="../media/image283.png"/><Relationship Id="rId32" Type="http://schemas.openxmlformats.org/officeDocument/2006/relationships/image" Target="../media/image291.png"/><Relationship Id="rId37" Type="http://schemas.openxmlformats.org/officeDocument/2006/relationships/image" Target="../media/image296.png"/><Relationship Id="rId5" Type="http://schemas.openxmlformats.org/officeDocument/2006/relationships/image" Target="../media/image264.png"/><Relationship Id="rId15" Type="http://schemas.openxmlformats.org/officeDocument/2006/relationships/image" Target="../media/image274.png"/><Relationship Id="rId23" Type="http://schemas.openxmlformats.org/officeDocument/2006/relationships/image" Target="../media/image282.png"/><Relationship Id="rId28" Type="http://schemas.openxmlformats.org/officeDocument/2006/relationships/image" Target="../media/image287.png"/><Relationship Id="rId36" Type="http://schemas.openxmlformats.org/officeDocument/2006/relationships/image" Target="../media/image295.png"/><Relationship Id="rId10" Type="http://schemas.openxmlformats.org/officeDocument/2006/relationships/image" Target="../media/image269.png"/><Relationship Id="rId19" Type="http://schemas.openxmlformats.org/officeDocument/2006/relationships/image" Target="../media/image278.png"/><Relationship Id="rId31" Type="http://schemas.openxmlformats.org/officeDocument/2006/relationships/image" Target="../media/image290.png"/><Relationship Id="rId4" Type="http://schemas.openxmlformats.org/officeDocument/2006/relationships/image" Target="../media/image263.png"/><Relationship Id="rId9" Type="http://schemas.openxmlformats.org/officeDocument/2006/relationships/image" Target="../media/image268.png"/><Relationship Id="rId14" Type="http://schemas.openxmlformats.org/officeDocument/2006/relationships/image" Target="../media/image273.png"/><Relationship Id="rId22" Type="http://schemas.openxmlformats.org/officeDocument/2006/relationships/image" Target="../media/image281.png"/><Relationship Id="rId27" Type="http://schemas.openxmlformats.org/officeDocument/2006/relationships/image" Target="../media/image286.png"/><Relationship Id="rId30" Type="http://schemas.openxmlformats.org/officeDocument/2006/relationships/image" Target="../media/image289.png"/><Relationship Id="rId35" Type="http://schemas.openxmlformats.org/officeDocument/2006/relationships/image" Target="../media/image294.png"/><Relationship Id="rId8" Type="http://schemas.openxmlformats.org/officeDocument/2006/relationships/image" Target="../media/image267.png"/><Relationship Id="rId3" Type="http://schemas.openxmlformats.org/officeDocument/2006/relationships/image" Target="../media/image26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png"/><Relationship Id="rId13" Type="http://schemas.openxmlformats.org/officeDocument/2006/relationships/image" Target="../media/image309.png"/><Relationship Id="rId3" Type="http://schemas.openxmlformats.org/officeDocument/2006/relationships/image" Target="../media/image299.jpg"/><Relationship Id="rId7" Type="http://schemas.openxmlformats.org/officeDocument/2006/relationships/image" Target="../media/image303.png"/><Relationship Id="rId12" Type="http://schemas.openxmlformats.org/officeDocument/2006/relationships/image" Target="../media/image308.png"/><Relationship Id="rId2" Type="http://schemas.openxmlformats.org/officeDocument/2006/relationships/image" Target="../media/image2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2.png"/><Relationship Id="rId11" Type="http://schemas.openxmlformats.org/officeDocument/2006/relationships/image" Target="../media/image307.png"/><Relationship Id="rId5" Type="http://schemas.openxmlformats.org/officeDocument/2006/relationships/image" Target="../media/image301.png"/><Relationship Id="rId10" Type="http://schemas.openxmlformats.org/officeDocument/2006/relationships/image" Target="../media/image306.png"/><Relationship Id="rId4" Type="http://schemas.openxmlformats.org/officeDocument/2006/relationships/image" Target="../media/image300.png"/><Relationship Id="rId9" Type="http://schemas.openxmlformats.org/officeDocument/2006/relationships/image" Target="../media/image30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png"/><Relationship Id="rId3" Type="http://schemas.openxmlformats.org/officeDocument/2006/relationships/image" Target="../media/image311.png"/><Relationship Id="rId7" Type="http://schemas.openxmlformats.org/officeDocument/2006/relationships/image" Target="../media/image315.png"/><Relationship Id="rId12" Type="http://schemas.openxmlformats.org/officeDocument/2006/relationships/image" Target="../media/image3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4.png"/><Relationship Id="rId11" Type="http://schemas.openxmlformats.org/officeDocument/2006/relationships/image" Target="../media/image319.png"/><Relationship Id="rId5" Type="http://schemas.openxmlformats.org/officeDocument/2006/relationships/image" Target="../media/image313.png"/><Relationship Id="rId10" Type="http://schemas.openxmlformats.org/officeDocument/2006/relationships/image" Target="../media/image318.png"/><Relationship Id="rId4" Type="http://schemas.openxmlformats.org/officeDocument/2006/relationships/image" Target="../media/image312.png"/><Relationship Id="rId9" Type="http://schemas.openxmlformats.org/officeDocument/2006/relationships/image" Target="../media/image31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png"/><Relationship Id="rId13" Type="http://schemas.openxmlformats.org/officeDocument/2006/relationships/image" Target="../media/image332.png"/><Relationship Id="rId3" Type="http://schemas.openxmlformats.org/officeDocument/2006/relationships/image" Target="../media/image322.png"/><Relationship Id="rId7" Type="http://schemas.openxmlformats.org/officeDocument/2006/relationships/image" Target="../media/image326.png"/><Relationship Id="rId12" Type="http://schemas.openxmlformats.org/officeDocument/2006/relationships/image" Target="../media/image331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5.png"/><Relationship Id="rId11" Type="http://schemas.openxmlformats.org/officeDocument/2006/relationships/image" Target="../media/image330.png"/><Relationship Id="rId5" Type="http://schemas.openxmlformats.org/officeDocument/2006/relationships/image" Target="../media/image324.png"/><Relationship Id="rId10" Type="http://schemas.openxmlformats.org/officeDocument/2006/relationships/image" Target="../media/image329.png"/><Relationship Id="rId4" Type="http://schemas.openxmlformats.org/officeDocument/2006/relationships/image" Target="../media/image323.png"/><Relationship Id="rId9" Type="http://schemas.openxmlformats.org/officeDocument/2006/relationships/image" Target="../media/image328.png"/><Relationship Id="rId14" Type="http://schemas.openxmlformats.org/officeDocument/2006/relationships/image" Target="../media/image33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335.png"/><Relationship Id="rId7" Type="http://schemas.openxmlformats.org/officeDocument/2006/relationships/image" Target="../media/image339.png"/><Relationship Id="rId2" Type="http://schemas.openxmlformats.org/officeDocument/2006/relationships/image" Target="../media/image3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8.png"/><Relationship Id="rId5" Type="http://schemas.openxmlformats.org/officeDocument/2006/relationships/image" Target="../media/image337.png"/><Relationship Id="rId4" Type="http://schemas.openxmlformats.org/officeDocument/2006/relationships/image" Target="../media/image336.png"/><Relationship Id="rId9" Type="http://schemas.openxmlformats.org/officeDocument/2006/relationships/image" Target="../media/image34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png"/><Relationship Id="rId13" Type="http://schemas.openxmlformats.org/officeDocument/2006/relationships/image" Target="../media/image353.png"/><Relationship Id="rId18" Type="http://schemas.openxmlformats.org/officeDocument/2006/relationships/image" Target="../media/image358.png"/><Relationship Id="rId3" Type="http://schemas.openxmlformats.org/officeDocument/2006/relationships/image" Target="../media/image343.png"/><Relationship Id="rId21" Type="http://schemas.openxmlformats.org/officeDocument/2006/relationships/image" Target="../media/image361.png"/><Relationship Id="rId7" Type="http://schemas.openxmlformats.org/officeDocument/2006/relationships/image" Target="../media/image347.png"/><Relationship Id="rId12" Type="http://schemas.openxmlformats.org/officeDocument/2006/relationships/image" Target="../media/image352.png"/><Relationship Id="rId17" Type="http://schemas.openxmlformats.org/officeDocument/2006/relationships/image" Target="../media/image357.png"/><Relationship Id="rId2" Type="http://schemas.openxmlformats.org/officeDocument/2006/relationships/image" Target="../media/image342.png"/><Relationship Id="rId16" Type="http://schemas.openxmlformats.org/officeDocument/2006/relationships/image" Target="../media/image356.png"/><Relationship Id="rId20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6.png"/><Relationship Id="rId11" Type="http://schemas.openxmlformats.org/officeDocument/2006/relationships/image" Target="../media/image351.png"/><Relationship Id="rId24" Type="http://schemas.openxmlformats.org/officeDocument/2006/relationships/image" Target="../media/image364.png"/><Relationship Id="rId5" Type="http://schemas.openxmlformats.org/officeDocument/2006/relationships/image" Target="../media/image345.png"/><Relationship Id="rId15" Type="http://schemas.openxmlformats.org/officeDocument/2006/relationships/image" Target="../media/image355.png"/><Relationship Id="rId23" Type="http://schemas.openxmlformats.org/officeDocument/2006/relationships/image" Target="../media/image363.png"/><Relationship Id="rId10" Type="http://schemas.openxmlformats.org/officeDocument/2006/relationships/image" Target="../media/image350.png"/><Relationship Id="rId19" Type="http://schemas.openxmlformats.org/officeDocument/2006/relationships/image" Target="../media/image359.png"/><Relationship Id="rId4" Type="http://schemas.openxmlformats.org/officeDocument/2006/relationships/image" Target="../media/image344.png"/><Relationship Id="rId9" Type="http://schemas.openxmlformats.org/officeDocument/2006/relationships/image" Target="../media/image349.png"/><Relationship Id="rId14" Type="http://schemas.openxmlformats.org/officeDocument/2006/relationships/image" Target="../media/image354.png"/><Relationship Id="rId22" Type="http://schemas.openxmlformats.org/officeDocument/2006/relationships/image" Target="../media/image36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png"/><Relationship Id="rId13" Type="http://schemas.openxmlformats.org/officeDocument/2006/relationships/image" Target="../media/image376.png"/><Relationship Id="rId3" Type="http://schemas.openxmlformats.org/officeDocument/2006/relationships/image" Target="../media/image366.png"/><Relationship Id="rId7" Type="http://schemas.openxmlformats.org/officeDocument/2006/relationships/image" Target="../media/image370.png"/><Relationship Id="rId12" Type="http://schemas.openxmlformats.org/officeDocument/2006/relationships/image" Target="../media/image375.png"/><Relationship Id="rId17" Type="http://schemas.openxmlformats.org/officeDocument/2006/relationships/image" Target="../media/image380.png"/><Relationship Id="rId2" Type="http://schemas.openxmlformats.org/officeDocument/2006/relationships/image" Target="../media/image365.jpg"/><Relationship Id="rId16" Type="http://schemas.openxmlformats.org/officeDocument/2006/relationships/image" Target="../media/image3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9.png"/><Relationship Id="rId11" Type="http://schemas.openxmlformats.org/officeDocument/2006/relationships/image" Target="../media/image374.png"/><Relationship Id="rId5" Type="http://schemas.openxmlformats.org/officeDocument/2006/relationships/image" Target="../media/image368.png"/><Relationship Id="rId15" Type="http://schemas.openxmlformats.org/officeDocument/2006/relationships/image" Target="../media/image378.png"/><Relationship Id="rId10" Type="http://schemas.openxmlformats.org/officeDocument/2006/relationships/image" Target="../media/image373.png"/><Relationship Id="rId4" Type="http://schemas.openxmlformats.org/officeDocument/2006/relationships/image" Target="../media/image367.png"/><Relationship Id="rId9" Type="http://schemas.openxmlformats.org/officeDocument/2006/relationships/image" Target="../media/image372.png"/><Relationship Id="rId14" Type="http://schemas.openxmlformats.org/officeDocument/2006/relationships/image" Target="../media/image37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7.png"/><Relationship Id="rId13" Type="http://schemas.openxmlformats.org/officeDocument/2006/relationships/image" Target="../media/image392.png"/><Relationship Id="rId3" Type="http://schemas.openxmlformats.org/officeDocument/2006/relationships/image" Target="../media/image382.png"/><Relationship Id="rId7" Type="http://schemas.openxmlformats.org/officeDocument/2006/relationships/image" Target="../media/image386.png"/><Relationship Id="rId12" Type="http://schemas.openxmlformats.org/officeDocument/2006/relationships/image" Target="../media/image391.png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5.png"/><Relationship Id="rId11" Type="http://schemas.openxmlformats.org/officeDocument/2006/relationships/image" Target="../media/image390.png"/><Relationship Id="rId5" Type="http://schemas.openxmlformats.org/officeDocument/2006/relationships/image" Target="../media/image384.png"/><Relationship Id="rId10" Type="http://schemas.openxmlformats.org/officeDocument/2006/relationships/image" Target="../media/image389.png"/><Relationship Id="rId4" Type="http://schemas.openxmlformats.org/officeDocument/2006/relationships/image" Target="../media/image383.jpg"/><Relationship Id="rId9" Type="http://schemas.openxmlformats.org/officeDocument/2006/relationships/image" Target="../media/image388.png"/><Relationship Id="rId14" Type="http://schemas.openxmlformats.org/officeDocument/2006/relationships/image" Target="../media/image39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png"/><Relationship Id="rId13" Type="http://schemas.openxmlformats.org/officeDocument/2006/relationships/image" Target="../media/image404.png"/><Relationship Id="rId18" Type="http://schemas.openxmlformats.org/officeDocument/2006/relationships/image" Target="../media/image409.png"/><Relationship Id="rId3" Type="http://schemas.openxmlformats.org/officeDocument/2006/relationships/image" Target="../media/image42.png"/><Relationship Id="rId7" Type="http://schemas.openxmlformats.org/officeDocument/2006/relationships/image" Target="../media/image398.png"/><Relationship Id="rId12" Type="http://schemas.openxmlformats.org/officeDocument/2006/relationships/image" Target="../media/image403.png"/><Relationship Id="rId17" Type="http://schemas.openxmlformats.org/officeDocument/2006/relationships/image" Target="../media/image408.png"/><Relationship Id="rId2" Type="http://schemas.openxmlformats.org/officeDocument/2006/relationships/image" Target="../media/image394.png"/><Relationship Id="rId16" Type="http://schemas.openxmlformats.org/officeDocument/2006/relationships/image" Target="../media/image4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7.png"/><Relationship Id="rId11" Type="http://schemas.openxmlformats.org/officeDocument/2006/relationships/image" Target="../media/image402.png"/><Relationship Id="rId5" Type="http://schemas.openxmlformats.org/officeDocument/2006/relationships/image" Target="../media/image396.png"/><Relationship Id="rId15" Type="http://schemas.openxmlformats.org/officeDocument/2006/relationships/image" Target="../media/image406.png"/><Relationship Id="rId10" Type="http://schemas.openxmlformats.org/officeDocument/2006/relationships/image" Target="../media/image401.png"/><Relationship Id="rId19" Type="http://schemas.openxmlformats.org/officeDocument/2006/relationships/image" Target="../media/image410.png"/><Relationship Id="rId4" Type="http://schemas.openxmlformats.org/officeDocument/2006/relationships/image" Target="../media/image395.png"/><Relationship Id="rId9" Type="http://schemas.openxmlformats.org/officeDocument/2006/relationships/image" Target="../media/image400.png"/><Relationship Id="rId14" Type="http://schemas.openxmlformats.org/officeDocument/2006/relationships/image" Target="../media/image40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2.png"/><Relationship Id="rId7" Type="http://schemas.openxmlformats.org/officeDocument/2006/relationships/image" Target="../media/image416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5.png"/><Relationship Id="rId5" Type="http://schemas.openxmlformats.org/officeDocument/2006/relationships/image" Target="../media/image414.png"/><Relationship Id="rId4" Type="http://schemas.openxmlformats.org/officeDocument/2006/relationships/image" Target="../media/image4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8.png"/><Relationship Id="rId7" Type="http://schemas.openxmlformats.org/officeDocument/2006/relationships/image" Target="../media/image422.png"/><Relationship Id="rId2" Type="http://schemas.openxmlformats.org/officeDocument/2006/relationships/image" Target="../media/image4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1.png"/><Relationship Id="rId5" Type="http://schemas.openxmlformats.org/officeDocument/2006/relationships/image" Target="../media/image420.png"/><Relationship Id="rId4" Type="http://schemas.openxmlformats.org/officeDocument/2006/relationships/image" Target="../media/image41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png"/><Relationship Id="rId3" Type="http://schemas.openxmlformats.org/officeDocument/2006/relationships/image" Target="../media/image424.png"/><Relationship Id="rId7" Type="http://schemas.openxmlformats.org/officeDocument/2006/relationships/image" Target="../media/image428.png"/><Relationship Id="rId2" Type="http://schemas.openxmlformats.org/officeDocument/2006/relationships/image" Target="../media/image4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7.png"/><Relationship Id="rId5" Type="http://schemas.openxmlformats.org/officeDocument/2006/relationships/image" Target="../media/image426.png"/><Relationship Id="rId4" Type="http://schemas.openxmlformats.org/officeDocument/2006/relationships/image" Target="../media/image425.png"/><Relationship Id="rId9" Type="http://schemas.openxmlformats.org/officeDocument/2006/relationships/image" Target="../media/image43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7.png"/><Relationship Id="rId13" Type="http://schemas.openxmlformats.org/officeDocument/2006/relationships/image" Target="../media/image442.png"/><Relationship Id="rId18" Type="http://schemas.openxmlformats.org/officeDocument/2006/relationships/image" Target="../media/image447.png"/><Relationship Id="rId3" Type="http://schemas.openxmlformats.org/officeDocument/2006/relationships/image" Target="../media/image432.png"/><Relationship Id="rId7" Type="http://schemas.openxmlformats.org/officeDocument/2006/relationships/image" Target="../media/image436.png"/><Relationship Id="rId12" Type="http://schemas.openxmlformats.org/officeDocument/2006/relationships/image" Target="../media/image441.png"/><Relationship Id="rId17" Type="http://schemas.openxmlformats.org/officeDocument/2006/relationships/image" Target="../media/image446.png"/><Relationship Id="rId2" Type="http://schemas.openxmlformats.org/officeDocument/2006/relationships/image" Target="../media/image431.jpg"/><Relationship Id="rId16" Type="http://schemas.openxmlformats.org/officeDocument/2006/relationships/image" Target="../media/image4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5.png"/><Relationship Id="rId11" Type="http://schemas.openxmlformats.org/officeDocument/2006/relationships/image" Target="../media/image440.png"/><Relationship Id="rId5" Type="http://schemas.openxmlformats.org/officeDocument/2006/relationships/image" Target="../media/image434.png"/><Relationship Id="rId15" Type="http://schemas.openxmlformats.org/officeDocument/2006/relationships/image" Target="../media/image444.png"/><Relationship Id="rId10" Type="http://schemas.openxmlformats.org/officeDocument/2006/relationships/image" Target="../media/image439.png"/><Relationship Id="rId4" Type="http://schemas.openxmlformats.org/officeDocument/2006/relationships/image" Target="../media/image433.png"/><Relationship Id="rId9" Type="http://schemas.openxmlformats.org/officeDocument/2006/relationships/image" Target="../media/image438.png"/><Relationship Id="rId14" Type="http://schemas.openxmlformats.org/officeDocument/2006/relationships/image" Target="../media/image44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4.png"/><Relationship Id="rId3" Type="http://schemas.openxmlformats.org/officeDocument/2006/relationships/image" Target="../media/image449.png"/><Relationship Id="rId7" Type="http://schemas.openxmlformats.org/officeDocument/2006/relationships/image" Target="../media/image453.png"/><Relationship Id="rId2" Type="http://schemas.openxmlformats.org/officeDocument/2006/relationships/image" Target="../media/image4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2.png"/><Relationship Id="rId5" Type="http://schemas.openxmlformats.org/officeDocument/2006/relationships/image" Target="../media/image451.png"/><Relationship Id="rId10" Type="http://schemas.openxmlformats.org/officeDocument/2006/relationships/image" Target="../media/image456.png"/><Relationship Id="rId4" Type="http://schemas.openxmlformats.org/officeDocument/2006/relationships/image" Target="../media/image450.png"/><Relationship Id="rId9" Type="http://schemas.openxmlformats.org/officeDocument/2006/relationships/image" Target="../media/image4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9244" y="1496060"/>
            <a:ext cx="4017263" cy="8625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41628" y="2595447"/>
            <a:ext cx="6009640" cy="1360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8730" marR="1262380" algn="ctr">
              <a:lnSpc>
                <a:spcPct val="116799"/>
              </a:lnSpc>
              <a:spcBef>
                <a:spcPts val="100"/>
              </a:spcBef>
              <a:tabLst>
                <a:tab pos="2361565" algn="l"/>
              </a:tabLst>
            </a:pPr>
            <a:r>
              <a:rPr b="1" spc="-10" dirty="0">
                <a:solidFill>
                  <a:srgbClr val="0F243E"/>
                </a:solidFill>
                <a:latin typeface="Calibri"/>
                <a:cs typeface="Calibri"/>
              </a:rPr>
              <a:t>INT305</a:t>
            </a:r>
            <a:r>
              <a:rPr b="1" dirty="0">
                <a:solidFill>
                  <a:srgbClr val="0F243E"/>
                </a:solidFill>
                <a:latin typeface="Calibri"/>
                <a:cs typeface="Calibri"/>
              </a:rPr>
              <a:t>	Machine</a:t>
            </a:r>
            <a:r>
              <a:rPr b="1" spc="3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F243E"/>
                </a:solidFill>
                <a:latin typeface="Calibri"/>
                <a:cs typeface="Calibri"/>
              </a:rPr>
              <a:t>Learning </a:t>
            </a:r>
            <a:r>
              <a:rPr b="1" dirty="0">
                <a:solidFill>
                  <a:srgbClr val="0F243E"/>
                </a:solidFill>
                <a:latin typeface="Calibri"/>
                <a:cs typeface="Calibri"/>
              </a:rPr>
              <a:t>Lecture</a:t>
            </a:r>
            <a:r>
              <a:rPr b="1" spc="4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b="1" spc="-50" dirty="0">
                <a:solidFill>
                  <a:srgbClr val="0F243E"/>
                </a:solidFill>
                <a:latin typeface="Calibri"/>
                <a:cs typeface="Calibri"/>
              </a:rPr>
              <a:t>2</a:t>
            </a: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b="1" dirty="0">
                <a:solidFill>
                  <a:srgbClr val="0F243E"/>
                </a:solidFill>
                <a:latin typeface="Calibri"/>
                <a:cs typeface="Calibri"/>
              </a:rPr>
              <a:t>Linear</a:t>
            </a:r>
            <a:r>
              <a:rPr b="1" spc="3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F243E"/>
                </a:solidFill>
                <a:latin typeface="Calibri"/>
                <a:cs typeface="Calibri"/>
              </a:rPr>
              <a:t>Methods</a:t>
            </a:r>
            <a:r>
              <a:rPr b="1" spc="3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F243E"/>
                </a:solidFill>
                <a:latin typeface="Calibri"/>
                <a:cs typeface="Calibri"/>
              </a:rPr>
              <a:t>for</a:t>
            </a:r>
            <a:r>
              <a:rPr b="1" spc="4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F243E"/>
                </a:solidFill>
                <a:latin typeface="Calibri"/>
                <a:cs typeface="Calibri"/>
              </a:rPr>
              <a:t>Regression,</a:t>
            </a:r>
            <a:r>
              <a:rPr b="1" spc="3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F243E"/>
                </a:solidFill>
                <a:latin typeface="Calibri"/>
                <a:cs typeface="Calibri"/>
              </a:rPr>
              <a:t>Optimization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0865" y="4407979"/>
            <a:ext cx="3622675" cy="117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3175">
              <a:lnSpc>
                <a:spcPct val="120000"/>
              </a:lnSpc>
              <a:spcBef>
                <a:spcPts val="100"/>
              </a:spcBef>
            </a:pPr>
            <a:r>
              <a:rPr sz="2100" b="1" dirty="0">
                <a:solidFill>
                  <a:srgbClr val="0F243E"/>
                </a:solidFill>
                <a:latin typeface="Calibri"/>
                <a:cs typeface="Calibri"/>
              </a:rPr>
              <a:t>Sichen</a:t>
            </a:r>
            <a:r>
              <a:rPr sz="2100" b="1" spc="-1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100" b="1" spc="-25" dirty="0">
                <a:solidFill>
                  <a:srgbClr val="0F243E"/>
                </a:solidFill>
                <a:latin typeface="Calibri"/>
                <a:cs typeface="Calibri"/>
              </a:rPr>
              <a:t>Liu </a:t>
            </a:r>
            <a:r>
              <a:rPr sz="2100" b="1" dirty="0">
                <a:solidFill>
                  <a:srgbClr val="0F243E"/>
                </a:solidFill>
                <a:latin typeface="Calibri"/>
                <a:cs typeface="Calibri"/>
              </a:rPr>
              <a:t>Department</a:t>
            </a:r>
            <a:r>
              <a:rPr sz="2100" b="1" spc="-8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F243E"/>
                </a:solidFill>
                <a:latin typeface="Calibri"/>
                <a:cs typeface="Calibri"/>
              </a:rPr>
              <a:t>Intelligence</a:t>
            </a:r>
            <a:r>
              <a:rPr sz="2100" b="1" spc="-8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0F243E"/>
                </a:solidFill>
                <a:latin typeface="Calibri"/>
                <a:cs typeface="Calibri"/>
              </a:rPr>
              <a:t>Science</a:t>
            </a:r>
            <a:endParaRPr sz="2100">
              <a:latin typeface="Calibri"/>
              <a:cs typeface="Calibri"/>
            </a:endParaRPr>
          </a:p>
          <a:p>
            <a:pPr marL="503555">
              <a:lnSpc>
                <a:spcPct val="100000"/>
              </a:lnSpc>
              <a:spcBef>
                <a:spcPts val="480"/>
              </a:spcBef>
            </a:pPr>
            <a:r>
              <a:rPr sz="2100" b="1" spc="-10" dirty="0">
                <a:solidFill>
                  <a:srgbClr val="0F243E"/>
                </a:solidFill>
                <a:latin typeface="Calibri"/>
                <a:cs typeface="Calibri"/>
                <a:hlinkClick r:id="rId3"/>
              </a:rPr>
              <a:t>Sichen.Liu@xjtlu.edu.cn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22573" y="3938954"/>
            <a:ext cx="1803614" cy="3270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01503" y="3974168"/>
            <a:ext cx="205978" cy="2483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096" y="1854765"/>
            <a:ext cx="8433435" cy="413766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Second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learning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algorithm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course: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linear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regression</a:t>
            </a:r>
            <a:r>
              <a:rPr sz="1900" spc="-10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marL="629920" lvl="1" indent="-270510">
              <a:lnSpc>
                <a:spcPct val="100000"/>
              </a:lnSpc>
              <a:spcBef>
                <a:spcPts val="455"/>
              </a:spcBef>
              <a:buClr>
                <a:srgbClr val="000000"/>
              </a:buClr>
              <a:buFont typeface="Wingdings"/>
              <a:buChar char=""/>
              <a:tabLst>
                <a:tab pos="629920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Task</a:t>
            </a:r>
            <a:r>
              <a:rPr sz="1900" dirty="0">
                <a:latin typeface="Calibri"/>
                <a:cs typeface="Calibri"/>
              </a:rPr>
              <a:t>: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predict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scalar-</a:t>
            </a:r>
            <a:r>
              <a:rPr sz="1900" dirty="0">
                <a:latin typeface="Calibri"/>
                <a:cs typeface="Calibri"/>
              </a:rPr>
              <a:t>valued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targets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(e.g.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stock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prices)</a:t>
            </a:r>
            <a:endParaRPr sz="1900">
              <a:latin typeface="Calibri"/>
              <a:cs typeface="Calibri"/>
            </a:endParaRPr>
          </a:p>
          <a:p>
            <a:pPr marL="629920" lvl="1" indent="-270510">
              <a:lnSpc>
                <a:spcPct val="100000"/>
              </a:lnSpc>
              <a:spcBef>
                <a:spcPts val="25"/>
              </a:spcBef>
              <a:buClr>
                <a:srgbClr val="000000"/>
              </a:buClr>
              <a:buFont typeface="Wingdings"/>
              <a:buChar char=""/>
              <a:tabLst>
                <a:tab pos="629920" algn="l"/>
              </a:tabLst>
            </a:pP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Architecture</a:t>
            </a:r>
            <a:r>
              <a:rPr sz="1900" spc="-10" dirty="0">
                <a:latin typeface="Calibri"/>
                <a:cs typeface="Calibri"/>
              </a:rPr>
              <a:t>: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inputs</a:t>
            </a:r>
            <a:endParaRPr sz="1900">
              <a:latin typeface="Calibri"/>
              <a:cs typeface="Calibri"/>
            </a:endParaRPr>
          </a:p>
          <a:p>
            <a:pPr marL="283845" marR="514984" indent="-271780">
              <a:lnSpc>
                <a:spcPct val="101099"/>
              </a:lnSpc>
              <a:spcBef>
                <a:spcPts val="175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While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KNN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was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complete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algorithm,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regression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exemplifies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modular </a:t>
            </a:r>
            <a:r>
              <a:rPr sz="1900" dirty="0">
                <a:latin typeface="Calibri"/>
                <a:cs typeface="Calibri"/>
              </a:rPr>
              <a:t>approach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will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through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course:</a:t>
            </a:r>
            <a:endParaRPr sz="1900">
              <a:latin typeface="Calibri"/>
              <a:cs typeface="Calibri"/>
            </a:endParaRPr>
          </a:p>
          <a:p>
            <a:pPr marL="629920" lvl="1" indent="-270510">
              <a:lnSpc>
                <a:spcPct val="100000"/>
              </a:lnSpc>
              <a:spcBef>
                <a:spcPts val="170"/>
              </a:spcBef>
              <a:buFont typeface="Wingdings"/>
              <a:buChar char=""/>
              <a:tabLst>
                <a:tab pos="629920" algn="l"/>
              </a:tabLst>
            </a:pPr>
            <a:r>
              <a:rPr sz="1900" dirty="0">
                <a:latin typeface="Calibri"/>
                <a:cs typeface="Calibri"/>
              </a:rPr>
              <a:t>choose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describing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relationships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between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variables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interest</a:t>
            </a:r>
            <a:endParaRPr sz="1900">
              <a:latin typeface="Calibri"/>
              <a:cs typeface="Calibri"/>
            </a:endParaRPr>
          </a:p>
          <a:p>
            <a:pPr marL="629920" lvl="1" indent="-270510">
              <a:lnSpc>
                <a:spcPts val="2230"/>
              </a:lnSpc>
              <a:spcBef>
                <a:spcPts val="20"/>
              </a:spcBef>
              <a:buFont typeface="Wingdings"/>
              <a:buChar char=""/>
              <a:tabLst>
                <a:tab pos="629920" algn="l"/>
              </a:tabLst>
            </a:pPr>
            <a:r>
              <a:rPr sz="1900" dirty="0">
                <a:latin typeface="Calibri"/>
                <a:cs typeface="Calibri"/>
              </a:rPr>
              <a:t>define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19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19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quantifying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how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bad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is</a:t>
            </a:r>
            <a:endParaRPr sz="1900">
              <a:latin typeface="Calibri"/>
              <a:cs typeface="Calibri"/>
            </a:endParaRPr>
          </a:p>
          <a:p>
            <a:pPr marL="629285" marR="5080" lvl="1" indent="-270510">
              <a:lnSpc>
                <a:spcPts val="2300"/>
              </a:lnSpc>
              <a:spcBef>
                <a:spcPts val="15"/>
              </a:spcBef>
              <a:buFont typeface="Wingdings"/>
              <a:buChar char=""/>
              <a:tabLst>
                <a:tab pos="630555" algn="l"/>
              </a:tabLst>
            </a:pPr>
            <a:r>
              <a:rPr sz="1900" dirty="0">
                <a:latin typeface="Calibri"/>
                <a:cs typeface="Calibri"/>
              </a:rPr>
              <a:t>choose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regularizer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saying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how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much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prefer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different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candidate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(or 	</a:t>
            </a:r>
            <a:r>
              <a:rPr sz="1900" spc="-10" dirty="0">
                <a:latin typeface="Calibri"/>
                <a:cs typeface="Calibri"/>
              </a:rPr>
              <a:t>explanations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 </a:t>
            </a:r>
            <a:r>
              <a:rPr sz="1900" spc="-20" dirty="0">
                <a:latin typeface="Calibri"/>
                <a:cs typeface="Calibri"/>
              </a:rPr>
              <a:t>data)</a:t>
            </a:r>
            <a:endParaRPr sz="1900">
              <a:latin typeface="Calibri"/>
              <a:cs typeface="Calibri"/>
            </a:endParaRPr>
          </a:p>
          <a:p>
            <a:pPr marL="629285" marR="40005" lvl="1" indent="-270510">
              <a:lnSpc>
                <a:spcPts val="2300"/>
              </a:lnSpc>
              <a:spcBef>
                <a:spcPts val="5"/>
              </a:spcBef>
              <a:buFont typeface="Wingdings"/>
              <a:buChar char=""/>
              <a:tabLst>
                <a:tab pos="630555" algn="l"/>
              </a:tabLst>
            </a:pPr>
            <a:r>
              <a:rPr sz="1900" dirty="0">
                <a:latin typeface="Calibri"/>
                <a:cs typeface="Calibri"/>
              </a:rPr>
              <a:t>fit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minimizes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loss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satisfies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constraint/penalty 	</a:t>
            </a:r>
            <a:r>
              <a:rPr sz="1900" dirty="0">
                <a:latin typeface="Calibri"/>
                <a:cs typeface="Calibri"/>
              </a:rPr>
              <a:t>imposed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regularizer,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possibly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optimization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algorithm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204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Mixing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matching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these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modular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components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give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new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methods.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3767" y="2611794"/>
            <a:ext cx="558792" cy="324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9580" y="3385251"/>
            <a:ext cx="421687" cy="4545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551090" y="1824881"/>
            <a:ext cx="4051300" cy="1212215"/>
            <a:chOff x="6551090" y="1824881"/>
            <a:chExt cx="4051300" cy="121221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03488" y="1932988"/>
              <a:ext cx="692837" cy="3057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61822" y="1981802"/>
              <a:ext cx="244496" cy="2517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1090" y="1824881"/>
              <a:ext cx="4051023" cy="121184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49464" y="3157333"/>
            <a:ext cx="1943935" cy="5840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33875" y="3936972"/>
            <a:ext cx="5675850" cy="88926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86072" y="4556588"/>
            <a:ext cx="1347536" cy="28534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95798" y="5402843"/>
            <a:ext cx="1105962" cy="30636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07270" y="5358413"/>
            <a:ext cx="5886172" cy="3578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804750" y="5430058"/>
            <a:ext cx="1814749" cy="4538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75" dirty="0"/>
              <a:t> </a:t>
            </a:r>
            <a:r>
              <a:rPr dirty="0"/>
              <a:t>Learning</a:t>
            </a:r>
            <a:r>
              <a:rPr spc="75" dirty="0"/>
              <a:t> </a:t>
            </a:r>
            <a:r>
              <a:rPr spc="-10" dirty="0"/>
              <a:t>Setup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984" y="1764189"/>
            <a:ext cx="3216764" cy="242378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401111" y="5207933"/>
            <a:ext cx="285115" cy="224154"/>
          </a:xfrm>
          <a:custGeom>
            <a:avLst/>
            <a:gdLst/>
            <a:ahLst/>
            <a:cxnLst/>
            <a:rect l="l" t="t" r="r" b="b"/>
            <a:pathLst>
              <a:path w="285115" h="224154">
                <a:moveTo>
                  <a:pt x="213523" y="0"/>
                </a:moveTo>
                <a:lnTo>
                  <a:pt x="210342" y="9081"/>
                </a:lnTo>
                <a:lnTo>
                  <a:pt x="223280" y="14703"/>
                </a:lnTo>
                <a:lnTo>
                  <a:pt x="234407" y="22485"/>
                </a:lnTo>
                <a:lnTo>
                  <a:pt x="256999" y="58555"/>
                </a:lnTo>
                <a:lnTo>
                  <a:pt x="264422" y="110764"/>
                </a:lnTo>
                <a:lnTo>
                  <a:pt x="263594" y="130500"/>
                </a:lnTo>
                <a:lnTo>
                  <a:pt x="251167" y="178827"/>
                </a:lnTo>
                <a:lnTo>
                  <a:pt x="223431" y="209039"/>
                </a:lnTo>
                <a:lnTo>
                  <a:pt x="210695" y="214687"/>
                </a:lnTo>
                <a:lnTo>
                  <a:pt x="213523" y="223770"/>
                </a:lnTo>
                <a:lnTo>
                  <a:pt x="256226" y="198367"/>
                </a:lnTo>
                <a:lnTo>
                  <a:pt x="280211" y="151474"/>
                </a:lnTo>
                <a:lnTo>
                  <a:pt x="284806" y="111944"/>
                </a:lnTo>
                <a:lnTo>
                  <a:pt x="283667" y="91672"/>
                </a:lnTo>
                <a:lnTo>
                  <a:pt x="266367" y="39221"/>
                </a:lnTo>
                <a:lnTo>
                  <a:pt x="229728" y="5857"/>
                </a:lnTo>
                <a:lnTo>
                  <a:pt x="213523" y="0"/>
                </a:lnTo>
                <a:close/>
              </a:path>
              <a:path w="285115" h="224154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4594" y="151474"/>
                </a:lnTo>
                <a:lnTo>
                  <a:pt x="28578" y="198367"/>
                </a:lnTo>
                <a:lnTo>
                  <a:pt x="71282" y="223770"/>
                </a:lnTo>
                <a:lnTo>
                  <a:pt x="74109" y="214687"/>
                </a:lnTo>
                <a:lnTo>
                  <a:pt x="61373" y="209039"/>
                </a:lnTo>
                <a:lnTo>
                  <a:pt x="50382" y="201180"/>
                </a:lnTo>
                <a:lnTo>
                  <a:pt x="27838" y="164531"/>
                </a:lnTo>
                <a:lnTo>
                  <a:pt x="20431" y="111944"/>
                </a:lnTo>
                <a:lnTo>
                  <a:pt x="20382" y="110764"/>
                </a:lnTo>
                <a:lnTo>
                  <a:pt x="21210" y="91672"/>
                </a:lnTo>
                <a:lnTo>
                  <a:pt x="33637" y="44528"/>
                </a:lnTo>
                <a:lnTo>
                  <a:pt x="61572" y="14703"/>
                </a:lnTo>
                <a:lnTo>
                  <a:pt x="74462" y="9081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449892" y="5484966"/>
            <a:ext cx="956944" cy="299085"/>
            <a:chOff x="2449892" y="5484966"/>
            <a:chExt cx="956944" cy="299085"/>
          </a:xfrm>
        </p:grpSpPr>
        <p:sp>
          <p:nvSpPr>
            <p:cNvPr id="6" name="object 6"/>
            <p:cNvSpPr/>
            <p:nvPr/>
          </p:nvSpPr>
          <p:spPr>
            <a:xfrm>
              <a:off x="2449892" y="5491830"/>
              <a:ext cx="956944" cy="292100"/>
            </a:xfrm>
            <a:custGeom>
              <a:avLst/>
              <a:gdLst/>
              <a:ahLst/>
              <a:cxnLst/>
              <a:rect l="l" t="t" r="r" b="b"/>
              <a:pathLst>
                <a:path w="956945" h="292100">
                  <a:moveTo>
                    <a:pt x="880038" y="0"/>
                  </a:moveTo>
                  <a:lnTo>
                    <a:pt x="877093" y="9672"/>
                  </a:lnTo>
                  <a:lnTo>
                    <a:pt x="890484" y="16624"/>
                  </a:lnTo>
                  <a:lnTo>
                    <a:pt x="902144" y="26747"/>
                  </a:lnTo>
                  <a:lnTo>
                    <a:pt x="926692" y="75634"/>
                  </a:lnTo>
                  <a:lnTo>
                    <a:pt x="934027" y="120400"/>
                  </a:lnTo>
                  <a:lnTo>
                    <a:pt x="934944" y="146034"/>
                  </a:lnTo>
                  <a:lnTo>
                    <a:pt x="934027" y="171613"/>
                  </a:lnTo>
                  <a:lnTo>
                    <a:pt x="926692" y="216290"/>
                  </a:lnTo>
                  <a:lnTo>
                    <a:pt x="912075" y="251826"/>
                  </a:lnTo>
                  <a:lnTo>
                    <a:pt x="877093" y="282160"/>
                  </a:lnTo>
                  <a:lnTo>
                    <a:pt x="880038" y="291833"/>
                  </a:lnTo>
                  <a:lnTo>
                    <a:pt x="925702" y="260005"/>
                  </a:lnTo>
                  <a:lnTo>
                    <a:pt x="945422" y="220540"/>
                  </a:lnTo>
                  <a:lnTo>
                    <a:pt x="955378" y="172649"/>
                  </a:lnTo>
                  <a:lnTo>
                    <a:pt x="956617" y="146034"/>
                  </a:lnTo>
                  <a:lnTo>
                    <a:pt x="955435" y="120400"/>
                  </a:lnTo>
                  <a:lnTo>
                    <a:pt x="945422" y="71292"/>
                  </a:lnTo>
                  <a:lnTo>
                    <a:pt x="925702" y="31827"/>
                  </a:lnTo>
                  <a:lnTo>
                    <a:pt x="897365" y="6760"/>
                  </a:lnTo>
                  <a:lnTo>
                    <a:pt x="880038" y="0"/>
                  </a:lnTo>
                  <a:close/>
                </a:path>
                <a:path w="956945" h="292100">
                  <a:moveTo>
                    <a:pt x="76579" y="0"/>
                  </a:moveTo>
                  <a:lnTo>
                    <a:pt x="30915" y="31827"/>
                  </a:lnTo>
                  <a:lnTo>
                    <a:pt x="11195" y="71292"/>
                  </a:lnTo>
                  <a:lnTo>
                    <a:pt x="1238" y="119184"/>
                  </a:lnTo>
                  <a:lnTo>
                    <a:pt x="0" y="146034"/>
                  </a:lnTo>
                  <a:lnTo>
                    <a:pt x="1190" y="171613"/>
                  </a:lnTo>
                  <a:lnTo>
                    <a:pt x="11195" y="220540"/>
                  </a:lnTo>
                  <a:lnTo>
                    <a:pt x="30915" y="260005"/>
                  </a:lnTo>
                  <a:lnTo>
                    <a:pt x="76579" y="291833"/>
                  </a:lnTo>
                  <a:lnTo>
                    <a:pt x="79524" y="282160"/>
                  </a:lnTo>
                  <a:lnTo>
                    <a:pt x="66133" y="275212"/>
                  </a:lnTo>
                  <a:lnTo>
                    <a:pt x="54472" y="265100"/>
                  </a:lnTo>
                  <a:lnTo>
                    <a:pt x="29924" y="216290"/>
                  </a:lnTo>
                  <a:lnTo>
                    <a:pt x="22711" y="172649"/>
                  </a:lnTo>
                  <a:lnTo>
                    <a:pt x="21673" y="146034"/>
                  </a:lnTo>
                  <a:lnTo>
                    <a:pt x="22590" y="120400"/>
                  </a:lnTo>
                  <a:lnTo>
                    <a:pt x="29924" y="75634"/>
                  </a:lnTo>
                  <a:lnTo>
                    <a:pt x="44542" y="40040"/>
                  </a:lnTo>
                  <a:lnTo>
                    <a:pt x="79524" y="9672"/>
                  </a:lnTo>
                  <a:lnTo>
                    <a:pt x="765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9075" y="5484966"/>
              <a:ext cx="183248" cy="1648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1148" y="5484966"/>
              <a:ext cx="183248" cy="16488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37589" y="4268442"/>
            <a:ext cx="8242300" cy="149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In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supervised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learning:</a:t>
            </a:r>
            <a:endParaRPr sz="1900">
              <a:latin typeface="Calibri"/>
              <a:cs typeface="Calibri"/>
            </a:endParaRPr>
          </a:p>
          <a:p>
            <a:pPr marL="309245" indent="-271145">
              <a:lnSpc>
                <a:spcPts val="2245"/>
              </a:lnSpc>
              <a:spcBef>
                <a:spcPts val="25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There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80" dirty="0">
                <a:latin typeface="Cambria Math"/>
                <a:cs typeface="Cambria Math"/>
              </a:rPr>
              <a:t>x</a:t>
            </a:r>
            <a:r>
              <a:rPr sz="1900" spc="8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8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𝒳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typically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vector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features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(or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covariates)</a:t>
            </a:r>
            <a:endParaRPr sz="1900">
              <a:latin typeface="Calibri"/>
              <a:cs typeface="Calibri"/>
            </a:endParaRPr>
          </a:p>
          <a:p>
            <a:pPr marL="309245" indent="-271145">
              <a:lnSpc>
                <a:spcPts val="2245"/>
              </a:lnSpc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There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target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𝑡</a:t>
            </a:r>
            <a:r>
              <a:rPr sz="1900" spc="11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7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𝒯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(also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called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response,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outcome,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output,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class)</a:t>
            </a:r>
            <a:endParaRPr sz="1900">
              <a:latin typeface="Calibri"/>
              <a:cs typeface="Calibri"/>
            </a:endParaRPr>
          </a:p>
          <a:p>
            <a:pPr marL="3092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09245" algn="l"/>
                <a:tab pos="6723380" algn="l"/>
              </a:tabLst>
            </a:pPr>
            <a:r>
              <a:rPr sz="1900" dirty="0">
                <a:latin typeface="Calibri"/>
                <a:cs typeface="Calibri"/>
              </a:rPr>
              <a:t>Objective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learn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𝑓:</a:t>
            </a:r>
            <a:r>
              <a:rPr sz="1900" spc="-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𝒳</a:t>
            </a:r>
            <a:r>
              <a:rPr sz="1900" spc="16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→</a:t>
            </a:r>
            <a:r>
              <a:rPr sz="1900" spc="9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𝒯</a:t>
            </a:r>
            <a:r>
              <a:rPr sz="1900" spc="6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such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𝑡</a:t>
            </a:r>
            <a:r>
              <a:rPr sz="1900" spc="13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≈</a:t>
            </a:r>
            <a:r>
              <a:rPr sz="1900" spc="8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11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8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𝑓</a:t>
            </a:r>
            <a:r>
              <a:rPr sz="1900" spc="390" dirty="0">
                <a:latin typeface="Cambria Math"/>
                <a:cs typeface="Cambria Math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x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dirty="0">
                <a:latin typeface="Calibri"/>
                <a:cs typeface="Calibri"/>
              </a:rPr>
              <a:t>based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some</a:t>
            </a:r>
            <a:endParaRPr sz="1900">
              <a:latin typeface="Calibri"/>
              <a:cs typeface="Calibri"/>
            </a:endParaRPr>
          </a:p>
          <a:p>
            <a:pPr marL="309245">
              <a:lnSpc>
                <a:spcPct val="100000"/>
              </a:lnSpc>
              <a:spcBef>
                <a:spcPts val="215"/>
              </a:spcBef>
              <a:tabLst>
                <a:tab pos="2442845" algn="l"/>
              </a:tabLst>
            </a:pPr>
            <a:r>
              <a:rPr sz="1900" dirty="0">
                <a:latin typeface="Calibri"/>
                <a:cs typeface="Calibri"/>
              </a:rPr>
              <a:t>data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𝒟</a:t>
            </a:r>
            <a:r>
              <a:rPr sz="1900" spc="13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9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{</a:t>
            </a:r>
            <a:r>
              <a:rPr sz="1900" spc="409" dirty="0">
                <a:latin typeface="Cambria Math"/>
                <a:cs typeface="Cambria Math"/>
              </a:rPr>
              <a:t> </a:t>
            </a:r>
            <a:r>
              <a:rPr sz="1900" spc="80" dirty="0">
                <a:latin typeface="Cambria Math"/>
                <a:cs typeface="Cambria Math"/>
              </a:rPr>
              <a:t>x</a:t>
            </a:r>
            <a:r>
              <a:rPr sz="1900" spc="204" dirty="0">
                <a:latin typeface="Cambria Math"/>
                <a:cs typeface="Cambria Math"/>
              </a:rPr>
              <a:t> </a:t>
            </a:r>
            <a:r>
              <a:rPr sz="2100" spc="75" baseline="27777" dirty="0">
                <a:latin typeface="Cambria Math"/>
                <a:cs typeface="Cambria Math"/>
              </a:rPr>
              <a:t>𝑖</a:t>
            </a:r>
            <a:r>
              <a:rPr sz="2100" spc="562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𝑡</a:t>
            </a:r>
            <a:r>
              <a:rPr sz="1900" spc="245" dirty="0">
                <a:latin typeface="Cambria Math"/>
                <a:cs typeface="Cambria Math"/>
              </a:rPr>
              <a:t> </a:t>
            </a:r>
            <a:r>
              <a:rPr sz="2100" baseline="27777" dirty="0">
                <a:latin typeface="Cambria Math"/>
                <a:cs typeface="Cambria Math"/>
              </a:rPr>
              <a:t>𝑖	</a:t>
            </a:r>
            <a:r>
              <a:rPr sz="1900" dirty="0">
                <a:latin typeface="Cambria Math"/>
                <a:cs typeface="Cambria Math"/>
              </a:rPr>
              <a:t>𝑓𝑜𝑟</a:t>
            </a:r>
            <a:r>
              <a:rPr sz="1900" spc="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𝑖</a:t>
            </a:r>
            <a:r>
              <a:rPr sz="1900" spc="16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9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1,</a:t>
            </a:r>
            <a:r>
              <a:rPr sz="1900" spc="45" dirty="0">
                <a:latin typeface="Cambria Math"/>
                <a:cs typeface="Cambria Math"/>
              </a:rPr>
              <a:t>  </a:t>
            </a:r>
            <a:r>
              <a:rPr sz="1900" dirty="0">
                <a:latin typeface="Cambria Math"/>
                <a:cs typeface="Cambria Math"/>
              </a:rPr>
              <a:t>2,</a:t>
            </a:r>
            <a:r>
              <a:rPr sz="1900" spc="50" dirty="0">
                <a:latin typeface="Cambria Math"/>
                <a:cs typeface="Cambria Math"/>
              </a:rPr>
              <a:t>  </a:t>
            </a:r>
            <a:r>
              <a:rPr sz="1900" dirty="0">
                <a:latin typeface="Cambria Math"/>
                <a:cs typeface="Cambria Math"/>
              </a:rPr>
              <a:t>⋯</a:t>
            </a:r>
            <a:r>
              <a:rPr sz="1900" spc="19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45" dirty="0">
                <a:latin typeface="Cambria Math"/>
                <a:cs typeface="Cambria Math"/>
              </a:rPr>
              <a:t>  </a:t>
            </a:r>
            <a:r>
              <a:rPr sz="1900" spc="-25" dirty="0">
                <a:latin typeface="Cambria Math"/>
                <a:cs typeface="Cambria Math"/>
              </a:rPr>
              <a:t>𝑁}</a:t>
            </a:r>
            <a:endParaRPr sz="1900">
              <a:latin typeface="Cambria Math"/>
              <a:cs typeface="Cambria Math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20515" y="4082486"/>
            <a:ext cx="1081413" cy="28408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45833" y="4391664"/>
            <a:ext cx="574721" cy="2820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76685" y="4425385"/>
            <a:ext cx="334064" cy="181016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4795101" y="4602633"/>
            <a:ext cx="45085" cy="33655"/>
          </a:xfrm>
          <a:custGeom>
            <a:avLst/>
            <a:gdLst/>
            <a:ahLst/>
            <a:cxnLst/>
            <a:rect l="l" t="t" r="r" b="b"/>
            <a:pathLst>
              <a:path w="45085" h="33654">
                <a:moveTo>
                  <a:pt x="44907" y="5029"/>
                </a:moveTo>
                <a:lnTo>
                  <a:pt x="42735" y="914"/>
                </a:lnTo>
                <a:lnTo>
                  <a:pt x="40487" y="0"/>
                </a:lnTo>
                <a:lnTo>
                  <a:pt x="33261" y="2349"/>
                </a:lnTo>
                <a:lnTo>
                  <a:pt x="29032" y="6057"/>
                </a:lnTo>
                <a:lnTo>
                  <a:pt x="21488" y="15417"/>
                </a:lnTo>
                <a:lnTo>
                  <a:pt x="21247" y="15900"/>
                </a:lnTo>
                <a:lnTo>
                  <a:pt x="20624" y="14135"/>
                </a:lnTo>
                <a:lnTo>
                  <a:pt x="18783" y="13182"/>
                </a:lnTo>
                <a:lnTo>
                  <a:pt x="1231" y="18110"/>
                </a:lnTo>
                <a:lnTo>
                  <a:pt x="0" y="20307"/>
                </a:lnTo>
                <a:lnTo>
                  <a:pt x="1193" y="24536"/>
                </a:lnTo>
                <a:lnTo>
                  <a:pt x="3390" y="25768"/>
                </a:lnTo>
                <a:lnTo>
                  <a:pt x="5499" y="25171"/>
                </a:lnTo>
                <a:lnTo>
                  <a:pt x="19024" y="20358"/>
                </a:lnTo>
                <a:lnTo>
                  <a:pt x="18453" y="21513"/>
                </a:lnTo>
                <a:lnTo>
                  <a:pt x="15176" y="29667"/>
                </a:lnTo>
                <a:lnTo>
                  <a:pt x="16129" y="31902"/>
                </a:lnTo>
                <a:lnTo>
                  <a:pt x="19862" y="33401"/>
                </a:lnTo>
                <a:lnTo>
                  <a:pt x="21882" y="32715"/>
                </a:lnTo>
                <a:lnTo>
                  <a:pt x="25857" y="25933"/>
                </a:lnTo>
                <a:lnTo>
                  <a:pt x="29133" y="20878"/>
                </a:lnTo>
                <a:lnTo>
                  <a:pt x="35585" y="13474"/>
                </a:lnTo>
                <a:lnTo>
                  <a:pt x="38455" y="10693"/>
                </a:lnTo>
                <a:lnTo>
                  <a:pt x="44069" y="7734"/>
                </a:lnTo>
                <a:lnTo>
                  <a:pt x="44907" y="50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05642" y="4351819"/>
            <a:ext cx="1629658" cy="30918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78318" y="4371811"/>
            <a:ext cx="772615" cy="29856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72197" y="4729314"/>
            <a:ext cx="1027408" cy="282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35" dirty="0"/>
              <a:t> </a:t>
            </a:r>
            <a:r>
              <a:rPr dirty="0"/>
              <a:t>Regression</a:t>
            </a:r>
            <a:r>
              <a:rPr spc="55" dirty="0"/>
              <a:t> </a:t>
            </a:r>
            <a:r>
              <a:rPr dirty="0"/>
              <a:t>-</a:t>
            </a:r>
            <a:r>
              <a:rPr spc="40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8065810" y="2030490"/>
            <a:ext cx="1080770" cy="224154"/>
          </a:xfrm>
          <a:custGeom>
            <a:avLst/>
            <a:gdLst/>
            <a:ahLst/>
            <a:cxnLst/>
            <a:rect l="l" t="t" r="r" b="b"/>
            <a:pathLst>
              <a:path w="1080770" h="224155">
                <a:moveTo>
                  <a:pt x="1009210" y="0"/>
                </a:moveTo>
                <a:lnTo>
                  <a:pt x="1006029" y="9083"/>
                </a:lnTo>
                <a:lnTo>
                  <a:pt x="1018967" y="14704"/>
                </a:lnTo>
                <a:lnTo>
                  <a:pt x="1030094" y="22485"/>
                </a:lnTo>
                <a:lnTo>
                  <a:pt x="1052686" y="58556"/>
                </a:lnTo>
                <a:lnTo>
                  <a:pt x="1059250" y="91429"/>
                </a:lnTo>
                <a:lnTo>
                  <a:pt x="1059284" y="91673"/>
                </a:lnTo>
                <a:lnTo>
                  <a:pt x="1059281" y="130500"/>
                </a:lnTo>
                <a:lnTo>
                  <a:pt x="1046854" y="178827"/>
                </a:lnTo>
                <a:lnTo>
                  <a:pt x="1019118" y="209039"/>
                </a:lnTo>
                <a:lnTo>
                  <a:pt x="1006382" y="214687"/>
                </a:lnTo>
                <a:lnTo>
                  <a:pt x="1009210" y="223770"/>
                </a:lnTo>
                <a:lnTo>
                  <a:pt x="1051913" y="198368"/>
                </a:lnTo>
                <a:lnTo>
                  <a:pt x="1075898" y="151475"/>
                </a:lnTo>
                <a:lnTo>
                  <a:pt x="1080493" y="111944"/>
                </a:lnTo>
                <a:lnTo>
                  <a:pt x="1079354" y="91673"/>
                </a:lnTo>
                <a:lnTo>
                  <a:pt x="1079340" y="91429"/>
                </a:lnTo>
                <a:lnTo>
                  <a:pt x="1062054" y="39221"/>
                </a:lnTo>
                <a:lnTo>
                  <a:pt x="1025414" y="5857"/>
                </a:lnTo>
                <a:lnTo>
                  <a:pt x="1009210" y="0"/>
                </a:lnTo>
                <a:close/>
              </a:path>
              <a:path w="1080770" h="224155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148" y="132502"/>
                </a:lnTo>
                <a:lnTo>
                  <a:pt x="4595" y="151475"/>
                </a:lnTo>
                <a:lnTo>
                  <a:pt x="28579" y="198368"/>
                </a:lnTo>
                <a:lnTo>
                  <a:pt x="71282" y="223770"/>
                </a:lnTo>
                <a:lnTo>
                  <a:pt x="74110" y="214687"/>
                </a:lnTo>
                <a:lnTo>
                  <a:pt x="61374" y="209039"/>
                </a:lnTo>
                <a:lnTo>
                  <a:pt x="50384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6"/>
                </a:lnTo>
                <a:lnTo>
                  <a:pt x="50472" y="22485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8356" y="1958058"/>
            <a:ext cx="8705215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21945" marR="30480" indent="-271780">
              <a:lnSpc>
                <a:spcPct val="101099"/>
              </a:lnSpc>
              <a:spcBef>
                <a:spcPts val="75"/>
              </a:spcBef>
              <a:buClr>
                <a:srgbClr val="000000"/>
              </a:buClr>
              <a:buFont typeface="Arial MT"/>
              <a:buChar char="•"/>
              <a:tabLst>
                <a:tab pos="321945" algn="l"/>
                <a:tab pos="7426325" algn="l"/>
                <a:tab pos="851598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sz="1900" dirty="0">
                <a:latin typeface="Calibri"/>
                <a:cs typeface="Calibri"/>
              </a:rPr>
              <a:t>: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regression,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features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80" dirty="0">
                <a:latin typeface="Cambria Math"/>
                <a:cs typeface="Cambria Math"/>
              </a:rPr>
              <a:t>x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libri"/>
                <a:cs typeface="Calibri"/>
              </a:rPr>
              <a:t>=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2100" baseline="-15873" dirty="0">
                <a:latin typeface="Cambria Math"/>
                <a:cs typeface="Cambria Math"/>
              </a:rPr>
              <a:t>1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⋯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𝑥</a:t>
            </a:r>
            <a:r>
              <a:rPr sz="2100" spc="-37" baseline="-15873" dirty="0">
                <a:latin typeface="Cambria Math"/>
                <a:cs typeface="Cambria Math"/>
              </a:rPr>
              <a:t>𝐷</a:t>
            </a:r>
            <a:r>
              <a:rPr sz="2100" baseline="-15873" dirty="0">
                <a:latin typeface="Cambria Math"/>
                <a:cs typeface="Cambria Math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∈ </a:t>
            </a:r>
            <a:r>
              <a:rPr sz="1900" dirty="0">
                <a:latin typeface="Cambria Math"/>
                <a:cs typeface="Cambria Math"/>
              </a:rPr>
              <a:t>ℝ</a:t>
            </a:r>
            <a:r>
              <a:rPr sz="2100" baseline="27777" dirty="0">
                <a:latin typeface="Cambria Math"/>
                <a:cs typeface="Cambria Math"/>
              </a:rPr>
              <a:t>𝐷</a:t>
            </a:r>
            <a:r>
              <a:rPr sz="2100" spc="277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make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predictions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target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𝑡</a:t>
            </a:r>
            <a:r>
              <a:rPr sz="1900" spc="1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8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ℝ</a:t>
            </a:r>
            <a:r>
              <a:rPr sz="1900" spc="-25" dirty="0"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456" y="3457674"/>
            <a:ext cx="5876290" cy="171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7445" indent="-27051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147445" algn="l"/>
              </a:tabLst>
            </a:pP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2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prediction</a:t>
            </a:r>
            <a:endParaRPr sz="1900">
              <a:latin typeface="Calibri"/>
              <a:cs typeface="Calibri"/>
            </a:endParaRPr>
          </a:p>
          <a:p>
            <a:pPr marL="1147445" indent="-270510">
              <a:lnSpc>
                <a:spcPts val="2245"/>
              </a:lnSpc>
              <a:spcBef>
                <a:spcPts val="25"/>
              </a:spcBef>
              <a:buFont typeface="Wingdings"/>
              <a:buChar char=""/>
              <a:tabLst>
                <a:tab pos="1147445" algn="l"/>
              </a:tabLst>
            </a:pP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weights</a:t>
            </a:r>
            <a:endParaRPr sz="1900">
              <a:latin typeface="Calibri"/>
              <a:cs typeface="Calibri"/>
            </a:endParaRPr>
          </a:p>
          <a:p>
            <a:pPr marL="1147445" indent="-270510">
              <a:lnSpc>
                <a:spcPts val="2245"/>
              </a:lnSpc>
              <a:buFont typeface="Wingdings"/>
              <a:buChar char=""/>
              <a:tabLst>
                <a:tab pos="1147445" algn="l"/>
              </a:tabLst>
            </a:pPr>
            <a:r>
              <a:rPr sz="1900" dirty="0">
                <a:latin typeface="Cambria Math"/>
                <a:cs typeface="Cambria Math"/>
              </a:rPr>
              <a:t>𝑏</a:t>
            </a:r>
            <a:r>
              <a:rPr sz="1900" spc="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bias</a:t>
            </a:r>
            <a:r>
              <a:rPr sz="19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(or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intercept</a:t>
            </a:r>
            <a:r>
              <a:rPr sz="1900" spc="-10" dirty="0">
                <a:latin typeface="Calibri"/>
                <a:cs typeface="Calibri"/>
              </a:rPr>
              <a:t>)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𝑏</a:t>
            </a:r>
            <a:r>
              <a:rPr sz="1900" spc="2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together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parameters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hope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prediction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close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target: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9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≈</a:t>
            </a:r>
            <a:r>
              <a:rPr sz="1900" spc="7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𝑡</a:t>
            </a:r>
            <a:r>
              <a:rPr sz="1900" spc="-25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62750" y="2885332"/>
            <a:ext cx="285115" cy="224154"/>
          </a:xfrm>
          <a:custGeom>
            <a:avLst/>
            <a:gdLst/>
            <a:ahLst/>
            <a:cxnLst/>
            <a:rect l="l" t="t" r="r" b="b"/>
            <a:pathLst>
              <a:path w="285114" h="224155">
                <a:moveTo>
                  <a:pt x="213523" y="0"/>
                </a:moveTo>
                <a:lnTo>
                  <a:pt x="210342" y="9083"/>
                </a:lnTo>
                <a:lnTo>
                  <a:pt x="223280" y="14704"/>
                </a:lnTo>
                <a:lnTo>
                  <a:pt x="234407" y="22485"/>
                </a:lnTo>
                <a:lnTo>
                  <a:pt x="256999" y="58556"/>
                </a:lnTo>
                <a:lnTo>
                  <a:pt x="264422" y="110764"/>
                </a:lnTo>
                <a:lnTo>
                  <a:pt x="263594" y="130500"/>
                </a:lnTo>
                <a:lnTo>
                  <a:pt x="251167" y="178827"/>
                </a:lnTo>
                <a:lnTo>
                  <a:pt x="223431" y="209039"/>
                </a:lnTo>
                <a:lnTo>
                  <a:pt x="210695" y="214687"/>
                </a:lnTo>
                <a:lnTo>
                  <a:pt x="213523" y="223770"/>
                </a:lnTo>
                <a:lnTo>
                  <a:pt x="256227" y="198368"/>
                </a:lnTo>
                <a:lnTo>
                  <a:pt x="280211" y="151475"/>
                </a:lnTo>
                <a:lnTo>
                  <a:pt x="284806" y="111944"/>
                </a:lnTo>
                <a:lnTo>
                  <a:pt x="283667" y="91673"/>
                </a:lnTo>
                <a:lnTo>
                  <a:pt x="283653" y="91429"/>
                </a:lnTo>
                <a:lnTo>
                  <a:pt x="266367" y="39221"/>
                </a:lnTo>
                <a:lnTo>
                  <a:pt x="229728" y="5857"/>
                </a:lnTo>
                <a:lnTo>
                  <a:pt x="213523" y="0"/>
                </a:lnTo>
                <a:close/>
              </a:path>
              <a:path w="285114" h="224155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0338" y="168863"/>
                </a:lnTo>
                <a:lnTo>
                  <a:pt x="40795" y="209453"/>
                </a:lnTo>
                <a:lnTo>
                  <a:pt x="71282" y="223770"/>
                </a:lnTo>
                <a:lnTo>
                  <a:pt x="74109" y="214687"/>
                </a:lnTo>
                <a:lnTo>
                  <a:pt x="61373" y="209039"/>
                </a:lnTo>
                <a:lnTo>
                  <a:pt x="50383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6"/>
                </a:lnTo>
                <a:lnTo>
                  <a:pt x="50472" y="22485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36199" y="2811498"/>
            <a:ext cx="8451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1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9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𝑓</a:t>
            </a:r>
            <a:r>
              <a:rPr sz="1900" spc="409" dirty="0">
                <a:latin typeface="Cambria Math"/>
                <a:cs typeface="Cambria Math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x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97665" y="2700859"/>
            <a:ext cx="1551940" cy="72136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69"/>
              </a:spcBef>
            </a:pP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90" dirty="0">
                <a:latin typeface="Cambria Math"/>
                <a:cs typeface="Cambria Math"/>
              </a:rPr>
              <a:t> </a:t>
            </a:r>
            <a:r>
              <a:rPr sz="1900" spc="1160" dirty="0">
                <a:latin typeface="Cambria Math"/>
                <a:cs typeface="Cambria Math"/>
              </a:rPr>
              <a:t>∑</a:t>
            </a:r>
            <a:r>
              <a:rPr sz="1900" spc="-105" dirty="0">
                <a:latin typeface="Cambria Math"/>
                <a:cs typeface="Cambria Math"/>
              </a:rPr>
              <a:t> </a:t>
            </a:r>
            <a:r>
              <a:rPr sz="1900" spc="60" dirty="0">
                <a:latin typeface="Cambria Math"/>
                <a:cs typeface="Cambria Math"/>
              </a:rPr>
              <a:t>𝑤</a:t>
            </a:r>
            <a:r>
              <a:rPr sz="2100" spc="89" baseline="-15873" dirty="0">
                <a:latin typeface="Cambria Math"/>
                <a:cs typeface="Cambria Math"/>
              </a:rPr>
              <a:t>j</a:t>
            </a:r>
            <a:r>
              <a:rPr sz="1900" spc="60" dirty="0">
                <a:latin typeface="Cambria Math"/>
                <a:cs typeface="Cambria Math"/>
              </a:rPr>
              <a:t>𝑥</a:t>
            </a:r>
            <a:r>
              <a:rPr sz="2100" spc="89" baseline="-15873" dirty="0">
                <a:latin typeface="Cambria Math"/>
                <a:cs typeface="Cambria Math"/>
              </a:rPr>
              <a:t>j</a:t>
            </a:r>
            <a:r>
              <a:rPr sz="2100" spc="337" baseline="-15873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𝑏</a:t>
            </a:r>
            <a:endParaRPr sz="1900">
              <a:latin typeface="Cambria Math"/>
              <a:cs typeface="Cambria Math"/>
            </a:endParaRPr>
          </a:p>
          <a:p>
            <a:pPr marL="400050">
              <a:lnSpc>
                <a:spcPct val="100000"/>
              </a:lnSpc>
              <a:spcBef>
                <a:spcPts val="645"/>
              </a:spcBef>
            </a:pPr>
            <a:r>
              <a:rPr sz="1400" spc="229" dirty="0">
                <a:latin typeface="Cambria Math"/>
                <a:cs typeface="Cambria Math"/>
              </a:rPr>
              <a:t>j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6130" y="3453821"/>
            <a:ext cx="1652225" cy="863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30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dirty="0"/>
              <a:t>Linear?</a:t>
            </a:r>
            <a:r>
              <a:rPr spc="40" dirty="0"/>
              <a:t> </a:t>
            </a:r>
            <a:r>
              <a:rPr dirty="0"/>
              <a:t>1</a:t>
            </a:r>
            <a:r>
              <a:rPr spc="40" dirty="0"/>
              <a:t> </a:t>
            </a:r>
            <a:r>
              <a:rPr dirty="0"/>
              <a:t>feature</a:t>
            </a:r>
            <a:r>
              <a:rPr spc="35" dirty="0"/>
              <a:t> </a:t>
            </a:r>
            <a:r>
              <a:rPr dirty="0"/>
              <a:t>vs</a:t>
            </a:r>
            <a:r>
              <a:rPr spc="25" dirty="0"/>
              <a:t> </a:t>
            </a:r>
            <a:r>
              <a:rPr dirty="0"/>
              <a:t>D</a:t>
            </a:r>
            <a:r>
              <a:rPr spc="45" dirty="0"/>
              <a:t> </a:t>
            </a:r>
            <a:r>
              <a:rPr spc="-10" dirty="0"/>
              <a:t>features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717" y="1946218"/>
            <a:ext cx="2009295" cy="36766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45689" y="1818189"/>
            <a:ext cx="4198620" cy="318643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21945" indent="-271145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321945" algn="l"/>
              </a:tabLst>
            </a:pPr>
            <a:r>
              <a:rPr sz="1900" dirty="0">
                <a:latin typeface="Calibri"/>
                <a:cs typeface="Calibri"/>
              </a:rPr>
              <a:t>If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only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feature:</a:t>
            </a:r>
            <a:endParaRPr sz="1900">
              <a:latin typeface="Calibri"/>
              <a:cs typeface="Calibri"/>
            </a:endParaRPr>
          </a:p>
          <a:p>
            <a:pPr marL="407670">
              <a:lnSpc>
                <a:spcPct val="100000"/>
              </a:lnSpc>
              <a:spcBef>
                <a:spcPts val="890"/>
              </a:spcBef>
            </a:pP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1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9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𝑤𝑥</a:t>
            </a:r>
            <a:r>
              <a:rPr sz="1900" spc="6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𝑏</a:t>
            </a:r>
            <a:r>
              <a:rPr sz="1900" spc="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where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𝑏</a:t>
            </a:r>
            <a:r>
              <a:rPr sz="1900" spc="1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11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ℝ</a:t>
            </a:r>
            <a:r>
              <a:rPr sz="1900" spc="-25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marL="321945" indent="-271145">
              <a:lnSpc>
                <a:spcPct val="100000"/>
              </a:lnSpc>
              <a:spcBef>
                <a:spcPts val="1365"/>
              </a:spcBef>
              <a:buFont typeface="Arial MT"/>
              <a:buChar char="•"/>
              <a:tabLst>
                <a:tab pos="321945" algn="l"/>
              </a:tabLst>
            </a:pP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𝑥</a:t>
            </a:r>
            <a:r>
              <a:rPr sz="1900" spc="-25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0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marL="321945" indent="-271145">
              <a:lnSpc>
                <a:spcPct val="100000"/>
              </a:lnSpc>
              <a:buFont typeface="Arial MT"/>
              <a:buChar char="•"/>
              <a:tabLst>
                <a:tab pos="321945" algn="l"/>
              </a:tabLst>
            </a:pPr>
            <a:r>
              <a:rPr sz="1900" dirty="0">
                <a:latin typeface="Calibri"/>
                <a:cs typeface="Calibri"/>
              </a:rPr>
              <a:t>If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only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𝐷</a:t>
            </a:r>
            <a:r>
              <a:rPr sz="1900" spc="40" dirty="0">
                <a:latin typeface="Cambria Math"/>
                <a:cs typeface="Cambria Math"/>
              </a:rPr>
              <a:t> </a:t>
            </a:r>
            <a:r>
              <a:rPr sz="1900" spc="-10" dirty="0">
                <a:latin typeface="Calibri"/>
                <a:cs typeface="Calibri"/>
              </a:rPr>
              <a:t>features:</a:t>
            </a:r>
            <a:endParaRPr sz="1900">
              <a:latin typeface="Calibri"/>
              <a:cs typeface="Calibri"/>
            </a:endParaRPr>
          </a:p>
          <a:p>
            <a:pPr marL="407670">
              <a:lnSpc>
                <a:spcPct val="100000"/>
              </a:lnSpc>
              <a:spcBef>
                <a:spcPts val="1200"/>
              </a:spcBef>
            </a:pP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14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100" dirty="0">
                <a:latin typeface="Cambria Math"/>
                <a:cs typeface="Cambria Math"/>
              </a:rPr>
              <a:t> </a:t>
            </a:r>
            <a:r>
              <a:rPr sz="1900" spc="125" dirty="0">
                <a:latin typeface="Cambria Math"/>
                <a:cs typeface="Cambria Math"/>
              </a:rPr>
              <a:t>w</a:t>
            </a:r>
            <a:r>
              <a:rPr sz="2100" spc="187" baseline="27777" dirty="0">
                <a:latin typeface="Cambria Math"/>
                <a:cs typeface="Cambria Math"/>
              </a:rPr>
              <a:t>𝗍</a:t>
            </a:r>
            <a:r>
              <a:rPr sz="1900" spc="125" dirty="0">
                <a:latin typeface="Cambria Math"/>
                <a:cs typeface="Cambria Math"/>
              </a:rPr>
              <a:t>x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 𝑏</a:t>
            </a:r>
            <a:r>
              <a:rPr sz="1900" spc="5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where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w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80" dirty="0">
                <a:latin typeface="Cambria Math"/>
                <a:cs typeface="Cambria Math"/>
              </a:rPr>
              <a:t>x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11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ℝ</a:t>
            </a:r>
            <a:r>
              <a:rPr sz="2100" baseline="27777" dirty="0">
                <a:latin typeface="Cambria Math"/>
                <a:cs typeface="Cambria Math"/>
              </a:rPr>
              <a:t>𝐷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𝑏</a:t>
            </a:r>
            <a:r>
              <a:rPr sz="1900" spc="16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114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ℝ</a:t>
            </a:r>
            <a:endParaRPr sz="1900">
              <a:latin typeface="Cambria Math"/>
              <a:cs typeface="Cambria Math"/>
            </a:endParaRPr>
          </a:p>
          <a:p>
            <a:pPr marL="321945" indent="-271145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321945" algn="l"/>
              </a:tabLst>
            </a:pP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x</a:t>
            </a:r>
            <a:r>
              <a:rPr sz="1900" spc="-25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5102" y="5810730"/>
            <a:ext cx="687260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Relation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between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prediction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80" dirty="0">
                <a:latin typeface="Cambria Math"/>
                <a:cs typeface="Cambria Math"/>
              </a:rPr>
              <a:t>x</a:t>
            </a:r>
            <a:r>
              <a:rPr sz="1900" spc="-3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both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cases.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90012" y="2215168"/>
            <a:ext cx="894191" cy="457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7933" y="6137496"/>
            <a:ext cx="2247167" cy="31915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76888" y="6107393"/>
            <a:ext cx="5570823" cy="3686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35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243" y="3445867"/>
            <a:ext cx="3765723" cy="245295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253087" y="1894149"/>
            <a:ext cx="956944" cy="299085"/>
            <a:chOff x="3253087" y="1894149"/>
            <a:chExt cx="956944" cy="299085"/>
          </a:xfrm>
        </p:grpSpPr>
        <p:sp>
          <p:nvSpPr>
            <p:cNvPr id="5" name="object 5"/>
            <p:cNvSpPr/>
            <p:nvPr/>
          </p:nvSpPr>
          <p:spPr>
            <a:xfrm>
              <a:off x="3253087" y="1901013"/>
              <a:ext cx="956944" cy="292100"/>
            </a:xfrm>
            <a:custGeom>
              <a:avLst/>
              <a:gdLst/>
              <a:ahLst/>
              <a:cxnLst/>
              <a:rect l="l" t="t" r="r" b="b"/>
              <a:pathLst>
                <a:path w="956945" h="292100">
                  <a:moveTo>
                    <a:pt x="880038" y="0"/>
                  </a:moveTo>
                  <a:lnTo>
                    <a:pt x="877093" y="9672"/>
                  </a:lnTo>
                  <a:lnTo>
                    <a:pt x="890484" y="16624"/>
                  </a:lnTo>
                  <a:lnTo>
                    <a:pt x="902145" y="26747"/>
                  </a:lnTo>
                  <a:lnTo>
                    <a:pt x="926693" y="75633"/>
                  </a:lnTo>
                  <a:lnTo>
                    <a:pt x="934027" y="120400"/>
                  </a:lnTo>
                  <a:lnTo>
                    <a:pt x="934944" y="146034"/>
                  </a:lnTo>
                  <a:lnTo>
                    <a:pt x="934027" y="171613"/>
                  </a:lnTo>
                  <a:lnTo>
                    <a:pt x="926693" y="216290"/>
                  </a:lnTo>
                  <a:lnTo>
                    <a:pt x="912075" y="251826"/>
                  </a:lnTo>
                  <a:lnTo>
                    <a:pt x="877093" y="282160"/>
                  </a:lnTo>
                  <a:lnTo>
                    <a:pt x="880038" y="291833"/>
                  </a:lnTo>
                  <a:lnTo>
                    <a:pt x="925702" y="260005"/>
                  </a:lnTo>
                  <a:lnTo>
                    <a:pt x="945423" y="220540"/>
                  </a:lnTo>
                  <a:lnTo>
                    <a:pt x="955378" y="172649"/>
                  </a:lnTo>
                  <a:lnTo>
                    <a:pt x="956617" y="146034"/>
                  </a:lnTo>
                  <a:lnTo>
                    <a:pt x="955435" y="120400"/>
                  </a:lnTo>
                  <a:lnTo>
                    <a:pt x="945423" y="71292"/>
                  </a:lnTo>
                  <a:lnTo>
                    <a:pt x="925702" y="31827"/>
                  </a:lnTo>
                  <a:lnTo>
                    <a:pt x="897365" y="6760"/>
                  </a:lnTo>
                  <a:lnTo>
                    <a:pt x="880038" y="0"/>
                  </a:lnTo>
                  <a:close/>
                </a:path>
                <a:path w="956945" h="292100">
                  <a:moveTo>
                    <a:pt x="76579" y="0"/>
                  </a:moveTo>
                  <a:lnTo>
                    <a:pt x="30915" y="31827"/>
                  </a:lnTo>
                  <a:lnTo>
                    <a:pt x="11195" y="71292"/>
                  </a:lnTo>
                  <a:lnTo>
                    <a:pt x="1238" y="119184"/>
                  </a:lnTo>
                  <a:lnTo>
                    <a:pt x="0" y="146034"/>
                  </a:lnTo>
                  <a:lnTo>
                    <a:pt x="1190" y="171613"/>
                  </a:lnTo>
                  <a:lnTo>
                    <a:pt x="1238" y="172649"/>
                  </a:lnTo>
                  <a:lnTo>
                    <a:pt x="11195" y="220540"/>
                  </a:lnTo>
                  <a:lnTo>
                    <a:pt x="30915" y="260005"/>
                  </a:lnTo>
                  <a:lnTo>
                    <a:pt x="76579" y="291833"/>
                  </a:lnTo>
                  <a:lnTo>
                    <a:pt x="79524" y="282160"/>
                  </a:lnTo>
                  <a:lnTo>
                    <a:pt x="66133" y="275212"/>
                  </a:lnTo>
                  <a:lnTo>
                    <a:pt x="54472" y="265100"/>
                  </a:lnTo>
                  <a:lnTo>
                    <a:pt x="29925" y="216290"/>
                  </a:lnTo>
                  <a:lnTo>
                    <a:pt x="22713" y="172649"/>
                  </a:lnTo>
                  <a:lnTo>
                    <a:pt x="22591" y="171613"/>
                  </a:lnTo>
                  <a:lnTo>
                    <a:pt x="21674" y="146034"/>
                  </a:lnTo>
                  <a:lnTo>
                    <a:pt x="22591" y="120400"/>
                  </a:lnTo>
                  <a:lnTo>
                    <a:pt x="25341" y="96933"/>
                  </a:lnTo>
                  <a:lnTo>
                    <a:pt x="36343" y="56502"/>
                  </a:lnTo>
                  <a:lnTo>
                    <a:pt x="66133" y="16624"/>
                  </a:lnTo>
                  <a:lnTo>
                    <a:pt x="79524" y="9672"/>
                  </a:lnTo>
                  <a:lnTo>
                    <a:pt x="765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2269" y="1894149"/>
              <a:ext cx="183248" cy="1648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4343" y="1894149"/>
              <a:ext cx="183248" cy="16488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18356" y="1860522"/>
            <a:ext cx="610171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3564890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dataset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𝒟</a:t>
            </a:r>
            <a:r>
              <a:rPr sz="1900" spc="1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9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{</a:t>
            </a:r>
            <a:r>
              <a:rPr sz="1900" spc="395" dirty="0">
                <a:latin typeface="Cambria Math"/>
                <a:cs typeface="Cambria Math"/>
              </a:rPr>
              <a:t> </a:t>
            </a:r>
            <a:r>
              <a:rPr sz="1900" spc="80" dirty="0">
                <a:latin typeface="Cambria Math"/>
                <a:cs typeface="Cambria Math"/>
              </a:rPr>
              <a:t>x</a:t>
            </a:r>
            <a:r>
              <a:rPr sz="1900" spc="204" dirty="0">
                <a:latin typeface="Cambria Math"/>
                <a:cs typeface="Cambria Math"/>
              </a:rPr>
              <a:t> </a:t>
            </a:r>
            <a:r>
              <a:rPr sz="2100" spc="75" baseline="27777" dirty="0">
                <a:latin typeface="Cambria Math"/>
                <a:cs typeface="Cambria Math"/>
              </a:rPr>
              <a:t>𝑖</a:t>
            </a:r>
            <a:r>
              <a:rPr sz="2100" spc="547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𝑡</a:t>
            </a:r>
            <a:r>
              <a:rPr sz="1900" spc="235" dirty="0">
                <a:latin typeface="Cambria Math"/>
                <a:cs typeface="Cambria Math"/>
              </a:rPr>
              <a:t> </a:t>
            </a:r>
            <a:r>
              <a:rPr sz="2100" baseline="27777" dirty="0">
                <a:latin typeface="Cambria Math"/>
                <a:cs typeface="Cambria Math"/>
              </a:rPr>
              <a:t>𝑖	</a:t>
            </a:r>
            <a:r>
              <a:rPr sz="1900" dirty="0">
                <a:latin typeface="Cambria Math"/>
                <a:cs typeface="Cambria Math"/>
              </a:rPr>
              <a:t>𝑓𝑜𝑟</a:t>
            </a:r>
            <a:r>
              <a:rPr sz="1900" spc="3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𝑖</a:t>
            </a:r>
            <a:r>
              <a:rPr sz="1900" spc="18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105" dirty="0">
                <a:latin typeface="Cambria Math"/>
                <a:cs typeface="Cambria Math"/>
              </a:rPr>
              <a:t> </a:t>
            </a:r>
            <a:r>
              <a:rPr sz="1900" spc="-10" dirty="0">
                <a:latin typeface="Cambria Math"/>
                <a:cs typeface="Cambria Math"/>
              </a:rPr>
              <a:t>1,2,</a:t>
            </a:r>
            <a:r>
              <a:rPr sz="1900" spc="-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⋯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𝑁}</a:t>
            </a:r>
            <a:r>
              <a:rPr sz="1900" spc="5" dirty="0">
                <a:latin typeface="Cambria Math"/>
                <a:cs typeface="Cambria Math"/>
              </a:rPr>
              <a:t> </a:t>
            </a:r>
            <a:r>
              <a:rPr sz="1900" spc="-10" dirty="0">
                <a:latin typeface="Calibri"/>
                <a:cs typeface="Calibri"/>
              </a:rPr>
              <a:t>where,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2182" y="2399537"/>
            <a:ext cx="183248" cy="1648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6580" y="2399537"/>
            <a:ext cx="183247" cy="16488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802741" y="2536744"/>
            <a:ext cx="13138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2440" algn="l"/>
                <a:tab pos="1172845" algn="l"/>
              </a:tabLst>
            </a:pPr>
            <a:r>
              <a:rPr sz="1400" spc="-50" dirty="0">
                <a:latin typeface="Cambria Math"/>
                <a:cs typeface="Cambria Math"/>
              </a:rPr>
              <a:t>1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-50" dirty="0">
                <a:latin typeface="Cambria Math"/>
                <a:cs typeface="Cambria Math"/>
              </a:rPr>
              <a:t>2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-50" dirty="0">
                <a:latin typeface="Cambria Math"/>
                <a:cs typeface="Cambria Math"/>
              </a:rPr>
              <a:t>𝐷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1561" y="2400018"/>
            <a:ext cx="647890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spc="60" dirty="0">
                <a:latin typeface="Cambria Math"/>
                <a:cs typeface="Cambria Math"/>
              </a:rPr>
              <a:t>x</a:t>
            </a:r>
            <a:r>
              <a:rPr sz="2100" spc="89" baseline="27777" dirty="0">
                <a:latin typeface="Cambria Math"/>
                <a:cs typeface="Cambria Math"/>
              </a:rPr>
              <a:t>(𝑖)</a:t>
            </a:r>
            <a:r>
              <a:rPr sz="2100" spc="39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9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(𝑥</a:t>
            </a:r>
            <a:r>
              <a:rPr sz="1900" spc="235" dirty="0">
                <a:latin typeface="Cambria Math"/>
                <a:cs typeface="Cambria Math"/>
              </a:rPr>
              <a:t> </a:t>
            </a:r>
            <a:r>
              <a:rPr sz="2100" spc="75" baseline="37698" dirty="0">
                <a:latin typeface="Cambria Math"/>
                <a:cs typeface="Cambria Math"/>
              </a:rPr>
              <a:t>𝑖</a:t>
            </a:r>
            <a:r>
              <a:rPr sz="2100" spc="555" baseline="37698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1900" spc="240" dirty="0">
                <a:latin typeface="Cambria Math"/>
                <a:cs typeface="Cambria Math"/>
              </a:rPr>
              <a:t> </a:t>
            </a:r>
            <a:r>
              <a:rPr sz="2100" spc="75" baseline="37698" dirty="0">
                <a:latin typeface="Cambria Math"/>
                <a:cs typeface="Cambria Math"/>
              </a:rPr>
              <a:t>𝑖</a:t>
            </a:r>
            <a:r>
              <a:rPr sz="2100" spc="555" baseline="37698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⋯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𝑥</a:t>
            </a:r>
            <a:r>
              <a:rPr sz="2100" spc="82" baseline="39682" dirty="0">
                <a:latin typeface="Cambria Math"/>
                <a:cs typeface="Cambria Math"/>
              </a:rPr>
              <a:t>(𝑖)</a:t>
            </a:r>
            <a:r>
              <a:rPr sz="1900" spc="55" dirty="0">
                <a:latin typeface="Cambria Math"/>
                <a:cs typeface="Cambria Math"/>
              </a:rPr>
              <a:t>)</a:t>
            </a:r>
            <a:r>
              <a:rPr sz="2100" spc="82" baseline="27777" dirty="0">
                <a:latin typeface="Cambria Math"/>
                <a:cs typeface="Cambria Math"/>
              </a:rPr>
              <a:t>𝗍</a:t>
            </a:r>
            <a:r>
              <a:rPr sz="1900" spc="55" dirty="0">
                <a:latin typeface="Cambria Math"/>
                <a:cs typeface="Cambria Math"/>
              </a:rPr>
              <a:t>∈</a:t>
            </a:r>
            <a:r>
              <a:rPr sz="1900" spc="1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ℝ</a:t>
            </a:r>
            <a:r>
              <a:rPr sz="2100" baseline="27777" dirty="0">
                <a:latin typeface="Cambria Math"/>
                <a:cs typeface="Cambria Math"/>
              </a:rPr>
              <a:t>𝐷</a:t>
            </a:r>
            <a:r>
              <a:rPr sz="2100" spc="307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(e.g.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age,</a:t>
            </a:r>
            <a:r>
              <a:rPr sz="1900" spc="-10" dirty="0">
                <a:latin typeface="Calibri"/>
                <a:cs typeface="Calibri"/>
              </a:rPr>
              <a:t> height)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1561" y="2689917"/>
            <a:ext cx="4925695" cy="63500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09245" indent="-271145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mbria Math"/>
                <a:cs typeface="Cambria Math"/>
              </a:rPr>
              <a:t>𝑡</a:t>
            </a:r>
            <a:r>
              <a:rPr sz="2100" baseline="27777" dirty="0">
                <a:latin typeface="Cambria Math"/>
                <a:cs typeface="Cambria Math"/>
              </a:rPr>
              <a:t>(𝑖)</a:t>
            </a:r>
            <a:r>
              <a:rPr sz="2100" spc="427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ℝ</a:t>
            </a:r>
            <a:r>
              <a:rPr sz="1900" spc="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 target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response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(e.g.</a:t>
            </a:r>
            <a:r>
              <a:rPr sz="1900" spc="-10" dirty="0">
                <a:latin typeface="Calibri"/>
                <a:cs typeface="Calibri"/>
              </a:rPr>
              <a:t> income)</a:t>
            </a:r>
            <a:endParaRPr sz="1900">
              <a:latin typeface="Calibri"/>
              <a:cs typeface="Calibri"/>
            </a:endParaRPr>
          </a:p>
          <a:p>
            <a:pPr marL="309245" indent="-27114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Predict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𝑡</a:t>
            </a:r>
            <a:r>
              <a:rPr sz="2100" baseline="27777" dirty="0">
                <a:latin typeface="Cambria Math"/>
                <a:cs typeface="Cambria Math"/>
              </a:rPr>
              <a:t>(𝑖)</a:t>
            </a:r>
            <a:r>
              <a:rPr sz="2100" spc="277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50" dirty="0">
                <a:latin typeface="Cambria Math"/>
                <a:cs typeface="Cambria Math"/>
              </a:rPr>
              <a:t>x</a:t>
            </a:r>
            <a:r>
              <a:rPr sz="2100" spc="75" baseline="27777" dirty="0">
                <a:latin typeface="Cambria Math"/>
                <a:cs typeface="Cambria Math"/>
              </a:rPr>
              <a:t>(𝑖)</a:t>
            </a:r>
            <a:r>
              <a:rPr sz="1900" spc="50" dirty="0"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89552" y="3831436"/>
            <a:ext cx="183247" cy="16488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345919" y="3710658"/>
            <a:ext cx="100203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baseline="-20467" dirty="0">
                <a:latin typeface="Cambria Math"/>
                <a:cs typeface="Cambria Math"/>
              </a:rPr>
              <a:t>𝑡</a:t>
            </a:r>
            <a:r>
              <a:rPr sz="1400" dirty="0">
                <a:latin typeface="Cambria Math"/>
                <a:cs typeface="Cambria Math"/>
              </a:rPr>
              <a:t>(𝑖)</a:t>
            </a:r>
            <a:r>
              <a:rPr sz="1400" spc="350" dirty="0">
                <a:latin typeface="Cambria Math"/>
                <a:cs typeface="Cambria Math"/>
              </a:rPr>
              <a:t> </a:t>
            </a:r>
            <a:r>
              <a:rPr sz="2850" baseline="-20467" dirty="0">
                <a:latin typeface="Cambria Math"/>
                <a:cs typeface="Cambria Math"/>
              </a:rPr>
              <a:t>≈</a:t>
            </a:r>
            <a:r>
              <a:rPr sz="2850" spc="232" baseline="-20467" dirty="0">
                <a:latin typeface="Cambria Math"/>
                <a:cs typeface="Cambria Math"/>
              </a:rPr>
              <a:t> </a:t>
            </a:r>
            <a:r>
              <a:rPr sz="2850" baseline="-20467" dirty="0">
                <a:latin typeface="Cambria Math"/>
                <a:cs typeface="Cambria Math"/>
              </a:rPr>
              <a:t>𝑦</a:t>
            </a:r>
            <a:r>
              <a:rPr sz="2850" spc="450" baseline="-20467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𝑖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3313" y="3831436"/>
            <a:ext cx="183248" cy="16488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074456" y="3799050"/>
            <a:ext cx="280543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390015" algn="l"/>
                <a:tab pos="2390140" algn="l"/>
              </a:tabLst>
            </a:pPr>
            <a:r>
              <a:rPr sz="1900" spc="-50" dirty="0">
                <a:latin typeface="Arial MT"/>
                <a:cs typeface="Arial MT"/>
              </a:rPr>
              <a:t>•</a:t>
            </a:r>
            <a:r>
              <a:rPr sz="1900" dirty="0">
                <a:latin typeface="Arial MT"/>
                <a:cs typeface="Arial MT"/>
              </a:rPr>
              <a:t>	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45" dirty="0">
                <a:latin typeface="Cambria Math"/>
                <a:cs typeface="Cambria Math"/>
              </a:rPr>
              <a:t>  </a:t>
            </a:r>
            <a:r>
              <a:rPr sz="1900" spc="125" dirty="0">
                <a:latin typeface="Cambria Math"/>
                <a:cs typeface="Cambria Math"/>
              </a:rPr>
              <a:t>w</a:t>
            </a:r>
            <a:r>
              <a:rPr sz="2100" spc="187" baseline="27777" dirty="0">
                <a:latin typeface="Cambria Math"/>
                <a:cs typeface="Cambria Math"/>
              </a:rPr>
              <a:t>𝗍</a:t>
            </a:r>
            <a:r>
              <a:rPr sz="1900" spc="125" dirty="0">
                <a:latin typeface="Cambria Math"/>
                <a:cs typeface="Cambria Math"/>
              </a:rPr>
              <a:t>x</a:t>
            </a:r>
            <a:r>
              <a:rPr sz="1900" spc="220" dirty="0">
                <a:latin typeface="Cambria Math"/>
                <a:cs typeface="Cambria Math"/>
              </a:rPr>
              <a:t> </a:t>
            </a:r>
            <a:r>
              <a:rPr sz="2100" baseline="27777" dirty="0">
                <a:latin typeface="Cambria Math"/>
                <a:cs typeface="Cambria Math"/>
              </a:rPr>
              <a:t>𝑖	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20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𝑏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44034" y="4164800"/>
            <a:ext cx="578485" cy="224154"/>
          </a:xfrm>
          <a:custGeom>
            <a:avLst/>
            <a:gdLst/>
            <a:ahLst/>
            <a:cxnLst/>
            <a:rect l="l" t="t" r="r" b="b"/>
            <a:pathLst>
              <a:path w="578484" h="224154">
                <a:moveTo>
                  <a:pt x="506602" y="0"/>
                </a:moveTo>
                <a:lnTo>
                  <a:pt x="503421" y="9083"/>
                </a:lnTo>
                <a:lnTo>
                  <a:pt x="516359" y="14704"/>
                </a:lnTo>
                <a:lnTo>
                  <a:pt x="527486" y="22486"/>
                </a:lnTo>
                <a:lnTo>
                  <a:pt x="550078" y="58556"/>
                </a:lnTo>
                <a:lnTo>
                  <a:pt x="557502" y="110764"/>
                </a:lnTo>
                <a:lnTo>
                  <a:pt x="556673" y="130500"/>
                </a:lnTo>
                <a:lnTo>
                  <a:pt x="544247" y="178827"/>
                </a:lnTo>
                <a:lnTo>
                  <a:pt x="516510" y="209039"/>
                </a:lnTo>
                <a:lnTo>
                  <a:pt x="503774" y="214687"/>
                </a:lnTo>
                <a:lnTo>
                  <a:pt x="506602" y="223770"/>
                </a:lnTo>
                <a:lnTo>
                  <a:pt x="549306" y="198368"/>
                </a:lnTo>
                <a:lnTo>
                  <a:pt x="573290" y="151475"/>
                </a:lnTo>
                <a:lnTo>
                  <a:pt x="577885" y="111944"/>
                </a:lnTo>
                <a:lnTo>
                  <a:pt x="576746" y="91673"/>
                </a:lnTo>
                <a:lnTo>
                  <a:pt x="559446" y="39222"/>
                </a:lnTo>
                <a:lnTo>
                  <a:pt x="522807" y="5857"/>
                </a:lnTo>
                <a:lnTo>
                  <a:pt x="506602" y="0"/>
                </a:lnTo>
                <a:close/>
              </a:path>
              <a:path w="578484" h="224154">
                <a:moveTo>
                  <a:pt x="71282" y="0"/>
                </a:moveTo>
                <a:lnTo>
                  <a:pt x="28656" y="25469"/>
                </a:lnTo>
                <a:lnTo>
                  <a:pt x="4609" y="72472"/>
                </a:lnTo>
                <a:lnTo>
                  <a:pt x="66" y="110764"/>
                </a:lnTo>
                <a:lnTo>
                  <a:pt x="0" y="111944"/>
                </a:lnTo>
                <a:lnTo>
                  <a:pt x="4595" y="151475"/>
                </a:lnTo>
                <a:lnTo>
                  <a:pt x="28579" y="198368"/>
                </a:lnTo>
                <a:lnTo>
                  <a:pt x="71282" y="223770"/>
                </a:lnTo>
                <a:lnTo>
                  <a:pt x="74109" y="214687"/>
                </a:lnTo>
                <a:lnTo>
                  <a:pt x="61373" y="209039"/>
                </a:lnTo>
                <a:lnTo>
                  <a:pt x="50383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6"/>
                </a:lnTo>
                <a:lnTo>
                  <a:pt x="50472" y="22486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15713" y="4457192"/>
            <a:ext cx="578485" cy="224154"/>
          </a:xfrm>
          <a:custGeom>
            <a:avLst/>
            <a:gdLst/>
            <a:ahLst/>
            <a:cxnLst/>
            <a:rect l="l" t="t" r="r" b="b"/>
            <a:pathLst>
              <a:path w="578484" h="224154">
                <a:moveTo>
                  <a:pt x="506603" y="0"/>
                </a:moveTo>
                <a:lnTo>
                  <a:pt x="503421" y="9081"/>
                </a:lnTo>
                <a:lnTo>
                  <a:pt x="516359" y="14703"/>
                </a:lnTo>
                <a:lnTo>
                  <a:pt x="527486" y="22485"/>
                </a:lnTo>
                <a:lnTo>
                  <a:pt x="550078" y="58555"/>
                </a:lnTo>
                <a:lnTo>
                  <a:pt x="556642" y="91429"/>
                </a:lnTo>
                <a:lnTo>
                  <a:pt x="556677" y="91672"/>
                </a:lnTo>
                <a:lnTo>
                  <a:pt x="556673" y="130500"/>
                </a:lnTo>
                <a:lnTo>
                  <a:pt x="544247" y="178827"/>
                </a:lnTo>
                <a:lnTo>
                  <a:pt x="516510" y="209039"/>
                </a:lnTo>
                <a:lnTo>
                  <a:pt x="503774" y="214687"/>
                </a:lnTo>
                <a:lnTo>
                  <a:pt x="506603" y="223770"/>
                </a:lnTo>
                <a:lnTo>
                  <a:pt x="549306" y="198367"/>
                </a:lnTo>
                <a:lnTo>
                  <a:pt x="573290" y="151474"/>
                </a:lnTo>
                <a:lnTo>
                  <a:pt x="577885" y="111942"/>
                </a:lnTo>
                <a:lnTo>
                  <a:pt x="576746" y="91672"/>
                </a:lnTo>
                <a:lnTo>
                  <a:pt x="576733" y="91429"/>
                </a:lnTo>
                <a:lnTo>
                  <a:pt x="559445" y="39221"/>
                </a:lnTo>
                <a:lnTo>
                  <a:pt x="522807" y="5856"/>
                </a:lnTo>
                <a:lnTo>
                  <a:pt x="506603" y="0"/>
                </a:lnTo>
                <a:close/>
              </a:path>
              <a:path w="578484" h="224154">
                <a:moveTo>
                  <a:pt x="71282" y="0"/>
                </a:moveTo>
                <a:lnTo>
                  <a:pt x="28656" y="25467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2"/>
                </a:lnTo>
                <a:lnTo>
                  <a:pt x="1036" y="130500"/>
                </a:lnTo>
                <a:lnTo>
                  <a:pt x="10338" y="168862"/>
                </a:lnTo>
                <a:lnTo>
                  <a:pt x="40795" y="209452"/>
                </a:lnTo>
                <a:lnTo>
                  <a:pt x="71282" y="223770"/>
                </a:lnTo>
                <a:lnTo>
                  <a:pt x="74109" y="214687"/>
                </a:lnTo>
                <a:lnTo>
                  <a:pt x="61373" y="209039"/>
                </a:lnTo>
                <a:lnTo>
                  <a:pt x="50383" y="201180"/>
                </a:lnTo>
                <a:lnTo>
                  <a:pt x="27839" y="164531"/>
                </a:lnTo>
                <a:lnTo>
                  <a:pt x="20432" y="111942"/>
                </a:lnTo>
                <a:lnTo>
                  <a:pt x="20383" y="110764"/>
                </a:lnTo>
                <a:lnTo>
                  <a:pt x="21211" y="91672"/>
                </a:lnTo>
                <a:lnTo>
                  <a:pt x="33638" y="44528"/>
                </a:lnTo>
                <a:lnTo>
                  <a:pt x="61573" y="14703"/>
                </a:lnTo>
                <a:lnTo>
                  <a:pt x="74463" y="9081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099856" y="4091658"/>
            <a:ext cx="4019550" cy="901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  <a:tab pos="1322705" algn="l"/>
                <a:tab pos="1896745" algn="l"/>
              </a:tabLst>
            </a:pPr>
            <a:r>
              <a:rPr sz="1900" spc="-10" dirty="0">
                <a:latin typeface="Calibri"/>
                <a:cs typeface="Calibri"/>
              </a:rPr>
              <a:t>Different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dirty="0">
                <a:latin typeface="Cambria Math"/>
                <a:cs typeface="Cambria Math"/>
              </a:rPr>
              <a:t>w,</a:t>
            </a:r>
            <a:r>
              <a:rPr sz="1900" spc="-60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𝑏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dirty="0">
                <a:latin typeface="Calibri"/>
                <a:cs typeface="Calibri"/>
              </a:rPr>
              <a:t>define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different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lines.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83845" algn="l"/>
                <a:tab pos="2794635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want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“best”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line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dirty="0">
                <a:latin typeface="Cambria Math"/>
                <a:cs typeface="Cambria Math"/>
              </a:rPr>
              <a:t>w,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𝑏</a:t>
            </a:r>
            <a:r>
              <a:rPr sz="1900" spc="434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.</a:t>
            </a:r>
            <a:endParaRPr sz="1900">
              <a:latin typeface="Cambria Math"/>
              <a:cs typeface="Cambria Math"/>
            </a:endParaRPr>
          </a:p>
          <a:p>
            <a:pPr marL="2838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How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quantify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“best”?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22970" y="1606617"/>
            <a:ext cx="794113" cy="37127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04150" y="2200799"/>
            <a:ext cx="1364360" cy="3338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32300" y="5104551"/>
            <a:ext cx="176138" cy="176530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5481246" y="5209347"/>
            <a:ext cx="31750" cy="54610"/>
          </a:xfrm>
          <a:custGeom>
            <a:avLst/>
            <a:gdLst/>
            <a:ahLst/>
            <a:cxnLst/>
            <a:rect l="l" t="t" r="r" b="b"/>
            <a:pathLst>
              <a:path w="31750" h="54610">
                <a:moveTo>
                  <a:pt x="18955" y="18403"/>
                </a:moveTo>
                <a:lnTo>
                  <a:pt x="18925" y="19010"/>
                </a:lnTo>
                <a:lnTo>
                  <a:pt x="16733" y="22979"/>
                </a:lnTo>
                <a:lnTo>
                  <a:pt x="11051" y="33604"/>
                </a:lnTo>
                <a:lnTo>
                  <a:pt x="6299" y="40393"/>
                </a:lnTo>
                <a:lnTo>
                  <a:pt x="0" y="48978"/>
                </a:lnTo>
                <a:lnTo>
                  <a:pt x="424" y="51742"/>
                </a:lnTo>
                <a:lnTo>
                  <a:pt x="4151" y="54476"/>
                </a:lnTo>
                <a:lnTo>
                  <a:pt x="6593" y="54286"/>
                </a:lnTo>
                <a:lnTo>
                  <a:pt x="8134" y="52735"/>
                </a:lnTo>
                <a:lnTo>
                  <a:pt x="31462" y="21558"/>
                </a:lnTo>
                <a:lnTo>
                  <a:pt x="28147" y="21558"/>
                </a:lnTo>
                <a:lnTo>
                  <a:pt x="21509" y="21225"/>
                </a:lnTo>
                <a:lnTo>
                  <a:pt x="18955" y="18403"/>
                </a:lnTo>
                <a:close/>
              </a:path>
              <a:path w="31750" h="54610">
                <a:moveTo>
                  <a:pt x="27904" y="9094"/>
                </a:moveTo>
                <a:lnTo>
                  <a:pt x="18955" y="18403"/>
                </a:lnTo>
                <a:lnTo>
                  <a:pt x="21509" y="21225"/>
                </a:lnTo>
                <a:lnTo>
                  <a:pt x="28147" y="21558"/>
                </a:lnTo>
                <a:lnTo>
                  <a:pt x="30962" y="19010"/>
                </a:lnTo>
                <a:lnTo>
                  <a:pt x="31138" y="15678"/>
                </a:lnTo>
                <a:lnTo>
                  <a:pt x="31121" y="14843"/>
                </a:lnTo>
                <a:lnTo>
                  <a:pt x="30947" y="12904"/>
                </a:lnTo>
                <a:lnTo>
                  <a:pt x="30824" y="11537"/>
                </a:lnTo>
                <a:lnTo>
                  <a:pt x="27904" y="9094"/>
                </a:lnTo>
                <a:close/>
              </a:path>
              <a:path w="31750" h="54610">
                <a:moveTo>
                  <a:pt x="31196" y="15678"/>
                </a:moveTo>
                <a:lnTo>
                  <a:pt x="31002" y="18403"/>
                </a:lnTo>
                <a:lnTo>
                  <a:pt x="30962" y="19010"/>
                </a:lnTo>
                <a:lnTo>
                  <a:pt x="28147" y="21558"/>
                </a:lnTo>
                <a:lnTo>
                  <a:pt x="31462" y="21558"/>
                </a:lnTo>
                <a:lnTo>
                  <a:pt x="31633" y="21225"/>
                </a:lnTo>
                <a:lnTo>
                  <a:pt x="31493" y="19010"/>
                </a:lnTo>
                <a:lnTo>
                  <a:pt x="31196" y="15678"/>
                </a:lnTo>
                <a:close/>
              </a:path>
              <a:path w="31750" h="54610">
                <a:moveTo>
                  <a:pt x="20864" y="0"/>
                </a:moveTo>
                <a:lnTo>
                  <a:pt x="14766" y="430"/>
                </a:lnTo>
                <a:lnTo>
                  <a:pt x="12945" y="2529"/>
                </a:lnTo>
                <a:lnTo>
                  <a:pt x="13257" y="6958"/>
                </a:lnTo>
                <a:lnTo>
                  <a:pt x="14751" y="8614"/>
                </a:lnTo>
                <a:lnTo>
                  <a:pt x="19489" y="9443"/>
                </a:lnTo>
                <a:lnTo>
                  <a:pt x="19375" y="10953"/>
                </a:lnTo>
                <a:lnTo>
                  <a:pt x="19290" y="12086"/>
                </a:lnTo>
                <a:lnTo>
                  <a:pt x="19794" y="11537"/>
                </a:lnTo>
                <a:lnTo>
                  <a:pt x="21603" y="9655"/>
                </a:lnTo>
                <a:lnTo>
                  <a:pt x="27904" y="9094"/>
                </a:lnTo>
                <a:lnTo>
                  <a:pt x="30271" y="9094"/>
                </a:lnTo>
                <a:lnTo>
                  <a:pt x="29696" y="6958"/>
                </a:lnTo>
                <a:lnTo>
                  <a:pt x="24467" y="1219"/>
                </a:lnTo>
                <a:lnTo>
                  <a:pt x="20864" y="0"/>
                </a:lnTo>
                <a:close/>
              </a:path>
              <a:path w="31750" h="54610">
                <a:moveTo>
                  <a:pt x="30271" y="9094"/>
                </a:moveTo>
                <a:lnTo>
                  <a:pt x="27904" y="9094"/>
                </a:lnTo>
                <a:lnTo>
                  <a:pt x="30826" y="11537"/>
                </a:lnTo>
                <a:lnTo>
                  <a:pt x="30772" y="10953"/>
                </a:lnTo>
                <a:lnTo>
                  <a:pt x="30422" y="9655"/>
                </a:lnTo>
                <a:lnTo>
                  <a:pt x="30365" y="9443"/>
                </a:lnTo>
                <a:lnTo>
                  <a:pt x="30271" y="90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604523" y="4960555"/>
            <a:ext cx="3685043" cy="34592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210655" y="5427498"/>
            <a:ext cx="1823216" cy="29014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90121" y="5395414"/>
            <a:ext cx="3150670" cy="326075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8131566" y="2076399"/>
            <a:ext cx="2235200" cy="2008505"/>
            <a:chOff x="8131566" y="2076399"/>
            <a:chExt cx="2235200" cy="2008505"/>
          </a:xfrm>
        </p:grpSpPr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31566" y="2076399"/>
              <a:ext cx="2234695" cy="200815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684387" y="3880016"/>
              <a:ext cx="133350" cy="93345"/>
            </a:xfrm>
            <a:custGeom>
              <a:avLst/>
              <a:gdLst/>
              <a:ahLst/>
              <a:cxnLst/>
              <a:rect l="l" t="t" r="r" b="b"/>
              <a:pathLst>
                <a:path w="133350" h="93345">
                  <a:moveTo>
                    <a:pt x="104495" y="7239"/>
                  </a:moveTo>
                  <a:lnTo>
                    <a:pt x="103251" y="1765"/>
                  </a:lnTo>
                  <a:lnTo>
                    <a:pt x="101079" y="0"/>
                  </a:lnTo>
                  <a:lnTo>
                    <a:pt x="88696" y="0"/>
                  </a:lnTo>
                  <a:lnTo>
                    <a:pt x="45834" y="5359"/>
                  </a:lnTo>
                  <a:lnTo>
                    <a:pt x="2184" y="14922"/>
                  </a:lnTo>
                  <a:lnTo>
                    <a:pt x="0" y="18516"/>
                  </a:lnTo>
                  <a:lnTo>
                    <a:pt x="1676" y="25438"/>
                  </a:lnTo>
                  <a:lnTo>
                    <a:pt x="4914" y="27609"/>
                  </a:lnTo>
                  <a:lnTo>
                    <a:pt x="54127" y="19850"/>
                  </a:lnTo>
                  <a:lnTo>
                    <a:pt x="76949" y="15697"/>
                  </a:lnTo>
                  <a:lnTo>
                    <a:pt x="99631" y="10909"/>
                  </a:lnTo>
                  <a:lnTo>
                    <a:pt x="102628" y="10223"/>
                  </a:lnTo>
                  <a:lnTo>
                    <a:pt x="104495" y="7239"/>
                  </a:lnTo>
                  <a:close/>
                </a:path>
                <a:path w="133350" h="93345">
                  <a:moveTo>
                    <a:pt x="133324" y="76847"/>
                  </a:moveTo>
                  <a:lnTo>
                    <a:pt x="133210" y="75539"/>
                  </a:lnTo>
                  <a:lnTo>
                    <a:pt x="133096" y="74269"/>
                  </a:lnTo>
                  <a:lnTo>
                    <a:pt x="133248" y="74269"/>
                  </a:lnTo>
                  <a:lnTo>
                    <a:pt x="130365" y="71856"/>
                  </a:lnTo>
                  <a:lnTo>
                    <a:pt x="129209" y="71501"/>
                  </a:lnTo>
                  <a:lnTo>
                    <a:pt x="121742" y="72288"/>
                  </a:lnTo>
                  <a:lnTo>
                    <a:pt x="70078" y="74536"/>
                  </a:lnTo>
                  <a:lnTo>
                    <a:pt x="67513" y="74637"/>
                  </a:lnTo>
                  <a:lnTo>
                    <a:pt x="42494" y="75539"/>
                  </a:lnTo>
                  <a:lnTo>
                    <a:pt x="43103" y="75539"/>
                  </a:lnTo>
                  <a:lnTo>
                    <a:pt x="32715" y="75857"/>
                  </a:lnTo>
                  <a:lnTo>
                    <a:pt x="31699" y="75819"/>
                  </a:lnTo>
                  <a:lnTo>
                    <a:pt x="31800" y="75539"/>
                  </a:lnTo>
                  <a:lnTo>
                    <a:pt x="31927" y="75196"/>
                  </a:lnTo>
                  <a:lnTo>
                    <a:pt x="32029" y="74904"/>
                  </a:lnTo>
                  <a:lnTo>
                    <a:pt x="33108" y="71856"/>
                  </a:lnTo>
                  <a:lnTo>
                    <a:pt x="33235" y="71501"/>
                  </a:lnTo>
                  <a:lnTo>
                    <a:pt x="33299" y="71323"/>
                  </a:lnTo>
                  <a:lnTo>
                    <a:pt x="32156" y="68922"/>
                  </a:lnTo>
                  <a:lnTo>
                    <a:pt x="31470" y="68681"/>
                  </a:lnTo>
                  <a:lnTo>
                    <a:pt x="31470" y="76479"/>
                  </a:lnTo>
                  <a:lnTo>
                    <a:pt x="30899" y="78105"/>
                  </a:lnTo>
                  <a:lnTo>
                    <a:pt x="31457" y="76479"/>
                  </a:lnTo>
                  <a:lnTo>
                    <a:pt x="31470" y="68681"/>
                  </a:lnTo>
                  <a:lnTo>
                    <a:pt x="28257" y="67551"/>
                  </a:lnTo>
                  <a:lnTo>
                    <a:pt x="28257" y="75539"/>
                  </a:lnTo>
                  <a:lnTo>
                    <a:pt x="28105" y="75704"/>
                  </a:lnTo>
                  <a:lnTo>
                    <a:pt x="24828" y="75590"/>
                  </a:lnTo>
                  <a:lnTo>
                    <a:pt x="24828" y="84734"/>
                  </a:lnTo>
                  <a:lnTo>
                    <a:pt x="24688" y="84861"/>
                  </a:lnTo>
                  <a:lnTo>
                    <a:pt x="24688" y="88861"/>
                  </a:lnTo>
                  <a:lnTo>
                    <a:pt x="24549" y="89039"/>
                  </a:lnTo>
                  <a:lnTo>
                    <a:pt x="24117" y="89382"/>
                  </a:lnTo>
                  <a:lnTo>
                    <a:pt x="24485" y="89039"/>
                  </a:lnTo>
                  <a:lnTo>
                    <a:pt x="24371" y="86004"/>
                  </a:lnTo>
                  <a:lnTo>
                    <a:pt x="24396" y="86423"/>
                  </a:lnTo>
                  <a:lnTo>
                    <a:pt x="24523" y="89039"/>
                  </a:lnTo>
                  <a:lnTo>
                    <a:pt x="24688" y="88861"/>
                  </a:lnTo>
                  <a:lnTo>
                    <a:pt x="24688" y="84861"/>
                  </a:lnTo>
                  <a:lnTo>
                    <a:pt x="24333" y="85140"/>
                  </a:lnTo>
                  <a:lnTo>
                    <a:pt x="24828" y="84734"/>
                  </a:lnTo>
                  <a:lnTo>
                    <a:pt x="24828" y="75590"/>
                  </a:lnTo>
                  <a:lnTo>
                    <a:pt x="24041" y="75565"/>
                  </a:lnTo>
                  <a:lnTo>
                    <a:pt x="24041" y="85382"/>
                  </a:lnTo>
                  <a:lnTo>
                    <a:pt x="23596" y="85839"/>
                  </a:lnTo>
                  <a:lnTo>
                    <a:pt x="23825" y="85559"/>
                  </a:lnTo>
                  <a:lnTo>
                    <a:pt x="24041" y="85382"/>
                  </a:lnTo>
                  <a:lnTo>
                    <a:pt x="24041" y="75565"/>
                  </a:lnTo>
                  <a:lnTo>
                    <a:pt x="23533" y="75539"/>
                  </a:lnTo>
                  <a:lnTo>
                    <a:pt x="28257" y="75539"/>
                  </a:lnTo>
                  <a:lnTo>
                    <a:pt x="28257" y="67551"/>
                  </a:lnTo>
                  <a:lnTo>
                    <a:pt x="27914" y="67424"/>
                  </a:lnTo>
                  <a:lnTo>
                    <a:pt x="25666" y="68376"/>
                  </a:lnTo>
                  <a:lnTo>
                    <a:pt x="23520" y="72961"/>
                  </a:lnTo>
                  <a:lnTo>
                    <a:pt x="21564" y="74269"/>
                  </a:lnTo>
                  <a:lnTo>
                    <a:pt x="20942" y="74637"/>
                  </a:lnTo>
                  <a:lnTo>
                    <a:pt x="18643" y="75349"/>
                  </a:lnTo>
                  <a:lnTo>
                    <a:pt x="15341" y="76034"/>
                  </a:lnTo>
                  <a:lnTo>
                    <a:pt x="15341" y="85559"/>
                  </a:lnTo>
                  <a:lnTo>
                    <a:pt x="15125" y="84874"/>
                  </a:lnTo>
                  <a:lnTo>
                    <a:pt x="15214" y="85140"/>
                  </a:lnTo>
                  <a:lnTo>
                    <a:pt x="15290" y="85369"/>
                  </a:lnTo>
                  <a:lnTo>
                    <a:pt x="15341" y="85559"/>
                  </a:lnTo>
                  <a:lnTo>
                    <a:pt x="15341" y="76034"/>
                  </a:lnTo>
                  <a:lnTo>
                    <a:pt x="15074" y="76085"/>
                  </a:lnTo>
                  <a:lnTo>
                    <a:pt x="15074" y="84721"/>
                  </a:lnTo>
                  <a:lnTo>
                    <a:pt x="13677" y="80137"/>
                  </a:lnTo>
                  <a:lnTo>
                    <a:pt x="15049" y="84582"/>
                  </a:lnTo>
                  <a:lnTo>
                    <a:pt x="15074" y="84721"/>
                  </a:lnTo>
                  <a:lnTo>
                    <a:pt x="15074" y="76085"/>
                  </a:lnTo>
                  <a:lnTo>
                    <a:pt x="13309" y="76441"/>
                  </a:lnTo>
                  <a:lnTo>
                    <a:pt x="11734" y="76479"/>
                  </a:lnTo>
                  <a:lnTo>
                    <a:pt x="12319" y="76479"/>
                  </a:lnTo>
                  <a:lnTo>
                    <a:pt x="12141" y="76669"/>
                  </a:lnTo>
                  <a:lnTo>
                    <a:pt x="11341" y="76847"/>
                  </a:lnTo>
                  <a:lnTo>
                    <a:pt x="9499" y="77203"/>
                  </a:lnTo>
                  <a:lnTo>
                    <a:pt x="6870" y="81165"/>
                  </a:lnTo>
                  <a:lnTo>
                    <a:pt x="7112" y="82359"/>
                  </a:lnTo>
                  <a:lnTo>
                    <a:pt x="7175" y="82702"/>
                  </a:lnTo>
                  <a:lnTo>
                    <a:pt x="7340" y="82359"/>
                  </a:lnTo>
                  <a:lnTo>
                    <a:pt x="7353" y="83604"/>
                  </a:lnTo>
                  <a:lnTo>
                    <a:pt x="7239" y="82969"/>
                  </a:lnTo>
                  <a:lnTo>
                    <a:pt x="7112" y="85369"/>
                  </a:lnTo>
                  <a:lnTo>
                    <a:pt x="6997" y="87718"/>
                  </a:lnTo>
                  <a:lnTo>
                    <a:pt x="8534" y="89382"/>
                  </a:lnTo>
                  <a:lnTo>
                    <a:pt x="8432" y="89039"/>
                  </a:lnTo>
                  <a:lnTo>
                    <a:pt x="8178" y="87807"/>
                  </a:lnTo>
                  <a:lnTo>
                    <a:pt x="8305" y="88366"/>
                  </a:lnTo>
                  <a:lnTo>
                    <a:pt x="8356" y="88633"/>
                  </a:lnTo>
                  <a:lnTo>
                    <a:pt x="8432" y="89039"/>
                  </a:lnTo>
                  <a:lnTo>
                    <a:pt x="8559" y="89382"/>
                  </a:lnTo>
                  <a:lnTo>
                    <a:pt x="8724" y="89585"/>
                  </a:lnTo>
                  <a:lnTo>
                    <a:pt x="10007" y="90995"/>
                  </a:lnTo>
                  <a:lnTo>
                    <a:pt x="11468" y="91313"/>
                  </a:lnTo>
                  <a:lnTo>
                    <a:pt x="11734" y="91478"/>
                  </a:lnTo>
                  <a:lnTo>
                    <a:pt x="11493" y="91313"/>
                  </a:lnTo>
                  <a:lnTo>
                    <a:pt x="11899" y="91401"/>
                  </a:lnTo>
                  <a:lnTo>
                    <a:pt x="12242" y="91478"/>
                  </a:lnTo>
                  <a:lnTo>
                    <a:pt x="13512" y="91744"/>
                  </a:lnTo>
                  <a:lnTo>
                    <a:pt x="12496" y="91960"/>
                  </a:lnTo>
                  <a:lnTo>
                    <a:pt x="13512" y="91744"/>
                  </a:lnTo>
                  <a:lnTo>
                    <a:pt x="12242" y="91478"/>
                  </a:lnTo>
                  <a:lnTo>
                    <a:pt x="11988" y="91478"/>
                  </a:lnTo>
                  <a:lnTo>
                    <a:pt x="11747" y="91478"/>
                  </a:lnTo>
                  <a:lnTo>
                    <a:pt x="12433" y="91973"/>
                  </a:lnTo>
                  <a:lnTo>
                    <a:pt x="12661" y="92125"/>
                  </a:lnTo>
                  <a:lnTo>
                    <a:pt x="15392" y="92151"/>
                  </a:lnTo>
                  <a:lnTo>
                    <a:pt x="17233" y="92151"/>
                  </a:lnTo>
                  <a:lnTo>
                    <a:pt x="21018" y="92278"/>
                  </a:lnTo>
                  <a:lnTo>
                    <a:pt x="23761" y="92367"/>
                  </a:lnTo>
                  <a:lnTo>
                    <a:pt x="28003" y="92506"/>
                  </a:lnTo>
                  <a:lnTo>
                    <a:pt x="32410" y="92659"/>
                  </a:lnTo>
                  <a:lnTo>
                    <a:pt x="37058" y="92824"/>
                  </a:lnTo>
                  <a:lnTo>
                    <a:pt x="37287" y="92824"/>
                  </a:lnTo>
                  <a:lnTo>
                    <a:pt x="42646" y="92824"/>
                  </a:lnTo>
                  <a:lnTo>
                    <a:pt x="48742" y="92824"/>
                  </a:lnTo>
                  <a:lnTo>
                    <a:pt x="68427" y="92151"/>
                  </a:lnTo>
                  <a:lnTo>
                    <a:pt x="69392" y="92151"/>
                  </a:lnTo>
                  <a:lnTo>
                    <a:pt x="73723" y="91935"/>
                  </a:lnTo>
                  <a:lnTo>
                    <a:pt x="77317" y="91744"/>
                  </a:lnTo>
                  <a:lnTo>
                    <a:pt x="78143" y="91706"/>
                  </a:lnTo>
                  <a:lnTo>
                    <a:pt x="82753" y="91478"/>
                  </a:lnTo>
                  <a:lnTo>
                    <a:pt x="90919" y="90830"/>
                  </a:lnTo>
                  <a:lnTo>
                    <a:pt x="91376" y="90830"/>
                  </a:lnTo>
                  <a:lnTo>
                    <a:pt x="129616" y="81165"/>
                  </a:lnTo>
                  <a:lnTo>
                    <a:pt x="130175" y="80594"/>
                  </a:lnTo>
                  <a:lnTo>
                    <a:pt x="133324" y="768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40" dirty="0"/>
              <a:t> </a:t>
            </a:r>
            <a:r>
              <a:rPr dirty="0"/>
              <a:t>Regression</a:t>
            </a:r>
            <a:r>
              <a:rPr spc="60" dirty="0"/>
              <a:t> </a:t>
            </a:r>
            <a:r>
              <a:rPr dirty="0"/>
              <a:t>-</a:t>
            </a:r>
            <a:r>
              <a:rPr spc="40" dirty="0"/>
              <a:t> </a:t>
            </a:r>
            <a:r>
              <a:rPr dirty="0"/>
              <a:t>Loss</a:t>
            </a:r>
            <a:r>
              <a:rPr spc="45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7" y="1820898"/>
            <a:ext cx="8214995" cy="8883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3845" marR="5080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19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19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ℒ(𝑦,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𝑡) </a:t>
            </a:r>
            <a:r>
              <a:rPr sz="1900" dirty="0">
                <a:latin typeface="Calibri"/>
                <a:cs typeface="Calibri"/>
              </a:rPr>
              <a:t>defines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how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bad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if,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some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example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x,</a:t>
            </a:r>
            <a:r>
              <a:rPr sz="1900" spc="-2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algorithm </a:t>
            </a:r>
            <a:r>
              <a:rPr sz="1900" dirty="0">
                <a:latin typeface="Calibri"/>
                <a:cs typeface="Calibri"/>
              </a:rPr>
              <a:t>predicts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b="1" dirty="0">
                <a:latin typeface="Calibri"/>
                <a:cs typeface="Calibri"/>
              </a:rPr>
              <a:t>,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but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target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actually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𝑡</a:t>
            </a:r>
            <a:r>
              <a:rPr sz="1900" b="1" spc="-25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ts val="2210"/>
              </a:lnSpc>
              <a:buClr>
                <a:srgbClr val="000000"/>
              </a:buClr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Squared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error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1900" spc="-10" dirty="0"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54957" y="3791581"/>
            <a:ext cx="101600" cy="13335"/>
          </a:xfrm>
          <a:custGeom>
            <a:avLst/>
            <a:gdLst/>
            <a:ahLst/>
            <a:cxnLst/>
            <a:rect l="l" t="t" r="r" b="b"/>
            <a:pathLst>
              <a:path w="101600" h="13335">
                <a:moveTo>
                  <a:pt x="101600" y="0"/>
                </a:moveTo>
                <a:lnTo>
                  <a:pt x="0" y="0"/>
                </a:lnTo>
                <a:lnTo>
                  <a:pt x="0" y="12714"/>
                </a:lnTo>
                <a:lnTo>
                  <a:pt x="101600" y="12714"/>
                </a:lnTo>
                <a:lnTo>
                  <a:pt x="101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6457" y="5990562"/>
            <a:ext cx="642175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Terminology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varies.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Some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call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“cost”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empirical</a:t>
            </a:r>
            <a:r>
              <a:rPr sz="1900" i="1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average</a:t>
            </a:r>
            <a:r>
              <a:rPr sz="1900" i="1" spc="-50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loss</a:t>
            </a:r>
            <a:r>
              <a:rPr sz="1900" spc="-10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62083" y="2857467"/>
            <a:ext cx="487680" cy="224154"/>
          </a:xfrm>
          <a:custGeom>
            <a:avLst/>
            <a:gdLst/>
            <a:ahLst/>
            <a:cxnLst/>
            <a:rect l="l" t="t" r="r" b="b"/>
            <a:pathLst>
              <a:path w="487679" h="224155">
                <a:moveTo>
                  <a:pt x="415813" y="0"/>
                </a:moveTo>
                <a:lnTo>
                  <a:pt x="412633" y="9083"/>
                </a:lnTo>
                <a:lnTo>
                  <a:pt x="425571" y="14704"/>
                </a:lnTo>
                <a:lnTo>
                  <a:pt x="436697" y="22486"/>
                </a:lnTo>
                <a:lnTo>
                  <a:pt x="459290" y="58556"/>
                </a:lnTo>
                <a:lnTo>
                  <a:pt x="466713" y="110764"/>
                </a:lnTo>
                <a:lnTo>
                  <a:pt x="465885" y="130500"/>
                </a:lnTo>
                <a:lnTo>
                  <a:pt x="453458" y="178827"/>
                </a:lnTo>
                <a:lnTo>
                  <a:pt x="425722" y="209039"/>
                </a:lnTo>
                <a:lnTo>
                  <a:pt x="412986" y="214687"/>
                </a:lnTo>
                <a:lnTo>
                  <a:pt x="415813" y="223770"/>
                </a:lnTo>
                <a:lnTo>
                  <a:pt x="458516" y="198368"/>
                </a:lnTo>
                <a:lnTo>
                  <a:pt x="482500" y="151475"/>
                </a:lnTo>
                <a:lnTo>
                  <a:pt x="487095" y="111944"/>
                </a:lnTo>
                <a:lnTo>
                  <a:pt x="485957" y="91673"/>
                </a:lnTo>
                <a:lnTo>
                  <a:pt x="485943" y="91429"/>
                </a:lnTo>
                <a:lnTo>
                  <a:pt x="468656" y="39221"/>
                </a:lnTo>
                <a:lnTo>
                  <a:pt x="432017" y="5857"/>
                </a:lnTo>
                <a:lnTo>
                  <a:pt x="415813" y="0"/>
                </a:lnTo>
                <a:close/>
              </a:path>
              <a:path w="487679" h="224155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148" y="132502"/>
                </a:lnTo>
                <a:lnTo>
                  <a:pt x="18380" y="184666"/>
                </a:lnTo>
                <a:lnTo>
                  <a:pt x="55030" y="217920"/>
                </a:lnTo>
                <a:lnTo>
                  <a:pt x="71282" y="223770"/>
                </a:lnTo>
                <a:lnTo>
                  <a:pt x="74110" y="214687"/>
                </a:lnTo>
                <a:lnTo>
                  <a:pt x="61374" y="209039"/>
                </a:lnTo>
                <a:lnTo>
                  <a:pt x="50384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6"/>
                </a:lnTo>
                <a:lnTo>
                  <a:pt x="50472" y="22486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40287" y="2961611"/>
            <a:ext cx="127000" cy="13335"/>
          </a:xfrm>
          <a:custGeom>
            <a:avLst/>
            <a:gdLst/>
            <a:ahLst/>
            <a:cxnLst/>
            <a:rect l="l" t="t" r="r" b="b"/>
            <a:pathLst>
              <a:path w="127000" h="13335">
                <a:moveTo>
                  <a:pt x="127000" y="0"/>
                </a:moveTo>
                <a:lnTo>
                  <a:pt x="0" y="0"/>
                </a:lnTo>
                <a:lnTo>
                  <a:pt x="0" y="12714"/>
                </a:lnTo>
                <a:lnTo>
                  <a:pt x="127000" y="12714"/>
                </a:lnTo>
                <a:lnTo>
                  <a:pt x="12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53120" y="2784066"/>
            <a:ext cx="212661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83590" algn="l"/>
              </a:tabLst>
            </a:pPr>
            <a:r>
              <a:rPr sz="1900" dirty="0">
                <a:latin typeface="Cambria Math"/>
                <a:cs typeface="Cambria Math"/>
              </a:rPr>
              <a:t>ℒ</a:t>
            </a:r>
            <a:r>
              <a:rPr sz="1900" spc="4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𝑦,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𝑡</a:t>
            </a:r>
            <a:r>
              <a:rPr sz="1900" dirty="0">
                <a:latin typeface="Cambria Math"/>
                <a:cs typeface="Cambria Math"/>
              </a:rPr>
              <a:t>	=</a:t>
            </a:r>
            <a:r>
              <a:rPr sz="1900" spc="490" dirty="0">
                <a:latin typeface="Cambria Math"/>
                <a:cs typeface="Cambria Math"/>
              </a:rPr>
              <a:t> </a:t>
            </a:r>
            <a:r>
              <a:rPr sz="2850" baseline="42397" dirty="0">
                <a:latin typeface="Cambria Math"/>
                <a:cs typeface="Cambria Math"/>
              </a:rPr>
              <a:t>1</a:t>
            </a:r>
            <a:r>
              <a:rPr sz="2850" spc="-157" baseline="4239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(𝑦</a:t>
            </a:r>
            <a:r>
              <a:rPr sz="1900" spc="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𝑡)</a:t>
            </a:r>
            <a:r>
              <a:rPr sz="2100" spc="-37" baseline="27777" dirty="0">
                <a:latin typeface="Cambria Math"/>
                <a:cs typeface="Cambria Math"/>
              </a:rPr>
              <a:t>2</a:t>
            </a:r>
            <a:endParaRPr sz="2100" baseline="27777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8357" y="2909373"/>
            <a:ext cx="6939915" cy="16071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430655" algn="ctr">
              <a:lnSpc>
                <a:spcPct val="100000"/>
              </a:lnSpc>
              <a:spcBef>
                <a:spcPts val="385"/>
              </a:spcBef>
            </a:pPr>
            <a:r>
              <a:rPr sz="1900" spc="-50" dirty="0">
                <a:latin typeface="Cambria Math"/>
                <a:cs typeface="Cambria Math"/>
              </a:rPr>
              <a:t>2</a:t>
            </a:r>
            <a:endParaRPr sz="1900">
              <a:latin typeface="Cambria Math"/>
              <a:cs typeface="Cambria Math"/>
            </a:endParaRPr>
          </a:p>
          <a:p>
            <a:pPr marL="321945" indent="-27114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21945" algn="l"/>
              </a:tabLst>
            </a:pPr>
            <a:r>
              <a:rPr sz="1900" dirty="0">
                <a:latin typeface="Cambria Math"/>
                <a:cs typeface="Cambria Math"/>
              </a:rPr>
              <a:t>𝑦 −</a:t>
            </a:r>
            <a:r>
              <a:rPr sz="1900" spc="-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𝑡</a:t>
            </a:r>
            <a:r>
              <a:rPr sz="1900" spc="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residual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want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make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small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magnitude.</a:t>
            </a:r>
            <a:endParaRPr sz="1900">
              <a:latin typeface="Calibri"/>
              <a:cs typeface="Calibri"/>
            </a:endParaRPr>
          </a:p>
          <a:p>
            <a:pPr marL="321945" indent="-271145">
              <a:lnSpc>
                <a:spcPts val="1870"/>
              </a:lnSpc>
              <a:spcBef>
                <a:spcPts val="405"/>
              </a:spcBef>
              <a:buFont typeface="Arial MT"/>
              <a:buChar char="•"/>
              <a:tabLst>
                <a:tab pos="32194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2100" baseline="43650" dirty="0">
                <a:latin typeface="Cambria Math"/>
                <a:cs typeface="Cambria Math"/>
              </a:rPr>
              <a:t>1</a:t>
            </a:r>
            <a:r>
              <a:rPr sz="2100" spc="120" baseline="436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factor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just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make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calculations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convenient.</a:t>
            </a:r>
            <a:endParaRPr sz="1900">
              <a:latin typeface="Calibri"/>
              <a:cs typeface="Calibri"/>
            </a:endParaRPr>
          </a:p>
          <a:p>
            <a:pPr marL="741680">
              <a:lnSpc>
                <a:spcPts val="1105"/>
              </a:lnSpc>
            </a:pP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  <a:p>
            <a:pPr marL="321945" indent="-271145">
              <a:lnSpc>
                <a:spcPts val="2115"/>
              </a:lnSpc>
              <a:buClr>
                <a:srgbClr val="000000"/>
              </a:buClr>
              <a:buFont typeface="Arial MT"/>
              <a:buChar char="•"/>
              <a:tabLst>
                <a:tab pos="32194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Cost</a:t>
            </a:r>
            <a:r>
              <a:rPr sz="19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1900" dirty="0">
                <a:latin typeface="Calibri"/>
                <a:cs typeface="Calibri"/>
              </a:rPr>
              <a:t>: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loss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averaged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all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training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examples.</a:t>
            </a:r>
            <a:endParaRPr sz="1900">
              <a:latin typeface="Calibri"/>
              <a:cs typeface="Calibri"/>
            </a:endParaRPr>
          </a:p>
          <a:p>
            <a:pPr marL="1694814" algn="ctr">
              <a:lnSpc>
                <a:spcPct val="100000"/>
              </a:lnSpc>
              <a:spcBef>
                <a:spcPts val="140"/>
              </a:spcBef>
            </a:pPr>
            <a:r>
              <a:rPr sz="1400" spc="-50" dirty="0">
                <a:latin typeface="Cambria Math"/>
                <a:cs typeface="Cambria Math"/>
              </a:rPr>
              <a:t>𝑁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07786" y="4647569"/>
            <a:ext cx="578485" cy="224154"/>
          </a:xfrm>
          <a:custGeom>
            <a:avLst/>
            <a:gdLst/>
            <a:ahLst/>
            <a:cxnLst/>
            <a:rect l="l" t="t" r="r" b="b"/>
            <a:pathLst>
              <a:path w="578485" h="224154">
                <a:moveTo>
                  <a:pt x="506602" y="0"/>
                </a:moveTo>
                <a:lnTo>
                  <a:pt x="503421" y="9083"/>
                </a:lnTo>
                <a:lnTo>
                  <a:pt x="516359" y="14704"/>
                </a:lnTo>
                <a:lnTo>
                  <a:pt x="527486" y="22486"/>
                </a:lnTo>
                <a:lnTo>
                  <a:pt x="550078" y="58556"/>
                </a:lnTo>
                <a:lnTo>
                  <a:pt x="557502" y="110765"/>
                </a:lnTo>
                <a:lnTo>
                  <a:pt x="556673" y="130501"/>
                </a:lnTo>
                <a:lnTo>
                  <a:pt x="544247" y="178827"/>
                </a:lnTo>
                <a:lnTo>
                  <a:pt x="516510" y="209041"/>
                </a:lnTo>
                <a:lnTo>
                  <a:pt x="503774" y="214688"/>
                </a:lnTo>
                <a:lnTo>
                  <a:pt x="506602" y="223770"/>
                </a:lnTo>
                <a:lnTo>
                  <a:pt x="549306" y="198368"/>
                </a:lnTo>
                <a:lnTo>
                  <a:pt x="573290" y="151475"/>
                </a:lnTo>
                <a:lnTo>
                  <a:pt x="577885" y="111944"/>
                </a:lnTo>
                <a:lnTo>
                  <a:pt x="576746" y="91674"/>
                </a:lnTo>
                <a:lnTo>
                  <a:pt x="576733" y="91430"/>
                </a:lnTo>
                <a:lnTo>
                  <a:pt x="559446" y="39222"/>
                </a:lnTo>
                <a:lnTo>
                  <a:pt x="522807" y="5857"/>
                </a:lnTo>
                <a:lnTo>
                  <a:pt x="506602" y="0"/>
                </a:lnTo>
                <a:close/>
              </a:path>
              <a:path w="578485" h="224154">
                <a:moveTo>
                  <a:pt x="71282" y="0"/>
                </a:moveTo>
                <a:lnTo>
                  <a:pt x="28656" y="25469"/>
                </a:lnTo>
                <a:lnTo>
                  <a:pt x="4609" y="72472"/>
                </a:lnTo>
                <a:lnTo>
                  <a:pt x="66" y="110765"/>
                </a:lnTo>
                <a:lnTo>
                  <a:pt x="0" y="111944"/>
                </a:lnTo>
                <a:lnTo>
                  <a:pt x="1036" y="130501"/>
                </a:lnTo>
                <a:lnTo>
                  <a:pt x="1148" y="132502"/>
                </a:lnTo>
                <a:lnTo>
                  <a:pt x="4595" y="151475"/>
                </a:lnTo>
                <a:lnTo>
                  <a:pt x="28579" y="198368"/>
                </a:lnTo>
                <a:lnTo>
                  <a:pt x="71282" y="223770"/>
                </a:lnTo>
                <a:lnTo>
                  <a:pt x="74109" y="214688"/>
                </a:lnTo>
                <a:lnTo>
                  <a:pt x="61373" y="209041"/>
                </a:lnTo>
                <a:lnTo>
                  <a:pt x="50383" y="201181"/>
                </a:lnTo>
                <a:lnTo>
                  <a:pt x="27839" y="164532"/>
                </a:lnTo>
                <a:lnTo>
                  <a:pt x="20432" y="111944"/>
                </a:lnTo>
                <a:lnTo>
                  <a:pt x="20383" y="110765"/>
                </a:lnTo>
                <a:lnTo>
                  <a:pt x="21211" y="91674"/>
                </a:lnTo>
                <a:lnTo>
                  <a:pt x="33638" y="44530"/>
                </a:lnTo>
                <a:lnTo>
                  <a:pt x="61573" y="14704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23870" y="4751581"/>
            <a:ext cx="317500" cy="13335"/>
          </a:xfrm>
          <a:custGeom>
            <a:avLst/>
            <a:gdLst/>
            <a:ahLst/>
            <a:cxnLst/>
            <a:rect l="l" t="t" r="r" b="b"/>
            <a:pathLst>
              <a:path w="317500" h="13335">
                <a:moveTo>
                  <a:pt x="317500" y="0"/>
                </a:moveTo>
                <a:lnTo>
                  <a:pt x="0" y="0"/>
                </a:lnTo>
                <a:lnTo>
                  <a:pt x="0" y="12714"/>
                </a:lnTo>
                <a:lnTo>
                  <a:pt x="317500" y="12714"/>
                </a:lnTo>
                <a:lnTo>
                  <a:pt x="317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07910" y="4734786"/>
            <a:ext cx="3346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latin typeface="Cambria Math"/>
                <a:cs typeface="Cambria Math"/>
              </a:rPr>
              <a:t>2𝑁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5541" y="4944664"/>
            <a:ext cx="3244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𝑖=1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9411" y="4606664"/>
            <a:ext cx="183248" cy="16488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391282" y="4573242"/>
            <a:ext cx="222631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82015" algn="l"/>
                <a:tab pos="1220470" algn="l"/>
                <a:tab pos="1485265" algn="l"/>
              </a:tabLst>
            </a:pPr>
            <a:r>
              <a:rPr sz="1900" dirty="0">
                <a:latin typeface="Cambria Math"/>
                <a:cs typeface="Cambria Math"/>
              </a:rPr>
              <a:t>𝒥</a:t>
            </a:r>
            <a:r>
              <a:rPr sz="1900" spc="4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w,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𝑏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=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2850" spc="-75" baseline="42397" dirty="0">
                <a:latin typeface="Cambria Math"/>
                <a:cs typeface="Cambria Math"/>
              </a:rPr>
              <a:t>1</a:t>
            </a:r>
            <a:r>
              <a:rPr sz="2850" baseline="42397" dirty="0">
                <a:latin typeface="Cambria Math"/>
                <a:cs typeface="Cambria Math"/>
              </a:rPr>
              <a:t>	</a:t>
            </a:r>
            <a:r>
              <a:rPr sz="1900" spc="385" dirty="0">
                <a:latin typeface="Cambria Math"/>
                <a:cs typeface="Cambria Math"/>
              </a:rPr>
              <a:t>∑(𝑦</a:t>
            </a:r>
            <a:r>
              <a:rPr sz="1900" spc="235" dirty="0">
                <a:latin typeface="Cambria Math"/>
                <a:cs typeface="Cambria Math"/>
              </a:rPr>
              <a:t> </a:t>
            </a:r>
            <a:r>
              <a:rPr sz="2100" baseline="27777" dirty="0">
                <a:latin typeface="Cambria Math"/>
                <a:cs typeface="Cambria Math"/>
              </a:rPr>
              <a:t>𝑖</a:t>
            </a:r>
            <a:endParaRPr sz="2100" baseline="27777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83129" y="4484850"/>
            <a:ext cx="845819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baseline="-20467" dirty="0">
                <a:latin typeface="Cambria Math"/>
                <a:cs typeface="Cambria Math"/>
              </a:rPr>
              <a:t>−</a:t>
            </a:r>
            <a:r>
              <a:rPr sz="2850" spc="-30" baseline="-20467" dirty="0">
                <a:latin typeface="Cambria Math"/>
                <a:cs typeface="Cambria Math"/>
              </a:rPr>
              <a:t> </a:t>
            </a:r>
            <a:r>
              <a:rPr sz="2850" spc="-15" baseline="-20467" dirty="0">
                <a:latin typeface="Cambria Math"/>
                <a:cs typeface="Cambria Math"/>
              </a:rPr>
              <a:t>𝑡</a:t>
            </a:r>
            <a:r>
              <a:rPr sz="1400" spc="-10" dirty="0">
                <a:latin typeface="Cambria Math"/>
                <a:cs typeface="Cambria Math"/>
              </a:rPr>
              <a:t>(𝑖)</a:t>
            </a:r>
            <a:r>
              <a:rPr sz="2850" spc="-15" baseline="-20467" dirty="0">
                <a:latin typeface="Cambria Math"/>
                <a:cs typeface="Cambria Math"/>
              </a:rPr>
              <a:t>)</a:t>
            </a:r>
            <a:r>
              <a:rPr sz="1400" spc="-1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24810" y="5575643"/>
            <a:ext cx="317500" cy="13335"/>
          </a:xfrm>
          <a:custGeom>
            <a:avLst/>
            <a:gdLst/>
            <a:ahLst/>
            <a:cxnLst/>
            <a:rect l="l" t="t" r="r" b="b"/>
            <a:pathLst>
              <a:path w="317500" h="13335">
                <a:moveTo>
                  <a:pt x="317500" y="0"/>
                </a:moveTo>
                <a:lnTo>
                  <a:pt x="0" y="0"/>
                </a:lnTo>
                <a:lnTo>
                  <a:pt x="0" y="12714"/>
                </a:lnTo>
                <a:lnTo>
                  <a:pt x="317500" y="12714"/>
                </a:lnTo>
                <a:lnTo>
                  <a:pt x="317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517061" y="5560794"/>
            <a:ext cx="3346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latin typeface="Cambria Math"/>
                <a:cs typeface="Cambria Math"/>
              </a:rPr>
              <a:t>2𝑁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84691" y="5770672"/>
            <a:ext cx="3244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𝑖=1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64823" y="5103160"/>
            <a:ext cx="1600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𝑁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5755" y="5430725"/>
            <a:ext cx="183248" cy="16488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244931" y="5399250"/>
            <a:ext cx="304609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75920" algn="l"/>
                <a:tab pos="640715" algn="l"/>
                <a:tab pos="1762125" algn="l"/>
              </a:tabLst>
            </a:pPr>
            <a:r>
              <a:rPr sz="1900" spc="-50" dirty="0">
                <a:latin typeface="Cambria Math"/>
                <a:cs typeface="Cambria Math"/>
              </a:rPr>
              <a:t>=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2850" spc="-75" baseline="42397" dirty="0">
                <a:latin typeface="Cambria Math"/>
                <a:cs typeface="Cambria Math"/>
              </a:rPr>
              <a:t>1</a:t>
            </a:r>
            <a:r>
              <a:rPr sz="2850" baseline="42397" dirty="0">
                <a:latin typeface="Cambria Math"/>
                <a:cs typeface="Cambria Math"/>
              </a:rPr>
              <a:t>	</a:t>
            </a:r>
            <a:r>
              <a:rPr sz="1900" spc="305" dirty="0">
                <a:latin typeface="Cambria Math"/>
                <a:cs typeface="Cambria Math"/>
              </a:rPr>
              <a:t>∑(w</a:t>
            </a:r>
            <a:r>
              <a:rPr sz="2100" spc="457" baseline="27777" dirty="0">
                <a:latin typeface="Cambria Math"/>
                <a:cs typeface="Cambria Math"/>
              </a:rPr>
              <a:t>𝗍</a:t>
            </a:r>
            <a:r>
              <a:rPr sz="1900" spc="305" dirty="0">
                <a:latin typeface="Cambria Math"/>
                <a:cs typeface="Cambria Math"/>
              </a:rPr>
              <a:t>x</a:t>
            </a:r>
            <a:r>
              <a:rPr sz="1900" spc="235" dirty="0">
                <a:latin typeface="Cambria Math"/>
                <a:cs typeface="Cambria Math"/>
              </a:rPr>
              <a:t> </a:t>
            </a:r>
            <a:r>
              <a:rPr sz="2100" baseline="27777" dirty="0">
                <a:latin typeface="Cambria Math"/>
                <a:cs typeface="Cambria Math"/>
              </a:rPr>
              <a:t>𝑖	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1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𝑏</a:t>
            </a:r>
            <a:r>
              <a:rPr sz="1900" spc="43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5" dirty="0">
                <a:latin typeface="Cambria Math"/>
                <a:cs typeface="Cambria Math"/>
              </a:rPr>
              <a:t> </a:t>
            </a:r>
            <a:r>
              <a:rPr sz="1900" spc="-10" dirty="0">
                <a:latin typeface="Cambria Math"/>
                <a:cs typeface="Cambria Math"/>
              </a:rPr>
              <a:t>𝑡</a:t>
            </a:r>
            <a:r>
              <a:rPr sz="2100" spc="-15" baseline="27777" dirty="0">
                <a:latin typeface="Cambria Math"/>
                <a:cs typeface="Cambria Math"/>
              </a:rPr>
              <a:t>(𝑖)</a:t>
            </a:r>
            <a:r>
              <a:rPr sz="1900" spc="-10" dirty="0">
                <a:latin typeface="Cambria Math"/>
                <a:cs typeface="Cambria Math"/>
              </a:rPr>
              <a:t>)</a:t>
            </a:r>
            <a:r>
              <a:rPr sz="2100" spc="-15" baseline="27777" dirty="0">
                <a:latin typeface="Cambria Math"/>
                <a:cs typeface="Cambria Math"/>
              </a:rPr>
              <a:t>2</a:t>
            </a:r>
            <a:endParaRPr sz="2100" baseline="27777">
              <a:latin typeface="Cambria Math"/>
              <a:cs typeface="Cambria Math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8488" y="1057056"/>
            <a:ext cx="5447685" cy="1227479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5653758" y="1443867"/>
            <a:ext cx="2901950" cy="349250"/>
            <a:chOff x="5653758" y="1443867"/>
            <a:chExt cx="2901950" cy="34925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53758" y="1448700"/>
              <a:ext cx="1595074" cy="3443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29327" y="1443867"/>
              <a:ext cx="1125986" cy="261240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65164" y="2456262"/>
            <a:ext cx="336532" cy="27654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64271" y="2427571"/>
            <a:ext cx="1430294" cy="32879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63012" y="2160839"/>
            <a:ext cx="854115" cy="29037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96375" y="2153668"/>
            <a:ext cx="573689" cy="284036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94844" y="2152078"/>
            <a:ext cx="686628" cy="275620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6832692" y="3956065"/>
            <a:ext cx="3802379" cy="1094740"/>
            <a:chOff x="6832692" y="3956065"/>
            <a:chExt cx="3802379" cy="1094740"/>
          </a:xfrm>
        </p:grpSpPr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71692" y="4471891"/>
              <a:ext cx="67030" cy="22155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32692" y="3956065"/>
              <a:ext cx="3801888" cy="109424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7566288" y="5213474"/>
            <a:ext cx="2703195" cy="960119"/>
            <a:chOff x="7566288" y="5213474"/>
            <a:chExt cx="2703195" cy="960119"/>
          </a:xfrm>
        </p:grpSpPr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961737" y="5239791"/>
              <a:ext cx="89668" cy="24511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139713" y="5486142"/>
              <a:ext cx="17145" cy="40640"/>
            </a:xfrm>
            <a:custGeom>
              <a:avLst/>
              <a:gdLst/>
              <a:ahLst/>
              <a:cxnLst/>
              <a:rect l="l" t="t" r="r" b="b"/>
              <a:pathLst>
                <a:path w="17145" h="40639">
                  <a:moveTo>
                    <a:pt x="12846" y="0"/>
                  </a:moveTo>
                  <a:lnTo>
                    <a:pt x="8136" y="868"/>
                  </a:lnTo>
                  <a:lnTo>
                    <a:pt x="6555" y="2961"/>
                  </a:lnTo>
                  <a:lnTo>
                    <a:pt x="6658" y="4033"/>
                  </a:lnTo>
                  <a:lnTo>
                    <a:pt x="6776" y="5270"/>
                  </a:lnTo>
                  <a:lnTo>
                    <a:pt x="7235" y="12712"/>
                  </a:lnTo>
                  <a:lnTo>
                    <a:pt x="6864" y="20389"/>
                  </a:lnTo>
                  <a:lnTo>
                    <a:pt x="5085" y="27734"/>
                  </a:lnTo>
                  <a:lnTo>
                    <a:pt x="1322" y="34179"/>
                  </a:lnTo>
                  <a:lnTo>
                    <a:pt x="0" y="35728"/>
                  </a:lnTo>
                  <a:lnTo>
                    <a:pt x="186" y="38056"/>
                  </a:lnTo>
                  <a:lnTo>
                    <a:pt x="3118" y="40556"/>
                  </a:lnTo>
                  <a:lnTo>
                    <a:pt x="4859" y="40556"/>
                  </a:lnTo>
                  <a:lnTo>
                    <a:pt x="6234" y="39598"/>
                  </a:lnTo>
                  <a:lnTo>
                    <a:pt x="12776" y="32448"/>
                  </a:lnTo>
                  <a:lnTo>
                    <a:pt x="16004" y="23451"/>
                  </a:lnTo>
                  <a:lnTo>
                    <a:pt x="16694" y="13637"/>
                  </a:lnTo>
                  <a:lnTo>
                    <a:pt x="15624" y="4033"/>
                  </a:lnTo>
                  <a:lnTo>
                    <a:pt x="15177" y="1605"/>
                  </a:lnTo>
                  <a:lnTo>
                    <a:pt x="128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66288" y="5213474"/>
              <a:ext cx="2702699" cy="959603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98085" y="6346395"/>
            <a:ext cx="3104796" cy="341711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468226" y="6336796"/>
            <a:ext cx="3711928" cy="39391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258270" y="6391736"/>
            <a:ext cx="455994" cy="27452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30845" y="4003879"/>
            <a:ext cx="1509870" cy="36449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51896" y="1809493"/>
            <a:ext cx="1373978" cy="34797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305150" y="3037273"/>
            <a:ext cx="566727" cy="3210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Vectorization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7" y="1869666"/>
            <a:ext cx="1742439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spc="-10" dirty="0">
                <a:latin typeface="Calibri"/>
                <a:cs typeface="Calibri"/>
              </a:rPr>
              <a:t>Notation-</a:t>
            </a:r>
            <a:r>
              <a:rPr sz="1900" spc="-20" dirty="0">
                <a:latin typeface="Calibri"/>
                <a:cs typeface="Calibri"/>
              </a:rPr>
              <a:t>wise,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34457" y="2047243"/>
            <a:ext cx="241300" cy="13335"/>
          </a:xfrm>
          <a:custGeom>
            <a:avLst/>
            <a:gdLst/>
            <a:ahLst/>
            <a:cxnLst/>
            <a:rect l="l" t="t" r="r" b="b"/>
            <a:pathLst>
              <a:path w="241300" h="13335">
                <a:moveTo>
                  <a:pt x="241300" y="0"/>
                </a:moveTo>
                <a:lnTo>
                  <a:pt x="0" y="0"/>
                </a:lnTo>
                <a:lnTo>
                  <a:pt x="0" y="12714"/>
                </a:lnTo>
                <a:lnTo>
                  <a:pt x="241300" y="12714"/>
                </a:lnTo>
                <a:lnTo>
                  <a:pt x="241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527247" y="2055160"/>
            <a:ext cx="260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2𝑁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7573" y="1991153"/>
            <a:ext cx="3244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𝑖=1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70518" y="1726410"/>
            <a:ext cx="59245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r>
              <a:rPr sz="1400" spc="130" dirty="0">
                <a:latin typeface="Cambria Math"/>
                <a:cs typeface="Cambria Math"/>
              </a:rPr>
              <a:t>  </a:t>
            </a:r>
            <a:r>
              <a:rPr sz="2850" spc="-52" baseline="-30701" dirty="0">
                <a:latin typeface="Cambria Math"/>
                <a:cs typeface="Cambria Math"/>
              </a:rPr>
              <a:t>∑</a:t>
            </a:r>
            <a:r>
              <a:rPr sz="2100" spc="-52" baseline="-13888" dirty="0">
                <a:latin typeface="Cambria Math"/>
                <a:cs typeface="Cambria Math"/>
              </a:rPr>
              <a:t>𝑁</a:t>
            </a:r>
            <a:endParaRPr sz="2100" baseline="-13888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283" y="1902109"/>
            <a:ext cx="183247" cy="16488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249776" y="1869666"/>
            <a:ext cx="42995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61975" algn="l"/>
              </a:tabLst>
            </a:pPr>
            <a:r>
              <a:rPr sz="1900" dirty="0">
                <a:latin typeface="Cambria Math"/>
                <a:cs typeface="Cambria Math"/>
              </a:rPr>
              <a:t>(𝑦</a:t>
            </a:r>
            <a:r>
              <a:rPr sz="1900" spc="235" dirty="0">
                <a:latin typeface="Cambria Math"/>
                <a:cs typeface="Cambria Math"/>
              </a:rPr>
              <a:t> </a:t>
            </a:r>
            <a:r>
              <a:rPr sz="2100" baseline="27777" dirty="0">
                <a:latin typeface="Cambria Math"/>
                <a:cs typeface="Cambria Math"/>
              </a:rPr>
              <a:t>𝑖	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𝑡</a:t>
            </a:r>
            <a:r>
              <a:rPr sz="2100" baseline="27777" dirty="0">
                <a:latin typeface="Cambria Math"/>
                <a:cs typeface="Cambria Math"/>
              </a:rPr>
              <a:t>(𝑖)</a:t>
            </a:r>
            <a:r>
              <a:rPr sz="1900" dirty="0">
                <a:latin typeface="Cambria Math"/>
                <a:cs typeface="Cambria Math"/>
              </a:rPr>
              <a:t>)</a:t>
            </a:r>
            <a:r>
              <a:rPr sz="2100" baseline="27777" dirty="0">
                <a:latin typeface="Cambria Math"/>
                <a:cs typeface="Cambria Math"/>
              </a:rPr>
              <a:t>2</a:t>
            </a:r>
            <a:r>
              <a:rPr sz="2100" spc="30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gets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messy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expand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mbria Math"/>
                <a:cs typeface="Cambria Math"/>
              </a:rPr>
              <a:t>𝑦</a:t>
            </a:r>
            <a:r>
              <a:rPr sz="2100" spc="-15" baseline="27777" dirty="0">
                <a:latin typeface="Cambria Math"/>
                <a:cs typeface="Cambria Math"/>
              </a:rPr>
              <a:t>(𝑖)</a:t>
            </a:r>
            <a:r>
              <a:rPr sz="1900" spc="-10" dirty="0">
                <a:latin typeface="Cambria Math"/>
                <a:cs typeface="Cambria Math"/>
              </a:rPr>
              <a:t>: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6457" y="3076674"/>
            <a:ext cx="675640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code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equivalent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compute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prediction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loop: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8357" y="4247106"/>
            <a:ext cx="8611870" cy="1766570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321945" marR="68580" indent="-271780">
              <a:lnSpc>
                <a:spcPts val="2210"/>
              </a:lnSpc>
              <a:spcBef>
                <a:spcPts val="234"/>
              </a:spcBef>
              <a:buFont typeface="Arial MT"/>
              <a:buChar char="•"/>
              <a:tabLst>
                <a:tab pos="321945" algn="l"/>
              </a:tabLst>
            </a:pPr>
            <a:r>
              <a:rPr sz="1900" dirty="0">
                <a:latin typeface="Calibri"/>
                <a:cs typeface="Calibri"/>
              </a:rPr>
              <a:t>Excessive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super/sub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scripts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hard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work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Python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loops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slow,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we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vectorize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algorithms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expressing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them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terms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vectors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matrices.</a:t>
            </a:r>
            <a:endParaRPr sz="1900">
              <a:latin typeface="Calibri"/>
              <a:cs typeface="Calibri"/>
            </a:endParaRPr>
          </a:p>
          <a:p>
            <a:pPr marL="684530" algn="ctr">
              <a:lnSpc>
                <a:spcPct val="100000"/>
              </a:lnSpc>
              <a:spcBef>
                <a:spcPts val="459"/>
              </a:spcBef>
              <a:tabLst>
                <a:tab pos="2973070" algn="l"/>
              </a:tabLst>
            </a:pP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50" dirty="0">
                <a:latin typeface="Cambria Math"/>
                <a:cs typeface="Cambria Math"/>
              </a:rPr>
              <a:t>  </a:t>
            </a:r>
            <a:r>
              <a:rPr sz="1900" spc="-10" dirty="0">
                <a:latin typeface="Cambria Math"/>
                <a:cs typeface="Cambria Math"/>
              </a:rPr>
              <a:t>(𝑤</a:t>
            </a:r>
            <a:r>
              <a:rPr sz="2100" spc="-15" baseline="-15873" dirty="0">
                <a:latin typeface="Cambria Math"/>
                <a:cs typeface="Cambria Math"/>
              </a:rPr>
              <a:t>1</a:t>
            </a:r>
            <a:r>
              <a:rPr sz="1900" spc="-10" dirty="0">
                <a:latin typeface="Cambria Math"/>
                <a:cs typeface="Cambria Math"/>
              </a:rPr>
              <a:t>,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⋯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spc="-20" dirty="0">
                <a:latin typeface="Cambria Math"/>
                <a:cs typeface="Cambria Math"/>
              </a:rPr>
              <a:t>𝑤</a:t>
            </a:r>
            <a:r>
              <a:rPr sz="2100" spc="-30" baseline="-15873" dirty="0">
                <a:latin typeface="Cambria Math"/>
                <a:cs typeface="Cambria Math"/>
              </a:rPr>
              <a:t>𝐷</a:t>
            </a:r>
            <a:r>
              <a:rPr sz="1900" spc="-20" dirty="0">
                <a:latin typeface="Cambria Math"/>
                <a:cs typeface="Cambria Math"/>
              </a:rPr>
              <a:t>)</a:t>
            </a:r>
            <a:r>
              <a:rPr sz="2100" spc="-30" baseline="27777" dirty="0">
                <a:latin typeface="Cambria Math"/>
                <a:cs typeface="Cambria Math"/>
              </a:rPr>
              <a:t>𝗍</a:t>
            </a:r>
            <a:r>
              <a:rPr sz="2100" baseline="27777" dirty="0">
                <a:latin typeface="Cambria Math"/>
                <a:cs typeface="Cambria Math"/>
              </a:rPr>
              <a:t>	</a:t>
            </a:r>
            <a:r>
              <a:rPr sz="1900" spc="80" dirty="0">
                <a:latin typeface="Cambria Math"/>
                <a:cs typeface="Cambria Math"/>
              </a:rPr>
              <a:t>x</a:t>
            </a:r>
            <a:r>
              <a:rPr sz="1900" spc="11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55" dirty="0">
                <a:latin typeface="Cambria Math"/>
                <a:cs typeface="Cambria Math"/>
              </a:rPr>
              <a:t>  </a:t>
            </a:r>
            <a:r>
              <a:rPr sz="1900" dirty="0">
                <a:latin typeface="Cambria Math"/>
                <a:cs typeface="Cambria Math"/>
              </a:rPr>
              <a:t>(𝑥,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⋯</a:t>
            </a:r>
            <a:r>
              <a:rPr sz="1900" spc="-105" dirty="0">
                <a:latin typeface="Cambria Math"/>
                <a:cs typeface="Cambria Math"/>
              </a:rPr>
              <a:t> </a:t>
            </a:r>
            <a:r>
              <a:rPr sz="1900" spc="-20" dirty="0">
                <a:latin typeface="Cambria Math"/>
                <a:cs typeface="Cambria Math"/>
              </a:rPr>
              <a:t>𝑥</a:t>
            </a:r>
            <a:r>
              <a:rPr sz="2100" spc="-30" baseline="-15873" dirty="0">
                <a:latin typeface="Cambria Math"/>
                <a:cs typeface="Cambria Math"/>
              </a:rPr>
              <a:t>𝐷</a:t>
            </a:r>
            <a:r>
              <a:rPr sz="1900" spc="-20" dirty="0">
                <a:latin typeface="Cambria Math"/>
                <a:cs typeface="Cambria Math"/>
              </a:rPr>
              <a:t>)</a:t>
            </a:r>
            <a:r>
              <a:rPr sz="2100" spc="-30" baseline="27777" dirty="0">
                <a:latin typeface="Cambria Math"/>
                <a:cs typeface="Cambria Math"/>
              </a:rPr>
              <a:t>𝗍</a:t>
            </a:r>
            <a:endParaRPr sz="2100" baseline="27777">
              <a:latin typeface="Cambria Math"/>
              <a:cs typeface="Cambria Math"/>
            </a:endParaRPr>
          </a:p>
          <a:p>
            <a:pPr marL="872490" algn="ctr">
              <a:lnSpc>
                <a:spcPct val="100000"/>
              </a:lnSpc>
              <a:spcBef>
                <a:spcPts val="1180"/>
              </a:spcBef>
            </a:pP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1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45" dirty="0">
                <a:latin typeface="Cambria Math"/>
                <a:cs typeface="Cambria Math"/>
              </a:rPr>
              <a:t>  </a:t>
            </a:r>
            <a:r>
              <a:rPr sz="1900" spc="125" dirty="0">
                <a:latin typeface="Cambria Math"/>
                <a:cs typeface="Cambria Math"/>
              </a:rPr>
              <a:t>w</a:t>
            </a:r>
            <a:r>
              <a:rPr sz="2100" spc="187" baseline="27777" dirty="0">
                <a:latin typeface="Cambria Math"/>
                <a:cs typeface="Cambria Math"/>
              </a:rPr>
              <a:t>𝗍</a:t>
            </a:r>
            <a:r>
              <a:rPr sz="1900" spc="125" dirty="0">
                <a:latin typeface="Cambria Math"/>
                <a:cs typeface="Cambria Math"/>
              </a:rPr>
              <a:t>x</a:t>
            </a:r>
            <a:r>
              <a:rPr sz="1900" dirty="0">
                <a:latin typeface="Cambria Math"/>
                <a:cs typeface="Cambria Math"/>
              </a:rPr>
              <a:t> +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𝑏</a:t>
            </a:r>
            <a:endParaRPr sz="1900">
              <a:latin typeface="Cambria Math"/>
              <a:cs typeface="Cambria Math"/>
            </a:endParaRPr>
          </a:p>
          <a:p>
            <a:pPr marL="321945" indent="-27114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21945" algn="l"/>
              </a:tabLst>
            </a:pPr>
            <a:r>
              <a:rPr sz="1900" dirty="0">
                <a:latin typeface="Calibri"/>
                <a:cs typeface="Calibri"/>
              </a:rPr>
              <a:t>This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simpler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executes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much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faster: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33849" y="2635263"/>
            <a:ext cx="317500" cy="13335"/>
          </a:xfrm>
          <a:custGeom>
            <a:avLst/>
            <a:gdLst/>
            <a:ahLst/>
            <a:cxnLst/>
            <a:rect l="l" t="t" r="r" b="b"/>
            <a:pathLst>
              <a:path w="317500" h="13335">
                <a:moveTo>
                  <a:pt x="317500" y="0"/>
                </a:moveTo>
                <a:lnTo>
                  <a:pt x="0" y="0"/>
                </a:lnTo>
                <a:lnTo>
                  <a:pt x="0" y="12714"/>
                </a:lnTo>
                <a:lnTo>
                  <a:pt x="317500" y="12714"/>
                </a:lnTo>
                <a:lnTo>
                  <a:pt x="317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19816" y="2619474"/>
            <a:ext cx="3346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latin typeface="Cambria Math"/>
                <a:cs typeface="Cambria Math"/>
              </a:rPr>
              <a:t>2𝑁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87446" y="2829353"/>
            <a:ext cx="7556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𝑖=1</a:t>
            </a:r>
            <a:r>
              <a:rPr sz="1400" spc="165" dirty="0">
                <a:latin typeface="Cambria Math"/>
                <a:cs typeface="Cambria Math"/>
              </a:rPr>
              <a:t>  </a:t>
            </a:r>
            <a:r>
              <a:rPr sz="1400" spc="75" dirty="0">
                <a:latin typeface="Cambria Math"/>
                <a:cs typeface="Cambria Math"/>
              </a:rPr>
              <a:t>j=1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67578" y="2161841"/>
            <a:ext cx="5772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6245" algn="l"/>
              </a:tabLst>
            </a:pPr>
            <a:r>
              <a:rPr sz="1400" spc="-50" dirty="0">
                <a:latin typeface="Cambria Math"/>
                <a:cs typeface="Cambria Math"/>
              </a:rPr>
              <a:t>𝑁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-50" dirty="0">
                <a:latin typeface="Cambria Math"/>
                <a:cs typeface="Cambria Math"/>
              </a:rPr>
              <a:t>𝐷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90278" y="2443926"/>
            <a:ext cx="808355" cy="398780"/>
          </a:xfrm>
          <a:custGeom>
            <a:avLst/>
            <a:gdLst/>
            <a:ahLst/>
            <a:cxnLst/>
            <a:rect l="l" t="t" r="r" b="b"/>
            <a:pathLst>
              <a:path w="808354" h="398780">
                <a:moveTo>
                  <a:pt x="722250" y="0"/>
                </a:moveTo>
                <a:lnTo>
                  <a:pt x="718479" y="9436"/>
                </a:lnTo>
                <a:lnTo>
                  <a:pt x="733314" y="21509"/>
                </a:lnTo>
                <a:lnTo>
                  <a:pt x="746477" y="37201"/>
                </a:lnTo>
                <a:lnTo>
                  <a:pt x="767788" y="79446"/>
                </a:lnTo>
                <a:lnTo>
                  <a:pt x="781264" y="134164"/>
                </a:lnTo>
                <a:lnTo>
                  <a:pt x="785748" y="199115"/>
                </a:lnTo>
                <a:lnTo>
                  <a:pt x="785756" y="199351"/>
                </a:lnTo>
                <a:lnTo>
                  <a:pt x="784641" y="232720"/>
                </a:lnTo>
                <a:lnTo>
                  <a:pt x="775716" y="292290"/>
                </a:lnTo>
                <a:lnTo>
                  <a:pt x="758123" y="341657"/>
                </a:lnTo>
                <a:lnTo>
                  <a:pt x="733410" y="376927"/>
                </a:lnTo>
                <a:lnTo>
                  <a:pt x="718479" y="389032"/>
                </a:lnTo>
                <a:lnTo>
                  <a:pt x="722250" y="398470"/>
                </a:lnTo>
                <a:lnTo>
                  <a:pt x="757670" y="370100"/>
                </a:lnTo>
                <a:lnTo>
                  <a:pt x="784990" y="324627"/>
                </a:lnTo>
                <a:lnTo>
                  <a:pt x="802442" y="266236"/>
                </a:lnTo>
                <a:lnTo>
                  <a:pt x="808249" y="199351"/>
                </a:lnTo>
                <a:lnTo>
                  <a:pt x="808259" y="199115"/>
                </a:lnTo>
                <a:lnTo>
                  <a:pt x="806854" y="165449"/>
                </a:lnTo>
                <a:lnTo>
                  <a:pt x="806805" y="164287"/>
                </a:lnTo>
                <a:lnTo>
                  <a:pt x="795171" y="101533"/>
                </a:lnTo>
                <a:lnTo>
                  <a:pt x="772343" y="48923"/>
                </a:lnTo>
                <a:lnTo>
                  <a:pt x="740972" y="12120"/>
                </a:lnTo>
                <a:lnTo>
                  <a:pt x="722250" y="0"/>
                </a:lnTo>
                <a:close/>
              </a:path>
              <a:path w="808354" h="398780">
                <a:moveTo>
                  <a:pt x="85892" y="0"/>
                </a:moveTo>
                <a:lnTo>
                  <a:pt x="50560" y="28427"/>
                </a:lnTo>
                <a:lnTo>
                  <a:pt x="23270" y="73606"/>
                </a:lnTo>
                <a:lnTo>
                  <a:pt x="5817" y="131760"/>
                </a:lnTo>
                <a:lnTo>
                  <a:pt x="0" y="199115"/>
                </a:lnTo>
                <a:lnTo>
                  <a:pt x="1410" y="232720"/>
                </a:lnTo>
                <a:lnTo>
                  <a:pt x="1454" y="233767"/>
                </a:lnTo>
                <a:lnTo>
                  <a:pt x="13089" y="296523"/>
                </a:lnTo>
                <a:lnTo>
                  <a:pt x="35910" y="349502"/>
                </a:lnTo>
                <a:lnTo>
                  <a:pt x="67221" y="386423"/>
                </a:lnTo>
                <a:lnTo>
                  <a:pt x="85892" y="398470"/>
                </a:lnTo>
                <a:lnTo>
                  <a:pt x="89780" y="389032"/>
                </a:lnTo>
                <a:lnTo>
                  <a:pt x="74802" y="376927"/>
                </a:lnTo>
                <a:lnTo>
                  <a:pt x="61561" y="361135"/>
                </a:lnTo>
                <a:lnTo>
                  <a:pt x="40294" y="318493"/>
                </a:lnTo>
                <a:lnTo>
                  <a:pt x="26951" y="263699"/>
                </a:lnTo>
                <a:lnTo>
                  <a:pt x="22503" y="199351"/>
                </a:lnTo>
                <a:lnTo>
                  <a:pt x="23626" y="165449"/>
                </a:lnTo>
                <a:lnTo>
                  <a:pt x="32610" y="105496"/>
                </a:lnTo>
                <a:lnTo>
                  <a:pt x="50290" y="56513"/>
                </a:lnTo>
                <a:lnTo>
                  <a:pt x="74945" y="21509"/>
                </a:lnTo>
                <a:lnTo>
                  <a:pt x="89780" y="9436"/>
                </a:lnTo>
                <a:lnTo>
                  <a:pt x="858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998731" y="2570273"/>
            <a:ext cx="3632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280" dirty="0">
                <a:latin typeface="Cambria Math"/>
                <a:cs typeface="Cambria Math"/>
              </a:rPr>
              <a:t>j</a:t>
            </a:r>
            <a:r>
              <a:rPr sz="1400" spc="160" dirty="0">
                <a:latin typeface="Cambria Math"/>
                <a:cs typeface="Cambria Math"/>
              </a:rPr>
              <a:t>  </a:t>
            </a:r>
            <a:r>
              <a:rPr sz="2100" spc="330" baseline="-7936" dirty="0">
                <a:latin typeface="Cambria Math"/>
                <a:cs typeface="Cambria Math"/>
              </a:rPr>
              <a:t>j</a:t>
            </a:r>
            <a:endParaRPr sz="2100" baseline="-7936">
              <a:latin typeface="Cambria Math"/>
              <a:cs typeface="Cambria Math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92803" y="2457189"/>
            <a:ext cx="183248" cy="16488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673259" y="2457930"/>
            <a:ext cx="32956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315595" algn="l"/>
                <a:tab pos="1214120" algn="l"/>
                <a:tab pos="1998980" algn="l"/>
              </a:tabLst>
            </a:pPr>
            <a:r>
              <a:rPr sz="2850" spc="-75" baseline="42397" dirty="0">
                <a:latin typeface="Cambria Math"/>
                <a:cs typeface="Cambria Math"/>
              </a:rPr>
              <a:t>1</a:t>
            </a:r>
            <a:r>
              <a:rPr sz="2850" baseline="42397" dirty="0">
                <a:latin typeface="Cambria Math"/>
                <a:cs typeface="Cambria Math"/>
              </a:rPr>
              <a:t>	</a:t>
            </a:r>
            <a:r>
              <a:rPr sz="1900" spc="745" dirty="0">
                <a:latin typeface="Cambria Math"/>
                <a:cs typeface="Cambria Math"/>
              </a:rPr>
              <a:t>∑(∑</a:t>
            </a:r>
            <a:r>
              <a:rPr sz="1900" dirty="0">
                <a:latin typeface="Cambria Math"/>
                <a:cs typeface="Cambria Math"/>
              </a:rPr>
              <a:t>	𝑤</a:t>
            </a:r>
            <a:r>
              <a:rPr sz="1900" spc="1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1900" spc="240" dirty="0">
                <a:latin typeface="Cambria Math"/>
                <a:cs typeface="Cambria Math"/>
              </a:rPr>
              <a:t> </a:t>
            </a:r>
            <a:r>
              <a:rPr sz="2100" baseline="37698" dirty="0">
                <a:latin typeface="Cambria Math"/>
                <a:cs typeface="Cambria Math"/>
              </a:rPr>
              <a:t>𝑖	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1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𝑏</a:t>
            </a:r>
            <a:r>
              <a:rPr sz="1900" spc="43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5" dirty="0">
                <a:latin typeface="Cambria Math"/>
                <a:cs typeface="Cambria Math"/>
              </a:rPr>
              <a:t> </a:t>
            </a:r>
            <a:r>
              <a:rPr sz="1900" spc="-10" dirty="0">
                <a:latin typeface="Cambria Math"/>
                <a:cs typeface="Cambria Math"/>
              </a:rPr>
              <a:t>𝑡</a:t>
            </a:r>
            <a:r>
              <a:rPr sz="2100" spc="-15" baseline="27777" dirty="0">
                <a:latin typeface="Cambria Math"/>
                <a:cs typeface="Cambria Math"/>
              </a:rPr>
              <a:t>(𝑖)</a:t>
            </a:r>
            <a:r>
              <a:rPr sz="1900" spc="-10" dirty="0">
                <a:latin typeface="Cambria Math"/>
                <a:cs typeface="Cambria Math"/>
              </a:rPr>
              <a:t>)</a:t>
            </a:r>
            <a:r>
              <a:rPr sz="2100" spc="-15" baseline="27777" dirty="0">
                <a:latin typeface="Cambria Math"/>
                <a:cs typeface="Cambria Math"/>
              </a:rPr>
              <a:t>2</a:t>
            </a:r>
            <a:endParaRPr sz="2100" baseline="27777">
              <a:latin typeface="Cambria Math"/>
              <a:cs typeface="Cambria Math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3498" y="3465521"/>
            <a:ext cx="3158652" cy="75896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74971" y="6035156"/>
            <a:ext cx="1983439" cy="35302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54662" y="897666"/>
            <a:ext cx="814815" cy="37241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47880" y="1882958"/>
            <a:ext cx="3015058" cy="73833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89266" y="3139121"/>
            <a:ext cx="2147841" cy="67744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24317" y="4846217"/>
            <a:ext cx="2130890" cy="65004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32606" y="6055412"/>
            <a:ext cx="518944" cy="29810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31899" y="6088563"/>
            <a:ext cx="435543" cy="244360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7951968" y="6279644"/>
            <a:ext cx="19685" cy="28575"/>
          </a:xfrm>
          <a:custGeom>
            <a:avLst/>
            <a:gdLst/>
            <a:ahLst/>
            <a:cxnLst/>
            <a:rect l="l" t="t" r="r" b="b"/>
            <a:pathLst>
              <a:path w="19684" h="28575">
                <a:moveTo>
                  <a:pt x="14951" y="0"/>
                </a:moveTo>
                <a:lnTo>
                  <a:pt x="13547" y="521"/>
                </a:lnTo>
                <a:lnTo>
                  <a:pt x="0" y="18871"/>
                </a:lnTo>
                <a:lnTo>
                  <a:pt x="543" y="22483"/>
                </a:lnTo>
                <a:lnTo>
                  <a:pt x="736" y="23387"/>
                </a:lnTo>
                <a:lnTo>
                  <a:pt x="7014" y="28022"/>
                </a:lnTo>
                <a:lnTo>
                  <a:pt x="11483" y="27350"/>
                </a:lnTo>
                <a:lnTo>
                  <a:pt x="14409" y="23387"/>
                </a:lnTo>
                <a:lnTo>
                  <a:pt x="14823" y="22483"/>
                </a:lnTo>
                <a:lnTo>
                  <a:pt x="19352" y="2602"/>
                </a:lnTo>
                <a:lnTo>
                  <a:pt x="18177" y="735"/>
                </a:lnTo>
                <a:lnTo>
                  <a:pt x="149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Vectorization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6" y="1668836"/>
            <a:ext cx="8599170" cy="369252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900" dirty="0">
                <a:latin typeface="Calibri"/>
                <a:cs typeface="Calibri"/>
              </a:rPr>
              <a:t>Why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vectorize?</a:t>
            </a:r>
            <a:endParaRPr sz="1900">
              <a:latin typeface="Calibri"/>
              <a:cs typeface="Calibri"/>
            </a:endParaRPr>
          </a:p>
          <a:p>
            <a:pPr marL="469900" marR="17145" indent="-271780">
              <a:lnSpc>
                <a:spcPct val="101099"/>
              </a:lnSpc>
              <a:spcBef>
                <a:spcPts val="720"/>
              </a:spcBef>
              <a:buFont typeface="Arial MT"/>
              <a:buChar char="•"/>
              <a:tabLst>
                <a:tab pos="469900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equations,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code,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will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simple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readable.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Gets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rid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dummy variables/indices!</a:t>
            </a:r>
            <a:endParaRPr sz="1900">
              <a:latin typeface="Calibri"/>
              <a:cs typeface="Calibri"/>
            </a:endParaRPr>
          </a:p>
          <a:p>
            <a:pPr marL="469900" indent="-271780">
              <a:lnSpc>
                <a:spcPts val="2210"/>
              </a:lnSpc>
              <a:buFont typeface="Arial MT"/>
              <a:buChar char="•"/>
              <a:tabLst>
                <a:tab pos="469900" algn="l"/>
              </a:tabLst>
            </a:pPr>
            <a:r>
              <a:rPr sz="1900" dirty="0">
                <a:latin typeface="Calibri"/>
                <a:cs typeface="Calibri"/>
              </a:rPr>
              <a:t>Vectorized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code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much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faster</a:t>
            </a:r>
            <a:endParaRPr sz="1900">
              <a:latin typeface="Calibri"/>
              <a:cs typeface="Calibri"/>
            </a:endParaRPr>
          </a:p>
          <a:p>
            <a:pPr marL="1029969" lvl="1" indent="-271145">
              <a:lnSpc>
                <a:spcPts val="1910"/>
              </a:lnSpc>
              <a:spcBef>
                <a:spcPts val="855"/>
              </a:spcBef>
              <a:buFont typeface="Wingdings"/>
              <a:buChar char=""/>
              <a:tabLst>
                <a:tab pos="1029969" algn="l"/>
              </a:tabLst>
            </a:pPr>
            <a:r>
              <a:rPr sz="1600" dirty="0">
                <a:latin typeface="Calibri"/>
                <a:cs typeface="Calibri"/>
              </a:rPr>
              <a:t>Cut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down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Python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interpreter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overhead</a:t>
            </a:r>
            <a:endParaRPr sz="1600">
              <a:latin typeface="Calibri"/>
              <a:cs typeface="Calibri"/>
            </a:endParaRPr>
          </a:p>
          <a:p>
            <a:pPr marL="1029969" lvl="1" indent="-271145">
              <a:lnSpc>
                <a:spcPts val="1895"/>
              </a:lnSpc>
              <a:buFont typeface="Wingdings"/>
              <a:buChar char=""/>
              <a:tabLst>
                <a:tab pos="1029969" algn="l"/>
              </a:tabLst>
            </a:pPr>
            <a:r>
              <a:rPr sz="1600" dirty="0">
                <a:latin typeface="Calibri"/>
                <a:cs typeface="Calibri"/>
              </a:rPr>
              <a:t>Use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highly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optimized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linear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algebra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libraries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(hardware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support)</a:t>
            </a:r>
            <a:endParaRPr sz="1600">
              <a:latin typeface="Calibri"/>
              <a:cs typeface="Calibri"/>
            </a:endParaRPr>
          </a:p>
          <a:p>
            <a:pPr marL="1029969" lvl="1" indent="-271145">
              <a:lnSpc>
                <a:spcPts val="1910"/>
              </a:lnSpc>
              <a:buFont typeface="Wingdings"/>
              <a:buChar char=""/>
              <a:tabLst>
                <a:tab pos="1029969" algn="l"/>
              </a:tabLst>
            </a:pPr>
            <a:r>
              <a:rPr sz="1600" dirty="0">
                <a:latin typeface="Calibri"/>
                <a:cs typeface="Calibri"/>
              </a:rPr>
              <a:t>Matrix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multiplication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very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GPU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(Graphics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Processing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Unit)</a:t>
            </a:r>
            <a:endParaRPr sz="1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00" spc="-10" dirty="0">
                <a:latin typeface="Calibri"/>
                <a:cs typeface="Calibri"/>
              </a:rPr>
              <a:t>Switching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vectorized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form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skill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gain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practice.</a:t>
            </a:r>
            <a:endParaRPr sz="1900">
              <a:latin typeface="Calibri"/>
              <a:cs typeface="Calibri"/>
            </a:endParaRPr>
          </a:p>
          <a:p>
            <a:pPr marL="469900" indent="-27178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900" algn="l"/>
              </a:tabLst>
            </a:pPr>
            <a:r>
              <a:rPr sz="1900" dirty="0">
                <a:latin typeface="Calibri"/>
                <a:cs typeface="Calibri"/>
              </a:rPr>
              <a:t>Some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derivations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easier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element-</a:t>
            </a:r>
            <a:r>
              <a:rPr sz="1900" spc="-20" dirty="0">
                <a:latin typeface="Calibri"/>
                <a:cs typeface="Calibri"/>
              </a:rPr>
              <a:t>wise</a:t>
            </a:r>
            <a:endParaRPr sz="1900">
              <a:latin typeface="Calibri"/>
              <a:cs typeface="Calibri"/>
            </a:endParaRPr>
          </a:p>
          <a:p>
            <a:pPr marL="469900" marR="5080" indent="-271780">
              <a:lnSpc>
                <a:spcPts val="2210"/>
              </a:lnSpc>
              <a:spcBef>
                <a:spcPts val="155"/>
              </a:spcBef>
              <a:buFont typeface="Arial MT"/>
              <a:buChar char="•"/>
              <a:tabLst>
                <a:tab pos="469900" algn="l"/>
              </a:tabLst>
            </a:pPr>
            <a:r>
              <a:rPr sz="1900" dirty="0">
                <a:latin typeface="Calibri"/>
                <a:cs typeface="Calibri"/>
              </a:rPr>
              <a:t>Some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algorithms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easier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write/understand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for-</a:t>
            </a:r>
            <a:r>
              <a:rPr sz="1900" dirty="0">
                <a:latin typeface="Calibri"/>
                <a:cs typeface="Calibri"/>
              </a:rPr>
              <a:t>loops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vectorize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later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performance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9908" y="1763993"/>
            <a:ext cx="476838" cy="2729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5357" y="2372748"/>
            <a:ext cx="1207312" cy="31093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559096" y="2375869"/>
            <a:ext cx="5431790" cy="1616075"/>
            <a:chOff x="4559096" y="2375869"/>
            <a:chExt cx="5431790" cy="16160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34416" y="2412488"/>
              <a:ext cx="716760" cy="2764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9096" y="2375869"/>
              <a:ext cx="2357053" cy="6545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8705" y="2730915"/>
              <a:ext cx="2981813" cy="12608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Vectorization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7" y="1881858"/>
            <a:ext cx="8316595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3845" marR="5080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organize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training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examples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design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matrix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85" dirty="0">
                <a:latin typeface="Cambria Math"/>
                <a:cs typeface="Cambria Math"/>
              </a:rPr>
              <a:t>X</a:t>
            </a:r>
            <a:r>
              <a:rPr sz="1900" spc="-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row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per </a:t>
            </a:r>
            <a:r>
              <a:rPr sz="1900" dirty="0">
                <a:latin typeface="Calibri"/>
                <a:cs typeface="Calibri"/>
              </a:rPr>
              <a:t>training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example,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all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targets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target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vector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t</a:t>
            </a:r>
            <a:r>
              <a:rPr sz="1900" b="1" spc="-25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457" y="4195290"/>
            <a:ext cx="513969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Computing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predictions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whole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dataset: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6342" y="4607389"/>
            <a:ext cx="4333740" cy="10971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9162" y="1672140"/>
            <a:ext cx="676693" cy="31078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98092" y="1638795"/>
            <a:ext cx="2670050" cy="33285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042484" y="2200515"/>
            <a:ext cx="7136130" cy="1802764"/>
            <a:chOff x="3042484" y="2200515"/>
            <a:chExt cx="7136130" cy="1802764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2484" y="2614162"/>
              <a:ext cx="4591235" cy="138873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93654" y="2200515"/>
              <a:ext cx="2884952" cy="10728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Vectorization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6" y="1656645"/>
            <a:ext cx="6178550" cy="90360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27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Computing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squared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error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cost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across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whole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dataset:</a:t>
            </a:r>
            <a:endParaRPr sz="1900">
              <a:latin typeface="Calibri"/>
              <a:cs typeface="Calibri"/>
            </a:endParaRPr>
          </a:p>
          <a:p>
            <a:pPr marL="3541395">
              <a:lnSpc>
                <a:spcPct val="100000"/>
              </a:lnSpc>
              <a:spcBef>
                <a:spcPts val="1175"/>
              </a:spcBef>
            </a:pPr>
            <a:r>
              <a:rPr sz="1900" spc="55" dirty="0">
                <a:latin typeface="Cambria Math"/>
                <a:cs typeface="Cambria Math"/>
              </a:rPr>
              <a:t>y</a:t>
            </a:r>
            <a:r>
              <a:rPr sz="1900" spc="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95" dirty="0">
                <a:latin typeface="Cambria Math"/>
                <a:cs typeface="Cambria Math"/>
              </a:rPr>
              <a:t> </a:t>
            </a:r>
            <a:r>
              <a:rPr sz="1900" spc="60" dirty="0">
                <a:latin typeface="Cambria Math"/>
                <a:cs typeface="Cambria Math"/>
              </a:rPr>
              <a:t>Xw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𝑏1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67956" y="3496737"/>
            <a:ext cx="101600" cy="13335"/>
          </a:xfrm>
          <a:custGeom>
            <a:avLst/>
            <a:gdLst/>
            <a:ahLst/>
            <a:cxnLst/>
            <a:rect l="l" t="t" r="r" b="b"/>
            <a:pathLst>
              <a:path w="101600" h="13335">
                <a:moveTo>
                  <a:pt x="101600" y="0"/>
                </a:moveTo>
                <a:lnTo>
                  <a:pt x="0" y="0"/>
                </a:lnTo>
                <a:lnTo>
                  <a:pt x="0" y="12714"/>
                </a:lnTo>
                <a:lnTo>
                  <a:pt x="101600" y="12714"/>
                </a:lnTo>
                <a:lnTo>
                  <a:pt x="101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60328" y="3502960"/>
            <a:ext cx="1289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81169" y="3394622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19"/>
                </a:lnTo>
                <a:lnTo>
                  <a:pt x="18148" y="219519"/>
                </a:lnTo>
                <a:lnTo>
                  <a:pt x="18148" y="0"/>
                </a:lnTo>
                <a:close/>
              </a:path>
              <a:path w="69850" h="219710">
                <a:moveTo>
                  <a:pt x="69405" y="0"/>
                </a:moveTo>
                <a:lnTo>
                  <a:pt x="51257" y="0"/>
                </a:lnTo>
                <a:lnTo>
                  <a:pt x="51257" y="219519"/>
                </a:lnTo>
                <a:lnTo>
                  <a:pt x="69405" y="219519"/>
                </a:lnTo>
                <a:lnTo>
                  <a:pt x="6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44137" y="3394622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19"/>
                </a:lnTo>
                <a:lnTo>
                  <a:pt x="18148" y="219519"/>
                </a:lnTo>
                <a:lnTo>
                  <a:pt x="18148" y="0"/>
                </a:lnTo>
                <a:close/>
              </a:path>
              <a:path w="69850" h="219710">
                <a:moveTo>
                  <a:pt x="69405" y="0"/>
                </a:moveTo>
                <a:lnTo>
                  <a:pt x="51257" y="0"/>
                </a:lnTo>
                <a:lnTo>
                  <a:pt x="51257" y="219519"/>
                </a:lnTo>
                <a:lnTo>
                  <a:pt x="69405" y="219519"/>
                </a:lnTo>
                <a:lnTo>
                  <a:pt x="6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8356" y="3320514"/>
            <a:ext cx="39719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21945" algn="l"/>
                <a:tab pos="3423920" algn="l"/>
              </a:tabLst>
            </a:pPr>
            <a:r>
              <a:rPr sz="1900" dirty="0">
                <a:latin typeface="Calibri"/>
                <a:cs typeface="Calibri"/>
              </a:rPr>
              <a:t>Sometimes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𝒥</a:t>
            </a:r>
            <a:r>
              <a:rPr sz="1900" spc="14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75" dirty="0">
                <a:latin typeface="Cambria Math"/>
                <a:cs typeface="Cambria Math"/>
              </a:rPr>
              <a:t> </a:t>
            </a:r>
            <a:r>
              <a:rPr sz="2100" spc="-75" baseline="45634" dirty="0">
                <a:latin typeface="Cambria Math"/>
                <a:cs typeface="Cambria Math"/>
              </a:rPr>
              <a:t>1</a:t>
            </a:r>
            <a:r>
              <a:rPr sz="2100" baseline="45634" dirty="0">
                <a:latin typeface="Cambria Math"/>
                <a:cs typeface="Cambria Math"/>
              </a:rPr>
              <a:t>	</a:t>
            </a:r>
            <a:r>
              <a:rPr sz="1900" spc="55" dirty="0">
                <a:latin typeface="Cambria Math"/>
                <a:cs typeface="Cambria Math"/>
              </a:rPr>
              <a:t>y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41562" y="3320514"/>
            <a:ext cx="469709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baseline="27777" dirty="0">
                <a:latin typeface="Cambria Math"/>
                <a:cs typeface="Cambria Math"/>
              </a:rPr>
              <a:t>2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without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normalizer.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would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correspond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6456" y="3661890"/>
            <a:ext cx="8653145" cy="1181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sum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losses,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averaged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loss.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minimizer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does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depend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𝑁</a:t>
            </a:r>
            <a:endParaRPr sz="1900">
              <a:latin typeface="Cambria Math"/>
              <a:cs typeface="Cambria Math"/>
            </a:endParaRPr>
          </a:p>
          <a:p>
            <a:pPr marL="283845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latin typeface="Calibri"/>
                <a:cs typeface="Calibri"/>
              </a:rPr>
              <a:t>(but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optimization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might!).</a:t>
            </a:r>
            <a:endParaRPr sz="1900">
              <a:latin typeface="Calibri"/>
              <a:cs typeface="Calibri"/>
            </a:endParaRPr>
          </a:p>
          <a:p>
            <a:pPr marL="283845" marR="102870" indent="-271780">
              <a:lnSpc>
                <a:spcPts val="2210"/>
              </a:lnSpc>
              <a:spcBef>
                <a:spcPts val="15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also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add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column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1’s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design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matrix,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combine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bias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weights,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conveniently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write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45844" y="2898933"/>
            <a:ext cx="317500" cy="13335"/>
          </a:xfrm>
          <a:custGeom>
            <a:avLst/>
            <a:gdLst/>
            <a:ahLst/>
            <a:cxnLst/>
            <a:rect l="l" t="t" r="r" b="b"/>
            <a:pathLst>
              <a:path w="317500" h="13335">
                <a:moveTo>
                  <a:pt x="317500" y="0"/>
                </a:moveTo>
                <a:lnTo>
                  <a:pt x="0" y="0"/>
                </a:lnTo>
                <a:lnTo>
                  <a:pt x="0" y="12714"/>
                </a:lnTo>
                <a:lnTo>
                  <a:pt x="317500" y="12714"/>
                </a:lnTo>
                <a:lnTo>
                  <a:pt x="317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736448" y="2884650"/>
            <a:ext cx="3346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latin typeface="Cambria Math"/>
                <a:cs typeface="Cambria Math"/>
              </a:rPr>
              <a:t>2𝑁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71794" y="2796896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32"/>
                </a:lnTo>
                <a:lnTo>
                  <a:pt x="18148" y="219532"/>
                </a:lnTo>
                <a:lnTo>
                  <a:pt x="18148" y="0"/>
                </a:lnTo>
                <a:close/>
              </a:path>
              <a:path w="69850" h="219710">
                <a:moveTo>
                  <a:pt x="69405" y="0"/>
                </a:moveTo>
                <a:lnTo>
                  <a:pt x="51257" y="0"/>
                </a:lnTo>
                <a:lnTo>
                  <a:pt x="51257" y="219532"/>
                </a:lnTo>
                <a:lnTo>
                  <a:pt x="69405" y="219532"/>
                </a:lnTo>
                <a:lnTo>
                  <a:pt x="6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34762" y="2796896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32"/>
                </a:lnTo>
                <a:lnTo>
                  <a:pt x="18148" y="219532"/>
                </a:lnTo>
                <a:lnTo>
                  <a:pt x="18148" y="0"/>
                </a:lnTo>
                <a:close/>
              </a:path>
              <a:path w="69850" h="219710">
                <a:moveTo>
                  <a:pt x="69405" y="0"/>
                </a:moveTo>
                <a:lnTo>
                  <a:pt x="51257" y="0"/>
                </a:lnTo>
                <a:lnTo>
                  <a:pt x="51257" y="219532"/>
                </a:lnTo>
                <a:lnTo>
                  <a:pt x="69405" y="219532"/>
                </a:lnTo>
                <a:lnTo>
                  <a:pt x="6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227412" y="2720058"/>
            <a:ext cx="15538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12775" algn="l"/>
                <a:tab pos="1005205" algn="l"/>
              </a:tabLst>
            </a:pPr>
            <a:r>
              <a:rPr sz="1900" dirty="0">
                <a:latin typeface="Cambria Math"/>
                <a:cs typeface="Cambria Math"/>
              </a:rPr>
              <a:t>𝒥</a:t>
            </a:r>
            <a:r>
              <a:rPr sz="1900" spc="155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=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2850" spc="-75" baseline="42397" dirty="0">
                <a:latin typeface="Cambria Math"/>
                <a:cs typeface="Cambria Math"/>
              </a:rPr>
              <a:t>1</a:t>
            </a:r>
            <a:r>
              <a:rPr sz="2850" baseline="42397" dirty="0">
                <a:latin typeface="Cambria Math"/>
                <a:cs typeface="Cambria Math"/>
              </a:rPr>
              <a:t>	</a:t>
            </a:r>
            <a:r>
              <a:rPr sz="1900" spc="55" dirty="0">
                <a:latin typeface="Cambria Math"/>
                <a:cs typeface="Cambria Math"/>
              </a:rPr>
              <a:t>y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57589" y="2695241"/>
            <a:ext cx="1289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14266" y="5320002"/>
            <a:ext cx="42227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85" dirty="0">
                <a:latin typeface="Cambria Math"/>
                <a:cs typeface="Cambria Math"/>
              </a:rPr>
              <a:t>X</a:t>
            </a:r>
            <a:r>
              <a:rPr sz="1900" spc="110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=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65359" y="5062221"/>
            <a:ext cx="66675" cy="885190"/>
          </a:xfrm>
          <a:custGeom>
            <a:avLst/>
            <a:gdLst/>
            <a:ahLst/>
            <a:cxnLst/>
            <a:rect l="l" t="t" r="r" b="b"/>
            <a:pathLst>
              <a:path w="66675" h="885189">
                <a:moveTo>
                  <a:pt x="66459" y="0"/>
                </a:moveTo>
                <a:lnTo>
                  <a:pt x="0" y="0"/>
                </a:lnTo>
                <a:lnTo>
                  <a:pt x="0" y="12700"/>
                </a:lnTo>
                <a:lnTo>
                  <a:pt x="41948" y="12700"/>
                </a:lnTo>
                <a:lnTo>
                  <a:pt x="41948" y="872490"/>
                </a:lnTo>
                <a:lnTo>
                  <a:pt x="0" y="872490"/>
                </a:lnTo>
                <a:lnTo>
                  <a:pt x="0" y="885190"/>
                </a:lnTo>
                <a:lnTo>
                  <a:pt x="66459" y="885190"/>
                </a:lnTo>
                <a:lnTo>
                  <a:pt x="66459" y="872490"/>
                </a:lnTo>
                <a:lnTo>
                  <a:pt x="66459" y="12700"/>
                </a:lnTo>
                <a:lnTo>
                  <a:pt x="664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69793" y="5062221"/>
            <a:ext cx="66675" cy="885190"/>
          </a:xfrm>
          <a:custGeom>
            <a:avLst/>
            <a:gdLst/>
            <a:ahLst/>
            <a:cxnLst/>
            <a:rect l="l" t="t" r="r" b="b"/>
            <a:pathLst>
              <a:path w="66675" h="885189">
                <a:moveTo>
                  <a:pt x="66446" y="0"/>
                </a:moveTo>
                <a:lnTo>
                  <a:pt x="0" y="0"/>
                </a:lnTo>
                <a:lnTo>
                  <a:pt x="0" y="12700"/>
                </a:lnTo>
                <a:lnTo>
                  <a:pt x="0" y="872490"/>
                </a:lnTo>
                <a:lnTo>
                  <a:pt x="0" y="885190"/>
                </a:lnTo>
                <a:lnTo>
                  <a:pt x="66446" y="885190"/>
                </a:lnTo>
                <a:lnTo>
                  <a:pt x="66446" y="872490"/>
                </a:lnTo>
                <a:lnTo>
                  <a:pt x="24498" y="872490"/>
                </a:lnTo>
                <a:lnTo>
                  <a:pt x="24498" y="12700"/>
                </a:lnTo>
                <a:lnTo>
                  <a:pt x="66446" y="12700"/>
                </a:lnTo>
                <a:lnTo>
                  <a:pt x="664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928828" y="4982013"/>
            <a:ext cx="159385" cy="101028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900" spc="-50" dirty="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900" spc="-50" dirty="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900" spc="-50" dirty="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77946" y="4893621"/>
            <a:ext cx="710565" cy="109855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sz="2850" spc="52" baseline="-20467" dirty="0">
                <a:latin typeface="Cambria Math"/>
                <a:cs typeface="Cambria Math"/>
              </a:rPr>
              <a:t>[x</a:t>
            </a:r>
            <a:r>
              <a:rPr sz="1400" spc="35" dirty="0">
                <a:latin typeface="Cambria Math"/>
                <a:cs typeface="Cambria Math"/>
              </a:rPr>
              <a:t>(1)</a:t>
            </a:r>
            <a:r>
              <a:rPr sz="2850" spc="52" baseline="-20467" dirty="0">
                <a:latin typeface="Cambria Math"/>
                <a:cs typeface="Cambria Math"/>
              </a:rPr>
              <a:t>]</a:t>
            </a:r>
            <a:r>
              <a:rPr sz="1400" spc="35" dirty="0">
                <a:latin typeface="Cambria Math"/>
                <a:cs typeface="Cambria Math"/>
              </a:rPr>
              <a:t>𝗍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2850" spc="52" baseline="-20467" dirty="0">
                <a:latin typeface="Cambria Math"/>
                <a:cs typeface="Cambria Math"/>
              </a:rPr>
              <a:t>[x</a:t>
            </a:r>
            <a:r>
              <a:rPr sz="1400" spc="35" dirty="0">
                <a:latin typeface="Cambria Math"/>
                <a:cs typeface="Cambria Math"/>
              </a:rPr>
              <a:t>(2)</a:t>
            </a:r>
            <a:r>
              <a:rPr sz="2850" spc="52" baseline="-20467" dirty="0">
                <a:latin typeface="Cambria Math"/>
                <a:cs typeface="Cambria Math"/>
              </a:rPr>
              <a:t>]</a:t>
            </a:r>
            <a:r>
              <a:rPr sz="1400" spc="35" dirty="0">
                <a:latin typeface="Cambria Math"/>
                <a:cs typeface="Cambria Math"/>
              </a:rPr>
              <a:t>𝗍</a:t>
            </a:r>
            <a:endParaRPr sz="1400">
              <a:latin typeface="Cambria Math"/>
              <a:cs typeface="Cambria Math"/>
            </a:endParaRPr>
          </a:p>
          <a:p>
            <a:pPr marL="8890" algn="ctr">
              <a:lnSpc>
                <a:spcPct val="100000"/>
              </a:lnSpc>
              <a:spcBef>
                <a:spcPts val="745"/>
              </a:spcBef>
            </a:pPr>
            <a:r>
              <a:rPr sz="1900" spc="-50" dirty="0">
                <a:latin typeface="Cambria Math"/>
                <a:cs typeface="Cambria Math"/>
              </a:rPr>
              <a:t>⋮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87456" y="5231610"/>
            <a:ext cx="12439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baseline="-20467" dirty="0">
                <a:latin typeface="Cambria Math"/>
                <a:cs typeface="Cambria Math"/>
              </a:rPr>
              <a:t>∈</a:t>
            </a:r>
            <a:r>
              <a:rPr sz="2850" spc="142" baseline="-20467" dirty="0">
                <a:latin typeface="Cambria Math"/>
                <a:cs typeface="Cambria Math"/>
              </a:rPr>
              <a:t> </a:t>
            </a:r>
            <a:r>
              <a:rPr sz="2850" spc="-15" baseline="-20467" dirty="0">
                <a:latin typeface="Cambria Math"/>
                <a:cs typeface="Cambria Math"/>
              </a:rPr>
              <a:t>ℝ</a:t>
            </a:r>
            <a:r>
              <a:rPr sz="1400" spc="-10" dirty="0">
                <a:latin typeface="Cambria Math"/>
                <a:cs typeface="Cambria Math"/>
              </a:rPr>
              <a:t>𝑁×(𝐷+1)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75832" y="5265138"/>
            <a:ext cx="46799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105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=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983121" y="5006341"/>
            <a:ext cx="66675" cy="885190"/>
          </a:xfrm>
          <a:custGeom>
            <a:avLst/>
            <a:gdLst/>
            <a:ahLst/>
            <a:cxnLst/>
            <a:rect l="l" t="t" r="r" b="b"/>
            <a:pathLst>
              <a:path w="66675" h="885189">
                <a:moveTo>
                  <a:pt x="66446" y="0"/>
                </a:moveTo>
                <a:lnTo>
                  <a:pt x="0" y="0"/>
                </a:lnTo>
                <a:lnTo>
                  <a:pt x="0" y="12700"/>
                </a:lnTo>
                <a:lnTo>
                  <a:pt x="41948" y="12700"/>
                </a:lnTo>
                <a:lnTo>
                  <a:pt x="41948" y="872490"/>
                </a:lnTo>
                <a:lnTo>
                  <a:pt x="0" y="872490"/>
                </a:lnTo>
                <a:lnTo>
                  <a:pt x="0" y="885190"/>
                </a:lnTo>
                <a:lnTo>
                  <a:pt x="66446" y="885190"/>
                </a:lnTo>
                <a:lnTo>
                  <a:pt x="66446" y="872490"/>
                </a:lnTo>
                <a:lnTo>
                  <a:pt x="66446" y="12700"/>
                </a:lnTo>
                <a:lnTo>
                  <a:pt x="664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623811" y="5006341"/>
            <a:ext cx="66675" cy="885190"/>
          </a:xfrm>
          <a:custGeom>
            <a:avLst/>
            <a:gdLst/>
            <a:ahLst/>
            <a:cxnLst/>
            <a:rect l="l" t="t" r="r" b="b"/>
            <a:pathLst>
              <a:path w="66675" h="885189">
                <a:moveTo>
                  <a:pt x="66446" y="0"/>
                </a:moveTo>
                <a:lnTo>
                  <a:pt x="0" y="0"/>
                </a:lnTo>
                <a:lnTo>
                  <a:pt x="0" y="12700"/>
                </a:lnTo>
                <a:lnTo>
                  <a:pt x="0" y="872490"/>
                </a:lnTo>
                <a:lnTo>
                  <a:pt x="0" y="885190"/>
                </a:lnTo>
                <a:lnTo>
                  <a:pt x="66446" y="885190"/>
                </a:lnTo>
                <a:lnTo>
                  <a:pt x="66446" y="872490"/>
                </a:lnTo>
                <a:lnTo>
                  <a:pt x="24511" y="872490"/>
                </a:lnTo>
                <a:lnTo>
                  <a:pt x="24511" y="12700"/>
                </a:lnTo>
                <a:lnTo>
                  <a:pt x="66446" y="12700"/>
                </a:lnTo>
                <a:lnTo>
                  <a:pt x="664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657453" y="4874994"/>
            <a:ext cx="3498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2255"/>
              </a:lnSpc>
              <a:spcBef>
                <a:spcPts val="100"/>
              </a:spcBef>
            </a:pPr>
            <a:r>
              <a:rPr sz="1900" spc="-50" dirty="0">
                <a:latin typeface="Cambria Math"/>
                <a:cs typeface="Cambria Math"/>
              </a:rPr>
              <a:t>𝑏</a:t>
            </a:r>
            <a:endParaRPr sz="1900">
              <a:latin typeface="Cambria Math"/>
              <a:cs typeface="Cambria Math"/>
            </a:endParaRPr>
          </a:p>
          <a:p>
            <a:pPr algn="ctr">
              <a:lnSpc>
                <a:spcPts val="2065"/>
              </a:lnSpc>
            </a:pPr>
            <a:r>
              <a:rPr sz="1900" spc="-25" dirty="0">
                <a:latin typeface="Cambria Math"/>
                <a:cs typeface="Cambria Math"/>
              </a:rPr>
              <a:t>𝑤</a:t>
            </a:r>
            <a:r>
              <a:rPr sz="2100" spc="-37" baseline="-15873" dirty="0">
                <a:latin typeface="Cambria Math"/>
                <a:cs typeface="Cambria Math"/>
              </a:rPr>
              <a:t>1</a:t>
            </a:r>
            <a:endParaRPr sz="2100" baseline="-15873">
              <a:latin typeface="Cambria Math"/>
              <a:cs typeface="Cambria Math"/>
            </a:endParaRPr>
          </a:p>
          <a:p>
            <a:pPr algn="ctr">
              <a:lnSpc>
                <a:spcPts val="2065"/>
              </a:lnSpc>
            </a:pPr>
            <a:r>
              <a:rPr sz="1900" spc="-25" dirty="0">
                <a:latin typeface="Cambria Math"/>
                <a:cs typeface="Cambria Math"/>
              </a:rPr>
              <a:t>𝑤</a:t>
            </a:r>
            <a:r>
              <a:rPr sz="2100" spc="-37" baseline="-15873" dirty="0">
                <a:latin typeface="Cambria Math"/>
                <a:cs typeface="Cambria Math"/>
              </a:rPr>
              <a:t>2</a:t>
            </a:r>
            <a:endParaRPr sz="2100" baseline="-15873">
              <a:latin typeface="Cambria Math"/>
              <a:cs typeface="Cambria Math"/>
            </a:endParaRPr>
          </a:p>
          <a:p>
            <a:pPr marL="8255" algn="ctr">
              <a:lnSpc>
                <a:spcPts val="2255"/>
              </a:lnSpc>
            </a:pPr>
            <a:r>
              <a:rPr sz="1900" spc="-50" dirty="0">
                <a:latin typeface="Cambria Math"/>
                <a:cs typeface="Cambria Math"/>
              </a:rPr>
              <a:t>⋮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05214" y="5173698"/>
            <a:ext cx="8350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baseline="-20467" dirty="0">
                <a:latin typeface="Cambria Math"/>
                <a:cs typeface="Cambria Math"/>
              </a:rPr>
              <a:t>∈</a:t>
            </a:r>
            <a:r>
              <a:rPr sz="2850" spc="142" baseline="-20467" dirty="0">
                <a:latin typeface="Cambria Math"/>
                <a:cs typeface="Cambria Math"/>
              </a:rPr>
              <a:t> </a:t>
            </a:r>
            <a:r>
              <a:rPr sz="2850" spc="-30" baseline="-20467" dirty="0">
                <a:latin typeface="Cambria Math"/>
                <a:cs typeface="Cambria Math"/>
              </a:rPr>
              <a:t>ℝ</a:t>
            </a:r>
            <a:r>
              <a:rPr sz="1400" spc="-20" dirty="0">
                <a:latin typeface="Cambria Math"/>
                <a:cs typeface="Cambria Math"/>
              </a:rPr>
              <a:t>𝐷+1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86126" y="5249898"/>
            <a:ext cx="429259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latin typeface="Arial MT"/>
                <a:cs typeface="Arial MT"/>
              </a:rPr>
              <a:t>and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34523" y="6048474"/>
            <a:ext cx="429006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 MT"/>
                <a:cs typeface="Arial MT"/>
              </a:rPr>
              <a:t>Then,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our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predictions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reduce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y</a:t>
            </a:r>
            <a:r>
              <a:rPr sz="1900" spc="7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7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Xw</a:t>
            </a:r>
            <a:r>
              <a:rPr sz="1900" spc="-25" dirty="0">
                <a:latin typeface="Arial MT"/>
                <a:cs typeface="Arial MT"/>
              </a:rPr>
              <a:t>.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6402" y="2764836"/>
            <a:ext cx="1199385" cy="37821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8561" y="3227418"/>
            <a:ext cx="1638453" cy="51835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5644" y="3812235"/>
            <a:ext cx="6747563" cy="137729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0064" y="4851410"/>
            <a:ext cx="1023620" cy="64475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99631" y="5825212"/>
            <a:ext cx="2220091" cy="160798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75619" y="5955782"/>
            <a:ext cx="788672" cy="270955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99895" y="5723296"/>
            <a:ext cx="464589" cy="644056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47240" y="5716691"/>
            <a:ext cx="211705" cy="19451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434030" y="6025467"/>
            <a:ext cx="226136" cy="12125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23432" y="6247019"/>
            <a:ext cx="228257" cy="154411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704700" y="5784966"/>
            <a:ext cx="145933" cy="535940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9001552" y="6184488"/>
            <a:ext cx="47625" cy="67310"/>
          </a:xfrm>
          <a:custGeom>
            <a:avLst/>
            <a:gdLst/>
            <a:ahLst/>
            <a:cxnLst/>
            <a:rect l="l" t="t" r="r" b="b"/>
            <a:pathLst>
              <a:path w="47625" h="67310">
                <a:moveTo>
                  <a:pt x="23307" y="30257"/>
                </a:moveTo>
                <a:lnTo>
                  <a:pt x="13849" y="42711"/>
                </a:lnTo>
                <a:lnTo>
                  <a:pt x="0" y="60742"/>
                </a:lnTo>
                <a:lnTo>
                  <a:pt x="414" y="63962"/>
                </a:lnTo>
                <a:lnTo>
                  <a:pt x="4503" y="67120"/>
                </a:lnTo>
                <a:lnTo>
                  <a:pt x="6964" y="67120"/>
                </a:lnTo>
                <a:lnTo>
                  <a:pt x="34997" y="40246"/>
                </a:lnTo>
                <a:lnTo>
                  <a:pt x="30801" y="40246"/>
                </a:lnTo>
                <a:lnTo>
                  <a:pt x="23985" y="35104"/>
                </a:lnTo>
                <a:lnTo>
                  <a:pt x="23376" y="30754"/>
                </a:lnTo>
                <a:lnTo>
                  <a:pt x="23307" y="30257"/>
                </a:lnTo>
                <a:close/>
              </a:path>
              <a:path w="47625" h="67310">
                <a:moveTo>
                  <a:pt x="33197" y="22772"/>
                </a:moveTo>
                <a:lnTo>
                  <a:pt x="28425" y="23483"/>
                </a:lnTo>
                <a:lnTo>
                  <a:pt x="23307" y="30257"/>
                </a:lnTo>
                <a:lnTo>
                  <a:pt x="23941" y="34789"/>
                </a:lnTo>
                <a:lnTo>
                  <a:pt x="23985" y="35104"/>
                </a:lnTo>
                <a:lnTo>
                  <a:pt x="30801" y="40246"/>
                </a:lnTo>
                <a:lnTo>
                  <a:pt x="35517" y="39586"/>
                </a:lnTo>
                <a:lnTo>
                  <a:pt x="38215" y="36159"/>
                </a:lnTo>
                <a:lnTo>
                  <a:pt x="40806" y="32617"/>
                </a:lnTo>
                <a:lnTo>
                  <a:pt x="40054" y="27781"/>
                </a:lnTo>
                <a:lnTo>
                  <a:pt x="33197" y="22772"/>
                </a:lnTo>
                <a:close/>
              </a:path>
              <a:path w="47625" h="67310">
                <a:moveTo>
                  <a:pt x="35517" y="39586"/>
                </a:moveTo>
                <a:lnTo>
                  <a:pt x="30801" y="40246"/>
                </a:lnTo>
                <a:lnTo>
                  <a:pt x="34997" y="40246"/>
                </a:lnTo>
                <a:lnTo>
                  <a:pt x="35517" y="39586"/>
                </a:lnTo>
                <a:close/>
              </a:path>
              <a:path w="47625" h="67310">
                <a:moveTo>
                  <a:pt x="45779" y="22772"/>
                </a:moveTo>
                <a:lnTo>
                  <a:pt x="33197" y="22772"/>
                </a:lnTo>
                <a:lnTo>
                  <a:pt x="40054" y="27781"/>
                </a:lnTo>
                <a:lnTo>
                  <a:pt x="40807" y="32617"/>
                </a:lnTo>
                <a:lnTo>
                  <a:pt x="42166" y="30754"/>
                </a:lnTo>
                <a:lnTo>
                  <a:pt x="45554" y="24663"/>
                </a:lnTo>
                <a:lnTo>
                  <a:pt x="45695" y="23483"/>
                </a:lnTo>
                <a:lnTo>
                  <a:pt x="45779" y="22772"/>
                </a:lnTo>
                <a:close/>
              </a:path>
              <a:path w="47625" h="67310">
                <a:moveTo>
                  <a:pt x="38826" y="0"/>
                </a:moveTo>
                <a:lnTo>
                  <a:pt x="35129" y="0"/>
                </a:lnTo>
                <a:lnTo>
                  <a:pt x="31195" y="4057"/>
                </a:lnTo>
                <a:lnTo>
                  <a:pt x="30869" y="6300"/>
                </a:lnTo>
                <a:lnTo>
                  <a:pt x="30805" y="6743"/>
                </a:lnTo>
                <a:lnTo>
                  <a:pt x="33000" y="10941"/>
                </a:lnTo>
                <a:lnTo>
                  <a:pt x="32943" y="13134"/>
                </a:lnTo>
                <a:lnTo>
                  <a:pt x="31158" y="19518"/>
                </a:lnTo>
                <a:lnTo>
                  <a:pt x="29198" y="22450"/>
                </a:lnTo>
                <a:lnTo>
                  <a:pt x="28417" y="23483"/>
                </a:lnTo>
                <a:lnTo>
                  <a:pt x="33197" y="22772"/>
                </a:lnTo>
                <a:lnTo>
                  <a:pt x="45779" y="22772"/>
                </a:lnTo>
                <a:lnTo>
                  <a:pt x="46925" y="13134"/>
                </a:lnTo>
                <a:lnTo>
                  <a:pt x="47038" y="12188"/>
                </a:lnTo>
                <a:lnTo>
                  <a:pt x="45325" y="6300"/>
                </a:lnTo>
                <a:lnTo>
                  <a:pt x="388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210054" y="6045600"/>
            <a:ext cx="338261" cy="14096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612734" y="5894405"/>
            <a:ext cx="467647" cy="37381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894437" y="6611104"/>
            <a:ext cx="288199" cy="29464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309028" y="6441154"/>
            <a:ext cx="600610" cy="699411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145446" y="6463491"/>
            <a:ext cx="463997" cy="166955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145712" y="6694908"/>
            <a:ext cx="477273" cy="17580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127884" y="6968535"/>
            <a:ext cx="520910" cy="169597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695937" y="6532134"/>
            <a:ext cx="130894" cy="61595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958911" y="6735198"/>
            <a:ext cx="163228" cy="9988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209275" y="6626065"/>
            <a:ext cx="555999" cy="24451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875594" y="6598701"/>
            <a:ext cx="171113" cy="252682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432473" y="6534244"/>
            <a:ext cx="981463" cy="381289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546490" y="6555500"/>
            <a:ext cx="419003" cy="341054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078843" y="6492163"/>
            <a:ext cx="149489" cy="645632"/>
          </a:xfrm>
          <a:prstGeom prst="rect">
            <a:avLst/>
          </a:prstGeom>
        </p:spPr>
      </p:pic>
      <p:sp>
        <p:nvSpPr>
          <p:cNvPr id="56" name="object 56"/>
          <p:cNvSpPr/>
          <p:nvPr/>
        </p:nvSpPr>
        <p:spPr>
          <a:xfrm>
            <a:off x="3300257" y="6409595"/>
            <a:ext cx="17780" cy="140970"/>
          </a:xfrm>
          <a:custGeom>
            <a:avLst/>
            <a:gdLst/>
            <a:ahLst/>
            <a:cxnLst/>
            <a:rect l="l" t="t" r="r" b="b"/>
            <a:pathLst>
              <a:path w="17779" h="140970">
                <a:moveTo>
                  <a:pt x="9137" y="0"/>
                </a:moveTo>
                <a:lnTo>
                  <a:pt x="2274" y="1414"/>
                </a:lnTo>
                <a:lnTo>
                  <a:pt x="0" y="4225"/>
                </a:lnTo>
                <a:lnTo>
                  <a:pt x="80" y="12211"/>
                </a:lnTo>
                <a:lnTo>
                  <a:pt x="1654" y="73796"/>
                </a:lnTo>
                <a:lnTo>
                  <a:pt x="3852" y="137890"/>
                </a:lnTo>
                <a:lnTo>
                  <a:pt x="6882" y="140911"/>
                </a:lnTo>
                <a:lnTo>
                  <a:pt x="10481" y="140781"/>
                </a:lnTo>
                <a:lnTo>
                  <a:pt x="13792" y="140781"/>
                </a:lnTo>
                <a:lnTo>
                  <a:pt x="16664" y="137890"/>
                </a:lnTo>
                <a:lnTo>
                  <a:pt x="17290" y="114241"/>
                </a:lnTo>
                <a:lnTo>
                  <a:pt x="17625" y="94261"/>
                </a:lnTo>
                <a:lnTo>
                  <a:pt x="17696" y="73796"/>
                </a:lnTo>
                <a:lnTo>
                  <a:pt x="17405" y="53578"/>
                </a:lnTo>
                <a:lnTo>
                  <a:pt x="14766" y="12211"/>
                </a:lnTo>
                <a:lnTo>
                  <a:pt x="12736" y="2369"/>
                </a:lnTo>
                <a:lnTo>
                  <a:pt x="91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299874" y="6634712"/>
            <a:ext cx="17145" cy="144780"/>
          </a:xfrm>
          <a:custGeom>
            <a:avLst/>
            <a:gdLst/>
            <a:ahLst/>
            <a:cxnLst/>
            <a:rect l="l" t="t" r="r" b="b"/>
            <a:pathLst>
              <a:path w="17145" h="144779">
                <a:moveTo>
                  <a:pt x="13317" y="0"/>
                </a:moveTo>
                <a:lnTo>
                  <a:pt x="5773" y="0"/>
                </a:lnTo>
                <a:lnTo>
                  <a:pt x="2840" y="2559"/>
                </a:lnTo>
                <a:lnTo>
                  <a:pt x="2313" y="6000"/>
                </a:lnTo>
                <a:lnTo>
                  <a:pt x="839" y="18687"/>
                </a:lnTo>
                <a:lnTo>
                  <a:pt x="118" y="31475"/>
                </a:lnTo>
                <a:lnTo>
                  <a:pt x="0" y="57062"/>
                </a:lnTo>
                <a:lnTo>
                  <a:pt x="452" y="77419"/>
                </a:lnTo>
                <a:lnTo>
                  <a:pt x="2414" y="118100"/>
                </a:lnTo>
                <a:lnTo>
                  <a:pt x="7123" y="144726"/>
                </a:lnTo>
                <a:lnTo>
                  <a:pt x="14133" y="144237"/>
                </a:lnTo>
                <a:lnTo>
                  <a:pt x="16784" y="141403"/>
                </a:lnTo>
                <a:lnTo>
                  <a:pt x="16769" y="31475"/>
                </a:lnTo>
                <a:lnTo>
                  <a:pt x="16503" y="6966"/>
                </a:lnTo>
                <a:lnTo>
                  <a:pt x="16441" y="3025"/>
                </a:lnTo>
                <a:lnTo>
                  <a:pt x="133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305671" y="6933750"/>
            <a:ext cx="18415" cy="144780"/>
          </a:xfrm>
          <a:custGeom>
            <a:avLst/>
            <a:gdLst/>
            <a:ahLst/>
            <a:cxnLst/>
            <a:rect l="l" t="t" r="r" b="b"/>
            <a:pathLst>
              <a:path w="18414" h="144779">
                <a:moveTo>
                  <a:pt x="12489" y="0"/>
                </a:moveTo>
                <a:lnTo>
                  <a:pt x="4664" y="0"/>
                </a:lnTo>
                <a:lnTo>
                  <a:pt x="1607" y="3002"/>
                </a:lnTo>
                <a:lnTo>
                  <a:pt x="699" y="29776"/>
                </a:lnTo>
                <a:lnTo>
                  <a:pt x="152" y="52805"/>
                </a:lnTo>
                <a:lnTo>
                  <a:pt x="0" y="75838"/>
                </a:lnTo>
                <a:lnTo>
                  <a:pt x="410" y="98857"/>
                </a:lnTo>
                <a:lnTo>
                  <a:pt x="3148" y="131388"/>
                </a:lnTo>
                <a:lnTo>
                  <a:pt x="3894" y="137198"/>
                </a:lnTo>
                <a:lnTo>
                  <a:pt x="8960" y="143975"/>
                </a:lnTo>
                <a:lnTo>
                  <a:pt x="12807" y="144531"/>
                </a:lnTo>
                <a:lnTo>
                  <a:pt x="17104" y="141319"/>
                </a:lnTo>
                <a:lnTo>
                  <a:pt x="18019" y="139447"/>
                </a:lnTo>
                <a:lnTo>
                  <a:pt x="15648" y="6896"/>
                </a:lnTo>
                <a:lnTo>
                  <a:pt x="15579" y="3002"/>
                </a:lnTo>
                <a:lnTo>
                  <a:pt x="124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9" name="object 5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488568" y="6396292"/>
            <a:ext cx="168829" cy="15486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484596" y="6663371"/>
            <a:ext cx="231644" cy="159679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473982" y="6963590"/>
            <a:ext cx="224888" cy="183714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811801" y="6382199"/>
            <a:ext cx="221441" cy="21368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823629" y="6700055"/>
            <a:ext cx="254357" cy="165501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843478" y="6982277"/>
            <a:ext cx="242898" cy="207191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145064" y="6458435"/>
            <a:ext cx="108916" cy="659130"/>
          </a:xfrm>
          <a:prstGeom prst="rect">
            <a:avLst/>
          </a:prstGeom>
        </p:spPr>
      </p:pic>
      <p:sp>
        <p:nvSpPr>
          <p:cNvPr id="66" name="object 66"/>
          <p:cNvSpPr/>
          <p:nvPr/>
        </p:nvSpPr>
        <p:spPr>
          <a:xfrm>
            <a:off x="4452098" y="6897512"/>
            <a:ext cx="52069" cy="100330"/>
          </a:xfrm>
          <a:custGeom>
            <a:avLst/>
            <a:gdLst/>
            <a:ahLst/>
            <a:cxnLst/>
            <a:rect l="l" t="t" r="r" b="b"/>
            <a:pathLst>
              <a:path w="52070" h="100329">
                <a:moveTo>
                  <a:pt x="29006" y="43493"/>
                </a:moveTo>
                <a:lnTo>
                  <a:pt x="23778" y="53050"/>
                </a:lnTo>
                <a:lnTo>
                  <a:pt x="16456" y="66038"/>
                </a:lnTo>
                <a:lnTo>
                  <a:pt x="8994" y="78947"/>
                </a:lnTo>
                <a:lnTo>
                  <a:pt x="0" y="94180"/>
                </a:lnTo>
                <a:lnTo>
                  <a:pt x="786" y="97271"/>
                </a:lnTo>
                <a:lnTo>
                  <a:pt x="5290" y="99950"/>
                </a:lnTo>
                <a:lnTo>
                  <a:pt x="8004" y="99495"/>
                </a:lnTo>
                <a:lnTo>
                  <a:pt x="9593" y="97618"/>
                </a:lnTo>
                <a:lnTo>
                  <a:pt x="19290" y="85660"/>
                </a:lnTo>
                <a:lnTo>
                  <a:pt x="28391" y="73216"/>
                </a:lnTo>
                <a:lnTo>
                  <a:pt x="36707" y="60246"/>
                </a:lnTo>
                <a:lnTo>
                  <a:pt x="41241" y="51888"/>
                </a:lnTo>
                <a:lnTo>
                  <a:pt x="37448" y="51888"/>
                </a:lnTo>
                <a:lnTo>
                  <a:pt x="30308" y="47967"/>
                </a:lnTo>
                <a:lnTo>
                  <a:pt x="29006" y="43493"/>
                </a:lnTo>
                <a:close/>
              </a:path>
              <a:path w="52070" h="100329">
                <a:moveTo>
                  <a:pt x="37118" y="35094"/>
                </a:moveTo>
                <a:lnTo>
                  <a:pt x="32851" y="36475"/>
                </a:lnTo>
                <a:lnTo>
                  <a:pt x="29006" y="43493"/>
                </a:lnTo>
                <a:lnTo>
                  <a:pt x="30308" y="47967"/>
                </a:lnTo>
                <a:lnTo>
                  <a:pt x="37448" y="51888"/>
                </a:lnTo>
                <a:lnTo>
                  <a:pt x="41932" y="50583"/>
                </a:lnTo>
                <a:lnTo>
                  <a:pt x="44014" y="46776"/>
                </a:lnTo>
                <a:lnTo>
                  <a:pt x="45664" y="43057"/>
                </a:lnTo>
                <a:lnTo>
                  <a:pt x="45766" y="42828"/>
                </a:lnTo>
                <a:lnTo>
                  <a:pt x="44335" y="38638"/>
                </a:lnTo>
                <a:lnTo>
                  <a:pt x="37118" y="35094"/>
                </a:lnTo>
                <a:close/>
              </a:path>
              <a:path w="52070" h="100329">
                <a:moveTo>
                  <a:pt x="41949" y="50583"/>
                </a:moveTo>
                <a:lnTo>
                  <a:pt x="37448" y="51888"/>
                </a:lnTo>
                <a:lnTo>
                  <a:pt x="41241" y="51888"/>
                </a:lnTo>
                <a:lnTo>
                  <a:pt x="41949" y="50583"/>
                </a:lnTo>
                <a:close/>
              </a:path>
              <a:path w="52070" h="100329">
                <a:moveTo>
                  <a:pt x="45766" y="42828"/>
                </a:moveTo>
                <a:lnTo>
                  <a:pt x="44023" y="46776"/>
                </a:lnTo>
                <a:lnTo>
                  <a:pt x="45844" y="43057"/>
                </a:lnTo>
                <a:lnTo>
                  <a:pt x="45766" y="42828"/>
                </a:lnTo>
                <a:close/>
              </a:path>
              <a:path w="52070" h="100329">
                <a:moveTo>
                  <a:pt x="48738" y="35094"/>
                </a:moveTo>
                <a:lnTo>
                  <a:pt x="37118" y="35094"/>
                </a:lnTo>
                <a:lnTo>
                  <a:pt x="44335" y="38638"/>
                </a:lnTo>
                <a:lnTo>
                  <a:pt x="45766" y="42828"/>
                </a:lnTo>
                <a:lnTo>
                  <a:pt x="47234" y="39503"/>
                </a:lnTo>
                <a:lnTo>
                  <a:pt x="48738" y="35094"/>
                </a:lnTo>
                <a:close/>
              </a:path>
              <a:path w="52070" h="100329">
                <a:moveTo>
                  <a:pt x="39376" y="19826"/>
                </a:moveTo>
                <a:lnTo>
                  <a:pt x="39230" y="20598"/>
                </a:lnTo>
                <a:lnTo>
                  <a:pt x="39040" y="22695"/>
                </a:lnTo>
                <a:lnTo>
                  <a:pt x="38998" y="23148"/>
                </a:lnTo>
                <a:lnTo>
                  <a:pt x="38893" y="24307"/>
                </a:lnTo>
                <a:lnTo>
                  <a:pt x="38858" y="24699"/>
                </a:lnTo>
                <a:lnTo>
                  <a:pt x="34923" y="32702"/>
                </a:lnTo>
                <a:lnTo>
                  <a:pt x="32851" y="36475"/>
                </a:lnTo>
                <a:lnTo>
                  <a:pt x="37118" y="35094"/>
                </a:lnTo>
                <a:lnTo>
                  <a:pt x="48738" y="35094"/>
                </a:lnTo>
                <a:lnTo>
                  <a:pt x="49787" y="32016"/>
                </a:lnTo>
                <a:lnTo>
                  <a:pt x="51285" y="24699"/>
                </a:lnTo>
                <a:lnTo>
                  <a:pt x="51399" y="23148"/>
                </a:lnTo>
                <a:lnTo>
                  <a:pt x="48501" y="23148"/>
                </a:lnTo>
                <a:lnTo>
                  <a:pt x="41876" y="22695"/>
                </a:lnTo>
                <a:lnTo>
                  <a:pt x="39376" y="19826"/>
                </a:lnTo>
                <a:close/>
              </a:path>
              <a:path w="52070" h="100329">
                <a:moveTo>
                  <a:pt x="48475" y="10689"/>
                </a:moveTo>
                <a:lnTo>
                  <a:pt x="39376" y="19826"/>
                </a:lnTo>
                <a:lnTo>
                  <a:pt x="41876" y="22695"/>
                </a:lnTo>
                <a:lnTo>
                  <a:pt x="48501" y="23148"/>
                </a:lnTo>
                <a:lnTo>
                  <a:pt x="51427" y="20598"/>
                </a:lnTo>
                <a:lnTo>
                  <a:pt x="51359" y="13246"/>
                </a:lnTo>
                <a:lnTo>
                  <a:pt x="50759" y="12664"/>
                </a:lnTo>
                <a:lnTo>
                  <a:pt x="48475" y="10689"/>
                </a:lnTo>
                <a:close/>
              </a:path>
              <a:path w="52070" h="100329">
                <a:moveTo>
                  <a:pt x="51474" y="20598"/>
                </a:moveTo>
                <a:lnTo>
                  <a:pt x="48501" y="23148"/>
                </a:lnTo>
                <a:lnTo>
                  <a:pt x="51399" y="23148"/>
                </a:lnTo>
                <a:lnTo>
                  <a:pt x="51474" y="20598"/>
                </a:lnTo>
                <a:close/>
              </a:path>
              <a:path w="52070" h="100329">
                <a:moveTo>
                  <a:pt x="39852" y="10689"/>
                </a:moveTo>
                <a:lnTo>
                  <a:pt x="38961" y="10689"/>
                </a:lnTo>
                <a:lnTo>
                  <a:pt x="39534" y="11796"/>
                </a:lnTo>
                <a:lnTo>
                  <a:pt x="39939" y="12664"/>
                </a:lnTo>
                <a:lnTo>
                  <a:pt x="39856" y="13471"/>
                </a:lnTo>
                <a:lnTo>
                  <a:pt x="42228" y="11142"/>
                </a:lnTo>
                <a:lnTo>
                  <a:pt x="37286" y="11142"/>
                </a:lnTo>
                <a:lnTo>
                  <a:pt x="39852" y="10689"/>
                </a:lnTo>
                <a:close/>
              </a:path>
              <a:path w="52070" h="100329">
                <a:moveTo>
                  <a:pt x="51163" y="10689"/>
                </a:moveTo>
                <a:lnTo>
                  <a:pt x="48475" y="10689"/>
                </a:lnTo>
                <a:lnTo>
                  <a:pt x="51433" y="13246"/>
                </a:lnTo>
                <a:lnTo>
                  <a:pt x="51347" y="11519"/>
                </a:lnTo>
                <a:lnTo>
                  <a:pt x="51263" y="11142"/>
                </a:lnTo>
                <a:lnTo>
                  <a:pt x="51163" y="10689"/>
                </a:lnTo>
                <a:close/>
              </a:path>
              <a:path w="52070" h="100329">
                <a:moveTo>
                  <a:pt x="40990" y="0"/>
                </a:moveTo>
                <a:lnTo>
                  <a:pt x="35726" y="1400"/>
                </a:lnTo>
                <a:lnTo>
                  <a:pt x="29222" y="4738"/>
                </a:lnTo>
                <a:lnTo>
                  <a:pt x="28348" y="7456"/>
                </a:lnTo>
                <a:lnTo>
                  <a:pt x="30433" y="11519"/>
                </a:lnTo>
                <a:lnTo>
                  <a:pt x="30690" y="11796"/>
                </a:lnTo>
                <a:lnTo>
                  <a:pt x="33016" y="12664"/>
                </a:lnTo>
                <a:lnTo>
                  <a:pt x="35865" y="11519"/>
                </a:lnTo>
                <a:lnTo>
                  <a:pt x="36914" y="11142"/>
                </a:lnTo>
                <a:lnTo>
                  <a:pt x="39196" y="11142"/>
                </a:lnTo>
                <a:lnTo>
                  <a:pt x="38961" y="10689"/>
                </a:lnTo>
                <a:lnTo>
                  <a:pt x="51163" y="10689"/>
                </a:lnTo>
                <a:lnTo>
                  <a:pt x="50044" y="5641"/>
                </a:lnTo>
                <a:lnTo>
                  <a:pt x="40990" y="0"/>
                </a:lnTo>
                <a:close/>
              </a:path>
              <a:path w="52070" h="100329">
                <a:moveTo>
                  <a:pt x="48475" y="10689"/>
                </a:moveTo>
                <a:lnTo>
                  <a:pt x="39852" y="10689"/>
                </a:lnTo>
                <a:lnTo>
                  <a:pt x="37286" y="11142"/>
                </a:lnTo>
                <a:lnTo>
                  <a:pt x="42228" y="11142"/>
                </a:lnTo>
                <a:lnTo>
                  <a:pt x="48475" y="106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7" name="object 67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761327" y="6864909"/>
            <a:ext cx="393797" cy="264348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156371" y="6937636"/>
            <a:ext cx="414259" cy="3932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Solving</a:t>
            </a:r>
            <a:r>
              <a:rPr spc="75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dirty="0"/>
              <a:t>Minimization</a:t>
            </a:r>
            <a:r>
              <a:rPr spc="80" dirty="0"/>
              <a:t> </a:t>
            </a:r>
            <a:r>
              <a:rPr spc="-10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59464" y="2351082"/>
            <a:ext cx="5582920" cy="1057910"/>
            <a:chOff x="4959464" y="2351082"/>
            <a:chExt cx="5582920" cy="1057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761" y="2885388"/>
              <a:ext cx="232256" cy="1884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9464" y="2351082"/>
              <a:ext cx="5582734" cy="105749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31056" y="1610925"/>
            <a:ext cx="8821420" cy="423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2799715">
              <a:lnSpc>
                <a:spcPct val="1368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define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cost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function.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what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we’d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like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minimize. </a:t>
            </a:r>
            <a:r>
              <a:rPr sz="1900" dirty="0">
                <a:latin typeface="Calibri"/>
                <a:cs typeface="Calibri"/>
              </a:rPr>
              <a:t>Two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commonly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applied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mathematical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approaches:</a:t>
            </a:r>
            <a:endParaRPr sz="1900">
              <a:latin typeface="Calibri"/>
              <a:cs typeface="Calibri"/>
            </a:endParaRPr>
          </a:p>
          <a:p>
            <a:pPr marL="570230" indent="-271145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570230" algn="l"/>
              </a:tabLst>
            </a:pPr>
            <a:r>
              <a:rPr sz="1600" dirty="0">
                <a:latin typeface="Calibri"/>
                <a:cs typeface="Calibri"/>
              </a:rPr>
              <a:t>Algebraic,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e.g.,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inequalities:</a:t>
            </a:r>
            <a:endParaRPr sz="1600">
              <a:latin typeface="Calibri"/>
              <a:cs typeface="Calibri"/>
            </a:endParaRPr>
          </a:p>
          <a:p>
            <a:pPr marL="996950" lvl="1" indent="-271145">
              <a:lnSpc>
                <a:spcPts val="1910"/>
              </a:lnSpc>
              <a:spcBef>
                <a:spcPts val="530"/>
              </a:spcBef>
              <a:buFont typeface="Wingdings"/>
              <a:buChar char=""/>
              <a:tabLst>
                <a:tab pos="996950" algn="l"/>
                <a:tab pos="4908550" algn="l"/>
              </a:tabLst>
            </a:pP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𝑧</a:t>
            </a:r>
            <a:r>
              <a:rPr sz="1800" baseline="27777" dirty="0">
                <a:latin typeface="Cambria Math"/>
                <a:cs typeface="Cambria Math"/>
              </a:rPr>
              <a:t>∗</a:t>
            </a:r>
            <a:r>
              <a:rPr sz="1800" spc="179" baseline="27777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libri"/>
                <a:cs typeface="Calibri"/>
              </a:rPr>
              <a:t>minimizes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𝑓(𝑧)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∀𝑧,</a:t>
            </a:r>
            <a:r>
              <a:rPr sz="1600" spc="-9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𝑓</a:t>
            </a:r>
            <a:r>
              <a:rPr sz="1600" spc="32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𝑧</a:t>
            </a:r>
            <a:r>
              <a:rPr sz="1600" dirty="0">
                <a:latin typeface="Cambria Math"/>
                <a:cs typeface="Cambria Math"/>
              </a:rPr>
              <a:t>	≥</a:t>
            </a:r>
            <a:r>
              <a:rPr sz="1600" spc="7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𝑓</a:t>
            </a:r>
            <a:r>
              <a:rPr sz="1600" spc="325" dirty="0">
                <a:latin typeface="Cambria Math"/>
                <a:cs typeface="Cambria Math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𝑧</a:t>
            </a:r>
            <a:r>
              <a:rPr sz="1800" spc="-37" baseline="27777" dirty="0">
                <a:latin typeface="Cambria Math"/>
                <a:cs typeface="Cambria Math"/>
              </a:rPr>
              <a:t>∗</a:t>
            </a:r>
            <a:endParaRPr sz="1800" baseline="27777">
              <a:latin typeface="Cambria Math"/>
              <a:cs typeface="Cambria Math"/>
            </a:endParaRPr>
          </a:p>
          <a:p>
            <a:pPr marL="996950" lvl="1" indent="-271145">
              <a:lnSpc>
                <a:spcPts val="1910"/>
              </a:lnSpc>
              <a:buFont typeface="Wingdings"/>
              <a:buChar char=""/>
              <a:tabLst>
                <a:tab pos="996950" algn="l"/>
              </a:tabLst>
            </a:pP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600" spc="9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6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𝑏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𝑎</a:t>
            </a:r>
            <a:r>
              <a:rPr sz="1600" spc="10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≥</a:t>
            </a:r>
            <a:r>
              <a:rPr sz="1600" spc="5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𝑏</a:t>
            </a:r>
            <a:r>
              <a:rPr sz="1600" spc="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𝑏</a:t>
            </a:r>
            <a:r>
              <a:rPr sz="1600" spc="9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≥</a:t>
            </a:r>
            <a:r>
              <a:rPr sz="1600" spc="60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  <a:p>
            <a:pPr marL="570230" marR="288925" indent="-271780">
              <a:lnSpc>
                <a:spcPts val="1900"/>
              </a:lnSpc>
              <a:spcBef>
                <a:spcPts val="1425"/>
              </a:spcBef>
              <a:buFont typeface="Arial MT"/>
              <a:buChar char="•"/>
              <a:tabLst>
                <a:tab pos="570230" algn="l"/>
              </a:tabLst>
            </a:pPr>
            <a:r>
              <a:rPr sz="1600" dirty="0">
                <a:latin typeface="Calibri"/>
                <a:cs typeface="Calibri"/>
              </a:rPr>
              <a:t>Calculus: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minimum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smooth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function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(if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exists)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occurs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critical</a:t>
            </a:r>
            <a:r>
              <a:rPr sz="1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point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i.e.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point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where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derivative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zero.</a:t>
            </a:r>
            <a:endParaRPr sz="1600">
              <a:latin typeface="Calibri"/>
              <a:cs typeface="Calibri"/>
            </a:endParaRPr>
          </a:p>
          <a:p>
            <a:pPr marL="996950" lvl="1" indent="-271145">
              <a:lnSpc>
                <a:spcPct val="100000"/>
              </a:lnSpc>
              <a:spcBef>
                <a:spcPts val="844"/>
              </a:spcBef>
              <a:buFont typeface="Wingdings"/>
              <a:buChar char=""/>
              <a:tabLst>
                <a:tab pos="996950" algn="l"/>
              </a:tabLst>
            </a:pPr>
            <a:r>
              <a:rPr sz="1600" spc="-10" dirty="0">
                <a:latin typeface="Calibri"/>
                <a:cs typeface="Calibri"/>
              </a:rPr>
              <a:t>Multivariate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generalization: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partial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derivatives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zero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equivalently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gradient).</a:t>
            </a:r>
            <a:endParaRPr sz="16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165"/>
              </a:spcBef>
            </a:pPr>
            <a:r>
              <a:rPr sz="1900" dirty="0">
                <a:latin typeface="Calibri"/>
                <a:cs typeface="Calibri"/>
              </a:rPr>
              <a:t>Solutions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direct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iterative</a:t>
            </a:r>
            <a:endParaRPr sz="1900">
              <a:latin typeface="Calibri"/>
              <a:cs typeface="Calibri"/>
            </a:endParaRPr>
          </a:p>
          <a:p>
            <a:pPr marL="570230" marR="17780" indent="-27178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570230" algn="l"/>
              </a:tabLst>
            </a:pPr>
            <a:r>
              <a:rPr sz="1600" spc="-10" dirty="0">
                <a:latin typeface="Calibri"/>
                <a:cs typeface="Calibri"/>
              </a:rPr>
              <a:t>Sometimes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directly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provably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optimal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parameters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(e.g.,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gradient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zero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solve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form).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call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direct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solution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570230" marR="258445" indent="-271780">
              <a:lnSpc>
                <a:spcPts val="1900"/>
              </a:lnSpc>
              <a:spcBef>
                <a:spcPts val="55"/>
              </a:spcBef>
              <a:buFont typeface="Arial MT"/>
              <a:buChar char="•"/>
              <a:tabLst>
                <a:tab pos="570230" algn="l"/>
              </a:tabLst>
            </a:pPr>
            <a:r>
              <a:rPr sz="1600" dirty="0">
                <a:latin typeface="Calibri"/>
                <a:cs typeface="Calibri"/>
              </a:rPr>
              <a:t>We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also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optimization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techniques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iteratively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closer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solution.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get </a:t>
            </a:r>
            <a:r>
              <a:rPr sz="1600" dirty="0">
                <a:latin typeface="Calibri"/>
                <a:cs typeface="Calibri"/>
              </a:rPr>
              <a:t>back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soon.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5297" y="816799"/>
            <a:ext cx="1915294" cy="4851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80278" y="2433490"/>
            <a:ext cx="687088" cy="35434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40867" y="3691513"/>
            <a:ext cx="1136828" cy="28089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49383" y="3651732"/>
            <a:ext cx="669768" cy="28387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05905" y="3678123"/>
            <a:ext cx="1167011" cy="3044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17442" y="3778396"/>
            <a:ext cx="71479" cy="11600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244473" y="3692769"/>
            <a:ext cx="692621" cy="2788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25763" y="3853016"/>
            <a:ext cx="51289" cy="7651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38389" y="3657578"/>
            <a:ext cx="2729093" cy="102007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45288" y="3669786"/>
            <a:ext cx="527894" cy="1937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118675" y="3725127"/>
            <a:ext cx="376275" cy="17784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628097" y="4529263"/>
            <a:ext cx="265632" cy="13461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487250" y="4766164"/>
            <a:ext cx="597672" cy="3257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74890" y="4737443"/>
            <a:ext cx="856575" cy="60198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185947" y="5712508"/>
            <a:ext cx="10203180" cy="1840864"/>
            <a:chOff x="185947" y="5712508"/>
            <a:chExt cx="10203180" cy="1840864"/>
          </a:xfrm>
        </p:grpSpPr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5947" y="6245433"/>
              <a:ext cx="28914" cy="5692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248362" y="7377816"/>
              <a:ext cx="20320" cy="13970"/>
            </a:xfrm>
            <a:custGeom>
              <a:avLst/>
              <a:gdLst/>
              <a:ahLst/>
              <a:cxnLst/>
              <a:rect l="l" t="t" r="r" b="b"/>
              <a:pathLst>
                <a:path w="20320" h="13970">
                  <a:moveTo>
                    <a:pt x="16294" y="0"/>
                  </a:moveTo>
                  <a:lnTo>
                    <a:pt x="942" y="6413"/>
                  </a:lnTo>
                  <a:lnTo>
                    <a:pt x="0" y="8709"/>
                  </a:lnTo>
                  <a:lnTo>
                    <a:pt x="1713" y="12812"/>
                  </a:lnTo>
                  <a:lnTo>
                    <a:pt x="1932" y="12812"/>
                  </a:lnTo>
                  <a:lnTo>
                    <a:pt x="3964" y="13647"/>
                  </a:lnTo>
                  <a:lnTo>
                    <a:pt x="19315" y="7233"/>
                  </a:lnTo>
                  <a:lnTo>
                    <a:pt x="20259" y="4938"/>
                  </a:lnTo>
                  <a:lnTo>
                    <a:pt x="18590" y="942"/>
                  </a:lnTo>
                  <a:lnTo>
                    <a:pt x="162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94291" y="5712508"/>
              <a:ext cx="10194820" cy="18408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9580" y="1262363"/>
            <a:ext cx="9744710" cy="2523490"/>
            <a:chOff x="769580" y="1262363"/>
            <a:chExt cx="9744710" cy="2523490"/>
          </a:xfrm>
        </p:grpSpPr>
        <p:sp>
          <p:nvSpPr>
            <p:cNvPr id="3" name="object 3"/>
            <p:cNvSpPr/>
            <p:nvPr/>
          </p:nvSpPr>
          <p:spPr>
            <a:xfrm>
              <a:off x="6142495" y="1792860"/>
              <a:ext cx="920115" cy="219710"/>
            </a:xfrm>
            <a:custGeom>
              <a:avLst/>
              <a:gdLst/>
              <a:ahLst/>
              <a:cxnLst/>
              <a:rect l="l" t="t" r="r" b="b"/>
              <a:pathLst>
                <a:path w="920115" h="219710">
                  <a:moveTo>
                    <a:pt x="18148" y="0"/>
                  </a:moveTo>
                  <a:lnTo>
                    <a:pt x="0" y="0"/>
                  </a:lnTo>
                  <a:lnTo>
                    <a:pt x="0" y="219532"/>
                  </a:lnTo>
                  <a:lnTo>
                    <a:pt x="18148" y="219532"/>
                  </a:lnTo>
                  <a:lnTo>
                    <a:pt x="18148" y="0"/>
                  </a:lnTo>
                  <a:close/>
                </a:path>
                <a:path w="920115" h="219710">
                  <a:moveTo>
                    <a:pt x="69392" y="0"/>
                  </a:moveTo>
                  <a:lnTo>
                    <a:pt x="51257" y="0"/>
                  </a:lnTo>
                  <a:lnTo>
                    <a:pt x="51257" y="219532"/>
                  </a:lnTo>
                  <a:lnTo>
                    <a:pt x="69392" y="219532"/>
                  </a:lnTo>
                  <a:lnTo>
                    <a:pt x="69392" y="0"/>
                  </a:lnTo>
                  <a:close/>
                </a:path>
                <a:path w="920115" h="219710">
                  <a:moveTo>
                    <a:pt x="868832" y="0"/>
                  </a:moveTo>
                  <a:lnTo>
                    <a:pt x="850684" y="0"/>
                  </a:lnTo>
                  <a:lnTo>
                    <a:pt x="850684" y="219532"/>
                  </a:lnTo>
                  <a:lnTo>
                    <a:pt x="868832" y="219532"/>
                  </a:lnTo>
                  <a:lnTo>
                    <a:pt x="868832" y="0"/>
                  </a:lnTo>
                  <a:close/>
                </a:path>
                <a:path w="920115" h="219710">
                  <a:moveTo>
                    <a:pt x="920076" y="0"/>
                  </a:moveTo>
                  <a:lnTo>
                    <a:pt x="901941" y="0"/>
                  </a:lnTo>
                  <a:lnTo>
                    <a:pt x="901941" y="219532"/>
                  </a:lnTo>
                  <a:lnTo>
                    <a:pt x="920076" y="219532"/>
                  </a:lnTo>
                  <a:lnTo>
                    <a:pt x="9200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43957" y="1262363"/>
              <a:ext cx="4870071" cy="252323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89658" y="3270047"/>
              <a:ext cx="772795" cy="224154"/>
            </a:xfrm>
            <a:custGeom>
              <a:avLst/>
              <a:gdLst/>
              <a:ahLst/>
              <a:cxnLst/>
              <a:rect l="l" t="t" r="r" b="b"/>
              <a:pathLst>
                <a:path w="772795" h="224154">
                  <a:moveTo>
                    <a:pt x="700949" y="0"/>
                  </a:moveTo>
                  <a:lnTo>
                    <a:pt x="697769" y="9083"/>
                  </a:lnTo>
                  <a:lnTo>
                    <a:pt x="710707" y="14704"/>
                  </a:lnTo>
                  <a:lnTo>
                    <a:pt x="721834" y="22486"/>
                  </a:lnTo>
                  <a:lnTo>
                    <a:pt x="744426" y="58556"/>
                  </a:lnTo>
                  <a:lnTo>
                    <a:pt x="750990" y="91430"/>
                  </a:lnTo>
                  <a:lnTo>
                    <a:pt x="751025" y="91674"/>
                  </a:lnTo>
                  <a:lnTo>
                    <a:pt x="751021" y="130501"/>
                  </a:lnTo>
                  <a:lnTo>
                    <a:pt x="738595" y="178827"/>
                  </a:lnTo>
                  <a:lnTo>
                    <a:pt x="710858" y="209041"/>
                  </a:lnTo>
                  <a:lnTo>
                    <a:pt x="698122" y="214688"/>
                  </a:lnTo>
                  <a:lnTo>
                    <a:pt x="700949" y="223770"/>
                  </a:lnTo>
                  <a:lnTo>
                    <a:pt x="743653" y="198368"/>
                  </a:lnTo>
                  <a:lnTo>
                    <a:pt x="767637" y="151475"/>
                  </a:lnTo>
                  <a:lnTo>
                    <a:pt x="772232" y="111944"/>
                  </a:lnTo>
                  <a:lnTo>
                    <a:pt x="771093" y="91674"/>
                  </a:lnTo>
                  <a:lnTo>
                    <a:pt x="753793" y="39222"/>
                  </a:lnTo>
                  <a:lnTo>
                    <a:pt x="717154" y="5857"/>
                  </a:lnTo>
                  <a:lnTo>
                    <a:pt x="700949" y="0"/>
                  </a:lnTo>
                  <a:close/>
                </a:path>
                <a:path w="772795" h="224154">
                  <a:moveTo>
                    <a:pt x="71282" y="0"/>
                  </a:moveTo>
                  <a:lnTo>
                    <a:pt x="28656" y="25469"/>
                  </a:lnTo>
                  <a:lnTo>
                    <a:pt x="4609" y="72472"/>
                  </a:lnTo>
                  <a:lnTo>
                    <a:pt x="66" y="110765"/>
                  </a:lnTo>
                  <a:lnTo>
                    <a:pt x="0" y="111944"/>
                  </a:lnTo>
                  <a:lnTo>
                    <a:pt x="4595" y="151475"/>
                  </a:lnTo>
                  <a:lnTo>
                    <a:pt x="28580" y="198368"/>
                  </a:lnTo>
                  <a:lnTo>
                    <a:pt x="71282" y="223770"/>
                  </a:lnTo>
                  <a:lnTo>
                    <a:pt x="74110" y="214688"/>
                  </a:lnTo>
                  <a:lnTo>
                    <a:pt x="61374" y="209041"/>
                  </a:lnTo>
                  <a:lnTo>
                    <a:pt x="50384" y="201181"/>
                  </a:lnTo>
                  <a:lnTo>
                    <a:pt x="27839" y="164532"/>
                  </a:lnTo>
                  <a:lnTo>
                    <a:pt x="20432" y="111944"/>
                  </a:lnTo>
                  <a:lnTo>
                    <a:pt x="20383" y="110765"/>
                  </a:lnTo>
                  <a:lnTo>
                    <a:pt x="21211" y="91674"/>
                  </a:lnTo>
                  <a:lnTo>
                    <a:pt x="33638" y="44530"/>
                  </a:lnTo>
                  <a:lnTo>
                    <a:pt x="61573" y="14704"/>
                  </a:lnTo>
                  <a:lnTo>
                    <a:pt x="74463" y="9083"/>
                  </a:lnTo>
                  <a:lnTo>
                    <a:pt x="712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Direct</a:t>
            </a:r>
            <a:r>
              <a:rPr spc="35" dirty="0"/>
              <a:t> </a:t>
            </a:r>
            <a:r>
              <a:rPr dirty="0"/>
              <a:t>Solution</a:t>
            </a:r>
            <a:r>
              <a:rPr spc="50" dirty="0"/>
              <a:t> </a:t>
            </a:r>
            <a:r>
              <a:rPr dirty="0"/>
              <a:t>I:</a:t>
            </a:r>
            <a:r>
              <a:rPr spc="35" dirty="0"/>
              <a:t> </a:t>
            </a:r>
            <a:r>
              <a:rPr dirty="0"/>
              <a:t>Linear</a:t>
            </a:r>
            <a:r>
              <a:rPr spc="35" dirty="0"/>
              <a:t> </a:t>
            </a:r>
            <a:r>
              <a:rPr spc="-10" dirty="0"/>
              <a:t>Algebra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1544" y="3183044"/>
            <a:ext cx="1508699" cy="273678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266793" y="1792860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35" y="0"/>
                </a:moveTo>
                <a:lnTo>
                  <a:pt x="0" y="0"/>
                </a:lnTo>
                <a:lnTo>
                  <a:pt x="0" y="219532"/>
                </a:lnTo>
                <a:lnTo>
                  <a:pt x="18135" y="219532"/>
                </a:lnTo>
                <a:lnTo>
                  <a:pt x="18135" y="0"/>
                </a:lnTo>
                <a:close/>
              </a:path>
              <a:path w="69850" h="219710">
                <a:moveTo>
                  <a:pt x="69392" y="0"/>
                </a:moveTo>
                <a:lnTo>
                  <a:pt x="51244" y="0"/>
                </a:lnTo>
                <a:lnTo>
                  <a:pt x="51244" y="219532"/>
                </a:lnTo>
                <a:lnTo>
                  <a:pt x="69392" y="219532"/>
                </a:lnTo>
                <a:lnTo>
                  <a:pt x="69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16109" y="1792860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32"/>
                </a:lnTo>
                <a:lnTo>
                  <a:pt x="18148" y="219532"/>
                </a:lnTo>
                <a:lnTo>
                  <a:pt x="18148" y="0"/>
                </a:lnTo>
                <a:close/>
              </a:path>
              <a:path w="69850" h="219710">
                <a:moveTo>
                  <a:pt x="69392" y="0"/>
                </a:moveTo>
                <a:lnTo>
                  <a:pt x="51244" y="0"/>
                </a:lnTo>
                <a:lnTo>
                  <a:pt x="51244" y="219532"/>
                </a:lnTo>
                <a:lnTo>
                  <a:pt x="69392" y="219532"/>
                </a:lnTo>
                <a:lnTo>
                  <a:pt x="69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51254" y="2083197"/>
            <a:ext cx="307975" cy="224154"/>
          </a:xfrm>
          <a:custGeom>
            <a:avLst/>
            <a:gdLst/>
            <a:ahLst/>
            <a:cxnLst/>
            <a:rect l="l" t="t" r="r" b="b"/>
            <a:pathLst>
              <a:path w="307975" h="224155">
                <a:moveTo>
                  <a:pt x="236145" y="0"/>
                </a:moveTo>
                <a:lnTo>
                  <a:pt x="232963" y="9083"/>
                </a:lnTo>
                <a:lnTo>
                  <a:pt x="245902" y="14704"/>
                </a:lnTo>
                <a:lnTo>
                  <a:pt x="257029" y="22485"/>
                </a:lnTo>
                <a:lnTo>
                  <a:pt x="279621" y="58556"/>
                </a:lnTo>
                <a:lnTo>
                  <a:pt x="286184" y="91429"/>
                </a:lnTo>
                <a:lnTo>
                  <a:pt x="286219" y="91673"/>
                </a:lnTo>
                <a:lnTo>
                  <a:pt x="286215" y="130500"/>
                </a:lnTo>
                <a:lnTo>
                  <a:pt x="273789" y="178827"/>
                </a:lnTo>
                <a:lnTo>
                  <a:pt x="246053" y="209039"/>
                </a:lnTo>
                <a:lnTo>
                  <a:pt x="233316" y="214687"/>
                </a:lnTo>
                <a:lnTo>
                  <a:pt x="236145" y="223770"/>
                </a:lnTo>
                <a:lnTo>
                  <a:pt x="278848" y="198368"/>
                </a:lnTo>
                <a:lnTo>
                  <a:pt x="302832" y="151475"/>
                </a:lnTo>
                <a:lnTo>
                  <a:pt x="307427" y="111944"/>
                </a:lnTo>
                <a:lnTo>
                  <a:pt x="306288" y="91673"/>
                </a:lnTo>
                <a:lnTo>
                  <a:pt x="306275" y="91429"/>
                </a:lnTo>
                <a:lnTo>
                  <a:pt x="288988" y="39221"/>
                </a:lnTo>
                <a:lnTo>
                  <a:pt x="252349" y="5857"/>
                </a:lnTo>
                <a:lnTo>
                  <a:pt x="236145" y="0"/>
                </a:lnTo>
                <a:close/>
              </a:path>
              <a:path w="307975" h="224155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148" y="132502"/>
                </a:lnTo>
                <a:lnTo>
                  <a:pt x="18379" y="184666"/>
                </a:lnTo>
                <a:lnTo>
                  <a:pt x="55030" y="217919"/>
                </a:lnTo>
                <a:lnTo>
                  <a:pt x="71282" y="223770"/>
                </a:lnTo>
                <a:lnTo>
                  <a:pt x="74109" y="214687"/>
                </a:lnTo>
                <a:lnTo>
                  <a:pt x="61373" y="209039"/>
                </a:lnTo>
                <a:lnTo>
                  <a:pt x="50382" y="201180"/>
                </a:lnTo>
                <a:lnTo>
                  <a:pt x="27838" y="164532"/>
                </a:lnTo>
                <a:lnTo>
                  <a:pt x="20431" y="111944"/>
                </a:lnTo>
                <a:lnTo>
                  <a:pt x="20382" y="110764"/>
                </a:lnTo>
                <a:lnTo>
                  <a:pt x="21210" y="91673"/>
                </a:lnTo>
                <a:lnTo>
                  <a:pt x="33637" y="44530"/>
                </a:lnTo>
                <a:lnTo>
                  <a:pt x="61572" y="14704"/>
                </a:lnTo>
                <a:lnTo>
                  <a:pt x="74462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04813" y="2082574"/>
            <a:ext cx="1384935" cy="225425"/>
          </a:xfrm>
          <a:custGeom>
            <a:avLst/>
            <a:gdLst/>
            <a:ahLst/>
            <a:cxnLst/>
            <a:rect l="l" t="t" r="r" b="b"/>
            <a:pathLst>
              <a:path w="1384935" h="225425">
                <a:moveTo>
                  <a:pt x="1312717" y="0"/>
                </a:moveTo>
                <a:lnTo>
                  <a:pt x="1309653" y="0"/>
                </a:lnTo>
                <a:lnTo>
                  <a:pt x="1309653" y="8964"/>
                </a:lnTo>
                <a:lnTo>
                  <a:pt x="1311421" y="8964"/>
                </a:lnTo>
                <a:lnTo>
                  <a:pt x="1319499" y="9521"/>
                </a:lnTo>
                <a:lnTo>
                  <a:pt x="1347224" y="37766"/>
                </a:lnTo>
                <a:lnTo>
                  <a:pt x="1347828" y="47302"/>
                </a:lnTo>
                <a:lnTo>
                  <a:pt x="1347828" y="52806"/>
                </a:lnTo>
                <a:lnTo>
                  <a:pt x="1347043" y="59609"/>
                </a:lnTo>
                <a:lnTo>
                  <a:pt x="1343901" y="75808"/>
                </a:lnTo>
                <a:lnTo>
                  <a:pt x="1343115" y="81589"/>
                </a:lnTo>
                <a:lnTo>
                  <a:pt x="1343115" y="91733"/>
                </a:lnTo>
                <a:lnTo>
                  <a:pt x="1345078" y="97218"/>
                </a:lnTo>
                <a:lnTo>
                  <a:pt x="1352933" y="105790"/>
                </a:lnTo>
                <a:lnTo>
                  <a:pt x="1357607" y="108955"/>
                </a:lnTo>
                <a:lnTo>
                  <a:pt x="1363027" y="111000"/>
                </a:lnTo>
                <a:lnTo>
                  <a:pt x="1363027" y="113123"/>
                </a:lnTo>
                <a:lnTo>
                  <a:pt x="1357607" y="115168"/>
                </a:lnTo>
                <a:lnTo>
                  <a:pt x="1352933" y="118333"/>
                </a:lnTo>
                <a:lnTo>
                  <a:pt x="1345078" y="126906"/>
                </a:lnTo>
                <a:lnTo>
                  <a:pt x="1343115" y="132391"/>
                </a:lnTo>
                <a:lnTo>
                  <a:pt x="1343115" y="142535"/>
                </a:lnTo>
                <a:lnTo>
                  <a:pt x="1343901" y="148315"/>
                </a:lnTo>
                <a:lnTo>
                  <a:pt x="1347043" y="164515"/>
                </a:lnTo>
                <a:lnTo>
                  <a:pt x="1347828" y="171317"/>
                </a:lnTo>
                <a:lnTo>
                  <a:pt x="1347828" y="176822"/>
                </a:lnTo>
                <a:lnTo>
                  <a:pt x="1347234" y="186557"/>
                </a:lnTo>
                <a:lnTo>
                  <a:pt x="1347224" y="186719"/>
                </a:lnTo>
                <a:lnTo>
                  <a:pt x="1319499" y="215428"/>
                </a:lnTo>
                <a:lnTo>
                  <a:pt x="1311421" y="215985"/>
                </a:lnTo>
                <a:lnTo>
                  <a:pt x="1309653" y="215985"/>
                </a:lnTo>
                <a:lnTo>
                  <a:pt x="1309653" y="224950"/>
                </a:lnTo>
                <a:lnTo>
                  <a:pt x="1312717" y="224950"/>
                </a:lnTo>
                <a:lnTo>
                  <a:pt x="1325688" y="223980"/>
                </a:lnTo>
                <a:lnTo>
                  <a:pt x="1360136" y="205342"/>
                </a:lnTo>
                <a:lnTo>
                  <a:pt x="1367857" y="174698"/>
                </a:lnTo>
                <a:lnTo>
                  <a:pt x="1367857" y="168172"/>
                </a:lnTo>
                <a:lnTo>
                  <a:pt x="1366935" y="160740"/>
                </a:lnTo>
                <a:lnTo>
                  <a:pt x="1363243" y="144068"/>
                </a:lnTo>
                <a:lnTo>
                  <a:pt x="1362320" y="138485"/>
                </a:lnTo>
                <a:lnTo>
                  <a:pt x="1362320" y="130228"/>
                </a:lnTo>
                <a:lnTo>
                  <a:pt x="1364185" y="125804"/>
                </a:lnTo>
                <a:lnTo>
                  <a:pt x="1371648" y="118963"/>
                </a:lnTo>
                <a:lnTo>
                  <a:pt x="1377283" y="117134"/>
                </a:lnTo>
                <a:lnTo>
                  <a:pt x="1384824" y="116898"/>
                </a:lnTo>
                <a:lnTo>
                  <a:pt x="1384824" y="107226"/>
                </a:lnTo>
                <a:lnTo>
                  <a:pt x="1377283" y="106989"/>
                </a:lnTo>
                <a:lnTo>
                  <a:pt x="1371648" y="105162"/>
                </a:lnTo>
                <a:lnTo>
                  <a:pt x="1364185" y="98319"/>
                </a:lnTo>
                <a:lnTo>
                  <a:pt x="1362320" y="93896"/>
                </a:lnTo>
                <a:lnTo>
                  <a:pt x="1362320" y="85639"/>
                </a:lnTo>
                <a:lnTo>
                  <a:pt x="1363243" y="80055"/>
                </a:lnTo>
                <a:lnTo>
                  <a:pt x="1366935" y="63384"/>
                </a:lnTo>
                <a:lnTo>
                  <a:pt x="1367857" y="55952"/>
                </a:lnTo>
                <a:lnTo>
                  <a:pt x="1367857" y="49425"/>
                </a:lnTo>
                <a:lnTo>
                  <a:pt x="1366999" y="37928"/>
                </a:lnTo>
                <a:lnTo>
                  <a:pt x="1336914" y="3406"/>
                </a:lnTo>
                <a:lnTo>
                  <a:pt x="1325688" y="969"/>
                </a:lnTo>
                <a:lnTo>
                  <a:pt x="1312717" y="0"/>
                </a:lnTo>
                <a:close/>
              </a:path>
              <a:path w="1384935" h="225425">
                <a:moveTo>
                  <a:pt x="75170" y="0"/>
                </a:moveTo>
                <a:lnTo>
                  <a:pt x="72106" y="0"/>
                </a:lnTo>
                <a:lnTo>
                  <a:pt x="59135" y="969"/>
                </a:lnTo>
                <a:lnTo>
                  <a:pt x="24687" y="19548"/>
                </a:lnTo>
                <a:lnTo>
                  <a:pt x="17865" y="37699"/>
                </a:lnTo>
                <a:lnTo>
                  <a:pt x="17823" y="37861"/>
                </a:lnTo>
                <a:lnTo>
                  <a:pt x="16965" y="49307"/>
                </a:lnTo>
                <a:lnTo>
                  <a:pt x="16965" y="55834"/>
                </a:lnTo>
                <a:lnTo>
                  <a:pt x="17889" y="63266"/>
                </a:lnTo>
                <a:lnTo>
                  <a:pt x="21581" y="79937"/>
                </a:lnTo>
                <a:lnTo>
                  <a:pt x="22503" y="85521"/>
                </a:lnTo>
                <a:lnTo>
                  <a:pt x="22503" y="93778"/>
                </a:lnTo>
                <a:lnTo>
                  <a:pt x="20638" y="98202"/>
                </a:lnTo>
                <a:lnTo>
                  <a:pt x="13176" y="105044"/>
                </a:lnTo>
                <a:lnTo>
                  <a:pt x="7539" y="106871"/>
                </a:lnTo>
                <a:lnTo>
                  <a:pt x="0" y="107107"/>
                </a:lnTo>
                <a:lnTo>
                  <a:pt x="0" y="116780"/>
                </a:lnTo>
                <a:lnTo>
                  <a:pt x="7539" y="117016"/>
                </a:lnTo>
                <a:lnTo>
                  <a:pt x="13176" y="118845"/>
                </a:lnTo>
                <a:lnTo>
                  <a:pt x="20638" y="125686"/>
                </a:lnTo>
                <a:lnTo>
                  <a:pt x="22503" y="130110"/>
                </a:lnTo>
                <a:lnTo>
                  <a:pt x="22503" y="138367"/>
                </a:lnTo>
                <a:lnTo>
                  <a:pt x="21581" y="143950"/>
                </a:lnTo>
                <a:lnTo>
                  <a:pt x="17889" y="160623"/>
                </a:lnTo>
                <a:lnTo>
                  <a:pt x="16965" y="168054"/>
                </a:lnTo>
                <a:lnTo>
                  <a:pt x="16965" y="174581"/>
                </a:lnTo>
                <a:lnTo>
                  <a:pt x="17823" y="186491"/>
                </a:lnTo>
                <a:lnTo>
                  <a:pt x="47909" y="221543"/>
                </a:lnTo>
                <a:lnTo>
                  <a:pt x="72106" y="224950"/>
                </a:lnTo>
                <a:lnTo>
                  <a:pt x="75170" y="224950"/>
                </a:lnTo>
                <a:lnTo>
                  <a:pt x="75170" y="215985"/>
                </a:lnTo>
                <a:lnTo>
                  <a:pt x="73403" y="215985"/>
                </a:lnTo>
                <a:lnTo>
                  <a:pt x="65325" y="215428"/>
                </a:lnTo>
                <a:lnTo>
                  <a:pt x="37600" y="186653"/>
                </a:lnTo>
                <a:lnTo>
                  <a:pt x="36996" y="176703"/>
                </a:lnTo>
                <a:lnTo>
                  <a:pt x="36996" y="171199"/>
                </a:lnTo>
                <a:lnTo>
                  <a:pt x="37781" y="164397"/>
                </a:lnTo>
                <a:lnTo>
                  <a:pt x="40923" y="148197"/>
                </a:lnTo>
                <a:lnTo>
                  <a:pt x="41709" y="142417"/>
                </a:lnTo>
                <a:lnTo>
                  <a:pt x="41709" y="132273"/>
                </a:lnTo>
                <a:lnTo>
                  <a:pt x="39744" y="126787"/>
                </a:lnTo>
                <a:lnTo>
                  <a:pt x="31889" y="118215"/>
                </a:lnTo>
                <a:lnTo>
                  <a:pt x="27216" y="115050"/>
                </a:lnTo>
                <a:lnTo>
                  <a:pt x="21797" y="113005"/>
                </a:lnTo>
                <a:lnTo>
                  <a:pt x="21797" y="110882"/>
                </a:lnTo>
                <a:lnTo>
                  <a:pt x="27216" y="108837"/>
                </a:lnTo>
                <a:lnTo>
                  <a:pt x="31889" y="105672"/>
                </a:lnTo>
                <a:lnTo>
                  <a:pt x="39744" y="97101"/>
                </a:lnTo>
                <a:lnTo>
                  <a:pt x="41709" y="91616"/>
                </a:lnTo>
                <a:lnTo>
                  <a:pt x="41709" y="81471"/>
                </a:lnTo>
                <a:lnTo>
                  <a:pt x="40923" y="75691"/>
                </a:lnTo>
                <a:lnTo>
                  <a:pt x="37781" y="59491"/>
                </a:lnTo>
                <a:lnTo>
                  <a:pt x="36996" y="52689"/>
                </a:lnTo>
                <a:lnTo>
                  <a:pt x="36996" y="47184"/>
                </a:lnTo>
                <a:lnTo>
                  <a:pt x="37589" y="37861"/>
                </a:lnTo>
                <a:lnTo>
                  <a:pt x="37600" y="37699"/>
                </a:lnTo>
                <a:lnTo>
                  <a:pt x="65325" y="9521"/>
                </a:lnTo>
                <a:lnTo>
                  <a:pt x="73403" y="8964"/>
                </a:lnTo>
                <a:lnTo>
                  <a:pt x="75170" y="8964"/>
                </a:lnTo>
                <a:lnTo>
                  <a:pt x="751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31057" y="1717266"/>
            <a:ext cx="8825865" cy="308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9245" algn="l"/>
                <a:tab pos="2783205" algn="l"/>
                <a:tab pos="3634104" algn="l"/>
                <a:tab pos="5509260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seek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minimize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60" dirty="0">
                <a:latin typeface="Cambria Math"/>
                <a:cs typeface="Cambria Math"/>
              </a:rPr>
              <a:t>Xw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t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2100" baseline="27777" dirty="0">
                <a:latin typeface="Cambria Math"/>
                <a:cs typeface="Cambria Math"/>
              </a:rPr>
              <a:t>2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equivalently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60" dirty="0">
                <a:latin typeface="Cambria Math"/>
                <a:cs typeface="Cambria Math"/>
              </a:rPr>
              <a:t>Xw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  <a:p>
            <a:pPr marL="3092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09245" algn="l"/>
                <a:tab pos="1315720" algn="l"/>
                <a:tab pos="1655445" algn="l"/>
                <a:tab pos="3023235" algn="l"/>
              </a:tabLst>
            </a:pPr>
            <a:r>
              <a:rPr sz="1900" dirty="0">
                <a:latin typeface="Cambria Math"/>
                <a:cs typeface="Cambria Math"/>
              </a:rPr>
              <a:t>range</a:t>
            </a:r>
            <a:r>
              <a:rPr sz="1900" spc="335" dirty="0">
                <a:latin typeface="Cambria Math"/>
                <a:cs typeface="Cambria Math"/>
              </a:rPr>
              <a:t> </a:t>
            </a:r>
            <a:r>
              <a:rPr sz="1900" spc="25" dirty="0">
                <a:latin typeface="Cambria Math"/>
                <a:cs typeface="Cambria Math"/>
              </a:rPr>
              <a:t>X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=</a:t>
            </a:r>
            <a:r>
              <a:rPr sz="1900" dirty="0">
                <a:latin typeface="Cambria Math"/>
                <a:cs typeface="Cambria Math"/>
              </a:rPr>
              <a:t>	Xw|w</a:t>
            </a:r>
            <a:r>
              <a:rPr sz="1900" spc="18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20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ℝ</a:t>
            </a:r>
            <a:r>
              <a:rPr sz="2100" spc="-37" baseline="27777" dirty="0">
                <a:latin typeface="Cambria Math"/>
                <a:cs typeface="Cambria Math"/>
              </a:rPr>
              <a:t>𝐷</a:t>
            </a:r>
            <a:r>
              <a:rPr sz="2100" baseline="27777" dirty="0">
                <a:latin typeface="Cambria Math"/>
                <a:cs typeface="Cambria Math"/>
              </a:rPr>
              <a:t>	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𝐷</a:t>
            </a:r>
            <a:r>
              <a:rPr sz="1900" dirty="0">
                <a:latin typeface="Calibri"/>
                <a:cs typeface="Calibri"/>
              </a:rPr>
              <a:t>-dimensional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subspace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ℝ</a:t>
            </a:r>
            <a:r>
              <a:rPr sz="2100" spc="-37" baseline="27777" dirty="0">
                <a:latin typeface="Cambria Math"/>
                <a:cs typeface="Cambria Math"/>
              </a:rPr>
              <a:t>𝑁</a:t>
            </a:r>
            <a:endParaRPr sz="2100" baseline="27777">
              <a:latin typeface="Cambria Math"/>
              <a:cs typeface="Cambria Math"/>
            </a:endParaRPr>
          </a:p>
          <a:p>
            <a:pPr marL="309245" indent="-271145">
              <a:lnSpc>
                <a:spcPts val="2245"/>
              </a:lnSpc>
              <a:spcBef>
                <a:spcPts val="25"/>
              </a:spcBef>
              <a:buFont typeface="Arial MT"/>
              <a:buChar char="•"/>
              <a:tabLst>
                <a:tab pos="309245" algn="l"/>
                <a:tab pos="6325235" algn="l"/>
              </a:tabLst>
            </a:pPr>
            <a:r>
              <a:rPr sz="1900" dirty="0">
                <a:latin typeface="Calibri"/>
                <a:cs typeface="Calibri"/>
              </a:rPr>
              <a:t>Recall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closest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point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65" dirty="0">
                <a:latin typeface="Cambria Math"/>
                <a:cs typeface="Cambria Math"/>
              </a:rPr>
              <a:t>y</a:t>
            </a:r>
            <a:r>
              <a:rPr sz="2100" spc="97" baseline="27777" dirty="0">
                <a:latin typeface="Cambria Math"/>
                <a:cs typeface="Cambria Math"/>
              </a:rPr>
              <a:t>∗</a:t>
            </a:r>
            <a:r>
              <a:rPr sz="2100" spc="397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70" dirty="0">
                <a:latin typeface="Cambria Math"/>
                <a:cs typeface="Cambria Math"/>
              </a:rPr>
              <a:t> </a:t>
            </a:r>
            <a:r>
              <a:rPr sz="1900" spc="75" dirty="0">
                <a:latin typeface="Cambria Math"/>
                <a:cs typeface="Cambria Math"/>
              </a:rPr>
              <a:t>Xw</a:t>
            </a:r>
            <a:r>
              <a:rPr sz="2100" spc="112" baseline="27777" dirty="0">
                <a:latin typeface="Cambria Math"/>
                <a:cs typeface="Cambria Math"/>
              </a:rPr>
              <a:t>∗</a:t>
            </a:r>
            <a:r>
              <a:rPr sz="2100" spc="247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subspace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range</a:t>
            </a:r>
            <a:r>
              <a:rPr sz="1900" spc="325" dirty="0">
                <a:latin typeface="Cambria Math"/>
                <a:cs typeface="Cambria Math"/>
              </a:rPr>
              <a:t> </a:t>
            </a:r>
            <a:r>
              <a:rPr sz="1900" spc="35" dirty="0">
                <a:latin typeface="Cambria Math"/>
                <a:cs typeface="Cambria Math"/>
              </a:rPr>
              <a:t>X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ℝ</a:t>
            </a:r>
            <a:r>
              <a:rPr sz="2100" baseline="27777" dirty="0">
                <a:latin typeface="Cambria Math"/>
                <a:cs typeface="Cambria Math"/>
              </a:rPr>
              <a:t>𝑁</a:t>
            </a:r>
            <a:r>
              <a:rPr sz="2100" spc="30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arbitrary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point</a:t>
            </a:r>
            <a:endParaRPr sz="1900">
              <a:latin typeface="Calibri"/>
              <a:cs typeface="Calibri"/>
            </a:endParaRPr>
          </a:p>
          <a:p>
            <a:pPr marL="309245">
              <a:lnSpc>
                <a:spcPts val="2245"/>
              </a:lnSpc>
            </a:pPr>
            <a:r>
              <a:rPr sz="1900" spc="80" dirty="0">
                <a:latin typeface="Cambria Math"/>
                <a:cs typeface="Cambria Math"/>
              </a:rPr>
              <a:t>t</a:t>
            </a:r>
            <a:r>
              <a:rPr sz="1900" spc="8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9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ℝ</a:t>
            </a:r>
            <a:r>
              <a:rPr sz="2100" baseline="27777" dirty="0">
                <a:latin typeface="Cambria Math"/>
                <a:cs typeface="Cambria Math"/>
              </a:rPr>
              <a:t>𝑁</a:t>
            </a:r>
            <a:r>
              <a:rPr sz="2100" spc="30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found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orthogonal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projection.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900">
              <a:latin typeface="Calibri"/>
              <a:cs typeface="Calibri"/>
            </a:endParaRPr>
          </a:p>
          <a:p>
            <a:pPr marL="3420745" lvl="1" indent="-2711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420745" algn="l"/>
                <a:tab pos="4437380" algn="l"/>
                <a:tab pos="5218430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have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65" dirty="0">
                <a:latin typeface="Cambria Math"/>
                <a:cs typeface="Cambria Math"/>
              </a:rPr>
              <a:t>y</a:t>
            </a:r>
            <a:r>
              <a:rPr sz="2100" spc="97" baseline="27777" dirty="0">
                <a:latin typeface="Cambria Math"/>
                <a:cs typeface="Cambria Math"/>
              </a:rPr>
              <a:t>∗</a:t>
            </a:r>
            <a:r>
              <a:rPr sz="2100" spc="27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t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615" dirty="0">
                <a:latin typeface="Cambria Math"/>
                <a:cs typeface="Cambria Math"/>
              </a:rPr>
              <a:t>t</a:t>
            </a:r>
            <a:r>
              <a:rPr sz="1900" spc="1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Xw,</a:t>
            </a:r>
            <a:r>
              <a:rPr sz="1900" spc="-8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∀w</a:t>
            </a:r>
            <a:r>
              <a:rPr sz="1900" spc="1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155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ℝ</a:t>
            </a:r>
            <a:r>
              <a:rPr sz="2100" spc="-37" baseline="27777" dirty="0">
                <a:latin typeface="Cambria Math"/>
                <a:cs typeface="Cambria Math"/>
              </a:rPr>
              <a:t>𝐷</a:t>
            </a:r>
            <a:endParaRPr sz="2100" baseline="27777">
              <a:latin typeface="Cambria Math"/>
              <a:cs typeface="Cambria Math"/>
            </a:endParaRPr>
          </a:p>
          <a:p>
            <a:pPr marL="3420745" lvl="1" indent="-27114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420745" algn="l"/>
              </a:tabLst>
            </a:pPr>
            <a:r>
              <a:rPr sz="1900" dirty="0">
                <a:latin typeface="Calibri"/>
                <a:cs typeface="Calibri"/>
              </a:rPr>
              <a:t>Why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65" dirty="0">
                <a:latin typeface="Cambria Math"/>
                <a:cs typeface="Cambria Math"/>
              </a:rPr>
              <a:t>y</a:t>
            </a:r>
            <a:r>
              <a:rPr sz="2100" spc="97" baseline="27777" dirty="0">
                <a:latin typeface="Cambria Math"/>
                <a:cs typeface="Cambria Math"/>
              </a:rPr>
              <a:t>∗</a:t>
            </a:r>
            <a:r>
              <a:rPr sz="2100" spc="247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closest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point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t</a:t>
            </a:r>
            <a:r>
              <a:rPr sz="1900" spc="-25" dirty="0">
                <a:latin typeface="Calibri"/>
                <a:cs typeface="Calibri"/>
              </a:rPr>
              <a:t>?</a:t>
            </a:r>
            <a:endParaRPr sz="1900">
              <a:latin typeface="Calibri"/>
              <a:cs typeface="Calibri"/>
            </a:endParaRPr>
          </a:p>
          <a:p>
            <a:pPr marL="3887470" lvl="2" indent="-270510">
              <a:lnSpc>
                <a:spcPct val="100000"/>
              </a:lnSpc>
              <a:spcBef>
                <a:spcPts val="1010"/>
              </a:spcBef>
              <a:buFont typeface="Wingdings"/>
              <a:buChar char=""/>
              <a:tabLst>
                <a:tab pos="3887470" algn="l"/>
              </a:tabLst>
            </a:pPr>
            <a:r>
              <a:rPr sz="1900" dirty="0">
                <a:latin typeface="Calibri"/>
                <a:cs typeface="Calibri"/>
              </a:rPr>
              <a:t>Consider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any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65" dirty="0">
                <a:latin typeface="Cambria Math"/>
                <a:cs typeface="Cambria Math"/>
              </a:rPr>
              <a:t>z</a:t>
            </a:r>
            <a:r>
              <a:rPr sz="1900" spc="8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75" dirty="0">
                <a:latin typeface="Cambria Math"/>
                <a:cs typeface="Cambria Math"/>
              </a:rPr>
              <a:t> </a:t>
            </a:r>
            <a:r>
              <a:rPr sz="1900" spc="35" dirty="0">
                <a:latin typeface="Cambria Math"/>
                <a:cs typeface="Cambria Math"/>
              </a:rPr>
              <a:t>Xw</a:t>
            </a:r>
            <a:endParaRPr sz="1900">
              <a:latin typeface="Cambria Math"/>
              <a:cs typeface="Cambria Math"/>
            </a:endParaRPr>
          </a:p>
          <a:p>
            <a:pPr marL="3886835" marR="43180" lvl="2" indent="-270510">
              <a:lnSpc>
                <a:spcPts val="2300"/>
              </a:lnSpc>
              <a:spcBef>
                <a:spcPts val="85"/>
              </a:spcBef>
              <a:buFont typeface="Wingdings"/>
              <a:buChar char=""/>
              <a:tabLst>
                <a:tab pos="3888104" algn="l"/>
              </a:tabLst>
            </a:pPr>
            <a:r>
              <a:rPr sz="1900" dirty="0">
                <a:latin typeface="Calibri"/>
                <a:cs typeface="Calibri"/>
              </a:rPr>
              <a:t>By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Pythagorean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theorem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trivial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inequality 	</a:t>
            </a:r>
            <a:r>
              <a:rPr sz="1900" dirty="0">
                <a:latin typeface="Calibri"/>
                <a:cs typeface="Calibri"/>
              </a:rPr>
              <a:t>(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2100" baseline="27777" dirty="0">
                <a:latin typeface="Cambria Math"/>
                <a:cs typeface="Cambria Math"/>
              </a:rPr>
              <a:t>2</a:t>
            </a:r>
            <a:r>
              <a:rPr sz="2100" spc="509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≥</a:t>
            </a:r>
            <a:r>
              <a:rPr sz="1900" spc="16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0</a:t>
            </a:r>
            <a:r>
              <a:rPr sz="1900" spc="-25" dirty="0">
                <a:latin typeface="Calibri"/>
                <a:cs typeface="Calibri"/>
              </a:rPr>
              <a:t>):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43029" y="5095216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19"/>
                </a:lnTo>
                <a:lnTo>
                  <a:pt x="18148" y="219519"/>
                </a:lnTo>
                <a:lnTo>
                  <a:pt x="18148" y="0"/>
                </a:lnTo>
                <a:close/>
              </a:path>
              <a:path w="69850" h="219710">
                <a:moveTo>
                  <a:pt x="69405" y="0"/>
                </a:moveTo>
                <a:lnTo>
                  <a:pt x="51257" y="0"/>
                </a:lnTo>
                <a:lnTo>
                  <a:pt x="51257" y="219519"/>
                </a:lnTo>
                <a:lnTo>
                  <a:pt x="69405" y="219519"/>
                </a:lnTo>
                <a:lnTo>
                  <a:pt x="6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17313" y="5095216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35" y="0"/>
                </a:moveTo>
                <a:lnTo>
                  <a:pt x="0" y="0"/>
                </a:lnTo>
                <a:lnTo>
                  <a:pt x="0" y="219519"/>
                </a:lnTo>
                <a:lnTo>
                  <a:pt x="18135" y="219519"/>
                </a:lnTo>
                <a:lnTo>
                  <a:pt x="18135" y="0"/>
                </a:lnTo>
                <a:close/>
              </a:path>
              <a:path w="69850" h="219710">
                <a:moveTo>
                  <a:pt x="69392" y="0"/>
                </a:moveTo>
                <a:lnTo>
                  <a:pt x="51244" y="0"/>
                </a:lnTo>
                <a:lnTo>
                  <a:pt x="51244" y="219519"/>
                </a:lnTo>
                <a:lnTo>
                  <a:pt x="69392" y="219519"/>
                </a:lnTo>
                <a:lnTo>
                  <a:pt x="69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38112" y="5095216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35" y="0"/>
                </a:moveTo>
                <a:lnTo>
                  <a:pt x="0" y="0"/>
                </a:lnTo>
                <a:lnTo>
                  <a:pt x="0" y="219519"/>
                </a:lnTo>
                <a:lnTo>
                  <a:pt x="18135" y="219519"/>
                </a:lnTo>
                <a:lnTo>
                  <a:pt x="18135" y="0"/>
                </a:lnTo>
                <a:close/>
              </a:path>
              <a:path w="69850" h="219710">
                <a:moveTo>
                  <a:pt x="69392" y="0"/>
                </a:moveTo>
                <a:lnTo>
                  <a:pt x="51244" y="0"/>
                </a:lnTo>
                <a:lnTo>
                  <a:pt x="51244" y="219519"/>
                </a:lnTo>
                <a:lnTo>
                  <a:pt x="69392" y="219519"/>
                </a:lnTo>
                <a:lnTo>
                  <a:pt x="69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96165" y="5095216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35" y="0"/>
                </a:moveTo>
                <a:lnTo>
                  <a:pt x="0" y="0"/>
                </a:lnTo>
                <a:lnTo>
                  <a:pt x="0" y="219519"/>
                </a:lnTo>
                <a:lnTo>
                  <a:pt x="18135" y="219519"/>
                </a:lnTo>
                <a:lnTo>
                  <a:pt x="18135" y="0"/>
                </a:lnTo>
                <a:close/>
              </a:path>
              <a:path w="69850" h="219710">
                <a:moveTo>
                  <a:pt x="69392" y="0"/>
                </a:moveTo>
                <a:lnTo>
                  <a:pt x="51244" y="0"/>
                </a:lnTo>
                <a:lnTo>
                  <a:pt x="51244" y="219519"/>
                </a:lnTo>
                <a:lnTo>
                  <a:pt x="69392" y="219519"/>
                </a:lnTo>
                <a:lnTo>
                  <a:pt x="69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834097" y="5095216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35" y="0"/>
                </a:moveTo>
                <a:lnTo>
                  <a:pt x="0" y="0"/>
                </a:lnTo>
                <a:lnTo>
                  <a:pt x="0" y="219519"/>
                </a:lnTo>
                <a:lnTo>
                  <a:pt x="18135" y="219519"/>
                </a:lnTo>
                <a:lnTo>
                  <a:pt x="18135" y="0"/>
                </a:lnTo>
                <a:close/>
              </a:path>
              <a:path w="69850" h="219710">
                <a:moveTo>
                  <a:pt x="69392" y="0"/>
                </a:moveTo>
                <a:lnTo>
                  <a:pt x="51244" y="0"/>
                </a:lnTo>
                <a:lnTo>
                  <a:pt x="51244" y="219519"/>
                </a:lnTo>
                <a:lnTo>
                  <a:pt x="69392" y="219519"/>
                </a:lnTo>
                <a:lnTo>
                  <a:pt x="69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64489" y="5095216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19"/>
                </a:lnTo>
                <a:lnTo>
                  <a:pt x="18148" y="219519"/>
                </a:lnTo>
                <a:lnTo>
                  <a:pt x="18148" y="0"/>
                </a:lnTo>
                <a:close/>
              </a:path>
              <a:path w="69850" h="219710">
                <a:moveTo>
                  <a:pt x="69405" y="0"/>
                </a:moveTo>
                <a:lnTo>
                  <a:pt x="51257" y="0"/>
                </a:lnTo>
                <a:lnTo>
                  <a:pt x="51257" y="219519"/>
                </a:lnTo>
                <a:lnTo>
                  <a:pt x="69405" y="219519"/>
                </a:lnTo>
                <a:lnTo>
                  <a:pt x="6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124886" y="5018250"/>
            <a:ext cx="7181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spc="65" dirty="0">
                <a:latin typeface="Cambria Math"/>
                <a:cs typeface="Cambria Math"/>
              </a:rPr>
              <a:t>y</a:t>
            </a:r>
            <a:r>
              <a:rPr sz="2100" spc="97" baseline="27777" dirty="0">
                <a:latin typeface="Cambria Math"/>
                <a:cs typeface="Cambria Math"/>
              </a:rPr>
              <a:t>∗</a:t>
            </a:r>
            <a:r>
              <a:rPr sz="2100" spc="27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15" dirty="0">
                <a:latin typeface="Cambria Math"/>
                <a:cs typeface="Cambria Math"/>
              </a:rPr>
              <a:t>z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19882" y="4993432"/>
            <a:ext cx="1289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38787" y="5550177"/>
            <a:ext cx="582295" cy="581660"/>
            <a:chOff x="6038787" y="5550177"/>
            <a:chExt cx="582295" cy="581660"/>
          </a:xfrm>
        </p:grpSpPr>
        <p:sp>
          <p:nvSpPr>
            <p:cNvPr id="22" name="object 22"/>
            <p:cNvSpPr/>
            <p:nvPr/>
          </p:nvSpPr>
          <p:spPr>
            <a:xfrm>
              <a:off x="6602353" y="5550177"/>
              <a:ext cx="18415" cy="219710"/>
            </a:xfrm>
            <a:custGeom>
              <a:avLst/>
              <a:gdLst/>
              <a:ahLst/>
              <a:cxnLst/>
              <a:rect l="l" t="t" r="r" b="b"/>
              <a:pathLst>
                <a:path w="18415" h="219710">
                  <a:moveTo>
                    <a:pt x="18145" y="0"/>
                  </a:moveTo>
                  <a:lnTo>
                    <a:pt x="0" y="0"/>
                  </a:lnTo>
                  <a:lnTo>
                    <a:pt x="0" y="219523"/>
                  </a:lnTo>
                  <a:lnTo>
                    <a:pt x="18145" y="219523"/>
                  </a:lnTo>
                  <a:lnTo>
                    <a:pt x="181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8787" y="5550177"/>
              <a:ext cx="530458" cy="581464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5809145" y="5550180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19"/>
                </a:lnTo>
                <a:lnTo>
                  <a:pt x="18148" y="219519"/>
                </a:lnTo>
                <a:lnTo>
                  <a:pt x="18148" y="0"/>
                </a:lnTo>
                <a:close/>
              </a:path>
              <a:path w="69850" h="219710">
                <a:moveTo>
                  <a:pt x="69405" y="0"/>
                </a:moveTo>
                <a:lnTo>
                  <a:pt x="51257" y="0"/>
                </a:lnTo>
                <a:lnTo>
                  <a:pt x="51257" y="219519"/>
                </a:lnTo>
                <a:lnTo>
                  <a:pt x="69405" y="219519"/>
                </a:lnTo>
                <a:lnTo>
                  <a:pt x="6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677702" y="4850949"/>
            <a:ext cx="1908175" cy="9398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R="68580" algn="r">
              <a:lnSpc>
                <a:spcPct val="100000"/>
              </a:lnSpc>
              <a:spcBef>
                <a:spcPts val="1420"/>
              </a:spcBef>
              <a:tabLst>
                <a:tab pos="625475" algn="l"/>
                <a:tab pos="1178560" algn="l"/>
              </a:tabLst>
            </a:pPr>
            <a:r>
              <a:rPr sz="1900" spc="65" dirty="0">
                <a:latin typeface="Cambria Math"/>
                <a:cs typeface="Cambria Math"/>
              </a:rPr>
              <a:t>z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t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2100" baseline="27777" dirty="0">
                <a:latin typeface="Cambria Math"/>
                <a:cs typeface="Cambria Math"/>
              </a:rPr>
              <a:t>2</a:t>
            </a:r>
            <a:r>
              <a:rPr sz="2100" spc="480" baseline="27777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=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65" dirty="0">
                <a:latin typeface="Cambria Math"/>
                <a:cs typeface="Cambria Math"/>
              </a:rPr>
              <a:t>y</a:t>
            </a:r>
            <a:r>
              <a:rPr sz="2100" spc="97" baseline="27777" dirty="0">
                <a:latin typeface="Cambria Math"/>
                <a:cs typeface="Cambria Math"/>
              </a:rPr>
              <a:t>∗</a:t>
            </a:r>
            <a:r>
              <a:rPr sz="2100" spc="27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  <a:p>
            <a:pPr marR="55880" algn="r">
              <a:lnSpc>
                <a:spcPct val="100000"/>
              </a:lnSpc>
              <a:spcBef>
                <a:spcPts val="1320"/>
              </a:spcBef>
              <a:tabLst>
                <a:tab pos="375285" algn="l"/>
              </a:tabLst>
            </a:pPr>
            <a:r>
              <a:rPr sz="1900" spc="-50" dirty="0">
                <a:latin typeface="Cambria Math"/>
                <a:cs typeface="Cambria Math"/>
              </a:rPr>
              <a:t>≥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65" dirty="0">
                <a:latin typeface="Cambria Math"/>
                <a:cs typeface="Cambria Math"/>
              </a:rPr>
              <a:t>y</a:t>
            </a:r>
            <a:r>
              <a:rPr sz="2100" spc="97" baseline="27777" dirty="0">
                <a:latin typeface="Cambria Math"/>
                <a:cs typeface="Cambria Math"/>
              </a:rPr>
              <a:t>∗</a:t>
            </a:r>
            <a:r>
              <a:rPr sz="2100" spc="27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98499" y="4929858"/>
            <a:ext cx="422275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2</a:t>
            </a:r>
            <a:r>
              <a:rPr sz="1400" spc="215" dirty="0">
                <a:latin typeface="Cambria Math"/>
                <a:cs typeface="Cambria Math"/>
              </a:rPr>
              <a:t> </a:t>
            </a:r>
            <a:r>
              <a:rPr sz="2850" spc="-75" baseline="-20467" dirty="0">
                <a:latin typeface="Cambria Math"/>
                <a:cs typeface="Cambria Math"/>
              </a:rPr>
              <a:t>+</a:t>
            </a:r>
            <a:endParaRPr sz="2850" baseline="-20467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4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</a:pP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95158" y="740529"/>
            <a:ext cx="1628614" cy="32628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10796" y="759771"/>
            <a:ext cx="1054495" cy="312083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8235148" y="1036661"/>
            <a:ext cx="14604" cy="28575"/>
          </a:xfrm>
          <a:custGeom>
            <a:avLst/>
            <a:gdLst/>
            <a:ahLst/>
            <a:cxnLst/>
            <a:rect l="l" t="t" r="r" b="b"/>
            <a:pathLst>
              <a:path w="14604" h="28575">
                <a:moveTo>
                  <a:pt x="8774" y="0"/>
                </a:moveTo>
                <a:lnTo>
                  <a:pt x="5013" y="655"/>
                </a:lnTo>
                <a:lnTo>
                  <a:pt x="3738" y="1930"/>
                </a:lnTo>
                <a:lnTo>
                  <a:pt x="0" y="23361"/>
                </a:lnTo>
                <a:lnTo>
                  <a:pt x="2466" y="26871"/>
                </a:lnTo>
                <a:lnTo>
                  <a:pt x="9837" y="28157"/>
                </a:lnTo>
                <a:lnTo>
                  <a:pt x="13346" y="25690"/>
                </a:lnTo>
                <a:lnTo>
                  <a:pt x="14123" y="21234"/>
                </a:lnTo>
                <a:lnTo>
                  <a:pt x="14123" y="20447"/>
                </a:lnTo>
                <a:lnTo>
                  <a:pt x="10893" y="1930"/>
                </a:lnTo>
                <a:lnTo>
                  <a:pt x="10805" y="1426"/>
                </a:lnTo>
                <a:lnTo>
                  <a:pt x="87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46498" y="3886822"/>
            <a:ext cx="2185525" cy="69927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51168" y="5985152"/>
            <a:ext cx="1544597" cy="328115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2879458" y="6164092"/>
            <a:ext cx="41275" cy="61594"/>
          </a:xfrm>
          <a:custGeom>
            <a:avLst/>
            <a:gdLst/>
            <a:ahLst/>
            <a:cxnLst/>
            <a:rect l="l" t="t" r="r" b="b"/>
            <a:pathLst>
              <a:path w="41275" h="61595">
                <a:moveTo>
                  <a:pt x="5869" y="30372"/>
                </a:moveTo>
                <a:lnTo>
                  <a:pt x="5417" y="31275"/>
                </a:lnTo>
                <a:lnTo>
                  <a:pt x="3126" y="36828"/>
                </a:lnTo>
                <a:lnTo>
                  <a:pt x="623" y="47180"/>
                </a:lnTo>
                <a:lnTo>
                  <a:pt x="0" y="52058"/>
                </a:lnTo>
                <a:lnTo>
                  <a:pt x="1371" y="59502"/>
                </a:lnTo>
                <a:lnTo>
                  <a:pt x="4041" y="61341"/>
                </a:lnTo>
                <a:lnTo>
                  <a:pt x="8150" y="60584"/>
                </a:lnTo>
                <a:lnTo>
                  <a:pt x="20920" y="40149"/>
                </a:lnTo>
                <a:lnTo>
                  <a:pt x="16480" y="40149"/>
                </a:lnTo>
                <a:lnTo>
                  <a:pt x="7658" y="35736"/>
                </a:lnTo>
                <a:lnTo>
                  <a:pt x="5869" y="30372"/>
                </a:lnTo>
                <a:close/>
              </a:path>
              <a:path w="41275" h="61595">
                <a:moveTo>
                  <a:pt x="15647" y="19759"/>
                </a:moveTo>
                <a:lnTo>
                  <a:pt x="10282" y="21548"/>
                </a:lnTo>
                <a:lnTo>
                  <a:pt x="5869" y="30372"/>
                </a:lnTo>
                <a:lnTo>
                  <a:pt x="7658" y="35736"/>
                </a:lnTo>
                <a:lnTo>
                  <a:pt x="16480" y="40149"/>
                </a:lnTo>
                <a:lnTo>
                  <a:pt x="21814" y="38372"/>
                </a:lnTo>
                <a:lnTo>
                  <a:pt x="26187" y="29681"/>
                </a:lnTo>
                <a:lnTo>
                  <a:pt x="26260" y="29540"/>
                </a:lnTo>
                <a:lnTo>
                  <a:pt x="24471" y="24171"/>
                </a:lnTo>
                <a:lnTo>
                  <a:pt x="15647" y="19759"/>
                </a:lnTo>
                <a:close/>
              </a:path>
              <a:path w="41275" h="61595">
                <a:moveTo>
                  <a:pt x="21814" y="38372"/>
                </a:moveTo>
                <a:lnTo>
                  <a:pt x="16480" y="40149"/>
                </a:lnTo>
                <a:lnTo>
                  <a:pt x="20920" y="40149"/>
                </a:lnTo>
                <a:lnTo>
                  <a:pt x="21814" y="38372"/>
                </a:lnTo>
                <a:close/>
              </a:path>
              <a:path w="41275" h="61595">
                <a:moveTo>
                  <a:pt x="31829" y="19759"/>
                </a:moveTo>
                <a:lnTo>
                  <a:pt x="15647" y="19759"/>
                </a:lnTo>
                <a:lnTo>
                  <a:pt x="24471" y="24171"/>
                </a:lnTo>
                <a:lnTo>
                  <a:pt x="26260" y="29540"/>
                </a:lnTo>
                <a:lnTo>
                  <a:pt x="28392" y="25435"/>
                </a:lnTo>
                <a:lnTo>
                  <a:pt x="31829" y="19759"/>
                </a:lnTo>
                <a:close/>
              </a:path>
              <a:path w="41275" h="61595">
                <a:moveTo>
                  <a:pt x="21821" y="4918"/>
                </a:moveTo>
                <a:lnTo>
                  <a:pt x="10282" y="21548"/>
                </a:lnTo>
                <a:lnTo>
                  <a:pt x="15647" y="19759"/>
                </a:lnTo>
                <a:lnTo>
                  <a:pt x="31829" y="19759"/>
                </a:lnTo>
                <a:lnTo>
                  <a:pt x="32335" y="18912"/>
                </a:lnTo>
                <a:lnTo>
                  <a:pt x="29273" y="18912"/>
                </a:lnTo>
                <a:lnTo>
                  <a:pt x="24472" y="17448"/>
                </a:lnTo>
                <a:lnTo>
                  <a:pt x="20356" y="9719"/>
                </a:lnTo>
                <a:lnTo>
                  <a:pt x="21821" y="4918"/>
                </a:lnTo>
                <a:close/>
              </a:path>
              <a:path w="41275" h="61595">
                <a:moveTo>
                  <a:pt x="28738" y="1235"/>
                </a:moveTo>
                <a:lnTo>
                  <a:pt x="21821" y="4918"/>
                </a:lnTo>
                <a:lnTo>
                  <a:pt x="20356" y="9719"/>
                </a:lnTo>
                <a:lnTo>
                  <a:pt x="24472" y="17448"/>
                </a:lnTo>
                <a:lnTo>
                  <a:pt x="29273" y="18912"/>
                </a:lnTo>
                <a:lnTo>
                  <a:pt x="33540" y="16640"/>
                </a:lnTo>
                <a:lnTo>
                  <a:pt x="33924" y="16391"/>
                </a:lnTo>
                <a:lnTo>
                  <a:pt x="34107" y="16391"/>
                </a:lnTo>
                <a:lnTo>
                  <a:pt x="38138" y="12277"/>
                </a:lnTo>
                <a:lnTo>
                  <a:pt x="38086" y="7258"/>
                </a:lnTo>
                <a:lnTo>
                  <a:pt x="32489" y="1775"/>
                </a:lnTo>
                <a:lnTo>
                  <a:pt x="28738" y="1235"/>
                </a:lnTo>
                <a:close/>
              </a:path>
              <a:path w="41275" h="61595">
                <a:moveTo>
                  <a:pt x="34107" y="16391"/>
                </a:moveTo>
                <a:lnTo>
                  <a:pt x="33924" y="16391"/>
                </a:lnTo>
                <a:lnTo>
                  <a:pt x="33540" y="16640"/>
                </a:lnTo>
                <a:lnTo>
                  <a:pt x="29273" y="18912"/>
                </a:lnTo>
                <a:lnTo>
                  <a:pt x="32335" y="18912"/>
                </a:lnTo>
                <a:lnTo>
                  <a:pt x="33388" y="17125"/>
                </a:lnTo>
                <a:lnTo>
                  <a:pt x="34107" y="16391"/>
                </a:lnTo>
                <a:close/>
              </a:path>
              <a:path w="41275" h="61595">
                <a:moveTo>
                  <a:pt x="33566" y="0"/>
                </a:moveTo>
                <a:lnTo>
                  <a:pt x="29187" y="996"/>
                </a:lnTo>
                <a:lnTo>
                  <a:pt x="28738" y="1235"/>
                </a:lnTo>
                <a:lnTo>
                  <a:pt x="32489" y="1775"/>
                </a:lnTo>
                <a:lnTo>
                  <a:pt x="38086" y="7258"/>
                </a:lnTo>
                <a:lnTo>
                  <a:pt x="38138" y="12277"/>
                </a:lnTo>
                <a:lnTo>
                  <a:pt x="34107" y="16391"/>
                </a:lnTo>
                <a:lnTo>
                  <a:pt x="36767" y="16391"/>
                </a:lnTo>
                <a:lnTo>
                  <a:pt x="39289" y="14650"/>
                </a:lnTo>
                <a:lnTo>
                  <a:pt x="41125" y="8521"/>
                </a:lnTo>
                <a:lnTo>
                  <a:pt x="40564" y="4918"/>
                </a:lnTo>
                <a:lnTo>
                  <a:pt x="40509" y="4563"/>
                </a:lnTo>
                <a:lnTo>
                  <a:pt x="335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49012" y="5977293"/>
            <a:ext cx="602036" cy="267926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16759" y="5941442"/>
            <a:ext cx="280485" cy="279641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27060" y="6484643"/>
            <a:ext cx="1138599" cy="362385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33496" y="6572398"/>
            <a:ext cx="322437" cy="20573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55422" y="5833858"/>
            <a:ext cx="454182" cy="29956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283432" y="5842422"/>
            <a:ext cx="507873" cy="304457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136899" y="6289113"/>
            <a:ext cx="1400247" cy="333947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665337" y="6371538"/>
            <a:ext cx="270979" cy="177800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159063" y="6747539"/>
            <a:ext cx="296135" cy="24745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521226" y="6751473"/>
            <a:ext cx="489752" cy="24149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126665" y="6873592"/>
            <a:ext cx="157808" cy="8607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364880" y="6710529"/>
            <a:ext cx="461043" cy="29852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067438" y="6709495"/>
            <a:ext cx="763882" cy="268342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988111" y="6771246"/>
            <a:ext cx="893837" cy="247107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927618" y="270249"/>
            <a:ext cx="1863039" cy="336492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871499" y="311297"/>
            <a:ext cx="831042" cy="284312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23477" y="313967"/>
            <a:ext cx="2147854" cy="1021850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4175667" y="1244677"/>
            <a:ext cx="6219825" cy="2294890"/>
            <a:chOff x="4175667" y="1244677"/>
            <a:chExt cx="6219825" cy="2294890"/>
          </a:xfrm>
        </p:grpSpPr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289245" y="1244677"/>
              <a:ext cx="823584" cy="37135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537988" y="2652435"/>
              <a:ext cx="857070" cy="30557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175667" y="2931048"/>
              <a:ext cx="748020" cy="35118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018474" y="3531324"/>
              <a:ext cx="2385060" cy="0"/>
            </a:xfrm>
            <a:custGeom>
              <a:avLst/>
              <a:gdLst/>
              <a:ahLst/>
              <a:cxnLst/>
              <a:rect l="l" t="t" r="r" b="b"/>
              <a:pathLst>
                <a:path w="2385059">
                  <a:moveTo>
                    <a:pt x="0" y="0"/>
                  </a:moveTo>
                  <a:lnTo>
                    <a:pt x="2384911" y="0"/>
                  </a:lnTo>
                </a:path>
              </a:pathLst>
            </a:custGeom>
            <a:ln w="16200">
              <a:solidFill>
                <a:srgbClr val="D2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874824" y="667593"/>
            <a:ext cx="2386613" cy="3409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Direct</a:t>
            </a:r>
            <a:r>
              <a:rPr spc="35" dirty="0"/>
              <a:t> </a:t>
            </a:r>
            <a:r>
              <a:rPr dirty="0"/>
              <a:t>Solution</a:t>
            </a:r>
            <a:r>
              <a:rPr spc="50" dirty="0"/>
              <a:t> </a:t>
            </a:r>
            <a:r>
              <a:rPr dirty="0"/>
              <a:t>I:</a:t>
            </a:r>
            <a:r>
              <a:rPr spc="35" dirty="0"/>
              <a:t> </a:t>
            </a:r>
            <a:r>
              <a:rPr dirty="0"/>
              <a:t>Linear</a:t>
            </a:r>
            <a:r>
              <a:rPr spc="35" dirty="0"/>
              <a:t> </a:t>
            </a:r>
            <a:r>
              <a:rPr spc="-10" dirty="0"/>
              <a:t>Algebra</a:t>
            </a:r>
          </a:p>
        </p:txBody>
      </p:sp>
      <p:sp>
        <p:nvSpPr>
          <p:cNvPr id="3" name="object 3"/>
          <p:cNvSpPr/>
          <p:nvPr/>
        </p:nvSpPr>
        <p:spPr>
          <a:xfrm>
            <a:off x="4350796" y="1790756"/>
            <a:ext cx="772795" cy="224154"/>
          </a:xfrm>
          <a:custGeom>
            <a:avLst/>
            <a:gdLst/>
            <a:ahLst/>
            <a:cxnLst/>
            <a:rect l="l" t="t" r="r" b="b"/>
            <a:pathLst>
              <a:path w="772795" h="224155">
                <a:moveTo>
                  <a:pt x="700949" y="0"/>
                </a:moveTo>
                <a:lnTo>
                  <a:pt x="697768" y="9083"/>
                </a:lnTo>
                <a:lnTo>
                  <a:pt x="710706" y="14704"/>
                </a:lnTo>
                <a:lnTo>
                  <a:pt x="721833" y="22485"/>
                </a:lnTo>
                <a:lnTo>
                  <a:pt x="744425" y="58556"/>
                </a:lnTo>
                <a:lnTo>
                  <a:pt x="751848" y="110764"/>
                </a:lnTo>
                <a:lnTo>
                  <a:pt x="751020" y="130500"/>
                </a:lnTo>
                <a:lnTo>
                  <a:pt x="738593" y="178827"/>
                </a:lnTo>
                <a:lnTo>
                  <a:pt x="710857" y="209039"/>
                </a:lnTo>
                <a:lnTo>
                  <a:pt x="698121" y="214687"/>
                </a:lnTo>
                <a:lnTo>
                  <a:pt x="700949" y="223770"/>
                </a:lnTo>
                <a:lnTo>
                  <a:pt x="743652" y="198367"/>
                </a:lnTo>
                <a:lnTo>
                  <a:pt x="767636" y="151475"/>
                </a:lnTo>
                <a:lnTo>
                  <a:pt x="772232" y="111944"/>
                </a:lnTo>
                <a:lnTo>
                  <a:pt x="771093" y="91673"/>
                </a:lnTo>
                <a:lnTo>
                  <a:pt x="771079" y="91429"/>
                </a:lnTo>
                <a:lnTo>
                  <a:pt x="753791" y="39221"/>
                </a:lnTo>
                <a:lnTo>
                  <a:pt x="717154" y="5857"/>
                </a:lnTo>
                <a:lnTo>
                  <a:pt x="700949" y="0"/>
                </a:lnTo>
                <a:close/>
              </a:path>
              <a:path w="772795" h="224155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0338" y="168863"/>
                </a:lnTo>
                <a:lnTo>
                  <a:pt x="40795" y="209452"/>
                </a:lnTo>
                <a:lnTo>
                  <a:pt x="71282" y="223770"/>
                </a:lnTo>
                <a:lnTo>
                  <a:pt x="74109" y="214687"/>
                </a:lnTo>
                <a:lnTo>
                  <a:pt x="61373" y="209039"/>
                </a:lnTo>
                <a:lnTo>
                  <a:pt x="50383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6"/>
                </a:lnTo>
                <a:lnTo>
                  <a:pt x="50472" y="22485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908714" y="2083197"/>
            <a:ext cx="772795" cy="224154"/>
          </a:xfrm>
          <a:custGeom>
            <a:avLst/>
            <a:gdLst/>
            <a:ahLst/>
            <a:cxnLst/>
            <a:rect l="l" t="t" r="r" b="b"/>
            <a:pathLst>
              <a:path w="772795" h="224155">
                <a:moveTo>
                  <a:pt x="700949" y="0"/>
                </a:moveTo>
                <a:lnTo>
                  <a:pt x="697768" y="9083"/>
                </a:lnTo>
                <a:lnTo>
                  <a:pt x="710707" y="14704"/>
                </a:lnTo>
                <a:lnTo>
                  <a:pt x="721833" y="22485"/>
                </a:lnTo>
                <a:lnTo>
                  <a:pt x="744426" y="58556"/>
                </a:lnTo>
                <a:lnTo>
                  <a:pt x="751848" y="110764"/>
                </a:lnTo>
                <a:lnTo>
                  <a:pt x="751020" y="130500"/>
                </a:lnTo>
                <a:lnTo>
                  <a:pt x="738593" y="178827"/>
                </a:lnTo>
                <a:lnTo>
                  <a:pt x="710857" y="209039"/>
                </a:lnTo>
                <a:lnTo>
                  <a:pt x="698121" y="214687"/>
                </a:lnTo>
                <a:lnTo>
                  <a:pt x="700949" y="223770"/>
                </a:lnTo>
                <a:lnTo>
                  <a:pt x="743653" y="198368"/>
                </a:lnTo>
                <a:lnTo>
                  <a:pt x="767636" y="151475"/>
                </a:lnTo>
                <a:lnTo>
                  <a:pt x="772232" y="111944"/>
                </a:lnTo>
                <a:lnTo>
                  <a:pt x="771093" y="91673"/>
                </a:lnTo>
                <a:lnTo>
                  <a:pt x="771079" y="91429"/>
                </a:lnTo>
                <a:lnTo>
                  <a:pt x="753793" y="39221"/>
                </a:lnTo>
                <a:lnTo>
                  <a:pt x="717154" y="5857"/>
                </a:lnTo>
                <a:lnTo>
                  <a:pt x="700949" y="0"/>
                </a:lnTo>
                <a:close/>
              </a:path>
              <a:path w="772795" h="224155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148" y="132502"/>
                </a:lnTo>
                <a:lnTo>
                  <a:pt x="4595" y="151475"/>
                </a:lnTo>
                <a:lnTo>
                  <a:pt x="28579" y="198368"/>
                </a:lnTo>
                <a:lnTo>
                  <a:pt x="71282" y="223770"/>
                </a:lnTo>
                <a:lnTo>
                  <a:pt x="74110" y="214687"/>
                </a:lnTo>
                <a:lnTo>
                  <a:pt x="61374" y="209039"/>
                </a:lnTo>
                <a:lnTo>
                  <a:pt x="50383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6"/>
                </a:lnTo>
                <a:lnTo>
                  <a:pt x="50472" y="22485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43756" y="1717266"/>
            <a:ext cx="8814435" cy="888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6545" algn="l"/>
                <a:tab pos="3685540" algn="l"/>
                <a:tab pos="4467225" algn="l"/>
              </a:tabLst>
            </a:pPr>
            <a:r>
              <a:rPr sz="1900" dirty="0">
                <a:latin typeface="Calibri"/>
                <a:cs typeface="Calibri"/>
              </a:rPr>
              <a:t>From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previous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slide,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have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65" dirty="0">
                <a:latin typeface="Cambria Math"/>
                <a:cs typeface="Cambria Math"/>
              </a:rPr>
              <a:t>y</a:t>
            </a:r>
            <a:r>
              <a:rPr sz="2100" spc="97" baseline="27777" dirty="0">
                <a:latin typeface="Cambria Math"/>
                <a:cs typeface="Cambria Math"/>
              </a:rPr>
              <a:t>∗</a:t>
            </a:r>
            <a:r>
              <a:rPr sz="2100" spc="27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t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cap="small" spc="360" dirty="0">
                <a:latin typeface="Cambria Math"/>
                <a:cs typeface="Cambria Math"/>
              </a:rPr>
              <a:t>t</a:t>
            </a:r>
            <a:r>
              <a:rPr sz="1900" spc="1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Xw,</a:t>
            </a:r>
            <a:r>
              <a:rPr sz="1900" spc="-8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∀w</a:t>
            </a:r>
            <a:r>
              <a:rPr sz="1900" spc="1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155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ℝ</a:t>
            </a:r>
            <a:r>
              <a:rPr sz="2100" spc="-37" baseline="27777" dirty="0">
                <a:latin typeface="Cambria Math"/>
                <a:cs typeface="Cambria Math"/>
              </a:rPr>
              <a:t>𝐷</a:t>
            </a:r>
            <a:endParaRPr sz="2100" baseline="27777">
              <a:latin typeface="Cambria Math"/>
              <a:cs typeface="Cambria Math"/>
            </a:endParaRPr>
          </a:p>
          <a:p>
            <a:pPr marL="296545" marR="17780" indent="-271780">
              <a:lnSpc>
                <a:spcPts val="2210"/>
              </a:lnSpc>
              <a:spcBef>
                <a:spcPts val="155"/>
              </a:spcBef>
              <a:buFont typeface="Arial MT"/>
              <a:buChar char="•"/>
              <a:tabLst>
                <a:tab pos="296545" algn="l"/>
                <a:tab pos="7243445" algn="l"/>
              </a:tabLst>
            </a:pPr>
            <a:r>
              <a:rPr sz="1900" spc="-10" dirty="0">
                <a:latin typeface="Calibri"/>
                <a:cs typeface="Calibri"/>
              </a:rPr>
              <a:t>Equivalently,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columns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design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matrix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85" dirty="0">
                <a:latin typeface="Cambria Math"/>
                <a:cs typeface="Cambria Math"/>
              </a:rPr>
              <a:t>X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orthogonal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65" dirty="0">
                <a:latin typeface="Cambria Math"/>
                <a:cs typeface="Cambria Math"/>
              </a:rPr>
              <a:t>y</a:t>
            </a:r>
            <a:r>
              <a:rPr sz="2100" spc="97" baseline="27777" dirty="0">
                <a:latin typeface="Cambria Math"/>
                <a:cs typeface="Cambria Math"/>
              </a:rPr>
              <a:t>∗</a:t>
            </a:r>
            <a:r>
              <a:rPr sz="2100" spc="27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5" dirty="0">
                <a:latin typeface="Cambria Math"/>
                <a:cs typeface="Cambria Math"/>
              </a:rPr>
              <a:t> </a:t>
            </a:r>
            <a:r>
              <a:rPr sz="1900" spc="80" dirty="0">
                <a:latin typeface="Cambria Math"/>
                <a:cs typeface="Cambria Math"/>
              </a:rPr>
              <a:t>t</a:t>
            </a:r>
            <a:r>
              <a:rPr sz="1900" spc="3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we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that: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8187" y="2586836"/>
            <a:ext cx="3103958" cy="13767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56456" y="4055082"/>
            <a:ext cx="8614410" cy="11811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3845" marR="5080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While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solution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clean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derivation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easy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remember,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like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many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algebraic </a:t>
            </a:r>
            <a:r>
              <a:rPr sz="1900" dirty="0">
                <a:latin typeface="Calibri"/>
                <a:cs typeface="Calibri"/>
              </a:rPr>
              <a:t>solutions,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somewhat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hoc.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ts val="2210"/>
              </a:lnSpc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hand,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tools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calculus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broadly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applicable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differentiable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loss</a:t>
            </a:r>
            <a:endParaRPr sz="19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  <a:spcBef>
                <a:spcPts val="25"/>
              </a:spcBef>
            </a:pPr>
            <a:r>
              <a:rPr sz="1900" spc="-10" dirty="0">
                <a:latin typeface="Calibri"/>
                <a:cs typeface="Calibri"/>
              </a:rPr>
              <a:t>functions…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3437" y="2378251"/>
            <a:ext cx="575026" cy="32253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44396" y="2404031"/>
            <a:ext cx="413979" cy="26412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54461" y="2370405"/>
            <a:ext cx="473434" cy="34426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8535875" y="2647282"/>
            <a:ext cx="31115" cy="57150"/>
          </a:xfrm>
          <a:custGeom>
            <a:avLst/>
            <a:gdLst/>
            <a:ahLst/>
            <a:cxnLst/>
            <a:rect l="l" t="t" r="r" b="b"/>
            <a:pathLst>
              <a:path w="31115" h="57150">
                <a:moveTo>
                  <a:pt x="25920" y="0"/>
                </a:moveTo>
                <a:lnTo>
                  <a:pt x="23795" y="847"/>
                </a:lnTo>
                <a:lnTo>
                  <a:pt x="0" y="49830"/>
                </a:lnTo>
                <a:lnTo>
                  <a:pt x="1283" y="53540"/>
                </a:lnTo>
                <a:lnTo>
                  <a:pt x="7446" y="56534"/>
                </a:lnTo>
                <a:lnTo>
                  <a:pt x="11155" y="55250"/>
                </a:lnTo>
                <a:lnTo>
                  <a:pt x="12651" y="52169"/>
                </a:lnTo>
                <a:lnTo>
                  <a:pt x="12736" y="51996"/>
                </a:lnTo>
                <a:lnTo>
                  <a:pt x="30867" y="3731"/>
                </a:lnTo>
                <a:lnTo>
                  <a:pt x="29842" y="1471"/>
                </a:lnTo>
                <a:lnTo>
                  <a:pt x="259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78951" y="2364538"/>
            <a:ext cx="1509304" cy="348278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871835" y="2851325"/>
            <a:ext cx="2433955" cy="1017905"/>
            <a:chOff x="6871835" y="2851325"/>
            <a:chExt cx="2433955" cy="101790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02208" y="2869089"/>
              <a:ext cx="486432" cy="27476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1835" y="2851325"/>
              <a:ext cx="2433327" cy="1017446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9397950" y="3408483"/>
            <a:ext cx="17780" cy="52705"/>
          </a:xfrm>
          <a:custGeom>
            <a:avLst/>
            <a:gdLst/>
            <a:ahLst/>
            <a:cxnLst/>
            <a:rect l="l" t="t" r="r" b="b"/>
            <a:pathLst>
              <a:path w="17779" h="52704">
                <a:moveTo>
                  <a:pt x="11738" y="0"/>
                </a:moveTo>
                <a:lnTo>
                  <a:pt x="8896" y="480"/>
                </a:lnTo>
                <a:lnTo>
                  <a:pt x="2465" y="8031"/>
                </a:lnTo>
                <a:lnTo>
                  <a:pt x="426" y="15375"/>
                </a:lnTo>
                <a:lnTo>
                  <a:pt x="0" y="22585"/>
                </a:lnTo>
                <a:lnTo>
                  <a:pt x="0" y="29291"/>
                </a:lnTo>
                <a:lnTo>
                  <a:pt x="6640" y="52636"/>
                </a:lnTo>
                <a:lnTo>
                  <a:pt x="10897" y="51415"/>
                </a:lnTo>
                <a:lnTo>
                  <a:pt x="12189" y="49484"/>
                </a:lnTo>
                <a:lnTo>
                  <a:pt x="11062" y="39524"/>
                </a:lnTo>
                <a:lnTo>
                  <a:pt x="10586" y="31471"/>
                </a:lnTo>
                <a:lnTo>
                  <a:pt x="12023" y="18380"/>
                </a:lnTo>
                <a:lnTo>
                  <a:pt x="13197" y="13111"/>
                </a:lnTo>
                <a:lnTo>
                  <a:pt x="17343" y="6051"/>
                </a:lnTo>
                <a:lnTo>
                  <a:pt x="16496" y="2792"/>
                </a:lnTo>
                <a:lnTo>
                  <a:pt x="117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88141" y="3154740"/>
            <a:ext cx="716045" cy="328803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0270307" y="3328981"/>
            <a:ext cx="52705" cy="78740"/>
          </a:xfrm>
          <a:custGeom>
            <a:avLst/>
            <a:gdLst/>
            <a:ahLst/>
            <a:cxnLst/>
            <a:rect l="l" t="t" r="r" b="b"/>
            <a:pathLst>
              <a:path w="52704" h="78739">
                <a:moveTo>
                  <a:pt x="19625" y="36023"/>
                </a:moveTo>
                <a:lnTo>
                  <a:pt x="42769" y="77688"/>
                </a:lnTo>
                <a:lnTo>
                  <a:pt x="46168" y="78643"/>
                </a:lnTo>
                <a:lnTo>
                  <a:pt x="51175" y="75830"/>
                </a:lnTo>
                <a:lnTo>
                  <a:pt x="52250" y="73064"/>
                </a:lnTo>
                <a:lnTo>
                  <a:pt x="51418" y="70533"/>
                </a:lnTo>
                <a:lnTo>
                  <a:pt x="47294" y="58555"/>
                </a:lnTo>
                <a:lnTo>
                  <a:pt x="42594" y="46685"/>
                </a:lnTo>
                <a:lnTo>
                  <a:pt x="38099" y="37369"/>
                </a:lnTo>
                <a:lnTo>
                  <a:pt x="24206" y="37369"/>
                </a:lnTo>
                <a:lnTo>
                  <a:pt x="19625" y="36023"/>
                </a:lnTo>
                <a:close/>
              </a:path>
              <a:path w="52704" h="78739">
                <a:moveTo>
                  <a:pt x="23322" y="20190"/>
                </a:moveTo>
                <a:lnTo>
                  <a:pt x="16618" y="24900"/>
                </a:lnTo>
                <a:lnTo>
                  <a:pt x="16687" y="25192"/>
                </a:lnTo>
                <a:lnTo>
                  <a:pt x="15839" y="28798"/>
                </a:lnTo>
                <a:lnTo>
                  <a:pt x="15838" y="29059"/>
                </a:lnTo>
                <a:lnTo>
                  <a:pt x="19625" y="36023"/>
                </a:lnTo>
                <a:lnTo>
                  <a:pt x="24206" y="37369"/>
                </a:lnTo>
                <a:lnTo>
                  <a:pt x="31517" y="33379"/>
                </a:lnTo>
                <a:lnTo>
                  <a:pt x="32787" y="29059"/>
                </a:lnTo>
                <a:lnTo>
                  <a:pt x="32863" y="28798"/>
                </a:lnTo>
                <a:lnTo>
                  <a:pt x="30736" y="24900"/>
                </a:lnTo>
                <a:lnTo>
                  <a:pt x="30432" y="24439"/>
                </a:lnTo>
                <a:lnTo>
                  <a:pt x="27932" y="21012"/>
                </a:lnTo>
                <a:lnTo>
                  <a:pt x="23322" y="20190"/>
                </a:lnTo>
                <a:close/>
              </a:path>
              <a:path w="52704" h="78739">
                <a:moveTo>
                  <a:pt x="31613" y="26359"/>
                </a:moveTo>
                <a:lnTo>
                  <a:pt x="32863" y="28798"/>
                </a:lnTo>
                <a:lnTo>
                  <a:pt x="31517" y="33379"/>
                </a:lnTo>
                <a:lnTo>
                  <a:pt x="24206" y="37369"/>
                </a:lnTo>
                <a:lnTo>
                  <a:pt x="38099" y="37369"/>
                </a:lnTo>
                <a:lnTo>
                  <a:pt x="37057" y="35211"/>
                </a:lnTo>
                <a:lnTo>
                  <a:pt x="31613" y="26359"/>
                </a:lnTo>
                <a:close/>
              </a:path>
              <a:path w="52704" h="78739">
                <a:moveTo>
                  <a:pt x="5955" y="0"/>
                </a:moveTo>
                <a:lnTo>
                  <a:pt x="2748" y="779"/>
                </a:lnTo>
                <a:lnTo>
                  <a:pt x="0" y="5295"/>
                </a:lnTo>
                <a:lnTo>
                  <a:pt x="318" y="7941"/>
                </a:lnTo>
                <a:lnTo>
                  <a:pt x="2024" y="9640"/>
                </a:lnTo>
                <a:lnTo>
                  <a:pt x="6588" y="14799"/>
                </a:lnTo>
                <a:lnTo>
                  <a:pt x="10627" y="20437"/>
                </a:lnTo>
                <a:lnTo>
                  <a:pt x="14266" y="26359"/>
                </a:lnTo>
                <a:lnTo>
                  <a:pt x="15777" y="29059"/>
                </a:lnTo>
                <a:lnTo>
                  <a:pt x="16687" y="25192"/>
                </a:lnTo>
                <a:lnTo>
                  <a:pt x="16755" y="24900"/>
                </a:lnTo>
                <a:lnTo>
                  <a:pt x="16618" y="24900"/>
                </a:lnTo>
                <a:lnTo>
                  <a:pt x="23322" y="20190"/>
                </a:lnTo>
                <a:lnTo>
                  <a:pt x="27333" y="20190"/>
                </a:lnTo>
                <a:lnTo>
                  <a:pt x="25740" y="18008"/>
                </a:lnTo>
                <a:lnTo>
                  <a:pt x="20578" y="11818"/>
                </a:lnTo>
                <a:lnTo>
                  <a:pt x="14839" y="6204"/>
                </a:lnTo>
                <a:lnTo>
                  <a:pt x="8415" y="1497"/>
                </a:lnTo>
                <a:lnTo>
                  <a:pt x="5955" y="0"/>
                </a:lnTo>
                <a:close/>
              </a:path>
              <a:path w="52704" h="78739">
                <a:moveTo>
                  <a:pt x="27333" y="20190"/>
                </a:moveTo>
                <a:lnTo>
                  <a:pt x="23322" y="20190"/>
                </a:lnTo>
                <a:lnTo>
                  <a:pt x="28025" y="21012"/>
                </a:lnTo>
                <a:lnTo>
                  <a:pt x="27513" y="20437"/>
                </a:lnTo>
                <a:lnTo>
                  <a:pt x="27333" y="201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63216" y="4917163"/>
            <a:ext cx="2673709" cy="366801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5030698" y="5165175"/>
            <a:ext cx="64769" cy="55244"/>
          </a:xfrm>
          <a:custGeom>
            <a:avLst/>
            <a:gdLst/>
            <a:ahLst/>
            <a:cxnLst/>
            <a:rect l="l" t="t" r="r" b="b"/>
            <a:pathLst>
              <a:path w="64770" h="55245">
                <a:moveTo>
                  <a:pt x="22320" y="19263"/>
                </a:moveTo>
                <a:lnTo>
                  <a:pt x="0" y="49339"/>
                </a:lnTo>
                <a:lnTo>
                  <a:pt x="659" y="52162"/>
                </a:lnTo>
                <a:lnTo>
                  <a:pt x="4690" y="54667"/>
                </a:lnTo>
                <a:lnTo>
                  <a:pt x="7139" y="54321"/>
                </a:lnTo>
                <a:lnTo>
                  <a:pt x="14523" y="46114"/>
                </a:lnTo>
                <a:lnTo>
                  <a:pt x="20496" y="39580"/>
                </a:lnTo>
                <a:lnTo>
                  <a:pt x="26635" y="33207"/>
                </a:lnTo>
                <a:lnTo>
                  <a:pt x="30427" y="29604"/>
                </a:lnTo>
                <a:lnTo>
                  <a:pt x="29588" y="29604"/>
                </a:lnTo>
                <a:lnTo>
                  <a:pt x="25646" y="28916"/>
                </a:lnTo>
                <a:lnTo>
                  <a:pt x="21631" y="23205"/>
                </a:lnTo>
                <a:lnTo>
                  <a:pt x="22320" y="19263"/>
                </a:lnTo>
                <a:close/>
              </a:path>
              <a:path w="64770" h="55245">
                <a:moveTo>
                  <a:pt x="27795" y="15415"/>
                </a:moveTo>
                <a:lnTo>
                  <a:pt x="22320" y="19263"/>
                </a:lnTo>
                <a:lnTo>
                  <a:pt x="21631" y="23205"/>
                </a:lnTo>
                <a:lnTo>
                  <a:pt x="25646" y="28916"/>
                </a:lnTo>
                <a:lnTo>
                  <a:pt x="29588" y="29604"/>
                </a:lnTo>
                <a:lnTo>
                  <a:pt x="32813" y="27338"/>
                </a:lnTo>
                <a:lnTo>
                  <a:pt x="35629" y="24798"/>
                </a:lnTo>
                <a:lnTo>
                  <a:pt x="35715" y="23205"/>
                </a:lnTo>
                <a:lnTo>
                  <a:pt x="35776" y="22061"/>
                </a:lnTo>
                <a:lnTo>
                  <a:pt x="35844" y="20801"/>
                </a:lnTo>
                <a:lnTo>
                  <a:pt x="31375" y="15822"/>
                </a:lnTo>
                <a:lnTo>
                  <a:pt x="27795" y="15415"/>
                </a:lnTo>
                <a:close/>
              </a:path>
              <a:path w="64770" h="55245">
                <a:moveTo>
                  <a:pt x="32669" y="27474"/>
                </a:moveTo>
                <a:lnTo>
                  <a:pt x="29588" y="29604"/>
                </a:lnTo>
                <a:lnTo>
                  <a:pt x="30427" y="29604"/>
                </a:lnTo>
                <a:lnTo>
                  <a:pt x="32669" y="27474"/>
                </a:lnTo>
                <a:close/>
              </a:path>
              <a:path w="64770" h="55245">
                <a:moveTo>
                  <a:pt x="59185" y="0"/>
                </a:moveTo>
                <a:lnTo>
                  <a:pt x="27795" y="15415"/>
                </a:lnTo>
                <a:lnTo>
                  <a:pt x="31375" y="15822"/>
                </a:lnTo>
                <a:lnTo>
                  <a:pt x="35844" y="20801"/>
                </a:lnTo>
                <a:lnTo>
                  <a:pt x="35776" y="22061"/>
                </a:lnTo>
                <a:lnTo>
                  <a:pt x="35715" y="23205"/>
                </a:lnTo>
                <a:lnTo>
                  <a:pt x="35629" y="24798"/>
                </a:lnTo>
                <a:lnTo>
                  <a:pt x="63436" y="8441"/>
                </a:lnTo>
                <a:lnTo>
                  <a:pt x="64330" y="5521"/>
                </a:lnTo>
                <a:lnTo>
                  <a:pt x="61893" y="938"/>
                </a:lnTo>
                <a:lnTo>
                  <a:pt x="59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280650" y="4886094"/>
            <a:ext cx="401222" cy="41245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764279" y="4943376"/>
            <a:ext cx="639932" cy="282120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6486855" y="4937088"/>
            <a:ext cx="133985" cy="156845"/>
          </a:xfrm>
          <a:custGeom>
            <a:avLst/>
            <a:gdLst/>
            <a:ahLst/>
            <a:cxnLst/>
            <a:rect l="l" t="t" r="r" b="b"/>
            <a:pathLst>
              <a:path w="133984" h="156845">
                <a:moveTo>
                  <a:pt x="67767" y="64300"/>
                </a:moveTo>
                <a:lnTo>
                  <a:pt x="67030" y="57797"/>
                </a:lnTo>
                <a:lnTo>
                  <a:pt x="67017" y="57607"/>
                </a:lnTo>
                <a:lnTo>
                  <a:pt x="64325" y="55194"/>
                </a:lnTo>
                <a:lnTo>
                  <a:pt x="39814" y="55194"/>
                </a:lnTo>
                <a:lnTo>
                  <a:pt x="29743" y="55626"/>
                </a:lnTo>
                <a:lnTo>
                  <a:pt x="0" y="73025"/>
                </a:lnTo>
                <a:lnTo>
                  <a:pt x="9829" y="75666"/>
                </a:lnTo>
                <a:lnTo>
                  <a:pt x="11899" y="75298"/>
                </a:lnTo>
                <a:lnTo>
                  <a:pt x="13538" y="74155"/>
                </a:lnTo>
                <a:lnTo>
                  <a:pt x="18897" y="73025"/>
                </a:lnTo>
                <a:lnTo>
                  <a:pt x="24384" y="72390"/>
                </a:lnTo>
                <a:lnTo>
                  <a:pt x="45783" y="69684"/>
                </a:lnTo>
                <a:lnTo>
                  <a:pt x="65265" y="67449"/>
                </a:lnTo>
                <a:lnTo>
                  <a:pt x="67767" y="64300"/>
                </a:lnTo>
                <a:close/>
              </a:path>
              <a:path w="133984" h="156845">
                <a:moveTo>
                  <a:pt x="119253" y="444"/>
                </a:moveTo>
                <a:lnTo>
                  <a:pt x="118237" y="0"/>
                </a:lnTo>
                <a:lnTo>
                  <a:pt x="116128" y="444"/>
                </a:lnTo>
                <a:lnTo>
                  <a:pt x="119253" y="444"/>
                </a:lnTo>
                <a:close/>
              </a:path>
              <a:path w="133984" h="156845">
                <a:moveTo>
                  <a:pt x="123761" y="3949"/>
                </a:moveTo>
                <a:lnTo>
                  <a:pt x="120980" y="774"/>
                </a:lnTo>
                <a:lnTo>
                  <a:pt x="120027" y="774"/>
                </a:lnTo>
                <a:lnTo>
                  <a:pt x="114528" y="774"/>
                </a:lnTo>
                <a:lnTo>
                  <a:pt x="116128" y="444"/>
                </a:lnTo>
                <a:lnTo>
                  <a:pt x="113588" y="279"/>
                </a:lnTo>
                <a:lnTo>
                  <a:pt x="110401" y="3073"/>
                </a:lnTo>
                <a:lnTo>
                  <a:pt x="110363" y="3505"/>
                </a:lnTo>
                <a:lnTo>
                  <a:pt x="110261" y="5041"/>
                </a:lnTo>
                <a:lnTo>
                  <a:pt x="110337" y="3949"/>
                </a:lnTo>
                <a:lnTo>
                  <a:pt x="111264" y="4051"/>
                </a:lnTo>
                <a:lnTo>
                  <a:pt x="123532" y="5295"/>
                </a:lnTo>
                <a:lnTo>
                  <a:pt x="123736" y="5295"/>
                </a:lnTo>
                <a:lnTo>
                  <a:pt x="123761" y="3949"/>
                </a:lnTo>
                <a:close/>
              </a:path>
              <a:path w="133984" h="156845">
                <a:moveTo>
                  <a:pt x="133972" y="149618"/>
                </a:moveTo>
                <a:lnTo>
                  <a:pt x="124015" y="117932"/>
                </a:lnTo>
                <a:lnTo>
                  <a:pt x="124079" y="112864"/>
                </a:lnTo>
                <a:lnTo>
                  <a:pt x="123901" y="112636"/>
                </a:lnTo>
                <a:lnTo>
                  <a:pt x="124129" y="112864"/>
                </a:lnTo>
                <a:lnTo>
                  <a:pt x="124231" y="108673"/>
                </a:lnTo>
                <a:lnTo>
                  <a:pt x="124663" y="93535"/>
                </a:lnTo>
                <a:lnTo>
                  <a:pt x="124777" y="89636"/>
                </a:lnTo>
                <a:lnTo>
                  <a:pt x="121805" y="92290"/>
                </a:lnTo>
                <a:lnTo>
                  <a:pt x="124701" y="89636"/>
                </a:lnTo>
                <a:lnTo>
                  <a:pt x="124929" y="84594"/>
                </a:lnTo>
                <a:lnTo>
                  <a:pt x="125095" y="79438"/>
                </a:lnTo>
                <a:lnTo>
                  <a:pt x="125145" y="74917"/>
                </a:lnTo>
                <a:lnTo>
                  <a:pt x="125247" y="59791"/>
                </a:lnTo>
                <a:lnTo>
                  <a:pt x="125082" y="47980"/>
                </a:lnTo>
                <a:lnTo>
                  <a:pt x="124968" y="44284"/>
                </a:lnTo>
                <a:lnTo>
                  <a:pt x="124841" y="40208"/>
                </a:lnTo>
                <a:lnTo>
                  <a:pt x="124726" y="36461"/>
                </a:lnTo>
                <a:lnTo>
                  <a:pt x="124561" y="40208"/>
                </a:lnTo>
                <a:lnTo>
                  <a:pt x="124523" y="40868"/>
                </a:lnTo>
                <a:lnTo>
                  <a:pt x="124714" y="36461"/>
                </a:lnTo>
                <a:lnTo>
                  <a:pt x="124714" y="35826"/>
                </a:lnTo>
                <a:lnTo>
                  <a:pt x="124548" y="31648"/>
                </a:lnTo>
                <a:lnTo>
                  <a:pt x="124536" y="31419"/>
                </a:lnTo>
                <a:lnTo>
                  <a:pt x="124421" y="28321"/>
                </a:lnTo>
                <a:lnTo>
                  <a:pt x="124409" y="27990"/>
                </a:lnTo>
                <a:lnTo>
                  <a:pt x="124079" y="19469"/>
                </a:lnTo>
                <a:lnTo>
                  <a:pt x="123952" y="16230"/>
                </a:lnTo>
                <a:lnTo>
                  <a:pt x="123837" y="13271"/>
                </a:lnTo>
                <a:lnTo>
                  <a:pt x="123774" y="11620"/>
                </a:lnTo>
                <a:lnTo>
                  <a:pt x="123672" y="15405"/>
                </a:lnTo>
                <a:lnTo>
                  <a:pt x="123634" y="13271"/>
                </a:lnTo>
                <a:lnTo>
                  <a:pt x="123532" y="5295"/>
                </a:lnTo>
                <a:lnTo>
                  <a:pt x="110248" y="5295"/>
                </a:lnTo>
                <a:lnTo>
                  <a:pt x="110109" y="5295"/>
                </a:lnTo>
                <a:lnTo>
                  <a:pt x="110007" y="5486"/>
                </a:lnTo>
                <a:lnTo>
                  <a:pt x="109918" y="7645"/>
                </a:lnTo>
                <a:lnTo>
                  <a:pt x="109816" y="10185"/>
                </a:lnTo>
                <a:lnTo>
                  <a:pt x="109715" y="12700"/>
                </a:lnTo>
                <a:lnTo>
                  <a:pt x="108940" y="31419"/>
                </a:lnTo>
                <a:lnTo>
                  <a:pt x="108927" y="31648"/>
                </a:lnTo>
                <a:lnTo>
                  <a:pt x="108585" y="40208"/>
                </a:lnTo>
                <a:lnTo>
                  <a:pt x="107759" y="59791"/>
                </a:lnTo>
                <a:lnTo>
                  <a:pt x="106921" y="78803"/>
                </a:lnTo>
                <a:lnTo>
                  <a:pt x="106476" y="88811"/>
                </a:lnTo>
                <a:lnTo>
                  <a:pt x="105994" y="100799"/>
                </a:lnTo>
                <a:lnTo>
                  <a:pt x="105803" y="108673"/>
                </a:lnTo>
                <a:lnTo>
                  <a:pt x="105778" y="112610"/>
                </a:lnTo>
                <a:lnTo>
                  <a:pt x="109829" y="108673"/>
                </a:lnTo>
                <a:lnTo>
                  <a:pt x="105841" y="112610"/>
                </a:lnTo>
                <a:lnTo>
                  <a:pt x="105791" y="117932"/>
                </a:lnTo>
                <a:lnTo>
                  <a:pt x="105829" y="122859"/>
                </a:lnTo>
                <a:lnTo>
                  <a:pt x="106616" y="123621"/>
                </a:lnTo>
                <a:lnTo>
                  <a:pt x="107251" y="128054"/>
                </a:lnTo>
                <a:lnTo>
                  <a:pt x="111125" y="137617"/>
                </a:lnTo>
                <a:lnTo>
                  <a:pt x="116801" y="146342"/>
                </a:lnTo>
                <a:lnTo>
                  <a:pt x="123659" y="154114"/>
                </a:lnTo>
                <a:lnTo>
                  <a:pt x="125907" y="156362"/>
                </a:lnTo>
                <a:lnTo>
                  <a:pt x="129527" y="156362"/>
                </a:lnTo>
                <a:lnTo>
                  <a:pt x="133553" y="152349"/>
                </a:lnTo>
                <a:lnTo>
                  <a:pt x="133972" y="1496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706265" y="4913781"/>
            <a:ext cx="1029278" cy="359784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7829715" y="5222724"/>
            <a:ext cx="26670" cy="19050"/>
          </a:xfrm>
          <a:custGeom>
            <a:avLst/>
            <a:gdLst/>
            <a:ahLst/>
            <a:cxnLst/>
            <a:rect l="l" t="t" r="r" b="b"/>
            <a:pathLst>
              <a:path w="26670" h="19050">
                <a:moveTo>
                  <a:pt x="22600" y="0"/>
                </a:moveTo>
                <a:lnTo>
                  <a:pt x="3274" y="2170"/>
                </a:lnTo>
                <a:lnTo>
                  <a:pt x="0" y="6273"/>
                </a:lnTo>
                <a:lnTo>
                  <a:pt x="1021" y="15373"/>
                </a:lnTo>
                <a:lnTo>
                  <a:pt x="5124" y="18648"/>
                </a:lnTo>
                <a:lnTo>
                  <a:pt x="11395" y="17943"/>
                </a:lnTo>
                <a:lnTo>
                  <a:pt x="13013" y="17216"/>
                </a:lnTo>
                <a:lnTo>
                  <a:pt x="26014" y="5499"/>
                </a:lnTo>
                <a:lnTo>
                  <a:pt x="26142" y="3021"/>
                </a:lnTo>
                <a:lnTo>
                  <a:pt x="23848" y="473"/>
                </a:lnTo>
                <a:lnTo>
                  <a:pt x="22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Direct</a:t>
            </a:r>
            <a:r>
              <a:rPr spc="35" dirty="0"/>
              <a:t> </a:t>
            </a:r>
            <a:r>
              <a:rPr dirty="0"/>
              <a:t>Solution</a:t>
            </a:r>
            <a:r>
              <a:rPr spc="50" dirty="0"/>
              <a:t> </a:t>
            </a:r>
            <a:r>
              <a:rPr dirty="0"/>
              <a:t>II:</a:t>
            </a:r>
            <a:r>
              <a:rPr spc="40" dirty="0"/>
              <a:t> </a:t>
            </a:r>
            <a:r>
              <a:rPr spc="-10" dirty="0"/>
              <a:t>Calculus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6" y="1759938"/>
            <a:ext cx="8100059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3845" marR="5080" indent="-271780">
              <a:lnSpc>
                <a:spcPct val="101099"/>
              </a:lnSpc>
              <a:spcBef>
                <a:spcPts val="75"/>
              </a:spcBef>
              <a:buClr>
                <a:srgbClr val="000000"/>
              </a:buClr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Partial</a:t>
            </a:r>
            <a:r>
              <a:rPr sz="19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derivative</a:t>
            </a:r>
            <a:r>
              <a:rPr sz="1900" spc="-10" dirty="0">
                <a:latin typeface="Calibri"/>
                <a:cs typeface="Calibri"/>
              </a:rPr>
              <a:t>: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derivative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multivariate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respect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its </a:t>
            </a:r>
            <a:r>
              <a:rPr sz="1900" spc="-10" dirty="0">
                <a:latin typeface="Calibri"/>
                <a:cs typeface="Calibri"/>
              </a:rPr>
              <a:t>arguments.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456" y="3210786"/>
            <a:ext cx="8536940" cy="8858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3845" marR="5080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compute,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take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single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variable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derivative,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pretending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other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arguments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are </a:t>
            </a:r>
            <a:r>
              <a:rPr sz="1900" spc="-10" dirty="0">
                <a:latin typeface="Calibri"/>
                <a:cs typeface="Calibri"/>
              </a:rPr>
              <a:t>constant.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ts val="2185"/>
              </a:lnSpc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Example: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partial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derivatives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prediction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𝑦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27799" y="2659531"/>
            <a:ext cx="368300" cy="13335"/>
          </a:xfrm>
          <a:custGeom>
            <a:avLst/>
            <a:gdLst/>
            <a:ahLst/>
            <a:cxnLst/>
            <a:rect l="l" t="t" r="r" b="b"/>
            <a:pathLst>
              <a:path w="368300" h="13335">
                <a:moveTo>
                  <a:pt x="368299" y="0"/>
                </a:moveTo>
                <a:lnTo>
                  <a:pt x="0" y="0"/>
                </a:lnTo>
                <a:lnTo>
                  <a:pt x="0" y="12714"/>
                </a:lnTo>
                <a:lnTo>
                  <a:pt x="368299" y="12714"/>
                </a:lnTo>
                <a:lnTo>
                  <a:pt x="3682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06986" y="2555420"/>
            <a:ext cx="716915" cy="224154"/>
          </a:xfrm>
          <a:custGeom>
            <a:avLst/>
            <a:gdLst/>
            <a:ahLst/>
            <a:cxnLst/>
            <a:rect l="l" t="t" r="r" b="b"/>
            <a:pathLst>
              <a:path w="716914" h="224155">
                <a:moveTo>
                  <a:pt x="645501" y="0"/>
                </a:moveTo>
                <a:lnTo>
                  <a:pt x="642320" y="9083"/>
                </a:lnTo>
                <a:lnTo>
                  <a:pt x="655258" y="14704"/>
                </a:lnTo>
                <a:lnTo>
                  <a:pt x="666385" y="22485"/>
                </a:lnTo>
                <a:lnTo>
                  <a:pt x="688977" y="58556"/>
                </a:lnTo>
                <a:lnTo>
                  <a:pt x="696400" y="110764"/>
                </a:lnTo>
                <a:lnTo>
                  <a:pt x="695572" y="130500"/>
                </a:lnTo>
                <a:lnTo>
                  <a:pt x="683145" y="178828"/>
                </a:lnTo>
                <a:lnTo>
                  <a:pt x="655409" y="209041"/>
                </a:lnTo>
                <a:lnTo>
                  <a:pt x="642673" y="214688"/>
                </a:lnTo>
                <a:lnTo>
                  <a:pt x="645501" y="223771"/>
                </a:lnTo>
                <a:lnTo>
                  <a:pt x="688204" y="198369"/>
                </a:lnTo>
                <a:lnTo>
                  <a:pt x="712188" y="151475"/>
                </a:lnTo>
                <a:lnTo>
                  <a:pt x="716784" y="111944"/>
                </a:lnTo>
                <a:lnTo>
                  <a:pt x="715645" y="91673"/>
                </a:lnTo>
                <a:lnTo>
                  <a:pt x="715631" y="91429"/>
                </a:lnTo>
                <a:lnTo>
                  <a:pt x="698343" y="39221"/>
                </a:lnTo>
                <a:lnTo>
                  <a:pt x="661705" y="5857"/>
                </a:lnTo>
                <a:lnTo>
                  <a:pt x="645501" y="0"/>
                </a:lnTo>
                <a:close/>
              </a:path>
              <a:path w="716914" h="224155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148" y="132502"/>
                </a:lnTo>
                <a:lnTo>
                  <a:pt x="18380" y="184668"/>
                </a:lnTo>
                <a:lnTo>
                  <a:pt x="55030" y="217921"/>
                </a:lnTo>
                <a:lnTo>
                  <a:pt x="71282" y="223771"/>
                </a:lnTo>
                <a:lnTo>
                  <a:pt x="74110" y="214688"/>
                </a:lnTo>
                <a:lnTo>
                  <a:pt x="61374" y="209041"/>
                </a:lnTo>
                <a:lnTo>
                  <a:pt x="50384" y="201181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1211" y="91673"/>
                </a:lnTo>
                <a:lnTo>
                  <a:pt x="33638" y="44530"/>
                </a:lnTo>
                <a:lnTo>
                  <a:pt x="61573" y="14704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10523" y="2482314"/>
            <a:ext cx="10636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34645" algn="l"/>
              </a:tabLst>
            </a:pPr>
            <a:r>
              <a:rPr sz="2850" spc="-75" baseline="42397" dirty="0">
                <a:latin typeface="Cambria Math"/>
                <a:cs typeface="Cambria Math"/>
              </a:rPr>
              <a:t>𝜕</a:t>
            </a:r>
            <a:r>
              <a:rPr sz="2850" baseline="42397" dirty="0">
                <a:latin typeface="Cambria Math"/>
                <a:cs typeface="Cambria Math"/>
              </a:rPr>
              <a:t>	</a:t>
            </a:r>
            <a:r>
              <a:rPr sz="1900" dirty="0">
                <a:latin typeface="Cambria Math"/>
                <a:cs typeface="Cambria Math"/>
              </a:rPr>
              <a:t>𝑓</a:t>
            </a:r>
            <a:r>
              <a:rPr sz="1900" spc="4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1900" spc="37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𝑥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93466" y="2594656"/>
            <a:ext cx="455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9090" algn="l"/>
              </a:tabLst>
            </a:pPr>
            <a:r>
              <a:rPr sz="1400" spc="-50" dirty="0">
                <a:latin typeface="Cambria Math"/>
                <a:cs typeface="Cambria Math"/>
              </a:rPr>
              <a:t>1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46009" y="2692192"/>
            <a:ext cx="3892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ℎ→0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59799" y="2659531"/>
            <a:ext cx="2514600" cy="13335"/>
          </a:xfrm>
          <a:custGeom>
            <a:avLst/>
            <a:gdLst/>
            <a:ahLst/>
            <a:cxnLst/>
            <a:rect l="l" t="t" r="r" b="b"/>
            <a:pathLst>
              <a:path w="2514600" h="13335">
                <a:moveTo>
                  <a:pt x="2514600" y="0"/>
                </a:moveTo>
                <a:lnTo>
                  <a:pt x="0" y="0"/>
                </a:lnTo>
                <a:lnTo>
                  <a:pt x="0" y="12715"/>
                </a:lnTo>
                <a:lnTo>
                  <a:pt x="2514600" y="12715"/>
                </a:lnTo>
                <a:lnTo>
                  <a:pt x="2514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23093" y="2372359"/>
            <a:ext cx="1143000" cy="224154"/>
          </a:xfrm>
          <a:custGeom>
            <a:avLst/>
            <a:gdLst/>
            <a:ahLst/>
            <a:cxnLst/>
            <a:rect l="l" t="t" r="r" b="b"/>
            <a:pathLst>
              <a:path w="1143000" h="224155">
                <a:moveTo>
                  <a:pt x="1071093" y="0"/>
                </a:moveTo>
                <a:lnTo>
                  <a:pt x="1067912" y="9083"/>
                </a:lnTo>
                <a:lnTo>
                  <a:pt x="1080851" y="14704"/>
                </a:lnTo>
                <a:lnTo>
                  <a:pt x="1091977" y="22486"/>
                </a:lnTo>
                <a:lnTo>
                  <a:pt x="1114570" y="58556"/>
                </a:lnTo>
                <a:lnTo>
                  <a:pt x="1121133" y="91429"/>
                </a:lnTo>
                <a:lnTo>
                  <a:pt x="1121168" y="91673"/>
                </a:lnTo>
                <a:lnTo>
                  <a:pt x="1121164" y="130500"/>
                </a:lnTo>
                <a:lnTo>
                  <a:pt x="1108737" y="178827"/>
                </a:lnTo>
                <a:lnTo>
                  <a:pt x="1081002" y="209039"/>
                </a:lnTo>
                <a:lnTo>
                  <a:pt x="1068266" y="214687"/>
                </a:lnTo>
                <a:lnTo>
                  <a:pt x="1071093" y="223770"/>
                </a:lnTo>
                <a:lnTo>
                  <a:pt x="1113797" y="198368"/>
                </a:lnTo>
                <a:lnTo>
                  <a:pt x="1137781" y="151475"/>
                </a:lnTo>
                <a:lnTo>
                  <a:pt x="1142376" y="111944"/>
                </a:lnTo>
                <a:lnTo>
                  <a:pt x="1141237" y="91673"/>
                </a:lnTo>
                <a:lnTo>
                  <a:pt x="1141223" y="91429"/>
                </a:lnTo>
                <a:lnTo>
                  <a:pt x="1123937" y="39221"/>
                </a:lnTo>
                <a:lnTo>
                  <a:pt x="1087298" y="5857"/>
                </a:lnTo>
                <a:lnTo>
                  <a:pt x="1071093" y="0"/>
                </a:lnTo>
                <a:close/>
              </a:path>
              <a:path w="1143000" h="224155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0338" y="168863"/>
                </a:lnTo>
                <a:lnTo>
                  <a:pt x="40795" y="209453"/>
                </a:lnTo>
                <a:lnTo>
                  <a:pt x="71282" y="223770"/>
                </a:lnTo>
                <a:lnTo>
                  <a:pt x="74109" y="214687"/>
                </a:lnTo>
                <a:lnTo>
                  <a:pt x="61373" y="209039"/>
                </a:lnTo>
                <a:lnTo>
                  <a:pt x="50383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6"/>
                </a:lnTo>
                <a:lnTo>
                  <a:pt x="50472" y="22486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61180" y="2299434"/>
            <a:ext cx="32632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078989" algn="l"/>
              </a:tabLst>
            </a:pPr>
            <a:r>
              <a:rPr sz="2850" baseline="-42397" dirty="0">
                <a:latin typeface="Cambria Math"/>
                <a:cs typeface="Cambria Math"/>
              </a:rPr>
              <a:t>=</a:t>
            </a:r>
            <a:r>
              <a:rPr sz="2850" spc="284" baseline="-42397" dirty="0">
                <a:latin typeface="Cambria Math"/>
                <a:cs typeface="Cambria Math"/>
              </a:rPr>
              <a:t> </a:t>
            </a:r>
            <a:r>
              <a:rPr sz="2850" baseline="-42397" dirty="0">
                <a:latin typeface="Cambria Math"/>
                <a:cs typeface="Cambria Math"/>
              </a:rPr>
              <a:t>lim</a:t>
            </a:r>
            <a:r>
              <a:rPr sz="2850" spc="7" baseline="-4239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𝑓</a:t>
            </a:r>
            <a:r>
              <a:rPr sz="1900" spc="4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2100" baseline="-15873" dirty="0">
                <a:latin typeface="Cambria Math"/>
                <a:cs typeface="Cambria Math"/>
              </a:rPr>
              <a:t>1</a:t>
            </a:r>
            <a:r>
              <a:rPr sz="2100" spc="262" baseline="-15873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ℎ,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𝑥</a:t>
            </a:r>
            <a:r>
              <a:rPr sz="2100" spc="-37" baseline="-15873" dirty="0">
                <a:latin typeface="Cambria Math"/>
                <a:cs typeface="Cambria Math"/>
              </a:rPr>
              <a:t>2</a:t>
            </a:r>
            <a:r>
              <a:rPr sz="2100" baseline="-15873" dirty="0">
                <a:latin typeface="Cambria Math"/>
                <a:cs typeface="Cambria Math"/>
              </a:rPr>
              <a:t>	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𝑓(𝑥</a:t>
            </a:r>
            <a:r>
              <a:rPr sz="2100" baseline="-15873" dirty="0">
                <a:latin typeface="Cambria Math"/>
                <a:cs typeface="Cambria Math"/>
              </a:rPr>
              <a:t>1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85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𝑥</a:t>
            </a:r>
            <a:r>
              <a:rPr sz="2100" spc="-37" baseline="-15873" dirty="0">
                <a:latin typeface="Cambria Math"/>
                <a:cs typeface="Cambria Math"/>
              </a:rPr>
              <a:t>2</a:t>
            </a:r>
            <a:r>
              <a:rPr sz="1900" spc="-25" dirty="0">
                <a:latin typeface="Cambria Math"/>
                <a:cs typeface="Cambria Math"/>
              </a:rPr>
              <a:t>)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81798" y="2643858"/>
            <a:ext cx="343916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3266440" algn="l"/>
              </a:tabLst>
            </a:pPr>
            <a:r>
              <a:rPr sz="1900" spc="-25" dirty="0">
                <a:latin typeface="Cambria Math"/>
                <a:cs typeface="Cambria Math"/>
              </a:rPr>
              <a:t>𝜕𝑥</a:t>
            </a:r>
            <a:r>
              <a:rPr sz="2100" spc="-37" baseline="-15873" dirty="0">
                <a:latin typeface="Cambria Math"/>
                <a:cs typeface="Cambria Math"/>
              </a:rPr>
              <a:t>1</a:t>
            </a:r>
            <a:r>
              <a:rPr sz="2100" baseline="-15873" dirty="0">
                <a:latin typeface="Cambria Math"/>
                <a:cs typeface="Cambria Math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ℎ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99974" y="4514520"/>
            <a:ext cx="393700" cy="13335"/>
          </a:xfrm>
          <a:custGeom>
            <a:avLst/>
            <a:gdLst/>
            <a:ahLst/>
            <a:cxnLst/>
            <a:rect l="l" t="t" r="r" b="b"/>
            <a:pathLst>
              <a:path w="393700" h="13335">
                <a:moveTo>
                  <a:pt x="393700" y="0"/>
                </a:moveTo>
                <a:lnTo>
                  <a:pt x="0" y="0"/>
                </a:lnTo>
                <a:lnTo>
                  <a:pt x="0" y="12714"/>
                </a:lnTo>
                <a:lnTo>
                  <a:pt x="393700" y="12714"/>
                </a:lnTo>
                <a:lnTo>
                  <a:pt x="393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98472" y="4514520"/>
            <a:ext cx="393700" cy="13335"/>
          </a:xfrm>
          <a:custGeom>
            <a:avLst/>
            <a:gdLst/>
            <a:ahLst/>
            <a:cxnLst/>
            <a:rect l="l" t="t" r="r" b="b"/>
            <a:pathLst>
              <a:path w="393700" h="13335">
                <a:moveTo>
                  <a:pt x="393700" y="0"/>
                </a:moveTo>
                <a:lnTo>
                  <a:pt x="0" y="0"/>
                </a:lnTo>
                <a:lnTo>
                  <a:pt x="0" y="12714"/>
                </a:lnTo>
                <a:lnTo>
                  <a:pt x="393700" y="12714"/>
                </a:lnTo>
                <a:lnTo>
                  <a:pt x="393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145024" y="4500090"/>
            <a:ext cx="117729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52475" algn="l"/>
              </a:tabLst>
            </a:pPr>
            <a:r>
              <a:rPr sz="1900" spc="-25" dirty="0">
                <a:latin typeface="Cambria Math"/>
                <a:cs typeface="Cambria Math"/>
              </a:rPr>
              <a:t>𝜕𝑤</a:t>
            </a:r>
            <a:r>
              <a:rPr sz="2100" spc="-37" baseline="-15873" dirty="0">
                <a:latin typeface="Cambria Math"/>
                <a:cs typeface="Cambria Math"/>
              </a:rPr>
              <a:t>j</a:t>
            </a:r>
            <a:r>
              <a:rPr sz="2100" baseline="-15873" dirty="0">
                <a:latin typeface="Cambria Math"/>
                <a:cs typeface="Cambria Math"/>
              </a:rPr>
              <a:t>	</a:t>
            </a:r>
            <a:r>
              <a:rPr sz="1900" spc="-25" dirty="0">
                <a:latin typeface="Cambria Math"/>
                <a:cs typeface="Cambria Math"/>
              </a:rPr>
              <a:t>𝜕𝑤</a:t>
            </a:r>
            <a:r>
              <a:rPr sz="2100" spc="-37" baseline="-15873" dirty="0">
                <a:latin typeface="Cambria Math"/>
                <a:cs typeface="Cambria Math"/>
              </a:rPr>
              <a:t>j</a:t>
            </a:r>
            <a:endParaRPr sz="2100" baseline="-15873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17872" y="4230371"/>
            <a:ext cx="64135" cy="716280"/>
          </a:xfrm>
          <a:custGeom>
            <a:avLst/>
            <a:gdLst/>
            <a:ahLst/>
            <a:cxnLst/>
            <a:rect l="l" t="t" r="r" b="b"/>
            <a:pathLst>
              <a:path w="64135" h="716279">
                <a:moveTo>
                  <a:pt x="64096" y="0"/>
                </a:moveTo>
                <a:lnTo>
                  <a:pt x="0" y="0"/>
                </a:lnTo>
                <a:lnTo>
                  <a:pt x="0" y="11430"/>
                </a:lnTo>
                <a:lnTo>
                  <a:pt x="39814" y="11430"/>
                </a:lnTo>
                <a:lnTo>
                  <a:pt x="39814" y="704850"/>
                </a:lnTo>
                <a:lnTo>
                  <a:pt x="0" y="704850"/>
                </a:lnTo>
                <a:lnTo>
                  <a:pt x="0" y="716280"/>
                </a:lnTo>
                <a:lnTo>
                  <a:pt x="64096" y="716280"/>
                </a:lnTo>
                <a:lnTo>
                  <a:pt x="64096" y="704850"/>
                </a:lnTo>
                <a:lnTo>
                  <a:pt x="64096" y="11430"/>
                </a:lnTo>
                <a:lnTo>
                  <a:pt x="640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53829" y="4230371"/>
            <a:ext cx="64135" cy="716280"/>
          </a:xfrm>
          <a:custGeom>
            <a:avLst/>
            <a:gdLst/>
            <a:ahLst/>
            <a:cxnLst/>
            <a:rect l="l" t="t" r="r" b="b"/>
            <a:pathLst>
              <a:path w="64135" h="716279">
                <a:moveTo>
                  <a:pt x="64096" y="0"/>
                </a:moveTo>
                <a:lnTo>
                  <a:pt x="0" y="0"/>
                </a:lnTo>
                <a:lnTo>
                  <a:pt x="0" y="11430"/>
                </a:lnTo>
                <a:lnTo>
                  <a:pt x="0" y="704850"/>
                </a:lnTo>
                <a:lnTo>
                  <a:pt x="0" y="716280"/>
                </a:lnTo>
                <a:lnTo>
                  <a:pt x="64096" y="716280"/>
                </a:lnTo>
                <a:lnTo>
                  <a:pt x="64096" y="704850"/>
                </a:lnTo>
                <a:lnTo>
                  <a:pt x="24269" y="704850"/>
                </a:lnTo>
                <a:lnTo>
                  <a:pt x="24269" y="11430"/>
                </a:lnTo>
                <a:lnTo>
                  <a:pt x="64096" y="11430"/>
                </a:lnTo>
                <a:lnTo>
                  <a:pt x="640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64414" y="4664249"/>
            <a:ext cx="2286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337" baseline="-17857" dirty="0">
                <a:latin typeface="Cambria Math"/>
                <a:cs typeface="Cambria Math"/>
              </a:rPr>
              <a:t>j</a:t>
            </a:r>
            <a:r>
              <a:rPr sz="1100" spc="225" dirty="0">
                <a:latin typeface="Cambria Math"/>
                <a:cs typeface="Cambria Math"/>
              </a:rPr>
              <a:t>!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9362" y="5006058"/>
            <a:ext cx="51117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85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𝑥</a:t>
            </a:r>
            <a:r>
              <a:rPr sz="2100" spc="-37" baseline="-15873" dirty="0">
                <a:latin typeface="Cambria Math"/>
                <a:cs typeface="Cambria Math"/>
              </a:rPr>
              <a:t>j</a:t>
            </a:r>
            <a:endParaRPr sz="2100" baseline="-15873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739040" y="4514520"/>
            <a:ext cx="279400" cy="13335"/>
          </a:xfrm>
          <a:custGeom>
            <a:avLst/>
            <a:gdLst/>
            <a:ahLst/>
            <a:cxnLst/>
            <a:rect l="l" t="t" r="r" b="b"/>
            <a:pathLst>
              <a:path w="279400" h="13335">
                <a:moveTo>
                  <a:pt x="279400" y="0"/>
                </a:moveTo>
                <a:lnTo>
                  <a:pt x="0" y="0"/>
                </a:lnTo>
                <a:lnTo>
                  <a:pt x="0" y="12714"/>
                </a:lnTo>
                <a:lnTo>
                  <a:pt x="279400" y="12714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722794" y="4500090"/>
            <a:ext cx="29083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latin typeface="Cambria Math"/>
                <a:cs typeface="Cambria Math"/>
              </a:rPr>
              <a:t>𝜕𝑏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23240" y="4514520"/>
            <a:ext cx="266700" cy="13335"/>
          </a:xfrm>
          <a:custGeom>
            <a:avLst/>
            <a:gdLst/>
            <a:ahLst/>
            <a:cxnLst/>
            <a:rect l="l" t="t" r="r" b="b"/>
            <a:pathLst>
              <a:path w="266700" h="13335">
                <a:moveTo>
                  <a:pt x="266700" y="0"/>
                </a:moveTo>
                <a:lnTo>
                  <a:pt x="0" y="0"/>
                </a:lnTo>
                <a:lnTo>
                  <a:pt x="0" y="12714"/>
                </a:lnTo>
                <a:lnTo>
                  <a:pt x="266700" y="12714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202785" y="4152618"/>
            <a:ext cx="436753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48309" algn="l"/>
                <a:tab pos="819150" algn="l"/>
                <a:tab pos="3530600" algn="l"/>
                <a:tab pos="4181475" algn="l"/>
              </a:tabLst>
            </a:pPr>
            <a:r>
              <a:rPr sz="1900" spc="-25" dirty="0">
                <a:latin typeface="Cambria Math"/>
                <a:cs typeface="Cambria Math"/>
              </a:rPr>
              <a:t>𝜕𝑦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2850" spc="-75" baseline="-42397" dirty="0">
                <a:latin typeface="Cambria Math"/>
                <a:cs typeface="Cambria Math"/>
              </a:rPr>
              <a:t>=</a:t>
            </a:r>
            <a:r>
              <a:rPr sz="2850" baseline="-42397" dirty="0">
                <a:latin typeface="Cambria Math"/>
                <a:cs typeface="Cambria Math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𝜕</a:t>
            </a:r>
            <a:r>
              <a:rPr sz="1900" dirty="0">
                <a:latin typeface="Cambria Math"/>
                <a:cs typeface="Cambria Math"/>
              </a:rPr>
              <a:t>	𝜕𝑦</a:t>
            </a:r>
            <a:r>
              <a:rPr sz="1900" spc="110" dirty="0">
                <a:latin typeface="Cambria Math"/>
                <a:cs typeface="Cambria Math"/>
              </a:rPr>
              <a:t> </a:t>
            </a:r>
            <a:r>
              <a:rPr sz="2850" spc="-75" baseline="-42397" dirty="0">
                <a:latin typeface="Cambria Math"/>
                <a:cs typeface="Cambria Math"/>
              </a:rPr>
              <a:t>=</a:t>
            </a:r>
            <a:r>
              <a:rPr sz="2850" baseline="-42397" dirty="0">
                <a:latin typeface="Cambria Math"/>
                <a:cs typeface="Cambria Math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𝜕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07696" y="4500090"/>
            <a:ext cx="29083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latin typeface="Cambria Math"/>
                <a:cs typeface="Cambria Math"/>
              </a:rPr>
              <a:t>𝜕𝑏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120710" y="4230371"/>
            <a:ext cx="64135" cy="716280"/>
          </a:xfrm>
          <a:custGeom>
            <a:avLst/>
            <a:gdLst/>
            <a:ahLst/>
            <a:cxnLst/>
            <a:rect l="l" t="t" r="r" b="b"/>
            <a:pathLst>
              <a:path w="64134" h="716279">
                <a:moveTo>
                  <a:pt x="64096" y="0"/>
                </a:moveTo>
                <a:lnTo>
                  <a:pt x="0" y="0"/>
                </a:lnTo>
                <a:lnTo>
                  <a:pt x="0" y="11430"/>
                </a:lnTo>
                <a:lnTo>
                  <a:pt x="39827" y="11430"/>
                </a:lnTo>
                <a:lnTo>
                  <a:pt x="39827" y="704850"/>
                </a:lnTo>
                <a:lnTo>
                  <a:pt x="0" y="704850"/>
                </a:lnTo>
                <a:lnTo>
                  <a:pt x="0" y="716280"/>
                </a:lnTo>
                <a:lnTo>
                  <a:pt x="64096" y="716280"/>
                </a:lnTo>
                <a:lnTo>
                  <a:pt x="64096" y="704850"/>
                </a:lnTo>
                <a:lnTo>
                  <a:pt x="64096" y="11430"/>
                </a:lnTo>
                <a:lnTo>
                  <a:pt x="640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656667" y="4230371"/>
            <a:ext cx="64135" cy="716280"/>
          </a:xfrm>
          <a:custGeom>
            <a:avLst/>
            <a:gdLst/>
            <a:ahLst/>
            <a:cxnLst/>
            <a:rect l="l" t="t" r="r" b="b"/>
            <a:pathLst>
              <a:path w="64134" h="716279">
                <a:moveTo>
                  <a:pt x="64096" y="0"/>
                </a:moveTo>
                <a:lnTo>
                  <a:pt x="0" y="0"/>
                </a:lnTo>
                <a:lnTo>
                  <a:pt x="0" y="11430"/>
                </a:lnTo>
                <a:lnTo>
                  <a:pt x="0" y="704850"/>
                </a:lnTo>
                <a:lnTo>
                  <a:pt x="0" y="716280"/>
                </a:lnTo>
                <a:lnTo>
                  <a:pt x="64096" y="716280"/>
                </a:lnTo>
                <a:lnTo>
                  <a:pt x="64096" y="704850"/>
                </a:lnTo>
                <a:lnTo>
                  <a:pt x="24269" y="704850"/>
                </a:lnTo>
                <a:lnTo>
                  <a:pt x="24269" y="11430"/>
                </a:lnTo>
                <a:lnTo>
                  <a:pt x="64096" y="11430"/>
                </a:lnTo>
                <a:lnTo>
                  <a:pt x="640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767258" y="4664249"/>
            <a:ext cx="2286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337" baseline="-17857" dirty="0">
                <a:latin typeface="Cambria Math"/>
                <a:cs typeface="Cambria Math"/>
              </a:rPr>
              <a:t>j</a:t>
            </a:r>
            <a:r>
              <a:rPr sz="1100" spc="225" dirty="0">
                <a:latin typeface="Cambria Math"/>
                <a:cs typeface="Cambria Math"/>
              </a:rPr>
              <a:t>!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27623" y="4463081"/>
            <a:ext cx="3689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0195" algn="l"/>
                <a:tab pos="3315335" algn="l"/>
                <a:tab pos="3593465" algn="l"/>
              </a:tabLst>
            </a:pPr>
            <a:r>
              <a:rPr sz="1400" spc="229" dirty="0">
                <a:latin typeface="Cambria Math"/>
                <a:cs typeface="Cambria Math"/>
              </a:rPr>
              <a:t>j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220" dirty="0">
                <a:latin typeface="Cambria Math"/>
                <a:cs typeface="Cambria Math"/>
              </a:rPr>
              <a:t>j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229" dirty="0">
                <a:latin typeface="Cambria Math"/>
                <a:cs typeface="Cambria Math"/>
              </a:rPr>
              <a:t>j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229" dirty="0">
                <a:latin typeface="Cambria Math"/>
                <a:cs typeface="Cambria Math"/>
              </a:rPr>
              <a:t>j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10536" y="4335498"/>
            <a:ext cx="471170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15335" algn="l"/>
              </a:tabLst>
            </a:pPr>
            <a:r>
              <a:rPr sz="1900" spc="1160" dirty="0">
                <a:latin typeface="Cambria Math"/>
                <a:cs typeface="Cambria Math"/>
              </a:rPr>
              <a:t>∑</a:t>
            </a:r>
            <a:r>
              <a:rPr sz="1900" spc="-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1900" spc="130" dirty="0">
                <a:latin typeface="Cambria Math"/>
                <a:cs typeface="Cambria Math"/>
              </a:rPr>
              <a:t> </a:t>
            </a:r>
            <a:r>
              <a:rPr sz="1100" spc="155" dirty="0">
                <a:latin typeface="Cambria Math"/>
                <a:cs typeface="Cambria Math"/>
              </a:rPr>
              <a:t>!</a:t>
            </a:r>
            <a:r>
              <a:rPr sz="1100" spc="-9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1900" spc="130" dirty="0">
                <a:latin typeface="Cambria Math"/>
                <a:cs typeface="Cambria Math"/>
              </a:rPr>
              <a:t> </a:t>
            </a:r>
            <a:r>
              <a:rPr sz="1100" spc="155" dirty="0">
                <a:latin typeface="Cambria Math"/>
                <a:cs typeface="Cambria Math"/>
              </a:rPr>
              <a:t>!</a:t>
            </a:r>
            <a:r>
              <a:rPr sz="1100" spc="32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𝑏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1160" dirty="0">
                <a:latin typeface="Cambria Math"/>
                <a:cs typeface="Cambria Math"/>
              </a:rPr>
              <a:t>∑</a:t>
            </a:r>
            <a:r>
              <a:rPr sz="1900" spc="-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1900" spc="130" dirty="0">
                <a:latin typeface="Cambria Math"/>
                <a:cs typeface="Cambria Math"/>
              </a:rPr>
              <a:t> </a:t>
            </a:r>
            <a:r>
              <a:rPr sz="1100" spc="155" dirty="0">
                <a:latin typeface="Cambria Math"/>
                <a:cs typeface="Cambria Math"/>
              </a:rPr>
              <a:t>!</a:t>
            </a:r>
            <a:r>
              <a:rPr sz="1100" spc="-9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1900" spc="130" dirty="0">
                <a:latin typeface="Cambria Math"/>
                <a:cs typeface="Cambria Math"/>
              </a:rPr>
              <a:t> </a:t>
            </a:r>
            <a:r>
              <a:rPr sz="1100" spc="155" dirty="0">
                <a:latin typeface="Cambria Math"/>
                <a:cs typeface="Cambria Math"/>
              </a:rPr>
              <a:t>!</a:t>
            </a:r>
            <a:r>
              <a:rPr sz="1100" spc="32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𝑏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62423" y="5006058"/>
            <a:ext cx="4057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85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78" y="1538940"/>
            <a:ext cx="891457" cy="376416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69171" y="1641244"/>
            <a:ext cx="1662280" cy="143813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8019" y="3768124"/>
            <a:ext cx="369885" cy="29845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63852" y="3681178"/>
            <a:ext cx="806147" cy="3717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Direct</a:t>
            </a:r>
            <a:r>
              <a:rPr spc="35" dirty="0"/>
              <a:t> </a:t>
            </a:r>
            <a:r>
              <a:rPr dirty="0"/>
              <a:t>Solution</a:t>
            </a:r>
            <a:r>
              <a:rPr spc="50" dirty="0"/>
              <a:t> </a:t>
            </a:r>
            <a:r>
              <a:rPr dirty="0"/>
              <a:t>II:</a:t>
            </a:r>
            <a:r>
              <a:rPr spc="40" dirty="0"/>
              <a:t> </a:t>
            </a:r>
            <a:r>
              <a:rPr spc="-10" dirty="0"/>
              <a:t>Calculus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6" y="1717266"/>
            <a:ext cx="42868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For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loss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derivatives,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apply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chain</a:t>
            </a:r>
            <a:r>
              <a:rPr sz="19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rule</a:t>
            </a:r>
            <a:r>
              <a:rPr sz="1900" spc="-10" dirty="0"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68693" y="2336322"/>
            <a:ext cx="317500" cy="13335"/>
          </a:xfrm>
          <a:custGeom>
            <a:avLst/>
            <a:gdLst/>
            <a:ahLst/>
            <a:cxnLst/>
            <a:rect l="l" t="t" r="r" b="b"/>
            <a:pathLst>
              <a:path w="317500" h="13335">
                <a:moveTo>
                  <a:pt x="317500" y="0"/>
                </a:moveTo>
                <a:lnTo>
                  <a:pt x="0" y="0"/>
                </a:lnTo>
                <a:lnTo>
                  <a:pt x="0" y="12715"/>
                </a:lnTo>
                <a:lnTo>
                  <a:pt x="317500" y="12715"/>
                </a:lnTo>
                <a:lnTo>
                  <a:pt x="317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569207" y="2032779"/>
            <a:ext cx="1165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𝜕ℒ</a:t>
            </a:r>
            <a:r>
              <a:rPr sz="1600" spc="430" dirty="0">
                <a:latin typeface="Cambria Math"/>
                <a:cs typeface="Cambria Math"/>
              </a:rPr>
              <a:t> </a:t>
            </a:r>
            <a:r>
              <a:rPr sz="2400" baseline="-41666" dirty="0">
                <a:latin typeface="Cambria Math"/>
                <a:cs typeface="Cambria Math"/>
              </a:rPr>
              <a:t>=</a:t>
            </a:r>
            <a:r>
              <a:rPr sz="2400" spc="97" baseline="-41666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𝑑ℒ</a:t>
            </a:r>
            <a:r>
              <a:rPr sz="1600" spc="295" dirty="0">
                <a:latin typeface="Cambria Math"/>
                <a:cs typeface="Cambria Math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𝜕𝑦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52889" y="2336331"/>
            <a:ext cx="584200" cy="13335"/>
          </a:xfrm>
          <a:custGeom>
            <a:avLst/>
            <a:gdLst/>
            <a:ahLst/>
            <a:cxnLst/>
            <a:rect l="l" t="t" r="r" b="b"/>
            <a:pathLst>
              <a:path w="584200" h="13335">
                <a:moveTo>
                  <a:pt x="241300" y="0"/>
                </a:moveTo>
                <a:lnTo>
                  <a:pt x="0" y="0"/>
                </a:lnTo>
                <a:lnTo>
                  <a:pt x="0" y="12712"/>
                </a:lnTo>
                <a:lnTo>
                  <a:pt x="241300" y="12712"/>
                </a:lnTo>
                <a:lnTo>
                  <a:pt x="241300" y="0"/>
                </a:lnTo>
                <a:close/>
              </a:path>
              <a:path w="584200" h="13335">
                <a:moveTo>
                  <a:pt x="584200" y="0"/>
                </a:moveTo>
                <a:lnTo>
                  <a:pt x="266700" y="0"/>
                </a:lnTo>
                <a:lnTo>
                  <a:pt x="266700" y="12712"/>
                </a:lnTo>
                <a:lnTo>
                  <a:pt x="584200" y="12712"/>
                </a:lnTo>
                <a:lnTo>
                  <a:pt x="584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25822" y="2319291"/>
            <a:ext cx="12490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27380" algn="l"/>
              </a:tabLst>
            </a:pPr>
            <a:r>
              <a:rPr sz="1600" spc="-25" dirty="0">
                <a:latin typeface="Cambria Math"/>
                <a:cs typeface="Cambria Math"/>
              </a:rPr>
              <a:t>𝜕𝑤</a:t>
            </a:r>
            <a:r>
              <a:rPr sz="1800" spc="-37" baseline="-13888" dirty="0">
                <a:latin typeface="Cambria Math"/>
                <a:cs typeface="Cambria Math"/>
              </a:rPr>
              <a:t>j</a:t>
            </a:r>
            <a:r>
              <a:rPr sz="1800" baseline="-13888" dirty="0">
                <a:latin typeface="Cambria Math"/>
                <a:cs typeface="Cambria Math"/>
              </a:rPr>
              <a:t>	</a:t>
            </a:r>
            <a:r>
              <a:rPr sz="1600" dirty="0">
                <a:latin typeface="Cambria Math"/>
                <a:cs typeface="Cambria Math"/>
              </a:rPr>
              <a:t>𝑑𝑦</a:t>
            </a:r>
            <a:r>
              <a:rPr sz="1600" spc="-65" dirty="0">
                <a:latin typeface="Cambria Math"/>
                <a:cs typeface="Cambria Math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𝜕𝑤</a:t>
            </a:r>
            <a:r>
              <a:rPr sz="1800" spc="-37" baseline="-13888" dirty="0">
                <a:latin typeface="Cambria Math"/>
                <a:cs typeface="Cambria Math"/>
              </a:rPr>
              <a:t>j</a:t>
            </a:r>
            <a:endParaRPr sz="1800" baseline="-13888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1913" y="2566179"/>
            <a:ext cx="4559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aseline="-41666" dirty="0">
                <a:latin typeface="Cambria Math"/>
                <a:cs typeface="Cambria Math"/>
              </a:rPr>
              <a:t>=</a:t>
            </a:r>
            <a:r>
              <a:rPr sz="2400" spc="742" baseline="-41666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𝑑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54967" y="2869603"/>
            <a:ext cx="228600" cy="13335"/>
          </a:xfrm>
          <a:custGeom>
            <a:avLst/>
            <a:gdLst/>
            <a:ahLst/>
            <a:cxnLst/>
            <a:rect l="l" t="t" r="r" b="b"/>
            <a:pathLst>
              <a:path w="228600" h="13335">
                <a:moveTo>
                  <a:pt x="228600" y="0"/>
                </a:moveTo>
                <a:lnTo>
                  <a:pt x="0" y="0"/>
                </a:lnTo>
                <a:lnTo>
                  <a:pt x="0" y="12714"/>
                </a:lnTo>
                <a:lnTo>
                  <a:pt x="228600" y="12714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50194" y="2673351"/>
            <a:ext cx="50165" cy="403860"/>
          </a:xfrm>
          <a:custGeom>
            <a:avLst/>
            <a:gdLst/>
            <a:ahLst/>
            <a:cxnLst/>
            <a:rect l="l" t="t" r="r" b="b"/>
            <a:pathLst>
              <a:path w="50164" h="403860">
                <a:moveTo>
                  <a:pt x="49898" y="0"/>
                </a:moveTo>
                <a:lnTo>
                  <a:pt x="0" y="0"/>
                </a:lnTo>
                <a:lnTo>
                  <a:pt x="0" y="8890"/>
                </a:lnTo>
                <a:lnTo>
                  <a:pt x="30454" y="8890"/>
                </a:lnTo>
                <a:lnTo>
                  <a:pt x="30454" y="394970"/>
                </a:lnTo>
                <a:lnTo>
                  <a:pt x="0" y="394970"/>
                </a:lnTo>
                <a:lnTo>
                  <a:pt x="0" y="403860"/>
                </a:lnTo>
                <a:lnTo>
                  <a:pt x="49898" y="403860"/>
                </a:lnTo>
                <a:lnTo>
                  <a:pt x="49898" y="394970"/>
                </a:lnTo>
                <a:lnTo>
                  <a:pt x="49898" y="8890"/>
                </a:lnTo>
                <a:lnTo>
                  <a:pt x="498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46234" y="2673351"/>
            <a:ext cx="166370" cy="403860"/>
          </a:xfrm>
          <a:custGeom>
            <a:avLst/>
            <a:gdLst/>
            <a:ahLst/>
            <a:cxnLst/>
            <a:rect l="l" t="t" r="r" b="b"/>
            <a:pathLst>
              <a:path w="166370" h="403860">
                <a:moveTo>
                  <a:pt x="49898" y="0"/>
                </a:moveTo>
                <a:lnTo>
                  <a:pt x="0" y="0"/>
                </a:lnTo>
                <a:lnTo>
                  <a:pt x="0" y="8890"/>
                </a:lnTo>
                <a:lnTo>
                  <a:pt x="0" y="394970"/>
                </a:lnTo>
                <a:lnTo>
                  <a:pt x="0" y="403860"/>
                </a:lnTo>
                <a:lnTo>
                  <a:pt x="49898" y="403860"/>
                </a:lnTo>
                <a:lnTo>
                  <a:pt x="49898" y="394970"/>
                </a:lnTo>
                <a:lnTo>
                  <a:pt x="19443" y="394970"/>
                </a:lnTo>
                <a:lnTo>
                  <a:pt x="19443" y="8890"/>
                </a:lnTo>
                <a:lnTo>
                  <a:pt x="49898" y="8890"/>
                </a:lnTo>
                <a:lnTo>
                  <a:pt x="49898" y="0"/>
                </a:lnTo>
                <a:close/>
              </a:path>
              <a:path w="166370" h="403860">
                <a:moveTo>
                  <a:pt x="165925" y="196253"/>
                </a:moveTo>
                <a:lnTo>
                  <a:pt x="51625" y="196253"/>
                </a:lnTo>
                <a:lnTo>
                  <a:pt x="51625" y="208978"/>
                </a:lnTo>
                <a:lnTo>
                  <a:pt x="165925" y="208978"/>
                </a:lnTo>
                <a:lnTo>
                  <a:pt x="165925" y="1962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43976" y="2852691"/>
            <a:ext cx="4813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𝑑𝑦</a:t>
            </a:r>
            <a:r>
              <a:rPr sz="1600" spc="49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2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49025" y="2718579"/>
            <a:ext cx="12655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spc="-15" baseline="41666" dirty="0">
                <a:latin typeface="Cambria Math"/>
                <a:cs typeface="Cambria Math"/>
              </a:rPr>
              <a:t>1</a:t>
            </a:r>
            <a:r>
              <a:rPr sz="2400" spc="-142" baseline="41666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(𝑦</a:t>
            </a:r>
            <a:r>
              <a:rPr sz="1600" spc="2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𝑡)</a:t>
            </a:r>
            <a:r>
              <a:rPr sz="1800" baseline="27777" dirty="0">
                <a:latin typeface="Cambria Math"/>
                <a:cs typeface="Cambria Math"/>
              </a:rPr>
              <a:t>2</a:t>
            </a:r>
            <a:r>
              <a:rPr sz="1800" spc="337" baseline="27777" dirty="0">
                <a:latin typeface="Cambria Math"/>
                <a:cs typeface="Cambria Math"/>
              </a:rPr>
              <a:t>  </a:t>
            </a:r>
            <a:r>
              <a:rPr sz="1600" spc="-445" dirty="0">
                <a:latin typeface="Cambria Math"/>
                <a:cs typeface="Cambria Math"/>
              </a:rPr>
              <a:t>4</a:t>
            </a:r>
            <a:r>
              <a:rPr sz="1600" spc="-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42148" y="2809062"/>
            <a:ext cx="971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85" dirty="0">
                <a:latin typeface="Cambria Math"/>
                <a:cs typeface="Cambria Math"/>
              </a:rPr>
              <a:t>j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1056" y="3045955"/>
            <a:ext cx="6540500" cy="73025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R="1129665" algn="ctr">
              <a:lnSpc>
                <a:spcPct val="100000"/>
              </a:lnSpc>
              <a:spcBef>
                <a:spcPts val="715"/>
              </a:spcBef>
            </a:pP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5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(𝑦</a:t>
            </a:r>
            <a:r>
              <a:rPr sz="1600" spc="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-25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𝑡)𝑥</a:t>
            </a:r>
            <a:r>
              <a:rPr sz="1800" spc="-30" baseline="-13888" dirty="0">
                <a:latin typeface="Cambria Math"/>
                <a:cs typeface="Cambria Math"/>
              </a:rPr>
              <a:t>j</a:t>
            </a:r>
            <a:endParaRPr sz="1800" baseline="-13888">
              <a:latin typeface="Cambria Math"/>
              <a:cs typeface="Cambria Math"/>
            </a:endParaRPr>
          </a:p>
          <a:p>
            <a:pPr marL="309245" indent="-27114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For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cost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derivatives,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linearity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average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points: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653747" y="2349881"/>
            <a:ext cx="241300" cy="13335"/>
          </a:xfrm>
          <a:custGeom>
            <a:avLst/>
            <a:gdLst/>
            <a:ahLst/>
            <a:cxnLst/>
            <a:rect l="l" t="t" r="r" b="b"/>
            <a:pathLst>
              <a:path w="241300" h="13335">
                <a:moveTo>
                  <a:pt x="241300" y="0"/>
                </a:moveTo>
                <a:lnTo>
                  <a:pt x="0" y="0"/>
                </a:lnTo>
                <a:lnTo>
                  <a:pt x="0" y="12714"/>
                </a:lnTo>
                <a:lnTo>
                  <a:pt x="241300" y="12714"/>
                </a:lnTo>
                <a:lnTo>
                  <a:pt x="241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49048" y="2349882"/>
            <a:ext cx="495300" cy="13335"/>
          </a:xfrm>
          <a:custGeom>
            <a:avLst/>
            <a:gdLst/>
            <a:ahLst/>
            <a:cxnLst/>
            <a:rect l="l" t="t" r="r" b="b"/>
            <a:pathLst>
              <a:path w="495300" h="13335">
                <a:moveTo>
                  <a:pt x="241300" y="0"/>
                </a:moveTo>
                <a:lnTo>
                  <a:pt x="0" y="0"/>
                </a:lnTo>
                <a:lnTo>
                  <a:pt x="0" y="12725"/>
                </a:lnTo>
                <a:lnTo>
                  <a:pt x="241300" y="12725"/>
                </a:lnTo>
                <a:lnTo>
                  <a:pt x="241300" y="0"/>
                </a:lnTo>
                <a:close/>
              </a:path>
              <a:path w="495300" h="13335">
                <a:moveTo>
                  <a:pt x="495300" y="0"/>
                </a:moveTo>
                <a:lnTo>
                  <a:pt x="266700" y="0"/>
                </a:lnTo>
                <a:lnTo>
                  <a:pt x="266700" y="12725"/>
                </a:lnTo>
                <a:lnTo>
                  <a:pt x="495300" y="12725"/>
                </a:lnTo>
                <a:lnTo>
                  <a:pt x="495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609921" y="2044971"/>
            <a:ext cx="10750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𝜕ℒ</a:t>
            </a:r>
            <a:r>
              <a:rPr sz="1600" spc="95" dirty="0">
                <a:latin typeface="Cambria Math"/>
                <a:cs typeface="Cambria Math"/>
              </a:rPr>
              <a:t> </a:t>
            </a:r>
            <a:r>
              <a:rPr sz="2400" baseline="-41666" dirty="0">
                <a:latin typeface="Cambria Math"/>
                <a:cs typeface="Cambria Math"/>
              </a:rPr>
              <a:t>=</a:t>
            </a:r>
            <a:r>
              <a:rPr sz="2400" spc="82" baseline="-41666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𝑑ℒ</a:t>
            </a:r>
            <a:r>
              <a:rPr sz="1600" spc="-70" dirty="0">
                <a:latin typeface="Cambria Math"/>
                <a:cs typeface="Cambria Math"/>
              </a:rPr>
              <a:t> </a:t>
            </a:r>
            <a:r>
              <a:rPr sz="1600" spc="-35" dirty="0">
                <a:latin typeface="Cambria Math"/>
                <a:cs typeface="Cambria Math"/>
              </a:rPr>
              <a:t>𝜕𝑦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41304" y="2298240"/>
            <a:ext cx="1016000" cy="5803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60"/>
              </a:spcBef>
              <a:tabLst>
                <a:tab pos="496570" algn="l"/>
              </a:tabLst>
            </a:pPr>
            <a:r>
              <a:rPr sz="1600" spc="-25" dirty="0">
                <a:latin typeface="Cambria Math"/>
                <a:cs typeface="Cambria Math"/>
              </a:rPr>
              <a:t>𝜕𝑏</a:t>
            </a:r>
            <a:r>
              <a:rPr sz="1600" dirty="0">
                <a:latin typeface="Cambria Math"/>
                <a:cs typeface="Cambria Math"/>
              </a:rPr>
              <a:t>	𝑑𝑦</a:t>
            </a:r>
            <a:r>
              <a:rPr sz="1600" spc="-50" dirty="0">
                <a:latin typeface="Cambria Math"/>
                <a:cs typeface="Cambria Math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𝜕𝑏</a:t>
            </a:r>
            <a:endParaRPr sz="1600">
              <a:latin typeface="Cambria Math"/>
              <a:cs typeface="Cambria Math"/>
            </a:endParaRPr>
          </a:p>
          <a:p>
            <a:pPr marR="55880" algn="r">
              <a:lnSpc>
                <a:spcPct val="100000"/>
              </a:lnSpc>
              <a:spcBef>
                <a:spcPts val="265"/>
              </a:spcBef>
            </a:pP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6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𝑦</a:t>
            </a:r>
            <a:r>
              <a:rPr sz="1600" spc="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-20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80502" y="4212051"/>
            <a:ext cx="317500" cy="13335"/>
          </a:xfrm>
          <a:custGeom>
            <a:avLst/>
            <a:gdLst/>
            <a:ahLst/>
            <a:cxnLst/>
            <a:rect l="l" t="t" r="r" b="b"/>
            <a:pathLst>
              <a:path w="317500" h="13335">
                <a:moveTo>
                  <a:pt x="317500" y="0"/>
                </a:moveTo>
                <a:lnTo>
                  <a:pt x="0" y="0"/>
                </a:lnTo>
                <a:lnTo>
                  <a:pt x="0" y="12714"/>
                </a:lnTo>
                <a:lnTo>
                  <a:pt x="317500" y="12714"/>
                </a:lnTo>
                <a:lnTo>
                  <a:pt x="317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270320" y="4193811"/>
            <a:ext cx="2927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Cambria Math"/>
                <a:cs typeface="Cambria Math"/>
              </a:rPr>
              <a:t>𝜕𝑤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864700" y="4212051"/>
            <a:ext cx="152400" cy="13335"/>
          </a:xfrm>
          <a:custGeom>
            <a:avLst/>
            <a:gdLst/>
            <a:ahLst/>
            <a:cxnLst/>
            <a:rect l="l" t="t" r="r" b="b"/>
            <a:pathLst>
              <a:path w="152400" h="13335">
                <a:moveTo>
                  <a:pt x="152400" y="0"/>
                </a:moveTo>
                <a:lnTo>
                  <a:pt x="0" y="0"/>
                </a:lnTo>
                <a:lnTo>
                  <a:pt x="0" y="12714"/>
                </a:lnTo>
                <a:lnTo>
                  <a:pt x="152400" y="12714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285187" y="3907299"/>
            <a:ext cx="7543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𝜕𝒥</a:t>
            </a:r>
            <a:r>
              <a:rPr sz="1600" spc="425" dirty="0">
                <a:latin typeface="Cambria Math"/>
                <a:cs typeface="Cambria Math"/>
              </a:rPr>
              <a:t> </a:t>
            </a:r>
            <a:r>
              <a:rPr sz="2400" baseline="-41666" dirty="0">
                <a:latin typeface="Cambria Math"/>
                <a:cs typeface="Cambria Math"/>
              </a:rPr>
              <a:t>=</a:t>
            </a:r>
            <a:r>
              <a:rPr sz="2400" spc="337" baseline="-41666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11017" y="4287342"/>
            <a:ext cx="10744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9625" algn="l"/>
              </a:tabLst>
            </a:pPr>
            <a:r>
              <a:rPr sz="1200" spc="185" dirty="0">
                <a:latin typeface="Cambria Math"/>
                <a:cs typeface="Cambria Math"/>
              </a:rPr>
              <a:t>j</a:t>
            </a:r>
            <a:r>
              <a:rPr sz="1200" dirty="0">
                <a:latin typeface="Cambria Math"/>
                <a:cs typeface="Cambria Math"/>
              </a:rPr>
              <a:t>	</a:t>
            </a:r>
            <a:r>
              <a:rPr sz="1800" spc="-37" baseline="2314" dirty="0">
                <a:latin typeface="Cambria Math"/>
                <a:cs typeface="Cambria Math"/>
              </a:rPr>
              <a:t>𝑖=1</a:t>
            </a:r>
            <a:endParaRPr sz="1800" baseline="2314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08111" y="3906342"/>
            <a:ext cx="1409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𝑁</a:t>
            </a:r>
            <a:endParaRPr sz="1200">
              <a:latin typeface="Cambria Math"/>
              <a:cs typeface="Cambria Math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8905" y="4088168"/>
            <a:ext cx="153945" cy="141328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823738" y="4037406"/>
            <a:ext cx="6623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8630" algn="l"/>
              </a:tabLst>
            </a:pPr>
            <a:r>
              <a:rPr sz="1200" spc="-50" dirty="0">
                <a:latin typeface="Cambria Math"/>
                <a:cs typeface="Cambria Math"/>
              </a:rPr>
              <a:t>𝑖</a:t>
            </a:r>
            <a:r>
              <a:rPr sz="1200" dirty="0">
                <a:latin typeface="Cambria Math"/>
                <a:cs typeface="Cambria Math"/>
              </a:rPr>
              <a:t>	</a:t>
            </a:r>
            <a:r>
              <a:rPr sz="1200" spc="-25" dirty="0">
                <a:latin typeface="Cambria Math"/>
                <a:cs typeface="Cambria Math"/>
              </a:rPr>
              <a:t>(𝑖)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17925" y="4059699"/>
            <a:ext cx="19532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51205" algn="l"/>
                <a:tab pos="1188720" algn="l"/>
                <a:tab pos="1659889" algn="l"/>
              </a:tabLst>
            </a:pPr>
            <a:r>
              <a:rPr sz="2400" baseline="-36458" dirty="0">
                <a:latin typeface="Cambria Math"/>
                <a:cs typeface="Cambria Math"/>
              </a:rPr>
              <a:t>𝑁</a:t>
            </a:r>
            <a:r>
              <a:rPr sz="2400" spc="-120" baseline="-36458" dirty="0">
                <a:latin typeface="Cambria Math"/>
                <a:cs typeface="Cambria Math"/>
              </a:rPr>
              <a:t> </a:t>
            </a:r>
            <a:r>
              <a:rPr sz="1600" spc="1160" dirty="0">
                <a:latin typeface="Cambria Math"/>
                <a:cs typeface="Cambria Math"/>
              </a:rPr>
              <a:t>8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25" dirty="0">
                <a:latin typeface="Cambria Math"/>
                <a:cs typeface="Cambria Math"/>
              </a:rPr>
              <a:t>(𝑦</a:t>
            </a:r>
            <a:r>
              <a:rPr sz="1600" dirty="0">
                <a:latin typeface="Cambria Math"/>
                <a:cs typeface="Cambria Math"/>
              </a:rPr>
              <a:t>	−</a:t>
            </a:r>
            <a:r>
              <a:rPr sz="1600" spc="-2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𝑡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25" dirty="0">
                <a:latin typeface="Cambria Math"/>
                <a:cs typeface="Cambria Math"/>
              </a:rPr>
              <a:t>)𝑥</a:t>
            </a:r>
            <a:r>
              <a:rPr sz="1800" spc="-37" baseline="-25462" dirty="0">
                <a:latin typeface="Cambria Math"/>
                <a:cs typeface="Cambria Math"/>
              </a:rPr>
              <a:t>j</a:t>
            </a:r>
            <a:endParaRPr sz="1800" baseline="-25462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66580" y="4003878"/>
            <a:ext cx="2057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(𝑖)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384800" y="4246491"/>
            <a:ext cx="241300" cy="13335"/>
          </a:xfrm>
          <a:custGeom>
            <a:avLst/>
            <a:gdLst/>
            <a:ahLst/>
            <a:cxnLst/>
            <a:rect l="l" t="t" r="r" b="b"/>
            <a:pathLst>
              <a:path w="241300" h="13335">
                <a:moveTo>
                  <a:pt x="241300" y="0"/>
                </a:moveTo>
                <a:lnTo>
                  <a:pt x="0" y="0"/>
                </a:lnTo>
                <a:lnTo>
                  <a:pt x="0" y="12714"/>
                </a:lnTo>
                <a:lnTo>
                  <a:pt x="241300" y="12714"/>
                </a:lnTo>
                <a:lnTo>
                  <a:pt x="241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892800" y="4246491"/>
            <a:ext cx="152400" cy="13335"/>
          </a:xfrm>
          <a:custGeom>
            <a:avLst/>
            <a:gdLst/>
            <a:ahLst/>
            <a:cxnLst/>
            <a:rect l="l" t="t" r="r" b="b"/>
            <a:pathLst>
              <a:path w="152400" h="13335">
                <a:moveTo>
                  <a:pt x="152400" y="0"/>
                </a:moveTo>
                <a:lnTo>
                  <a:pt x="0" y="0"/>
                </a:lnTo>
                <a:lnTo>
                  <a:pt x="0" y="12714"/>
                </a:lnTo>
                <a:lnTo>
                  <a:pt x="152400" y="12714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371753" y="3895392"/>
            <a:ext cx="679450" cy="6045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537845" algn="l"/>
              </a:tabLst>
            </a:pPr>
            <a:r>
              <a:rPr sz="1600" spc="-25" dirty="0">
                <a:latin typeface="Cambria Math"/>
                <a:cs typeface="Cambria Math"/>
              </a:rPr>
              <a:t>𝜕𝒥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marL="21590">
              <a:lnSpc>
                <a:spcPct val="100000"/>
              </a:lnSpc>
              <a:spcBef>
                <a:spcPts val="359"/>
              </a:spcBef>
              <a:tabLst>
                <a:tab pos="517525" algn="l"/>
              </a:tabLst>
            </a:pPr>
            <a:r>
              <a:rPr sz="1600" spc="-25" dirty="0">
                <a:latin typeface="Cambria Math"/>
                <a:cs typeface="Cambria Math"/>
              </a:rPr>
              <a:t>𝜕𝑏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𝑁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29010" y="4311726"/>
            <a:ext cx="2774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𝑖=1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29010" y="3939870"/>
            <a:ext cx="1409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𝑁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00763" y="4070934"/>
            <a:ext cx="2057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(𝑖)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70261" y="4093227"/>
            <a:ext cx="15621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4495" algn="l"/>
                <a:tab pos="920115" algn="l"/>
                <a:tab pos="1273175" algn="l"/>
              </a:tabLst>
            </a:pPr>
            <a:r>
              <a:rPr sz="1600" spc="-50" dirty="0">
                <a:latin typeface="Cambria Math"/>
                <a:cs typeface="Cambria Math"/>
              </a:rPr>
              <a:t>=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1170" dirty="0">
                <a:latin typeface="Cambria Math"/>
                <a:cs typeface="Cambria Math"/>
              </a:rPr>
              <a:t>8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𝑦</a:t>
            </a:r>
            <a:r>
              <a:rPr sz="1600" dirty="0">
                <a:latin typeface="Cambria Math"/>
                <a:cs typeface="Cambria Math"/>
              </a:rPr>
              <a:t>	−</a:t>
            </a:r>
            <a:r>
              <a:rPr sz="1600" spc="-2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16994" y="4070934"/>
            <a:ext cx="2057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(𝑖)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355831" y="5335504"/>
            <a:ext cx="317500" cy="13335"/>
          </a:xfrm>
          <a:custGeom>
            <a:avLst/>
            <a:gdLst/>
            <a:ahLst/>
            <a:cxnLst/>
            <a:rect l="l" t="t" r="r" b="b"/>
            <a:pathLst>
              <a:path w="317500" h="13335">
                <a:moveTo>
                  <a:pt x="317500" y="0"/>
                </a:moveTo>
                <a:lnTo>
                  <a:pt x="0" y="0"/>
                </a:lnTo>
                <a:lnTo>
                  <a:pt x="0" y="12714"/>
                </a:lnTo>
                <a:lnTo>
                  <a:pt x="317500" y="12714"/>
                </a:lnTo>
                <a:lnTo>
                  <a:pt x="317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118256" y="5247204"/>
            <a:ext cx="335915" cy="188595"/>
          </a:xfrm>
          <a:custGeom>
            <a:avLst/>
            <a:gdLst/>
            <a:ahLst/>
            <a:cxnLst/>
            <a:rect l="l" t="t" r="r" b="b"/>
            <a:pathLst>
              <a:path w="335914" h="188595">
                <a:moveTo>
                  <a:pt x="275283" y="0"/>
                </a:moveTo>
                <a:lnTo>
                  <a:pt x="272605" y="7649"/>
                </a:lnTo>
                <a:lnTo>
                  <a:pt x="283501" y="12383"/>
                </a:lnTo>
                <a:lnTo>
                  <a:pt x="292871" y="18936"/>
                </a:lnTo>
                <a:lnTo>
                  <a:pt x="315368" y="62544"/>
                </a:lnTo>
                <a:lnTo>
                  <a:pt x="317422" y="76993"/>
                </a:lnTo>
                <a:lnTo>
                  <a:pt x="317452" y="77198"/>
                </a:lnTo>
                <a:lnTo>
                  <a:pt x="315356" y="124988"/>
                </a:lnTo>
                <a:lnTo>
                  <a:pt x="300668" y="160934"/>
                </a:lnTo>
                <a:lnTo>
                  <a:pt x="272902" y="180789"/>
                </a:lnTo>
                <a:lnTo>
                  <a:pt x="275283" y="188438"/>
                </a:lnTo>
                <a:lnTo>
                  <a:pt x="311245" y="167047"/>
                </a:lnTo>
                <a:lnTo>
                  <a:pt x="331442" y="127558"/>
                </a:lnTo>
                <a:lnTo>
                  <a:pt x="335311" y="94268"/>
                </a:lnTo>
                <a:lnTo>
                  <a:pt x="334352" y="77198"/>
                </a:lnTo>
                <a:lnTo>
                  <a:pt x="334341" y="76993"/>
                </a:lnTo>
                <a:lnTo>
                  <a:pt x="319783" y="33028"/>
                </a:lnTo>
                <a:lnTo>
                  <a:pt x="288929" y="4932"/>
                </a:lnTo>
                <a:lnTo>
                  <a:pt x="275283" y="0"/>
                </a:lnTo>
                <a:close/>
              </a:path>
              <a:path w="335914" h="188595">
                <a:moveTo>
                  <a:pt x="60027" y="0"/>
                </a:moveTo>
                <a:lnTo>
                  <a:pt x="24132" y="21446"/>
                </a:lnTo>
                <a:lnTo>
                  <a:pt x="3882" y="61028"/>
                </a:lnTo>
                <a:lnTo>
                  <a:pt x="55" y="93275"/>
                </a:lnTo>
                <a:lnTo>
                  <a:pt x="0" y="94268"/>
                </a:lnTo>
                <a:lnTo>
                  <a:pt x="8706" y="142201"/>
                </a:lnTo>
                <a:lnTo>
                  <a:pt x="34354" y="176381"/>
                </a:lnTo>
                <a:lnTo>
                  <a:pt x="60027" y="188438"/>
                </a:lnTo>
                <a:lnTo>
                  <a:pt x="62409" y="180789"/>
                </a:lnTo>
                <a:lnTo>
                  <a:pt x="51683" y="176033"/>
                </a:lnTo>
                <a:lnTo>
                  <a:pt x="42428" y="169415"/>
                </a:lnTo>
                <a:lnTo>
                  <a:pt x="19955" y="124988"/>
                </a:lnTo>
                <a:lnTo>
                  <a:pt x="17165" y="93275"/>
                </a:lnTo>
                <a:lnTo>
                  <a:pt x="17862" y="77198"/>
                </a:lnTo>
                <a:lnTo>
                  <a:pt x="28327" y="37499"/>
                </a:lnTo>
                <a:lnTo>
                  <a:pt x="62706" y="7649"/>
                </a:lnTo>
                <a:lnTo>
                  <a:pt x="60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527531" y="5335504"/>
            <a:ext cx="241300" cy="13335"/>
          </a:xfrm>
          <a:custGeom>
            <a:avLst/>
            <a:gdLst/>
            <a:ahLst/>
            <a:cxnLst/>
            <a:rect l="l" t="t" r="r" b="b"/>
            <a:pathLst>
              <a:path w="241300" h="13335">
                <a:moveTo>
                  <a:pt x="241300" y="0"/>
                </a:moveTo>
                <a:lnTo>
                  <a:pt x="0" y="0"/>
                </a:lnTo>
                <a:lnTo>
                  <a:pt x="0" y="12714"/>
                </a:lnTo>
                <a:lnTo>
                  <a:pt x="241300" y="12714"/>
                </a:lnTo>
                <a:lnTo>
                  <a:pt x="241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43756" y="4615914"/>
            <a:ext cx="6820534" cy="1428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6545" algn="l"/>
              </a:tabLst>
            </a:pPr>
            <a:r>
              <a:rPr sz="1900" dirty="0">
                <a:latin typeface="Calibri"/>
                <a:cs typeface="Calibri"/>
              </a:rPr>
              <a:t>Minimum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must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occur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point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where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partial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derivatives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zero.</a:t>
            </a:r>
            <a:endParaRPr sz="1900">
              <a:latin typeface="Calibri"/>
              <a:cs typeface="Calibri"/>
            </a:endParaRPr>
          </a:p>
          <a:p>
            <a:pPr marL="2654935">
              <a:lnSpc>
                <a:spcPts val="1490"/>
              </a:lnSpc>
              <a:spcBef>
                <a:spcPts val="2195"/>
              </a:spcBef>
              <a:tabLst>
                <a:tab pos="4785995" algn="l"/>
              </a:tabLst>
            </a:pPr>
            <a:r>
              <a:rPr sz="2400" baseline="41666" dirty="0">
                <a:latin typeface="Cambria Math"/>
                <a:cs typeface="Cambria Math"/>
              </a:rPr>
              <a:t>𝜕𝒥</a:t>
            </a:r>
            <a:r>
              <a:rPr sz="2400" spc="644" baseline="41666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7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0</a:t>
            </a:r>
            <a:r>
              <a:rPr sz="1600" spc="140" dirty="0">
                <a:latin typeface="Cambria Math"/>
                <a:cs typeface="Cambria Math"/>
              </a:rPr>
              <a:t>  </a:t>
            </a:r>
            <a:r>
              <a:rPr sz="1600" spc="65" dirty="0">
                <a:latin typeface="Cambria Math"/>
                <a:cs typeface="Cambria Math"/>
              </a:rPr>
              <a:t>∀:</a:t>
            </a:r>
            <a:r>
              <a:rPr sz="1600" spc="320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,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2400" baseline="41666" dirty="0">
                <a:latin typeface="Cambria Math"/>
                <a:cs typeface="Cambria Math"/>
              </a:rPr>
              <a:t>𝜕𝒥</a:t>
            </a:r>
            <a:r>
              <a:rPr sz="2400" spc="165" baseline="41666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65" dirty="0">
                <a:latin typeface="Cambria Math"/>
                <a:cs typeface="Cambria Math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0.</a:t>
            </a:r>
            <a:endParaRPr sz="1600">
              <a:latin typeface="Cambria Math"/>
              <a:cs typeface="Cambria Math"/>
            </a:endParaRPr>
          </a:p>
          <a:p>
            <a:pPr marL="2614930">
              <a:lnSpc>
                <a:spcPts val="1490"/>
              </a:lnSpc>
              <a:tabLst>
                <a:tab pos="4794885" algn="l"/>
              </a:tabLst>
            </a:pPr>
            <a:r>
              <a:rPr sz="1600" spc="-25" dirty="0">
                <a:latin typeface="Cambria Math"/>
                <a:cs typeface="Cambria Math"/>
              </a:rPr>
              <a:t>𝜕𝑤</a:t>
            </a:r>
            <a:r>
              <a:rPr sz="1800" spc="-37" baseline="-13888" dirty="0">
                <a:latin typeface="Cambria Math"/>
                <a:cs typeface="Cambria Math"/>
              </a:rPr>
              <a:t>j</a:t>
            </a:r>
            <a:r>
              <a:rPr sz="1800" baseline="-13888" dirty="0">
                <a:latin typeface="Cambria Math"/>
                <a:cs typeface="Cambria Math"/>
              </a:rPr>
              <a:t>	</a:t>
            </a:r>
            <a:r>
              <a:rPr sz="1600" spc="-25" dirty="0">
                <a:latin typeface="Cambria Math"/>
                <a:cs typeface="Cambria Math"/>
              </a:rPr>
              <a:t>𝜕𝑏</a:t>
            </a:r>
            <a:endParaRPr sz="1600">
              <a:latin typeface="Cambria Math"/>
              <a:cs typeface="Cambria Math"/>
            </a:endParaRPr>
          </a:p>
          <a:p>
            <a:pPr marL="803910">
              <a:lnSpc>
                <a:spcPct val="100000"/>
              </a:lnSpc>
              <a:spcBef>
                <a:spcPts val="1310"/>
              </a:spcBef>
            </a:pPr>
            <a:r>
              <a:rPr sz="1900" dirty="0">
                <a:latin typeface="Calibri"/>
                <a:cs typeface="Calibri"/>
              </a:rPr>
              <a:t>(If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𝜕𝒥</a:t>
            </a:r>
            <a:r>
              <a:rPr sz="2850" baseline="2923" dirty="0">
                <a:latin typeface="Cambria Math"/>
                <a:cs typeface="Cambria Math"/>
              </a:rPr>
              <a:t>⁄</a:t>
            </a:r>
            <a:r>
              <a:rPr sz="1900" dirty="0">
                <a:latin typeface="Cambria Math"/>
                <a:cs typeface="Cambria Math"/>
              </a:rPr>
              <a:t>𝜕𝑤</a:t>
            </a:r>
            <a:r>
              <a:rPr sz="2100" baseline="-15873" dirty="0">
                <a:latin typeface="Cambria Math"/>
                <a:cs typeface="Cambria Math"/>
              </a:rPr>
              <a:t>j</a:t>
            </a:r>
            <a:r>
              <a:rPr sz="2100" spc="472" baseline="-15873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≠</a:t>
            </a:r>
            <a:r>
              <a:rPr sz="1900" spc="8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0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could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reduce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cost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changing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𝑤</a:t>
            </a:r>
            <a:r>
              <a:rPr sz="2100" spc="44" baseline="-15873" dirty="0">
                <a:latin typeface="Cambria Math"/>
                <a:cs typeface="Cambria Math"/>
              </a:rPr>
              <a:t>j</a:t>
            </a:r>
            <a:r>
              <a:rPr sz="1900" spc="30" dirty="0">
                <a:latin typeface="Calibri"/>
                <a:cs typeface="Calibri"/>
              </a:rPr>
              <a:t>)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2" name="object 4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56759" y="4634975"/>
            <a:ext cx="1254612" cy="348021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8997852" y="4936783"/>
            <a:ext cx="47625" cy="33020"/>
          </a:xfrm>
          <a:custGeom>
            <a:avLst/>
            <a:gdLst/>
            <a:ahLst/>
            <a:cxnLst/>
            <a:rect l="l" t="t" r="r" b="b"/>
            <a:pathLst>
              <a:path w="47625" h="33020">
                <a:moveTo>
                  <a:pt x="41645" y="0"/>
                </a:moveTo>
                <a:lnTo>
                  <a:pt x="786" y="24156"/>
                </a:lnTo>
                <a:lnTo>
                  <a:pt x="0" y="27216"/>
                </a:lnTo>
                <a:lnTo>
                  <a:pt x="2804" y="31958"/>
                </a:lnTo>
                <a:lnTo>
                  <a:pt x="5862" y="32743"/>
                </a:lnTo>
                <a:lnTo>
                  <a:pt x="46722" y="8586"/>
                </a:lnTo>
                <a:lnTo>
                  <a:pt x="47508" y="5528"/>
                </a:lnTo>
                <a:lnTo>
                  <a:pt x="44703" y="786"/>
                </a:lnTo>
                <a:lnTo>
                  <a:pt x="41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23470" y="4626778"/>
            <a:ext cx="1387911" cy="337889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3065617" y="3381397"/>
            <a:ext cx="986790" cy="74930"/>
          </a:xfrm>
          <a:custGeom>
            <a:avLst/>
            <a:gdLst/>
            <a:ahLst/>
            <a:cxnLst/>
            <a:rect l="l" t="t" r="r" b="b"/>
            <a:pathLst>
              <a:path w="986789" h="74929">
                <a:moveTo>
                  <a:pt x="334642" y="58551"/>
                </a:moveTo>
                <a:lnTo>
                  <a:pt x="333854" y="58551"/>
                </a:lnTo>
                <a:lnTo>
                  <a:pt x="205709" y="60710"/>
                </a:lnTo>
                <a:lnTo>
                  <a:pt x="163977" y="61147"/>
                </a:lnTo>
                <a:lnTo>
                  <a:pt x="172027" y="61147"/>
                </a:lnTo>
                <a:lnTo>
                  <a:pt x="174799" y="63985"/>
                </a:lnTo>
                <a:lnTo>
                  <a:pt x="174884" y="71679"/>
                </a:lnTo>
                <a:lnTo>
                  <a:pt x="171790" y="74699"/>
                </a:lnTo>
                <a:lnTo>
                  <a:pt x="179507" y="74699"/>
                </a:lnTo>
                <a:lnTo>
                  <a:pt x="201662" y="74932"/>
                </a:lnTo>
                <a:lnTo>
                  <a:pt x="289420" y="74932"/>
                </a:lnTo>
                <a:lnTo>
                  <a:pt x="306097" y="74699"/>
                </a:lnTo>
                <a:lnTo>
                  <a:pt x="322769" y="74275"/>
                </a:lnTo>
                <a:lnTo>
                  <a:pt x="335125" y="73757"/>
                </a:lnTo>
                <a:lnTo>
                  <a:pt x="331580" y="70405"/>
                </a:lnTo>
                <a:lnTo>
                  <a:pt x="331463" y="66221"/>
                </a:lnTo>
                <a:lnTo>
                  <a:pt x="331345" y="62038"/>
                </a:lnTo>
                <a:lnTo>
                  <a:pt x="334642" y="58551"/>
                </a:lnTo>
                <a:close/>
              </a:path>
              <a:path w="986789" h="74929">
                <a:moveTo>
                  <a:pt x="164428" y="61147"/>
                </a:moveTo>
                <a:lnTo>
                  <a:pt x="0" y="62933"/>
                </a:lnTo>
                <a:lnTo>
                  <a:pt x="40235" y="62933"/>
                </a:lnTo>
                <a:lnTo>
                  <a:pt x="40392" y="63106"/>
                </a:lnTo>
                <a:lnTo>
                  <a:pt x="40509" y="63353"/>
                </a:lnTo>
                <a:lnTo>
                  <a:pt x="40807" y="63551"/>
                </a:lnTo>
                <a:lnTo>
                  <a:pt x="42039" y="64813"/>
                </a:lnTo>
                <a:lnTo>
                  <a:pt x="42101" y="70748"/>
                </a:lnTo>
                <a:lnTo>
                  <a:pt x="40304" y="72504"/>
                </a:lnTo>
                <a:lnTo>
                  <a:pt x="39774" y="73072"/>
                </a:lnTo>
                <a:lnTo>
                  <a:pt x="178343" y="74699"/>
                </a:lnTo>
                <a:lnTo>
                  <a:pt x="164649" y="74699"/>
                </a:lnTo>
                <a:lnTo>
                  <a:pt x="161631" y="71679"/>
                </a:lnTo>
                <a:lnTo>
                  <a:pt x="161509" y="69798"/>
                </a:lnTo>
                <a:lnTo>
                  <a:pt x="161448" y="64198"/>
                </a:lnTo>
                <a:lnTo>
                  <a:pt x="164428" y="61147"/>
                </a:lnTo>
                <a:close/>
              </a:path>
              <a:path w="986789" h="74929">
                <a:moveTo>
                  <a:pt x="172027" y="61147"/>
                </a:moveTo>
                <a:lnTo>
                  <a:pt x="164428" y="61147"/>
                </a:lnTo>
                <a:lnTo>
                  <a:pt x="161448" y="64198"/>
                </a:lnTo>
                <a:lnTo>
                  <a:pt x="161509" y="69798"/>
                </a:lnTo>
                <a:lnTo>
                  <a:pt x="161631" y="71679"/>
                </a:lnTo>
                <a:lnTo>
                  <a:pt x="164649" y="74699"/>
                </a:lnTo>
                <a:lnTo>
                  <a:pt x="171790" y="74699"/>
                </a:lnTo>
                <a:lnTo>
                  <a:pt x="174884" y="71679"/>
                </a:lnTo>
                <a:lnTo>
                  <a:pt x="175008" y="64198"/>
                </a:lnTo>
                <a:lnTo>
                  <a:pt x="172027" y="61147"/>
                </a:lnTo>
                <a:close/>
              </a:path>
              <a:path w="986789" h="74929">
                <a:moveTo>
                  <a:pt x="343191" y="58551"/>
                </a:moveTo>
                <a:lnTo>
                  <a:pt x="334642" y="58551"/>
                </a:lnTo>
                <a:lnTo>
                  <a:pt x="331345" y="62038"/>
                </a:lnTo>
                <a:lnTo>
                  <a:pt x="331463" y="66221"/>
                </a:lnTo>
                <a:lnTo>
                  <a:pt x="331580" y="70405"/>
                </a:lnTo>
                <a:lnTo>
                  <a:pt x="335125" y="73757"/>
                </a:lnTo>
                <a:lnTo>
                  <a:pt x="336302" y="73757"/>
                </a:lnTo>
                <a:lnTo>
                  <a:pt x="343176" y="73361"/>
                </a:lnTo>
                <a:lnTo>
                  <a:pt x="343608" y="73361"/>
                </a:lnTo>
                <a:lnTo>
                  <a:pt x="346821" y="69798"/>
                </a:lnTo>
                <a:lnTo>
                  <a:pt x="346748" y="68377"/>
                </a:lnTo>
                <a:lnTo>
                  <a:pt x="346637" y="66221"/>
                </a:lnTo>
                <a:lnTo>
                  <a:pt x="346514" y="63844"/>
                </a:lnTo>
                <a:lnTo>
                  <a:pt x="346393" y="61507"/>
                </a:lnTo>
                <a:lnTo>
                  <a:pt x="343191" y="58551"/>
                </a:lnTo>
                <a:close/>
              </a:path>
              <a:path w="986789" h="74929">
                <a:moveTo>
                  <a:pt x="343608" y="73361"/>
                </a:moveTo>
                <a:lnTo>
                  <a:pt x="343176" y="73361"/>
                </a:lnTo>
                <a:lnTo>
                  <a:pt x="336302" y="73757"/>
                </a:lnTo>
                <a:lnTo>
                  <a:pt x="335941" y="73757"/>
                </a:lnTo>
                <a:lnTo>
                  <a:pt x="343608" y="73361"/>
                </a:lnTo>
                <a:close/>
              </a:path>
              <a:path w="986789" h="74929">
                <a:moveTo>
                  <a:pt x="499783" y="44820"/>
                </a:moveTo>
                <a:lnTo>
                  <a:pt x="403545" y="54263"/>
                </a:lnTo>
                <a:lnTo>
                  <a:pt x="355025" y="57784"/>
                </a:lnTo>
                <a:lnTo>
                  <a:pt x="335911" y="58551"/>
                </a:lnTo>
                <a:lnTo>
                  <a:pt x="343191" y="58551"/>
                </a:lnTo>
                <a:lnTo>
                  <a:pt x="346393" y="61507"/>
                </a:lnTo>
                <a:lnTo>
                  <a:pt x="346514" y="63844"/>
                </a:lnTo>
                <a:lnTo>
                  <a:pt x="346637" y="66221"/>
                </a:lnTo>
                <a:lnTo>
                  <a:pt x="346748" y="68377"/>
                </a:lnTo>
                <a:lnTo>
                  <a:pt x="346821" y="69798"/>
                </a:lnTo>
                <a:lnTo>
                  <a:pt x="343608" y="73361"/>
                </a:lnTo>
                <a:lnTo>
                  <a:pt x="343176" y="73361"/>
                </a:lnTo>
                <a:lnTo>
                  <a:pt x="358053" y="72504"/>
                </a:lnTo>
                <a:lnTo>
                  <a:pt x="357720" y="72504"/>
                </a:lnTo>
                <a:lnTo>
                  <a:pt x="369950" y="71679"/>
                </a:lnTo>
                <a:lnTo>
                  <a:pt x="370153" y="71679"/>
                </a:lnTo>
                <a:lnTo>
                  <a:pt x="501358" y="60710"/>
                </a:lnTo>
                <a:lnTo>
                  <a:pt x="500931" y="60313"/>
                </a:lnTo>
                <a:lnTo>
                  <a:pt x="497544" y="57538"/>
                </a:lnTo>
                <a:lnTo>
                  <a:pt x="496686" y="49591"/>
                </a:lnTo>
                <a:lnTo>
                  <a:pt x="496599" y="48782"/>
                </a:lnTo>
                <a:lnTo>
                  <a:pt x="499783" y="44820"/>
                </a:lnTo>
                <a:close/>
              </a:path>
              <a:path w="986789" h="74929">
                <a:moveTo>
                  <a:pt x="26143" y="62933"/>
                </a:moveTo>
                <a:lnTo>
                  <a:pt x="24138" y="65009"/>
                </a:lnTo>
                <a:lnTo>
                  <a:pt x="24196" y="68377"/>
                </a:lnTo>
                <a:lnTo>
                  <a:pt x="24314" y="70748"/>
                </a:lnTo>
                <a:lnTo>
                  <a:pt x="26721" y="73072"/>
                </a:lnTo>
                <a:lnTo>
                  <a:pt x="29309" y="73072"/>
                </a:lnTo>
                <a:lnTo>
                  <a:pt x="27226" y="72504"/>
                </a:lnTo>
                <a:lnTo>
                  <a:pt x="26631" y="72188"/>
                </a:lnTo>
                <a:lnTo>
                  <a:pt x="26003" y="71679"/>
                </a:lnTo>
                <a:lnTo>
                  <a:pt x="26393" y="70748"/>
                </a:lnTo>
                <a:lnTo>
                  <a:pt x="29402" y="64198"/>
                </a:lnTo>
                <a:lnTo>
                  <a:pt x="29500" y="63985"/>
                </a:lnTo>
                <a:lnTo>
                  <a:pt x="26143" y="62933"/>
                </a:lnTo>
                <a:close/>
              </a:path>
              <a:path w="986789" h="74929">
                <a:moveTo>
                  <a:pt x="29500" y="63985"/>
                </a:moveTo>
                <a:lnTo>
                  <a:pt x="26393" y="70748"/>
                </a:lnTo>
                <a:lnTo>
                  <a:pt x="26003" y="71679"/>
                </a:lnTo>
                <a:lnTo>
                  <a:pt x="26631" y="72188"/>
                </a:lnTo>
                <a:lnTo>
                  <a:pt x="27226" y="72504"/>
                </a:lnTo>
                <a:lnTo>
                  <a:pt x="29309" y="73072"/>
                </a:lnTo>
                <a:lnTo>
                  <a:pt x="29166" y="73072"/>
                </a:lnTo>
                <a:lnTo>
                  <a:pt x="32707" y="72188"/>
                </a:lnTo>
                <a:lnTo>
                  <a:pt x="33152" y="72188"/>
                </a:lnTo>
                <a:lnTo>
                  <a:pt x="31713" y="70748"/>
                </a:lnTo>
                <a:lnTo>
                  <a:pt x="31725" y="64813"/>
                </a:lnTo>
                <a:lnTo>
                  <a:pt x="32143" y="64813"/>
                </a:lnTo>
                <a:lnTo>
                  <a:pt x="29500" y="63985"/>
                </a:lnTo>
                <a:close/>
              </a:path>
              <a:path w="986789" h="74929">
                <a:moveTo>
                  <a:pt x="40614" y="63353"/>
                </a:moveTo>
                <a:lnTo>
                  <a:pt x="41393" y="66967"/>
                </a:lnTo>
                <a:lnTo>
                  <a:pt x="41597" y="68377"/>
                </a:lnTo>
                <a:lnTo>
                  <a:pt x="40066" y="70748"/>
                </a:lnTo>
                <a:lnTo>
                  <a:pt x="39701" y="70748"/>
                </a:lnTo>
                <a:lnTo>
                  <a:pt x="35380" y="71679"/>
                </a:lnTo>
                <a:lnTo>
                  <a:pt x="32707" y="72188"/>
                </a:lnTo>
                <a:lnTo>
                  <a:pt x="29166" y="73072"/>
                </a:lnTo>
                <a:lnTo>
                  <a:pt x="34036" y="73072"/>
                </a:lnTo>
                <a:lnTo>
                  <a:pt x="33152" y="72188"/>
                </a:lnTo>
                <a:lnTo>
                  <a:pt x="40627" y="72188"/>
                </a:lnTo>
                <a:lnTo>
                  <a:pt x="42101" y="70748"/>
                </a:lnTo>
                <a:lnTo>
                  <a:pt x="42169" y="65009"/>
                </a:lnTo>
                <a:lnTo>
                  <a:pt x="42039" y="64813"/>
                </a:lnTo>
                <a:lnTo>
                  <a:pt x="40614" y="63353"/>
                </a:lnTo>
                <a:close/>
              </a:path>
              <a:path w="986789" h="74929">
                <a:moveTo>
                  <a:pt x="40627" y="72188"/>
                </a:moveTo>
                <a:lnTo>
                  <a:pt x="33152" y="72188"/>
                </a:lnTo>
                <a:lnTo>
                  <a:pt x="34036" y="73072"/>
                </a:lnTo>
                <a:lnTo>
                  <a:pt x="39722" y="73072"/>
                </a:lnTo>
                <a:lnTo>
                  <a:pt x="40627" y="72188"/>
                </a:lnTo>
                <a:close/>
              </a:path>
              <a:path w="986789" h="74929">
                <a:moveTo>
                  <a:pt x="32672" y="63844"/>
                </a:moveTo>
                <a:lnTo>
                  <a:pt x="31725" y="64813"/>
                </a:lnTo>
                <a:lnTo>
                  <a:pt x="31713" y="70748"/>
                </a:lnTo>
                <a:lnTo>
                  <a:pt x="33152" y="72188"/>
                </a:lnTo>
                <a:lnTo>
                  <a:pt x="32707" y="72188"/>
                </a:lnTo>
                <a:lnTo>
                  <a:pt x="35380" y="71679"/>
                </a:lnTo>
                <a:lnTo>
                  <a:pt x="39701" y="70748"/>
                </a:lnTo>
                <a:lnTo>
                  <a:pt x="33470" y="70748"/>
                </a:lnTo>
                <a:lnTo>
                  <a:pt x="35127" y="68377"/>
                </a:lnTo>
                <a:lnTo>
                  <a:pt x="34760" y="66221"/>
                </a:lnTo>
                <a:lnTo>
                  <a:pt x="34650" y="65598"/>
                </a:lnTo>
                <a:lnTo>
                  <a:pt x="32143" y="64813"/>
                </a:lnTo>
                <a:lnTo>
                  <a:pt x="34054" y="64813"/>
                </a:lnTo>
                <a:lnTo>
                  <a:pt x="32672" y="63844"/>
                </a:lnTo>
                <a:close/>
              </a:path>
              <a:path w="986789" h="74929">
                <a:moveTo>
                  <a:pt x="39876" y="62933"/>
                </a:moveTo>
                <a:lnTo>
                  <a:pt x="33564" y="62933"/>
                </a:lnTo>
                <a:lnTo>
                  <a:pt x="32672" y="63844"/>
                </a:lnTo>
                <a:lnTo>
                  <a:pt x="34577" y="65179"/>
                </a:lnTo>
                <a:lnTo>
                  <a:pt x="34650" y="65598"/>
                </a:lnTo>
                <a:lnTo>
                  <a:pt x="36633" y="66221"/>
                </a:lnTo>
                <a:lnTo>
                  <a:pt x="33470" y="70748"/>
                </a:lnTo>
                <a:lnTo>
                  <a:pt x="40066" y="70748"/>
                </a:lnTo>
                <a:lnTo>
                  <a:pt x="41597" y="68377"/>
                </a:lnTo>
                <a:lnTo>
                  <a:pt x="41393" y="66967"/>
                </a:lnTo>
                <a:lnTo>
                  <a:pt x="40796" y="64198"/>
                </a:lnTo>
                <a:lnTo>
                  <a:pt x="40720" y="63844"/>
                </a:lnTo>
                <a:lnTo>
                  <a:pt x="40614" y="63353"/>
                </a:lnTo>
                <a:lnTo>
                  <a:pt x="40137" y="63106"/>
                </a:lnTo>
                <a:lnTo>
                  <a:pt x="39876" y="62933"/>
                </a:lnTo>
                <a:close/>
              </a:path>
              <a:path w="986789" h="74929">
                <a:moveTo>
                  <a:pt x="34650" y="65598"/>
                </a:moveTo>
                <a:lnTo>
                  <a:pt x="35138" y="68377"/>
                </a:lnTo>
                <a:lnTo>
                  <a:pt x="36633" y="66221"/>
                </a:lnTo>
                <a:lnTo>
                  <a:pt x="34650" y="65598"/>
                </a:lnTo>
                <a:close/>
              </a:path>
              <a:path w="986789" h="74929">
                <a:moveTo>
                  <a:pt x="34054" y="64813"/>
                </a:moveTo>
                <a:lnTo>
                  <a:pt x="32143" y="64813"/>
                </a:lnTo>
                <a:lnTo>
                  <a:pt x="34650" y="65598"/>
                </a:lnTo>
                <a:lnTo>
                  <a:pt x="34577" y="65179"/>
                </a:lnTo>
                <a:lnTo>
                  <a:pt x="34054" y="64813"/>
                </a:lnTo>
                <a:close/>
              </a:path>
              <a:path w="986789" h="74929">
                <a:moveTo>
                  <a:pt x="31191" y="62933"/>
                </a:moveTo>
                <a:lnTo>
                  <a:pt x="29983" y="62933"/>
                </a:lnTo>
                <a:lnTo>
                  <a:pt x="29564" y="63844"/>
                </a:lnTo>
                <a:lnTo>
                  <a:pt x="29500" y="63985"/>
                </a:lnTo>
                <a:lnTo>
                  <a:pt x="32143" y="64813"/>
                </a:lnTo>
                <a:lnTo>
                  <a:pt x="31725" y="64813"/>
                </a:lnTo>
                <a:lnTo>
                  <a:pt x="32672" y="63844"/>
                </a:lnTo>
                <a:lnTo>
                  <a:pt x="31619" y="63106"/>
                </a:lnTo>
                <a:lnTo>
                  <a:pt x="31191" y="62933"/>
                </a:lnTo>
                <a:close/>
              </a:path>
              <a:path w="986789" h="74929">
                <a:moveTo>
                  <a:pt x="29983" y="62933"/>
                </a:moveTo>
                <a:lnTo>
                  <a:pt x="26143" y="62933"/>
                </a:lnTo>
                <a:lnTo>
                  <a:pt x="29500" y="63985"/>
                </a:lnTo>
                <a:lnTo>
                  <a:pt x="29699" y="63551"/>
                </a:lnTo>
                <a:lnTo>
                  <a:pt x="29790" y="63353"/>
                </a:lnTo>
                <a:lnTo>
                  <a:pt x="29904" y="63106"/>
                </a:lnTo>
                <a:lnTo>
                  <a:pt x="29983" y="62933"/>
                </a:lnTo>
                <a:close/>
              </a:path>
              <a:path w="986789" h="74929">
                <a:moveTo>
                  <a:pt x="33564" y="62933"/>
                </a:moveTo>
                <a:lnTo>
                  <a:pt x="31191" y="62933"/>
                </a:lnTo>
                <a:lnTo>
                  <a:pt x="31619" y="63106"/>
                </a:lnTo>
                <a:lnTo>
                  <a:pt x="32672" y="63844"/>
                </a:lnTo>
                <a:lnTo>
                  <a:pt x="33564" y="62933"/>
                </a:lnTo>
                <a:close/>
              </a:path>
              <a:path w="986789" h="74929">
                <a:moveTo>
                  <a:pt x="39066" y="62038"/>
                </a:moveTo>
                <a:lnTo>
                  <a:pt x="38528" y="62038"/>
                </a:lnTo>
                <a:lnTo>
                  <a:pt x="40509" y="63353"/>
                </a:lnTo>
                <a:lnTo>
                  <a:pt x="40392" y="63106"/>
                </a:lnTo>
                <a:lnTo>
                  <a:pt x="40235" y="62933"/>
                </a:lnTo>
                <a:lnTo>
                  <a:pt x="26665" y="62933"/>
                </a:lnTo>
                <a:lnTo>
                  <a:pt x="39066" y="62038"/>
                </a:lnTo>
                <a:close/>
              </a:path>
              <a:path w="986789" h="74929">
                <a:moveTo>
                  <a:pt x="508781" y="43977"/>
                </a:moveTo>
                <a:lnTo>
                  <a:pt x="508300" y="43977"/>
                </a:lnTo>
                <a:lnTo>
                  <a:pt x="504318" y="44338"/>
                </a:lnTo>
                <a:lnTo>
                  <a:pt x="499783" y="44820"/>
                </a:lnTo>
                <a:lnTo>
                  <a:pt x="496599" y="48782"/>
                </a:lnTo>
                <a:lnTo>
                  <a:pt x="497335" y="55603"/>
                </a:lnTo>
                <a:lnTo>
                  <a:pt x="497421" y="56401"/>
                </a:lnTo>
                <a:lnTo>
                  <a:pt x="497544" y="57538"/>
                </a:lnTo>
                <a:lnTo>
                  <a:pt x="501415" y="60710"/>
                </a:lnTo>
                <a:lnTo>
                  <a:pt x="510183" y="59914"/>
                </a:lnTo>
                <a:lnTo>
                  <a:pt x="513436" y="56012"/>
                </a:lnTo>
                <a:lnTo>
                  <a:pt x="512635" y="47189"/>
                </a:lnTo>
                <a:lnTo>
                  <a:pt x="508781" y="43977"/>
                </a:lnTo>
                <a:close/>
              </a:path>
              <a:path w="986789" h="74929">
                <a:moveTo>
                  <a:pt x="670257" y="43977"/>
                </a:moveTo>
                <a:lnTo>
                  <a:pt x="508781" y="43977"/>
                </a:lnTo>
                <a:lnTo>
                  <a:pt x="512635" y="47189"/>
                </a:lnTo>
                <a:lnTo>
                  <a:pt x="513278" y="54263"/>
                </a:lnTo>
                <a:lnTo>
                  <a:pt x="513399" y="55603"/>
                </a:lnTo>
                <a:lnTo>
                  <a:pt x="513436" y="56012"/>
                </a:lnTo>
                <a:lnTo>
                  <a:pt x="510185" y="59914"/>
                </a:lnTo>
                <a:lnTo>
                  <a:pt x="635322" y="49198"/>
                </a:lnTo>
                <a:lnTo>
                  <a:pt x="673334" y="46636"/>
                </a:lnTo>
                <a:lnTo>
                  <a:pt x="670257" y="43977"/>
                </a:lnTo>
                <a:close/>
              </a:path>
              <a:path w="986789" h="74929">
                <a:moveTo>
                  <a:pt x="682765" y="26522"/>
                </a:moveTo>
                <a:lnTo>
                  <a:pt x="677275" y="26851"/>
                </a:lnTo>
                <a:lnTo>
                  <a:pt x="671785" y="27357"/>
                </a:lnTo>
                <a:lnTo>
                  <a:pt x="667814" y="32044"/>
                </a:lnTo>
                <a:lnTo>
                  <a:pt x="668481" y="39757"/>
                </a:lnTo>
                <a:lnTo>
                  <a:pt x="668592" y="41042"/>
                </a:lnTo>
                <a:lnTo>
                  <a:pt x="668664" y="41877"/>
                </a:lnTo>
                <a:lnTo>
                  <a:pt x="668851" y="42763"/>
                </a:lnTo>
                <a:lnTo>
                  <a:pt x="673334" y="46636"/>
                </a:lnTo>
                <a:lnTo>
                  <a:pt x="672692" y="46636"/>
                </a:lnTo>
                <a:lnTo>
                  <a:pt x="683929" y="45962"/>
                </a:lnTo>
                <a:lnTo>
                  <a:pt x="687918" y="41465"/>
                </a:lnTo>
                <a:lnTo>
                  <a:pt x="687796" y="37601"/>
                </a:lnTo>
                <a:lnTo>
                  <a:pt x="687678" y="35616"/>
                </a:lnTo>
                <a:lnTo>
                  <a:pt x="687584" y="34057"/>
                </a:lnTo>
                <a:lnTo>
                  <a:pt x="687464" y="32044"/>
                </a:lnTo>
                <a:lnTo>
                  <a:pt x="687378" y="30613"/>
                </a:lnTo>
                <a:lnTo>
                  <a:pt x="682765" y="26522"/>
                </a:lnTo>
                <a:close/>
              </a:path>
              <a:path w="986789" h="74929">
                <a:moveTo>
                  <a:pt x="678560" y="46284"/>
                </a:moveTo>
                <a:lnTo>
                  <a:pt x="672692" y="46636"/>
                </a:lnTo>
                <a:lnTo>
                  <a:pt x="673334" y="46636"/>
                </a:lnTo>
                <a:lnTo>
                  <a:pt x="678560" y="46284"/>
                </a:lnTo>
                <a:close/>
              </a:path>
              <a:path w="986789" h="74929">
                <a:moveTo>
                  <a:pt x="742910" y="26522"/>
                </a:moveTo>
                <a:lnTo>
                  <a:pt x="682765" y="26522"/>
                </a:lnTo>
                <a:lnTo>
                  <a:pt x="687378" y="30613"/>
                </a:lnTo>
                <a:lnTo>
                  <a:pt x="687464" y="32044"/>
                </a:lnTo>
                <a:lnTo>
                  <a:pt x="687584" y="34057"/>
                </a:lnTo>
                <a:lnTo>
                  <a:pt x="687678" y="35616"/>
                </a:lnTo>
                <a:lnTo>
                  <a:pt x="687796" y="37601"/>
                </a:lnTo>
                <a:lnTo>
                  <a:pt x="687918" y="41465"/>
                </a:lnTo>
                <a:lnTo>
                  <a:pt x="683929" y="45962"/>
                </a:lnTo>
                <a:lnTo>
                  <a:pt x="748963" y="41877"/>
                </a:lnTo>
                <a:lnTo>
                  <a:pt x="749194" y="41877"/>
                </a:lnTo>
                <a:lnTo>
                  <a:pt x="744087" y="37601"/>
                </a:lnTo>
                <a:lnTo>
                  <a:pt x="742998" y="27357"/>
                </a:lnTo>
                <a:lnTo>
                  <a:pt x="742910" y="26522"/>
                </a:lnTo>
                <a:close/>
              </a:path>
              <a:path w="986789" h="74929">
                <a:moveTo>
                  <a:pt x="671785" y="27357"/>
                </a:moveTo>
                <a:lnTo>
                  <a:pt x="633864" y="30827"/>
                </a:lnTo>
                <a:lnTo>
                  <a:pt x="504322" y="44338"/>
                </a:lnTo>
                <a:lnTo>
                  <a:pt x="508300" y="43977"/>
                </a:lnTo>
                <a:lnTo>
                  <a:pt x="670257" y="43977"/>
                </a:lnTo>
                <a:lnTo>
                  <a:pt x="668851" y="42763"/>
                </a:lnTo>
                <a:lnTo>
                  <a:pt x="668664" y="41877"/>
                </a:lnTo>
                <a:lnTo>
                  <a:pt x="668143" y="35856"/>
                </a:lnTo>
                <a:lnTo>
                  <a:pt x="668082" y="35149"/>
                </a:lnTo>
                <a:lnTo>
                  <a:pt x="667988" y="34057"/>
                </a:lnTo>
                <a:lnTo>
                  <a:pt x="667878" y="32790"/>
                </a:lnTo>
                <a:lnTo>
                  <a:pt x="667814" y="32044"/>
                </a:lnTo>
                <a:lnTo>
                  <a:pt x="671785" y="27357"/>
                </a:lnTo>
                <a:close/>
              </a:path>
              <a:path w="986789" h="74929">
                <a:moveTo>
                  <a:pt x="832768" y="11466"/>
                </a:moveTo>
                <a:lnTo>
                  <a:pt x="747152" y="20494"/>
                </a:lnTo>
                <a:lnTo>
                  <a:pt x="742836" y="25835"/>
                </a:lnTo>
                <a:lnTo>
                  <a:pt x="744087" y="37601"/>
                </a:lnTo>
                <a:lnTo>
                  <a:pt x="749194" y="41877"/>
                </a:lnTo>
                <a:lnTo>
                  <a:pt x="748963" y="41877"/>
                </a:lnTo>
                <a:lnTo>
                  <a:pt x="755021" y="41465"/>
                </a:lnTo>
                <a:lnTo>
                  <a:pt x="760370" y="41042"/>
                </a:lnTo>
                <a:lnTo>
                  <a:pt x="760996" y="41042"/>
                </a:lnTo>
                <a:lnTo>
                  <a:pt x="765497" y="35856"/>
                </a:lnTo>
                <a:lnTo>
                  <a:pt x="765447" y="35149"/>
                </a:lnTo>
                <a:lnTo>
                  <a:pt x="765325" y="33421"/>
                </a:lnTo>
                <a:lnTo>
                  <a:pt x="765228" y="32044"/>
                </a:lnTo>
                <a:lnTo>
                  <a:pt x="765127" y="30613"/>
                </a:lnTo>
                <a:lnTo>
                  <a:pt x="765050" y="29525"/>
                </a:lnTo>
                <a:lnTo>
                  <a:pt x="764991" y="28690"/>
                </a:lnTo>
                <a:lnTo>
                  <a:pt x="764886" y="27216"/>
                </a:lnTo>
                <a:lnTo>
                  <a:pt x="764789" y="25835"/>
                </a:lnTo>
                <a:lnTo>
                  <a:pt x="764698" y="24545"/>
                </a:lnTo>
                <a:lnTo>
                  <a:pt x="764653" y="23906"/>
                </a:lnTo>
                <a:lnTo>
                  <a:pt x="760104" y="19958"/>
                </a:lnTo>
                <a:lnTo>
                  <a:pt x="751642" y="19958"/>
                </a:lnTo>
                <a:lnTo>
                  <a:pt x="759466" y="19404"/>
                </a:lnTo>
                <a:lnTo>
                  <a:pt x="828487" y="19404"/>
                </a:lnTo>
                <a:lnTo>
                  <a:pt x="828297" y="17597"/>
                </a:lnTo>
                <a:lnTo>
                  <a:pt x="828240" y="17056"/>
                </a:lnTo>
                <a:lnTo>
                  <a:pt x="832768" y="11466"/>
                </a:lnTo>
                <a:close/>
              </a:path>
              <a:path w="986789" h="74929">
                <a:moveTo>
                  <a:pt x="755021" y="41465"/>
                </a:moveTo>
                <a:lnTo>
                  <a:pt x="748963" y="41877"/>
                </a:lnTo>
                <a:lnTo>
                  <a:pt x="749194" y="41877"/>
                </a:lnTo>
                <a:lnTo>
                  <a:pt x="755021" y="41465"/>
                </a:lnTo>
                <a:close/>
              </a:path>
              <a:path w="986789" h="74929">
                <a:moveTo>
                  <a:pt x="760996" y="41042"/>
                </a:moveTo>
                <a:lnTo>
                  <a:pt x="760370" y="41042"/>
                </a:lnTo>
                <a:lnTo>
                  <a:pt x="755021" y="41465"/>
                </a:lnTo>
                <a:lnTo>
                  <a:pt x="760996" y="41042"/>
                </a:lnTo>
                <a:close/>
              </a:path>
              <a:path w="986789" h="74929">
                <a:moveTo>
                  <a:pt x="828487" y="19404"/>
                </a:moveTo>
                <a:lnTo>
                  <a:pt x="759466" y="19404"/>
                </a:lnTo>
                <a:lnTo>
                  <a:pt x="764653" y="23906"/>
                </a:lnTo>
                <a:lnTo>
                  <a:pt x="764698" y="24545"/>
                </a:lnTo>
                <a:lnTo>
                  <a:pt x="764789" y="25835"/>
                </a:lnTo>
                <a:lnTo>
                  <a:pt x="764886" y="27216"/>
                </a:lnTo>
                <a:lnTo>
                  <a:pt x="764991" y="28690"/>
                </a:lnTo>
                <a:lnTo>
                  <a:pt x="765050" y="29525"/>
                </a:lnTo>
                <a:lnTo>
                  <a:pt x="765127" y="30613"/>
                </a:lnTo>
                <a:lnTo>
                  <a:pt x="765228" y="32044"/>
                </a:lnTo>
                <a:lnTo>
                  <a:pt x="765325" y="33421"/>
                </a:lnTo>
                <a:lnTo>
                  <a:pt x="765447" y="35149"/>
                </a:lnTo>
                <a:lnTo>
                  <a:pt x="765497" y="35856"/>
                </a:lnTo>
                <a:lnTo>
                  <a:pt x="760996" y="41042"/>
                </a:lnTo>
                <a:lnTo>
                  <a:pt x="760370" y="41042"/>
                </a:lnTo>
                <a:lnTo>
                  <a:pt x="776625" y="39757"/>
                </a:lnTo>
                <a:lnTo>
                  <a:pt x="835124" y="34057"/>
                </a:lnTo>
                <a:lnTo>
                  <a:pt x="829550" y="29525"/>
                </a:lnTo>
                <a:lnTo>
                  <a:pt x="829322" y="27357"/>
                </a:lnTo>
                <a:lnTo>
                  <a:pt x="829234" y="26522"/>
                </a:lnTo>
                <a:lnTo>
                  <a:pt x="829162" y="25835"/>
                </a:lnTo>
                <a:lnTo>
                  <a:pt x="829098" y="25223"/>
                </a:lnTo>
                <a:lnTo>
                  <a:pt x="829027" y="24545"/>
                </a:lnTo>
                <a:lnTo>
                  <a:pt x="828922" y="23548"/>
                </a:lnTo>
                <a:lnTo>
                  <a:pt x="828832" y="22690"/>
                </a:lnTo>
                <a:lnTo>
                  <a:pt x="828736" y="21781"/>
                </a:lnTo>
                <a:lnTo>
                  <a:pt x="828689" y="21327"/>
                </a:lnTo>
                <a:lnTo>
                  <a:pt x="828601" y="20494"/>
                </a:lnTo>
                <a:lnTo>
                  <a:pt x="828487" y="19404"/>
                </a:lnTo>
                <a:close/>
              </a:path>
              <a:path w="986789" h="74929">
                <a:moveTo>
                  <a:pt x="845304" y="10173"/>
                </a:moveTo>
                <a:lnTo>
                  <a:pt x="832768" y="11466"/>
                </a:lnTo>
                <a:lnTo>
                  <a:pt x="828240" y="17056"/>
                </a:lnTo>
                <a:lnTo>
                  <a:pt x="829462" y="28690"/>
                </a:lnTo>
                <a:lnTo>
                  <a:pt x="829550" y="29525"/>
                </a:lnTo>
                <a:lnTo>
                  <a:pt x="835124" y="34057"/>
                </a:lnTo>
                <a:lnTo>
                  <a:pt x="847579" y="32790"/>
                </a:lnTo>
                <a:lnTo>
                  <a:pt x="852025" y="27357"/>
                </a:lnTo>
                <a:lnTo>
                  <a:pt x="851939" y="25223"/>
                </a:lnTo>
                <a:lnTo>
                  <a:pt x="850878" y="14724"/>
                </a:lnTo>
                <a:lnTo>
                  <a:pt x="845304" y="10173"/>
                </a:lnTo>
                <a:close/>
              </a:path>
              <a:path w="986789" h="74929">
                <a:moveTo>
                  <a:pt x="921864" y="10173"/>
                </a:moveTo>
                <a:lnTo>
                  <a:pt x="845304" y="10173"/>
                </a:lnTo>
                <a:lnTo>
                  <a:pt x="850878" y="14724"/>
                </a:lnTo>
                <a:lnTo>
                  <a:pt x="851351" y="19404"/>
                </a:lnTo>
                <a:lnTo>
                  <a:pt x="851461" y="20494"/>
                </a:lnTo>
                <a:lnTo>
                  <a:pt x="851545" y="21327"/>
                </a:lnTo>
                <a:lnTo>
                  <a:pt x="851591" y="21781"/>
                </a:lnTo>
                <a:lnTo>
                  <a:pt x="851683" y="22690"/>
                </a:lnTo>
                <a:lnTo>
                  <a:pt x="851770" y="23548"/>
                </a:lnTo>
                <a:lnTo>
                  <a:pt x="851870" y="24545"/>
                </a:lnTo>
                <a:lnTo>
                  <a:pt x="851939" y="25223"/>
                </a:lnTo>
                <a:lnTo>
                  <a:pt x="852025" y="27357"/>
                </a:lnTo>
                <a:lnTo>
                  <a:pt x="847589" y="32790"/>
                </a:lnTo>
                <a:lnTo>
                  <a:pt x="928439" y="24545"/>
                </a:lnTo>
                <a:lnTo>
                  <a:pt x="927726" y="23906"/>
                </a:lnTo>
                <a:lnTo>
                  <a:pt x="922872" y="19958"/>
                </a:lnTo>
                <a:lnTo>
                  <a:pt x="921997" y="11466"/>
                </a:lnTo>
                <a:lnTo>
                  <a:pt x="921929" y="10802"/>
                </a:lnTo>
                <a:lnTo>
                  <a:pt x="921864" y="10173"/>
                </a:lnTo>
                <a:close/>
              </a:path>
              <a:path w="986789" h="74929">
                <a:moveTo>
                  <a:pt x="752234" y="19958"/>
                </a:moveTo>
                <a:lnTo>
                  <a:pt x="734134" y="21781"/>
                </a:lnTo>
                <a:lnTo>
                  <a:pt x="677275" y="26851"/>
                </a:lnTo>
                <a:lnTo>
                  <a:pt x="682765" y="26522"/>
                </a:lnTo>
                <a:lnTo>
                  <a:pt x="742910" y="26522"/>
                </a:lnTo>
                <a:lnTo>
                  <a:pt x="742836" y="25835"/>
                </a:lnTo>
                <a:lnTo>
                  <a:pt x="747152" y="20494"/>
                </a:lnTo>
                <a:lnTo>
                  <a:pt x="752234" y="19958"/>
                </a:lnTo>
                <a:close/>
              </a:path>
              <a:path w="986789" h="74929">
                <a:moveTo>
                  <a:pt x="938858" y="471"/>
                </a:moveTo>
                <a:lnTo>
                  <a:pt x="932519" y="1051"/>
                </a:lnTo>
                <a:lnTo>
                  <a:pt x="926150" y="1712"/>
                </a:lnTo>
                <a:lnTo>
                  <a:pt x="921572" y="7342"/>
                </a:lnTo>
                <a:lnTo>
                  <a:pt x="922815" y="19404"/>
                </a:lnTo>
                <a:lnTo>
                  <a:pt x="922872" y="19958"/>
                </a:lnTo>
                <a:lnTo>
                  <a:pt x="928512" y="24545"/>
                </a:lnTo>
                <a:lnTo>
                  <a:pt x="940984" y="23241"/>
                </a:lnTo>
                <a:lnTo>
                  <a:pt x="941137" y="23241"/>
                </a:lnTo>
                <a:lnTo>
                  <a:pt x="945720" y="17597"/>
                </a:lnTo>
                <a:lnTo>
                  <a:pt x="944657" y="7342"/>
                </a:lnTo>
                <a:lnTo>
                  <a:pt x="944535" y="6164"/>
                </a:lnTo>
                <a:lnTo>
                  <a:pt x="944412" y="4985"/>
                </a:lnTo>
                <a:lnTo>
                  <a:pt x="938858" y="471"/>
                </a:lnTo>
                <a:close/>
              </a:path>
              <a:path w="986789" h="74929">
                <a:moveTo>
                  <a:pt x="941137" y="23241"/>
                </a:moveTo>
                <a:lnTo>
                  <a:pt x="940984" y="23241"/>
                </a:lnTo>
                <a:lnTo>
                  <a:pt x="938089" y="23548"/>
                </a:lnTo>
                <a:lnTo>
                  <a:pt x="941137" y="23241"/>
                </a:lnTo>
                <a:close/>
              </a:path>
              <a:path w="986789" h="74929">
                <a:moveTo>
                  <a:pt x="961409" y="0"/>
                </a:moveTo>
                <a:lnTo>
                  <a:pt x="946256" y="0"/>
                </a:lnTo>
                <a:lnTo>
                  <a:pt x="938626" y="471"/>
                </a:lnTo>
                <a:lnTo>
                  <a:pt x="938858" y="471"/>
                </a:lnTo>
                <a:lnTo>
                  <a:pt x="944412" y="4985"/>
                </a:lnTo>
                <a:lnTo>
                  <a:pt x="945625" y="16676"/>
                </a:lnTo>
                <a:lnTo>
                  <a:pt x="945720" y="17597"/>
                </a:lnTo>
                <a:lnTo>
                  <a:pt x="941137" y="23241"/>
                </a:lnTo>
                <a:lnTo>
                  <a:pt x="940984" y="23241"/>
                </a:lnTo>
                <a:lnTo>
                  <a:pt x="946171" y="22690"/>
                </a:lnTo>
                <a:lnTo>
                  <a:pt x="957518" y="21327"/>
                </a:lnTo>
                <a:lnTo>
                  <a:pt x="968819" y="19658"/>
                </a:lnTo>
                <a:lnTo>
                  <a:pt x="979711" y="17597"/>
                </a:lnTo>
                <a:lnTo>
                  <a:pt x="984034" y="16676"/>
                </a:lnTo>
                <a:lnTo>
                  <a:pt x="986584" y="12729"/>
                </a:lnTo>
                <a:lnTo>
                  <a:pt x="985172" y="6164"/>
                </a:lnTo>
                <a:lnTo>
                  <a:pt x="983317" y="4085"/>
                </a:lnTo>
                <a:lnTo>
                  <a:pt x="974327" y="1051"/>
                </a:lnTo>
                <a:lnTo>
                  <a:pt x="974623" y="1051"/>
                </a:lnTo>
                <a:lnTo>
                  <a:pt x="967063" y="236"/>
                </a:lnTo>
                <a:lnTo>
                  <a:pt x="961409" y="0"/>
                </a:lnTo>
                <a:close/>
              </a:path>
              <a:path w="986789" h="74929">
                <a:moveTo>
                  <a:pt x="759466" y="19404"/>
                </a:moveTo>
                <a:lnTo>
                  <a:pt x="751642" y="19958"/>
                </a:lnTo>
                <a:lnTo>
                  <a:pt x="760104" y="19958"/>
                </a:lnTo>
                <a:lnTo>
                  <a:pt x="759466" y="19404"/>
                </a:lnTo>
                <a:close/>
              </a:path>
              <a:path w="986789" h="74929">
                <a:moveTo>
                  <a:pt x="926150" y="1712"/>
                </a:moveTo>
                <a:lnTo>
                  <a:pt x="839074" y="10802"/>
                </a:lnTo>
                <a:lnTo>
                  <a:pt x="845304" y="10173"/>
                </a:lnTo>
                <a:lnTo>
                  <a:pt x="921864" y="10173"/>
                </a:lnTo>
                <a:lnTo>
                  <a:pt x="921572" y="7342"/>
                </a:lnTo>
                <a:lnTo>
                  <a:pt x="926150" y="1712"/>
                </a:lnTo>
                <a:close/>
              </a:path>
              <a:path w="986789" h="74929">
                <a:moveTo>
                  <a:pt x="938858" y="471"/>
                </a:moveTo>
                <a:lnTo>
                  <a:pt x="938112" y="471"/>
                </a:lnTo>
                <a:lnTo>
                  <a:pt x="932519" y="1051"/>
                </a:lnTo>
                <a:lnTo>
                  <a:pt x="938858" y="4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098887" y="2651369"/>
            <a:ext cx="114935" cy="266700"/>
          </a:xfrm>
          <a:custGeom>
            <a:avLst/>
            <a:gdLst/>
            <a:ahLst/>
            <a:cxnLst/>
            <a:rect l="l" t="t" r="r" b="b"/>
            <a:pathLst>
              <a:path w="114935" h="266700">
                <a:moveTo>
                  <a:pt x="39907" y="234753"/>
                </a:moveTo>
                <a:lnTo>
                  <a:pt x="41081" y="235799"/>
                </a:lnTo>
                <a:lnTo>
                  <a:pt x="41426" y="240019"/>
                </a:lnTo>
                <a:lnTo>
                  <a:pt x="41508" y="241025"/>
                </a:lnTo>
                <a:lnTo>
                  <a:pt x="35604" y="248194"/>
                </a:lnTo>
                <a:lnTo>
                  <a:pt x="30219" y="248715"/>
                </a:lnTo>
                <a:lnTo>
                  <a:pt x="30514" y="248960"/>
                </a:lnTo>
                <a:lnTo>
                  <a:pt x="69896" y="260875"/>
                </a:lnTo>
                <a:lnTo>
                  <a:pt x="111857" y="266359"/>
                </a:lnTo>
                <a:lnTo>
                  <a:pt x="114300" y="264356"/>
                </a:lnTo>
                <a:lnTo>
                  <a:pt x="114823" y="259072"/>
                </a:lnTo>
                <a:lnTo>
                  <a:pt x="113155" y="256809"/>
                </a:lnTo>
                <a:lnTo>
                  <a:pt x="113397" y="256809"/>
                </a:lnTo>
                <a:lnTo>
                  <a:pt x="73300" y="247445"/>
                </a:lnTo>
                <a:lnTo>
                  <a:pt x="42689" y="236231"/>
                </a:lnTo>
                <a:lnTo>
                  <a:pt x="39907" y="234753"/>
                </a:lnTo>
                <a:close/>
              </a:path>
              <a:path w="114935" h="266700">
                <a:moveTo>
                  <a:pt x="34048" y="229674"/>
                </a:moveTo>
                <a:lnTo>
                  <a:pt x="28681" y="230056"/>
                </a:lnTo>
                <a:lnTo>
                  <a:pt x="22533" y="237149"/>
                </a:lnTo>
                <a:lnTo>
                  <a:pt x="22738" y="240019"/>
                </a:lnTo>
                <a:lnTo>
                  <a:pt x="22809" y="241025"/>
                </a:lnTo>
                <a:lnTo>
                  <a:pt x="22894" y="242215"/>
                </a:lnTo>
                <a:lnTo>
                  <a:pt x="26625" y="245729"/>
                </a:lnTo>
                <a:lnTo>
                  <a:pt x="30252" y="248715"/>
                </a:lnTo>
                <a:lnTo>
                  <a:pt x="35604" y="248194"/>
                </a:lnTo>
                <a:lnTo>
                  <a:pt x="41508" y="241025"/>
                </a:lnTo>
                <a:lnTo>
                  <a:pt x="41192" y="237149"/>
                </a:lnTo>
                <a:lnTo>
                  <a:pt x="41081" y="235799"/>
                </a:lnTo>
                <a:lnTo>
                  <a:pt x="34517" y="230056"/>
                </a:lnTo>
                <a:lnTo>
                  <a:pt x="34048" y="229674"/>
                </a:lnTo>
                <a:close/>
              </a:path>
              <a:path w="114935" h="266700">
                <a:moveTo>
                  <a:pt x="22894" y="242215"/>
                </a:moveTo>
                <a:lnTo>
                  <a:pt x="22915" y="242516"/>
                </a:lnTo>
                <a:lnTo>
                  <a:pt x="26621" y="245729"/>
                </a:lnTo>
                <a:lnTo>
                  <a:pt x="22894" y="242215"/>
                </a:lnTo>
                <a:close/>
              </a:path>
              <a:path w="114935" h="266700">
                <a:moveTo>
                  <a:pt x="9962" y="224693"/>
                </a:moveTo>
                <a:lnTo>
                  <a:pt x="11277" y="227269"/>
                </a:lnTo>
                <a:lnTo>
                  <a:pt x="15654" y="234014"/>
                </a:lnTo>
                <a:lnTo>
                  <a:pt x="20764" y="240209"/>
                </a:lnTo>
                <a:lnTo>
                  <a:pt x="22894" y="242215"/>
                </a:lnTo>
                <a:lnTo>
                  <a:pt x="22533" y="237149"/>
                </a:lnTo>
                <a:lnTo>
                  <a:pt x="28681" y="230056"/>
                </a:lnTo>
                <a:lnTo>
                  <a:pt x="34048" y="229674"/>
                </a:lnTo>
                <a:lnTo>
                  <a:pt x="31498" y="227415"/>
                </a:lnTo>
                <a:lnTo>
                  <a:pt x="30948" y="226556"/>
                </a:lnTo>
                <a:lnTo>
                  <a:pt x="14884" y="226556"/>
                </a:lnTo>
                <a:lnTo>
                  <a:pt x="9962" y="224693"/>
                </a:lnTo>
                <a:close/>
              </a:path>
              <a:path w="114935" h="266700">
                <a:moveTo>
                  <a:pt x="16755" y="206373"/>
                </a:moveTo>
                <a:lnTo>
                  <a:pt x="7731" y="210197"/>
                </a:lnTo>
                <a:lnTo>
                  <a:pt x="5706" y="215202"/>
                </a:lnTo>
                <a:lnTo>
                  <a:pt x="7545" y="219915"/>
                </a:lnTo>
                <a:lnTo>
                  <a:pt x="7618" y="220101"/>
                </a:lnTo>
                <a:lnTo>
                  <a:pt x="9962" y="224693"/>
                </a:lnTo>
                <a:lnTo>
                  <a:pt x="14884" y="226556"/>
                </a:lnTo>
                <a:lnTo>
                  <a:pt x="23746" y="222561"/>
                </a:lnTo>
                <a:lnTo>
                  <a:pt x="25754" y="217433"/>
                </a:lnTo>
                <a:lnTo>
                  <a:pt x="23875" y="212999"/>
                </a:lnTo>
                <a:lnTo>
                  <a:pt x="23538" y="212079"/>
                </a:lnTo>
                <a:lnTo>
                  <a:pt x="22688" y="210197"/>
                </a:lnTo>
                <a:lnTo>
                  <a:pt x="21962" y="208481"/>
                </a:lnTo>
                <a:lnTo>
                  <a:pt x="16755" y="206373"/>
                </a:lnTo>
                <a:close/>
              </a:path>
              <a:path w="114935" h="266700">
                <a:moveTo>
                  <a:pt x="25754" y="217433"/>
                </a:moveTo>
                <a:lnTo>
                  <a:pt x="23746" y="222561"/>
                </a:lnTo>
                <a:lnTo>
                  <a:pt x="14884" y="226556"/>
                </a:lnTo>
                <a:lnTo>
                  <a:pt x="30948" y="226556"/>
                </a:lnTo>
                <a:lnTo>
                  <a:pt x="27030" y="220446"/>
                </a:lnTo>
                <a:lnTo>
                  <a:pt x="25754" y="217433"/>
                </a:lnTo>
                <a:close/>
              </a:path>
              <a:path w="114935" h="266700">
                <a:moveTo>
                  <a:pt x="7794" y="220446"/>
                </a:moveTo>
                <a:lnTo>
                  <a:pt x="9687" y="224693"/>
                </a:lnTo>
                <a:lnTo>
                  <a:pt x="9962" y="224693"/>
                </a:lnTo>
                <a:lnTo>
                  <a:pt x="7794" y="220446"/>
                </a:lnTo>
                <a:close/>
              </a:path>
              <a:path w="114935" h="266700">
                <a:moveTo>
                  <a:pt x="5706" y="215202"/>
                </a:moveTo>
                <a:lnTo>
                  <a:pt x="5624" y="215404"/>
                </a:lnTo>
                <a:lnTo>
                  <a:pt x="6484" y="217433"/>
                </a:lnTo>
                <a:lnTo>
                  <a:pt x="5785" y="215404"/>
                </a:lnTo>
                <a:lnTo>
                  <a:pt x="5706" y="215202"/>
                </a:lnTo>
                <a:close/>
              </a:path>
              <a:path w="114935" h="266700">
                <a:moveTo>
                  <a:pt x="477" y="191978"/>
                </a:moveTo>
                <a:lnTo>
                  <a:pt x="741" y="195413"/>
                </a:lnTo>
                <a:lnTo>
                  <a:pt x="2192" y="203796"/>
                </a:lnTo>
                <a:lnTo>
                  <a:pt x="4488" y="212079"/>
                </a:lnTo>
                <a:lnTo>
                  <a:pt x="5706" y="215202"/>
                </a:lnTo>
                <a:lnTo>
                  <a:pt x="7731" y="210197"/>
                </a:lnTo>
                <a:lnTo>
                  <a:pt x="16755" y="206373"/>
                </a:lnTo>
                <a:lnTo>
                  <a:pt x="21461" y="206373"/>
                </a:lnTo>
                <a:lnTo>
                  <a:pt x="19770" y="199897"/>
                </a:lnTo>
                <a:lnTo>
                  <a:pt x="19079" y="195675"/>
                </a:lnTo>
                <a:lnTo>
                  <a:pt x="4373" y="195675"/>
                </a:lnTo>
                <a:lnTo>
                  <a:pt x="477" y="191978"/>
                </a:lnTo>
                <a:close/>
              </a:path>
              <a:path w="114935" h="266700">
                <a:moveTo>
                  <a:pt x="21461" y="206373"/>
                </a:moveTo>
                <a:lnTo>
                  <a:pt x="16755" y="206373"/>
                </a:lnTo>
                <a:lnTo>
                  <a:pt x="21962" y="208481"/>
                </a:lnTo>
                <a:lnTo>
                  <a:pt x="23486" y="212079"/>
                </a:lnTo>
                <a:lnTo>
                  <a:pt x="22847" y="210197"/>
                </a:lnTo>
                <a:lnTo>
                  <a:pt x="21504" y="206538"/>
                </a:lnTo>
                <a:lnTo>
                  <a:pt x="21461" y="206373"/>
                </a:lnTo>
                <a:close/>
              </a:path>
              <a:path w="114935" h="266700">
                <a:moveTo>
                  <a:pt x="13888" y="177327"/>
                </a:moveTo>
                <a:lnTo>
                  <a:pt x="3898" y="177589"/>
                </a:lnTo>
                <a:lnTo>
                  <a:pt x="314" y="181367"/>
                </a:lnTo>
                <a:lnTo>
                  <a:pt x="10" y="181744"/>
                </a:lnTo>
                <a:lnTo>
                  <a:pt x="87" y="186738"/>
                </a:lnTo>
                <a:lnTo>
                  <a:pt x="423" y="191258"/>
                </a:lnTo>
                <a:lnTo>
                  <a:pt x="477" y="191978"/>
                </a:lnTo>
                <a:lnTo>
                  <a:pt x="4373" y="195675"/>
                </a:lnTo>
                <a:lnTo>
                  <a:pt x="14362" y="195413"/>
                </a:lnTo>
                <a:lnTo>
                  <a:pt x="18305" y="191258"/>
                </a:lnTo>
                <a:lnTo>
                  <a:pt x="18186" y="186738"/>
                </a:lnTo>
                <a:lnTo>
                  <a:pt x="18145" y="181367"/>
                </a:lnTo>
                <a:lnTo>
                  <a:pt x="14885" y="178251"/>
                </a:lnTo>
                <a:lnTo>
                  <a:pt x="13888" y="177327"/>
                </a:lnTo>
                <a:close/>
              </a:path>
              <a:path w="114935" h="266700">
                <a:moveTo>
                  <a:pt x="18208" y="186738"/>
                </a:moveTo>
                <a:lnTo>
                  <a:pt x="18305" y="191258"/>
                </a:lnTo>
                <a:lnTo>
                  <a:pt x="14362" y="195413"/>
                </a:lnTo>
                <a:lnTo>
                  <a:pt x="4373" y="195675"/>
                </a:lnTo>
                <a:lnTo>
                  <a:pt x="19079" y="195675"/>
                </a:lnTo>
                <a:lnTo>
                  <a:pt x="18662" y="193122"/>
                </a:lnTo>
                <a:lnTo>
                  <a:pt x="18208" y="186738"/>
                </a:lnTo>
                <a:close/>
              </a:path>
              <a:path w="114935" h="266700">
                <a:moveTo>
                  <a:pt x="87" y="186738"/>
                </a:moveTo>
                <a:lnTo>
                  <a:pt x="206" y="191258"/>
                </a:lnTo>
                <a:lnTo>
                  <a:pt x="218" y="191733"/>
                </a:lnTo>
                <a:lnTo>
                  <a:pt x="477" y="191978"/>
                </a:lnTo>
                <a:lnTo>
                  <a:pt x="87" y="186738"/>
                </a:lnTo>
                <a:close/>
              </a:path>
              <a:path w="114935" h="266700">
                <a:moveTo>
                  <a:pt x="354" y="157819"/>
                </a:moveTo>
                <a:lnTo>
                  <a:pt x="317" y="158695"/>
                </a:lnTo>
                <a:lnTo>
                  <a:pt x="207" y="161277"/>
                </a:lnTo>
                <a:lnTo>
                  <a:pt x="0" y="169763"/>
                </a:lnTo>
                <a:lnTo>
                  <a:pt x="10" y="181744"/>
                </a:lnTo>
                <a:lnTo>
                  <a:pt x="314" y="181367"/>
                </a:lnTo>
                <a:lnTo>
                  <a:pt x="3898" y="177589"/>
                </a:lnTo>
                <a:lnTo>
                  <a:pt x="13888" y="177327"/>
                </a:lnTo>
                <a:lnTo>
                  <a:pt x="18122" y="177327"/>
                </a:lnTo>
                <a:lnTo>
                  <a:pt x="18085" y="169763"/>
                </a:lnTo>
                <a:lnTo>
                  <a:pt x="18251" y="162524"/>
                </a:lnTo>
                <a:lnTo>
                  <a:pt x="14098" y="162524"/>
                </a:lnTo>
                <a:lnTo>
                  <a:pt x="4142" y="162016"/>
                </a:lnTo>
                <a:lnTo>
                  <a:pt x="354" y="157819"/>
                </a:lnTo>
                <a:close/>
              </a:path>
              <a:path w="114935" h="266700">
                <a:moveTo>
                  <a:pt x="18122" y="177327"/>
                </a:moveTo>
                <a:lnTo>
                  <a:pt x="13888" y="177327"/>
                </a:lnTo>
                <a:lnTo>
                  <a:pt x="18250" y="181367"/>
                </a:lnTo>
                <a:lnTo>
                  <a:pt x="18123" y="177589"/>
                </a:lnTo>
                <a:lnTo>
                  <a:pt x="18122" y="177327"/>
                </a:lnTo>
                <a:close/>
              </a:path>
              <a:path w="114935" h="266700">
                <a:moveTo>
                  <a:pt x="5049" y="144001"/>
                </a:moveTo>
                <a:lnTo>
                  <a:pt x="354" y="157819"/>
                </a:lnTo>
                <a:lnTo>
                  <a:pt x="4142" y="162016"/>
                </a:lnTo>
                <a:lnTo>
                  <a:pt x="14098" y="162524"/>
                </a:lnTo>
                <a:lnTo>
                  <a:pt x="18340" y="158695"/>
                </a:lnTo>
                <a:lnTo>
                  <a:pt x="18594" y="153718"/>
                </a:lnTo>
                <a:lnTo>
                  <a:pt x="18924" y="148813"/>
                </a:lnTo>
                <a:lnTo>
                  <a:pt x="18099" y="147828"/>
                </a:lnTo>
                <a:lnTo>
                  <a:pt x="14997" y="144485"/>
                </a:lnTo>
                <a:lnTo>
                  <a:pt x="5049" y="144001"/>
                </a:lnTo>
                <a:close/>
              </a:path>
              <a:path w="114935" h="266700">
                <a:moveTo>
                  <a:pt x="18393" y="158695"/>
                </a:moveTo>
                <a:lnTo>
                  <a:pt x="14098" y="162524"/>
                </a:lnTo>
                <a:lnTo>
                  <a:pt x="18251" y="162524"/>
                </a:lnTo>
                <a:lnTo>
                  <a:pt x="18289" y="161277"/>
                </a:lnTo>
                <a:lnTo>
                  <a:pt x="18393" y="158695"/>
                </a:lnTo>
                <a:close/>
              </a:path>
              <a:path w="114935" h="266700">
                <a:moveTo>
                  <a:pt x="19281" y="144001"/>
                </a:moveTo>
                <a:lnTo>
                  <a:pt x="5049" y="144001"/>
                </a:lnTo>
                <a:lnTo>
                  <a:pt x="14997" y="144485"/>
                </a:lnTo>
                <a:lnTo>
                  <a:pt x="19013" y="148813"/>
                </a:lnTo>
                <a:lnTo>
                  <a:pt x="18990" y="147828"/>
                </a:lnTo>
                <a:lnTo>
                  <a:pt x="19185" y="144937"/>
                </a:lnTo>
                <a:lnTo>
                  <a:pt x="19281" y="144001"/>
                </a:lnTo>
                <a:close/>
              </a:path>
              <a:path w="114935" h="266700">
                <a:moveTo>
                  <a:pt x="4524" y="120353"/>
                </a:moveTo>
                <a:lnTo>
                  <a:pt x="3703" y="124736"/>
                </a:lnTo>
                <a:lnTo>
                  <a:pt x="2297" y="134047"/>
                </a:lnTo>
                <a:lnTo>
                  <a:pt x="1244" y="143404"/>
                </a:lnTo>
                <a:lnTo>
                  <a:pt x="925" y="147828"/>
                </a:lnTo>
                <a:lnTo>
                  <a:pt x="4015" y="144937"/>
                </a:lnTo>
                <a:lnTo>
                  <a:pt x="5049" y="144001"/>
                </a:lnTo>
                <a:lnTo>
                  <a:pt x="19281" y="144001"/>
                </a:lnTo>
                <a:lnTo>
                  <a:pt x="20088" y="136207"/>
                </a:lnTo>
                <a:lnTo>
                  <a:pt x="21284" y="127510"/>
                </a:lnTo>
                <a:lnTo>
                  <a:pt x="21393" y="126871"/>
                </a:lnTo>
                <a:lnTo>
                  <a:pt x="17081" y="126871"/>
                </a:lnTo>
                <a:lnTo>
                  <a:pt x="7536" y="124915"/>
                </a:lnTo>
                <a:lnTo>
                  <a:pt x="4524" y="120353"/>
                </a:lnTo>
                <a:close/>
              </a:path>
              <a:path w="114935" h="266700">
                <a:moveTo>
                  <a:pt x="10958" y="107702"/>
                </a:moveTo>
                <a:lnTo>
                  <a:pt x="7162" y="110259"/>
                </a:lnTo>
                <a:lnTo>
                  <a:pt x="6445" y="110771"/>
                </a:lnTo>
                <a:lnTo>
                  <a:pt x="5438" y="115481"/>
                </a:lnTo>
                <a:lnTo>
                  <a:pt x="4524" y="120353"/>
                </a:lnTo>
                <a:lnTo>
                  <a:pt x="7417" y="124736"/>
                </a:lnTo>
                <a:lnTo>
                  <a:pt x="7536" y="124915"/>
                </a:lnTo>
                <a:lnTo>
                  <a:pt x="17081" y="126871"/>
                </a:lnTo>
                <a:lnTo>
                  <a:pt x="21743" y="123795"/>
                </a:lnTo>
                <a:lnTo>
                  <a:pt x="22721" y="119023"/>
                </a:lnTo>
                <a:lnTo>
                  <a:pt x="23405" y="115481"/>
                </a:lnTo>
                <a:lnTo>
                  <a:pt x="23631" y="114111"/>
                </a:lnTo>
                <a:lnTo>
                  <a:pt x="20474" y="109463"/>
                </a:lnTo>
                <a:lnTo>
                  <a:pt x="10958" y="107702"/>
                </a:lnTo>
                <a:close/>
              </a:path>
              <a:path w="114935" h="266700">
                <a:moveTo>
                  <a:pt x="22499" y="120353"/>
                </a:moveTo>
                <a:lnTo>
                  <a:pt x="21743" y="123795"/>
                </a:lnTo>
                <a:lnTo>
                  <a:pt x="17081" y="126871"/>
                </a:lnTo>
                <a:lnTo>
                  <a:pt x="21393" y="126871"/>
                </a:lnTo>
                <a:lnTo>
                  <a:pt x="22499" y="120353"/>
                </a:lnTo>
                <a:close/>
              </a:path>
              <a:path w="114935" h="266700">
                <a:moveTo>
                  <a:pt x="24955" y="107702"/>
                </a:moveTo>
                <a:lnTo>
                  <a:pt x="10958" y="107702"/>
                </a:lnTo>
                <a:lnTo>
                  <a:pt x="20474" y="109463"/>
                </a:lnTo>
                <a:lnTo>
                  <a:pt x="23670" y="114111"/>
                </a:lnTo>
                <a:lnTo>
                  <a:pt x="24316" y="110771"/>
                </a:lnTo>
                <a:lnTo>
                  <a:pt x="24955" y="107702"/>
                </a:lnTo>
                <a:close/>
              </a:path>
              <a:path w="114935" h="266700">
                <a:moveTo>
                  <a:pt x="12877" y="84740"/>
                </a:moveTo>
                <a:lnTo>
                  <a:pt x="6445" y="110771"/>
                </a:lnTo>
                <a:lnTo>
                  <a:pt x="7162" y="110259"/>
                </a:lnTo>
                <a:lnTo>
                  <a:pt x="10958" y="107702"/>
                </a:lnTo>
                <a:lnTo>
                  <a:pt x="24955" y="107702"/>
                </a:lnTo>
                <a:lnTo>
                  <a:pt x="26224" y="101691"/>
                </a:lnTo>
                <a:lnTo>
                  <a:pt x="28195" y="93159"/>
                </a:lnTo>
                <a:lnTo>
                  <a:pt x="28512" y="91906"/>
                </a:lnTo>
                <a:lnTo>
                  <a:pt x="24298" y="91906"/>
                </a:lnTo>
                <a:lnTo>
                  <a:pt x="15550" y="89345"/>
                </a:lnTo>
                <a:lnTo>
                  <a:pt x="15397" y="89345"/>
                </a:lnTo>
                <a:lnTo>
                  <a:pt x="12953" y="84880"/>
                </a:lnTo>
                <a:lnTo>
                  <a:pt x="12877" y="84740"/>
                </a:lnTo>
                <a:close/>
              </a:path>
              <a:path w="114935" h="266700">
                <a:moveTo>
                  <a:pt x="19940" y="73202"/>
                </a:moveTo>
                <a:lnTo>
                  <a:pt x="15397" y="75765"/>
                </a:lnTo>
                <a:lnTo>
                  <a:pt x="14089" y="80237"/>
                </a:lnTo>
                <a:lnTo>
                  <a:pt x="12877" y="84740"/>
                </a:lnTo>
                <a:lnTo>
                  <a:pt x="15397" y="89345"/>
                </a:lnTo>
                <a:lnTo>
                  <a:pt x="15550" y="89345"/>
                </a:lnTo>
                <a:lnTo>
                  <a:pt x="24298" y="91906"/>
                </a:lnTo>
                <a:lnTo>
                  <a:pt x="28977" y="89345"/>
                </a:lnTo>
                <a:lnTo>
                  <a:pt x="30284" y="84880"/>
                </a:lnTo>
                <a:lnTo>
                  <a:pt x="31570" y="80237"/>
                </a:lnTo>
                <a:lnTo>
                  <a:pt x="28971" y="75765"/>
                </a:lnTo>
                <a:lnTo>
                  <a:pt x="28853" y="75562"/>
                </a:lnTo>
                <a:lnTo>
                  <a:pt x="19940" y="73202"/>
                </a:lnTo>
                <a:close/>
              </a:path>
              <a:path w="114935" h="266700">
                <a:moveTo>
                  <a:pt x="30289" y="84880"/>
                </a:moveTo>
                <a:lnTo>
                  <a:pt x="28977" y="89345"/>
                </a:lnTo>
                <a:lnTo>
                  <a:pt x="24298" y="91906"/>
                </a:lnTo>
                <a:lnTo>
                  <a:pt x="28512" y="91906"/>
                </a:lnTo>
                <a:lnTo>
                  <a:pt x="30289" y="84880"/>
                </a:lnTo>
                <a:close/>
              </a:path>
              <a:path w="114935" h="266700">
                <a:moveTo>
                  <a:pt x="33546" y="73202"/>
                </a:moveTo>
                <a:lnTo>
                  <a:pt x="19940" y="73202"/>
                </a:lnTo>
                <a:lnTo>
                  <a:pt x="28853" y="75562"/>
                </a:lnTo>
                <a:lnTo>
                  <a:pt x="31570" y="80237"/>
                </a:lnTo>
                <a:lnTo>
                  <a:pt x="33162" y="74490"/>
                </a:lnTo>
                <a:lnTo>
                  <a:pt x="33546" y="73202"/>
                </a:lnTo>
                <a:close/>
              </a:path>
              <a:path w="114935" h="266700">
                <a:moveTo>
                  <a:pt x="26684" y="43148"/>
                </a:moveTo>
                <a:lnTo>
                  <a:pt x="24391" y="49312"/>
                </a:lnTo>
                <a:lnTo>
                  <a:pt x="20753" y="59521"/>
                </a:lnTo>
                <a:lnTo>
                  <a:pt x="17306" y="69795"/>
                </a:lnTo>
                <a:lnTo>
                  <a:pt x="15528" y="75562"/>
                </a:lnTo>
                <a:lnTo>
                  <a:pt x="15466" y="75765"/>
                </a:lnTo>
                <a:lnTo>
                  <a:pt x="15757" y="75562"/>
                </a:lnTo>
                <a:lnTo>
                  <a:pt x="19940" y="73202"/>
                </a:lnTo>
                <a:lnTo>
                  <a:pt x="33546" y="73202"/>
                </a:lnTo>
                <a:lnTo>
                  <a:pt x="36180" y="64365"/>
                </a:lnTo>
                <a:lnTo>
                  <a:pt x="39345" y="54284"/>
                </a:lnTo>
                <a:lnTo>
                  <a:pt x="40575" y="50507"/>
                </a:lnTo>
                <a:lnTo>
                  <a:pt x="36596" y="50507"/>
                </a:lnTo>
                <a:lnTo>
                  <a:pt x="28674" y="47532"/>
                </a:lnTo>
                <a:lnTo>
                  <a:pt x="26684" y="43148"/>
                </a:lnTo>
                <a:close/>
              </a:path>
              <a:path w="114935" h="266700">
                <a:moveTo>
                  <a:pt x="33817" y="33286"/>
                </a:moveTo>
                <a:lnTo>
                  <a:pt x="29599" y="35309"/>
                </a:lnTo>
                <a:lnTo>
                  <a:pt x="26684" y="43148"/>
                </a:lnTo>
                <a:lnTo>
                  <a:pt x="28674" y="47532"/>
                </a:lnTo>
                <a:lnTo>
                  <a:pt x="36596" y="50507"/>
                </a:lnTo>
                <a:lnTo>
                  <a:pt x="41013" y="48502"/>
                </a:lnTo>
                <a:lnTo>
                  <a:pt x="42499" y="44546"/>
                </a:lnTo>
                <a:lnTo>
                  <a:pt x="43928" y="40217"/>
                </a:lnTo>
                <a:lnTo>
                  <a:pt x="41739" y="35888"/>
                </a:lnTo>
                <a:lnTo>
                  <a:pt x="33817" y="33286"/>
                </a:lnTo>
                <a:close/>
              </a:path>
              <a:path w="114935" h="266700">
                <a:moveTo>
                  <a:pt x="42517" y="44546"/>
                </a:moveTo>
                <a:lnTo>
                  <a:pt x="41013" y="48502"/>
                </a:lnTo>
                <a:lnTo>
                  <a:pt x="36596" y="50507"/>
                </a:lnTo>
                <a:lnTo>
                  <a:pt x="40575" y="50507"/>
                </a:lnTo>
                <a:lnTo>
                  <a:pt x="42517" y="44546"/>
                </a:lnTo>
                <a:close/>
              </a:path>
              <a:path w="114935" h="266700">
                <a:moveTo>
                  <a:pt x="46232" y="33286"/>
                </a:moveTo>
                <a:lnTo>
                  <a:pt x="33817" y="33286"/>
                </a:lnTo>
                <a:lnTo>
                  <a:pt x="41739" y="35888"/>
                </a:lnTo>
                <a:lnTo>
                  <a:pt x="43928" y="40217"/>
                </a:lnTo>
                <a:lnTo>
                  <a:pt x="46232" y="33286"/>
                </a:lnTo>
                <a:close/>
              </a:path>
              <a:path w="114935" h="266700">
                <a:moveTo>
                  <a:pt x="41172" y="10114"/>
                </a:moveTo>
                <a:lnTo>
                  <a:pt x="40438" y="10817"/>
                </a:lnTo>
                <a:lnTo>
                  <a:pt x="33341" y="25636"/>
                </a:lnTo>
                <a:lnTo>
                  <a:pt x="30697" y="32390"/>
                </a:lnTo>
                <a:lnTo>
                  <a:pt x="29600" y="35309"/>
                </a:lnTo>
                <a:lnTo>
                  <a:pt x="33817" y="33286"/>
                </a:lnTo>
                <a:lnTo>
                  <a:pt x="46232" y="33286"/>
                </a:lnTo>
                <a:lnTo>
                  <a:pt x="46963" y="31106"/>
                </a:lnTo>
                <a:lnTo>
                  <a:pt x="50551" y="21531"/>
                </a:lnTo>
                <a:lnTo>
                  <a:pt x="51364" y="19105"/>
                </a:lnTo>
                <a:lnTo>
                  <a:pt x="45925" y="19105"/>
                </a:lnTo>
                <a:lnTo>
                  <a:pt x="41087" y="14055"/>
                </a:lnTo>
                <a:lnTo>
                  <a:pt x="41172" y="10114"/>
                </a:lnTo>
                <a:close/>
              </a:path>
              <a:path w="114935" h="266700">
                <a:moveTo>
                  <a:pt x="47284" y="5620"/>
                </a:moveTo>
                <a:lnTo>
                  <a:pt x="45656" y="5819"/>
                </a:lnTo>
                <a:lnTo>
                  <a:pt x="41172" y="10114"/>
                </a:lnTo>
                <a:lnTo>
                  <a:pt x="41087" y="14055"/>
                </a:lnTo>
                <a:lnTo>
                  <a:pt x="45925" y="19105"/>
                </a:lnTo>
                <a:lnTo>
                  <a:pt x="49784" y="19105"/>
                </a:lnTo>
                <a:lnTo>
                  <a:pt x="51239" y="17711"/>
                </a:lnTo>
                <a:lnTo>
                  <a:pt x="50038" y="16368"/>
                </a:lnTo>
                <a:lnTo>
                  <a:pt x="49368" y="15689"/>
                </a:lnTo>
                <a:lnTo>
                  <a:pt x="49314" y="9498"/>
                </a:lnTo>
                <a:lnTo>
                  <a:pt x="47363" y="7523"/>
                </a:lnTo>
                <a:lnTo>
                  <a:pt x="47284" y="5620"/>
                </a:lnTo>
                <a:close/>
              </a:path>
              <a:path w="114935" h="266700">
                <a:moveTo>
                  <a:pt x="52752" y="16368"/>
                </a:moveTo>
                <a:lnTo>
                  <a:pt x="51239" y="17711"/>
                </a:lnTo>
                <a:lnTo>
                  <a:pt x="49784" y="19105"/>
                </a:lnTo>
                <a:lnTo>
                  <a:pt x="51364" y="19105"/>
                </a:lnTo>
                <a:lnTo>
                  <a:pt x="51652" y="18247"/>
                </a:lnTo>
                <a:lnTo>
                  <a:pt x="52752" y="16368"/>
                </a:lnTo>
                <a:close/>
              </a:path>
              <a:path w="114935" h="266700">
                <a:moveTo>
                  <a:pt x="55667" y="0"/>
                </a:moveTo>
                <a:lnTo>
                  <a:pt x="51550" y="0"/>
                </a:lnTo>
                <a:lnTo>
                  <a:pt x="50917" y="656"/>
                </a:lnTo>
                <a:lnTo>
                  <a:pt x="47227" y="4234"/>
                </a:lnTo>
                <a:lnTo>
                  <a:pt x="47284" y="5620"/>
                </a:lnTo>
                <a:lnTo>
                  <a:pt x="47363" y="7523"/>
                </a:lnTo>
                <a:lnTo>
                  <a:pt x="49314" y="9498"/>
                </a:lnTo>
                <a:lnTo>
                  <a:pt x="49368" y="15689"/>
                </a:lnTo>
                <a:lnTo>
                  <a:pt x="51360" y="17711"/>
                </a:lnTo>
                <a:lnTo>
                  <a:pt x="52641" y="16368"/>
                </a:lnTo>
                <a:lnTo>
                  <a:pt x="52895" y="16125"/>
                </a:lnTo>
                <a:lnTo>
                  <a:pt x="55070" y="12411"/>
                </a:lnTo>
                <a:lnTo>
                  <a:pt x="54074" y="8597"/>
                </a:lnTo>
                <a:lnTo>
                  <a:pt x="48992" y="5620"/>
                </a:lnTo>
                <a:lnTo>
                  <a:pt x="58675" y="5620"/>
                </a:lnTo>
                <a:lnTo>
                  <a:pt x="58163" y="3660"/>
                </a:lnTo>
                <a:lnTo>
                  <a:pt x="57458" y="2626"/>
                </a:lnTo>
                <a:lnTo>
                  <a:pt x="54093" y="656"/>
                </a:lnTo>
                <a:lnTo>
                  <a:pt x="50067" y="656"/>
                </a:lnTo>
                <a:lnTo>
                  <a:pt x="53563" y="345"/>
                </a:lnTo>
                <a:lnTo>
                  <a:pt x="55903" y="345"/>
                </a:lnTo>
                <a:lnTo>
                  <a:pt x="55667" y="0"/>
                </a:lnTo>
                <a:close/>
              </a:path>
              <a:path w="114935" h="266700">
                <a:moveTo>
                  <a:pt x="58673" y="6260"/>
                </a:moveTo>
                <a:lnTo>
                  <a:pt x="51966" y="17711"/>
                </a:lnTo>
                <a:lnTo>
                  <a:pt x="56010" y="17711"/>
                </a:lnTo>
                <a:lnTo>
                  <a:pt x="57801" y="16125"/>
                </a:lnTo>
                <a:lnTo>
                  <a:pt x="57930" y="15875"/>
                </a:lnTo>
                <a:lnTo>
                  <a:pt x="58325" y="12411"/>
                </a:lnTo>
                <a:lnTo>
                  <a:pt x="58432" y="11473"/>
                </a:lnTo>
                <a:lnTo>
                  <a:pt x="58514" y="10817"/>
                </a:lnTo>
                <a:lnTo>
                  <a:pt x="58601" y="10114"/>
                </a:lnTo>
                <a:lnTo>
                  <a:pt x="58673" y="6260"/>
                </a:lnTo>
                <a:close/>
              </a:path>
              <a:path w="114935" h="266700">
                <a:moveTo>
                  <a:pt x="58662" y="5620"/>
                </a:moveTo>
                <a:lnTo>
                  <a:pt x="48992" y="5620"/>
                </a:lnTo>
                <a:lnTo>
                  <a:pt x="54074" y="8597"/>
                </a:lnTo>
                <a:lnTo>
                  <a:pt x="55071" y="12411"/>
                </a:lnTo>
                <a:lnTo>
                  <a:pt x="58673" y="6260"/>
                </a:lnTo>
                <a:lnTo>
                  <a:pt x="58662" y="5620"/>
                </a:lnTo>
                <a:close/>
              </a:path>
              <a:path w="114935" h="266700">
                <a:moveTo>
                  <a:pt x="47227" y="4234"/>
                </a:moveTo>
                <a:lnTo>
                  <a:pt x="45594" y="5819"/>
                </a:lnTo>
                <a:lnTo>
                  <a:pt x="47284" y="5620"/>
                </a:lnTo>
                <a:lnTo>
                  <a:pt x="47227" y="4234"/>
                </a:lnTo>
                <a:close/>
              </a:path>
              <a:path w="114935" h="266700">
                <a:moveTo>
                  <a:pt x="58163" y="3660"/>
                </a:moveTo>
                <a:lnTo>
                  <a:pt x="58675" y="5620"/>
                </a:lnTo>
                <a:lnTo>
                  <a:pt x="58456" y="4234"/>
                </a:lnTo>
                <a:lnTo>
                  <a:pt x="58163" y="3660"/>
                </a:lnTo>
                <a:close/>
              </a:path>
              <a:path w="114935" h="266700">
                <a:moveTo>
                  <a:pt x="57458" y="2626"/>
                </a:moveTo>
                <a:lnTo>
                  <a:pt x="58163" y="3660"/>
                </a:lnTo>
                <a:lnTo>
                  <a:pt x="57971" y="2927"/>
                </a:lnTo>
                <a:lnTo>
                  <a:pt x="57458" y="2626"/>
                </a:lnTo>
                <a:close/>
              </a:path>
              <a:path w="114935" h="266700">
                <a:moveTo>
                  <a:pt x="55903" y="345"/>
                </a:moveTo>
                <a:lnTo>
                  <a:pt x="53563" y="345"/>
                </a:lnTo>
                <a:lnTo>
                  <a:pt x="57458" y="2626"/>
                </a:lnTo>
                <a:lnTo>
                  <a:pt x="55903" y="345"/>
                </a:lnTo>
                <a:close/>
              </a:path>
              <a:path w="114935" h="266700">
                <a:moveTo>
                  <a:pt x="53563" y="345"/>
                </a:moveTo>
                <a:lnTo>
                  <a:pt x="50067" y="656"/>
                </a:lnTo>
                <a:lnTo>
                  <a:pt x="54093" y="656"/>
                </a:lnTo>
                <a:lnTo>
                  <a:pt x="53563" y="3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7" name="object 47"/>
          <p:cNvGrpSpPr/>
          <p:nvPr/>
        </p:nvGrpSpPr>
        <p:grpSpPr>
          <a:xfrm>
            <a:off x="5985823" y="2670388"/>
            <a:ext cx="922019" cy="375920"/>
            <a:chOff x="5985823" y="2670388"/>
            <a:chExt cx="922019" cy="375920"/>
          </a:xfrm>
        </p:grpSpPr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99459" y="2670388"/>
              <a:ext cx="148997" cy="20008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85823" y="2698524"/>
              <a:ext cx="921493" cy="3475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Direct</a:t>
            </a:r>
            <a:r>
              <a:rPr spc="35" dirty="0"/>
              <a:t> </a:t>
            </a:r>
            <a:r>
              <a:rPr dirty="0"/>
              <a:t>Solution</a:t>
            </a:r>
            <a:r>
              <a:rPr spc="50" dirty="0"/>
              <a:t> </a:t>
            </a:r>
            <a:r>
              <a:rPr dirty="0"/>
              <a:t>II:</a:t>
            </a:r>
            <a:r>
              <a:rPr spc="40" dirty="0"/>
              <a:t> </a:t>
            </a:r>
            <a:r>
              <a:rPr spc="-10" dirty="0"/>
              <a:t>Calculus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7103" y="1973298"/>
            <a:ext cx="8663940" cy="17633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09245" marR="30480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derivation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previous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slide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gives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system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equations,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which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can </a:t>
            </a:r>
            <a:r>
              <a:rPr sz="1900" dirty="0">
                <a:latin typeface="Calibri"/>
                <a:cs typeface="Calibri"/>
              </a:rPr>
              <a:t>solve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efficiently.</a:t>
            </a:r>
            <a:endParaRPr sz="1900">
              <a:latin typeface="Calibri"/>
              <a:cs typeface="Calibri"/>
            </a:endParaRPr>
          </a:p>
          <a:p>
            <a:pPr marL="309245" indent="-271145">
              <a:lnSpc>
                <a:spcPts val="2185"/>
              </a:lnSpc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As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often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case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code,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however,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solution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easier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</a:t>
            </a:r>
            <a:endParaRPr sz="1900">
              <a:latin typeface="Calibri"/>
              <a:cs typeface="Calibri"/>
            </a:endParaRPr>
          </a:p>
          <a:p>
            <a:pPr marL="309245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latin typeface="Calibri"/>
                <a:cs typeface="Calibri"/>
              </a:rPr>
              <a:t>characterize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vectorize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calculus.</a:t>
            </a:r>
            <a:endParaRPr sz="1900">
              <a:latin typeface="Calibri"/>
              <a:cs typeface="Calibri"/>
            </a:endParaRPr>
          </a:p>
          <a:p>
            <a:pPr marL="3092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call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vector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partial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derivatives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gradient</a:t>
            </a:r>
            <a:r>
              <a:rPr sz="1900" spc="-10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marL="3092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Thus,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“gradient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𝑓: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ℝ</a:t>
            </a:r>
            <a:r>
              <a:rPr sz="2100" baseline="27777" dirty="0">
                <a:latin typeface="Cambria Math"/>
                <a:cs typeface="Cambria Math"/>
              </a:rPr>
              <a:t>𝐷</a:t>
            </a:r>
            <a:r>
              <a:rPr sz="2100" spc="45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→</a:t>
            </a:r>
            <a:r>
              <a:rPr sz="1900" spc="9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ℝ</a:t>
            </a:r>
            <a:r>
              <a:rPr sz="1900" dirty="0">
                <a:latin typeface="Calibri"/>
                <a:cs typeface="Calibri"/>
              </a:rPr>
              <a:t>”,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denoted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A𝑓(w)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is: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2503" y="4579338"/>
            <a:ext cx="6900545" cy="60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points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direction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greatest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rate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increase.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Analogue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second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derivative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“Hessian”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matrix):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48417" y="4080236"/>
            <a:ext cx="419100" cy="13335"/>
          </a:xfrm>
          <a:custGeom>
            <a:avLst/>
            <a:gdLst/>
            <a:ahLst/>
            <a:cxnLst/>
            <a:rect l="l" t="t" r="r" b="b"/>
            <a:pathLst>
              <a:path w="419100" h="13335">
                <a:moveTo>
                  <a:pt x="419100" y="0"/>
                </a:moveTo>
                <a:lnTo>
                  <a:pt x="0" y="0"/>
                </a:lnTo>
                <a:lnTo>
                  <a:pt x="0" y="12714"/>
                </a:lnTo>
                <a:lnTo>
                  <a:pt x="419100" y="12714"/>
                </a:lnTo>
                <a:lnTo>
                  <a:pt x="419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62138" y="3976092"/>
            <a:ext cx="353060" cy="224154"/>
          </a:xfrm>
          <a:custGeom>
            <a:avLst/>
            <a:gdLst/>
            <a:ahLst/>
            <a:cxnLst/>
            <a:rect l="l" t="t" r="r" b="b"/>
            <a:pathLst>
              <a:path w="353060" h="224154">
                <a:moveTo>
                  <a:pt x="281390" y="0"/>
                </a:moveTo>
                <a:lnTo>
                  <a:pt x="278208" y="9083"/>
                </a:lnTo>
                <a:lnTo>
                  <a:pt x="291146" y="14704"/>
                </a:lnTo>
                <a:lnTo>
                  <a:pt x="302273" y="22485"/>
                </a:lnTo>
                <a:lnTo>
                  <a:pt x="324865" y="58555"/>
                </a:lnTo>
                <a:lnTo>
                  <a:pt x="332289" y="110764"/>
                </a:lnTo>
                <a:lnTo>
                  <a:pt x="331460" y="130500"/>
                </a:lnTo>
                <a:lnTo>
                  <a:pt x="319034" y="178827"/>
                </a:lnTo>
                <a:lnTo>
                  <a:pt x="291297" y="209039"/>
                </a:lnTo>
                <a:lnTo>
                  <a:pt x="278561" y="214687"/>
                </a:lnTo>
                <a:lnTo>
                  <a:pt x="281390" y="223770"/>
                </a:lnTo>
                <a:lnTo>
                  <a:pt x="324093" y="198367"/>
                </a:lnTo>
                <a:lnTo>
                  <a:pt x="348077" y="151474"/>
                </a:lnTo>
                <a:lnTo>
                  <a:pt x="352672" y="111944"/>
                </a:lnTo>
                <a:lnTo>
                  <a:pt x="351533" y="91672"/>
                </a:lnTo>
                <a:lnTo>
                  <a:pt x="334233" y="39221"/>
                </a:lnTo>
                <a:lnTo>
                  <a:pt x="297594" y="5857"/>
                </a:lnTo>
                <a:lnTo>
                  <a:pt x="281390" y="0"/>
                </a:lnTo>
                <a:close/>
              </a:path>
              <a:path w="353060" h="224154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7" y="130500"/>
                </a:lnTo>
                <a:lnTo>
                  <a:pt x="1148" y="132501"/>
                </a:lnTo>
                <a:lnTo>
                  <a:pt x="18380" y="184665"/>
                </a:lnTo>
                <a:lnTo>
                  <a:pt x="55031" y="217919"/>
                </a:lnTo>
                <a:lnTo>
                  <a:pt x="71282" y="223770"/>
                </a:lnTo>
                <a:lnTo>
                  <a:pt x="74110" y="214687"/>
                </a:lnTo>
                <a:lnTo>
                  <a:pt x="61374" y="209039"/>
                </a:lnTo>
                <a:lnTo>
                  <a:pt x="50384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5"/>
                </a:lnTo>
                <a:lnTo>
                  <a:pt x="50472" y="22485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58117" y="4080236"/>
            <a:ext cx="457200" cy="13335"/>
          </a:xfrm>
          <a:custGeom>
            <a:avLst/>
            <a:gdLst/>
            <a:ahLst/>
            <a:cxnLst/>
            <a:rect l="l" t="t" r="r" b="b"/>
            <a:pathLst>
              <a:path w="457200" h="13335">
                <a:moveTo>
                  <a:pt x="457200" y="0"/>
                </a:moveTo>
                <a:lnTo>
                  <a:pt x="0" y="0"/>
                </a:lnTo>
                <a:lnTo>
                  <a:pt x="0" y="12714"/>
                </a:lnTo>
                <a:lnTo>
                  <a:pt x="457200" y="12714"/>
                </a:lnTo>
                <a:lnTo>
                  <a:pt x="457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91769" y="3719802"/>
            <a:ext cx="18967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89560" algn="l"/>
                <a:tab pos="1724025" algn="l"/>
              </a:tabLst>
            </a:pPr>
            <a:r>
              <a:rPr sz="2850" spc="-75" baseline="-42397" dirty="0">
                <a:latin typeface="Cambria Math"/>
                <a:cs typeface="Cambria Math"/>
              </a:rPr>
              <a:t>(</a:t>
            </a:r>
            <a:r>
              <a:rPr sz="2850" baseline="-42397" dirty="0">
                <a:latin typeface="Cambria Math"/>
                <a:cs typeface="Cambria Math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𝜕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𝜕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2309" y="4064226"/>
            <a:ext cx="195770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68120" algn="l"/>
              </a:tabLst>
            </a:pPr>
            <a:r>
              <a:rPr sz="1900" spc="-25" dirty="0">
                <a:latin typeface="Cambria Math"/>
                <a:cs typeface="Cambria Math"/>
              </a:rPr>
              <a:t>𝜕𝑤</a:t>
            </a:r>
            <a:r>
              <a:rPr sz="2100" spc="-37" baseline="-15873" dirty="0">
                <a:latin typeface="Cambria Math"/>
                <a:cs typeface="Cambria Math"/>
              </a:rPr>
              <a:t>1</a:t>
            </a:r>
            <a:r>
              <a:rPr sz="2100" baseline="-15873" dirty="0">
                <a:latin typeface="Cambria Math"/>
                <a:cs typeface="Cambria Math"/>
              </a:rPr>
              <a:t>	</a:t>
            </a:r>
            <a:r>
              <a:rPr sz="1900" spc="-25" dirty="0">
                <a:latin typeface="Cambria Math"/>
                <a:cs typeface="Cambria Math"/>
              </a:rPr>
              <a:t>𝜕𝑤</a:t>
            </a:r>
            <a:r>
              <a:rPr sz="2100" spc="-37" baseline="-15873" dirty="0">
                <a:latin typeface="Cambria Math"/>
                <a:cs typeface="Cambria Math"/>
              </a:rPr>
              <a:t>𝐷</a:t>
            </a:r>
            <a:endParaRPr sz="2100" baseline="-15873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13557" y="3976092"/>
            <a:ext cx="353060" cy="224154"/>
          </a:xfrm>
          <a:custGeom>
            <a:avLst/>
            <a:gdLst/>
            <a:ahLst/>
            <a:cxnLst/>
            <a:rect l="l" t="t" r="r" b="b"/>
            <a:pathLst>
              <a:path w="353060" h="224154">
                <a:moveTo>
                  <a:pt x="281390" y="0"/>
                </a:moveTo>
                <a:lnTo>
                  <a:pt x="278208" y="9083"/>
                </a:lnTo>
                <a:lnTo>
                  <a:pt x="291146" y="14704"/>
                </a:lnTo>
                <a:lnTo>
                  <a:pt x="302273" y="22485"/>
                </a:lnTo>
                <a:lnTo>
                  <a:pt x="324865" y="58555"/>
                </a:lnTo>
                <a:lnTo>
                  <a:pt x="332289" y="110764"/>
                </a:lnTo>
                <a:lnTo>
                  <a:pt x="331460" y="130500"/>
                </a:lnTo>
                <a:lnTo>
                  <a:pt x="319034" y="178827"/>
                </a:lnTo>
                <a:lnTo>
                  <a:pt x="291297" y="209039"/>
                </a:lnTo>
                <a:lnTo>
                  <a:pt x="278561" y="214687"/>
                </a:lnTo>
                <a:lnTo>
                  <a:pt x="281390" y="223770"/>
                </a:lnTo>
                <a:lnTo>
                  <a:pt x="324093" y="198367"/>
                </a:lnTo>
                <a:lnTo>
                  <a:pt x="348077" y="151474"/>
                </a:lnTo>
                <a:lnTo>
                  <a:pt x="352672" y="111944"/>
                </a:lnTo>
                <a:lnTo>
                  <a:pt x="351533" y="91672"/>
                </a:lnTo>
                <a:lnTo>
                  <a:pt x="334233" y="39221"/>
                </a:lnTo>
                <a:lnTo>
                  <a:pt x="297594" y="5857"/>
                </a:lnTo>
                <a:lnTo>
                  <a:pt x="281390" y="0"/>
                </a:lnTo>
                <a:close/>
              </a:path>
              <a:path w="353060" h="224154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0338" y="168862"/>
                </a:lnTo>
                <a:lnTo>
                  <a:pt x="40796" y="209452"/>
                </a:lnTo>
                <a:lnTo>
                  <a:pt x="71282" y="223770"/>
                </a:lnTo>
                <a:lnTo>
                  <a:pt x="74110" y="214687"/>
                </a:lnTo>
                <a:lnTo>
                  <a:pt x="61374" y="209039"/>
                </a:lnTo>
                <a:lnTo>
                  <a:pt x="50384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5"/>
                </a:lnTo>
                <a:lnTo>
                  <a:pt x="50472" y="22485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462524" y="3902682"/>
            <a:ext cx="224853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489075" algn="l"/>
              </a:tabLst>
            </a:pPr>
            <a:r>
              <a:rPr sz="1900" dirty="0">
                <a:latin typeface="Cambria Math"/>
                <a:cs typeface="Cambria Math"/>
              </a:rPr>
              <a:t>𝑓</a:t>
            </a:r>
            <a:r>
              <a:rPr sz="1900" spc="415" dirty="0">
                <a:latin typeface="Cambria Math"/>
                <a:cs typeface="Cambria Math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35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⋯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,</a:t>
            </a:r>
            <a:r>
              <a:rPr sz="1900" dirty="0">
                <a:latin typeface="Cambria Math"/>
                <a:cs typeface="Cambria Math"/>
              </a:rPr>
              <a:t>	𝑓</a:t>
            </a:r>
            <a:r>
              <a:rPr sz="1900" spc="415" dirty="0">
                <a:latin typeface="Cambria Math"/>
                <a:cs typeface="Cambria Math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355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)</a:t>
            </a:r>
            <a:r>
              <a:rPr sz="2100" spc="-37" baseline="27777" dirty="0">
                <a:latin typeface="Cambria Math"/>
                <a:cs typeface="Cambria Math"/>
              </a:rPr>
              <a:t>𝗍</a:t>
            </a:r>
            <a:endParaRPr sz="2100" baseline="27777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04454" y="5424839"/>
            <a:ext cx="353060" cy="224154"/>
          </a:xfrm>
          <a:custGeom>
            <a:avLst/>
            <a:gdLst/>
            <a:ahLst/>
            <a:cxnLst/>
            <a:rect l="l" t="t" r="r" b="b"/>
            <a:pathLst>
              <a:path w="353060" h="224154">
                <a:moveTo>
                  <a:pt x="281388" y="0"/>
                </a:moveTo>
                <a:lnTo>
                  <a:pt x="278207" y="9083"/>
                </a:lnTo>
                <a:lnTo>
                  <a:pt x="291146" y="14704"/>
                </a:lnTo>
                <a:lnTo>
                  <a:pt x="302273" y="22486"/>
                </a:lnTo>
                <a:lnTo>
                  <a:pt x="324865" y="58556"/>
                </a:lnTo>
                <a:lnTo>
                  <a:pt x="332287" y="110764"/>
                </a:lnTo>
                <a:lnTo>
                  <a:pt x="331459" y="130500"/>
                </a:lnTo>
                <a:lnTo>
                  <a:pt x="319032" y="178827"/>
                </a:lnTo>
                <a:lnTo>
                  <a:pt x="291297" y="209040"/>
                </a:lnTo>
                <a:lnTo>
                  <a:pt x="278561" y="214687"/>
                </a:lnTo>
                <a:lnTo>
                  <a:pt x="281388" y="223770"/>
                </a:lnTo>
                <a:lnTo>
                  <a:pt x="324092" y="198368"/>
                </a:lnTo>
                <a:lnTo>
                  <a:pt x="348076" y="151475"/>
                </a:lnTo>
                <a:lnTo>
                  <a:pt x="352671" y="111944"/>
                </a:lnTo>
                <a:lnTo>
                  <a:pt x="351532" y="91673"/>
                </a:lnTo>
                <a:lnTo>
                  <a:pt x="334232" y="39222"/>
                </a:lnTo>
                <a:lnTo>
                  <a:pt x="297593" y="5857"/>
                </a:lnTo>
                <a:lnTo>
                  <a:pt x="281388" y="0"/>
                </a:lnTo>
                <a:close/>
              </a:path>
              <a:path w="353060" h="224154">
                <a:moveTo>
                  <a:pt x="71282" y="0"/>
                </a:moveTo>
                <a:lnTo>
                  <a:pt x="28656" y="25469"/>
                </a:lnTo>
                <a:lnTo>
                  <a:pt x="4609" y="72472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148" y="132502"/>
                </a:lnTo>
                <a:lnTo>
                  <a:pt x="4594" y="151475"/>
                </a:lnTo>
                <a:lnTo>
                  <a:pt x="28578" y="198368"/>
                </a:lnTo>
                <a:lnTo>
                  <a:pt x="71282" y="223770"/>
                </a:lnTo>
                <a:lnTo>
                  <a:pt x="74109" y="214687"/>
                </a:lnTo>
                <a:lnTo>
                  <a:pt x="61373" y="209040"/>
                </a:lnTo>
                <a:lnTo>
                  <a:pt x="50383" y="201181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1211" y="91673"/>
                </a:lnTo>
                <a:lnTo>
                  <a:pt x="33638" y="44530"/>
                </a:lnTo>
                <a:lnTo>
                  <a:pt x="61573" y="14704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02198" y="5424171"/>
            <a:ext cx="431800" cy="224790"/>
          </a:xfrm>
          <a:custGeom>
            <a:avLst/>
            <a:gdLst/>
            <a:ahLst/>
            <a:cxnLst/>
            <a:rect l="l" t="t" r="r" b="b"/>
            <a:pathLst>
              <a:path w="431800" h="224789">
                <a:moveTo>
                  <a:pt x="74472" y="9753"/>
                </a:moveTo>
                <a:lnTo>
                  <a:pt x="71285" y="673"/>
                </a:lnTo>
                <a:lnTo>
                  <a:pt x="55079" y="6527"/>
                </a:lnTo>
                <a:lnTo>
                  <a:pt x="40868" y="15024"/>
                </a:lnTo>
                <a:lnTo>
                  <a:pt x="10375" y="55740"/>
                </a:lnTo>
                <a:lnTo>
                  <a:pt x="76" y="111442"/>
                </a:lnTo>
                <a:lnTo>
                  <a:pt x="0" y="112623"/>
                </a:lnTo>
                <a:lnTo>
                  <a:pt x="4597" y="152146"/>
                </a:lnTo>
                <a:lnTo>
                  <a:pt x="28587" y="199047"/>
                </a:lnTo>
                <a:lnTo>
                  <a:pt x="71285" y="224447"/>
                </a:lnTo>
                <a:lnTo>
                  <a:pt x="74117" y="215366"/>
                </a:lnTo>
                <a:lnTo>
                  <a:pt x="61379" y="209715"/>
                </a:lnTo>
                <a:lnTo>
                  <a:pt x="50393" y="201853"/>
                </a:lnTo>
                <a:lnTo>
                  <a:pt x="27838" y="165201"/>
                </a:lnTo>
                <a:lnTo>
                  <a:pt x="20434" y="112623"/>
                </a:lnTo>
                <a:lnTo>
                  <a:pt x="20383" y="111442"/>
                </a:lnTo>
                <a:lnTo>
                  <a:pt x="27838" y="59232"/>
                </a:lnTo>
                <a:lnTo>
                  <a:pt x="50482" y="23164"/>
                </a:lnTo>
                <a:lnTo>
                  <a:pt x="61582" y="15379"/>
                </a:lnTo>
                <a:lnTo>
                  <a:pt x="74472" y="9753"/>
                </a:lnTo>
                <a:close/>
              </a:path>
              <a:path w="431800" h="224789">
                <a:moveTo>
                  <a:pt x="352679" y="112623"/>
                </a:moveTo>
                <a:lnTo>
                  <a:pt x="351536" y="92341"/>
                </a:lnTo>
                <a:lnTo>
                  <a:pt x="351523" y="92100"/>
                </a:lnTo>
                <a:lnTo>
                  <a:pt x="348068" y="73152"/>
                </a:lnTo>
                <a:lnTo>
                  <a:pt x="324015" y="26149"/>
                </a:lnTo>
                <a:lnTo>
                  <a:pt x="281393" y="673"/>
                </a:lnTo>
                <a:lnTo>
                  <a:pt x="278218" y="9753"/>
                </a:lnTo>
                <a:lnTo>
                  <a:pt x="291147" y="15379"/>
                </a:lnTo>
                <a:lnTo>
                  <a:pt x="302272" y="23164"/>
                </a:lnTo>
                <a:lnTo>
                  <a:pt x="324866" y="59232"/>
                </a:lnTo>
                <a:lnTo>
                  <a:pt x="331431" y="92100"/>
                </a:lnTo>
                <a:lnTo>
                  <a:pt x="331470" y="92341"/>
                </a:lnTo>
                <a:lnTo>
                  <a:pt x="332295" y="111442"/>
                </a:lnTo>
                <a:lnTo>
                  <a:pt x="331470" y="131178"/>
                </a:lnTo>
                <a:lnTo>
                  <a:pt x="328980" y="149098"/>
                </a:lnTo>
                <a:lnTo>
                  <a:pt x="311543" y="191782"/>
                </a:lnTo>
                <a:lnTo>
                  <a:pt x="278561" y="215366"/>
                </a:lnTo>
                <a:lnTo>
                  <a:pt x="281393" y="224447"/>
                </a:lnTo>
                <a:lnTo>
                  <a:pt x="324091" y="199047"/>
                </a:lnTo>
                <a:lnTo>
                  <a:pt x="348081" y="152146"/>
                </a:lnTo>
                <a:lnTo>
                  <a:pt x="351523" y="133172"/>
                </a:lnTo>
                <a:lnTo>
                  <a:pt x="352679" y="112623"/>
                </a:lnTo>
                <a:close/>
              </a:path>
              <a:path w="431800" h="224789">
                <a:moveTo>
                  <a:pt x="431495" y="0"/>
                </a:moveTo>
                <a:lnTo>
                  <a:pt x="378942" y="0"/>
                </a:lnTo>
                <a:lnTo>
                  <a:pt x="378942" y="8890"/>
                </a:lnTo>
                <a:lnTo>
                  <a:pt x="411937" y="8890"/>
                </a:lnTo>
                <a:lnTo>
                  <a:pt x="411937" y="215900"/>
                </a:lnTo>
                <a:lnTo>
                  <a:pt x="378942" y="215900"/>
                </a:lnTo>
                <a:lnTo>
                  <a:pt x="378942" y="224790"/>
                </a:lnTo>
                <a:lnTo>
                  <a:pt x="431495" y="224790"/>
                </a:lnTo>
                <a:lnTo>
                  <a:pt x="431495" y="215900"/>
                </a:lnTo>
                <a:lnTo>
                  <a:pt x="431495" y="8890"/>
                </a:lnTo>
                <a:lnTo>
                  <a:pt x="4314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28018" y="5424171"/>
            <a:ext cx="52705" cy="224790"/>
          </a:xfrm>
          <a:custGeom>
            <a:avLst/>
            <a:gdLst/>
            <a:ahLst/>
            <a:cxnLst/>
            <a:rect l="l" t="t" r="r" b="b"/>
            <a:pathLst>
              <a:path w="52704" h="224789">
                <a:moveTo>
                  <a:pt x="52552" y="0"/>
                </a:moveTo>
                <a:lnTo>
                  <a:pt x="0" y="0"/>
                </a:lnTo>
                <a:lnTo>
                  <a:pt x="0" y="8890"/>
                </a:lnTo>
                <a:lnTo>
                  <a:pt x="0" y="215900"/>
                </a:lnTo>
                <a:lnTo>
                  <a:pt x="0" y="224790"/>
                </a:lnTo>
                <a:lnTo>
                  <a:pt x="52552" y="224790"/>
                </a:lnTo>
                <a:lnTo>
                  <a:pt x="52552" y="215900"/>
                </a:lnTo>
                <a:lnTo>
                  <a:pt x="19558" y="215900"/>
                </a:lnTo>
                <a:lnTo>
                  <a:pt x="19558" y="8890"/>
                </a:lnTo>
                <a:lnTo>
                  <a:pt x="52552" y="8890"/>
                </a:lnTo>
                <a:lnTo>
                  <a:pt x="525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47834" y="5465872"/>
            <a:ext cx="1695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30" dirty="0">
                <a:latin typeface="Cambria Math"/>
                <a:cs typeface="Cambria Math"/>
              </a:rPr>
              <a:t>𝑖j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24366" y="5350482"/>
            <a:ext cx="47821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920750" algn="l"/>
                <a:tab pos="4563110" algn="l"/>
              </a:tabLst>
            </a:pPr>
            <a:r>
              <a:rPr sz="1900" dirty="0">
                <a:latin typeface="Cambria Math"/>
                <a:cs typeface="Cambria Math"/>
              </a:rPr>
              <a:t>A</a:t>
            </a:r>
            <a:r>
              <a:rPr sz="2100" baseline="27777" dirty="0">
                <a:latin typeface="Cambria Math"/>
                <a:cs typeface="Cambria Math"/>
              </a:rPr>
              <a:t>2</a:t>
            </a:r>
            <a:r>
              <a:rPr sz="1900" dirty="0">
                <a:latin typeface="Cambria Math"/>
                <a:cs typeface="Cambria Math"/>
              </a:rPr>
              <a:t>𝑓</a:t>
            </a:r>
            <a:r>
              <a:rPr sz="1900" spc="445" dirty="0">
                <a:latin typeface="Cambria Math"/>
                <a:cs typeface="Cambria Math"/>
              </a:rPr>
              <a:t> </a:t>
            </a:r>
            <a:r>
              <a:rPr sz="1900" spc="5" dirty="0">
                <a:latin typeface="Cambria Math"/>
                <a:cs typeface="Cambria Math"/>
              </a:rPr>
              <a:t>w</a:t>
            </a:r>
            <a:r>
              <a:rPr sz="1900" dirty="0">
                <a:latin typeface="Cambria Math"/>
                <a:cs typeface="Cambria Math"/>
              </a:rPr>
              <a:t>	∈</a:t>
            </a:r>
            <a:r>
              <a:rPr sz="1900" spc="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ℝ</a:t>
            </a:r>
            <a:r>
              <a:rPr sz="2100" baseline="27777" dirty="0">
                <a:latin typeface="Cambria Math"/>
                <a:cs typeface="Cambria Math"/>
              </a:rPr>
              <a:t>𝐷×𝐷</a:t>
            </a:r>
            <a:r>
              <a:rPr sz="2100" spc="465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matrix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with</a:t>
            </a:r>
            <a:r>
              <a:rPr sz="1900" spc="130" dirty="0">
                <a:latin typeface="Arial MT"/>
                <a:cs typeface="Arial MT"/>
              </a:rPr>
              <a:t> </a:t>
            </a:r>
            <a:r>
              <a:rPr sz="1900" dirty="0">
                <a:latin typeface="Cambria Math"/>
                <a:cs typeface="Cambria Math"/>
              </a:rPr>
              <a:t>A</a:t>
            </a:r>
            <a:r>
              <a:rPr sz="2100" baseline="27777" dirty="0">
                <a:latin typeface="Cambria Math"/>
                <a:cs typeface="Cambria Math"/>
              </a:rPr>
              <a:t>2</a:t>
            </a:r>
            <a:r>
              <a:rPr sz="1900" dirty="0">
                <a:latin typeface="Cambria Math"/>
                <a:cs typeface="Cambria Math"/>
              </a:rPr>
              <a:t>𝑓</a:t>
            </a:r>
            <a:r>
              <a:rPr sz="1900" spc="415" dirty="0">
                <a:latin typeface="Cambria Math"/>
                <a:cs typeface="Cambria Math"/>
              </a:rPr>
              <a:t> </a:t>
            </a:r>
            <a:r>
              <a:rPr sz="1900" spc="5" dirty="0">
                <a:latin typeface="Cambria Math"/>
                <a:cs typeface="Cambria Math"/>
              </a:rPr>
              <a:t>w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=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737664" y="5529067"/>
            <a:ext cx="660400" cy="13335"/>
          </a:xfrm>
          <a:custGeom>
            <a:avLst/>
            <a:gdLst/>
            <a:ahLst/>
            <a:cxnLst/>
            <a:rect l="l" t="t" r="r" b="b"/>
            <a:pathLst>
              <a:path w="660400" h="13335">
                <a:moveTo>
                  <a:pt x="660400" y="0"/>
                </a:moveTo>
                <a:lnTo>
                  <a:pt x="0" y="0"/>
                </a:lnTo>
                <a:lnTo>
                  <a:pt x="0" y="12714"/>
                </a:lnTo>
                <a:lnTo>
                  <a:pt x="660400" y="12714"/>
                </a:lnTo>
                <a:lnTo>
                  <a:pt x="660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920294" y="5209840"/>
            <a:ext cx="2736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-37" baseline="-19841" dirty="0">
                <a:latin typeface="Cambria Math"/>
                <a:cs typeface="Cambria Math"/>
              </a:rPr>
              <a:t>𝛛</a:t>
            </a:r>
            <a:r>
              <a:rPr sz="1100" spc="-25" dirty="0"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96740" y="5535976"/>
            <a:ext cx="721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85" dirty="0">
                <a:latin typeface="Cambria Math"/>
                <a:cs typeface="Cambria Math"/>
              </a:rPr>
              <a:t>𝛛w</a:t>
            </a:r>
            <a:r>
              <a:rPr sz="1650" spc="127" baseline="-15151" dirty="0">
                <a:latin typeface="Cambria Math"/>
                <a:cs typeface="Cambria Math"/>
              </a:rPr>
              <a:t>𝑖</a:t>
            </a:r>
            <a:r>
              <a:rPr sz="1400" spc="85" dirty="0">
                <a:latin typeface="Cambria Math"/>
                <a:cs typeface="Cambria Math"/>
              </a:rPr>
              <a:t>𝛛w</a:t>
            </a:r>
            <a:r>
              <a:rPr sz="1650" spc="127" baseline="-15151" dirty="0">
                <a:latin typeface="Cambria Math"/>
                <a:cs typeface="Cambria Math"/>
              </a:rPr>
              <a:t>j</a:t>
            </a:r>
            <a:endParaRPr sz="1650" baseline="-15151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591549" y="5424839"/>
            <a:ext cx="353060" cy="224154"/>
          </a:xfrm>
          <a:custGeom>
            <a:avLst/>
            <a:gdLst/>
            <a:ahLst/>
            <a:cxnLst/>
            <a:rect l="l" t="t" r="r" b="b"/>
            <a:pathLst>
              <a:path w="353059" h="224154">
                <a:moveTo>
                  <a:pt x="281388" y="0"/>
                </a:moveTo>
                <a:lnTo>
                  <a:pt x="278207" y="9083"/>
                </a:lnTo>
                <a:lnTo>
                  <a:pt x="291145" y="14704"/>
                </a:lnTo>
                <a:lnTo>
                  <a:pt x="302272" y="22486"/>
                </a:lnTo>
                <a:lnTo>
                  <a:pt x="324865" y="58556"/>
                </a:lnTo>
                <a:lnTo>
                  <a:pt x="331428" y="91430"/>
                </a:lnTo>
                <a:lnTo>
                  <a:pt x="331463" y="91673"/>
                </a:lnTo>
                <a:lnTo>
                  <a:pt x="331459" y="130500"/>
                </a:lnTo>
                <a:lnTo>
                  <a:pt x="319032" y="178827"/>
                </a:lnTo>
                <a:lnTo>
                  <a:pt x="291296" y="209040"/>
                </a:lnTo>
                <a:lnTo>
                  <a:pt x="278560" y="214687"/>
                </a:lnTo>
                <a:lnTo>
                  <a:pt x="281388" y="223770"/>
                </a:lnTo>
                <a:lnTo>
                  <a:pt x="324092" y="198368"/>
                </a:lnTo>
                <a:lnTo>
                  <a:pt x="348076" y="151475"/>
                </a:lnTo>
                <a:lnTo>
                  <a:pt x="352671" y="111944"/>
                </a:lnTo>
                <a:lnTo>
                  <a:pt x="351532" y="91673"/>
                </a:lnTo>
                <a:lnTo>
                  <a:pt x="334232" y="39222"/>
                </a:lnTo>
                <a:lnTo>
                  <a:pt x="297593" y="5857"/>
                </a:lnTo>
                <a:lnTo>
                  <a:pt x="281388" y="0"/>
                </a:lnTo>
                <a:close/>
              </a:path>
              <a:path w="353059" h="224154">
                <a:moveTo>
                  <a:pt x="71282" y="0"/>
                </a:moveTo>
                <a:lnTo>
                  <a:pt x="28656" y="25469"/>
                </a:lnTo>
                <a:lnTo>
                  <a:pt x="4609" y="72472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0338" y="168863"/>
                </a:lnTo>
                <a:lnTo>
                  <a:pt x="40795" y="209453"/>
                </a:lnTo>
                <a:lnTo>
                  <a:pt x="71282" y="223770"/>
                </a:lnTo>
                <a:lnTo>
                  <a:pt x="74109" y="214687"/>
                </a:lnTo>
                <a:lnTo>
                  <a:pt x="61373" y="209040"/>
                </a:lnTo>
                <a:lnTo>
                  <a:pt x="50382" y="201181"/>
                </a:lnTo>
                <a:lnTo>
                  <a:pt x="27838" y="164532"/>
                </a:lnTo>
                <a:lnTo>
                  <a:pt x="20431" y="111944"/>
                </a:lnTo>
                <a:lnTo>
                  <a:pt x="20382" y="110764"/>
                </a:lnTo>
                <a:lnTo>
                  <a:pt x="27838" y="58556"/>
                </a:lnTo>
                <a:lnTo>
                  <a:pt x="50471" y="22486"/>
                </a:lnTo>
                <a:lnTo>
                  <a:pt x="74462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417334" y="5350482"/>
            <a:ext cx="62801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mbria Math"/>
                <a:cs typeface="Cambria Math"/>
              </a:rPr>
              <a:t>𝑓</a:t>
            </a:r>
            <a:r>
              <a:rPr sz="1900" spc="415" dirty="0">
                <a:latin typeface="Cambria Math"/>
                <a:cs typeface="Cambria Math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355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Arial MT"/>
                <a:cs typeface="Arial MT"/>
              </a:rPr>
              <a:t>.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844424" y="2809137"/>
            <a:ext cx="2687955" cy="1677035"/>
            <a:chOff x="6844424" y="2809137"/>
            <a:chExt cx="2687955" cy="167703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4424" y="2809137"/>
              <a:ext cx="2687791" cy="167665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2561" y="3377411"/>
              <a:ext cx="590141" cy="31782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06523" y="3506170"/>
              <a:ext cx="124281" cy="9964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1258" y="3297706"/>
              <a:ext cx="130059" cy="28318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73026" y="197710"/>
            <a:ext cx="4606624" cy="70962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12333" y="6302894"/>
            <a:ext cx="714169" cy="37959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02225" y="6454274"/>
            <a:ext cx="101551" cy="81204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4062119" y="6055521"/>
            <a:ext cx="41910" cy="17145"/>
          </a:xfrm>
          <a:custGeom>
            <a:avLst/>
            <a:gdLst/>
            <a:ahLst/>
            <a:cxnLst/>
            <a:rect l="l" t="t" r="r" b="b"/>
            <a:pathLst>
              <a:path w="41910" h="17145">
                <a:moveTo>
                  <a:pt x="4655" y="15366"/>
                </a:moveTo>
                <a:lnTo>
                  <a:pt x="3941" y="15366"/>
                </a:lnTo>
                <a:lnTo>
                  <a:pt x="5424" y="16065"/>
                </a:lnTo>
                <a:lnTo>
                  <a:pt x="2666" y="16065"/>
                </a:lnTo>
                <a:lnTo>
                  <a:pt x="12960" y="16990"/>
                </a:lnTo>
                <a:lnTo>
                  <a:pt x="13125" y="16851"/>
                </a:lnTo>
                <a:lnTo>
                  <a:pt x="7948" y="16851"/>
                </a:lnTo>
                <a:lnTo>
                  <a:pt x="4655" y="15366"/>
                </a:lnTo>
                <a:close/>
              </a:path>
              <a:path w="41910" h="17145">
                <a:moveTo>
                  <a:pt x="2666" y="16065"/>
                </a:moveTo>
                <a:lnTo>
                  <a:pt x="1496" y="16065"/>
                </a:lnTo>
                <a:lnTo>
                  <a:pt x="11961" y="16851"/>
                </a:lnTo>
                <a:lnTo>
                  <a:pt x="11421" y="16851"/>
                </a:lnTo>
                <a:lnTo>
                  <a:pt x="2666" y="16065"/>
                </a:lnTo>
                <a:close/>
              </a:path>
              <a:path w="41910" h="17145">
                <a:moveTo>
                  <a:pt x="931" y="7645"/>
                </a:moveTo>
                <a:lnTo>
                  <a:pt x="262" y="8900"/>
                </a:lnTo>
                <a:lnTo>
                  <a:pt x="0" y="9483"/>
                </a:lnTo>
                <a:lnTo>
                  <a:pt x="1637" y="13809"/>
                </a:lnTo>
                <a:lnTo>
                  <a:pt x="1725" y="14044"/>
                </a:lnTo>
                <a:lnTo>
                  <a:pt x="7948" y="16851"/>
                </a:lnTo>
                <a:lnTo>
                  <a:pt x="9791" y="16851"/>
                </a:lnTo>
                <a:lnTo>
                  <a:pt x="12808" y="15366"/>
                </a:lnTo>
                <a:lnTo>
                  <a:pt x="13798" y="14819"/>
                </a:lnTo>
                <a:lnTo>
                  <a:pt x="3289" y="14819"/>
                </a:lnTo>
                <a:lnTo>
                  <a:pt x="1489" y="12866"/>
                </a:lnTo>
                <a:lnTo>
                  <a:pt x="1498" y="11586"/>
                </a:lnTo>
                <a:lnTo>
                  <a:pt x="1353" y="11225"/>
                </a:lnTo>
                <a:lnTo>
                  <a:pt x="1014" y="9483"/>
                </a:lnTo>
                <a:lnTo>
                  <a:pt x="931" y="7645"/>
                </a:lnTo>
                <a:close/>
              </a:path>
              <a:path w="41910" h="17145">
                <a:moveTo>
                  <a:pt x="16188" y="14292"/>
                </a:moveTo>
                <a:lnTo>
                  <a:pt x="15011" y="14292"/>
                </a:lnTo>
                <a:lnTo>
                  <a:pt x="9791" y="16851"/>
                </a:lnTo>
                <a:lnTo>
                  <a:pt x="13125" y="16851"/>
                </a:lnTo>
                <a:lnTo>
                  <a:pt x="16188" y="14292"/>
                </a:lnTo>
                <a:close/>
              </a:path>
              <a:path w="41910" h="17145">
                <a:moveTo>
                  <a:pt x="14806" y="1543"/>
                </a:moveTo>
                <a:lnTo>
                  <a:pt x="14494" y="1543"/>
                </a:lnTo>
                <a:lnTo>
                  <a:pt x="17432" y="5061"/>
                </a:lnTo>
                <a:lnTo>
                  <a:pt x="19456" y="8900"/>
                </a:lnTo>
                <a:lnTo>
                  <a:pt x="18453" y="12139"/>
                </a:lnTo>
                <a:lnTo>
                  <a:pt x="18376" y="12386"/>
                </a:lnTo>
                <a:lnTo>
                  <a:pt x="16820" y="13213"/>
                </a:lnTo>
                <a:lnTo>
                  <a:pt x="16766" y="13809"/>
                </a:lnTo>
                <a:lnTo>
                  <a:pt x="13125" y="16851"/>
                </a:lnTo>
                <a:lnTo>
                  <a:pt x="6009" y="16851"/>
                </a:lnTo>
                <a:lnTo>
                  <a:pt x="37390" y="15366"/>
                </a:lnTo>
                <a:lnTo>
                  <a:pt x="39302" y="15366"/>
                </a:lnTo>
                <a:lnTo>
                  <a:pt x="41738" y="12673"/>
                </a:lnTo>
                <a:lnTo>
                  <a:pt x="41618" y="10267"/>
                </a:lnTo>
                <a:lnTo>
                  <a:pt x="41550" y="8900"/>
                </a:lnTo>
                <a:lnTo>
                  <a:pt x="41454" y="6967"/>
                </a:lnTo>
                <a:lnTo>
                  <a:pt x="39441" y="4780"/>
                </a:lnTo>
                <a:lnTo>
                  <a:pt x="14806" y="1543"/>
                </a:lnTo>
                <a:close/>
              </a:path>
              <a:path w="41910" h="17145">
                <a:moveTo>
                  <a:pt x="3442" y="14819"/>
                </a:moveTo>
                <a:lnTo>
                  <a:pt x="3793" y="15366"/>
                </a:lnTo>
                <a:lnTo>
                  <a:pt x="4438" y="16065"/>
                </a:lnTo>
                <a:lnTo>
                  <a:pt x="5424" y="16065"/>
                </a:lnTo>
                <a:lnTo>
                  <a:pt x="3941" y="15366"/>
                </a:lnTo>
                <a:lnTo>
                  <a:pt x="4655" y="15366"/>
                </a:lnTo>
                <a:lnTo>
                  <a:pt x="3442" y="14819"/>
                </a:lnTo>
                <a:close/>
              </a:path>
              <a:path w="41910" h="17145">
                <a:moveTo>
                  <a:pt x="1498" y="11586"/>
                </a:moveTo>
                <a:lnTo>
                  <a:pt x="1489" y="12866"/>
                </a:lnTo>
                <a:lnTo>
                  <a:pt x="3793" y="15366"/>
                </a:lnTo>
                <a:lnTo>
                  <a:pt x="1720" y="12139"/>
                </a:lnTo>
                <a:lnTo>
                  <a:pt x="1498" y="11586"/>
                </a:lnTo>
                <a:close/>
              </a:path>
              <a:path w="41910" h="17145">
                <a:moveTo>
                  <a:pt x="16820" y="13213"/>
                </a:moveTo>
                <a:lnTo>
                  <a:pt x="12768" y="15366"/>
                </a:lnTo>
                <a:lnTo>
                  <a:pt x="15011" y="14292"/>
                </a:lnTo>
                <a:lnTo>
                  <a:pt x="16188" y="14292"/>
                </a:lnTo>
                <a:lnTo>
                  <a:pt x="16766" y="13809"/>
                </a:lnTo>
                <a:lnTo>
                  <a:pt x="16820" y="13213"/>
                </a:lnTo>
                <a:close/>
              </a:path>
              <a:path w="41910" h="17145">
                <a:moveTo>
                  <a:pt x="10326" y="1021"/>
                </a:moveTo>
                <a:lnTo>
                  <a:pt x="5851" y="1021"/>
                </a:lnTo>
                <a:lnTo>
                  <a:pt x="3967" y="2032"/>
                </a:lnTo>
                <a:lnTo>
                  <a:pt x="2871" y="3114"/>
                </a:lnTo>
                <a:lnTo>
                  <a:pt x="2120" y="4780"/>
                </a:lnTo>
                <a:lnTo>
                  <a:pt x="1993" y="5061"/>
                </a:lnTo>
                <a:lnTo>
                  <a:pt x="1905" y="5256"/>
                </a:lnTo>
                <a:lnTo>
                  <a:pt x="1538" y="5851"/>
                </a:lnTo>
                <a:lnTo>
                  <a:pt x="1498" y="11586"/>
                </a:lnTo>
                <a:lnTo>
                  <a:pt x="1720" y="12139"/>
                </a:lnTo>
                <a:lnTo>
                  <a:pt x="3442" y="14819"/>
                </a:lnTo>
                <a:lnTo>
                  <a:pt x="13798" y="14819"/>
                </a:lnTo>
                <a:lnTo>
                  <a:pt x="16820" y="13213"/>
                </a:lnTo>
                <a:lnTo>
                  <a:pt x="16916" y="12139"/>
                </a:lnTo>
                <a:lnTo>
                  <a:pt x="16998" y="11225"/>
                </a:lnTo>
                <a:lnTo>
                  <a:pt x="17084" y="10267"/>
                </a:lnTo>
                <a:lnTo>
                  <a:pt x="17207" y="8900"/>
                </a:lnTo>
                <a:lnTo>
                  <a:pt x="17320" y="7645"/>
                </a:lnTo>
                <a:lnTo>
                  <a:pt x="17432" y="5061"/>
                </a:lnTo>
                <a:lnTo>
                  <a:pt x="16896" y="4419"/>
                </a:lnTo>
                <a:lnTo>
                  <a:pt x="16462" y="4149"/>
                </a:lnTo>
                <a:lnTo>
                  <a:pt x="14498" y="3114"/>
                </a:lnTo>
                <a:lnTo>
                  <a:pt x="13065" y="2256"/>
                </a:lnTo>
                <a:lnTo>
                  <a:pt x="10326" y="1021"/>
                </a:lnTo>
                <a:close/>
              </a:path>
              <a:path w="41910" h="17145">
                <a:moveTo>
                  <a:pt x="17535" y="5256"/>
                </a:moveTo>
                <a:lnTo>
                  <a:pt x="17427" y="6451"/>
                </a:lnTo>
                <a:lnTo>
                  <a:pt x="17320" y="7645"/>
                </a:lnTo>
                <a:lnTo>
                  <a:pt x="17207" y="8900"/>
                </a:lnTo>
                <a:lnTo>
                  <a:pt x="17084" y="10267"/>
                </a:lnTo>
                <a:lnTo>
                  <a:pt x="16998" y="11225"/>
                </a:lnTo>
                <a:lnTo>
                  <a:pt x="16916" y="12139"/>
                </a:lnTo>
                <a:lnTo>
                  <a:pt x="16820" y="13213"/>
                </a:lnTo>
                <a:lnTo>
                  <a:pt x="18376" y="12386"/>
                </a:lnTo>
                <a:lnTo>
                  <a:pt x="19456" y="8900"/>
                </a:lnTo>
                <a:lnTo>
                  <a:pt x="17535" y="5256"/>
                </a:lnTo>
                <a:close/>
              </a:path>
              <a:path w="41910" h="17145">
                <a:moveTo>
                  <a:pt x="1536" y="6074"/>
                </a:moveTo>
                <a:lnTo>
                  <a:pt x="1366" y="6451"/>
                </a:lnTo>
                <a:lnTo>
                  <a:pt x="1178" y="6967"/>
                </a:lnTo>
                <a:lnTo>
                  <a:pt x="1091" y="7206"/>
                </a:lnTo>
                <a:lnTo>
                  <a:pt x="1014" y="9483"/>
                </a:lnTo>
                <a:lnTo>
                  <a:pt x="1353" y="11225"/>
                </a:lnTo>
                <a:lnTo>
                  <a:pt x="1498" y="11586"/>
                </a:lnTo>
                <a:lnTo>
                  <a:pt x="1536" y="6074"/>
                </a:lnTo>
                <a:close/>
              </a:path>
              <a:path w="41910" h="17145">
                <a:moveTo>
                  <a:pt x="2402" y="3579"/>
                </a:moveTo>
                <a:lnTo>
                  <a:pt x="1548" y="4419"/>
                </a:lnTo>
                <a:lnTo>
                  <a:pt x="1538" y="5851"/>
                </a:lnTo>
                <a:lnTo>
                  <a:pt x="2402" y="3579"/>
                </a:lnTo>
                <a:close/>
              </a:path>
              <a:path w="41910" h="17145">
                <a:moveTo>
                  <a:pt x="2871" y="3114"/>
                </a:moveTo>
                <a:lnTo>
                  <a:pt x="2402" y="3579"/>
                </a:lnTo>
                <a:lnTo>
                  <a:pt x="1538" y="5851"/>
                </a:lnTo>
                <a:lnTo>
                  <a:pt x="1905" y="5256"/>
                </a:lnTo>
                <a:lnTo>
                  <a:pt x="2871" y="3114"/>
                </a:lnTo>
                <a:close/>
              </a:path>
              <a:path w="41910" h="17145">
                <a:moveTo>
                  <a:pt x="11024" y="1021"/>
                </a:moveTo>
                <a:lnTo>
                  <a:pt x="10326" y="1021"/>
                </a:lnTo>
                <a:lnTo>
                  <a:pt x="13065" y="2256"/>
                </a:lnTo>
                <a:lnTo>
                  <a:pt x="14498" y="3114"/>
                </a:lnTo>
                <a:lnTo>
                  <a:pt x="16975" y="4419"/>
                </a:lnTo>
                <a:lnTo>
                  <a:pt x="16670" y="4149"/>
                </a:lnTo>
                <a:lnTo>
                  <a:pt x="14494" y="1543"/>
                </a:lnTo>
                <a:lnTo>
                  <a:pt x="14806" y="1543"/>
                </a:lnTo>
                <a:lnTo>
                  <a:pt x="13356" y="1246"/>
                </a:lnTo>
                <a:lnTo>
                  <a:pt x="13094" y="1246"/>
                </a:lnTo>
                <a:lnTo>
                  <a:pt x="11024" y="1021"/>
                </a:lnTo>
                <a:close/>
              </a:path>
              <a:path w="41910" h="17145">
                <a:moveTo>
                  <a:pt x="3164" y="2464"/>
                </a:moveTo>
                <a:lnTo>
                  <a:pt x="2732" y="2711"/>
                </a:lnTo>
                <a:lnTo>
                  <a:pt x="2402" y="3579"/>
                </a:lnTo>
                <a:lnTo>
                  <a:pt x="2871" y="3114"/>
                </a:lnTo>
                <a:lnTo>
                  <a:pt x="3053" y="2711"/>
                </a:lnTo>
                <a:lnTo>
                  <a:pt x="3164" y="2464"/>
                </a:lnTo>
                <a:close/>
              </a:path>
              <a:path w="41910" h="17145">
                <a:moveTo>
                  <a:pt x="3967" y="2032"/>
                </a:moveTo>
                <a:lnTo>
                  <a:pt x="3164" y="2464"/>
                </a:lnTo>
                <a:lnTo>
                  <a:pt x="2871" y="3114"/>
                </a:lnTo>
                <a:lnTo>
                  <a:pt x="3967" y="2032"/>
                </a:lnTo>
                <a:close/>
              </a:path>
              <a:path w="41910" h="17145">
                <a:moveTo>
                  <a:pt x="4765" y="1246"/>
                </a:moveTo>
                <a:lnTo>
                  <a:pt x="3497" y="1725"/>
                </a:lnTo>
                <a:lnTo>
                  <a:pt x="3359" y="2032"/>
                </a:lnTo>
                <a:lnTo>
                  <a:pt x="3258" y="2256"/>
                </a:lnTo>
                <a:lnTo>
                  <a:pt x="3164" y="2464"/>
                </a:lnTo>
                <a:lnTo>
                  <a:pt x="3967" y="2032"/>
                </a:lnTo>
                <a:lnTo>
                  <a:pt x="4765" y="1246"/>
                </a:lnTo>
                <a:close/>
              </a:path>
              <a:path w="41910" h="17145">
                <a:moveTo>
                  <a:pt x="8060" y="0"/>
                </a:moveTo>
                <a:lnTo>
                  <a:pt x="4765" y="1246"/>
                </a:lnTo>
                <a:lnTo>
                  <a:pt x="3967" y="2032"/>
                </a:lnTo>
                <a:lnTo>
                  <a:pt x="5851" y="1021"/>
                </a:lnTo>
                <a:lnTo>
                  <a:pt x="10326" y="1021"/>
                </a:lnTo>
                <a:lnTo>
                  <a:pt x="8060" y="0"/>
                </a:lnTo>
                <a:close/>
              </a:path>
              <a:path w="41910" h="17145">
                <a:moveTo>
                  <a:pt x="14247" y="1246"/>
                </a:moveTo>
                <a:lnTo>
                  <a:pt x="13356" y="1246"/>
                </a:lnTo>
                <a:lnTo>
                  <a:pt x="14806" y="1543"/>
                </a:lnTo>
                <a:lnTo>
                  <a:pt x="14494" y="1543"/>
                </a:lnTo>
                <a:lnTo>
                  <a:pt x="14247" y="1246"/>
                </a:lnTo>
                <a:close/>
              </a:path>
              <a:path w="41910" h="17145">
                <a:moveTo>
                  <a:pt x="5360" y="1021"/>
                </a:moveTo>
                <a:lnTo>
                  <a:pt x="4993" y="1021"/>
                </a:lnTo>
                <a:lnTo>
                  <a:pt x="4765" y="1246"/>
                </a:lnTo>
                <a:lnTo>
                  <a:pt x="5360" y="1021"/>
                </a:lnTo>
                <a:close/>
              </a:path>
              <a:path w="41910" h="17145">
                <a:moveTo>
                  <a:pt x="12255" y="1021"/>
                </a:moveTo>
                <a:lnTo>
                  <a:pt x="11024" y="1021"/>
                </a:lnTo>
                <a:lnTo>
                  <a:pt x="13094" y="1246"/>
                </a:lnTo>
                <a:lnTo>
                  <a:pt x="13356" y="1246"/>
                </a:lnTo>
                <a:lnTo>
                  <a:pt x="12255" y="10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04300" y="6060510"/>
            <a:ext cx="34925" cy="17145"/>
          </a:xfrm>
          <a:custGeom>
            <a:avLst/>
            <a:gdLst/>
            <a:ahLst/>
            <a:cxnLst/>
            <a:rect l="l" t="t" r="r" b="b"/>
            <a:pathLst>
              <a:path w="34925" h="17145">
                <a:moveTo>
                  <a:pt x="26515" y="0"/>
                </a:moveTo>
                <a:lnTo>
                  <a:pt x="25112" y="0"/>
                </a:lnTo>
                <a:lnTo>
                  <a:pt x="1497" y="3267"/>
                </a:lnTo>
                <a:lnTo>
                  <a:pt x="0" y="5246"/>
                </a:lnTo>
                <a:lnTo>
                  <a:pt x="515" y="8980"/>
                </a:lnTo>
                <a:lnTo>
                  <a:pt x="1682" y="10275"/>
                </a:lnTo>
                <a:lnTo>
                  <a:pt x="27952" y="16751"/>
                </a:lnTo>
                <a:lnTo>
                  <a:pt x="32265" y="14143"/>
                </a:lnTo>
                <a:lnTo>
                  <a:pt x="34370" y="5607"/>
                </a:lnTo>
                <a:lnTo>
                  <a:pt x="31762" y="1294"/>
                </a:lnTo>
                <a:lnTo>
                  <a:pt x="26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272552" y="5725745"/>
            <a:ext cx="639838" cy="1702589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4339749" y="6062512"/>
            <a:ext cx="36195" cy="17780"/>
          </a:xfrm>
          <a:custGeom>
            <a:avLst/>
            <a:gdLst/>
            <a:ahLst/>
            <a:cxnLst/>
            <a:rect l="l" t="t" r="r" b="b"/>
            <a:pathLst>
              <a:path w="36195" h="17779">
                <a:moveTo>
                  <a:pt x="27338" y="0"/>
                </a:moveTo>
                <a:lnTo>
                  <a:pt x="26245" y="0"/>
                </a:lnTo>
                <a:lnTo>
                  <a:pt x="1381" y="4913"/>
                </a:lnTo>
                <a:lnTo>
                  <a:pt x="0" y="6976"/>
                </a:lnTo>
                <a:lnTo>
                  <a:pt x="727" y="10659"/>
                </a:lnTo>
                <a:lnTo>
                  <a:pt x="1945" y="11877"/>
                </a:lnTo>
                <a:lnTo>
                  <a:pt x="29676" y="17357"/>
                </a:lnTo>
                <a:lnTo>
                  <a:pt x="34034" y="14437"/>
                </a:lnTo>
                <a:lnTo>
                  <a:pt x="35810" y="5455"/>
                </a:lnTo>
                <a:lnTo>
                  <a:pt x="32889" y="1097"/>
                </a:lnTo>
                <a:lnTo>
                  <a:pt x="273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87453" y="6061110"/>
            <a:ext cx="32384" cy="20955"/>
          </a:xfrm>
          <a:custGeom>
            <a:avLst/>
            <a:gdLst/>
            <a:ahLst/>
            <a:cxnLst/>
            <a:rect l="l" t="t" r="r" b="b"/>
            <a:pathLst>
              <a:path w="32385" h="20954">
                <a:moveTo>
                  <a:pt x="2565" y="0"/>
                </a:moveTo>
                <a:lnTo>
                  <a:pt x="269" y="2033"/>
                </a:lnTo>
                <a:lnTo>
                  <a:pt x="107" y="4704"/>
                </a:lnTo>
                <a:lnTo>
                  <a:pt x="0" y="6474"/>
                </a:lnTo>
                <a:lnTo>
                  <a:pt x="869" y="8162"/>
                </a:lnTo>
                <a:lnTo>
                  <a:pt x="20944" y="20722"/>
                </a:lnTo>
                <a:lnTo>
                  <a:pt x="26581" y="19423"/>
                </a:lnTo>
                <a:lnTo>
                  <a:pt x="31934" y="10868"/>
                </a:lnTo>
                <a:lnTo>
                  <a:pt x="30636" y="5231"/>
                </a:lnTo>
                <a:lnTo>
                  <a:pt x="25064" y="1744"/>
                </a:lnTo>
                <a:lnTo>
                  <a:pt x="23587" y="1272"/>
                </a:lnTo>
                <a:lnTo>
                  <a:pt x="25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053726" y="6396296"/>
            <a:ext cx="34290" cy="26034"/>
          </a:xfrm>
          <a:custGeom>
            <a:avLst/>
            <a:gdLst/>
            <a:ahLst/>
            <a:cxnLst/>
            <a:rect l="l" t="t" r="r" b="b"/>
            <a:pathLst>
              <a:path w="34289" h="26035">
                <a:moveTo>
                  <a:pt x="1365" y="15299"/>
                </a:moveTo>
                <a:lnTo>
                  <a:pt x="30187" y="26003"/>
                </a:lnTo>
                <a:lnTo>
                  <a:pt x="32925" y="24103"/>
                </a:lnTo>
                <a:lnTo>
                  <a:pt x="33670" y="19988"/>
                </a:lnTo>
                <a:lnTo>
                  <a:pt x="33722" y="19699"/>
                </a:lnTo>
                <a:lnTo>
                  <a:pt x="8903" y="19699"/>
                </a:lnTo>
                <a:lnTo>
                  <a:pt x="1365" y="15299"/>
                </a:lnTo>
                <a:close/>
              </a:path>
              <a:path w="34289" h="26035">
                <a:moveTo>
                  <a:pt x="10387" y="1827"/>
                </a:moveTo>
                <a:lnTo>
                  <a:pt x="4722" y="4051"/>
                </a:lnTo>
                <a:lnTo>
                  <a:pt x="3355" y="5211"/>
                </a:lnTo>
                <a:lnTo>
                  <a:pt x="443" y="10101"/>
                </a:lnTo>
                <a:lnTo>
                  <a:pt x="363" y="10971"/>
                </a:lnTo>
                <a:lnTo>
                  <a:pt x="845" y="13055"/>
                </a:lnTo>
                <a:lnTo>
                  <a:pt x="1212" y="14815"/>
                </a:lnTo>
                <a:lnTo>
                  <a:pt x="1365" y="15299"/>
                </a:lnTo>
                <a:lnTo>
                  <a:pt x="8903" y="19699"/>
                </a:lnTo>
                <a:lnTo>
                  <a:pt x="13700" y="18505"/>
                </a:lnTo>
                <a:lnTo>
                  <a:pt x="15940" y="14815"/>
                </a:lnTo>
                <a:lnTo>
                  <a:pt x="18562" y="13055"/>
                </a:lnTo>
                <a:lnTo>
                  <a:pt x="21806" y="12064"/>
                </a:lnTo>
                <a:lnTo>
                  <a:pt x="22621" y="11797"/>
                </a:lnTo>
                <a:lnTo>
                  <a:pt x="20832" y="10971"/>
                </a:lnTo>
                <a:lnTo>
                  <a:pt x="16527" y="7865"/>
                </a:lnTo>
                <a:lnTo>
                  <a:pt x="15041" y="4051"/>
                </a:lnTo>
                <a:lnTo>
                  <a:pt x="14951" y="3818"/>
                </a:lnTo>
                <a:lnTo>
                  <a:pt x="10387" y="1827"/>
                </a:lnTo>
                <a:close/>
              </a:path>
              <a:path w="34289" h="26035">
                <a:moveTo>
                  <a:pt x="22621" y="11797"/>
                </a:moveTo>
                <a:lnTo>
                  <a:pt x="21806" y="12064"/>
                </a:lnTo>
                <a:lnTo>
                  <a:pt x="18562" y="13055"/>
                </a:lnTo>
                <a:lnTo>
                  <a:pt x="15940" y="14815"/>
                </a:lnTo>
                <a:lnTo>
                  <a:pt x="13700" y="18505"/>
                </a:lnTo>
                <a:lnTo>
                  <a:pt x="8903" y="19699"/>
                </a:lnTo>
                <a:lnTo>
                  <a:pt x="33722" y="19699"/>
                </a:lnTo>
                <a:lnTo>
                  <a:pt x="33863" y="18917"/>
                </a:lnTo>
                <a:lnTo>
                  <a:pt x="32682" y="16596"/>
                </a:lnTo>
                <a:lnTo>
                  <a:pt x="25798" y="13264"/>
                </a:lnTo>
                <a:lnTo>
                  <a:pt x="22621" y="11797"/>
                </a:lnTo>
                <a:close/>
              </a:path>
              <a:path w="34289" h="26035">
                <a:moveTo>
                  <a:pt x="240" y="10441"/>
                </a:moveTo>
                <a:lnTo>
                  <a:pt x="0" y="10971"/>
                </a:lnTo>
                <a:lnTo>
                  <a:pt x="1212" y="14815"/>
                </a:lnTo>
                <a:lnTo>
                  <a:pt x="894" y="13264"/>
                </a:lnTo>
                <a:lnTo>
                  <a:pt x="363" y="10971"/>
                </a:lnTo>
                <a:lnTo>
                  <a:pt x="240" y="10441"/>
                </a:lnTo>
                <a:close/>
              </a:path>
              <a:path w="34289" h="26035">
                <a:moveTo>
                  <a:pt x="25613" y="0"/>
                </a:moveTo>
                <a:lnTo>
                  <a:pt x="19178" y="0"/>
                </a:lnTo>
                <a:lnTo>
                  <a:pt x="15466" y="201"/>
                </a:lnTo>
                <a:lnTo>
                  <a:pt x="7804" y="1827"/>
                </a:lnTo>
                <a:lnTo>
                  <a:pt x="10387" y="1827"/>
                </a:lnTo>
                <a:lnTo>
                  <a:pt x="14951" y="3818"/>
                </a:lnTo>
                <a:lnTo>
                  <a:pt x="16527" y="7865"/>
                </a:lnTo>
                <a:lnTo>
                  <a:pt x="20832" y="10971"/>
                </a:lnTo>
                <a:lnTo>
                  <a:pt x="22621" y="11797"/>
                </a:lnTo>
                <a:lnTo>
                  <a:pt x="27794" y="10101"/>
                </a:lnTo>
                <a:lnTo>
                  <a:pt x="29435" y="6860"/>
                </a:lnTo>
                <a:lnTo>
                  <a:pt x="27657" y="1440"/>
                </a:lnTo>
                <a:lnTo>
                  <a:pt x="25613" y="0"/>
                </a:lnTo>
                <a:close/>
              </a:path>
              <a:path w="34289" h="26035">
                <a:moveTo>
                  <a:pt x="10387" y="1827"/>
                </a:moveTo>
                <a:lnTo>
                  <a:pt x="7996" y="1827"/>
                </a:lnTo>
                <a:lnTo>
                  <a:pt x="4473" y="3333"/>
                </a:lnTo>
                <a:lnTo>
                  <a:pt x="3355" y="5211"/>
                </a:lnTo>
                <a:lnTo>
                  <a:pt x="4722" y="4051"/>
                </a:lnTo>
                <a:lnTo>
                  <a:pt x="10387" y="18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173376" y="6535264"/>
            <a:ext cx="34290" cy="40640"/>
          </a:xfrm>
          <a:custGeom>
            <a:avLst/>
            <a:gdLst/>
            <a:ahLst/>
            <a:cxnLst/>
            <a:rect l="l" t="t" r="r" b="b"/>
            <a:pathLst>
              <a:path w="34289" h="40640">
                <a:moveTo>
                  <a:pt x="604" y="20905"/>
                </a:moveTo>
                <a:lnTo>
                  <a:pt x="28748" y="40305"/>
                </a:lnTo>
                <a:lnTo>
                  <a:pt x="31941" y="38931"/>
                </a:lnTo>
                <a:lnTo>
                  <a:pt x="33958" y="33869"/>
                </a:lnTo>
                <a:lnTo>
                  <a:pt x="33277" y="31300"/>
                </a:lnTo>
                <a:lnTo>
                  <a:pt x="29089" y="27962"/>
                </a:lnTo>
                <a:lnTo>
                  <a:pt x="12122" y="27962"/>
                </a:lnTo>
                <a:lnTo>
                  <a:pt x="3143" y="25433"/>
                </a:lnTo>
                <a:lnTo>
                  <a:pt x="604" y="20905"/>
                </a:lnTo>
                <a:close/>
              </a:path>
              <a:path w="34289" h="40640">
                <a:moveTo>
                  <a:pt x="13319" y="9745"/>
                </a:moveTo>
                <a:lnTo>
                  <a:pt x="5440" y="10798"/>
                </a:lnTo>
                <a:lnTo>
                  <a:pt x="2714" y="13163"/>
                </a:lnTo>
                <a:lnTo>
                  <a:pt x="997" y="19245"/>
                </a:lnTo>
                <a:lnTo>
                  <a:pt x="604" y="20905"/>
                </a:lnTo>
                <a:lnTo>
                  <a:pt x="3143" y="25433"/>
                </a:lnTo>
                <a:lnTo>
                  <a:pt x="12122" y="27962"/>
                </a:lnTo>
                <a:lnTo>
                  <a:pt x="11980" y="27962"/>
                </a:lnTo>
                <a:lnTo>
                  <a:pt x="16493" y="25433"/>
                </a:lnTo>
                <a:lnTo>
                  <a:pt x="16620" y="25433"/>
                </a:lnTo>
                <a:lnTo>
                  <a:pt x="17895" y="20905"/>
                </a:lnTo>
                <a:lnTo>
                  <a:pt x="18318" y="19245"/>
                </a:lnTo>
                <a:lnTo>
                  <a:pt x="18843" y="18534"/>
                </a:lnTo>
                <a:lnTo>
                  <a:pt x="18122" y="17535"/>
                </a:lnTo>
                <a:lnTo>
                  <a:pt x="17550" y="13163"/>
                </a:lnTo>
                <a:lnTo>
                  <a:pt x="17523" y="12958"/>
                </a:lnTo>
                <a:lnTo>
                  <a:pt x="13319" y="9745"/>
                </a:lnTo>
                <a:close/>
              </a:path>
              <a:path w="34289" h="40640">
                <a:moveTo>
                  <a:pt x="18843" y="18534"/>
                </a:moveTo>
                <a:lnTo>
                  <a:pt x="18318" y="19245"/>
                </a:lnTo>
                <a:lnTo>
                  <a:pt x="17895" y="20905"/>
                </a:lnTo>
                <a:lnTo>
                  <a:pt x="16620" y="25433"/>
                </a:lnTo>
                <a:lnTo>
                  <a:pt x="16493" y="25433"/>
                </a:lnTo>
                <a:lnTo>
                  <a:pt x="11980" y="27962"/>
                </a:lnTo>
                <a:lnTo>
                  <a:pt x="29089" y="27962"/>
                </a:lnTo>
                <a:lnTo>
                  <a:pt x="28282" y="27319"/>
                </a:lnTo>
                <a:lnTo>
                  <a:pt x="25214" y="24785"/>
                </a:lnTo>
                <a:lnTo>
                  <a:pt x="21098" y="20905"/>
                </a:lnTo>
                <a:lnTo>
                  <a:pt x="19370" y="19245"/>
                </a:lnTo>
                <a:lnTo>
                  <a:pt x="18843" y="18534"/>
                </a:lnTo>
                <a:close/>
              </a:path>
              <a:path w="34289" h="40640">
                <a:moveTo>
                  <a:pt x="26963" y="9745"/>
                </a:moveTo>
                <a:lnTo>
                  <a:pt x="13319" y="9745"/>
                </a:lnTo>
                <a:lnTo>
                  <a:pt x="17523" y="12958"/>
                </a:lnTo>
                <a:lnTo>
                  <a:pt x="18122" y="17535"/>
                </a:lnTo>
                <a:lnTo>
                  <a:pt x="18843" y="18534"/>
                </a:lnTo>
                <a:lnTo>
                  <a:pt x="19122" y="18157"/>
                </a:lnTo>
                <a:lnTo>
                  <a:pt x="21816" y="14776"/>
                </a:lnTo>
                <a:lnTo>
                  <a:pt x="23815" y="12759"/>
                </a:lnTo>
                <a:lnTo>
                  <a:pt x="26963" y="9745"/>
                </a:lnTo>
                <a:close/>
              </a:path>
              <a:path w="34289" h="40640">
                <a:moveTo>
                  <a:pt x="21428" y="0"/>
                </a:moveTo>
                <a:lnTo>
                  <a:pt x="12536" y="4372"/>
                </a:lnTo>
                <a:lnTo>
                  <a:pt x="3957" y="8740"/>
                </a:lnTo>
                <a:lnTo>
                  <a:pt x="2824" y="12759"/>
                </a:lnTo>
                <a:lnTo>
                  <a:pt x="2711" y="13163"/>
                </a:lnTo>
                <a:lnTo>
                  <a:pt x="5440" y="10798"/>
                </a:lnTo>
                <a:lnTo>
                  <a:pt x="13319" y="9745"/>
                </a:lnTo>
                <a:lnTo>
                  <a:pt x="26963" y="9745"/>
                </a:lnTo>
                <a:lnTo>
                  <a:pt x="28232" y="8531"/>
                </a:lnTo>
                <a:lnTo>
                  <a:pt x="28314" y="4755"/>
                </a:lnTo>
                <a:lnTo>
                  <a:pt x="24237" y="496"/>
                </a:lnTo>
                <a:lnTo>
                  <a:pt x="214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21667" y="6651675"/>
            <a:ext cx="26670" cy="31115"/>
          </a:xfrm>
          <a:custGeom>
            <a:avLst/>
            <a:gdLst/>
            <a:ahLst/>
            <a:cxnLst/>
            <a:rect l="l" t="t" r="r" b="b"/>
            <a:pathLst>
              <a:path w="26670" h="31115">
                <a:moveTo>
                  <a:pt x="8241" y="0"/>
                </a:moveTo>
                <a:lnTo>
                  <a:pt x="5864" y="799"/>
                </a:lnTo>
                <a:lnTo>
                  <a:pt x="0" y="7370"/>
                </a:lnTo>
                <a:lnTo>
                  <a:pt x="116" y="14297"/>
                </a:lnTo>
                <a:lnTo>
                  <a:pt x="6920" y="24422"/>
                </a:lnTo>
                <a:lnTo>
                  <a:pt x="12357" y="27500"/>
                </a:lnTo>
                <a:lnTo>
                  <a:pt x="20747" y="30927"/>
                </a:lnTo>
                <a:lnTo>
                  <a:pt x="24218" y="29469"/>
                </a:lnTo>
                <a:lnTo>
                  <a:pt x="26279" y="24422"/>
                </a:lnTo>
                <a:lnTo>
                  <a:pt x="26399" y="24128"/>
                </a:lnTo>
                <a:lnTo>
                  <a:pt x="25808" y="21485"/>
                </a:lnTo>
                <a:lnTo>
                  <a:pt x="21285" y="17329"/>
                </a:lnTo>
                <a:lnTo>
                  <a:pt x="18454" y="14645"/>
                </a:lnTo>
                <a:lnTo>
                  <a:pt x="16055" y="10461"/>
                </a:lnTo>
                <a:lnTo>
                  <a:pt x="15587" y="9413"/>
                </a:lnTo>
                <a:lnTo>
                  <a:pt x="16517" y="4657"/>
                </a:lnTo>
                <a:lnTo>
                  <a:pt x="14161" y="1156"/>
                </a:lnTo>
                <a:lnTo>
                  <a:pt x="82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86220" y="6793068"/>
            <a:ext cx="16510" cy="47625"/>
          </a:xfrm>
          <a:custGeom>
            <a:avLst/>
            <a:gdLst/>
            <a:ahLst/>
            <a:cxnLst/>
            <a:rect l="l" t="t" r="r" b="b"/>
            <a:pathLst>
              <a:path w="16510" h="47625">
                <a:moveTo>
                  <a:pt x="6024" y="0"/>
                </a:moveTo>
                <a:lnTo>
                  <a:pt x="1499" y="933"/>
                </a:lnTo>
                <a:lnTo>
                  <a:pt x="0" y="2776"/>
                </a:lnTo>
                <a:lnTo>
                  <a:pt x="46" y="43805"/>
                </a:lnTo>
                <a:lnTo>
                  <a:pt x="3630" y="47381"/>
                </a:lnTo>
                <a:lnTo>
                  <a:pt x="12453" y="47381"/>
                </a:lnTo>
                <a:lnTo>
                  <a:pt x="16020" y="43805"/>
                </a:lnTo>
                <a:lnTo>
                  <a:pt x="15977" y="38292"/>
                </a:lnTo>
                <a:lnTo>
                  <a:pt x="8404" y="1565"/>
                </a:lnTo>
                <a:lnTo>
                  <a:pt x="60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052128" y="6272090"/>
            <a:ext cx="19685" cy="29209"/>
          </a:xfrm>
          <a:custGeom>
            <a:avLst/>
            <a:gdLst/>
            <a:ahLst/>
            <a:cxnLst/>
            <a:rect l="l" t="t" r="r" b="b"/>
            <a:pathLst>
              <a:path w="19685" h="29210">
                <a:moveTo>
                  <a:pt x="15754" y="0"/>
                </a:moveTo>
                <a:lnTo>
                  <a:pt x="8093" y="1568"/>
                </a:lnTo>
                <a:lnTo>
                  <a:pt x="3322" y="4852"/>
                </a:lnTo>
                <a:lnTo>
                  <a:pt x="0" y="15593"/>
                </a:lnTo>
                <a:lnTo>
                  <a:pt x="1631" y="21357"/>
                </a:lnTo>
                <a:lnTo>
                  <a:pt x="4639" y="27996"/>
                </a:lnTo>
                <a:lnTo>
                  <a:pt x="6658" y="28756"/>
                </a:lnTo>
                <a:lnTo>
                  <a:pt x="9832" y="27318"/>
                </a:lnTo>
                <a:lnTo>
                  <a:pt x="10633" y="25729"/>
                </a:lnTo>
                <a:lnTo>
                  <a:pt x="9695" y="21357"/>
                </a:lnTo>
                <a:lnTo>
                  <a:pt x="9579" y="20817"/>
                </a:lnTo>
                <a:lnTo>
                  <a:pt x="8905" y="16736"/>
                </a:lnTo>
                <a:lnTo>
                  <a:pt x="11311" y="11230"/>
                </a:lnTo>
                <a:lnTo>
                  <a:pt x="13506" y="10060"/>
                </a:lnTo>
                <a:lnTo>
                  <a:pt x="18163" y="8601"/>
                </a:lnTo>
                <a:lnTo>
                  <a:pt x="19511" y="6022"/>
                </a:lnTo>
                <a:lnTo>
                  <a:pt x="18115" y="1568"/>
                </a:lnTo>
                <a:lnTo>
                  <a:pt x="18047" y="1351"/>
                </a:lnTo>
                <a:lnTo>
                  <a:pt x="157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061906" y="6401048"/>
            <a:ext cx="22860" cy="27305"/>
          </a:xfrm>
          <a:custGeom>
            <a:avLst/>
            <a:gdLst/>
            <a:ahLst/>
            <a:cxnLst/>
            <a:rect l="l" t="t" r="r" b="b"/>
            <a:pathLst>
              <a:path w="22860" h="27304">
                <a:moveTo>
                  <a:pt x="11106" y="0"/>
                </a:moveTo>
                <a:lnTo>
                  <a:pt x="5161" y="2241"/>
                </a:lnTo>
                <a:lnTo>
                  <a:pt x="0" y="12904"/>
                </a:lnTo>
                <a:lnTo>
                  <a:pt x="1268" y="18889"/>
                </a:lnTo>
                <a:lnTo>
                  <a:pt x="3412" y="23941"/>
                </a:lnTo>
                <a:lnTo>
                  <a:pt x="4349" y="26147"/>
                </a:lnTo>
                <a:lnTo>
                  <a:pt x="6897" y="27177"/>
                </a:lnTo>
                <a:lnTo>
                  <a:pt x="10802" y="25520"/>
                </a:lnTo>
                <a:lnTo>
                  <a:pt x="11860" y="23804"/>
                </a:lnTo>
                <a:lnTo>
                  <a:pt x="11385" y="15894"/>
                </a:lnTo>
                <a:lnTo>
                  <a:pt x="13893" y="11983"/>
                </a:lnTo>
                <a:lnTo>
                  <a:pt x="15979" y="11445"/>
                </a:lnTo>
                <a:lnTo>
                  <a:pt x="20654" y="10541"/>
                </a:lnTo>
                <a:lnTo>
                  <a:pt x="22593" y="7672"/>
                </a:lnTo>
                <a:lnTo>
                  <a:pt x="21541" y="2231"/>
                </a:lnTo>
                <a:lnTo>
                  <a:pt x="19433" y="403"/>
                </a:lnTo>
                <a:lnTo>
                  <a:pt x="111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050115" y="6554530"/>
            <a:ext cx="25400" cy="45085"/>
          </a:xfrm>
          <a:custGeom>
            <a:avLst/>
            <a:gdLst/>
            <a:ahLst/>
            <a:cxnLst/>
            <a:rect l="l" t="t" r="r" b="b"/>
            <a:pathLst>
              <a:path w="25400" h="45084">
                <a:moveTo>
                  <a:pt x="19244" y="0"/>
                </a:moveTo>
                <a:lnTo>
                  <a:pt x="9380" y="3298"/>
                </a:lnTo>
                <a:lnTo>
                  <a:pt x="3983" y="9104"/>
                </a:lnTo>
                <a:lnTo>
                  <a:pt x="0" y="24673"/>
                </a:lnTo>
                <a:lnTo>
                  <a:pt x="1811" y="33326"/>
                </a:lnTo>
                <a:lnTo>
                  <a:pt x="4549" y="41053"/>
                </a:lnTo>
                <a:lnTo>
                  <a:pt x="5462" y="43631"/>
                </a:lnTo>
                <a:lnTo>
                  <a:pt x="8291" y="44980"/>
                </a:lnTo>
                <a:lnTo>
                  <a:pt x="13098" y="43277"/>
                </a:lnTo>
                <a:lnTo>
                  <a:pt x="14457" y="41022"/>
                </a:lnTo>
                <a:lnTo>
                  <a:pt x="13229" y="32619"/>
                </a:lnTo>
                <a:lnTo>
                  <a:pt x="12675" y="26000"/>
                </a:lnTo>
                <a:lnTo>
                  <a:pt x="15648" y="16260"/>
                </a:lnTo>
                <a:lnTo>
                  <a:pt x="18012" y="13252"/>
                </a:lnTo>
                <a:lnTo>
                  <a:pt x="24146" y="9627"/>
                </a:lnTo>
                <a:lnTo>
                  <a:pt x="25050" y="6108"/>
                </a:lnTo>
                <a:lnTo>
                  <a:pt x="22062" y="1051"/>
                </a:lnTo>
                <a:lnTo>
                  <a:pt x="192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068596" y="7130943"/>
            <a:ext cx="63500" cy="22860"/>
          </a:xfrm>
          <a:custGeom>
            <a:avLst/>
            <a:gdLst/>
            <a:ahLst/>
            <a:cxnLst/>
            <a:rect l="l" t="t" r="r" b="b"/>
            <a:pathLst>
              <a:path w="63500" h="22859">
                <a:moveTo>
                  <a:pt x="21775" y="13461"/>
                </a:moveTo>
                <a:lnTo>
                  <a:pt x="14471" y="14212"/>
                </a:lnTo>
                <a:lnTo>
                  <a:pt x="14731" y="14212"/>
                </a:lnTo>
                <a:lnTo>
                  <a:pt x="12194" y="14636"/>
                </a:lnTo>
                <a:lnTo>
                  <a:pt x="10055" y="15980"/>
                </a:lnTo>
                <a:lnTo>
                  <a:pt x="5694" y="16246"/>
                </a:lnTo>
                <a:lnTo>
                  <a:pt x="7490" y="16246"/>
                </a:lnTo>
                <a:lnTo>
                  <a:pt x="11026" y="17979"/>
                </a:lnTo>
                <a:lnTo>
                  <a:pt x="16265" y="20436"/>
                </a:lnTo>
                <a:lnTo>
                  <a:pt x="16811" y="20436"/>
                </a:lnTo>
                <a:lnTo>
                  <a:pt x="22420" y="20787"/>
                </a:lnTo>
                <a:lnTo>
                  <a:pt x="60059" y="22731"/>
                </a:lnTo>
                <a:lnTo>
                  <a:pt x="60492" y="22731"/>
                </a:lnTo>
                <a:lnTo>
                  <a:pt x="62881" y="20436"/>
                </a:lnTo>
                <a:lnTo>
                  <a:pt x="62893" y="19816"/>
                </a:lnTo>
                <a:lnTo>
                  <a:pt x="14768" y="19816"/>
                </a:lnTo>
                <a:lnTo>
                  <a:pt x="19441" y="18220"/>
                </a:lnTo>
                <a:lnTo>
                  <a:pt x="21775" y="13461"/>
                </a:lnTo>
                <a:close/>
              </a:path>
              <a:path w="63500" h="22859">
                <a:moveTo>
                  <a:pt x="11539" y="18220"/>
                </a:moveTo>
                <a:lnTo>
                  <a:pt x="14768" y="19816"/>
                </a:lnTo>
                <a:lnTo>
                  <a:pt x="14944" y="19816"/>
                </a:lnTo>
                <a:lnTo>
                  <a:pt x="11539" y="18220"/>
                </a:lnTo>
                <a:close/>
              </a:path>
              <a:path w="63500" h="22859">
                <a:moveTo>
                  <a:pt x="26003" y="5985"/>
                </a:moveTo>
                <a:lnTo>
                  <a:pt x="26119" y="7118"/>
                </a:lnTo>
                <a:lnTo>
                  <a:pt x="26241" y="8314"/>
                </a:lnTo>
                <a:lnTo>
                  <a:pt x="26355" y="9430"/>
                </a:lnTo>
                <a:lnTo>
                  <a:pt x="26427" y="10486"/>
                </a:lnTo>
                <a:lnTo>
                  <a:pt x="24208" y="13210"/>
                </a:lnTo>
                <a:lnTo>
                  <a:pt x="21775" y="13461"/>
                </a:lnTo>
                <a:lnTo>
                  <a:pt x="19559" y="17979"/>
                </a:lnTo>
                <a:lnTo>
                  <a:pt x="19441" y="18220"/>
                </a:lnTo>
                <a:lnTo>
                  <a:pt x="14768" y="19816"/>
                </a:lnTo>
                <a:lnTo>
                  <a:pt x="62893" y="19816"/>
                </a:lnTo>
                <a:lnTo>
                  <a:pt x="62988" y="15016"/>
                </a:lnTo>
                <a:lnTo>
                  <a:pt x="62712" y="14636"/>
                </a:lnTo>
                <a:lnTo>
                  <a:pt x="61161" y="12746"/>
                </a:lnTo>
                <a:lnTo>
                  <a:pt x="44380" y="9689"/>
                </a:lnTo>
                <a:lnTo>
                  <a:pt x="37269" y="8314"/>
                </a:lnTo>
                <a:lnTo>
                  <a:pt x="26003" y="5985"/>
                </a:lnTo>
                <a:close/>
              </a:path>
              <a:path w="63500" h="22859">
                <a:moveTo>
                  <a:pt x="4980" y="15016"/>
                </a:moveTo>
                <a:lnTo>
                  <a:pt x="7331" y="16246"/>
                </a:lnTo>
                <a:lnTo>
                  <a:pt x="11026" y="17979"/>
                </a:lnTo>
                <a:lnTo>
                  <a:pt x="4980" y="15016"/>
                </a:lnTo>
                <a:close/>
              </a:path>
              <a:path w="63500" h="22859">
                <a:moveTo>
                  <a:pt x="6034" y="395"/>
                </a:moveTo>
                <a:lnTo>
                  <a:pt x="4555" y="1100"/>
                </a:lnTo>
                <a:lnTo>
                  <a:pt x="3078" y="2722"/>
                </a:lnTo>
                <a:lnTo>
                  <a:pt x="1999" y="3785"/>
                </a:lnTo>
                <a:lnTo>
                  <a:pt x="909" y="6864"/>
                </a:lnTo>
                <a:lnTo>
                  <a:pt x="762" y="7118"/>
                </a:lnTo>
                <a:lnTo>
                  <a:pt x="733" y="9689"/>
                </a:lnTo>
                <a:lnTo>
                  <a:pt x="7490" y="16246"/>
                </a:lnTo>
                <a:lnTo>
                  <a:pt x="7271" y="15980"/>
                </a:lnTo>
                <a:lnTo>
                  <a:pt x="5609" y="11994"/>
                </a:lnTo>
                <a:lnTo>
                  <a:pt x="8492" y="4282"/>
                </a:lnTo>
                <a:lnTo>
                  <a:pt x="8540" y="4154"/>
                </a:lnTo>
                <a:lnTo>
                  <a:pt x="12937" y="2150"/>
                </a:lnTo>
                <a:lnTo>
                  <a:pt x="8902" y="722"/>
                </a:lnTo>
                <a:lnTo>
                  <a:pt x="6034" y="395"/>
                </a:lnTo>
                <a:close/>
              </a:path>
              <a:path w="63500" h="22859">
                <a:moveTo>
                  <a:pt x="12937" y="2150"/>
                </a:moveTo>
                <a:lnTo>
                  <a:pt x="8540" y="4154"/>
                </a:lnTo>
                <a:lnTo>
                  <a:pt x="5609" y="11994"/>
                </a:lnTo>
                <a:lnTo>
                  <a:pt x="7271" y="15980"/>
                </a:lnTo>
                <a:lnTo>
                  <a:pt x="7382" y="16246"/>
                </a:lnTo>
                <a:lnTo>
                  <a:pt x="5694" y="16246"/>
                </a:lnTo>
                <a:lnTo>
                  <a:pt x="10055" y="15980"/>
                </a:lnTo>
                <a:lnTo>
                  <a:pt x="12194" y="14636"/>
                </a:lnTo>
                <a:lnTo>
                  <a:pt x="14731" y="14212"/>
                </a:lnTo>
                <a:lnTo>
                  <a:pt x="14471" y="14212"/>
                </a:lnTo>
                <a:lnTo>
                  <a:pt x="21775" y="13461"/>
                </a:lnTo>
                <a:lnTo>
                  <a:pt x="23234" y="10486"/>
                </a:lnTo>
                <a:lnTo>
                  <a:pt x="21696" y="5985"/>
                </a:lnTo>
                <a:lnTo>
                  <a:pt x="21638" y="5814"/>
                </a:lnTo>
                <a:lnTo>
                  <a:pt x="17500" y="3785"/>
                </a:lnTo>
                <a:lnTo>
                  <a:pt x="12937" y="2150"/>
                </a:lnTo>
                <a:close/>
              </a:path>
              <a:path w="63500" h="22859">
                <a:moveTo>
                  <a:pt x="755" y="7392"/>
                </a:moveTo>
                <a:lnTo>
                  <a:pt x="395" y="8314"/>
                </a:lnTo>
                <a:lnTo>
                  <a:pt x="0" y="9430"/>
                </a:lnTo>
                <a:lnTo>
                  <a:pt x="1541" y="13210"/>
                </a:lnTo>
                <a:lnTo>
                  <a:pt x="1643" y="13461"/>
                </a:lnTo>
                <a:lnTo>
                  <a:pt x="1811" y="13461"/>
                </a:lnTo>
                <a:lnTo>
                  <a:pt x="3342" y="14212"/>
                </a:lnTo>
                <a:lnTo>
                  <a:pt x="2561" y="13461"/>
                </a:lnTo>
                <a:lnTo>
                  <a:pt x="1890" y="12746"/>
                </a:lnTo>
                <a:lnTo>
                  <a:pt x="1581" y="11994"/>
                </a:lnTo>
                <a:lnTo>
                  <a:pt x="733" y="9689"/>
                </a:lnTo>
                <a:lnTo>
                  <a:pt x="755" y="7392"/>
                </a:lnTo>
                <a:close/>
              </a:path>
              <a:path w="63500" h="22859">
                <a:moveTo>
                  <a:pt x="17524" y="3785"/>
                </a:moveTo>
                <a:lnTo>
                  <a:pt x="21638" y="5814"/>
                </a:lnTo>
                <a:lnTo>
                  <a:pt x="23234" y="10486"/>
                </a:lnTo>
                <a:lnTo>
                  <a:pt x="21898" y="13210"/>
                </a:lnTo>
                <a:lnTo>
                  <a:pt x="21775" y="13461"/>
                </a:lnTo>
                <a:lnTo>
                  <a:pt x="24208" y="13210"/>
                </a:lnTo>
                <a:lnTo>
                  <a:pt x="26427" y="10486"/>
                </a:lnTo>
                <a:lnTo>
                  <a:pt x="26355" y="9430"/>
                </a:lnTo>
                <a:lnTo>
                  <a:pt x="26241" y="8314"/>
                </a:lnTo>
                <a:lnTo>
                  <a:pt x="26119" y="7118"/>
                </a:lnTo>
                <a:lnTo>
                  <a:pt x="26003" y="5985"/>
                </a:lnTo>
                <a:lnTo>
                  <a:pt x="21249" y="5178"/>
                </a:lnTo>
                <a:lnTo>
                  <a:pt x="17524" y="3785"/>
                </a:lnTo>
                <a:close/>
              </a:path>
              <a:path w="63500" h="22859">
                <a:moveTo>
                  <a:pt x="1869" y="4154"/>
                </a:moveTo>
                <a:lnTo>
                  <a:pt x="1656" y="4282"/>
                </a:lnTo>
                <a:lnTo>
                  <a:pt x="1023" y="5585"/>
                </a:lnTo>
                <a:lnTo>
                  <a:pt x="810" y="6864"/>
                </a:lnTo>
                <a:lnTo>
                  <a:pt x="1220" y="5985"/>
                </a:lnTo>
                <a:lnTo>
                  <a:pt x="1823" y="4282"/>
                </a:lnTo>
                <a:lnTo>
                  <a:pt x="1869" y="4154"/>
                </a:lnTo>
                <a:close/>
              </a:path>
              <a:path w="63500" h="22859">
                <a:moveTo>
                  <a:pt x="19929" y="2150"/>
                </a:moveTo>
                <a:lnTo>
                  <a:pt x="13151" y="2150"/>
                </a:lnTo>
                <a:lnTo>
                  <a:pt x="21249" y="5178"/>
                </a:lnTo>
                <a:lnTo>
                  <a:pt x="26050" y="5985"/>
                </a:lnTo>
                <a:lnTo>
                  <a:pt x="25963" y="5585"/>
                </a:lnTo>
                <a:lnTo>
                  <a:pt x="25881" y="4783"/>
                </a:lnTo>
                <a:lnTo>
                  <a:pt x="23902" y="2722"/>
                </a:lnTo>
                <a:lnTo>
                  <a:pt x="19929" y="2150"/>
                </a:lnTo>
                <a:close/>
              </a:path>
              <a:path w="63500" h="22859">
                <a:moveTo>
                  <a:pt x="4555" y="1100"/>
                </a:moveTo>
                <a:lnTo>
                  <a:pt x="2352" y="2150"/>
                </a:lnTo>
                <a:lnTo>
                  <a:pt x="2579" y="2150"/>
                </a:lnTo>
                <a:lnTo>
                  <a:pt x="1999" y="3785"/>
                </a:lnTo>
                <a:lnTo>
                  <a:pt x="3078" y="2722"/>
                </a:lnTo>
                <a:lnTo>
                  <a:pt x="4555" y="1100"/>
                </a:lnTo>
                <a:close/>
              </a:path>
              <a:path w="63500" h="22859">
                <a:moveTo>
                  <a:pt x="8902" y="722"/>
                </a:moveTo>
                <a:lnTo>
                  <a:pt x="17553" y="3785"/>
                </a:lnTo>
                <a:lnTo>
                  <a:pt x="13151" y="2150"/>
                </a:lnTo>
                <a:lnTo>
                  <a:pt x="19929" y="2150"/>
                </a:lnTo>
                <a:lnTo>
                  <a:pt x="15165" y="1466"/>
                </a:lnTo>
                <a:lnTo>
                  <a:pt x="8902" y="722"/>
                </a:lnTo>
                <a:close/>
              </a:path>
              <a:path w="63500" h="22859">
                <a:moveTo>
                  <a:pt x="6034" y="395"/>
                </a:moveTo>
                <a:lnTo>
                  <a:pt x="5198" y="395"/>
                </a:lnTo>
                <a:lnTo>
                  <a:pt x="4555" y="1100"/>
                </a:lnTo>
                <a:lnTo>
                  <a:pt x="6034" y="395"/>
                </a:lnTo>
                <a:close/>
              </a:path>
              <a:path w="63500" h="22859">
                <a:moveTo>
                  <a:pt x="6863" y="0"/>
                </a:moveTo>
                <a:lnTo>
                  <a:pt x="6034" y="395"/>
                </a:lnTo>
                <a:lnTo>
                  <a:pt x="8922" y="722"/>
                </a:lnTo>
                <a:lnTo>
                  <a:pt x="68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238532" y="7130335"/>
            <a:ext cx="29209" cy="20320"/>
          </a:xfrm>
          <a:custGeom>
            <a:avLst/>
            <a:gdLst/>
            <a:ahLst/>
            <a:cxnLst/>
            <a:rect l="l" t="t" r="r" b="b"/>
            <a:pathLst>
              <a:path w="29210" h="20320">
                <a:moveTo>
                  <a:pt x="22790" y="0"/>
                </a:moveTo>
                <a:lnTo>
                  <a:pt x="0" y="17010"/>
                </a:lnTo>
                <a:lnTo>
                  <a:pt x="2294" y="19721"/>
                </a:lnTo>
                <a:lnTo>
                  <a:pt x="3684" y="20227"/>
                </a:lnTo>
                <a:lnTo>
                  <a:pt x="25615" y="16464"/>
                </a:lnTo>
                <a:lnTo>
                  <a:pt x="28668" y="12145"/>
                </a:lnTo>
                <a:lnTo>
                  <a:pt x="27108" y="3052"/>
                </a:lnTo>
                <a:lnTo>
                  <a:pt x="227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370791" y="7143600"/>
            <a:ext cx="20320" cy="17145"/>
          </a:xfrm>
          <a:custGeom>
            <a:avLst/>
            <a:gdLst/>
            <a:ahLst/>
            <a:cxnLst/>
            <a:rect l="l" t="t" r="r" b="b"/>
            <a:pathLst>
              <a:path w="20320" h="17145">
                <a:moveTo>
                  <a:pt x="2921" y="0"/>
                </a:moveTo>
                <a:lnTo>
                  <a:pt x="671" y="1560"/>
                </a:lnTo>
                <a:lnTo>
                  <a:pt x="0" y="5275"/>
                </a:lnTo>
                <a:lnTo>
                  <a:pt x="424" y="6677"/>
                </a:lnTo>
                <a:lnTo>
                  <a:pt x="1386" y="7677"/>
                </a:lnTo>
                <a:lnTo>
                  <a:pt x="9941" y="16563"/>
                </a:lnTo>
                <a:lnTo>
                  <a:pt x="14405" y="16648"/>
                </a:lnTo>
                <a:lnTo>
                  <a:pt x="20017" y="11246"/>
                </a:lnTo>
                <a:lnTo>
                  <a:pt x="20102" y="6781"/>
                </a:lnTo>
                <a:lnTo>
                  <a:pt x="16372" y="2907"/>
                </a:lnTo>
                <a:lnTo>
                  <a:pt x="15034" y="2190"/>
                </a:lnTo>
                <a:lnTo>
                  <a:pt x="29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70931" y="6726001"/>
            <a:ext cx="471022" cy="689982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4752380" y="5716010"/>
            <a:ext cx="846455" cy="1475740"/>
            <a:chOff x="4752380" y="5716010"/>
            <a:chExt cx="846455" cy="1475740"/>
          </a:xfrm>
        </p:grpSpPr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52380" y="5716010"/>
              <a:ext cx="672291" cy="47959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94243" y="6038331"/>
              <a:ext cx="204105" cy="115313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0686" y="1694497"/>
            <a:ext cx="1279486" cy="6118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Direct</a:t>
            </a:r>
            <a:r>
              <a:rPr spc="35" dirty="0"/>
              <a:t> </a:t>
            </a:r>
            <a:r>
              <a:rPr dirty="0"/>
              <a:t>Solution</a:t>
            </a:r>
            <a:r>
              <a:rPr spc="50" dirty="0"/>
              <a:t> </a:t>
            </a:r>
            <a:r>
              <a:rPr dirty="0"/>
              <a:t>II:</a:t>
            </a:r>
            <a:r>
              <a:rPr spc="40" dirty="0"/>
              <a:t> </a:t>
            </a:r>
            <a:r>
              <a:rPr spc="-10" dirty="0"/>
              <a:t>Calculus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4502" y="2009874"/>
            <a:ext cx="315023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seek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39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minimize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𝒥</a:t>
            </a:r>
            <a:r>
              <a:rPr sz="1900" spc="390" dirty="0">
                <a:latin typeface="Cambria Math"/>
                <a:cs typeface="Cambria Math"/>
              </a:rPr>
              <a:t> </a:t>
            </a:r>
            <a:r>
              <a:rPr sz="1900" spc="5" dirty="0">
                <a:latin typeface="Cambria Math"/>
                <a:cs typeface="Cambria Math"/>
              </a:rPr>
              <a:t>w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20501" y="2186855"/>
            <a:ext cx="101600" cy="13335"/>
          </a:xfrm>
          <a:custGeom>
            <a:avLst/>
            <a:gdLst/>
            <a:ahLst/>
            <a:cxnLst/>
            <a:rect l="l" t="t" r="r" b="b"/>
            <a:pathLst>
              <a:path w="101600" h="13335">
                <a:moveTo>
                  <a:pt x="101600" y="0"/>
                </a:moveTo>
                <a:lnTo>
                  <a:pt x="0" y="0"/>
                </a:lnTo>
                <a:lnTo>
                  <a:pt x="0" y="12714"/>
                </a:lnTo>
                <a:lnTo>
                  <a:pt x="101600" y="12714"/>
                </a:lnTo>
                <a:lnTo>
                  <a:pt x="101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30283" y="1866618"/>
            <a:ext cx="426084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baseline="-33625" dirty="0">
                <a:latin typeface="Cambria Math"/>
                <a:cs typeface="Cambria Math"/>
              </a:rPr>
              <a:t>=</a:t>
            </a:r>
            <a:r>
              <a:rPr sz="2850" spc="127" baseline="-33625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02413" y="2195368"/>
            <a:ext cx="1289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86224" y="2084731"/>
            <a:ext cx="920115" cy="219710"/>
          </a:xfrm>
          <a:custGeom>
            <a:avLst/>
            <a:gdLst/>
            <a:ahLst/>
            <a:cxnLst/>
            <a:rect l="l" t="t" r="r" b="b"/>
            <a:pathLst>
              <a:path w="920114" h="219710">
                <a:moveTo>
                  <a:pt x="18148" y="0"/>
                </a:moveTo>
                <a:lnTo>
                  <a:pt x="0" y="0"/>
                </a:lnTo>
                <a:lnTo>
                  <a:pt x="0" y="219532"/>
                </a:lnTo>
                <a:lnTo>
                  <a:pt x="18148" y="219532"/>
                </a:lnTo>
                <a:lnTo>
                  <a:pt x="18148" y="0"/>
                </a:lnTo>
                <a:close/>
              </a:path>
              <a:path w="920114" h="219710">
                <a:moveTo>
                  <a:pt x="69392" y="0"/>
                </a:moveTo>
                <a:lnTo>
                  <a:pt x="51257" y="0"/>
                </a:lnTo>
                <a:lnTo>
                  <a:pt x="51257" y="219532"/>
                </a:lnTo>
                <a:lnTo>
                  <a:pt x="69392" y="219532"/>
                </a:lnTo>
                <a:lnTo>
                  <a:pt x="69392" y="0"/>
                </a:lnTo>
                <a:close/>
              </a:path>
              <a:path w="920114" h="219710">
                <a:moveTo>
                  <a:pt x="868832" y="0"/>
                </a:moveTo>
                <a:lnTo>
                  <a:pt x="850684" y="0"/>
                </a:lnTo>
                <a:lnTo>
                  <a:pt x="850684" y="219532"/>
                </a:lnTo>
                <a:lnTo>
                  <a:pt x="868832" y="219532"/>
                </a:lnTo>
                <a:lnTo>
                  <a:pt x="868832" y="0"/>
                </a:lnTo>
                <a:close/>
              </a:path>
              <a:path w="920114" h="219710">
                <a:moveTo>
                  <a:pt x="920076" y="0"/>
                </a:moveTo>
                <a:lnTo>
                  <a:pt x="901941" y="0"/>
                </a:lnTo>
                <a:lnTo>
                  <a:pt x="901941" y="219532"/>
                </a:lnTo>
                <a:lnTo>
                  <a:pt x="920076" y="219532"/>
                </a:lnTo>
                <a:lnTo>
                  <a:pt x="9200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72015" y="2009874"/>
            <a:ext cx="7486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60" dirty="0">
                <a:latin typeface="Cambria Math"/>
                <a:cs typeface="Cambria Math"/>
              </a:rPr>
              <a:t>Xw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2697" y="1985056"/>
            <a:ext cx="1289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19590" y="3043724"/>
            <a:ext cx="343535" cy="224154"/>
          </a:xfrm>
          <a:custGeom>
            <a:avLst/>
            <a:gdLst/>
            <a:ahLst/>
            <a:cxnLst/>
            <a:rect l="l" t="t" r="r" b="b"/>
            <a:pathLst>
              <a:path w="343535" h="224154">
                <a:moveTo>
                  <a:pt x="272139" y="0"/>
                </a:moveTo>
                <a:lnTo>
                  <a:pt x="268958" y="9083"/>
                </a:lnTo>
                <a:lnTo>
                  <a:pt x="281896" y="14704"/>
                </a:lnTo>
                <a:lnTo>
                  <a:pt x="293022" y="22486"/>
                </a:lnTo>
                <a:lnTo>
                  <a:pt x="315615" y="58556"/>
                </a:lnTo>
                <a:lnTo>
                  <a:pt x="322179" y="91430"/>
                </a:lnTo>
                <a:lnTo>
                  <a:pt x="322213" y="91674"/>
                </a:lnTo>
                <a:lnTo>
                  <a:pt x="322210" y="130501"/>
                </a:lnTo>
                <a:lnTo>
                  <a:pt x="309783" y="178827"/>
                </a:lnTo>
                <a:lnTo>
                  <a:pt x="282046" y="209041"/>
                </a:lnTo>
                <a:lnTo>
                  <a:pt x="269311" y="214688"/>
                </a:lnTo>
                <a:lnTo>
                  <a:pt x="272139" y="223770"/>
                </a:lnTo>
                <a:lnTo>
                  <a:pt x="314842" y="198368"/>
                </a:lnTo>
                <a:lnTo>
                  <a:pt x="338826" y="151475"/>
                </a:lnTo>
                <a:lnTo>
                  <a:pt x="343421" y="111944"/>
                </a:lnTo>
                <a:lnTo>
                  <a:pt x="342283" y="91674"/>
                </a:lnTo>
                <a:lnTo>
                  <a:pt x="342269" y="91430"/>
                </a:lnTo>
                <a:lnTo>
                  <a:pt x="324982" y="39222"/>
                </a:lnTo>
                <a:lnTo>
                  <a:pt x="288343" y="5857"/>
                </a:lnTo>
                <a:lnTo>
                  <a:pt x="272139" y="0"/>
                </a:lnTo>
                <a:close/>
              </a:path>
              <a:path w="343535" h="224154">
                <a:moveTo>
                  <a:pt x="71282" y="0"/>
                </a:moveTo>
                <a:lnTo>
                  <a:pt x="28656" y="25469"/>
                </a:lnTo>
                <a:lnTo>
                  <a:pt x="4609" y="72472"/>
                </a:lnTo>
                <a:lnTo>
                  <a:pt x="66" y="110765"/>
                </a:lnTo>
                <a:lnTo>
                  <a:pt x="0" y="111944"/>
                </a:lnTo>
                <a:lnTo>
                  <a:pt x="1036" y="130501"/>
                </a:lnTo>
                <a:lnTo>
                  <a:pt x="1148" y="132502"/>
                </a:lnTo>
                <a:lnTo>
                  <a:pt x="4594" y="151475"/>
                </a:lnTo>
                <a:lnTo>
                  <a:pt x="28578" y="198368"/>
                </a:lnTo>
                <a:lnTo>
                  <a:pt x="71282" y="223770"/>
                </a:lnTo>
                <a:lnTo>
                  <a:pt x="74109" y="214688"/>
                </a:lnTo>
                <a:lnTo>
                  <a:pt x="61373" y="209041"/>
                </a:lnTo>
                <a:lnTo>
                  <a:pt x="50382" y="201181"/>
                </a:lnTo>
                <a:lnTo>
                  <a:pt x="27838" y="164532"/>
                </a:lnTo>
                <a:lnTo>
                  <a:pt x="20431" y="111944"/>
                </a:lnTo>
                <a:lnTo>
                  <a:pt x="20382" y="110765"/>
                </a:lnTo>
                <a:lnTo>
                  <a:pt x="21210" y="91674"/>
                </a:lnTo>
                <a:lnTo>
                  <a:pt x="33637" y="44530"/>
                </a:lnTo>
                <a:lnTo>
                  <a:pt x="61572" y="14704"/>
                </a:lnTo>
                <a:lnTo>
                  <a:pt x="74462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13702" y="2351250"/>
            <a:ext cx="8761730" cy="2924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6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34645" algn="l"/>
              </a:tabLst>
            </a:pPr>
            <a:r>
              <a:rPr sz="1900" dirty="0">
                <a:latin typeface="Calibri"/>
                <a:cs typeface="Calibri"/>
              </a:rPr>
              <a:t>Taking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respect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-3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(see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course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additional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details)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get: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marR="85090" algn="ctr">
              <a:lnSpc>
                <a:spcPct val="100000"/>
              </a:lnSpc>
              <a:spcBef>
                <a:spcPts val="5"/>
              </a:spcBef>
              <a:tabLst>
                <a:tab pos="904875" algn="l"/>
              </a:tabLst>
            </a:pPr>
            <a:r>
              <a:rPr sz="1900" dirty="0">
                <a:latin typeface="Cambria Math"/>
                <a:cs typeface="Cambria Math"/>
              </a:rPr>
              <a:t>A</a:t>
            </a:r>
            <a:r>
              <a:rPr sz="2100" baseline="-15873" dirty="0">
                <a:latin typeface="Cambria Math"/>
                <a:cs typeface="Cambria Math"/>
              </a:rPr>
              <a:t>w</a:t>
            </a:r>
            <a:r>
              <a:rPr sz="1900" dirty="0">
                <a:latin typeface="Cambria Math"/>
                <a:cs typeface="Cambria Math"/>
              </a:rPr>
              <a:t>𝒥</a:t>
            </a:r>
            <a:r>
              <a:rPr sz="1900" spc="455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𝑤</a:t>
            </a:r>
            <a:r>
              <a:rPr sz="1900" dirty="0">
                <a:latin typeface="Cambria Math"/>
                <a:cs typeface="Cambria Math"/>
              </a:rPr>
              <a:t>	=</a:t>
            </a:r>
            <a:r>
              <a:rPr sz="1900" spc="95" dirty="0">
                <a:latin typeface="Cambria Math"/>
                <a:cs typeface="Cambria Math"/>
              </a:rPr>
              <a:t> </a:t>
            </a:r>
            <a:r>
              <a:rPr sz="1900" spc="110" dirty="0">
                <a:latin typeface="Cambria Math"/>
                <a:cs typeface="Cambria Math"/>
              </a:rPr>
              <a:t>X</a:t>
            </a:r>
            <a:r>
              <a:rPr sz="2100" spc="165" baseline="27777" dirty="0">
                <a:latin typeface="Cambria Math"/>
                <a:cs typeface="Cambria Math"/>
              </a:rPr>
              <a:t>𝗍</a:t>
            </a:r>
            <a:r>
              <a:rPr sz="1900" spc="110" dirty="0">
                <a:latin typeface="Cambria Math"/>
                <a:cs typeface="Cambria Math"/>
              </a:rPr>
              <a:t>Xw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135" dirty="0">
                <a:latin typeface="Cambria Math"/>
                <a:cs typeface="Cambria Math"/>
              </a:rPr>
              <a:t>X</a:t>
            </a:r>
            <a:r>
              <a:rPr sz="2100" spc="202" baseline="27777" dirty="0">
                <a:latin typeface="Cambria Math"/>
                <a:cs typeface="Cambria Math"/>
              </a:rPr>
              <a:t>𝗍</a:t>
            </a:r>
            <a:r>
              <a:rPr sz="1900" spc="135" dirty="0">
                <a:latin typeface="Cambria Math"/>
                <a:cs typeface="Cambria Math"/>
              </a:rPr>
              <a:t>t</a:t>
            </a:r>
            <a:r>
              <a:rPr sz="1900" spc="1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95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  <a:p>
            <a:pPr marL="334645" indent="-271145">
              <a:lnSpc>
                <a:spcPct val="100000"/>
              </a:lnSpc>
              <a:spcBef>
                <a:spcPts val="1964"/>
              </a:spcBef>
              <a:buFont typeface="Arial MT"/>
              <a:buChar char="•"/>
              <a:tabLst>
                <a:tab pos="334645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get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same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optimal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weights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before: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10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marR="645160" algn="ctr">
              <a:lnSpc>
                <a:spcPct val="100000"/>
              </a:lnSpc>
            </a:pPr>
            <a:r>
              <a:rPr sz="1900" spc="65" dirty="0">
                <a:latin typeface="Cambria Math"/>
                <a:cs typeface="Cambria Math"/>
              </a:rPr>
              <a:t>w</a:t>
            </a:r>
            <a:r>
              <a:rPr sz="2100" spc="97" baseline="27777" dirty="0">
                <a:latin typeface="Cambria Math"/>
                <a:cs typeface="Cambria Math"/>
              </a:rPr>
              <a:t>∗</a:t>
            </a:r>
            <a:r>
              <a:rPr sz="2100" spc="434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95" dirty="0">
                <a:latin typeface="Cambria Math"/>
                <a:cs typeface="Cambria Math"/>
              </a:rPr>
              <a:t> </a:t>
            </a:r>
            <a:r>
              <a:rPr sz="1900" spc="110" dirty="0">
                <a:latin typeface="Cambria Math"/>
                <a:cs typeface="Cambria Math"/>
              </a:rPr>
              <a:t>(X</a:t>
            </a:r>
            <a:r>
              <a:rPr sz="2100" spc="165" baseline="27777" dirty="0">
                <a:latin typeface="Cambria Math"/>
                <a:cs typeface="Cambria Math"/>
              </a:rPr>
              <a:t>𝗍</a:t>
            </a:r>
            <a:r>
              <a:rPr sz="1900" spc="110" dirty="0">
                <a:latin typeface="Cambria Math"/>
                <a:cs typeface="Cambria Math"/>
              </a:rPr>
              <a:t>X)</a:t>
            </a:r>
            <a:r>
              <a:rPr sz="2100" spc="165" baseline="27777" dirty="0">
                <a:latin typeface="Cambria Math"/>
                <a:cs typeface="Cambria Math"/>
              </a:rPr>
              <a:t>–1</a:t>
            </a:r>
            <a:r>
              <a:rPr sz="1900" spc="110" dirty="0">
                <a:latin typeface="Cambria Math"/>
                <a:cs typeface="Cambria Math"/>
              </a:rPr>
              <a:t>X</a:t>
            </a:r>
            <a:r>
              <a:rPr sz="2100" spc="165" baseline="27777" dirty="0">
                <a:latin typeface="Cambria Math"/>
                <a:cs typeface="Cambria Math"/>
              </a:rPr>
              <a:t>𝗍</a:t>
            </a:r>
            <a:r>
              <a:rPr sz="1900" spc="11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  <a:p>
            <a:pPr marL="334645" marR="226060" indent="-271780">
              <a:lnSpc>
                <a:spcPct val="101099"/>
              </a:lnSpc>
              <a:spcBef>
                <a:spcPts val="405"/>
              </a:spcBef>
              <a:buFont typeface="Arial MT"/>
              <a:buChar char="•"/>
              <a:tabLst>
                <a:tab pos="334645" algn="l"/>
              </a:tabLst>
            </a:pP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regression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only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handful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course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permit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direct solution.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87629" y="2921714"/>
            <a:ext cx="631370" cy="39592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09850" y="3063171"/>
            <a:ext cx="30703" cy="10396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60134" y="2928914"/>
            <a:ext cx="728611" cy="31682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54491" y="3053618"/>
            <a:ext cx="135873" cy="10311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65015" y="2897808"/>
            <a:ext cx="1225155" cy="34826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33810" y="3931429"/>
            <a:ext cx="779118" cy="35200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92563" y="5124489"/>
            <a:ext cx="1318689" cy="37205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92356" y="5101859"/>
            <a:ext cx="623908" cy="28515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308471" y="5189898"/>
            <a:ext cx="111536" cy="9074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20545" y="5096920"/>
            <a:ext cx="397830" cy="29239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258660" y="4276998"/>
            <a:ext cx="727655" cy="336461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053041" y="4336653"/>
            <a:ext cx="648458" cy="28533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824093" y="4347690"/>
            <a:ext cx="276057" cy="3046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spc="65" dirty="0"/>
              <a:t> </a:t>
            </a:r>
            <a:r>
              <a:rPr dirty="0"/>
              <a:t>Feature</a:t>
            </a:r>
            <a:r>
              <a:rPr spc="70" dirty="0"/>
              <a:t> </a:t>
            </a:r>
            <a:r>
              <a:rPr spc="-10" dirty="0"/>
              <a:t>Mapping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1400" y="2140470"/>
            <a:ext cx="2449503" cy="18272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6456" y="1714218"/>
            <a:ext cx="606615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relation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between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output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linear.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81846" y="4385747"/>
            <a:ext cx="285115" cy="224154"/>
          </a:xfrm>
          <a:custGeom>
            <a:avLst/>
            <a:gdLst/>
            <a:ahLst/>
            <a:cxnLst/>
            <a:rect l="l" t="t" r="r" b="b"/>
            <a:pathLst>
              <a:path w="285114" h="224154">
                <a:moveTo>
                  <a:pt x="213523" y="0"/>
                </a:moveTo>
                <a:lnTo>
                  <a:pt x="210342" y="9083"/>
                </a:lnTo>
                <a:lnTo>
                  <a:pt x="223281" y="14704"/>
                </a:lnTo>
                <a:lnTo>
                  <a:pt x="234407" y="22486"/>
                </a:lnTo>
                <a:lnTo>
                  <a:pt x="256999" y="58556"/>
                </a:lnTo>
                <a:lnTo>
                  <a:pt x="263563" y="91430"/>
                </a:lnTo>
                <a:lnTo>
                  <a:pt x="263598" y="91673"/>
                </a:lnTo>
                <a:lnTo>
                  <a:pt x="263594" y="130500"/>
                </a:lnTo>
                <a:lnTo>
                  <a:pt x="251167" y="178827"/>
                </a:lnTo>
                <a:lnTo>
                  <a:pt x="223431" y="209039"/>
                </a:lnTo>
                <a:lnTo>
                  <a:pt x="210695" y="214687"/>
                </a:lnTo>
                <a:lnTo>
                  <a:pt x="213523" y="223770"/>
                </a:lnTo>
                <a:lnTo>
                  <a:pt x="256227" y="198368"/>
                </a:lnTo>
                <a:lnTo>
                  <a:pt x="280211" y="151475"/>
                </a:lnTo>
                <a:lnTo>
                  <a:pt x="284806" y="111944"/>
                </a:lnTo>
                <a:lnTo>
                  <a:pt x="283667" y="91673"/>
                </a:lnTo>
                <a:lnTo>
                  <a:pt x="266367" y="39221"/>
                </a:lnTo>
                <a:lnTo>
                  <a:pt x="229728" y="5857"/>
                </a:lnTo>
                <a:lnTo>
                  <a:pt x="213523" y="0"/>
                </a:lnTo>
                <a:close/>
              </a:path>
              <a:path w="285114" h="224154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148" y="132502"/>
                </a:lnTo>
                <a:lnTo>
                  <a:pt x="4594" y="151475"/>
                </a:lnTo>
                <a:lnTo>
                  <a:pt x="28578" y="198368"/>
                </a:lnTo>
                <a:lnTo>
                  <a:pt x="71282" y="223770"/>
                </a:lnTo>
                <a:lnTo>
                  <a:pt x="74109" y="214687"/>
                </a:lnTo>
                <a:lnTo>
                  <a:pt x="61373" y="209039"/>
                </a:lnTo>
                <a:lnTo>
                  <a:pt x="50383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6"/>
                </a:lnTo>
                <a:lnTo>
                  <a:pt x="50472" y="22486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1057" y="4018506"/>
            <a:ext cx="8954135" cy="11931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09245" marR="30480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still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regression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mapping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features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another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space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using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feature</a:t>
            </a:r>
            <a:r>
              <a:rPr sz="19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mapping</a:t>
            </a:r>
            <a:r>
              <a:rPr sz="19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(or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basis</a:t>
            </a:r>
            <a:r>
              <a:rPr sz="19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expansion</a:t>
            </a:r>
            <a:r>
              <a:rPr sz="1900" dirty="0">
                <a:latin typeface="Calibri"/>
                <a:cs typeface="Calibri"/>
              </a:rPr>
              <a:t>).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𝜑</a:t>
            </a:r>
            <a:r>
              <a:rPr sz="1900" spc="365" dirty="0">
                <a:latin typeface="Cambria Math"/>
                <a:cs typeface="Cambria Math"/>
              </a:rPr>
              <a:t> </a:t>
            </a:r>
            <a:r>
              <a:rPr sz="1900" spc="80" dirty="0">
                <a:latin typeface="Cambria Math"/>
                <a:cs typeface="Cambria Math"/>
              </a:rPr>
              <a:t>x</a:t>
            </a:r>
            <a:r>
              <a:rPr sz="1900" spc="32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: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ℝ</a:t>
            </a:r>
            <a:r>
              <a:rPr sz="2100" baseline="27777" dirty="0">
                <a:latin typeface="Cambria Math"/>
                <a:cs typeface="Cambria Math"/>
              </a:rPr>
              <a:t>𝐷</a:t>
            </a:r>
            <a:r>
              <a:rPr sz="2100" spc="434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→</a:t>
            </a:r>
            <a:r>
              <a:rPr sz="1900" spc="8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ℝ</a:t>
            </a:r>
            <a:r>
              <a:rPr sz="2100" baseline="27777" dirty="0">
                <a:latin typeface="Cambria Math"/>
                <a:cs typeface="Cambria Math"/>
              </a:rPr>
              <a:t>𝑑</a:t>
            </a:r>
            <a:r>
              <a:rPr sz="2100" spc="307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treat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mapped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feature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(in </a:t>
            </a:r>
            <a:r>
              <a:rPr sz="1900" dirty="0">
                <a:latin typeface="Cambria Math"/>
                <a:cs typeface="Cambria Math"/>
              </a:rPr>
              <a:t>ℝ</a:t>
            </a:r>
            <a:r>
              <a:rPr sz="2100" baseline="27777" dirty="0">
                <a:latin typeface="Cambria Math"/>
                <a:cs typeface="Cambria Math"/>
              </a:rPr>
              <a:t>𝑑</a:t>
            </a:r>
            <a:r>
              <a:rPr sz="2100" spc="315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)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regression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procedure.</a:t>
            </a:r>
            <a:endParaRPr sz="1900">
              <a:latin typeface="Calibri"/>
              <a:cs typeface="Calibri"/>
            </a:endParaRPr>
          </a:p>
          <a:p>
            <a:pPr marL="3092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Let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how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works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when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80" dirty="0">
                <a:latin typeface="Cambria Math"/>
                <a:cs typeface="Cambria Math"/>
              </a:rPr>
              <a:t>x</a:t>
            </a:r>
            <a:r>
              <a:rPr sz="1900" spc="7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∈</a:t>
            </a:r>
            <a:r>
              <a:rPr sz="1900" spc="8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ℝ</a:t>
            </a:r>
            <a:r>
              <a:rPr sz="1900" spc="-2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polynomial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feature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mapping.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7521" y="5170669"/>
            <a:ext cx="3457399" cy="7896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31763" y="5226695"/>
            <a:ext cx="114722" cy="24021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16741" y="5242768"/>
            <a:ext cx="427764" cy="20633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47613" y="5251391"/>
            <a:ext cx="953145" cy="24912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9681444" y="5479839"/>
            <a:ext cx="36195" cy="41910"/>
          </a:xfrm>
          <a:custGeom>
            <a:avLst/>
            <a:gdLst/>
            <a:ahLst/>
            <a:cxnLst/>
            <a:rect l="l" t="t" r="r" b="b"/>
            <a:pathLst>
              <a:path w="36195" h="41910">
                <a:moveTo>
                  <a:pt x="29170" y="0"/>
                </a:moveTo>
                <a:lnTo>
                  <a:pt x="542" y="35267"/>
                </a:lnTo>
                <a:lnTo>
                  <a:pt x="0" y="37819"/>
                </a:lnTo>
                <a:lnTo>
                  <a:pt x="1626" y="40326"/>
                </a:lnTo>
                <a:lnTo>
                  <a:pt x="6245" y="41310"/>
                </a:lnTo>
                <a:lnTo>
                  <a:pt x="8343" y="40326"/>
                </a:lnTo>
                <a:lnTo>
                  <a:pt x="9339" y="38450"/>
                </a:lnTo>
                <a:lnTo>
                  <a:pt x="14248" y="30520"/>
                </a:lnTo>
                <a:lnTo>
                  <a:pt x="20093" y="23218"/>
                </a:lnTo>
                <a:lnTo>
                  <a:pt x="26598" y="16466"/>
                </a:lnTo>
                <a:lnTo>
                  <a:pt x="33488" y="10182"/>
                </a:lnTo>
                <a:lnTo>
                  <a:pt x="35764" y="8206"/>
                </a:lnTo>
                <a:lnTo>
                  <a:pt x="36005" y="4759"/>
                </a:lnTo>
                <a:lnTo>
                  <a:pt x="32228" y="412"/>
                </a:lnTo>
                <a:lnTo>
                  <a:pt x="291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06428" y="5143024"/>
            <a:ext cx="4125758" cy="733572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4319866" y="5856474"/>
            <a:ext cx="41910" cy="53975"/>
          </a:xfrm>
          <a:custGeom>
            <a:avLst/>
            <a:gdLst/>
            <a:ahLst/>
            <a:cxnLst/>
            <a:rect l="l" t="t" r="r" b="b"/>
            <a:pathLst>
              <a:path w="41910" h="53975">
                <a:moveTo>
                  <a:pt x="15771" y="21532"/>
                </a:moveTo>
                <a:lnTo>
                  <a:pt x="0" y="49381"/>
                </a:lnTo>
                <a:lnTo>
                  <a:pt x="1325" y="51955"/>
                </a:lnTo>
                <a:lnTo>
                  <a:pt x="5857" y="53406"/>
                </a:lnTo>
                <a:lnTo>
                  <a:pt x="8163" y="52452"/>
                </a:lnTo>
                <a:lnTo>
                  <a:pt x="9187" y="50469"/>
                </a:lnTo>
                <a:lnTo>
                  <a:pt x="12476" y="44283"/>
                </a:lnTo>
                <a:lnTo>
                  <a:pt x="16059" y="38186"/>
                </a:lnTo>
                <a:lnTo>
                  <a:pt x="20068" y="32379"/>
                </a:lnTo>
                <a:lnTo>
                  <a:pt x="22733" y="29276"/>
                </a:lnTo>
                <a:lnTo>
                  <a:pt x="21553" y="29276"/>
                </a:lnTo>
                <a:lnTo>
                  <a:pt x="18414" y="28674"/>
                </a:lnTo>
                <a:lnTo>
                  <a:pt x="15285" y="24062"/>
                </a:lnTo>
                <a:lnTo>
                  <a:pt x="15627" y="22282"/>
                </a:lnTo>
                <a:lnTo>
                  <a:pt x="15705" y="21874"/>
                </a:lnTo>
                <a:lnTo>
                  <a:pt x="15771" y="21532"/>
                </a:lnTo>
                <a:close/>
              </a:path>
              <a:path w="41910" h="53975">
                <a:moveTo>
                  <a:pt x="20184" y="18013"/>
                </a:moveTo>
                <a:lnTo>
                  <a:pt x="18200" y="19356"/>
                </a:lnTo>
                <a:lnTo>
                  <a:pt x="15771" y="21532"/>
                </a:lnTo>
                <a:lnTo>
                  <a:pt x="15285" y="24062"/>
                </a:lnTo>
                <a:lnTo>
                  <a:pt x="18414" y="28674"/>
                </a:lnTo>
                <a:lnTo>
                  <a:pt x="21553" y="29276"/>
                </a:lnTo>
                <a:lnTo>
                  <a:pt x="24386" y="27352"/>
                </a:lnTo>
                <a:lnTo>
                  <a:pt x="26462" y="25068"/>
                </a:lnTo>
                <a:lnTo>
                  <a:pt x="26546" y="21874"/>
                </a:lnTo>
                <a:lnTo>
                  <a:pt x="22839" y="18252"/>
                </a:lnTo>
                <a:lnTo>
                  <a:pt x="20184" y="18013"/>
                </a:lnTo>
                <a:close/>
              </a:path>
              <a:path w="41910" h="53975">
                <a:moveTo>
                  <a:pt x="24386" y="27352"/>
                </a:moveTo>
                <a:lnTo>
                  <a:pt x="21553" y="29276"/>
                </a:lnTo>
                <a:lnTo>
                  <a:pt x="22733" y="29276"/>
                </a:lnTo>
                <a:lnTo>
                  <a:pt x="24386" y="27352"/>
                </a:lnTo>
                <a:close/>
              </a:path>
              <a:path w="41910" h="53975">
                <a:moveTo>
                  <a:pt x="37425" y="0"/>
                </a:moveTo>
                <a:lnTo>
                  <a:pt x="35005" y="547"/>
                </a:lnTo>
                <a:lnTo>
                  <a:pt x="29733" y="8905"/>
                </a:lnTo>
                <a:lnTo>
                  <a:pt x="24620" y="14999"/>
                </a:lnTo>
                <a:lnTo>
                  <a:pt x="20184" y="18013"/>
                </a:lnTo>
                <a:lnTo>
                  <a:pt x="22839" y="18252"/>
                </a:lnTo>
                <a:lnTo>
                  <a:pt x="26546" y="21874"/>
                </a:lnTo>
                <a:lnTo>
                  <a:pt x="26580" y="24939"/>
                </a:lnTo>
                <a:lnTo>
                  <a:pt x="29014" y="22282"/>
                </a:lnTo>
                <a:lnTo>
                  <a:pt x="33098" y="17237"/>
                </a:lnTo>
                <a:lnTo>
                  <a:pt x="36909" y="11980"/>
                </a:lnTo>
                <a:lnTo>
                  <a:pt x="40479" y="6562"/>
                </a:lnTo>
                <a:lnTo>
                  <a:pt x="41635" y="4730"/>
                </a:lnTo>
                <a:lnTo>
                  <a:pt x="41087" y="2310"/>
                </a:lnTo>
                <a:lnTo>
                  <a:pt x="37425" y="0"/>
                </a:lnTo>
                <a:close/>
              </a:path>
              <a:path w="41910" h="53975">
                <a:moveTo>
                  <a:pt x="18200" y="19356"/>
                </a:moveTo>
                <a:lnTo>
                  <a:pt x="15887" y="20924"/>
                </a:lnTo>
                <a:lnTo>
                  <a:pt x="15771" y="21532"/>
                </a:lnTo>
                <a:lnTo>
                  <a:pt x="18200" y="193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91420" y="5831401"/>
            <a:ext cx="16510" cy="20955"/>
          </a:xfrm>
          <a:custGeom>
            <a:avLst/>
            <a:gdLst/>
            <a:ahLst/>
            <a:cxnLst/>
            <a:rect l="l" t="t" r="r" b="b"/>
            <a:pathLst>
              <a:path w="16509" h="20954">
                <a:moveTo>
                  <a:pt x="13261" y="0"/>
                </a:moveTo>
                <a:lnTo>
                  <a:pt x="8826" y="241"/>
                </a:lnTo>
                <a:lnTo>
                  <a:pt x="7203" y="1443"/>
                </a:lnTo>
                <a:lnTo>
                  <a:pt x="6156" y="4315"/>
                </a:lnTo>
                <a:lnTo>
                  <a:pt x="5731" y="5425"/>
                </a:lnTo>
                <a:lnTo>
                  <a:pt x="5256" y="6516"/>
                </a:lnTo>
                <a:lnTo>
                  <a:pt x="2209" y="6833"/>
                </a:lnTo>
                <a:lnTo>
                  <a:pt x="0" y="9561"/>
                </a:lnTo>
                <a:lnTo>
                  <a:pt x="8549" y="20581"/>
                </a:lnTo>
                <a:lnTo>
                  <a:pt x="12321" y="18942"/>
                </a:lnTo>
                <a:lnTo>
                  <a:pt x="15905" y="12607"/>
                </a:lnTo>
                <a:lnTo>
                  <a:pt x="15798" y="8225"/>
                </a:lnTo>
                <a:lnTo>
                  <a:pt x="15458" y="1969"/>
                </a:lnTo>
                <a:lnTo>
                  <a:pt x="132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spc="65" dirty="0"/>
              <a:t> </a:t>
            </a:r>
            <a:r>
              <a:rPr dirty="0"/>
              <a:t>Feature</a:t>
            </a:r>
            <a:r>
              <a:rPr spc="70" dirty="0"/>
              <a:t> </a:t>
            </a:r>
            <a:r>
              <a:rPr spc="-10" dirty="0"/>
              <a:t>Mapping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1400" y="2140470"/>
            <a:ext cx="2449503" cy="18272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6456" y="1714218"/>
            <a:ext cx="620585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If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relationship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does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look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linear,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polynomial.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34241" y="5250407"/>
            <a:ext cx="293370" cy="224154"/>
          </a:xfrm>
          <a:custGeom>
            <a:avLst/>
            <a:gdLst/>
            <a:ahLst/>
            <a:cxnLst/>
            <a:rect l="l" t="t" r="r" b="b"/>
            <a:pathLst>
              <a:path w="293370" h="224154">
                <a:moveTo>
                  <a:pt x="222069" y="0"/>
                </a:moveTo>
                <a:lnTo>
                  <a:pt x="218888" y="9083"/>
                </a:lnTo>
                <a:lnTo>
                  <a:pt x="231827" y="14704"/>
                </a:lnTo>
                <a:lnTo>
                  <a:pt x="242954" y="22486"/>
                </a:lnTo>
                <a:lnTo>
                  <a:pt x="265546" y="58556"/>
                </a:lnTo>
                <a:lnTo>
                  <a:pt x="272109" y="91430"/>
                </a:lnTo>
                <a:lnTo>
                  <a:pt x="272144" y="91673"/>
                </a:lnTo>
                <a:lnTo>
                  <a:pt x="272140" y="130500"/>
                </a:lnTo>
                <a:lnTo>
                  <a:pt x="259713" y="178827"/>
                </a:lnTo>
                <a:lnTo>
                  <a:pt x="231978" y="209039"/>
                </a:lnTo>
                <a:lnTo>
                  <a:pt x="219242" y="214687"/>
                </a:lnTo>
                <a:lnTo>
                  <a:pt x="222069" y="223770"/>
                </a:lnTo>
                <a:lnTo>
                  <a:pt x="264773" y="198368"/>
                </a:lnTo>
                <a:lnTo>
                  <a:pt x="288757" y="151475"/>
                </a:lnTo>
                <a:lnTo>
                  <a:pt x="293352" y="111944"/>
                </a:lnTo>
                <a:lnTo>
                  <a:pt x="292213" y="91673"/>
                </a:lnTo>
                <a:lnTo>
                  <a:pt x="292199" y="91430"/>
                </a:lnTo>
                <a:lnTo>
                  <a:pt x="274913" y="39221"/>
                </a:lnTo>
                <a:lnTo>
                  <a:pt x="238274" y="5857"/>
                </a:lnTo>
                <a:lnTo>
                  <a:pt x="222069" y="0"/>
                </a:lnTo>
                <a:close/>
              </a:path>
              <a:path w="293370" h="224154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4595" y="151475"/>
                </a:lnTo>
                <a:lnTo>
                  <a:pt x="28579" y="198368"/>
                </a:lnTo>
                <a:lnTo>
                  <a:pt x="71282" y="223770"/>
                </a:lnTo>
                <a:lnTo>
                  <a:pt x="74110" y="214687"/>
                </a:lnTo>
                <a:lnTo>
                  <a:pt x="61374" y="209039"/>
                </a:lnTo>
                <a:lnTo>
                  <a:pt x="50384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6"/>
                </a:lnTo>
                <a:lnTo>
                  <a:pt x="50472" y="22486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08320" y="5542798"/>
            <a:ext cx="293370" cy="224154"/>
          </a:xfrm>
          <a:custGeom>
            <a:avLst/>
            <a:gdLst/>
            <a:ahLst/>
            <a:cxnLst/>
            <a:rect l="l" t="t" r="r" b="b"/>
            <a:pathLst>
              <a:path w="293370" h="224154">
                <a:moveTo>
                  <a:pt x="222069" y="0"/>
                </a:moveTo>
                <a:lnTo>
                  <a:pt x="218888" y="9083"/>
                </a:lnTo>
                <a:lnTo>
                  <a:pt x="231826" y="14704"/>
                </a:lnTo>
                <a:lnTo>
                  <a:pt x="242953" y="22486"/>
                </a:lnTo>
                <a:lnTo>
                  <a:pt x="265545" y="58556"/>
                </a:lnTo>
                <a:lnTo>
                  <a:pt x="272109" y="91430"/>
                </a:lnTo>
                <a:lnTo>
                  <a:pt x="272143" y="91674"/>
                </a:lnTo>
                <a:lnTo>
                  <a:pt x="272140" y="130501"/>
                </a:lnTo>
                <a:lnTo>
                  <a:pt x="259713" y="178827"/>
                </a:lnTo>
                <a:lnTo>
                  <a:pt x="231977" y="209041"/>
                </a:lnTo>
                <a:lnTo>
                  <a:pt x="219241" y="214688"/>
                </a:lnTo>
                <a:lnTo>
                  <a:pt x="222069" y="223771"/>
                </a:lnTo>
                <a:lnTo>
                  <a:pt x="264772" y="198368"/>
                </a:lnTo>
                <a:lnTo>
                  <a:pt x="288756" y="151475"/>
                </a:lnTo>
                <a:lnTo>
                  <a:pt x="293352" y="111944"/>
                </a:lnTo>
                <a:lnTo>
                  <a:pt x="292213" y="91674"/>
                </a:lnTo>
                <a:lnTo>
                  <a:pt x="274913" y="39222"/>
                </a:lnTo>
                <a:lnTo>
                  <a:pt x="238273" y="5857"/>
                </a:lnTo>
                <a:lnTo>
                  <a:pt x="222069" y="0"/>
                </a:lnTo>
                <a:close/>
              </a:path>
              <a:path w="293370" h="224154">
                <a:moveTo>
                  <a:pt x="71282" y="0"/>
                </a:moveTo>
                <a:lnTo>
                  <a:pt x="28656" y="25469"/>
                </a:lnTo>
                <a:lnTo>
                  <a:pt x="4609" y="72472"/>
                </a:lnTo>
                <a:lnTo>
                  <a:pt x="66" y="110765"/>
                </a:lnTo>
                <a:lnTo>
                  <a:pt x="0" y="111944"/>
                </a:lnTo>
                <a:lnTo>
                  <a:pt x="1036" y="130501"/>
                </a:lnTo>
                <a:lnTo>
                  <a:pt x="10338" y="168863"/>
                </a:lnTo>
                <a:lnTo>
                  <a:pt x="40795" y="209453"/>
                </a:lnTo>
                <a:lnTo>
                  <a:pt x="71282" y="223771"/>
                </a:lnTo>
                <a:lnTo>
                  <a:pt x="74109" y="214688"/>
                </a:lnTo>
                <a:lnTo>
                  <a:pt x="61373" y="209041"/>
                </a:lnTo>
                <a:lnTo>
                  <a:pt x="50383" y="201181"/>
                </a:lnTo>
                <a:lnTo>
                  <a:pt x="27839" y="164532"/>
                </a:lnTo>
                <a:lnTo>
                  <a:pt x="20432" y="111944"/>
                </a:lnTo>
                <a:lnTo>
                  <a:pt x="20383" y="110765"/>
                </a:lnTo>
                <a:lnTo>
                  <a:pt x="21211" y="91674"/>
                </a:lnTo>
                <a:lnTo>
                  <a:pt x="33638" y="44530"/>
                </a:lnTo>
                <a:lnTo>
                  <a:pt x="61573" y="14704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30386" y="6127682"/>
            <a:ext cx="293370" cy="224154"/>
          </a:xfrm>
          <a:custGeom>
            <a:avLst/>
            <a:gdLst/>
            <a:ahLst/>
            <a:cxnLst/>
            <a:rect l="l" t="t" r="r" b="b"/>
            <a:pathLst>
              <a:path w="293369" h="224154">
                <a:moveTo>
                  <a:pt x="222069" y="0"/>
                </a:moveTo>
                <a:lnTo>
                  <a:pt x="218888" y="9081"/>
                </a:lnTo>
                <a:lnTo>
                  <a:pt x="231827" y="14703"/>
                </a:lnTo>
                <a:lnTo>
                  <a:pt x="242953" y="22485"/>
                </a:lnTo>
                <a:lnTo>
                  <a:pt x="265546" y="58555"/>
                </a:lnTo>
                <a:lnTo>
                  <a:pt x="272109" y="91429"/>
                </a:lnTo>
                <a:lnTo>
                  <a:pt x="272144" y="91672"/>
                </a:lnTo>
                <a:lnTo>
                  <a:pt x="272140" y="130500"/>
                </a:lnTo>
                <a:lnTo>
                  <a:pt x="259713" y="178826"/>
                </a:lnTo>
                <a:lnTo>
                  <a:pt x="231977" y="209038"/>
                </a:lnTo>
                <a:lnTo>
                  <a:pt x="219241" y="214686"/>
                </a:lnTo>
                <a:lnTo>
                  <a:pt x="222069" y="223769"/>
                </a:lnTo>
                <a:lnTo>
                  <a:pt x="264772" y="198367"/>
                </a:lnTo>
                <a:lnTo>
                  <a:pt x="288757" y="151474"/>
                </a:lnTo>
                <a:lnTo>
                  <a:pt x="293352" y="111944"/>
                </a:lnTo>
                <a:lnTo>
                  <a:pt x="292213" y="91672"/>
                </a:lnTo>
                <a:lnTo>
                  <a:pt x="274913" y="39221"/>
                </a:lnTo>
                <a:lnTo>
                  <a:pt x="238274" y="5857"/>
                </a:lnTo>
                <a:lnTo>
                  <a:pt x="222069" y="0"/>
                </a:lnTo>
                <a:close/>
              </a:path>
              <a:path w="293369" h="224154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148" y="132501"/>
                </a:lnTo>
                <a:lnTo>
                  <a:pt x="4595" y="151474"/>
                </a:lnTo>
                <a:lnTo>
                  <a:pt x="28579" y="198367"/>
                </a:lnTo>
                <a:lnTo>
                  <a:pt x="71282" y="223769"/>
                </a:lnTo>
                <a:lnTo>
                  <a:pt x="74109" y="214686"/>
                </a:lnTo>
                <a:lnTo>
                  <a:pt x="61374" y="209038"/>
                </a:lnTo>
                <a:lnTo>
                  <a:pt x="50383" y="201179"/>
                </a:lnTo>
                <a:lnTo>
                  <a:pt x="27839" y="164531"/>
                </a:lnTo>
                <a:lnTo>
                  <a:pt x="20432" y="111944"/>
                </a:lnTo>
                <a:lnTo>
                  <a:pt x="20383" y="110764"/>
                </a:lnTo>
                <a:lnTo>
                  <a:pt x="21211" y="91672"/>
                </a:lnTo>
                <a:lnTo>
                  <a:pt x="33638" y="44528"/>
                </a:lnTo>
                <a:lnTo>
                  <a:pt x="61573" y="14703"/>
                </a:lnTo>
                <a:lnTo>
                  <a:pt x="74464" y="9081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91932" y="6127682"/>
            <a:ext cx="572770" cy="224154"/>
          </a:xfrm>
          <a:custGeom>
            <a:avLst/>
            <a:gdLst/>
            <a:ahLst/>
            <a:cxnLst/>
            <a:rect l="l" t="t" r="r" b="b"/>
            <a:pathLst>
              <a:path w="572769" h="224154">
                <a:moveTo>
                  <a:pt x="501072" y="0"/>
                </a:moveTo>
                <a:lnTo>
                  <a:pt x="497890" y="9081"/>
                </a:lnTo>
                <a:lnTo>
                  <a:pt x="510829" y="14703"/>
                </a:lnTo>
                <a:lnTo>
                  <a:pt x="521956" y="22485"/>
                </a:lnTo>
                <a:lnTo>
                  <a:pt x="544549" y="58555"/>
                </a:lnTo>
                <a:lnTo>
                  <a:pt x="551971" y="110764"/>
                </a:lnTo>
                <a:lnTo>
                  <a:pt x="551142" y="130500"/>
                </a:lnTo>
                <a:lnTo>
                  <a:pt x="538716" y="178826"/>
                </a:lnTo>
                <a:lnTo>
                  <a:pt x="510980" y="209038"/>
                </a:lnTo>
                <a:lnTo>
                  <a:pt x="498245" y="214686"/>
                </a:lnTo>
                <a:lnTo>
                  <a:pt x="501072" y="223769"/>
                </a:lnTo>
                <a:lnTo>
                  <a:pt x="543775" y="198367"/>
                </a:lnTo>
                <a:lnTo>
                  <a:pt x="567759" y="151474"/>
                </a:lnTo>
                <a:lnTo>
                  <a:pt x="572354" y="111944"/>
                </a:lnTo>
                <a:lnTo>
                  <a:pt x="571215" y="91672"/>
                </a:lnTo>
                <a:lnTo>
                  <a:pt x="553915" y="39221"/>
                </a:lnTo>
                <a:lnTo>
                  <a:pt x="517276" y="5857"/>
                </a:lnTo>
                <a:lnTo>
                  <a:pt x="501072" y="0"/>
                </a:lnTo>
                <a:close/>
              </a:path>
              <a:path w="572769" h="224154">
                <a:moveTo>
                  <a:pt x="71281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148" y="132501"/>
                </a:lnTo>
                <a:lnTo>
                  <a:pt x="18379" y="184665"/>
                </a:lnTo>
                <a:lnTo>
                  <a:pt x="55029" y="217919"/>
                </a:lnTo>
                <a:lnTo>
                  <a:pt x="71281" y="223769"/>
                </a:lnTo>
                <a:lnTo>
                  <a:pt x="74109" y="214686"/>
                </a:lnTo>
                <a:lnTo>
                  <a:pt x="61373" y="209038"/>
                </a:lnTo>
                <a:lnTo>
                  <a:pt x="50382" y="201179"/>
                </a:lnTo>
                <a:lnTo>
                  <a:pt x="27838" y="164531"/>
                </a:lnTo>
                <a:lnTo>
                  <a:pt x="20431" y="111944"/>
                </a:lnTo>
                <a:lnTo>
                  <a:pt x="20382" y="110764"/>
                </a:lnTo>
                <a:lnTo>
                  <a:pt x="21210" y="91672"/>
                </a:lnTo>
                <a:lnTo>
                  <a:pt x="33637" y="44528"/>
                </a:lnTo>
                <a:lnTo>
                  <a:pt x="61572" y="14703"/>
                </a:lnTo>
                <a:lnTo>
                  <a:pt x="74462" y="9081"/>
                </a:lnTo>
                <a:lnTo>
                  <a:pt x="712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35253" y="6127682"/>
            <a:ext cx="572770" cy="224154"/>
          </a:xfrm>
          <a:custGeom>
            <a:avLst/>
            <a:gdLst/>
            <a:ahLst/>
            <a:cxnLst/>
            <a:rect l="l" t="t" r="r" b="b"/>
            <a:pathLst>
              <a:path w="572770" h="224154">
                <a:moveTo>
                  <a:pt x="501072" y="0"/>
                </a:moveTo>
                <a:lnTo>
                  <a:pt x="497892" y="9081"/>
                </a:lnTo>
                <a:lnTo>
                  <a:pt x="510830" y="14703"/>
                </a:lnTo>
                <a:lnTo>
                  <a:pt x="521956" y="22485"/>
                </a:lnTo>
                <a:lnTo>
                  <a:pt x="544549" y="58555"/>
                </a:lnTo>
                <a:lnTo>
                  <a:pt x="551972" y="110764"/>
                </a:lnTo>
                <a:lnTo>
                  <a:pt x="551144" y="130500"/>
                </a:lnTo>
                <a:lnTo>
                  <a:pt x="538717" y="178826"/>
                </a:lnTo>
                <a:lnTo>
                  <a:pt x="510980" y="209038"/>
                </a:lnTo>
                <a:lnTo>
                  <a:pt x="498245" y="214686"/>
                </a:lnTo>
                <a:lnTo>
                  <a:pt x="501072" y="223769"/>
                </a:lnTo>
                <a:lnTo>
                  <a:pt x="543775" y="198367"/>
                </a:lnTo>
                <a:lnTo>
                  <a:pt x="567759" y="151474"/>
                </a:lnTo>
                <a:lnTo>
                  <a:pt x="572354" y="111944"/>
                </a:lnTo>
                <a:lnTo>
                  <a:pt x="571216" y="91672"/>
                </a:lnTo>
                <a:lnTo>
                  <a:pt x="571202" y="91429"/>
                </a:lnTo>
                <a:lnTo>
                  <a:pt x="553915" y="39221"/>
                </a:lnTo>
                <a:lnTo>
                  <a:pt x="517276" y="5857"/>
                </a:lnTo>
                <a:lnTo>
                  <a:pt x="501072" y="0"/>
                </a:lnTo>
                <a:close/>
              </a:path>
              <a:path w="572770" h="224154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148" y="132501"/>
                </a:lnTo>
                <a:lnTo>
                  <a:pt x="18380" y="184665"/>
                </a:lnTo>
                <a:lnTo>
                  <a:pt x="55030" y="217919"/>
                </a:lnTo>
                <a:lnTo>
                  <a:pt x="71282" y="223769"/>
                </a:lnTo>
                <a:lnTo>
                  <a:pt x="74110" y="214686"/>
                </a:lnTo>
                <a:lnTo>
                  <a:pt x="61374" y="209038"/>
                </a:lnTo>
                <a:lnTo>
                  <a:pt x="50383" y="201179"/>
                </a:lnTo>
                <a:lnTo>
                  <a:pt x="27839" y="164531"/>
                </a:lnTo>
                <a:lnTo>
                  <a:pt x="20433" y="111944"/>
                </a:lnTo>
                <a:lnTo>
                  <a:pt x="20383" y="110764"/>
                </a:lnTo>
                <a:lnTo>
                  <a:pt x="21211" y="91672"/>
                </a:lnTo>
                <a:lnTo>
                  <a:pt x="33638" y="44528"/>
                </a:lnTo>
                <a:lnTo>
                  <a:pt x="61573" y="14703"/>
                </a:lnTo>
                <a:lnTo>
                  <a:pt x="74463" y="9081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44641" y="6127682"/>
            <a:ext cx="572770" cy="224154"/>
          </a:xfrm>
          <a:custGeom>
            <a:avLst/>
            <a:gdLst/>
            <a:ahLst/>
            <a:cxnLst/>
            <a:rect l="l" t="t" r="r" b="b"/>
            <a:pathLst>
              <a:path w="572770" h="224154">
                <a:moveTo>
                  <a:pt x="501072" y="0"/>
                </a:moveTo>
                <a:lnTo>
                  <a:pt x="497892" y="9081"/>
                </a:lnTo>
                <a:lnTo>
                  <a:pt x="510830" y="14703"/>
                </a:lnTo>
                <a:lnTo>
                  <a:pt x="521956" y="22485"/>
                </a:lnTo>
                <a:lnTo>
                  <a:pt x="544549" y="58555"/>
                </a:lnTo>
                <a:lnTo>
                  <a:pt x="551972" y="110764"/>
                </a:lnTo>
                <a:lnTo>
                  <a:pt x="551144" y="130500"/>
                </a:lnTo>
                <a:lnTo>
                  <a:pt x="538717" y="178826"/>
                </a:lnTo>
                <a:lnTo>
                  <a:pt x="510980" y="209038"/>
                </a:lnTo>
                <a:lnTo>
                  <a:pt x="498245" y="214686"/>
                </a:lnTo>
                <a:lnTo>
                  <a:pt x="501072" y="223769"/>
                </a:lnTo>
                <a:lnTo>
                  <a:pt x="543775" y="198367"/>
                </a:lnTo>
                <a:lnTo>
                  <a:pt x="567759" y="151474"/>
                </a:lnTo>
                <a:lnTo>
                  <a:pt x="572354" y="111944"/>
                </a:lnTo>
                <a:lnTo>
                  <a:pt x="571216" y="91672"/>
                </a:lnTo>
                <a:lnTo>
                  <a:pt x="571202" y="91429"/>
                </a:lnTo>
                <a:lnTo>
                  <a:pt x="553915" y="39221"/>
                </a:lnTo>
                <a:lnTo>
                  <a:pt x="517276" y="5857"/>
                </a:lnTo>
                <a:lnTo>
                  <a:pt x="501072" y="0"/>
                </a:lnTo>
                <a:close/>
              </a:path>
              <a:path w="572770" h="224154">
                <a:moveTo>
                  <a:pt x="71281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148" y="132501"/>
                </a:lnTo>
                <a:lnTo>
                  <a:pt x="18379" y="184665"/>
                </a:lnTo>
                <a:lnTo>
                  <a:pt x="55029" y="217919"/>
                </a:lnTo>
                <a:lnTo>
                  <a:pt x="71281" y="223769"/>
                </a:lnTo>
                <a:lnTo>
                  <a:pt x="74109" y="214686"/>
                </a:lnTo>
                <a:lnTo>
                  <a:pt x="61373" y="209038"/>
                </a:lnTo>
                <a:lnTo>
                  <a:pt x="50382" y="201179"/>
                </a:lnTo>
                <a:lnTo>
                  <a:pt x="27838" y="164531"/>
                </a:lnTo>
                <a:lnTo>
                  <a:pt x="20431" y="111944"/>
                </a:lnTo>
                <a:lnTo>
                  <a:pt x="20382" y="110764"/>
                </a:lnTo>
                <a:lnTo>
                  <a:pt x="21210" y="91672"/>
                </a:lnTo>
                <a:lnTo>
                  <a:pt x="33637" y="44528"/>
                </a:lnTo>
                <a:lnTo>
                  <a:pt x="61572" y="14703"/>
                </a:lnTo>
                <a:lnTo>
                  <a:pt x="74462" y="9081"/>
                </a:lnTo>
                <a:lnTo>
                  <a:pt x="712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18357" y="3994735"/>
            <a:ext cx="8757285" cy="23755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90"/>
              </a:spcBef>
            </a:pPr>
            <a:r>
              <a:rPr sz="1900" dirty="0">
                <a:latin typeface="Calibri"/>
                <a:cs typeface="Calibri"/>
              </a:rPr>
              <a:t>Find</a:t>
            </a:r>
            <a:r>
              <a:rPr sz="1900" spc="3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degree-</a:t>
            </a:r>
            <a:r>
              <a:rPr sz="1900" dirty="0">
                <a:latin typeface="Calibri"/>
                <a:cs typeface="Calibri"/>
              </a:rPr>
              <a:t>M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polynomial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form:</a:t>
            </a:r>
            <a:endParaRPr sz="1900">
              <a:latin typeface="Calibri"/>
              <a:cs typeface="Calibri"/>
            </a:endParaRPr>
          </a:p>
          <a:p>
            <a:pPr marL="6655434">
              <a:lnSpc>
                <a:spcPct val="100000"/>
              </a:lnSpc>
              <a:spcBef>
                <a:spcPts val="140"/>
              </a:spcBef>
            </a:pPr>
            <a:r>
              <a:rPr sz="1400" spc="-50" dirty="0">
                <a:latin typeface="Cambria Math"/>
                <a:cs typeface="Cambria Math"/>
              </a:rPr>
              <a:t>𝑀</a:t>
            </a:r>
            <a:endParaRPr sz="1400">
              <a:latin typeface="Cambria Math"/>
              <a:cs typeface="Cambria Math"/>
            </a:endParaRPr>
          </a:p>
          <a:p>
            <a:pPr marL="2536190">
              <a:lnSpc>
                <a:spcPct val="100000"/>
              </a:lnSpc>
              <a:spcBef>
                <a:spcPts val="650"/>
              </a:spcBef>
            </a:pP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1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12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2100" baseline="-15873" dirty="0">
                <a:latin typeface="Cambria Math"/>
                <a:cs typeface="Cambria Math"/>
              </a:rPr>
              <a:t>0</a:t>
            </a:r>
            <a:r>
              <a:rPr sz="2100" spc="300" baseline="-15873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2100" baseline="-15873" dirty="0">
                <a:latin typeface="Cambria Math"/>
                <a:cs typeface="Cambria Math"/>
              </a:rPr>
              <a:t>1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1900" spc="49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2100" baseline="-15873" dirty="0">
                <a:latin typeface="Cambria Math"/>
                <a:cs typeface="Cambria Math"/>
              </a:rPr>
              <a:t>2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2100" baseline="27777" dirty="0">
                <a:latin typeface="Cambria Math"/>
                <a:cs typeface="Cambria Math"/>
              </a:rPr>
              <a:t>2</a:t>
            </a:r>
            <a:r>
              <a:rPr sz="2100" spc="30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⋯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2100" baseline="-15873" dirty="0">
                <a:latin typeface="Cambria Math"/>
                <a:cs typeface="Cambria Math"/>
              </a:rPr>
              <a:t>𝑀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2100" baseline="27777" dirty="0">
                <a:latin typeface="Cambria Math"/>
                <a:cs typeface="Cambria Math"/>
              </a:rPr>
              <a:t>𝑀</a:t>
            </a:r>
            <a:r>
              <a:rPr sz="2100" spc="502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120" dirty="0">
                <a:latin typeface="Cambria Math"/>
                <a:cs typeface="Cambria Math"/>
              </a:rPr>
              <a:t> </a:t>
            </a:r>
            <a:r>
              <a:rPr sz="1900" spc="1160" dirty="0">
                <a:latin typeface="Cambria Math"/>
                <a:cs typeface="Cambria Math"/>
              </a:rPr>
              <a:t>∑</a:t>
            </a:r>
            <a:r>
              <a:rPr sz="1900" spc="-95" dirty="0">
                <a:latin typeface="Cambria Math"/>
                <a:cs typeface="Cambria Math"/>
              </a:rPr>
              <a:t> </a:t>
            </a:r>
            <a:r>
              <a:rPr sz="1900" spc="40" dirty="0">
                <a:latin typeface="Cambria Math"/>
                <a:cs typeface="Cambria Math"/>
              </a:rPr>
              <a:t>𝑤</a:t>
            </a:r>
            <a:r>
              <a:rPr sz="2100" spc="60" baseline="-15873" dirty="0">
                <a:latin typeface="Cambria Math"/>
                <a:cs typeface="Cambria Math"/>
              </a:rPr>
              <a:t>𝑖</a:t>
            </a:r>
            <a:r>
              <a:rPr sz="1900" spc="40" dirty="0">
                <a:latin typeface="Cambria Math"/>
                <a:cs typeface="Cambria Math"/>
              </a:rPr>
              <a:t>𝑥</a:t>
            </a:r>
            <a:r>
              <a:rPr sz="2100" spc="60" baseline="27777" dirty="0">
                <a:latin typeface="Cambria Math"/>
                <a:cs typeface="Cambria Math"/>
              </a:rPr>
              <a:t>𝑖</a:t>
            </a:r>
            <a:endParaRPr sz="2100" baseline="27777">
              <a:latin typeface="Cambria Math"/>
              <a:cs typeface="Cambria Math"/>
            </a:endParaRPr>
          </a:p>
          <a:p>
            <a:pPr marL="6586220">
              <a:lnSpc>
                <a:spcPts val="1560"/>
              </a:lnSpc>
              <a:spcBef>
                <a:spcPts val="645"/>
              </a:spcBef>
            </a:pPr>
            <a:r>
              <a:rPr sz="1400" spc="-25" dirty="0">
                <a:latin typeface="Cambria Math"/>
                <a:cs typeface="Cambria Math"/>
              </a:rPr>
              <a:t>𝑖=0</a:t>
            </a:r>
            <a:endParaRPr sz="1400">
              <a:latin typeface="Cambria Math"/>
              <a:cs typeface="Cambria Math"/>
            </a:endParaRPr>
          </a:p>
          <a:p>
            <a:pPr marL="321945" indent="-271145">
              <a:lnSpc>
                <a:spcPts val="2160"/>
              </a:lnSpc>
              <a:buFont typeface="Arial MT"/>
              <a:buChar char="•"/>
              <a:tabLst>
                <a:tab pos="321945" algn="l"/>
                <a:tab pos="3696970" algn="l"/>
              </a:tabLst>
            </a:pPr>
            <a:r>
              <a:rPr sz="1900" dirty="0">
                <a:latin typeface="Calibri"/>
                <a:cs typeface="Calibri"/>
              </a:rPr>
              <a:t>Here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feature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mapping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𝜑</a:t>
            </a:r>
            <a:r>
              <a:rPr sz="1900" spc="345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𝑥</a:t>
            </a:r>
            <a:r>
              <a:rPr sz="1900" dirty="0">
                <a:latin typeface="Cambria Math"/>
                <a:cs typeface="Cambria Math"/>
              </a:rPr>
              <a:t>	=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spc="-10" dirty="0">
                <a:latin typeface="Cambria Math"/>
                <a:cs typeface="Cambria Math"/>
              </a:rPr>
              <a:t>[1,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𝑥,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spc="60" dirty="0">
                <a:latin typeface="Cambria Math"/>
                <a:cs typeface="Cambria Math"/>
              </a:rPr>
              <a:t>𝑥</a:t>
            </a:r>
            <a:r>
              <a:rPr sz="2100" spc="89" baseline="27777" dirty="0">
                <a:latin typeface="Cambria Math"/>
                <a:cs typeface="Cambria Math"/>
              </a:rPr>
              <a:t>2</a:t>
            </a:r>
            <a:r>
              <a:rPr sz="1900" spc="60" dirty="0">
                <a:latin typeface="Cambria Math"/>
                <a:cs typeface="Cambria Math"/>
              </a:rPr>
              <a:t>,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…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spc="65" dirty="0">
                <a:latin typeface="Cambria Math"/>
                <a:cs typeface="Cambria Math"/>
              </a:rPr>
              <a:t>𝑥</a:t>
            </a:r>
            <a:r>
              <a:rPr sz="2100" spc="97" baseline="27777" dirty="0">
                <a:latin typeface="Cambria Math"/>
                <a:cs typeface="Cambria Math"/>
              </a:rPr>
              <a:t>𝑀</a:t>
            </a:r>
            <a:r>
              <a:rPr sz="1900" spc="65" dirty="0">
                <a:latin typeface="Cambria Math"/>
                <a:cs typeface="Cambria Math"/>
              </a:rPr>
              <a:t>]</a:t>
            </a:r>
            <a:r>
              <a:rPr sz="2100" spc="97" baseline="27777" dirty="0">
                <a:latin typeface="Cambria Math"/>
                <a:cs typeface="Cambria Math"/>
              </a:rPr>
              <a:t>𝗍</a:t>
            </a:r>
            <a:r>
              <a:rPr sz="1900" spc="65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marL="3219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21945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still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regression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find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w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since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11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8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𝜑</a:t>
            </a:r>
            <a:r>
              <a:rPr sz="1900" spc="37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1900" spc="385" dirty="0">
                <a:latin typeface="Cambria Math"/>
                <a:cs typeface="Cambria Math"/>
              </a:rPr>
              <a:t> </a:t>
            </a:r>
            <a:r>
              <a:rPr sz="2100" spc="165" baseline="27777" dirty="0">
                <a:latin typeface="Cambria Math"/>
                <a:cs typeface="Cambria Math"/>
              </a:rPr>
              <a:t>𝗍</a:t>
            </a:r>
            <a:r>
              <a:rPr sz="1900" spc="110" dirty="0">
                <a:latin typeface="Cambria Math"/>
                <a:cs typeface="Cambria Math"/>
              </a:rPr>
              <a:t>w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2100" baseline="-15873" dirty="0">
                <a:latin typeface="Cambria Math"/>
                <a:cs typeface="Cambria Math"/>
              </a:rPr>
              <a:t>0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mbria Math"/>
                <a:cs typeface="Cambria Math"/>
              </a:rPr>
              <a:t>𝑤</a:t>
            </a:r>
            <a:r>
              <a:rPr sz="2100" spc="-15" baseline="-15873" dirty="0">
                <a:latin typeface="Cambria Math"/>
                <a:cs typeface="Cambria Math"/>
              </a:rPr>
              <a:t>1</a:t>
            </a:r>
            <a:r>
              <a:rPr sz="1900" spc="-10" dirty="0">
                <a:latin typeface="Calibri"/>
                <a:cs typeface="Calibri"/>
              </a:rPr>
              <a:t>,</a:t>
            </a:r>
            <a:r>
              <a:rPr sz="1900" spc="-114" dirty="0">
                <a:latin typeface="Calibri"/>
                <a:cs typeface="Calibri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…</a:t>
            </a:r>
            <a:endParaRPr sz="1900">
              <a:latin typeface="Cambria Math"/>
              <a:cs typeface="Cambria Math"/>
            </a:endParaRPr>
          </a:p>
          <a:p>
            <a:pPr marL="321945" indent="-27114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21945" algn="l"/>
              </a:tabLst>
            </a:pP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general,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𝜑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function.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Another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example:</a:t>
            </a:r>
            <a:endParaRPr sz="1900">
              <a:latin typeface="Calibri"/>
              <a:cs typeface="Calibri"/>
            </a:endParaRPr>
          </a:p>
          <a:p>
            <a:pPr marL="321945">
              <a:lnSpc>
                <a:spcPct val="100000"/>
              </a:lnSpc>
              <a:spcBef>
                <a:spcPts val="25"/>
              </a:spcBef>
              <a:tabLst>
                <a:tab pos="893444" algn="l"/>
              </a:tabLst>
            </a:pPr>
            <a:r>
              <a:rPr sz="1900" dirty="0">
                <a:latin typeface="Cambria Math"/>
                <a:cs typeface="Cambria Math"/>
              </a:rPr>
              <a:t>𝜑</a:t>
            </a:r>
            <a:r>
              <a:rPr sz="1900" spc="385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𝑥</a:t>
            </a:r>
            <a:r>
              <a:rPr sz="1900" dirty="0">
                <a:latin typeface="Cambria Math"/>
                <a:cs typeface="Cambria Math"/>
              </a:rPr>
              <a:t>	=</a:t>
            </a:r>
            <a:r>
              <a:rPr sz="1900" spc="60" dirty="0">
                <a:latin typeface="Cambria Math"/>
                <a:cs typeface="Cambria Math"/>
              </a:rPr>
              <a:t> </a:t>
            </a:r>
            <a:r>
              <a:rPr sz="1900" spc="-10" dirty="0">
                <a:latin typeface="Cambria Math"/>
                <a:cs typeface="Cambria Math"/>
              </a:rPr>
              <a:t>[1,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sin</a:t>
            </a:r>
            <a:r>
              <a:rPr sz="1900" spc="34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2π𝑥</a:t>
            </a:r>
            <a:r>
              <a:rPr sz="1900" spc="4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cos</a:t>
            </a:r>
            <a:r>
              <a:rPr sz="1900" spc="3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2π𝑥</a:t>
            </a:r>
            <a:r>
              <a:rPr sz="1900" spc="4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sin</a:t>
            </a:r>
            <a:r>
              <a:rPr sz="1900" spc="34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4π𝑥</a:t>
            </a:r>
            <a:r>
              <a:rPr sz="1900" spc="4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⋯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]</a:t>
            </a:r>
            <a:r>
              <a:rPr sz="2100" spc="-37" baseline="27777" dirty="0">
                <a:latin typeface="Cambria Math"/>
                <a:cs typeface="Cambria Math"/>
              </a:rPr>
              <a:t>𝗍</a:t>
            </a:r>
            <a:endParaRPr sz="2100" baseline="27777">
              <a:latin typeface="Cambria Math"/>
              <a:cs typeface="Cambria Math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8192" y="3972262"/>
            <a:ext cx="1673330" cy="3398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23199" y="4897878"/>
            <a:ext cx="2149901" cy="605274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780572" y="5816261"/>
            <a:ext cx="3567429" cy="1402715"/>
            <a:chOff x="6780572" y="5816261"/>
            <a:chExt cx="3567429" cy="140271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1770" y="5816261"/>
              <a:ext cx="3485660" cy="140236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30354" y="6582693"/>
              <a:ext cx="267785" cy="23024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80572" y="6883776"/>
              <a:ext cx="430253" cy="289841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3647" y="6461041"/>
            <a:ext cx="3005200" cy="4253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spc="45" dirty="0"/>
              <a:t> </a:t>
            </a:r>
            <a:r>
              <a:rPr dirty="0"/>
              <a:t>Feature</a:t>
            </a:r>
            <a:r>
              <a:rPr spc="55" dirty="0"/>
              <a:t> </a:t>
            </a:r>
            <a:r>
              <a:rPr dirty="0"/>
              <a:t>Mapping</a:t>
            </a:r>
            <a:r>
              <a:rPr spc="60" dirty="0"/>
              <a:t> </a:t>
            </a:r>
            <a:r>
              <a:rPr dirty="0"/>
              <a:t>with</a:t>
            </a:r>
            <a:r>
              <a:rPr spc="65" dirty="0"/>
              <a:t> </a:t>
            </a:r>
            <a:r>
              <a:rPr dirty="0"/>
              <a:t>M</a:t>
            </a:r>
            <a:r>
              <a:rPr spc="70" dirty="0"/>
              <a:t> </a:t>
            </a:r>
            <a:r>
              <a:rPr dirty="0"/>
              <a:t>=</a:t>
            </a:r>
            <a:r>
              <a:rPr spc="55" dirty="0"/>
              <a:t> </a:t>
            </a:r>
            <a:r>
              <a:rPr spc="-50" dirty="0"/>
              <a:t>0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4359" y="2423067"/>
            <a:ext cx="3956314" cy="28637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34294" y="2031210"/>
            <a:ext cx="80200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1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95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𝑤</a:t>
            </a:r>
            <a:r>
              <a:rPr sz="2100" spc="-37" baseline="-15873" dirty="0">
                <a:latin typeface="Cambria Math"/>
                <a:cs typeface="Cambria Math"/>
              </a:rPr>
              <a:t>0</a:t>
            </a:r>
            <a:endParaRPr sz="2100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1603" y="5505930"/>
            <a:ext cx="70072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 MT"/>
                <a:cs typeface="Arial MT"/>
              </a:rPr>
              <a:t>-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Pattern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Recognition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Machine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Learning,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Christopher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Bishop.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spc="45" dirty="0"/>
              <a:t> </a:t>
            </a:r>
            <a:r>
              <a:rPr dirty="0"/>
              <a:t>Feature</a:t>
            </a:r>
            <a:r>
              <a:rPr spc="55" dirty="0"/>
              <a:t> </a:t>
            </a:r>
            <a:r>
              <a:rPr dirty="0"/>
              <a:t>Mapping</a:t>
            </a:r>
            <a:r>
              <a:rPr spc="60" dirty="0"/>
              <a:t> </a:t>
            </a:r>
            <a:r>
              <a:rPr dirty="0"/>
              <a:t>with</a:t>
            </a:r>
            <a:r>
              <a:rPr spc="65" dirty="0"/>
              <a:t> </a:t>
            </a:r>
            <a:r>
              <a:rPr dirty="0"/>
              <a:t>M</a:t>
            </a:r>
            <a:r>
              <a:rPr spc="70" dirty="0"/>
              <a:t> </a:t>
            </a:r>
            <a:r>
              <a:rPr dirty="0"/>
              <a:t>=</a:t>
            </a:r>
            <a:r>
              <a:rPr spc="55" dirty="0"/>
              <a:t> </a:t>
            </a:r>
            <a:r>
              <a:rPr spc="-50" dirty="0"/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5000" y="2453265"/>
            <a:ext cx="3901016" cy="29191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91399" y="2000730"/>
            <a:ext cx="15030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11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8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2100" baseline="-15873" dirty="0">
                <a:latin typeface="Cambria Math"/>
                <a:cs typeface="Cambria Math"/>
              </a:rPr>
              <a:t>0</a:t>
            </a:r>
            <a:r>
              <a:rPr sz="2100" spc="254" baseline="-15873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2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𝑤</a:t>
            </a:r>
            <a:r>
              <a:rPr sz="2100" spc="-37" baseline="-15873" dirty="0">
                <a:latin typeface="Cambria Math"/>
                <a:cs typeface="Cambria Math"/>
              </a:rPr>
              <a:t>1</a:t>
            </a:r>
            <a:r>
              <a:rPr sz="1900" spc="-25" dirty="0">
                <a:latin typeface="Cambria Math"/>
                <a:cs typeface="Cambria Math"/>
              </a:rPr>
              <a:t>𝑥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1603" y="5505930"/>
            <a:ext cx="70072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 MT"/>
                <a:cs typeface="Arial MT"/>
              </a:rPr>
              <a:t>-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Pattern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Recognition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Machine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Learning,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Christopher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Bishop.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spc="45" dirty="0"/>
              <a:t> </a:t>
            </a:r>
            <a:r>
              <a:rPr dirty="0"/>
              <a:t>Feature</a:t>
            </a:r>
            <a:r>
              <a:rPr spc="55" dirty="0"/>
              <a:t> </a:t>
            </a:r>
            <a:r>
              <a:rPr dirty="0"/>
              <a:t>Mapping</a:t>
            </a:r>
            <a:r>
              <a:rPr spc="60" dirty="0"/>
              <a:t> </a:t>
            </a:r>
            <a:r>
              <a:rPr dirty="0"/>
              <a:t>with</a:t>
            </a:r>
            <a:r>
              <a:rPr spc="65" dirty="0"/>
              <a:t> </a:t>
            </a:r>
            <a:r>
              <a:rPr dirty="0"/>
              <a:t>M</a:t>
            </a:r>
            <a:r>
              <a:rPr spc="70" dirty="0"/>
              <a:t> </a:t>
            </a:r>
            <a:r>
              <a:rPr dirty="0"/>
              <a:t>=</a:t>
            </a:r>
            <a:r>
              <a:rPr spc="55" dirty="0"/>
              <a:t> </a:t>
            </a:r>
            <a:r>
              <a:rPr spc="-50" dirty="0"/>
              <a:t>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5758" y="2332474"/>
            <a:ext cx="3981449" cy="29191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69563" y="1811754"/>
            <a:ext cx="314515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13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2100" baseline="-15873" dirty="0">
                <a:latin typeface="Cambria Math"/>
                <a:cs typeface="Cambria Math"/>
              </a:rPr>
              <a:t>𝑜</a:t>
            </a:r>
            <a:r>
              <a:rPr sz="2100" spc="337" baseline="-15873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2100" baseline="-15873" dirty="0">
                <a:latin typeface="Cambria Math"/>
                <a:cs typeface="Cambria Math"/>
              </a:rPr>
              <a:t>1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1900" spc="6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 𝑤</a:t>
            </a:r>
            <a:r>
              <a:rPr sz="2100" baseline="-15873" dirty="0">
                <a:latin typeface="Cambria Math"/>
                <a:cs typeface="Cambria Math"/>
              </a:rPr>
              <a:t>2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2100" baseline="27777" dirty="0">
                <a:latin typeface="Cambria Math"/>
                <a:cs typeface="Cambria Math"/>
              </a:rPr>
              <a:t>2</a:t>
            </a:r>
            <a:r>
              <a:rPr sz="2100" spc="284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spc="-20" dirty="0">
                <a:latin typeface="Cambria Math"/>
                <a:cs typeface="Cambria Math"/>
              </a:rPr>
              <a:t>𝑤</a:t>
            </a:r>
            <a:r>
              <a:rPr sz="2100" spc="-30" baseline="-15873" dirty="0">
                <a:latin typeface="Cambria Math"/>
                <a:cs typeface="Cambria Math"/>
              </a:rPr>
              <a:t>3</a:t>
            </a:r>
            <a:r>
              <a:rPr sz="1900" spc="-20" dirty="0">
                <a:latin typeface="Cambria Math"/>
                <a:cs typeface="Cambria Math"/>
              </a:rPr>
              <a:t>𝑥</a:t>
            </a:r>
            <a:r>
              <a:rPr sz="2100" spc="-30" baseline="27777" dirty="0">
                <a:latin typeface="Cambria Math"/>
                <a:cs typeface="Cambria Math"/>
              </a:rPr>
              <a:t>3</a:t>
            </a:r>
            <a:endParaRPr sz="2100" baseline="27777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1603" y="5505930"/>
            <a:ext cx="70072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 MT"/>
                <a:cs typeface="Arial MT"/>
              </a:rPr>
              <a:t>-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Pattern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Recognition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Machine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Learning,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Christopher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Bishop.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spc="45" dirty="0"/>
              <a:t> </a:t>
            </a:r>
            <a:r>
              <a:rPr dirty="0"/>
              <a:t>Feature</a:t>
            </a:r>
            <a:r>
              <a:rPr spc="55" dirty="0"/>
              <a:t> </a:t>
            </a:r>
            <a:r>
              <a:rPr dirty="0"/>
              <a:t>Mapping</a:t>
            </a:r>
            <a:r>
              <a:rPr spc="60" dirty="0"/>
              <a:t> </a:t>
            </a:r>
            <a:r>
              <a:rPr dirty="0"/>
              <a:t>with</a:t>
            </a:r>
            <a:r>
              <a:rPr spc="65" dirty="0"/>
              <a:t> </a:t>
            </a:r>
            <a:r>
              <a:rPr dirty="0"/>
              <a:t>M</a:t>
            </a:r>
            <a:r>
              <a:rPr spc="70" dirty="0"/>
              <a:t> </a:t>
            </a:r>
            <a:r>
              <a:rPr dirty="0"/>
              <a:t>=</a:t>
            </a:r>
            <a:r>
              <a:rPr spc="55" dirty="0"/>
              <a:t> </a:t>
            </a:r>
            <a:r>
              <a:rPr spc="-50" dirty="0"/>
              <a:t>9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6191" y="2292210"/>
            <a:ext cx="3901016" cy="29040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23125" y="1884906"/>
            <a:ext cx="44386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mbria Math"/>
                <a:cs typeface="Cambria Math"/>
              </a:rPr>
              <a:t>𝑦</a:t>
            </a:r>
            <a:r>
              <a:rPr sz="1900" spc="1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11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2100" baseline="-15873" dirty="0">
                <a:latin typeface="Cambria Math"/>
                <a:cs typeface="Cambria Math"/>
              </a:rPr>
              <a:t>0</a:t>
            </a:r>
            <a:r>
              <a:rPr sz="2100" spc="307" baseline="-15873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2100" baseline="-15873" dirty="0">
                <a:latin typeface="Cambria Math"/>
                <a:cs typeface="Cambria Math"/>
              </a:rPr>
              <a:t>1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1900" spc="7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2100" baseline="-15873" dirty="0">
                <a:latin typeface="Cambria Math"/>
                <a:cs typeface="Cambria Math"/>
              </a:rPr>
              <a:t>2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2100" baseline="27777" dirty="0">
                <a:latin typeface="Cambria Math"/>
                <a:cs typeface="Cambria Math"/>
              </a:rPr>
              <a:t>2</a:t>
            </a:r>
            <a:r>
              <a:rPr sz="2100" spc="30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2100" baseline="-15873" dirty="0">
                <a:latin typeface="Cambria Math"/>
                <a:cs typeface="Cambria Math"/>
              </a:rPr>
              <a:t>3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2100" baseline="27777" dirty="0">
                <a:latin typeface="Cambria Math"/>
                <a:cs typeface="Cambria Math"/>
              </a:rPr>
              <a:t>3</a:t>
            </a:r>
            <a:r>
              <a:rPr sz="2100" spc="30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⋯</a:t>
            </a:r>
            <a:r>
              <a:rPr sz="1900" spc="-1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spc="35" dirty="0">
                <a:latin typeface="Cambria Math"/>
                <a:cs typeface="Cambria Math"/>
              </a:rPr>
              <a:t>𝑤</a:t>
            </a:r>
            <a:r>
              <a:rPr sz="2100" spc="52" baseline="-15873" dirty="0">
                <a:latin typeface="Cambria Math"/>
                <a:cs typeface="Cambria Math"/>
              </a:rPr>
              <a:t>𝖾</a:t>
            </a:r>
            <a:r>
              <a:rPr sz="1900" spc="35" dirty="0">
                <a:latin typeface="Cambria Math"/>
                <a:cs typeface="Cambria Math"/>
              </a:rPr>
              <a:t>𝑥</a:t>
            </a:r>
            <a:r>
              <a:rPr sz="2100" spc="52" baseline="27777" dirty="0">
                <a:latin typeface="Cambria Math"/>
                <a:cs typeface="Cambria Math"/>
              </a:rPr>
              <a:t>𝖾</a:t>
            </a:r>
            <a:endParaRPr sz="2100" baseline="27777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1603" y="5505930"/>
            <a:ext cx="70072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 MT"/>
                <a:cs typeface="Arial MT"/>
              </a:rPr>
              <a:t>-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Pattern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Recognition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Machine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Learning,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Christopher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Bishop.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spc="60" dirty="0"/>
              <a:t> </a:t>
            </a:r>
            <a:r>
              <a:rPr dirty="0"/>
              <a:t>Complexity</a:t>
            </a:r>
            <a:r>
              <a:rPr spc="65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spc="-10" dirty="0"/>
              <a:t>Generalization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0994" y="2580212"/>
            <a:ext cx="6857774" cy="16596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4072" y="1814802"/>
            <a:ext cx="6188710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Underfitting</a:t>
            </a:r>
            <a:r>
              <a:rPr sz="19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(M=0):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simple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–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does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data.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Overfitting</a:t>
            </a:r>
            <a:r>
              <a:rPr sz="19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(M=9):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complex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–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fits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perfectly.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4072" y="4268442"/>
            <a:ext cx="62166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Good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(M=3):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achieves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small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test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error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(generalizes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well).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1105" y="4691715"/>
            <a:ext cx="2169023" cy="1613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77843" y="1747767"/>
            <a:ext cx="740734" cy="67866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2532" y="1693002"/>
            <a:ext cx="2244241" cy="13365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spc="60" dirty="0"/>
              <a:t> </a:t>
            </a:r>
            <a:r>
              <a:rPr dirty="0"/>
              <a:t>Complexity</a:t>
            </a:r>
            <a:r>
              <a:rPr spc="65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spc="-10" dirty="0"/>
              <a:t>Generalization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7311" y="2017496"/>
            <a:ext cx="5757703" cy="20000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37251" y="4353786"/>
            <a:ext cx="6548755" cy="885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As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increases,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magnitude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coefficients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gets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larger.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ts val="2230"/>
              </a:lnSpc>
              <a:spcBef>
                <a:spcPts val="2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For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M=9,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coefficients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become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finely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tuned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data.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ts val="2230"/>
              </a:lnSpc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Between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points,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exhibits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large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oscillations.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3329" y="783191"/>
            <a:ext cx="1456171" cy="435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92223" y="765436"/>
            <a:ext cx="976080" cy="3837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31089" y="3150106"/>
            <a:ext cx="2462310" cy="121234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7242" y="1593841"/>
            <a:ext cx="169264" cy="675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Regularization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2549" y="2192754"/>
            <a:ext cx="8670290" cy="2467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degree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polynomial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controls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model’s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complexity.</a:t>
            </a:r>
            <a:endParaRPr sz="1900">
              <a:latin typeface="Calibri"/>
              <a:cs typeface="Calibri"/>
            </a:endParaRPr>
          </a:p>
          <a:p>
            <a:pPr marL="283845" marR="133985" indent="-271780">
              <a:lnSpc>
                <a:spcPts val="2210"/>
              </a:lnSpc>
              <a:spcBef>
                <a:spcPts val="15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hyperparameter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polynomial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expansion,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just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like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k</a:t>
            </a:r>
            <a:r>
              <a:rPr sz="1900" i="1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KNN.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We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tune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validation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set.</a:t>
            </a:r>
            <a:endParaRPr sz="1900">
              <a:latin typeface="Calibri"/>
              <a:cs typeface="Calibri"/>
            </a:endParaRPr>
          </a:p>
          <a:p>
            <a:pPr marL="283845" marR="387350" indent="-27178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spc="-10" dirty="0">
                <a:latin typeface="Calibri"/>
                <a:cs typeface="Calibri"/>
              </a:rPr>
              <a:t>Restricting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number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parameters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/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basis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(M)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crude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approach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dirty="0">
                <a:latin typeface="Calibri"/>
                <a:cs typeface="Calibri"/>
              </a:rPr>
              <a:t>control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complexity.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ts val="2230"/>
              </a:lnSpc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Another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approach: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keep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large,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but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regularize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it.</a:t>
            </a:r>
            <a:endParaRPr sz="1900">
              <a:latin typeface="Calibri"/>
              <a:cs typeface="Calibri"/>
            </a:endParaRPr>
          </a:p>
          <a:p>
            <a:pPr marL="1001394" marR="5080" lvl="1" indent="-270510">
              <a:lnSpc>
                <a:spcPct val="101099"/>
              </a:lnSpc>
              <a:spcBef>
                <a:spcPts val="935"/>
              </a:spcBef>
              <a:buClr>
                <a:srgbClr val="000000"/>
              </a:buClr>
              <a:buFont typeface="Wingdings"/>
              <a:buChar char=""/>
              <a:tabLst>
                <a:tab pos="1002665" algn="l"/>
              </a:tabLst>
            </a:pP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Regularizer</a:t>
            </a:r>
            <a:r>
              <a:rPr sz="1900" spc="-10" dirty="0">
                <a:latin typeface="Calibri"/>
                <a:cs typeface="Calibri"/>
              </a:rPr>
              <a:t>: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quantifies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how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much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prefer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hypothesis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vs. 	</a:t>
            </a:r>
            <a:r>
              <a:rPr sz="1900" spc="-10" dirty="0">
                <a:latin typeface="Calibri"/>
                <a:cs typeface="Calibri"/>
              </a:rPr>
              <a:t>another.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003" y="5580670"/>
            <a:ext cx="4172959" cy="49190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27873" y="4559327"/>
            <a:ext cx="8014334" cy="1373505"/>
            <a:chOff x="327873" y="4559327"/>
            <a:chExt cx="8014334" cy="137350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3337" y="4594446"/>
              <a:ext cx="1671159" cy="3517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873" y="4640770"/>
              <a:ext cx="4055217" cy="8543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5583" y="4559327"/>
              <a:ext cx="3125693" cy="8021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478" y="5149572"/>
              <a:ext cx="1311461" cy="36647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856486" y="5430459"/>
              <a:ext cx="48895" cy="57150"/>
            </a:xfrm>
            <a:custGeom>
              <a:avLst/>
              <a:gdLst/>
              <a:ahLst/>
              <a:cxnLst/>
              <a:rect l="l" t="t" r="r" b="b"/>
              <a:pathLst>
                <a:path w="48894" h="57150">
                  <a:moveTo>
                    <a:pt x="14007" y="22165"/>
                  </a:moveTo>
                  <a:lnTo>
                    <a:pt x="0" y="54306"/>
                  </a:lnTo>
                  <a:lnTo>
                    <a:pt x="873" y="56032"/>
                  </a:lnTo>
                  <a:lnTo>
                    <a:pt x="3796" y="56988"/>
                  </a:lnTo>
                  <a:lnTo>
                    <a:pt x="5240" y="56476"/>
                  </a:lnTo>
                  <a:lnTo>
                    <a:pt x="10782" y="47756"/>
                  </a:lnTo>
                  <a:lnTo>
                    <a:pt x="15448" y="40125"/>
                  </a:lnTo>
                  <a:lnTo>
                    <a:pt x="20000" y="32426"/>
                  </a:lnTo>
                  <a:lnTo>
                    <a:pt x="22509" y="28051"/>
                  </a:lnTo>
                  <a:lnTo>
                    <a:pt x="19861" y="28051"/>
                  </a:lnTo>
                  <a:lnTo>
                    <a:pt x="14857" y="25223"/>
                  </a:lnTo>
                  <a:lnTo>
                    <a:pt x="14007" y="22165"/>
                  </a:lnTo>
                  <a:close/>
                </a:path>
                <a:path w="48894" h="57150">
                  <a:moveTo>
                    <a:pt x="45787" y="0"/>
                  </a:moveTo>
                  <a:lnTo>
                    <a:pt x="14007" y="22165"/>
                  </a:lnTo>
                  <a:lnTo>
                    <a:pt x="14857" y="25223"/>
                  </a:lnTo>
                  <a:lnTo>
                    <a:pt x="19861" y="28051"/>
                  </a:lnTo>
                  <a:lnTo>
                    <a:pt x="23011" y="27176"/>
                  </a:lnTo>
                  <a:lnTo>
                    <a:pt x="25863" y="22165"/>
                  </a:lnTo>
                  <a:lnTo>
                    <a:pt x="24982" y="18990"/>
                  </a:lnTo>
                  <a:lnTo>
                    <a:pt x="21700" y="17136"/>
                  </a:lnTo>
                  <a:lnTo>
                    <a:pt x="16474" y="17136"/>
                  </a:lnTo>
                  <a:lnTo>
                    <a:pt x="19977" y="16162"/>
                  </a:lnTo>
                  <a:lnTo>
                    <a:pt x="29656" y="16162"/>
                  </a:lnTo>
                  <a:lnTo>
                    <a:pt x="35071" y="10617"/>
                  </a:lnTo>
                  <a:lnTo>
                    <a:pt x="46655" y="9323"/>
                  </a:lnTo>
                  <a:lnTo>
                    <a:pt x="48538" y="6967"/>
                  </a:lnTo>
                  <a:lnTo>
                    <a:pt x="48019" y="2322"/>
                  </a:lnTo>
                  <a:lnTo>
                    <a:pt x="47966" y="1851"/>
                  </a:lnTo>
                  <a:lnTo>
                    <a:pt x="45787" y="0"/>
                  </a:lnTo>
                  <a:close/>
                </a:path>
                <a:path w="48894" h="57150">
                  <a:moveTo>
                    <a:pt x="23011" y="27176"/>
                  </a:moveTo>
                  <a:lnTo>
                    <a:pt x="19861" y="28051"/>
                  </a:lnTo>
                  <a:lnTo>
                    <a:pt x="22509" y="28051"/>
                  </a:lnTo>
                  <a:lnTo>
                    <a:pt x="23011" y="27176"/>
                  </a:lnTo>
                  <a:close/>
                </a:path>
                <a:path w="48894" h="57150">
                  <a:moveTo>
                    <a:pt x="29656" y="16162"/>
                  </a:moveTo>
                  <a:lnTo>
                    <a:pt x="19977" y="16162"/>
                  </a:lnTo>
                  <a:lnTo>
                    <a:pt x="24982" y="18990"/>
                  </a:lnTo>
                  <a:lnTo>
                    <a:pt x="25863" y="22165"/>
                  </a:lnTo>
                  <a:lnTo>
                    <a:pt x="28705" y="17136"/>
                  </a:lnTo>
                  <a:lnTo>
                    <a:pt x="29656" y="16162"/>
                  </a:lnTo>
                  <a:close/>
                </a:path>
                <a:path w="48894" h="57150">
                  <a:moveTo>
                    <a:pt x="19977" y="16162"/>
                  </a:moveTo>
                  <a:lnTo>
                    <a:pt x="16474" y="17136"/>
                  </a:lnTo>
                  <a:lnTo>
                    <a:pt x="21700" y="17136"/>
                  </a:lnTo>
                  <a:lnTo>
                    <a:pt x="19977" y="16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05891" y="5512374"/>
              <a:ext cx="2088755" cy="41989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79856" y="5426780"/>
              <a:ext cx="1362061" cy="383106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2276236" y="1486527"/>
            <a:ext cx="36195" cy="8890"/>
          </a:xfrm>
          <a:custGeom>
            <a:avLst/>
            <a:gdLst/>
            <a:ahLst/>
            <a:cxnLst/>
            <a:rect l="l" t="t" r="r" b="b"/>
            <a:pathLst>
              <a:path w="36194" h="8890">
                <a:moveTo>
                  <a:pt x="34010" y="0"/>
                </a:moveTo>
                <a:lnTo>
                  <a:pt x="1722" y="596"/>
                </a:lnTo>
                <a:lnTo>
                  <a:pt x="0" y="2383"/>
                </a:lnTo>
                <a:lnTo>
                  <a:pt x="80" y="6713"/>
                </a:lnTo>
                <a:lnTo>
                  <a:pt x="1868" y="8435"/>
                </a:lnTo>
                <a:lnTo>
                  <a:pt x="31991" y="7877"/>
                </a:lnTo>
                <a:lnTo>
                  <a:pt x="34117" y="7877"/>
                </a:lnTo>
                <a:lnTo>
                  <a:pt x="35877" y="6050"/>
                </a:lnTo>
                <a:lnTo>
                  <a:pt x="35797" y="1722"/>
                </a:lnTo>
                <a:lnTo>
                  <a:pt x="340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01301" y="1531709"/>
            <a:ext cx="34290" cy="10795"/>
          </a:xfrm>
          <a:custGeom>
            <a:avLst/>
            <a:gdLst/>
            <a:ahLst/>
            <a:cxnLst/>
            <a:rect l="l" t="t" r="r" b="b"/>
            <a:pathLst>
              <a:path w="34289" h="10794">
                <a:moveTo>
                  <a:pt x="31822" y="0"/>
                </a:moveTo>
                <a:lnTo>
                  <a:pt x="1443" y="3125"/>
                </a:lnTo>
                <a:lnTo>
                  <a:pt x="0" y="4900"/>
                </a:lnTo>
                <a:lnTo>
                  <a:pt x="408" y="8873"/>
                </a:lnTo>
                <a:lnTo>
                  <a:pt x="2184" y="10317"/>
                </a:lnTo>
                <a:lnTo>
                  <a:pt x="32561" y="7192"/>
                </a:lnTo>
                <a:lnTo>
                  <a:pt x="34006" y="5416"/>
                </a:lnTo>
                <a:lnTo>
                  <a:pt x="33597" y="1443"/>
                </a:lnTo>
                <a:lnTo>
                  <a:pt x="318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L2</a:t>
            </a:r>
            <a:r>
              <a:rPr spc="40" dirty="0"/>
              <a:t> </a:t>
            </a:r>
            <a:r>
              <a:rPr spc="-10" dirty="0"/>
              <a:t>Regularization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6" y="4670778"/>
            <a:ext cx="8676640" cy="11779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3845" marR="5080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If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training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poorly,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𝒥</a:t>
            </a:r>
            <a:r>
              <a:rPr sz="1900" spc="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large.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optimal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weights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high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values,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ℛ</a:t>
            </a:r>
            <a:r>
              <a:rPr sz="1900" spc="3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libri"/>
                <a:cs typeface="Calibri"/>
              </a:rPr>
              <a:t>is </a:t>
            </a:r>
            <a:r>
              <a:rPr sz="1900" spc="-10" dirty="0">
                <a:latin typeface="Calibri"/>
                <a:cs typeface="Calibri"/>
              </a:rPr>
              <a:t>large.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ts val="2185"/>
              </a:lnSpc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Large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𝜆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penalizes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wight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more.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Like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𝑀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𝜆</a:t>
            </a:r>
            <a:r>
              <a:rPr sz="1900" spc="1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hyperparameter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tune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validation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set.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46413" y="2286961"/>
            <a:ext cx="353060" cy="224154"/>
          </a:xfrm>
          <a:custGeom>
            <a:avLst/>
            <a:gdLst/>
            <a:ahLst/>
            <a:cxnLst/>
            <a:rect l="l" t="t" r="r" b="b"/>
            <a:pathLst>
              <a:path w="353060" h="224155">
                <a:moveTo>
                  <a:pt x="281390" y="0"/>
                </a:moveTo>
                <a:lnTo>
                  <a:pt x="278208" y="9083"/>
                </a:lnTo>
                <a:lnTo>
                  <a:pt x="291147" y="14703"/>
                </a:lnTo>
                <a:lnTo>
                  <a:pt x="302273" y="22485"/>
                </a:lnTo>
                <a:lnTo>
                  <a:pt x="324866" y="58555"/>
                </a:lnTo>
                <a:lnTo>
                  <a:pt x="332289" y="110764"/>
                </a:lnTo>
                <a:lnTo>
                  <a:pt x="331460" y="130500"/>
                </a:lnTo>
                <a:lnTo>
                  <a:pt x="319034" y="178827"/>
                </a:lnTo>
                <a:lnTo>
                  <a:pt x="291297" y="209039"/>
                </a:lnTo>
                <a:lnTo>
                  <a:pt x="278561" y="214687"/>
                </a:lnTo>
                <a:lnTo>
                  <a:pt x="281390" y="223770"/>
                </a:lnTo>
                <a:lnTo>
                  <a:pt x="324093" y="198367"/>
                </a:lnTo>
                <a:lnTo>
                  <a:pt x="348077" y="151474"/>
                </a:lnTo>
                <a:lnTo>
                  <a:pt x="352672" y="111944"/>
                </a:lnTo>
                <a:lnTo>
                  <a:pt x="351533" y="91672"/>
                </a:lnTo>
                <a:lnTo>
                  <a:pt x="351520" y="91429"/>
                </a:lnTo>
                <a:lnTo>
                  <a:pt x="334233" y="39221"/>
                </a:lnTo>
                <a:lnTo>
                  <a:pt x="297594" y="5857"/>
                </a:lnTo>
                <a:lnTo>
                  <a:pt x="281390" y="0"/>
                </a:lnTo>
                <a:close/>
              </a:path>
              <a:path w="353060" h="224155">
                <a:moveTo>
                  <a:pt x="71282" y="0"/>
                </a:moveTo>
                <a:lnTo>
                  <a:pt x="28657" y="25468"/>
                </a:lnTo>
                <a:lnTo>
                  <a:pt x="4610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4595" y="151474"/>
                </a:lnTo>
                <a:lnTo>
                  <a:pt x="28580" y="198367"/>
                </a:lnTo>
                <a:lnTo>
                  <a:pt x="71282" y="223770"/>
                </a:lnTo>
                <a:lnTo>
                  <a:pt x="74110" y="214687"/>
                </a:lnTo>
                <a:lnTo>
                  <a:pt x="61374" y="209039"/>
                </a:lnTo>
                <a:lnTo>
                  <a:pt x="50384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5"/>
                </a:lnTo>
                <a:lnTo>
                  <a:pt x="50472" y="22485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8356" y="1772130"/>
            <a:ext cx="8162290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21945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encourage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weights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small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choosing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regularizer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0000"/>
                </a:solidFill>
                <a:latin typeface="Cambria Math"/>
                <a:cs typeface="Cambria Math"/>
              </a:rPr>
              <a:t>𝐿</a:t>
            </a:r>
            <a:r>
              <a:rPr sz="2100" spc="-37" baseline="27777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2100" baseline="27777">
              <a:latin typeface="Cambria Math"/>
              <a:cs typeface="Cambria Math"/>
            </a:endParaRPr>
          </a:p>
          <a:p>
            <a:pPr marL="321945">
              <a:lnSpc>
                <a:spcPct val="100000"/>
              </a:lnSpc>
              <a:spcBef>
                <a:spcPts val="75"/>
              </a:spcBef>
              <a:tabLst>
                <a:tab pos="3868420" algn="l"/>
              </a:tabLst>
            </a:pPr>
            <a:r>
              <a:rPr sz="2850" spc="-15" baseline="1461" dirty="0">
                <a:solidFill>
                  <a:srgbClr val="FF0000"/>
                </a:solidFill>
                <a:latin typeface="Calibri"/>
                <a:cs typeface="Calibri"/>
              </a:rPr>
              <a:t>penalty</a:t>
            </a:r>
            <a:r>
              <a:rPr sz="2850" spc="-15" baseline="1461" dirty="0">
                <a:latin typeface="Calibri"/>
                <a:cs typeface="Calibri"/>
              </a:rPr>
              <a:t>.</a:t>
            </a:r>
            <a:r>
              <a:rPr sz="2850" baseline="1461" dirty="0">
                <a:latin typeface="Calibri"/>
                <a:cs typeface="Calibri"/>
              </a:rPr>
              <a:t>	</a:t>
            </a:r>
            <a:r>
              <a:rPr sz="2850" baseline="-33625" dirty="0">
                <a:latin typeface="Cambria Math"/>
                <a:cs typeface="Cambria Math"/>
              </a:rPr>
              <a:t>=</a:t>
            </a:r>
            <a:r>
              <a:rPr sz="2850" spc="127" baseline="-33625" dirty="0">
                <a:latin typeface="Cambria Math"/>
                <a:cs typeface="Cambria Math"/>
              </a:rPr>
              <a:t> </a:t>
            </a:r>
            <a:r>
              <a:rPr sz="1400" u="heavy" spc="-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27523" y="2289074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19"/>
                </a:lnTo>
                <a:lnTo>
                  <a:pt x="18148" y="219519"/>
                </a:lnTo>
                <a:lnTo>
                  <a:pt x="18148" y="0"/>
                </a:lnTo>
                <a:close/>
              </a:path>
              <a:path w="69850" h="219710">
                <a:moveTo>
                  <a:pt x="69392" y="0"/>
                </a:moveTo>
                <a:lnTo>
                  <a:pt x="51257" y="0"/>
                </a:lnTo>
                <a:lnTo>
                  <a:pt x="51257" y="219519"/>
                </a:lnTo>
                <a:lnTo>
                  <a:pt x="69392" y="219519"/>
                </a:lnTo>
                <a:lnTo>
                  <a:pt x="69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05133" y="2289074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19"/>
                </a:lnTo>
                <a:lnTo>
                  <a:pt x="18148" y="219519"/>
                </a:lnTo>
                <a:lnTo>
                  <a:pt x="18148" y="0"/>
                </a:lnTo>
                <a:close/>
              </a:path>
              <a:path w="69850" h="219710">
                <a:moveTo>
                  <a:pt x="69405" y="0"/>
                </a:moveTo>
                <a:lnTo>
                  <a:pt x="51257" y="0"/>
                </a:lnTo>
                <a:lnTo>
                  <a:pt x="51257" y="219519"/>
                </a:lnTo>
                <a:lnTo>
                  <a:pt x="69405" y="219519"/>
                </a:lnTo>
                <a:lnTo>
                  <a:pt x="6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21325" y="2399585"/>
            <a:ext cx="11461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9969" algn="l"/>
              </a:tabLst>
            </a:pPr>
            <a:r>
              <a:rPr sz="1400" spc="-50" dirty="0">
                <a:latin typeface="Cambria Math"/>
                <a:cs typeface="Cambria Math"/>
              </a:rPr>
              <a:t>2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13314" y="2335577"/>
            <a:ext cx="11258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0570" algn="l"/>
                <a:tab pos="1029335" algn="l"/>
              </a:tabLst>
            </a:pPr>
            <a:r>
              <a:rPr sz="1400" spc="-50" dirty="0">
                <a:latin typeface="Cambria Math"/>
                <a:cs typeface="Cambria Math"/>
              </a:rPr>
              <a:t>2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229" dirty="0">
                <a:latin typeface="Cambria Math"/>
                <a:cs typeface="Cambria Math"/>
              </a:rPr>
              <a:t>j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229" dirty="0">
                <a:latin typeface="Cambria Math"/>
                <a:cs typeface="Cambria Math"/>
              </a:rPr>
              <a:t>j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01004" y="2214090"/>
            <a:ext cx="281559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202055" algn="l"/>
                <a:tab pos="1524635" algn="l"/>
                <a:tab pos="2392045" algn="l"/>
              </a:tabLst>
            </a:pPr>
            <a:r>
              <a:rPr sz="1900" dirty="0">
                <a:latin typeface="Cambria Math"/>
                <a:cs typeface="Cambria Math"/>
              </a:rPr>
              <a:t>ℛ</a:t>
            </a:r>
            <a:r>
              <a:rPr sz="1900" spc="415" dirty="0">
                <a:latin typeface="Cambria Math"/>
                <a:cs typeface="Cambria Math"/>
              </a:rPr>
              <a:t> </a:t>
            </a:r>
            <a:r>
              <a:rPr sz="1900" spc="-5" dirty="0">
                <a:latin typeface="Cambria Math"/>
                <a:cs typeface="Cambria Math"/>
              </a:rPr>
              <a:t>w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5" dirty="0">
                <a:latin typeface="Cambria Math"/>
                <a:cs typeface="Cambria Math"/>
              </a:rPr>
              <a:t>w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2100" baseline="29761" dirty="0">
                <a:latin typeface="Cambria Math"/>
                <a:cs typeface="Cambria Math"/>
              </a:rPr>
              <a:t>2</a:t>
            </a:r>
            <a:r>
              <a:rPr sz="2100" spc="465" baseline="29761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114" dirty="0">
                <a:latin typeface="Cambria Math"/>
                <a:cs typeface="Cambria Math"/>
              </a:rPr>
              <a:t> </a:t>
            </a:r>
            <a:r>
              <a:rPr sz="2100" u="heavy" baseline="45634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sz="2100" spc="7" baseline="45634" dirty="0">
                <a:latin typeface="Cambria Math"/>
                <a:cs typeface="Cambria Math"/>
              </a:rPr>
              <a:t> </a:t>
            </a:r>
            <a:r>
              <a:rPr sz="2850" spc="-75" baseline="1461" dirty="0">
                <a:latin typeface="Cambria Math"/>
                <a:cs typeface="Cambria Math"/>
              </a:rPr>
              <a:t>∑</a:t>
            </a:r>
            <a:r>
              <a:rPr sz="2850" baseline="1461" dirty="0">
                <a:latin typeface="Cambria Math"/>
                <a:cs typeface="Cambria Math"/>
              </a:rPr>
              <a:t>	</a:t>
            </a:r>
            <a:r>
              <a:rPr sz="1900" spc="45" dirty="0">
                <a:latin typeface="Cambria Math"/>
                <a:cs typeface="Cambria Math"/>
              </a:rPr>
              <a:t>𝑤</a:t>
            </a:r>
            <a:r>
              <a:rPr sz="2100" spc="67" baseline="29761" dirty="0">
                <a:latin typeface="Cambria Math"/>
                <a:cs typeface="Cambria Math"/>
              </a:rPr>
              <a:t>2</a:t>
            </a:r>
            <a:r>
              <a:rPr sz="1900" spc="45" dirty="0">
                <a:latin typeface="Arial MT"/>
                <a:cs typeface="Arial MT"/>
              </a:rPr>
              <a:t>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1056" y="2636283"/>
            <a:ext cx="8876665" cy="1191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744" indent="-271145">
              <a:lnSpc>
                <a:spcPts val="1910"/>
              </a:lnSpc>
              <a:spcBef>
                <a:spcPts val="100"/>
              </a:spcBef>
              <a:buFont typeface="Wingdings"/>
              <a:buChar char=""/>
              <a:tabLst>
                <a:tab pos="1007744" algn="l"/>
              </a:tabLst>
            </a:pPr>
            <a:r>
              <a:rPr sz="1600" dirty="0">
                <a:latin typeface="Calibri"/>
                <a:cs typeface="Calibri"/>
              </a:rPr>
              <a:t>Note: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precise,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𝐿</a:t>
            </a:r>
            <a:r>
              <a:rPr sz="1800" baseline="27777" dirty="0">
                <a:latin typeface="Cambria Math"/>
                <a:cs typeface="Cambria Math"/>
              </a:rPr>
              <a:t>2</a:t>
            </a:r>
            <a:r>
              <a:rPr sz="1800" spc="127" baseline="27777" dirty="0">
                <a:latin typeface="Cambria Math"/>
                <a:cs typeface="Cambria Math"/>
              </a:rPr>
              <a:t> </a:t>
            </a:r>
            <a:r>
              <a:rPr sz="1600" dirty="0">
                <a:latin typeface="Calibri"/>
                <a:cs typeface="Calibri"/>
              </a:rPr>
              <a:t>norm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Euclidean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distance,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we’re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regularizing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squared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𝐿</a:t>
            </a:r>
            <a:r>
              <a:rPr sz="1800" spc="-37" baseline="27777" dirty="0">
                <a:latin typeface="Cambria Math"/>
                <a:cs typeface="Cambria Math"/>
              </a:rPr>
              <a:t>2</a:t>
            </a:r>
            <a:endParaRPr sz="1800" baseline="27777">
              <a:latin typeface="Cambria Math"/>
              <a:cs typeface="Cambria Math"/>
            </a:endParaRPr>
          </a:p>
          <a:p>
            <a:pPr marL="1007744">
              <a:lnSpc>
                <a:spcPts val="1910"/>
              </a:lnSpc>
            </a:pPr>
            <a:r>
              <a:rPr sz="1600" spc="-10" dirty="0">
                <a:latin typeface="Calibri"/>
                <a:cs typeface="Calibri"/>
              </a:rPr>
              <a:t>norm.</a:t>
            </a:r>
            <a:endParaRPr sz="1600">
              <a:latin typeface="Calibri"/>
              <a:cs typeface="Calibri"/>
            </a:endParaRPr>
          </a:p>
          <a:p>
            <a:pPr marL="309245" marR="30480" indent="-271780">
              <a:lnSpc>
                <a:spcPct val="101099"/>
              </a:lnSpc>
              <a:spcBef>
                <a:spcPts val="755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regularized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cost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makes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tradeoff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between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norm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of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weights.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46792" y="4061438"/>
            <a:ext cx="353060" cy="224154"/>
          </a:xfrm>
          <a:custGeom>
            <a:avLst/>
            <a:gdLst/>
            <a:ahLst/>
            <a:cxnLst/>
            <a:rect l="l" t="t" r="r" b="b"/>
            <a:pathLst>
              <a:path w="353060" h="224154">
                <a:moveTo>
                  <a:pt x="281388" y="0"/>
                </a:moveTo>
                <a:lnTo>
                  <a:pt x="278207" y="9083"/>
                </a:lnTo>
                <a:lnTo>
                  <a:pt x="291146" y="14704"/>
                </a:lnTo>
                <a:lnTo>
                  <a:pt x="302273" y="22485"/>
                </a:lnTo>
                <a:lnTo>
                  <a:pt x="324865" y="58556"/>
                </a:lnTo>
                <a:lnTo>
                  <a:pt x="331428" y="91429"/>
                </a:lnTo>
                <a:lnTo>
                  <a:pt x="331463" y="91673"/>
                </a:lnTo>
                <a:lnTo>
                  <a:pt x="331459" y="130500"/>
                </a:lnTo>
                <a:lnTo>
                  <a:pt x="319032" y="178827"/>
                </a:lnTo>
                <a:lnTo>
                  <a:pt x="291297" y="209039"/>
                </a:lnTo>
                <a:lnTo>
                  <a:pt x="278561" y="214687"/>
                </a:lnTo>
                <a:lnTo>
                  <a:pt x="281388" y="223770"/>
                </a:lnTo>
                <a:lnTo>
                  <a:pt x="324092" y="198367"/>
                </a:lnTo>
                <a:lnTo>
                  <a:pt x="348076" y="151475"/>
                </a:lnTo>
                <a:lnTo>
                  <a:pt x="352671" y="111944"/>
                </a:lnTo>
                <a:lnTo>
                  <a:pt x="351532" y="91673"/>
                </a:lnTo>
                <a:lnTo>
                  <a:pt x="351519" y="91429"/>
                </a:lnTo>
                <a:lnTo>
                  <a:pt x="334232" y="39221"/>
                </a:lnTo>
                <a:lnTo>
                  <a:pt x="297593" y="5857"/>
                </a:lnTo>
                <a:lnTo>
                  <a:pt x="281388" y="0"/>
                </a:lnTo>
                <a:close/>
              </a:path>
              <a:path w="353060" h="224154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0338" y="168863"/>
                </a:lnTo>
                <a:lnTo>
                  <a:pt x="40795" y="209452"/>
                </a:lnTo>
                <a:lnTo>
                  <a:pt x="71282" y="223770"/>
                </a:lnTo>
                <a:lnTo>
                  <a:pt x="74109" y="214687"/>
                </a:lnTo>
                <a:lnTo>
                  <a:pt x="61373" y="209039"/>
                </a:lnTo>
                <a:lnTo>
                  <a:pt x="50383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6"/>
                </a:lnTo>
                <a:lnTo>
                  <a:pt x="50472" y="22485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65592" y="4061438"/>
            <a:ext cx="353060" cy="224154"/>
          </a:xfrm>
          <a:custGeom>
            <a:avLst/>
            <a:gdLst/>
            <a:ahLst/>
            <a:cxnLst/>
            <a:rect l="l" t="t" r="r" b="b"/>
            <a:pathLst>
              <a:path w="353060" h="224154">
                <a:moveTo>
                  <a:pt x="281390" y="0"/>
                </a:moveTo>
                <a:lnTo>
                  <a:pt x="278208" y="9083"/>
                </a:lnTo>
                <a:lnTo>
                  <a:pt x="291146" y="14704"/>
                </a:lnTo>
                <a:lnTo>
                  <a:pt x="302273" y="22485"/>
                </a:lnTo>
                <a:lnTo>
                  <a:pt x="324865" y="58556"/>
                </a:lnTo>
                <a:lnTo>
                  <a:pt x="332289" y="110764"/>
                </a:lnTo>
                <a:lnTo>
                  <a:pt x="331460" y="130500"/>
                </a:lnTo>
                <a:lnTo>
                  <a:pt x="319034" y="178827"/>
                </a:lnTo>
                <a:lnTo>
                  <a:pt x="291297" y="209039"/>
                </a:lnTo>
                <a:lnTo>
                  <a:pt x="278561" y="214687"/>
                </a:lnTo>
                <a:lnTo>
                  <a:pt x="281390" y="223770"/>
                </a:lnTo>
                <a:lnTo>
                  <a:pt x="324093" y="198367"/>
                </a:lnTo>
                <a:lnTo>
                  <a:pt x="348077" y="151475"/>
                </a:lnTo>
                <a:lnTo>
                  <a:pt x="352672" y="111944"/>
                </a:lnTo>
                <a:lnTo>
                  <a:pt x="351533" y="91673"/>
                </a:lnTo>
                <a:lnTo>
                  <a:pt x="351520" y="91429"/>
                </a:lnTo>
                <a:lnTo>
                  <a:pt x="334233" y="39221"/>
                </a:lnTo>
                <a:lnTo>
                  <a:pt x="297594" y="5857"/>
                </a:lnTo>
                <a:lnTo>
                  <a:pt x="281390" y="0"/>
                </a:lnTo>
                <a:close/>
              </a:path>
              <a:path w="353060" h="224154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7" y="130500"/>
                </a:lnTo>
                <a:lnTo>
                  <a:pt x="1148" y="132502"/>
                </a:lnTo>
                <a:lnTo>
                  <a:pt x="18380" y="184665"/>
                </a:lnTo>
                <a:lnTo>
                  <a:pt x="55031" y="217919"/>
                </a:lnTo>
                <a:lnTo>
                  <a:pt x="71282" y="223770"/>
                </a:lnTo>
                <a:lnTo>
                  <a:pt x="74110" y="214687"/>
                </a:lnTo>
                <a:lnTo>
                  <a:pt x="61374" y="209039"/>
                </a:lnTo>
                <a:lnTo>
                  <a:pt x="50384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6"/>
                </a:lnTo>
                <a:lnTo>
                  <a:pt x="50472" y="22485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5034823" y="4061438"/>
            <a:ext cx="1637664" cy="570230"/>
            <a:chOff x="5034823" y="4061438"/>
            <a:chExt cx="1637664" cy="57023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4823" y="4061438"/>
              <a:ext cx="1637056" cy="56968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24205" y="4061438"/>
              <a:ext cx="353060" cy="224154"/>
            </a:xfrm>
            <a:custGeom>
              <a:avLst/>
              <a:gdLst/>
              <a:ahLst/>
              <a:cxnLst/>
              <a:rect l="l" t="t" r="r" b="b"/>
              <a:pathLst>
                <a:path w="353059" h="224154">
                  <a:moveTo>
                    <a:pt x="281390" y="0"/>
                  </a:moveTo>
                  <a:lnTo>
                    <a:pt x="278208" y="9083"/>
                  </a:lnTo>
                  <a:lnTo>
                    <a:pt x="291146" y="14704"/>
                  </a:lnTo>
                  <a:lnTo>
                    <a:pt x="302273" y="22485"/>
                  </a:lnTo>
                  <a:lnTo>
                    <a:pt x="324865" y="58556"/>
                  </a:lnTo>
                  <a:lnTo>
                    <a:pt x="331429" y="91429"/>
                  </a:lnTo>
                  <a:lnTo>
                    <a:pt x="331464" y="91673"/>
                  </a:lnTo>
                  <a:lnTo>
                    <a:pt x="331460" y="130500"/>
                  </a:lnTo>
                  <a:lnTo>
                    <a:pt x="319034" y="178827"/>
                  </a:lnTo>
                  <a:lnTo>
                    <a:pt x="291297" y="209039"/>
                  </a:lnTo>
                  <a:lnTo>
                    <a:pt x="278561" y="214687"/>
                  </a:lnTo>
                  <a:lnTo>
                    <a:pt x="281390" y="223770"/>
                  </a:lnTo>
                  <a:lnTo>
                    <a:pt x="324093" y="198367"/>
                  </a:lnTo>
                  <a:lnTo>
                    <a:pt x="348077" y="151475"/>
                  </a:lnTo>
                  <a:lnTo>
                    <a:pt x="352672" y="111944"/>
                  </a:lnTo>
                  <a:lnTo>
                    <a:pt x="351533" y="91673"/>
                  </a:lnTo>
                  <a:lnTo>
                    <a:pt x="351520" y="91429"/>
                  </a:lnTo>
                  <a:lnTo>
                    <a:pt x="334233" y="39221"/>
                  </a:lnTo>
                  <a:lnTo>
                    <a:pt x="297594" y="5857"/>
                  </a:lnTo>
                  <a:lnTo>
                    <a:pt x="281390" y="0"/>
                  </a:lnTo>
                  <a:close/>
                </a:path>
                <a:path w="353059" h="224154">
                  <a:moveTo>
                    <a:pt x="71282" y="0"/>
                  </a:moveTo>
                  <a:lnTo>
                    <a:pt x="28656" y="25468"/>
                  </a:lnTo>
                  <a:lnTo>
                    <a:pt x="4609" y="72471"/>
                  </a:lnTo>
                  <a:lnTo>
                    <a:pt x="66" y="110764"/>
                  </a:lnTo>
                  <a:lnTo>
                    <a:pt x="0" y="111944"/>
                  </a:lnTo>
                  <a:lnTo>
                    <a:pt x="1037" y="130500"/>
                  </a:lnTo>
                  <a:lnTo>
                    <a:pt x="10339" y="168863"/>
                  </a:lnTo>
                  <a:lnTo>
                    <a:pt x="40795" y="209452"/>
                  </a:lnTo>
                  <a:lnTo>
                    <a:pt x="71282" y="223770"/>
                  </a:lnTo>
                  <a:lnTo>
                    <a:pt x="74110" y="214687"/>
                  </a:lnTo>
                  <a:lnTo>
                    <a:pt x="61374" y="209039"/>
                  </a:lnTo>
                  <a:lnTo>
                    <a:pt x="50384" y="201180"/>
                  </a:lnTo>
                  <a:lnTo>
                    <a:pt x="27839" y="164532"/>
                  </a:lnTo>
                  <a:lnTo>
                    <a:pt x="20433" y="111944"/>
                  </a:lnTo>
                  <a:lnTo>
                    <a:pt x="20383" y="110764"/>
                  </a:lnTo>
                  <a:lnTo>
                    <a:pt x="27839" y="58556"/>
                  </a:lnTo>
                  <a:lnTo>
                    <a:pt x="50472" y="22485"/>
                  </a:lnTo>
                  <a:lnTo>
                    <a:pt x="74463" y="9083"/>
                  </a:lnTo>
                  <a:lnTo>
                    <a:pt x="712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6887619" y="4165550"/>
            <a:ext cx="127000" cy="13335"/>
          </a:xfrm>
          <a:custGeom>
            <a:avLst/>
            <a:gdLst/>
            <a:ahLst/>
            <a:cxnLst/>
            <a:rect l="l" t="t" r="r" b="b"/>
            <a:pathLst>
              <a:path w="127000" h="13335">
                <a:moveTo>
                  <a:pt x="127000" y="0"/>
                </a:moveTo>
                <a:lnTo>
                  <a:pt x="0" y="0"/>
                </a:lnTo>
                <a:lnTo>
                  <a:pt x="0" y="12714"/>
                </a:lnTo>
                <a:lnTo>
                  <a:pt x="127000" y="12714"/>
                </a:lnTo>
                <a:lnTo>
                  <a:pt x="12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874685" y="3805146"/>
            <a:ext cx="15049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latin typeface="Cambria Math"/>
                <a:cs typeface="Cambria Math"/>
              </a:rPr>
              <a:t>𝜆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72372" y="4149570"/>
            <a:ext cx="1593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latin typeface="Cambria Math"/>
                <a:cs typeface="Cambria Math"/>
              </a:rPr>
              <a:t>2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18124" y="3988026"/>
            <a:ext cx="470471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969010" algn="l"/>
                <a:tab pos="1874520" algn="l"/>
                <a:tab pos="2880360" algn="l"/>
                <a:tab pos="3733165" algn="l"/>
                <a:tab pos="4140200" algn="l"/>
              </a:tabLst>
            </a:pPr>
            <a:r>
              <a:rPr sz="1900" spc="60" dirty="0">
                <a:latin typeface="Cambria Math"/>
                <a:cs typeface="Cambria Math"/>
              </a:rPr>
              <a:t>𝒥</a:t>
            </a:r>
            <a:r>
              <a:rPr sz="2100" spc="89" baseline="-15873" dirty="0">
                <a:latin typeface="Cambria Math"/>
                <a:cs typeface="Cambria Math"/>
              </a:rPr>
              <a:t>𝑟𝑒g</a:t>
            </a:r>
            <a:r>
              <a:rPr sz="2100" spc="209" baseline="-15873" dirty="0">
                <a:latin typeface="Cambria Math"/>
                <a:cs typeface="Cambria Math"/>
              </a:rPr>
              <a:t>  </a:t>
            </a:r>
            <a:r>
              <a:rPr sz="1900" spc="5" dirty="0">
                <a:latin typeface="Cambria Math"/>
                <a:cs typeface="Cambria Math"/>
              </a:rPr>
              <a:t>w</a:t>
            </a:r>
            <a:r>
              <a:rPr sz="1900" dirty="0">
                <a:latin typeface="Cambria Math"/>
                <a:cs typeface="Cambria Math"/>
              </a:rPr>
              <a:t>	=</a:t>
            </a:r>
            <a:r>
              <a:rPr sz="1900" spc="49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𝒥</a:t>
            </a:r>
            <a:r>
              <a:rPr sz="1900" spc="405" dirty="0">
                <a:latin typeface="Cambria Math"/>
                <a:cs typeface="Cambria Math"/>
              </a:rPr>
              <a:t> </a:t>
            </a:r>
            <a:r>
              <a:rPr sz="1900" spc="5" dirty="0">
                <a:latin typeface="Cambria Math"/>
                <a:cs typeface="Cambria Math"/>
              </a:rPr>
              <a:t>w</a:t>
            </a:r>
            <a:r>
              <a:rPr sz="1900" dirty="0">
                <a:latin typeface="Cambria Math"/>
                <a:cs typeface="Cambria Math"/>
              </a:rPr>
              <a:t>	+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𝜆ℛ</a:t>
            </a:r>
            <a:r>
              <a:rPr sz="1900" spc="395" dirty="0">
                <a:latin typeface="Cambria Math"/>
                <a:cs typeface="Cambria Math"/>
              </a:rPr>
              <a:t> </a:t>
            </a:r>
            <a:r>
              <a:rPr sz="1900" spc="5" dirty="0">
                <a:latin typeface="Cambria Math"/>
                <a:cs typeface="Cambria Math"/>
              </a:rPr>
              <a:t>w</a:t>
            </a:r>
            <a:r>
              <a:rPr sz="1900" dirty="0">
                <a:latin typeface="Cambria Math"/>
                <a:cs typeface="Cambria Math"/>
              </a:rPr>
              <a:t>	=</a:t>
            </a:r>
            <a:r>
              <a:rPr sz="1900" spc="9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𝒥</a:t>
            </a:r>
            <a:r>
              <a:rPr sz="1900" spc="400" dirty="0">
                <a:latin typeface="Cambria Math"/>
                <a:cs typeface="Cambria Math"/>
              </a:rPr>
              <a:t> </a:t>
            </a:r>
            <a:r>
              <a:rPr sz="1900" spc="5" dirty="0">
                <a:latin typeface="Cambria Math"/>
                <a:cs typeface="Cambria Math"/>
              </a:rPr>
              <a:t>w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+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1160" dirty="0">
                <a:latin typeface="Cambria Math"/>
                <a:cs typeface="Cambria Math"/>
              </a:rPr>
              <a:t>∑</a:t>
            </a:r>
            <a:r>
              <a:rPr sz="1900" spc="-105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𝑤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61228" y="4359449"/>
            <a:ext cx="1092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229" dirty="0">
                <a:latin typeface="Cambria Math"/>
                <a:cs typeface="Cambria Math"/>
              </a:rPr>
              <a:t>j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54900" y="3954064"/>
            <a:ext cx="172720" cy="394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>
              <a:lnSpc>
                <a:spcPts val="145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ts val="1450"/>
              </a:lnSpc>
            </a:pPr>
            <a:r>
              <a:rPr sz="1400" spc="229" dirty="0">
                <a:latin typeface="Cambria Math"/>
                <a:cs typeface="Cambria Math"/>
              </a:rPr>
              <a:t>j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7154" y="1303448"/>
            <a:ext cx="768721" cy="313730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4174432" y="240520"/>
            <a:ext cx="1049655" cy="300355"/>
            <a:chOff x="4174432" y="240520"/>
            <a:chExt cx="1049655" cy="30035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74432" y="240520"/>
              <a:ext cx="995647" cy="30028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210779" y="464469"/>
              <a:ext cx="13335" cy="37465"/>
            </a:xfrm>
            <a:custGeom>
              <a:avLst/>
              <a:gdLst/>
              <a:ahLst/>
              <a:cxnLst/>
              <a:rect l="l" t="t" r="r" b="b"/>
              <a:pathLst>
                <a:path w="13335" h="37465">
                  <a:moveTo>
                    <a:pt x="7650" y="0"/>
                  </a:moveTo>
                  <a:lnTo>
                    <a:pt x="5723" y="1202"/>
                  </a:lnTo>
                  <a:lnTo>
                    <a:pt x="3741" y="9758"/>
                  </a:lnTo>
                  <a:lnTo>
                    <a:pt x="2284" y="16423"/>
                  </a:lnTo>
                  <a:lnTo>
                    <a:pt x="697" y="26929"/>
                  </a:lnTo>
                  <a:lnTo>
                    <a:pt x="0" y="31028"/>
                  </a:lnTo>
                  <a:lnTo>
                    <a:pt x="753" y="35982"/>
                  </a:lnTo>
                  <a:lnTo>
                    <a:pt x="782" y="36172"/>
                  </a:lnTo>
                  <a:lnTo>
                    <a:pt x="2018" y="37081"/>
                  </a:lnTo>
                  <a:lnTo>
                    <a:pt x="4333" y="36729"/>
                  </a:lnTo>
                  <a:lnTo>
                    <a:pt x="5129" y="35982"/>
                  </a:lnTo>
                  <a:lnTo>
                    <a:pt x="7030" y="27429"/>
                  </a:lnTo>
                  <a:lnTo>
                    <a:pt x="12713" y="2820"/>
                  </a:lnTo>
                  <a:lnTo>
                    <a:pt x="11511" y="892"/>
                  </a:lnTo>
                  <a:lnTo>
                    <a:pt x="76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78619" y="219341"/>
            <a:ext cx="1518154" cy="310196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4216510" y="227937"/>
            <a:ext cx="6156960" cy="1200785"/>
            <a:chOff x="4216510" y="227937"/>
            <a:chExt cx="6156960" cy="1200785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3859" y="227937"/>
              <a:ext cx="2783925" cy="34782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6510" y="618228"/>
              <a:ext cx="2978687" cy="69748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92510" y="1036454"/>
              <a:ext cx="1101409" cy="3066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80888" y="1039662"/>
              <a:ext cx="1792135" cy="388966"/>
            </a:xfrm>
            <a:prstGeom prst="rect">
              <a:avLst/>
            </a:prstGeom>
          </p:spPr>
        </p:pic>
      </p:grpSp>
      <p:sp>
        <p:nvSpPr>
          <p:cNvPr id="33" name="object 33"/>
          <p:cNvSpPr/>
          <p:nvPr/>
        </p:nvSpPr>
        <p:spPr>
          <a:xfrm>
            <a:off x="9727980" y="598226"/>
            <a:ext cx="23495" cy="10795"/>
          </a:xfrm>
          <a:custGeom>
            <a:avLst/>
            <a:gdLst/>
            <a:ahLst/>
            <a:cxnLst/>
            <a:rect l="l" t="t" r="r" b="b"/>
            <a:pathLst>
              <a:path w="23495" h="10795">
                <a:moveTo>
                  <a:pt x="20793" y="0"/>
                </a:moveTo>
                <a:lnTo>
                  <a:pt x="1498" y="2672"/>
                </a:lnTo>
                <a:lnTo>
                  <a:pt x="0" y="4652"/>
                </a:lnTo>
                <a:lnTo>
                  <a:pt x="594" y="8940"/>
                </a:lnTo>
                <a:lnTo>
                  <a:pt x="2574" y="10438"/>
                </a:lnTo>
                <a:lnTo>
                  <a:pt x="21868" y="7764"/>
                </a:lnTo>
                <a:lnTo>
                  <a:pt x="23366" y="5786"/>
                </a:lnTo>
                <a:lnTo>
                  <a:pt x="22772" y="1497"/>
                </a:lnTo>
                <a:lnTo>
                  <a:pt x="207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59219" y="2163238"/>
            <a:ext cx="970564" cy="57657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76932" y="3653063"/>
            <a:ext cx="1092404" cy="31585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33217" y="3627883"/>
            <a:ext cx="2126058" cy="316095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40172" y="3551217"/>
            <a:ext cx="2325543" cy="105728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032439" y="5060841"/>
            <a:ext cx="612610" cy="25133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780085" y="4997094"/>
            <a:ext cx="1835604" cy="335634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8749381" y="6021601"/>
            <a:ext cx="37465" cy="70485"/>
          </a:xfrm>
          <a:custGeom>
            <a:avLst/>
            <a:gdLst/>
            <a:ahLst/>
            <a:cxnLst/>
            <a:rect l="l" t="t" r="r" b="b"/>
            <a:pathLst>
              <a:path w="37465" h="70485">
                <a:moveTo>
                  <a:pt x="11503" y="20579"/>
                </a:moveTo>
                <a:lnTo>
                  <a:pt x="1955" y="57522"/>
                </a:lnTo>
                <a:lnTo>
                  <a:pt x="0" y="67040"/>
                </a:lnTo>
                <a:lnTo>
                  <a:pt x="1427" y="69192"/>
                </a:lnTo>
                <a:lnTo>
                  <a:pt x="5660" y="70050"/>
                </a:lnTo>
                <a:lnTo>
                  <a:pt x="7672" y="68880"/>
                </a:lnTo>
                <a:lnTo>
                  <a:pt x="12014" y="55649"/>
                </a:lnTo>
                <a:lnTo>
                  <a:pt x="15746" y="44384"/>
                </a:lnTo>
                <a:lnTo>
                  <a:pt x="19603" y="33162"/>
                </a:lnTo>
                <a:lnTo>
                  <a:pt x="21993" y="26617"/>
                </a:lnTo>
                <a:lnTo>
                  <a:pt x="18820" y="26617"/>
                </a:lnTo>
                <a:lnTo>
                  <a:pt x="12868" y="24037"/>
                </a:lnTo>
                <a:lnTo>
                  <a:pt x="11503" y="20579"/>
                </a:lnTo>
                <a:close/>
              </a:path>
              <a:path w="37465" h="70485">
                <a:moveTo>
                  <a:pt x="17332" y="13338"/>
                </a:moveTo>
                <a:lnTo>
                  <a:pt x="14045" y="14725"/>
                </a:lnTo>
                <a:lnTo>
                  <a:pt x="11503" y="20579"/>
                </a:lnTo>
                <a:lnTo>
                  <a:pt x="12868" y="24037"/>
                </a:lnTo>
                <a:lnTo>
                  <a:pt x="18820" y="26617"/>
                </a:lnTo>
                <a:lnTo>
                  <a:pt x="22277" y="25252"/>
                </a:lnTo>
                <a:lnTo>
                  <a:pt x="23567" y="22280"/>
                </a:lnTo>
                <a:lnTo>
                  <a:pt x="24821" y="18991"/>
                </a:lnTo>
                <a:lnTo>
                  <a:pt x="23295" y="15599"/>
                </a:lnTo>
                <a:lnTo>
                  <a:pt x="17332" y="13338"/>
                </a:lnTo>
                <a:close/>
              </a:path>
              <a:path w="37465" h="70485">
                <a:moveTo>
                  <a:pt x="23167" y="23402"/>
                </a:moveTo>
                <a:lnTo>
                  <a:pt x="22804" y="24037"/>
                </a:lnTo>
                <a:lnTo>
                  <a:pt x="22277" y="25252"/>
                </a:lnTo>
                <a:lnTo>
                  <a:pt x="18820" y="26617"/>
                </a:lnTo>
                <a:lnTo>
                  <a:pt x="21993" y="26617"/>
                </a:lnTo>
                <a:lnTo>
                  <a:pt x="23167" y="23402"/>
                </a:lnTo>
                <a:close/>
              </a:path>
              <a:path w="37465" h="70485">
                <a:moveTo>
                  <a:pt x="27535" y="13338"/>
                </a:moveTo>
                <a:lnTo>
                  <a:pt x="17332" y="13338"/>
                </a:lnTo>
                <a:lnTo>
                  <a:pt x="23295" y="15599"/>
                </a:lnTo>
                <a:lnTo>
                  <a:pt x="24822" y="18991"/>
                </a:lnTo>
                <a:lnTo>
                  <a:pt x="25542" y="17098"/>
                </a:lnTo>
                <a:lnTo>
                  <a:pt x="27535" y="13338"/>
                </a:lnTo>
                <a:close/>
              </a:path>
              <a:path w="37465" h="70485">
                <a:moveTo>
                  <a:pt x="32583" y="0"/>
                </a:moveTo>
                <a:lnTo>
                  <a:pt x="21826" y="2599"/>
                </a:lnTo>
                <a:lnTo>
                  <a:pt x="16140" y="9892"/>
                </a:lnTo>
                <a:lnTo>
                  <a:pt x="14043" y="14725"/>
                </a:lnTo>
                <a:lnTo>
                  <a:pt x="17332" y="13338"/>
                </a:lnTo>
                <a:lnTo>
                  <a:pt x="27535" y="13338"/>
                </a:lnTo>
                <a:lnTo>
                  <a:pt x="28378" y="11750"/>
                </a:lnTo>
                <a:lnTo>
                  <a:pt x="35816" y="8406"/>
                </a:lnTo>
                <a:lnTo>
                  <a:pt x="36883" y="5595"/>
                </a:lnTo>
                <a:lnTo>
                  <a:pt x="34871" y="1121"/>
                </a:lnTo>
                <a:lnTo>
                  <a:pt x="325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852392" y="5794233"/>
            <a:ext cx="903795" cy="344387"/>
          </a:xfrm>
          <a:prstGeom prst="rect">
            <a:avLst/>
          </a:prstGeom>
        </p:spPr>
      </p:pic>
      <p:grpSp>
        <p:nvGrpSpPr>
          <p:cNvPr id="42" name="object 42"/>
          <p:cNvGrpSpPr/>
          <p:nvPr/>
        </p:nvGrpSpPr>
        <p:grpSpPr>
          <a:xfrm>
            <a:off x="553841" y="5822237"/>
            <a:ext cx="8037830" cy="948690"/>
            <a:chOff x="553841" y="5822237"/>
            <a:chExt cx="8037830" cy="948690"/>
          </a:xfrm>
        </p:grpSpPr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3841" y="5957983"/>
              <a:ext cx="2515847" cy="81235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45738" y="5822237"/>
              <a:ext cx="6145310" cy="80467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163980" y="6409696"/>
              <a:ext cx="401746" cy="27883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30485" y="6379919"/>
              <a:ext cx="417564" cy="254523"/>
            </a:xfrm>
            <a:prstGeom prst="rect">
              <a:avLst/>
            </a:prstGeom>
          </p:spPr>
        </p:pic>
      </p:grpSp>
      <p:pic>
        <p:nvPicPr>
          <p:cNvPr id="47" name="object 4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858973" y="5761888"/>
            <a:ext cx="526322" cy="331401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967749" y="2178513"/>
            <a:ext cx="837213" cy="32038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L2</a:t>
            </a:r>
            <a:r>
              <a:rPr spc="40" dirty="0"/>
              <a:t> </a:t>
            </a:r>
            <a:r>
              <a:rPr spc="-10" dirty="0"/>
              <a:t>Regularization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4696" y="2005331"/>
            <a:ext cx="3343010" cy="358346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33369" y="1982442"/>
            <a:ext cx="252730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geometric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picture: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L2</a:t>
            </a:r>
            <a:r>
              <a:rPr spc="55" dirty="0"/>
              <a:t> </a:t>
            </a:r>
            <a:r>
              <a:rPr dirty="0"/>
              <a:t>Regularized</a:t>
            </a:r>
            <a:r>
              <a:rPr spc="65" dirty="0"/>
              <a:t> </a:t>
            </a:r>
            <a:r>
              <a:rPr dirty="0"/>
              <a:t>Least</a:t>
            </a:r>
            <a:r>
              <a:rPr spc="55" dirty="0"/>
              <a:t> </a:t>
            </a:r>
            <a:r>
              <a:rPr dirty="0"/>
              <a:t>Squares:</a:t>
            </a:r>
            <a:r>
              <a:rPr spc="55" dirty="0"/>
              <a:t> </a:t>
            </a:r>
            <a:r>
              <a:rPr dirty="0"/>
              <a:t>Ridge</a:t>
            </a:r>
            <a:r>
              <a:rPr spc="50" dirty="0"/>
              <a:t> </a:t>
            </a:r>
            <a:r>
              <a:rPr spc="-10" dirty="0"/>
              <a:t>regression</a:t>
            </a:r>
          </a:p>
        </p:txBody>
      </p:sp>
      <p:sp>
        <p:nvSpPr>
          <p:cNvPr id="3" name="object 3"/>
          <p:cNvSpPr/>
          <p:nvPr/>
        </p:nvSpPr>
        <p:spPr>
          <a:xfrm>
            <a:off x="4863659" y="2086587"/>
            <a:ext cx="353060" cy="224154"/>
          </a:xfrm>
          <a:custGeom>
            <a:avLst/>
            <a:gdLst/>
            <a:ahLst/>
            <a:cxnLst/>
            <a:rect l="l" t="t" r="r" b="b"/>
            <a:pathLst>
              <a:path w="353060" h="224155">
                <a:moveTo>
                  <a:pt x="281388" y="0"/>
                </a:moveTo>
                <a:lnTo>
                  <a:pt x="278207" y="9083"/>
                </a:lnTo>
                <a:lnTo>
                  <a:pt x="291146" y="14704"/>
                </a:lnTo>
                <a:lnTo>
                  <a:pt x="302273" y="22485"/>
                </a:lnTo>
                <a:lnTo>
                  <a:pt x="324865" y="58556"/>
                </a:lnTo>
                <a:lnTo>
                  <a:pt x="331428" y="91429"/>
                </a:lnTo>
                <a:lnTo>
                  <a:pt x="331463" y="91673"/>
                </a:lnTo>
                <a:lnTo>
                  <a:pt x="331459" y="130500"/>
                </a:lnTo>
                <a:lnTo>
                  <a:pt x="319032" y="178827"/>
                </a:lnTo>
                <a:lnTo>
                  <a:pt x="291297" y="209039"/>
                </a:lnTo>
                <a:lnTo>
                  <a:pt x="278561" y="214687"/>
                </a:lnTo>
                <a:lnTo>
                  <a:pt x="281388" y="223770"/>
                </a:lnTo>
                <a:lnTo>
                  <a:pt x="324092" y="198368"/>
                </a:lnTo>
                <a:lnTo>
                  <a:pt x="348076" y="151475"/>
                </a:lnTo>
                <a:lnTo>
                  <a:pt x="352671" y="111944"/>
                </a:lnTo>
                <a:lnTo>
                  <a:pt x="351532" y="91673"/>
                </a:lnTo>
                <a:lnTo>
                  <a:pt x="351519" y="91429"/>
                </a:lnTo>
                <a:lnTo>
                  <a:pt x="334232" y="39221"/>
                </a:lnTo>
                <a:lnTo>
                  <a:pt x="297593" y="5857"/>
                </a:lnTo>
                <a:lnTo>
                  <a:pt x="281388" y="0"/>
                </a:lnTo>
                <a:close/>
              </a:path>
              <a:path w="353060" h="224155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0338" y="168863"/>
                </a:lnTo>
                <a:lnTo>
                  <a:pt x="40795" y="209452"/>
                </a:lnTo>
                <a:lnTo>
                  <a:pt x="71282" y="223770"/>
                </a:lnTo>
                <a:lnTo>
                  <a:pt x="74109" y="214687"/>
                </a:lnTo>
                <a:lnTo>
                  <a:pt x="61373" y="209039"/>
                </a:lnTo>
                <a:lnTo>
                  <a:pt x="50383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6"/>
                </a:lnTo>
                <a:lnTo>
                  <a:pt x="50472" y="22485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6456" y="2012922"/>
            <a:ext cx="47415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7870" algn="l"/>
              </a:tabLst>
            </a:pPr>
            <a:r>
              <a:rPr sz="1900" dirty="0">
                <a:latin typeface="Calibri"/>
                <a:cs typeface="Calibri"/>
              </a:rPr>
              <a:t>For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least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squares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problem,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𝒥</a:t>
            </a:r>
            <a:r>
              <a:rPr sz="1900" spc="355" dirty="0">
                <a:latin typeface="Cambria Math"/>
                <a:cs typeface="Cambria Math"/>
              </a:rPr>
              <a:t> </a:t>
            </a:r>
            <a:r>
              <a:rPr sz="1900" spc="5" dirty="0">
                <a:latin typeface="Cambria Math"/>
                <a:cs typeface="Cambria Math"/>
              </a:rPr>
              <a:t>w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=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57056" y="2190815"/>
            <a:ext cx="241300" cy="13335"/>
          </a:xfrm>
          <a:custGeom>
            <a:avLst/>
            <a:gdLst/>
            <a:ahLst/>
            <a:cxnLst/>
            <a:rect l="l" t="t" r="r" b="b"/>
            <a:pathLst>
              <a:path w="241300" h="13335">
                <a:moveTo>
                  <a:pt x="241300" y="0"/>
                </a:moveTo>
                <a:lnTo>
                  <a:pt x="0" y="0"/>
                </a:lnTo>
                <a:lnTo>
                  <a:pt x="0" y="12714"/>
                </a:lnTo>
                <a:lnTo>
                  <a:pt x="241300" y="12714"/>
                </a:lnTo>
                <a:lnTo>
                  <a:pt x="241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38570" y="1887770"/>
            <a:ext cx="260985" cy="5499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480"/>
              </a:spcBef>
            </a:pPr>
            <a:r>
              <a:rPr sz="1400" spc="-5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400" spc="-25" dirty="0">
                <a:latin typeface="Cambria Math"/>
                <a:cs typeface="Cambria Math"/>
              </a:rPr>
              <a:t>2𝑁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10401" y="2088694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32"/>
                </a:lnTo>
                <a:lnTo>
                  <a:pt x="18148" y="219532"/>
                </a:lnTo>
                <a:lnTo>
                  <a:pt x="18148" y="0"/>
                </a:lnTo>
                <a:close/>
              </a:path>
              <a:path w="69850" h="219710">
                <a:moveTo>
                  <a:pt x="69405" y="0"/>
                </a:moveTo>
                <a:lnTo>
                  <a:pt x="51257" y="0"/>
                </a:lnTo>
                <a:lnTo>
                  <a:pt x="51257" y="219532"/>
                </a:lnTo>
                <a:lnTo>
                  <a:pt x="69405" y="219532"/>
                </a:lnTo>
                <a:lnTo>
                  <a:pt x="6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59716" y="2088694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32"/>
                </a:lnTo>
                <a:lnTo>
                  <a:pt x="18148" y="219532"/>
                </a:lnTo>
                <a:lnTo>
                  <a:pt x="18148" y="0"/>
                </a:lnTo>
                <a:close/>
              </a:path>
              <a:path w="69850" h="219710">
                <a:moveTo>
                  <a:pt x="69405" y="0"/>
                </a:moveTo>
                <a:lnTo>
                  <a:pt x="51257" y="0"/>
                </a:lnTo>
                <a:lnTo>
                  <a:pt x="51257" y="219532"/>
                </a:lnTo>
                <a:lnTo>
                  <a:pt x="69405" y="219532"/>
                </a:lnTo>
                <a:lnTo>
                  <a:pt x="6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45512" y="2012922"/>
            <a:ext cx="7486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60" dirty="0">
                <a:latin typeface="Cambria Math"/>
                <a:cs typeface="Cambria Math"/>
              </a:rPr>
              <a:t>Xw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70795" y="1924530"/>
            <a:ext cx="24892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25" dirty="0">
                <a:latin typeface="Cambria Math"/>
                <a:cs typeface="Cambria Math"/>
              </a:rPr>
              <a:t>2</a:t>
            </a:r>
            <a:r>
              <a:rPr sz="2850" spc="37" baseline="-20467" dirty="0">
                <a:latin typeface="Calibri"/>
                <a:cs typeface="Calibri"/>
              </a:rPr>
              <a:t>.</a:t>
            </a:r>
            <a:endParaRPr sz="2850" baseline="-20467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4963" y="2585946"/>
            <a:ext cx="577913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When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𝜆</a:t>
            </a:r>
            <a:r>
              <a:rPr sz="1900" spc="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&gt;</a:t>
            </a:r>
            <a:r>
              <a:rPr sz="1900" spc="7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0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(with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regularization),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regularized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cost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gives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01063" y="4555230"/>
            <a:ext cx="101600" cy="13335"/>
          </a:xfrm>
          <a:custGeom>
            <a:avLst/>
            <a:gdLst/>
            <a:ahLst/>
            <a:cxnLst/>
            <a:rect l="l" t="t" r="r" b="b"/>
            <a:pathLst>
              <a:path w="101600" h="13335">
                <a:moveTo>
                  <a:pt x="101600" y="0"/>
                </a:moveTo>
                <a:lnTo>
                  <a:pt x="0" y="0"/>
                </a:lnTo>
                <a:lnTo>
                  <a:pt x="0" y="12714"/>
                </a:lnTo>
                <a:lnTo>
                  <a:pt x="101600" y="12714"/>
                </a:lnTo>
                <a:lnTo>
                  <a:pt x="101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79563" y="3979221"/>
            <a:ext cx="7078980" cy="7143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09245" indent="-27114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case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𝜆</a:t>
            </a:r>
            <a:r>
              <a:rPr sz="1900" spc="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7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0</a:t>
            </a:r>
            <a:r>
              <a:rPr sz="1900" spc="-2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(no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regularization)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reduces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least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squares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solution!</a:t>
            </a:r>
            <a:endParaRPr sz="1900">
              <a:latin typeface="Calibri"/>
              <a:cs typeface="Calibri"/>
            </a:endParaRPr>
          </a:p>
          <a:p>
            <a:pPr marL="309245" indent="-27114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Note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also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common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formulate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problem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𝑎𝑟𝑔𝑚𝑖𝑛</a:t>
            </a:r>
            <a:r>
              <a:rPr sz="2100" baseline="-15873" dirty="0">
                <a:latin typeface="Cambria Math"/>
                <a:cs typeface="Cambria Math"/>
              </a:rPr>
              <a:t>w</a:t>
            </a:r>
            <a:r>
              <a:rPr sz="2100" spc="67" baseline="-15873" dirty="0">
                <a:latin typeface="Cambria Math"/>
                <a:cs typeface="Cambria Math"/>
              </a:rPr>
              <a:t> </a:t>
            </a:r>
            <a:r>
              <a:rPr sz="2100" spc="-75" baseline="45634" dirty="0">
                <a:latin typeface="Cambria Math"/>
                <a:cs typeface="Cambria Math"/>
              </a:rPr>
              <a:t>1</a:t>
            </a:r>
            <a:endParaRPr sz="2100" baseline="45634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92017" y="4563664"/>
            <a:ext cx="1289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926513" y="4453027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19"/>
                </a:lnTo>
                <a:lnTo>
                  <a:pt x="18148" y="219519"/>
                </a:lnTo>
                <a:lnTo>
                  <a:pt x="18148" y="0"/>
                </a:lnTo>
                <a:close/>
              </a:path>
              <a:path w="69850" h="219710">
                <a:moveTo>
                  <a:pt x="69392" y="0"/>
                </a:moveTo>
                <a:lnTo>
                  <a:pt x="51257" y="0"/>
                </a:lnTo>
                <a:lnTo>
                  <a:pt x="51257" y="219519"/>
                </a:lnTo>
                <a:lnTo>
                  <a:pt x="69392" y="219519"/>
                </a:lnTo>
                <a:lnTo>
                  <a:pt x="69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75828" y="4453027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19"/>
                </a:lnTo>
                <a:lnTo>
                  <a:pt x="18148" y="219519"/>
                </a:lnTo>
                <a:lnTo>
                  <a:pt x="18148" y="0"/>
                </a:lnTo>
                <a:close/>
              </a:path>
              <a:path w="69850" h="219710">
                <a:moveTo>
                  <a:pt x="69392" y="0"/>
                </a:moveTo>
                <a:lnTo>
                  <a:pt x="51257" y="0"/>
                </a:lnTo>
                <a:lnTo>
                  <a:pt x="51257" y="219519"/>
                </a:lnTo>
                <a:lnTo>
                  <a:pt x="69392" y="219519"/>
                </a:lnTo>
                <a:lnTo>
                  <a:pt x="69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161620" y="4378170"/>
            <a:ext cx="7486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60" dirty="0">
                <a:latin typeface="Cambria Math"/>
                <a:cs typeface="Cambria Math"/>
              </a:rPr>
              <a:t>Xw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3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12303" y="4493560"/>
            <a:ext cx="1289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86903" y="4283682"/>
            <a:ext cx="42227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2</a:t>
            </a:r>
            <a:r>
              <a:rPr sz="1400" spc="215" dirty="0">
                <a:latin typeface="Cambria Math"/>
                <a:cs typeface="Cambria Math"/>
              </a:rPr>
              <a:t> </a:t>
            </a:r>
            <a:r>
              <a:rPr sz="2850" spc="-75" baseline="-21929" dirty="0">
                <a:latin typeface="Cambria Math"/>
                <a:cs typeface="Cambria Math"/>
              </a:rPr>
              <a:t>+</a:t>
            </a:r>
            <a:endParaRPr sz="2850" baseline="-21929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84363" y="4987535"/>
            <a:ext cx="101600" cy="13335"/>
          </a:xfrm>
          <a:custGeom>
            <a:avLst/>
            <a:gdLst/>
            <a:ahLst/>
            <a:cxnLst/>
            <a:rect l="l" t="t" r="r" b="b"/>
            <a:pathLst>
              <a:path w="101600" h="13335">
                <a:moveTo>
                  <a:pt x="101600" y="0"/>
                </a:moveTo>
                <a:lnTo>
                  <a:pt x="0" y="0"/>
                </a:lnTo>
                <a:lnTo>
                  <a:pt x="0" y="12714"/>
                </a:lnTo>
                <a:lnTo>
                  <a:pt x="101600" y="12714"/>
                </a:lnTo>
                <a:lnTo>
                  <a:pt x="101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76426" y="4679738"/>
            <a:ext cx="130810" cy="55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-2540">
              <a:lnSpc>
                <a:spcPct val="124300"/>
              </a:lnSpc>
              <a:spcBef>
                <a:spcPts val="100"/>
              </a:spcBef>
            </a:pPr>
            <a:r>
              <a:rPr sz="1400" spc="35" dirty="0">
                <a:latin typeface="Cambria Math"/>
                <a:cs typeface="Cambria Math"/>
              </a:rPr>
              <a:t>𝜆 </a:t>
            </a: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786902" y="4885399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35" y="0"/>
                </a:moveTo>
                <a:lnTo>
                  <a:pt x="0" y="0"/>
                </a:lnTo>
                <a:lnTo>
                  <a:pt x="0" y="219519"/>
                </a:lnTo>
                <a:lnTo>
                  <a:pt x="18135" y="219519"/>
                </a:lnTo>
                <a:lnTo>
                  <a:pt x="18135" y="0"/>
                </a:lnTo>
                <a:close/>
              </a:path>
              <a:path w="69850" h="219710">
                <a:moveTo>
                  <a:pt x="69392" y="0"/>
                </a:moveTo>
                <a:lnTo>
                  <a:pt x="51244" y="0"/>
                </a:lnTo>
                <a:lnTo>
                  <a:pt x="51244" y="219519"/>
                </a:lnTo>
                <a:lnTo>
                  <a:pt x="69392" y="219519"/>
                </a:lnTo>
                <a:lnTo>
                  <a:pt x="69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64513" y="4885399"/>
            <a:ext cx="69850" cy="219710"/>
          </a:xfrm>
          <a:custGeom>
            <a:avLst/>
            <a:gdLst/>
            <a:ahLst/>
            <a:cxnLst/>
            <a:rect l="l" t="t" r="r" b="b"/>
            <a:pathLst>
              <a:path w="69850" h="219710">
                <a:moveTo>
                  <a:pt x="18148" y="0"/>
                </a:moveTo>
                <a:lnTo>
                  <a:pt x="0" y="0"/>
                </a:lnTo>
                <a:lnTo>
                  <a:pt x="0" y="219519"/>
                </a:lnTo>
                <a:lnTo>
                  <a:pt x="18148" y="219519"/>
                </a:lnTo>
                <a:lnTo>
                  <a:pt x="18148" y="0"/>
                </a:lnTo>
                <a:close/>
              </a:path>
              <a:path w="69850" h="219710">
                <a:moveTo>
                  <a:pt x="69392" y="0"/>
                </a:moveTo>
                <a:lnTo>
                  <a:pt x="51244" y="0"/>
                </a:lnTo>
                <a:lnTo>
                  <a:pt x="51244" y="219519"/>
                </a:lnTo>
                <a:lnTo>
                  <a:pt x="69392" y="219519"/>
                </a:lnTo>
                <a:lnTo>
                  <a:pt x="69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872688" y="4926376"/>
            <a:ext cx="1289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07326" y="4953808"/>
            <a:ext cx="1289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5" dirty="0">
                <a:latin typeface="Cambria Math"/>
                <a:cs typeface="Cambria Math"/>
              </a:rPr>
              <a:t>𝜆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24901" y="4810986"/>
            <a:ext cx="610679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60045" algn="l"/>
              </a:tabLst>
            </a:pPr>
            <a:r>
              <a:rPr sz="1900" spc="5" dirty="0">
                <a:latin typeface="Cambria Math"/>
                <a:cs typeface="Cambria Math"/>
              </a:rPr>
              <a:t>w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2100" baseline="29761" dirty="0">
                <a:latin typeface="Cambria Math"/>
                <a:cs typeface="Cambria Math"/>
              </a:rPr>
              <a:t>2</a:t>
            </a:r>
            <a:r>
              <a:rPr sz="2100" spc="254" baseline="29761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which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case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solution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85" dirty="0">
                <a:latin typeface="Cambria Math"/>
                <a:cs typeface="Cambria Math"/>
              </a:rPr>
              <a:t>w</a:t>
            </a:r>
            <a:r>
              <a:rPr sz="2100" spc="127" baseline="41666" dirty="0">
                <a:latin typeface="Cambria Math"/>
                <a:cs typeface="Cambria Math"/>
              </a:rPr>
              <a:t>Ridge</a:t>
            </a:r>
            <a:r>
              <a:rPr sz="2100" spc="397" baseline="41666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85" dirty="0">
                <a:latin typeface="Cambria Math"/>
                <a:cs typeface="Cambria Math"/>
              </a:rPr>
              <a:t> </a:t>
            </a:r>
            <a:r>
              <a:rPr sz="1900" spc="100" dirty="0">
                <a:latin typeface="Cambria Math"/>
                <a:cs typeface="Cambria Math"/>
              </a:rPr>
              <a:t>(X</a:t>
            </a:r>
            <a:r>
              <a:rPr sz="2100" spc="150" baseline="27777" dirty="0">
                <a:latin typeface="Cambria Math"/>
                <a:cs typeface="Cambria Math"/>
              </a:rPr>
              <a:t>𝗍</a:t>
            </a:r>
            <a:r>
              <a:rPr sz="1900" spc="100" dirty="0">
                <a:latin typeface="Cambria Math"/>
                <a:cs typeface="Cambria Math"/>
              </a:rPr>
              <a:t>X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15" dirty="0">
                <a:latin typeface="Cambria Math"/>
                <a:cs typeface="Cambria Math"/>
              </a:rPr>
              <a:t> </a:t>
            </a:r>
            <a:r>
              <a:rPr sz="1900" spc="85" dirty="0">
                <a:latin typeface="Cambria Math"/>
                <a:cs typeface="Cambria Math"/>
              </a:rPr>
              <a:t>𝜆I)</a:t>
            </a:r>
            <a:r>
              <a:rPr sz="2100" spc="127" baseline="27777" dirty="0">
                <a:latin typeface="Cambria Math"/>
                <a:cs typeface="Cambria Math"/>
              </a:rPr>
              <a:t>–1</a:t>
            </a:r>
            <a:r>
              <a:rPr sz="1900" spc="85" dirty="0">
                <a:latin typeface="Cambria Math"/>
                <a:cs typeface="Cambria Math"/>
              </a:rPr>
              <a:t>X</a:t>
            </a:r>
            <a:r>
              <a:rPr sz="2100" spc="127" baseline="27777" dirty="0">
                <a:latin typeface="Cambria Math"/>
                <a:cs typeface="Cambria Math"/>
              </a:rPr>
              <a:t>𝗍</a:t>
            </a:r>
            <a:r>
              <a:rPr sz="1900" spc="85" dirty="0">
                <a:latin typeface="Cambria Math"/>
                <a:cs typeface="Cambria Math"/>
              </a:rPr>
              <a:t>t</a:t>
            </a:r>
            <a:r>
              <a:rPr sz="1900" spc="85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212098" y="2947067"/>
            <a:ext cx="6153150" cy="1122045"/>
            <a:chOff x="2212098" y="2947067"/>
            <a:chExt cx="6153150" cy="1122045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2098" y="2947067"/>
              <a:ext cx="6153148" cy="112173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008979" y="3997607"/>
              <a:ext cx="2275840" cy="0"/>
            </a:xfrm>
            <a:custGeom>
              <a:avLst/>
              <a:gdLst/>
              <a:ahLst/>
              <a:cxnLst/>
              <a:rect l="l" t="t" r="r" b="b"/>
              <a:pathLst>
                <a:path w="2275840">
                  <a:moveTo>
                    <a:pt x="0" y="0"/>
                  </a:moveTo>
                  <a:lnTo>
                    <a:pt x="2275831" y="0"/>
                  </a:lnTo>
                </a:path>
              </a:pathLst>
            </a:custGeom>
            <a:ln w="16200">
              <a:solidFill>
                <a:srgbClr val="D2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039" y="490293"/>
            <a:ext cx="622796" cy="278847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9970" y="543202"/>
            <a:ext cx="189295" cy="19540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3887" y="424638"/>
            <a:ext cx="3600981" cy="342868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40880" y="432808"/>
            <a:ext cx="288451" cy="24872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94724" y="419011"/>
            <a:ext cx="1135760" cy="31572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79487" y="2057495"/>
            <a:ext cx="745807" cy="305645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13732" y="2175491"/>
            <a:ext cx="140827" cy="84165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453127" y="1878770"/>
            <a:ext cx="353735" cy="492330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8933164" y="2164613"/>
            <a:ext cx="27305" cy="31750"/>
          </a:xfrm>
          <a:custGeom>
            <a:avLst/>
            <a:gdLst/>
            <a:ahLst/>
            <a:cxnLst/>
            <a:rect l="l" t="t" r="r" b="b"/>
            <a:pathLst>
              <a:path w="27304" h="31750">
                <a:moveTo>
                  <a:pt x="3162" y="27529"/>
                </a:moveTo>
                <a:lnTo>
                  <a:pt x="3407" y="28220"/>
                </a:lnTo>
                <a:lnTo>
                  <a:pt x="8766" y="31339"/>
                </a:lnTo>
                <a:lnTo>
                  <a:pt x="17873" y="30303"/>
                </a:lnTo>
                <a:lnTo>
                  <a:pt x="18547" y="29944"/>
                </a:lnTo>
                <a:lnTo>
                  <a:pt x="8267" y="29944"/>
                </a:lnTo>
                <a:lnTo>
                  <a:pt x="3162" y="27529"/>
                </a:lnTo>
                <a:close/>
              </a:path>
              <a:path w="27304" h="31750">
                <a:moveTo>
                  <a:pt x="1220" y="15645"/>
                </a:moveTo>
                <a:lnTo>
                  <a:pt x="254" y="18087"/>
                </a:lnTo>
                <a:lnTo>
                  <a:pt x="0" y="18573"/>
                </a:lnTo>
                <a:lnTo>
                  <a:pt x="1502" y="22891"/>
                </a:lnTo>
                <a:lnTo>
                  <a:pt x="3162" y="27529"/>
                </a:lnTo>
                <a:lnTo>
                  <a:pt x="8267" y="29944"/>
                </a:lnTo>
                <a:lnTo>
                  <a:pt x="17543" y="26621"/>
                </a:lnTo>
                <a:lnTo>
                  <a:pt x="19956" y="21516"/>
                </a:lnTo>
                <a:lnTo>
                  <a:pt x="19317" y="19730"/>
                </a:lnTo>
                <a:lnTo>
                  <a:pt x="10900" y="19730"/>
                </a:lnTo>
                <a:lnTo>
                  <a:pt x="3669" y="18573"/>
                </a:lnTo>
                <a:lnTo>
                  <a:pt x="3341" y="18573"/>
                </a:lnTo>
                <a:lnTo>
                  <a:pt x="1220" y="15645"/>
                </a:lnTo>
                <a:close/>
              </a:path>
              <a:path w="27304" h="31750">
                <a:moveTo>
                  <a:pt x="17728" y="2908"/>
                </a:moveTo>
                <a:lnTo>
                  <a:pt x="11569" y="2908"/>
                </a:lnTo>
                <a:lnTo>
                  <a:pt x="15693" y="5684"/>
                </a:lnTo>
                <a:lnTo>
                  <a:pt x="16981" y="12277"/>
                </a:lnTo>
                <a:lnTo>
                  <a:pt x="17392" y="14173"/>
                </a:lnTo>
                <a:lnTo>
                  <a:pt x="17491" y="14632"/>
                </a:lnTo>
                <a:lnTo>
                  <a:pt x="17663" y="15112"/>
                </a:lnTo>
                <a:lnTo>
                  <a:pt x="17730" y="15645"/>
                </a:lnTo>
                <a:lnTo>
                  <a:pt x="18091" y="16307"/>
                </a:lnTo>
                <a:lnTo>
                  <a:pt x="19956" y="21516"/>
                </a:lnTo>
                <a:lnTo>
                  <a:pt x="17543" y="26621"/>
                </a:lnTo>
                <a:lnTo>
                  <a:pt x="8267" y="29944"/>
                </a:lnTo>
                <a:lnTo>
                  <a:pt x="18547" y="29944"/>
                </a:lnTo>
                <a:lnTo>
                  <a:pt x="21113" y="28573"/>
                </a:lnTo>
                <a:lnTo>
                  <a:pt x="26606" y="24743"/>
                </a:lnTo>
                <a:lnTo>
                  <a:pt x="27180" y="21516"/>
                </a:lnTo>
                <a:lnTo>
                  <a:pt x="27244" y="21156"/>
                </a:lnTo>
                <a:lnTo>
                  <a:pt x="24428" y="17122"/>
                </a:lnTo>
                <a:lnTo>
                  <a:pt x="23424" y="16554"/>
                </a:lnTo>
                <a:lnTo>
                  <a:pt x="18338" y="16554"/>
                </a:lnTo>
                <a:lnTo>
                  <a:pt x="21602" y="15645"/>
                </a:lnTo>
                <a:lnTo>
                  <a:pt x="24310" y="10848"/>
                </a:lnTo>
                <a:lnTo>
                  <a:pt x="23820" y="8047"/>
                </a:lnTo>
                <a:lnTo>
                  <a:pt x="19137" y="4022"/>
                </a:lnTo>
                <a:lnTo>
                  <a:pt x="17728" y="2908"/>
                </a:lnTo>
                <a:close/>
              </a:path>
              <a:path w="27304" h="31750">
                <a:moveTo>
                  <a:pt x="9928" y="9696"/>
                </a:moveTo>
                <a:lnTo>
                  <a:pt x="1766" y="14173"/>
                </a:lnTo>
                <a:lnTo>
                  <a:pt x="1220" y="15645"/>
                </a:lnTo>
                <a:lnTo>
                  <a:pt x="3341" y="18573"/>
                </a:lnTo>
                <a:lnTo>
                  <a:pt x="3669" y="18573"/>
                </a:lnTo>
                <a:lnTo>
                  <a:pt x="10900" y="19730"/>
                </a:lnTo>
                <a:lnTo>
                  <a:pt x="14192" y="18087"/>
                </a:lnTo>
                <a:lnTo>
                  <a:pt x="15761" y="15112"/>
                </a:lnTo>
                <a:lnTo>
                  <a:pt x="17440" y="15112"/>
                </a:lnTo>
                <a:lnTo>
                  <a:pt x="15350" y="11277"/>
                </a:lnTo>
                <a:lnTo>
                  <a:pt x="9928" y="9696"/>
                </a:lnTo>
                <a:close/>
              </a:path>
              <a:path w="27304" h="31750">
                <a:moveTo>
                  <a:pt x="15784" y="15112"/>
                </a:moveTo>
                <a:lnTo>
                  <a:pt x="15481" y="15645"/>
                </a:lnTo>
                <a:lnTo>
                  <a:pt x="14192" y="18087"/>
                </a:lnTo>
                <a:lnTo>
                  <a:pt x="10900" y="19730"/>
                </a:lnTo>
                <a:lnTo>
                  <a:pt x="19317" y="19730"/>
                </a:lnTo>
                <a:lnTo>
                  <a:pt x="18179" y="16554"/>
                </a:lnTo>
                <a:lnTo>
                  <a:pt x="18338" y="16554"/>
                </a:lnTo>
                <a:lnTo>
                  <a:pt x="17901" y="16307"/>
                </a:lnTo>
                <a:lnTo>
                  <a:pt x="22485" y="16307"/>
                </a:lnTo>
                <a:lnTo>
                  <a:pt x="16509" y="15645"/>
                </a:lnTo>
                <a:lnTo>
                  <a:pt x="16727" y="15645"/>
                </a:lnTo>
                <a:lnTo>
                  <a:pt x="15784" y="15112"/>
                </a:lnTo>
                <a:close/>
              </a:path>
              <a:path w="27304" h="31750">
                <a:moveTo>
                  <a:pt x="895" y="11277"/>
                </a:moveTo>
                <a:lnTo>
                  <a:pt x="598" y="12277"/>
                </a:lnTo>
                <a:lnTo>
                  <a:pt x="200" y="14173"/>
                </a:lnTo>
                <a:lnTo>
                  <a:pt x="103" y="16307"/>
                </a:lnTo>
                <a:lnTo>
                  <a:pt x="0" y="18573"/>
                </a:lnTo>
                <a:lnTo>
                  <a:pt x="254" y="18087"/>
                </a:lnTo>
                <a:lnTo>
                  <a:pt x="1207" y="15645"/>
                </a:lnTo>
                <a:lnTo>
                  <a:pt x="487" y="14632"/>
                </a:lnTo>
                <a:lnTo>
                  <a:pt x="432" y="14173"/>
                </a:lnTo>
                <a:lnTo>
                  <a:pt x="895" y="11277"/>
                </a:lnTo>
                <a:close/>
              </a:path>
              <a:path w="27304" h="31750">
                <a:moveTo>
                  <a:pt x="17440" y="15112"/>
                </a:moveTo>
                <a:lnTo>
                  <a:pt x="15784" y="15112"/>
                </a:lnTo>
                <a:lnTo>
                  <a:pt x="18338" y="16554"/>
                </a:lnTo>
                <a:lnTo>
                  <a:pt x="18179" y="16554"/>
                </a:lnTo>
                <a:lnTo>
                  <a:pt x="17854" y="15645"/>
                </a:lnTo>
                <a:lnTo>
                  <a:pt x="17440" y="15112"/>
                </a:lnTo>
                <a:close/>
              </a:path>
              <a:path w="27304" h="31750">
                <a:moveTo>
                  <a:pt x="22987" y="16307"/>
                </a:moveTo>
                <a:lnTo>
                  <a:pt x="19224" y="16307"/>
                </a:lnTo>
                <a:lnTo>
                  <a:pt x="18338" y="16554"/>
                </a:lnTo>
                <a:lnTo>
                  <a:pt x="23424" y="16554"/>
                </a:lnTo>
                <a:lnTo>
                  <a:pt x="22987" y="16307"/>
                </a:lnTo>
                <a:close/>
              </a:path>
              <a:path w="27304" h="31750">
                <a:moveTo>
                  <a:pt x="16727" y="15645"/>
                </a:moveTo>
                <a:lnTo>
                  <a:pt x="16509" y="15645"/>
                </a:lnTo>
                <a:lnTo>
                  <a:pt x="22485" y="16307"/>
                </a:lnTo>
                <a:lnTo>
                  <a:pt x="17901" y="16307"/>
                </a:lnTo>
                <a:lnTo>
                  <a:pt x="16727" y="15645"/>
                </a:lnTo>
                <a:close/>
              </a:path>
              <a:path w="27304" h="31750">
                <a:moveTo>
                  <a:pt x="11569" y="2908"/>
                </a:moveTo>
                <a:lnTo>
                  <a:pt x="4243" y="4340"/>
                </a:lnTo>
                <a:lnTo>
                  <a:pt x="1822" y="6705"/>
                </a:lnTo>
                <a:lnTo>
                  <a:pt x="1165" y="9696"/>
                </a:lnTo>
                <a:lnTo>
                  <a:pt x="432" y="14173"/>
                </a:lnTo>
                <a:lnTo>
                  <a:pt x="487" y="14632"/>
                </a:lnTo>
                <a:lnTo>
                  <a:pt x="1220" y="15645"/>
                </a:lnTo>
                <a:lnTo>
                  <a:pt x="1591" y="14632"/>
                </a:lnTo>
                <a:lnTo>
                  <a:pt x="1647" y="14486"/>
                </a:lnTo>
                <a:lnTo>
                  <a:pt x="1766" y="14173"/>
                </a:lnTo>
                <a:lnTo>
                  <a:pt x="9928" y="9696"/>
                </a:lnTo>
                <a:lnTo>
                  <a:pt x="16477" y="9696"/>
                </a:lnTo>
                <a:lnTo>
                  <a:pt x="15693" y="5684"/>
                </a:lnTo>
                <a:lnTo>
                  <a:pt x="11569" y="2908"/>
                </a:lnTo>
                <a:close/>
              </a:path>
              <a:path w="27304" h="31750">
                <a:moveTo>
                  <a:pt x="16477" y="9696"/>
                </a:moveTo>
                <a:lnTo>
                  <a:pt x="9928" y="9696"/>
                </a:lnTo>
                <a:lnTo>
                  <a:pt x="15350" y="11277"/>
                </a:lnTo>
                <a:lnTo>
                  <a:pt x="17730" y="15645"/>
                </a:lnTo>
                <a:lnTo>
                  <a:pt x="17663" y="15112"/>
                </a:lnTo>
                <a:lnTo>
                  <a:pt x="17491" y="14632"/>
                </a:lnTo>
                <a:lnTo>
                  <a:pt x="16981" y="12277"/>
                </a:lnTo>
                <a:lnTo>
                  <a:pt x="16532" y="9981"/>
                </a:lnTo>
                <a:lnTo>
                  <a:pt x="16477" y="9696"/>
                </a:lnTo>
                <a:close/>
              </a:path>
              <a:path w="27304" h="31750">
                <a:moveTo>
                  <a:pt x="6367" y="0"/>
                </a:moveTo>
                <a:lnTo>
                  <a:pt x="1950" y="4681"/>
                </a:lnTo>
                <a:lnTo>
                  <a:pt x="1412" y="8047"/>
                </a:lnTo>
                <a:lnTo>
                  <a:pt x="1822" y="6705"/>
                </a:lnTo>
                <a:lnTo>
                  <a:pt x="4243" y="4340"/>
                </a:lnTo>
                <a:lnTo>
                  <a:pt x="11569" y="2908"/>
                </a:lnTo>
                <a:lnTo>
                  <a:pt x="17728" y="2908"/>
                </a:lnTo>
                <a:lnTo>
                  <a:pt x="15989" y="1532"/>
                </a:lnTo>
                <a:lnTo>
                  <a:pt x="63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9037244" y="1902136"/>
            <a:ext cx="361315" cy="550545"/>
            <a:chOff x="9037244" y="1902136"/>
            <a:chExt cx="361315" cy="550545"/>
          </a:xfrm>
        </p:grpSpPr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37244" y="1902136"/>
              <a:ext cx="248555" cy="55027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54195" y="2031248"/>
              <a:ext cx="144101" cy="154999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213783" y="2616443"/>
            <a:ext cx="161281" cy="105758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580591" y="2520032"/>
            <a:ext cx="273348" cy="294375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8917475" y="2702198"/>
            <a:ext cx="30480" cy="48260"/>
          </a:xfrm>
          <a:custGeom>
            <a:avLst/>
            <a:gdLst/>
            <a:ahLst/>
            <a:cxnLst/>
            <a:rect l="l" t="t" r="r" b="b"/>
            <a:pathLst>
              <a:path w="30479" h="48260">
                <a:moveTo>
                  <a:pt x="7797" y="46753"/>
                </a:moveTo>
                <a:lnTo>
                  <a:pt x="9496" y="47701"/>
                </a:lnTo>
                <a:lnTo>
                  <a:pt x="10541" y="47405"/>
                </a:lnTo>
                <a:lnTo>
                  <a:pt x="7797" y="46753"/>
                </a:lnTo>
                <a:close/>
              </a:path>
              <a:path w="30479" h="48260">
                <a:moveTo>
                  <a:pt x="15724" y="45832"/>
                </a:moveTo>
                <a:lnTo>
                  <a:pt x="14201" y="46367"/>
                </a:lnTo>
                <a:lnTo>
                  <a:pt x="10541" y="47405"/>
                </a:lnTo>
                <a:lnTo>
                  <a:pt x="11788" y="47701"/>
                </a:lnTo>
                <a:lnTo>
                  <a:pt x="10927" y="47701"/>
                </a:lnTo>
                <a:lnTo>
                  <a:pt x="15724" y="45832"/>
                </a:lnTo>
                <a:close/>
              </a:path>
              <a:path w="30479" h="48260">
                <a:moveTo>
                  <a:pt x="2808" y="33250"/>
                </a:moveTo>
                <a:lnTo>
                  <a:pt x="10541" y="47405"/>
                </a:lnTo>
                <a:lnTo>
                  <a:pt x="14201" y="46367"/>
                </a:lnTo>
                <a:lnTo>
                  <a:pt x="15757" y="45832"/>
                </a:lnTo>
                <a:lnTo>
                  <a:pt x="18792" y="44637"/>
                </a:lnTo>
                <a:lnTo>
                  <a:pt x="18988" y="44637"/>
                </a:lnTo>
                <a:lnTo>
                  <a:pt x="20420" y="42919"/>
                </a:lnTo>
                <a:lnTo>
                  <a:pt x="22165" y="38948"/>
                </a:lnTo>
                <a:lnTo>
                  <a:pt x="20513" y="34704"/>
                </a:lnTo>
                <a:lnTo>
                  <a:pt x="13522" y="34704"/>
                </a:lnTo>
                <a:lnTo>
                  <a:pt x="3811" y="34333"/>
                </a:lnTo>
                <a:lnTo>
                  <a:pt x="2808" y="33250"/>
                </a:lnTo>
                <a:close/>
              </a:path>
              <a:path w="30479" h="48260">
                <a:moveTo>
                  <a:pt x="6147" y="45832"/>
                </a:moveTo>
                <a:lnTo>
                  <a:pt x="6777" y="46511"/>
                </a:lnTo>
                <a:lnTo>
                  <a:pt x="7797" y="46753"/>
                </a:lnTo>
                <a:lnTo>
                  <a:pt x="6147" y="45832"/>
                </a:lnTo>
                <a:close/>
              </a:path>
              <a:path w="30479" h="48260">
                <a:moveTo>
                  <a:pt x="4100" y="43626"/>
                </a:moveTo>
                <a:lnTo>
                  <a:pt x="4271" y="44227"/>
                </a:lnTo>
                <a:lnTo>
                  <a:pt x="4387" y="44637"/>
                </a:lnTo>
                <a:lnTo>
                  <a:pt x="4459" y="44890"/>
                </a:lnTo>
                <a:lnTo>
                  <a:pt x="6147" y="45832"/>
                </a:lnTo>
                <a:lnTo>
                  <a:pt x="4100" y="43626"/>
                </a:lnTo>
                <a:close/>
              </a:path>
              <a:path w="30479" h="48260">
                <a:moveTo>
                  <a:pt x="18988" y="44637"/>
                </a:moveTo>
                <a:lnTo>
                  <a:pt x="18792" y="44637"/>
                </a:lnTo>
                <a:lnTo>
                  <a:pt x="15724" y="45832"/>
                </a:lnTo>
                <a:lnTo>
                  <a:pt x="18988" y="44637"/>
                </a:lnTo>
                <a:close/>
              </a:path>
              <a:path w="30479" h="48260">
                <a:moveTo>
                  <a:pt x="20420" y="42919"/>
                </a:moveTo>
                <a:lnTo>
                  <a:pt x="18988" y="44637"/>
                </a:lnTo>
                <a:lnTo>
                  <a:pt x="18792" y="44637"/>
                </a:lnTo>
                <a:lnTo>
                  <a:pt x="19845" y="44227"/>
                </a:lnTo>
                <a:lnTo>
                  <a:pt x="20420" y="42919"/>
                </a:lnTo>
                <a:close/>
              </a:path>
              <a:path w="30479" h="48260">
                <a:moveTo>
                  <a:pt x="44" y="30267"/>
                </a:moveTo>
                <a:lnTo>
                  <a:pt x="0" y="33250"/>
                </a:lnTo>
                <a:lnTo>
                  <a:pt x="1218" y="38948"/>
                </a:lnTo>
                <a:lnTo>
                  <a:pt x="1304" y="39352"/>
                </a:lnTo>
                <a:lnTo>
                  <a:pt x="2266" y="41648"/>
                </a:lnTo>
                <a:lnTo>
                  <a:pt x="4100" y="43626"/>
                </a:lnTo>
                <a:lnTo>
                  <a:pt x="1714" y="35210"/>
                </a:lnTo>
                <a:lnTo>
                  <a:pt x="2808" y="33250"/>
                </a:lnTo>
                <a:lnTo>
                  <a:pt x="44" y="30267"/>
                </a:lnTo>
                <a:close/>
              </a:path>
              <a:path w="30479" h="48260">
                <a:moveTo>
                  <a:pt x="24915" y="19110"/>
                </a:moveTo>
                <a:lnTo>
                  <a:pt x="21681" y="19110"/>
                </a:lnTo>
                <a:lnTo>
                  <a:pt x="18223" y="22203"/>
                </a:lnTo>
                <a:lnTo>
                  <a:pt x="17695" y="22727"/>
                </a:lnTo>
                <a:lnTo>
                  <a:pt x="17781" y="27578"/>
                </a:lnTo>
                <a:lnTo>
                  <a:pt x="18118" y="30267"/>
                </a:lnTo>
                <a:lnTo>
                  <a:pt x="18227" y="31059"/>
                </a:lnTo>
                <a:lnTo>
                  <a:pt x="19150" y="31963"/>
                </a:lnTo>
                <a:lnTo>
                  <a:pt x="19870" y="33054"/>
                </a:lnTo>
                <a:lnTo>
                  <a:pt x="22165" y="38948"/>
                </a:lnTo>
                <a:lnTo>
                  <a:pt x="20420" y="42919"/>
                </a:lnTo>
                <a:lnTo>
                  <a:pt x="21805" y="41258"/>
                </a:lnTo>
                <a:lnTo>
                  <a:pt x="25992" y="34088"/>
                </a:lnTo>
                <a:lnTo>
                  <a:pt x="27492" y="30267"/>
                </a:lnTo>
                <a:lnTo>
                  <a:pt x="29891" y="23404"/>
                </a:lnTo>
                <a:lnTo>
                  <a:pt x="28629" y="20792"/>
                </a:lnTo>
                <a:lnTo>
                  <a:pt x="28523" y="20572"/>
                </a:lnTo>
                <a:lnTo>
                  <a:pt x="28405" y="20327"/>
                </a:lnTo>
                <a:lnTo>
                  <a:pt x="24915" y="19110"/>
                </a:lnTo>
                <a:close/>
              </a:path>
              <a:path w="30479" h="48260">
                <a:moveTo>
                  <a:pt x="17657" y="22727"/>
                </a:moveTo>
                <a:lnTo>
                  <a:pt x="4195" y="30267"/>
                </a:lnTo>
                <a:lnTo>
                  <a:pt x="4473" y="30267"/>
                </a:lnTo>
                <a:lnTo>
                  <a:pt x="2918" y="33054"/>
                </a:lnTo>
                <a:lnTo>
                  <a:pt x="2808" y="33250"/>
                </a:lnTo>
                <a:lnTo>
                  <a:pt x="3811" y="34333"/>
                </a:lnTo>
                <a:lnTo>
                  <a:pt x="13522" y="34704"/>
                </a:lnTo>
                <a:lnTo>
                  <a:pt x="17607" y="30919"/>
                </a:lnTo>
                <a:lnTo>
                  <a:pt x="17657" y="22727"/>
                </a:lnTo>
                <a:close/>
              </a:path>
              <a:path w="30479" h="48260">
                <a:moveTo>
                  <a:pt x="17781" y="27578"/>
                </a:moveTo>
                <a:lnTo>
                  <a:pt x="17715" y="28113"/>
                </a:lnTo>
                <a:lnTo>
                  <a:pt x="17607" y="30919"/>
                </a:lnTo>
                <a:lnTo>
                  <a:pt x="13522" y="34704"/>
                </a:lnTo>
                <a:lnTo>
                  <a:pt x="20513" y="34704"/>
                </a:lnTo>
                <a:lnTo>
                  <a:pt x="19947" y="33250"/>
                </a:lnTo>
                <a:lnTo>
                  <a:pt x="19870" y="33054"/>
                </a:lnTo>
                <a:lnTo>
                  <a:pt x="19150" y="31963"/>
                </a:lnTo>
                <a:lnTo>
                  <a:pt x="18227" y="31059"/>
                </a:lnTo>
                <a:lnTo>
                  <a:pt x="17976" y="29230"/>
                </a:lnTo>
                <a:lnTo>
                  <a:pt x="17897" y="28566"/>
                </a:lnTo>
                <a:lnTo>
                  <a:pt x="17781" y="27578"/>
                </a:lnTo>
                <a:close/>
              </a:path>
              <a:path w="30479" h="48260">
                <a:moveTo>
                  <a:pt x="8920" y="16927"/>
                </a:moveTo>
                <a:lnTo>
                  <a:pt x="4258" y="16927"/>
                </a:lnTo>
                <a:lnTo>
                  <a:pt x="387" y="20792"/>
                </a:lnTo>
                <a:lnTo>
                  <a:pt x="333" y="22203"/>
                </a:lnTo>
                <a:lnTo>
                  <a:pt x="225" y="25012"/>
                </a:lnTo>
                <a:lnTo>
                  <a:pt x="138" y="27290"/>
                </a:lnTo>
                <a:lnTo>
                  <a:pt x="44" y="30267"/>
                </a:lnTo>
                <a:lnTo>
                  <a:pt x="2808" y="33250"/>
                </a:lnTo>
                <a:lnTo>
                  <a:pt x="4473" y="30267"/>
                </a:lnTo>
                <a:lnTo>
                  <a:pt x="4195" y="30267"/>
                </a:lnTo>
                <a:lnTo>
                  <a:pt x="9080" y="28882"/>
                </a:lnTo>
                <a:lnTo>
                  <a:pt x="17636" y="22727"/>
                </a:lnTo>
                <a:lnTo>
                  <a:pt x="17614" y="20572"/>
                </a:lnTo>
                <a:lnTo>
                  <a:pt x="17377" y="20327"/>
                </a:lnTo>
                <a:lnTo>
                  <a:pt x="14140" y="17321"/>
                </a:lnTo>
                <a:lnTo>
                  <a:pt x="9308" y="17321"/>
                </a:lnTo>
                <a:lnTo>
                  <a:pt x="8920" y="16927"/>
                </a:lnTo>
                <a:close/>
              </a:path>
              <a:path w="30479" h="48260">
                <a:moveTo>
                  <a:pt x="3673" y="7264"/>
                </a:moveTo>
                <a:lnTo>
                  <a:pt x="558" y="19110"/>
                </a:lnTo>
                <a:lnTo>
                  <a:pt x="452" y="20327"/>
                </a:lnTo>
                <a:lnTo>
                  <a:pt x="412" y="20792"/>
                </a:lnTo>
                <a:lnTo>
                  <a:pt x="608" y="20572"/>
                </a:lnTo>
                <a:lnTo>
                  <a:pt x="4258" y="16927"/>
                </a:lnTo>
                <a:lnTo>
                  <a:pt x="8920" y="16927"/>
                </a:lnTo>
                <a:lnTo>
                  <a:pt x="3640" y="11564"/>
                </a:lnTo>
                <a:lnTo>
                  <a:pt x="3673" y="7264"/>
                </a:lnTo>
                <a:close/>
              </a:path>
              <a:path w="30479" h="48260">
                <a:moveTo>
                  <a:pt x="14446" y="16756"/>
                </a:moveTo>
                <a:lnTo>
                  <a:pt x="13532" y="16756"/>
                </a:lnTo>
                <a:lnTo>
                  <a:pt x="17640" y="20572"/>
                </a:lnTo>
                <a:lnTo>
                  <a:pt x="17718" y="17321"/>
                </a:lnTo>
                <a:lnTo>
                  <a:pt x="13873" y="17321"/>
                </a:lnTo>
                <a:lnTo>
                  <a:pt x="14446" y="16756"/>
                </a:lnTo>
                <a:close/>
              </a:path>
              <a:path w="30479" h="48260">
                <a:moveTo>
                  <a:pt x="24388" y="18571"/>
                </a:moveTo>
                <a:lnTo>
                  <a:pt x="23367" y="18571"/>
                </a:lnTo>
                <a:lnTo>
                  <a:pt x="24915" y="19110"/>
                </a:lnTo>
                <a:lnTo>
                  <a:pt x="21681" y="19110"/>
                </a:lnTo>
                <a:lnTo>
                  <a:pt x="24388" y="18571"/>
                </a:lnTo>
                <a:close/>
              </a:path>
              <a:path w="30479" h="48260">
                <a:moveTo>
                  <a:pt x="18108" y="1567"/>
                </a:moveTo>
                <a:lnTo>
                  <a:pt x="11869" y="1567"/>
                </a:lnTo>
                <a:lnTo>
                  <a:pt x="18106" y="4126"/>
                </a:lnTo>
                <a:lnTo>
                  <a:pt x="19882" y="8370"/>
                </a:lnTo>
                <a:lnTo>
                  <a:pt x="17902" y="13195"/>
                </a:lnTo>
                <a:lnTo>
                  <a:pt x="17850" y="14850"/>
                </a:lnTo>
                <a:lnTo>
                  <a:pt x="18228" y="15057"/>
                </a:lnTo>
                <a:lnTo>
                  <a:pt x="19437" y="15981"/>
                </a:lnTo>
                <a:lnTo>
                  <a:pt x="22437" y="18571"/>
                </a:lnTo>
                <a:lnTo>
                  <a:pt x="25909" y="18571"/>
                </a:lnTo>
                <a:lnTo>
                  <a:pt x="29332" y="14607"/>
                </a:lnTo>
                <a:lnTo>
                  <a:pt x="29385" y="11889"/>
                </a:lnTo>
                <a:lnTo>
                  <a:pt x="25498" y="7007"/>
                </a:lnTo>
                <a:lnTo>
                  <a:pt x="22805" y="3973"/>
                </a:lnTo>
                <a:lnTo>
                  <a:pt x="18108" y="1567"/>
                </a:lnTo>
                <a:close/>
              </a:path>
              <a:path w="30479" h="48260">
                <a:moveTo>
                  <a:pt x="13532" y="16756"/>
                </a:moveTo>
                <a:lnTo>
                  <a:pt x="8920" y="16927"/>
                </a:lnTo>
                <a:lnTo>
                  <a:pt x="9308" y="17321"/>
                </a:lnTo>
                <a:lnTo>
                  <a:pt x="14140" y="17321"/>
                </a:lnTo>
                <a:lnTo>
                  <a:pt x="13532" y="16756"/>
                </a:lnTo>
                <a:close/>
              </a:path>
              <a:path w="30479" h="48260">
                <a:moveTo>
                  <a:pt x="16908" y="14335"/>
                </a:moveTo>
                <a:lnTo>
                  <a:pt x="13873" y="17321"/>
                </a:lnTo>
                <a:lnTo>
                  <a:pt x="17718" y="17321"/>
                </a:lnTo>
                <a:lnTo>
                  <a:pt x="17843" y="15057"/>
                </a:lnTo>
                <a:lnTo>
                  <a:pt x="17850" y="14850"/>
                </a:lnTo>
                <a:lnTo>
                  <a:pt x="16908" y="14335"/>
                </a:lnTo>
                <a:close/>
              </a:path>
              <a:path w="30479" h="48260">
                <a:moveTo>
                  <a:pt x="11869" y="1567"/>
                </a:moveTo>
                <a:lnTo>
                  <a:pt x="8978" y="2031"/>
                </a:lnTo>
                <a:lnTo>
                  <a:pt x="6712" y="3973"/>
                </a:lnTo>
                <a:lnTo>
                  <a:pt x="3886" y="6755"/>
                </a:lnTo>
                <a:lnTo>
                  <a:pt x="3781" y="7007"/>
                </a:lnTo>
                <a:lnTo>
                  <a:pt x="3673" y="7264"/>
                </a:lnTo>
                <a:lnTo>
                  <a:pt x="3640" y="11564"/>
                </a:lnTo>
                <a:lnTo>
                  <a:pt x="8920" y="16927"/>
                </a:lnTo>
                <a:lnTo>
                  <a:pt x="13532" y="16756"/>
                </a:lnTo>
                <a:lnTo>
                  <a:pt x="14446" y="16756"/>
                </a:lnTo>
                <a:lnTo>
                  <a:pt x="16900" y="14335"/>
                </a:lnTo>
                <a:lnTo>
                  <a:pt x="17866" y="14335"/>
                </a:lnTo>
                <a:lnTo>
                  <a:pt x="17902" y="13195"/>
                </a:lnTo>
                <a:lnTo>
                  <a:pt x="19882" y="8370"/>
                </a:lnTo>
                <a:lnTo>
                  <a:pt x="18106" y="4126"/>
                </a:lnTo>
                <a:lnTo>
                  <a:pt x="11869" y="1567"/>
                </a:lnTo>
                <a:close/>
              </a:path>
              <a:path w="30479" h="48260">
                <a:moveTo>
                  <a:pt x="17866" y="14335"/>
                </a:moveTo>
                <a:lnTo>
                  <a:pt x="16908" y="14335"/>
                </a:lnTo>
                <a:lnTo>
                  <a:pt x="17850" y="14850"/>
                </a:lnTo>
                <a:lnTo>
                  <a:pt x="17866" y="14335"/>
                </a:lnTo>
                <a:close/>
              </a:path>
              <a:path w="30479" h="48260">
                <a:moveTo>
                  <a:pt x="3886" y="6755"/>
                </a:moveTo>
                <a:lnTo>
                  <a:pt x="3630" y="7007"/>
                </a:lnTo>
                <a:lnTo>
                  <a:pt x="3781" y="7007"/>
                </a:lnTo>
                <a:lnTo>
                  <a:pt x="3886" y="6755"/>
                </a:lnTo>
                <a:close/>
              </a:path>
              <a:path w="30479" h="48260">
                <a:moveTo>
                  <a:pt x="6557" y="4126"/>
                </a:moveTo>
                <a:lnTo>
                  <a:pt x="4122" y="6192"/>
                </a:lnTo>
                <a:lnTo>
                  <a:pt x="3886" y="6755"/>
                </a:lnTo>
                <a:lnTo>
                  <a:pt x="6557" y="4126"/>
                </a:lnTo>
                <a:close/>
              </a:path>
              <a:path w="30479" h="48260">
                <a:moveTo>
                  <a:pt x="15049" y="0"/>
                </a:moveTo>
                <a:lnTo>
                  <a:pt x="10013" y="723"/>
                </a:lnTo>
                <a:lnTo>
                  <a:pt x="6712" y="3973"/>
                </a:lnTo>
                <a:lnTo>
                  <a:pt x="8978" y="2031"/>
                </a:lnTo>
                <a:lnTo>
                  <a:pt x="11869" y="1567"/>
                </a:lnTo>
                <a:lnTo>
                  <a:pt x="18108" y="1567"/>
                </a:lnTo>
                <a:lnTo>
                  <a:pt x="150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133448" y="2516305"/>
            <a:ext cx="909593" cy="321063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162779" y="5246267"/>
            <a:ext cx="6878955" cy="1249680"/>
            <a:chOff x="162779" y="5246267"/>
            <a:chExt cx="6878955" cy="1249680"/>
          </a:xfrm>
        </p:grpSpPr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68018" y="5419219"/>
              <a:ext cx="317056" cy="27965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973832" y="5554790"/>
              <a:ext cx="133350" cy="103505"/>
            </a:xfrm>
            <a:custGeom>
              <a:avLst/>
              <a:gdLst/>
              <a:ahLst/>
              <a:cxnLst/>
              <a:rect l="l" t="t" r="r" b="b"/>
              <a:pathLst>
                <a:path w="133350" h="103504">
                  <a:moveTo>
                    <a:pt x="1130" y="27673"/>
                  </a:moveTo>
                  <a:lnTo>
                    <a:pt x="736" y="28155"/>
                  </a:lnTo>
                  <a:lnTo>
                    <a:pt x="787" y="28829"/>
                  </a:lnTo>
                  <a:lnTo>
                    <a:pt x="1130" y="27673"/>
                  </a:lnTo>
                  <a:close/>
                </a:path>
                <a:path w="133350" h="103504">
                  <a:moveTo>
                    <a:pt x="111239" y="12928"/>
                  </a:moveTo>
                  <a:lnTo>
                    <a:pt x="97269" y="1143"/>
                  </a:lnTo>
                  <a:lnTo>
                    <a:pt x="87528" y="0"/>
                  </a:lnTo>
                  <a:lnTo>
                    <a:pt x="85559" y="215"/>
                  </a:lnTo>
                  <a:lnTo>
                    <a:pt x="85559" y="16319"/>
                  </a:lnTo>
                  <a:lnTo>
                    <a:pt x="83451" y="4927"/>
                  </a:lnTo>
                  <a:lnTo>
                    <a:pt x="85534" y="16167"/>
                  </a:lnTo>
                  <a:lnTo>
                    <a:pt x="85559" y="16319"/>
                  </a:lnTo>
                  <a:lnTo>
                    <a:pt x="85559" y="215"/>
                  </a:lnTo>
                  <a:lnTo>
                    <a:pt x="79832" y="825"/>
                  </a:lnTo>
                  <a:lnTo>
                    <a:pt x="72466" y="2006"/>
                  </a:lnTo>
                  <a:lnTo>
                    <a:pt x="65824" y="3060"/>
                  </a:lnTo>
                  <a:lnTo>
                    <a:pt x="66522" y="3060"/>
                  </a:lnTo>
                  <a:lnTo>
                    <a:pt x="62763" y="3721"/>
                  </a:lnTo>
                  <a:lnTo>
                    <a:pt x="53149" y="5842"/>
                  </a:lnTo>
                  <a:lnTo>
                    <a:pt x="48818" y="6959"/>
                  </a:lnTo>
                  <a:lnTo>
                    <a:pt x="48818" y="24066"/>
                  </a:lnTo>
                  <a:lnTo>
                    <a:pt x="45859" y="12928"/>
                  </a:lnTo>
                  <a:lnTo>
                    <a:pt x="48780" y="23888"/>
                  </a:lnTo>
                  <a:lnTo>
                    <a:pt x="48818" y="24066"/>
                  </a:lnTo>
                  <a:lnTo>
                    <a:pt x="48818" y="6959"/>
                  </a:lnTo>
                  <a:lnTo>
                    <a:pt x="11480" y="18783"/>
                  </a:lnTo>
                  <a:lnTo>
                    <a:pt x="4279" y="23888"/>
                  </a:lnTo>
                  <a:lnTo>
                    <a:pt x="3556" y="24752"/>
                  </a:lnTo>
                  <a:lnTo>
                    <a:pt x="2501" y="25730"/>
                  </a:lnTo>
                  <a:lnTo>
                    <a:pt x="1358" y="26911"/>
                  </a:lnTo>
                  <a:lnTo>
                    <a:pt x="1130" y="27673"/>
                  </a:lnTo>
                  <a:lnTo>
                    <a:pt x="1257" y="33832"/>
                  </a:lnTo>
                  <a:lnTo>
                    <a:pt x="1168" y="32867"/>
                  </a:lnTo>
                  <a:lnTo>
                    <a:pt x="1041" y="31521"/>
                  </a:lnTo>
                  <a:lnTo>
                    <a:pt x="965" y="30695"/>
                  </a:lnTo>
                  <a:lnTo>
                    <a:pt x="863" y="29616"/>
                  </a:lnTo>
                  <a:lnTo>
                    <a:pt x="812" y="29044"/>
                  </a:lnTo>
                  <a:lnTo>
                    <a:pt x="558" y="29616"/>
                  </a:lnTo>
                  <a:lnTo>
                    <a:pt x="38" y="31394"/>
                  </a:lnTo>
                  <a:lnTo>
                    <a:pt x="0" y="31521"/>
                  </a:lnTo>
                  <a:lnTo>
                    <a:pt x="3073" y="38214"/>
                  </a:lnTo>
                  <a:lnTo>
                    <a:pt x="5346" y="39992"/>
                  </a:lnTo>
                  <a:lnTo>
                    <a:pt x="12242" y="42875"/>
                  </a:lnTo>
                  <a:lnTo>
                    <a:pt x="17094" y="43510"/>
                  </a:lnTo>
                  <a:lnTo>
                    <a:pt x="24993" y="44653"/>
                  </a:lnTo>
                  <a:lnTo>
                    <a:pt x="28067" y="42354"/>
                  </a:lnTo>
                  <a:lnTo>
                    <a:pt x="28409" y="39992"/>
                  </a:lnTo>
                  <a:lnTo>
                    <a:pt x="28460" y="39611"/>
                  </a:lnTo>
                  <a:lnTo>
                    <a:pt x="28905" y="36614"/>
                  </a:lnTo>
                  <a:lnTo>
                    <a:pt x="28968" y="36131"/>
                  </a:lnTo>
                  <a:lnTo>
                    <a:pt x="27940" y="34467"/>
                  </a:lnTo>
                  <a:lnTo>
                    <a:pt x="34086" y="32867"/>
                  </a:lnTo>
                  <a:lnTo>
                    <a:pt x="32486" y="31902"/>
                  </a:lnTo>
                  <a:lnTo>
                    <a:pt x="34201" y="32867"/>
                  </a:lnTo>
                  <a:lnTo>
                    <a:pt x="45326" y="29921"/>
                  </a:lnTo>
                  <a:lnTo>
                    <a:pt x="45593" y="29629"/>
                  </a:lnTo>
                  <a:lnTo>
                    <a:pt x="45427" y="29921"/>
                  </a:lnTo>
                  <a:lnTo>
                    <a:pt x="48780" y="29044"/>
                  </a:lnTo>
                  <a:lnTo>
                    <a:pt x="57404" y="26911"/>
                  </a:lnTo>
                  <a:lnTo>
                    <a:pt x="66878" y="24752"/>
                  </a:lnTo>
                  <a:lnTo>
                    <a:pt x="71170" y="23888"/>
                  </a:lnTo>
                  <a:lnTo>
                    <a:pt x="75730" y="22987"/>
                  </a:lnTo>
                  <a:lnTo>
                    <a:pt x="69938" y="23888"/>
                  </a:lnTo>
                  <a:lnTo>
                    <a:pt x="75679" y="22987"/>
                  </a:lnTo>
                  <a:lnTo>
                    <a:pt x="81635" y="21907"/>
                  </a:lnTo>
                  <a:lnTo>
                    <a:pt x="89154" y="20561"/>
                  </a:lnTo>
                  <a:lnTo>
                    <a:pt x="99250" y="18592"/>
                  </a:lnTo>
                  <a:lnTo>
                    <a:pt x="102781" y="17957"/>
                  </a:lnTo>
                  <a:lnTo>
                    <a:pt x="109385" y="16167"/>
                  </a:lnTo>
                  <a:lnTo>
                    <a:pt x="111239" y="12928"/>
                  </a:lnTo>
                  <a:close/>
                </a:path>
                <a:path w="133350" h="103504">
                  <a:moveTo>
                    <a:pt x="133197" y="89979"/>
                  </a:moveTo>
                  <a:lnTo>
                    <a:pt x="131394" y="83807"/>
                  </a:lnTo>
                  <a:lnTo>
                    <a:pt x="131076" y="83489"/>
                  </a:lnTo>
                  <a:lnTo>
                    <a:pt x="128739" y="81788"/>
                  </a:lnTo>
                  <a:lnTo>
                    <a:pt x="49822" y="83172"/>
                  </a:lnTo>
                  <a:lnTo>
                    <a:pt x="50749" y="83172"/>
                  </a:lnTo>
                  <a:lnTo>
                    <a:pt x="29832" y="83489"/>
                  </a:lnTo>
                  <a:lnTo>
                    <a:pt x="27190" y="83489"/>
                  </a:lnTo>
                  <a:lnTo>
                    <a:pt x="27089" y="83172"/>
                  </a:lnTo>
                  <a:lnTo>
                    <a:pt x="26987" y="82867"/>
                  </a:lnTo>
                  <a:lnTo>
                    <a:pt x="26898" y="82588"/>
                  </a:lnTo>
                  <a:lnTo>
                    <a:pt x="26784" y="82257"/>
                  </a:lnTo>
                  <a:lnTo>
                    <a:pt x="26720" y="82042"/>
                  </a:lnTo>
                  <a:lnTo>
                    <a:pt x="24231" y="80505"/>
                  </a:lnTo>
                  <a:lnTo>
                    <a:pt x="13754" y="82042"/>
                  </a:lnTo>
                  <a:lnTo>
                    <a:pt x="6896" y="83172"/>
                  </a:lnTo>
                  <a:lnTo>
                    <a:pt x="3708" y="83489"/>
                  </a:lnTo>
                  <a:lnTo>
                    <a:pt x="3556" y="83489"/>
                  </a:lnTo>
                  <a:lnTo>
                    <a:pt x="330" y="86652"/>
                  </a:lnTo>
                  <a:lnTo>
                    <a:pt x="444" y="88861"/>
                  </a:lnTo>
                  <a:lnTo>
                    <a:pt x="419" y="91884"/>
                  </a:lnTo>
                  <a:lnTo>
                    <a:pt x="520" y="93332"/>
                  </a:lnTo>
                  <a:lnTo>
                    <a:pt x="1282" y="94589"/>
                  </a:lnTo>
                  <a:lnTo>
                    <a:pt x="1092" y="93789"/>
                  </a:lnTo>
                  <a:lnTo>
                    <a:pt x="1384" y="94589"/>
                  </a:lnTo>
                  <a:lnTo>
                    <a:pt x="1384" y="94767"/>
                  </a:lnTo>
                  <a:lnTo>
                    <a:pt x="1905" y="95631"/>
                  </a:lnTo>
                  <a:lnTo>
                    <a:pt x="2616" y="95986"/>
                  </a:lnTo>
                  <a:lnTo>
                    <a:pt x="2882" y="96253"/>
                  </a:lnTo>
                  <a:lnTo>
                    <a:pt x="4546" y="96964"/>
                  </a:lnTo>
                  <a:lnTo>
                    <a:pt x="6794" y="98107"/>
                  </a:lnTo>
                  <a:lnTo>
                    <a:pt x="7023" y="98221"/>
                  </a:lnTo>
                  <a:lnTo>
                    <a:pt x="11963" y="100723"/>
                  </a:lnTo>
                  <a:lnTo>
                    <a:pt x="13881" y="101688"/>
                  </a:lnTo>
                  <a:lnTo>
                    <a:pt x="15278" y="101231"/>
                  </a:lnTo>
                  <a:lnTo>
                    <a:pt x="16662" y="100787"/>
                  </a:lnTo>
                  <a:lnTo>
                    <a:pt x="41668" y="103022"/>
                  </a:lnTo>
                  <a:lnTo>
                    <a:pt x="38620" y="103022"/>
                  </a:lnTo>
                  <a:lnTo>
                    <a:pt x="50838" y="103225"/>
                  </a:lnTo>
                  <a:lnTo>
                    <a:pt x="56324" y="103314"/>
                  </a:lnTo>
                  <a:lnTo>
                    <a:pt x="62077" y="103225"/>
                  </a:lnTo>
                  <a:lnTo>
                    <a:pt x="74371" y="103022"/>
                  </a:lnTo>
                  <a:lnTo>
                    <a:pt x="91122" y="101688"/>
                  </a:lnTo>
                  <a:lnTo>
                    <a:pt x="91732" y="101688"/>
                  </a:lnTo>
                  <a:lnTo>
                    <a:pt x="109766" y="98907"/>
                  </a:lnTo>
                  <a:lnTo>
                    <a:pt x="109931" y="98907"/>
                  </a:lnTo>
                  <a:lnTo>
                    <a:pt x="127774" y="94589"/>
                  </a:lnTo>
                  <a:lnTo>
                    <a:pt x="131216" y="93586"/>
                  </a:lnTo>
                  <a:lnTo>
                    <a:pt x="133197" y="899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779" y="5246267"/>
              <a:ext cx="588825" cy="45935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5798" y="5353211"/>
              <a:ext cx="6535351" cy="108539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99507" y="6314318"/>
              <a:ext cx="43180" cy="35560"/>
            </a:xfrm>
            <a:custGeom>
              <a:avLst/>
              <a:gdLst/>
              <a:ahLst/>
              <a:cxnLst/>
              <a:rect l="l" t="t" r="r" b="b"/>
              <a:pathLst>
                <a:path w="43179" h="35560">
                  <a:moveTo>
                    <a:pt x="6828" y="17164"/>
                  </a:moveTo>
                  <a:lnTo>
                    <a:pt x="3187" y="19499"/>
                  </a:lnTo>
                  <a:lnTo>
                    <a:pt x="2526" y="19977"/>
                  </a:lnTo>
                  <a:lnTo>
                    <a:pt x="1478" y="24811"/>
                  </a:lnTo>
                  <a:lnTo>
                    <a:pt x="1391" y="25762"/>
                  </a:lnTo>
                  <a:lnTo>
                    <a:pt x="3923" y="29696"/>
                  </a:lnTo>
                  <a:lnTo>
                    <a:pt x="4362" y="30500"/>
                  </a:lnTo>
                  <a:lnTo>
                    <a:pt x="8025" y="34190"/>
                  </a:lnTo>
                  <a:lnTo>
                    <a:pt x="12154" y="35318"/>
                  </a:lnTo>
                  <a:lnTo>
                    <a:pt x="15726" y="34040"/>
                  </a:lnTo>
                  <a:lnTo>
                    <a:pt x="15876" y="33892"/>
                  </a:lnTo>
                  <a:lnTo>
                    <a:pt x="16142" y="33892"/>
                  </a:lnTo>
                  <a:lnTo>
                    <a:pt x="15196" y="33266"/>
                  </a:lnTo>
                  <a:lnTo>
                    <a:pt x="16350" y="33266"/>
                  </a:lnTo>
                  <a:lnTo>
                    <a:pt x="12256" y="32377"/>
                  </a:lnTo>
                  <a:lnTo>
                    <a:pt x="9802" y="29696"/>
                  </a:lnTo>
                  <a:lnTo>
                    <a:pt x="9174" y="29281"/>
                  </a:lnTo>
                  <a:lnTo>
                    <a:pt x="9047" y="28999"/>
                  </a:lnTo>
                  <a:lnTo>
                    <a:pt x="8603" y="26815"/>
                  </a:lnTo>
                  <a:lnTo>
                    <a:pt x="9885" y="26815"/>
                  </a:lnTo>
                  <a:lnTo>
                    <a:pt x="7528" y="26274"/>
                  </a:lnTo>
                  <a:lnTo>
                    <a:pt x="8493" y="26274"/>
                  </a:lnTo>
                  <a:lnTo>
                    <a:pt x="5867" y="22083"/>
                  </a:lnTo>
                  <a:lnTo>
                    <a:pt x="5899" y="21209"/>
                  </a:lnTo>
                  <a:lnTo>
                    <a:pt x="6015" y="20703"/>
                  </a:lnTo>
                  <a:lnTo>
                    <a:pt x="6515" y="20703"/>
                  </a:lnTo>
                  <a:lnTo>
                    <a:pt x="4881" y="20302"/>
                  </a:lnTo>
                  <a:lnTo>
                    <a:pt x="4597" y="19977"/>
                  </a:lnTo>
                  <a:lnTo>
                    <a:pt x="4083" y="19128"/>
                  </a:lnTo>
                  <a:lnTo>
                    <a:pt x="6376" y="19128"/>
                  </a:lnTo>
                  <a:lnTo>
                    <a:pt x="6500" y="18591"/>
                  </a:lnTo>
                  <a:lnTo>
                    <a:pt x="6552" y="18365"/>
                  </a:lnTo>
                  <a:lnTo>
                    <a:pt x="6642" y="17970"/>
                  </a:lnTo>
                  <a:lnTo>
                    <a:pt x="6726" y="17606"/>
                  </a:lnTo>
                  <a:lnTo>
                    <a:pt x="6828" y="17164"/>
                  </a:lnTo>
                  <a:close/>
                </a:path>
                <a:path w="43179" h="35560">
                  <a:moveTo>
                    <a:pt x="8025" y="34190"/>
                  </a:moveTo>
                  <a:lnTo>
                    <a:pt x="8883" y="35054"/>
                  </a:lnTo>
                  <a:lnTo>
                    <a:pt x="11190" y="35054"/>
                  </a:lnTo>
                  <a:lnTo>
                    <a:pt x="8025" y="34190"/>
                  </a:lnTo>
                  <a:close/>
                </a:path>
                <a:path w="43179" h="35560">
                  <a:moveTo>
                    <a:pt x="15726" y="34040"/>
                  </a:moveTo>
                  <a:lnTo>
                    <a:pt x="12891" y="35054"/>
                  </a:lnTo>
                  <a:lnTo>
                    <a:pt x="14705" y="35054"/>
                  </a:lnTo>
                  <a:lnTo>
                    <a:pt x="15726" y="34040"/>
                  </a:lnTo>
                  <a:close/>
                </a:path>
                <a:path w="43179" h="35560">
                  <a:moveTo>
                    <a:pt x="23457" y="31025"/>
                  </a:moveTo>
                  <a:lnTo>
                    <a:pt x="22963" y="31417"/>
                  </a:lnTo>
                  <a:lnTo>
                    <a:pt x="22265" y="32021"/>
                  </a:lnTo>
                  <a:lnTo>
                    <a:pt x="19050" y="33266"/>
                  </a:lnTo>
                  <a:lnTo>
                    <a:pt x="17892" y="33266"/>
                  </a:lnTo>
                  <a:lnTo>
                    <a:pt x="16142" y="33892"/>
                  </a:lnTo>
                  <a:lnTo>
                    <a:pt x="16790" y="34321"/>
                  </a:lnTo>
                  <a:lnTo>
                    <a:pt x="21974" y="33266"/>
                  </a:lnTo>
                  <a:lnTo>
                    <a:pt x="23457" y="31025"/>
                  </a:lnTo>
                  <a:close/>
                </a:path>
                <a:path w="43179" h="35560">
                  <a:moveTo>
                    <a:pt x="23143" y="25119"/>
                  </a:moveTo>
                  <a:lnTo>
                    <a:pt x="22660" y="25623"/>
                  </a:lnTo>
                  <a:lnTo>
                    <a:pt x="22626" y="25762"/>
                  </a:lnTo>
                  <a:lnTo>
                    <a:pt x="22135" y="26107"/>
                  </a:lnTo>
                  <a:lnTo>
                    <a:pt x="21964" y="26274"/>
                  </a:lnTo>
                  <a:lnTo>
                    <a:pt x="21533" y="26815"/>
                  </a:lnTo>
                  <a:lnTo>
                    <a:pt x="21365" y="28116"/>
                  </a:lnTo>
                  <a:lnTo>
                    <a:pt x="21279" y="28527"/>
                  </a:lnTo>
                  <a:lnTo>
                    <a:pt x="15726" y="34040"/>
                  </a:lnTo>
                  <a:lnTo>
                    <a:pt x="17892" y="33266"/>
                  </a:lnTo>
                  <a:lnTo>
                    <a:pt x="18285" y="33266"/>
                  </a:lnTo>
                  <a:lnTo>
                    <a:pt x="20549" y="31025"/>
                  </a:lnTo>
                  <a:lnTo>
                    <a:pt x="22866" y="26274"/>
                  </a:lnTo>
                  <a:lnTo>
                    <a:pt x="22947" y="26107"/>
                  </a:lnTo>
                  <a:lnTo>
                    <a:pt x="23062" y="25623"/>
                  </a:lnTo>
                  <a:lnTo>
                    <a:pt x="23143" y="25119"/>
                  </a:lnTo>
                  <a:close/>
                </a:path>
                <a:path w="43179" h="35560">
                  <a:moveTo>
                    <a:pt x="8722" y="23136"/>
                  </a:moveTo>
                  <a:lnTo>
                    <a:pt x="8759" y="24811"/>
                  </a:lnTo>
                  <a:lnTo>
                    <a:pt x="8885" y="25762"/>
                  </a:lnTo>
                  <a:lnTo>
                    <a:pt x="9429" y="28116"/>
                  </a:lnTo>
                  <a:lnTo>
                    <a:pt x="9525" y="28527"/>
                  </a:lnTo>
                  <a:lnTo>
                    <a:pt x="9580" y="28766"/>
                  </a:lnTo>
                  <a:lnTo>
                    <a:pt x="9699" y="29281"/>
                  </a:lnTo>
                  <a:lnTo>
                    <a:pt x="9802" y="29696"/>
                  </a:lnTo>
                  <a:lnTo>
                    <a:pt x="16142" y="33892"/>
                  </a:lnTo>
                  <a:lnTo>
                    <a:pt x="15876" y="33892"/>
                  </a:lnTo>
                  <a:lnTo>
                    <a:pt x="21038" y="28766"/>
                  </a:lnTo>
                  <a:lnTo>
                    <a:pt x="18381" y="28766"/>
                  </a:lnTo>
                  <a:lnTo>
                    <a:pt x="9885" y="26815"/>
                  </a:lnTo>
                  <a:lnTo>
                    <a:pt x="12325" y="26815"/>
                  </a:lnTo>
                  <a:lnTo>
                    <a:pt x="8722" y="23136"/>
                  </a:lnTo>
                  <a:close/>
                </a:path>
                <a:path w="43179" h="35560">
                  <a:moveTo>
                    <a:pt x="9802" y="29696"/>
                  </a:moveTo>
                  <a:lnTo>
                    <a:pt x="12256" y="32377"/>
                  </a:lnTo>
                  <a:lnTo>
                    <a:pt x="16350" y="33266"/>
                  </a:lnTo>
                  <a:lnTo>
                    <a:pt x="15196" y="33266"/>
                  </a:lnTo>
                  <a:lnTo>
                    <a:pt x="9802" y="29696"/>
                  </a:lnTo>
                  <a:close/>
                </a:path>
                <a:path w="43179" h="35560">
                  <a:moveTo>
                    <a:pt x="25054" y="28527"/>
                  </a:moveTo>
                  <a:lnTo>
                    <a:pt x="21767" y="28527"/>
                  </a:lnTo>
                  <a:lnTo>
                    <a:pt x="20549" y="31025"/>
                  </a:lnTo>
                  <a:lnTo>
                    <a:pt x="18285" y="33266"/>
                  </a:lnTo>
                  <a:lnTo>
                    <a:pt x="19050" y="33266"/>
                  </a:lnTo>
                  <a:lnTo>
                    <a:pt x="22265" y="32021"/>
                  </a:lnTo>
                  <a:lnTo>
                    <a:pt x="23761" y="30726"/>
                  </a:lnTo>
                  <a:lnTo>
                    <a:pt x="23804" y="30500"/>
                  </a:lnTo>
                  <a:lnTo>
                    <a:pt x="24781" y="28999"/>
                  </a:lnTo>
                  <a:lnTo>
                    <a:pt x="25054" y="28527"/>
                  </a:lnTo>
                  <a:close/>
                </a:path>
                <a:path w="43179" h="35560">
                  <a:moveTo>
                    <a:pt x="2737" y="13841"/>
                  </a:moveTo>
                  <a:lnTo>
                    <a:pt x="2525" y="14180"/>
                  </a:lnTo>
                  <a:lnTo>
                    <a:pt x="1511" y="17606"/>
                  </a:lnTo>
                  <a:lnTo>
                    <a:pt x="1413" y="17970"/>
                  </a:lnTo>
                  <a:lnTo>
                    <a:pt x="329" y="24210"/>
                  </a:lnTo>
                  <a:lnTo>
                    <a:pt x="225" y="24811"/>
                  </a:lnTo>
                  <a:lnTo>
                    <a:pt x="171" y="25119"/>
                  </a:lnTo>
                  <a:lnTo>
                    <a:pt x="84" y="25623"/>
                  </a:lnTo>
                  <a:lnTo>
                    <a:pt x="0" y="26107"/>
                  </a:lnTo>
                  <a:lnTo>
                    <a:pt x="4362" y="30500"/>
                  </a:lnTo>
                  <a:lnTo>
                    <a:pt x="3923" y="29696"/>
                  </a:lnTo>
                  <a:lnTo>
                    <a:pt x="1391" y="25762"/>
                  </a:lnTo>
                  <a:lnTo>
                    <a:pt x="1478" y="24811"/>
                  </a:lnTo>
                  <a:lnTo>
                    <a:pt x="2012" y="22348"/>
                  </a:lnTo>
                  <a:lnTo>
                    <a:pt x="2113" y="21885"/>
                  </a:lnTo>
                  <a:lnTo>
                    <a:pt x="2198" y="21493"/>
                  </a:lnTo>
                  <a:lnTo>
                    <a:pt x="2259" y="21209"/>
                  </a:lnTo>
                  <a:lnTo>
                    <a:pt x="2369" y="20703"/>
                  </a:lnTo>
                  <a:lnTo>
                    <a:pt x="2456" y="20302"/>
                  </a:lnTo>
                  <a:lnTo>
                    <a:pt x="2526" y="19977"/>
                  </a:lnTo>
                  <a:lnTo>
                    <a:pt x="3187" y="19499"/>
                  </a:lnTo>
                  <a:lnTo>
                    <a:pt x="3765" y="19128"/>
                  </a:lnTo>
                  <a:lnTo>
                    <a:pt x="4083" y="19128"/>
                  </a:lnTo>
                  <a:lnTo>
                    <a:pt x="2201" y="16020"/>
                  </a:lnTo>
                  <a:lnTo>
                    <a:pt x="2314" y="15560"/>
                  </a:lnTo>
                  <a:lnTo>
                    <a:pt x="2398" y="15219"/>
                  </a:lnTo>
                  <a:lnTo>
                    <a:pt x="2501" y="14801"/>
                  </a:lnTo>
                  <a:lnTo>
                    <a:pt x="2595" y="14418"/>
                  </a:lnTo>
                  <a:lnTo>
                    <a:pt x="2654" y="14180"/>
                  </a:lnTo>
                  <a:lnTo>
                    <a:pt x="2737" y="13841"/>
                  </a:lnTo>
                  <a:close/>
                </a:path>
                <a:path w="43179" h="35560">
                  <a:moveTo>
                    <a:pt x="8640" y="23136"/>
                  </a:moveTo>
                  <a:lnTo>
                    <a:pt x="7929" y="24210"/>
                  </a:lnTo>
                  <a:lnTo>
                    <a:pt x="8073" y="24210"/>
                  </a:lnTo>
                  <a:lnTo>
                    <a:pt x="8868" y="28116"/>
                  </a:lnTo>
                  <a:lnTo>
                    <a:pt x="8951" y="28527"/>
                  </a:lnTo>
                  <a:lnTo>
                    <a:pt x="9047" y="28999"/>
                  </a:lnTo>
                  <a:lnTo>
                    <a:pt x="9174" y="29281"/>
                  </a:lnTo>
                  <a:lnTo>
                    <a:pt x="9802" y="29696"/>
                  </a:lnTo>
                  <a:lnTo>
                    <a:pt x="9128" y="26815"/>
                  </a:lnTo>
                  <a:lnTo>
                    <a:pt x="9003" y="26274"/>
                  </a:lnTo>
                  <a:lnTo>
                    <a:pt x="8885" y="25762"/>
                  </a:lnTo>
                  <a:lnTo>
                    <a:pt x="8759" y="24811"/>
                  </a:lnTo>
                  <a:lnTo>
                    <a:pt x="8640" y="23136"/>
                  </a:lnTo>
                  <a:close/>
                </a:path>
                <a:path w="43179" h="35560">
                  <a:moveTo>
                    <a:pt x="9727" y="21493"/>
                  </a:moveTo>
                  <a:lnTo>
                    <a:pt x="8758" y="22957"/>
                  </a:lnTo>
                  <a:lnTo>
                    <a:pt x="8722" y="23136"/>
                  </a:lnTo>
                  <a:lnTo>
                    <a:pt x="12325" y="26815"/>
                  </a:lnTo>
                  <a:lnTo>
                    <a:pt x="9885" y="26815"/>
                  </a:lnTo>
                  <a:lnTo>
                    <a:pt x="18381" y="28766"/>
                  </a:lnTo>
                  <a:lnTo>
                    <a:pt x="17832" y="28766"/>
                  </a:lnTo>
                  <a:lnTo>
                    <a:pt x="18869" y="28116"/>
                  </a:lnTo>
                  <a:lnTo>
                    <a:pt x="12854" y="24210"/>
                  </a:lnTo>
                  <a:lnTo>
                    <a:pt x="12582" y="24210"/>
                  </a:lnTo>
                  <a:lnTo>
                    <a:pt x="12186" y="22348"/>
                  </a:lnTo>
                  <a:lnTo>
                    <a:pt x="12130" y="22083"/>
                  </a:lnTo>
                  <a:lnTo>
                    <a:pt x="9727" y="21493"/>
                  </a:lnTo>
                  <a:close/>
                </a:path>
                <a:path w="43179" h="35560">
                  <a:moveTo>
                    <a:pt x="18869" y="28116"/>
                  </a:moveTo>
                  <a:lnTo>
                    <a:pt x="17832" y="28766"/>
                  </a:lnTo>
                  <a:lnTo>
                    <a:pt x="19870" y="28766"/>
                  </a:lnTo>
                  <a:lnTo>
                    <a:pt x="18869" y="28116"/>
                  </a:lnTo>
                  <a:close/>
                </a:path>
                <a:path w="43179" h="35560">
                  <a:moveTo>
                    <a:pt x="22135" y="26107"/>
                  </a:moveTo>
                  <a:lnTo>
                    <a:pt x="21810" y="26274"/>
                  </a:lnTo>
                  <a:lnTo>
                    <a:pt x="18869" y="28116"/>
                  </a:lnTo>
                  <a:lnTo>
                    <a:pt x="19870" y="28766"/>
                  </a:lnTo>
                  <a:lnTo>
                    <a:pt x="21313" y="28527"/>
                  </a:lnTo>
                  <a:lnTo>
                    <a:pt x="21533" y="26815"/>
                  </a:lnTo>
                  <a:lnTo>
                    <a:pt x="21964" y="26274"/>
                  </a:lnTo>
                  <a:lnTo>
                    <a:pt x="22135" y="26107"/>
                  </a:lnTo>
                  <a:close/>
                </a:path>
                <a:path w="43179" h="35560">
                  <a:moveTo>
                    <a:pt x="21279" y="28527"/>
                  </a:moveTo>
                  <a:lnTo>
                    <a:pt x="19870" y="28766"/>
                  </a:lnTo>
                  <a:lnTo>
                    <a:pt x="21038" y="28766"/>
                  </a:lnTo>
                  <a:lnTo>
                    <a:pt x="21279" y="28527"/>
                  </a:lnTo>
                  <a:close/>
                </a:path>
                <a:path w="43179" h="35560">
                  <a:moveTo>
                    <a:pt x="25314" y="21493"/>
                  </a:moveTo>
                  <a:lnTo>
                    <a:pt x="25188" y="21730"/>
                  </a:lnTo>
                  <a:lnTo>
                    <a:pt x="25169" y="23136"/>
                  </a:lnTo>
                  <a:lnTo>
                    <a:pt x="23143" y="25119"/>
                  </a:lnTo>
                  <a:lnTo>
                    <a:pt x="23062" y="25623"/>
                  </a:lnTo>
                  <a:lnTo>
                    <a:pt x="22947" y="26107"/>
                  </a:lnTo>
                  <a:lnTo>
                    <a:pt x="21767" y="28527"/>
                  </a:lnTo>
                  <a:lnTo>
                    <a:pt x="21313" y="28527"/>
                  </a:lnTo>
                  <a:lnTo>
                    <a:pt x="23797" y="28116"/>
                  </a:lnTo>
                  <a:lnTo>
                    <a:pt x="24484" y="28116"/>
                  </a:lnTo>
                  <a:lnTo>
                    <a:pt x="26065" y="26107"/>
                  </a:lnTo>
                  <a:lnTo>
                    <a:pt x="26188" y="25119"/>
                  </a:lnTo>
                  <a:lnTo>
                    <a:pt x="26256" y="24210"/>
                  </a:lnTo>
                  <a:lnTo>
                    <a:pt x="25878" y="23136"/>
                  </a:lnTo>
                  <a:lnTo>
                    <a:pt x="25566" y="22348"/>
                  </a:lnTo>
                  <a:lnTo>
                    <a:pt x="25461" y="22083"/>
                  </a:lnTo>
                  <a:lnTo>
                    <a:pt x="25383" y="21885"/>
                  </a:lnTo>
                  <a:lnTo>
                    <a:pt x="25314" y="21493"/>
                  </a:lnTo>
                  <a:close/>
                </a:path>
                <a:path w="43179" h="35560">
                  <a:moveTo>
                    <a:pt x="26114" y="26107"/>
                  </a:moveTo>
                  <a:lnTo>
                    <a:pt x="25933" y="26274"/>
                  </a:lnTo>
                  <a:lnTo>
                    <a:pt x="24484" y="28116"/>
                  </a:lnTo>
                  <a:lnTo>
                    <a:pt x="23797" y="28116"/>
                  </a:lnTo>
                  <a:lnTo>
                    <a:pt x="21313" y="28527"/>
                  </a:lnTo>
                  <a:lnTo>
                    <a:pt x="25054" y="28527"/>
                  </a:lnTo>
                  <a:lnTo>
                    <a:pt x="26047" y="26815"/>
                  </a:lnTo>
                  <a:lnTo>
                    <a:pt x="26114" y="26107"/>
                  </a:lnTo>
                  <a:close/>
                </a:path>
                <a:path w="43179" h="35560">
                  <a:moveTo>
                    <a:pt x="21868" y="24210"/>
                  </a:moveTo>
                  <a:lnTo>
                    <a:pt x="12854" y="24210"/>
                  </a:lnTo>
                  <a:lnTo>
                    <a:pt x="18869" y="28116"/>
                  </a:lnTo>
                  <a:lnTo>
                    <a:pt x="20946" y="26815"/>
                  </a:lnTo>
                  <a:lnTo>
                    <a:pt x="21533" y="26815"/>
                  </a:lnTo>
                  <a:lnTo>
                    <a:pt x="21624" y="26107"/>
                  </a:lnTo>
                  <a:lnTo>
                    <a:pt x="21686" y="25623"/>
                  </a:lnTo>
                  <a:lnTo>
                    <a:pt x="21790" y="24811"/>
                  </a:lnTo>
                  <a:lnTo>
                    <a:pt x="21868" y="24210"/>
                  </a:lnTo>
                  <a:close/>
                </a:path>
                <a:path w="43179" h="35560">
                  <a:moveTo>
                    <a:pt x="35289" y="13370"/>
                  </a:moveTo>
                  <a:lnTo>
                    <a:pt x="26316" y="13370"/>
                  </a:lnTo>
                  <a:lnTo>
                    <a:pt x="28784" y="14801"/>
                  </a:lnTo>
                  <a:lnTo>
                    <a:pt x="30160" y="19977"/>
                  </a:lnTo>
                  <a:lnTo>
                    <a:pt x="30013" y="19977"/>
                  </a:lnTo>
                  <a:lnTo>
                    <a:pt x="27209" y="24811"/>
                  </a:lnTo>
                  <a:lnTo>
                    <a:pt x="29970" y="24811"/>
                  </a:lnTo>
                  <a:lnTo>
                    <a:pt x="32399" y="25762"/>
                  </a:lnTo>
                  <a:lnTo>
                    <a:pt x="38038" y="28116"/>
                  </a:lnTo>
                  <a:lnTo>
                    <a:pt x="37685" y="28116"/>
                  </a:lnTo>
                  <a:lnTo>
                    <a:pt x="40851" y="26815"/>
                  </a:lnTo>
                  <a:lnTo>
                    <a:pt x="41315" y="25762"/>
                  </a:lnTo>
                  <a:lnTo>
                    <a:pt x="42740" y="22348"/>
                  </a:lnTo>
                  <a:lnTo>
                    <a:pt x="42641" y="21493"/>
                  </a:lnTo>
                  <a:lnTo>
                    <a:pt x="42583" y="21209"/>
                  </a:lnTo>
                  <a:lnTo>
                    <a:pt x="42480" y="20703"/>
                  </a:lnTo>
                  <a:lnTo>
                    <a:pt x="42398" y="20302"/>
                  </a:lnTo>
                  <a:lnTo>
                    <a:pt x="42332" y="19977"/>
                  </a:lnTo>
                  <a:lnTo>
                    <a:pt x="37452" y="15219"/>
                  </a:lnTo>
                  <a:lnTo>
                    <a:pt x="35289" y="13370"/>
                  </a:lnTo>
                  <a:close/>
                </a:path>
                <a:path w="43179" h="35560">
                  <a:moveTo>
                    <a:pt x="8493" y="26274"/>
                  </a:moveTo>
                  <a:lnTo>
                    <a:pt x="7528" y="26274"/>
                  </a:lnTo>
                  <a:lnTo>
                    <a:pt x="9885" y="26815"/>
                  </a:lnTo>
                  <a:lnTo>
                    <a:pt x="8603" y="26815"/>
                  </a:lnTo>
                  <a:lnTo>
                    <a:pt x="8493" y="26274"/>
                  </a:lnTo>
                  <a:close/>
                </a:path>
                <a:path w="43179" h="35560">
                  <a:moveTo>
                    <a:pt x="24210" y="15219"/>
                  </a:moveTo>
                  <a:lnTo>
                    <a:pt x="19273" y="18750"/>
                  </a:lnTo>
                  <a:lnTo>
                    <a:pt x="19338" y="19499"/>
                  </a:lnTo>
                  <a:lnTo>
                    <a:pt x="22119" y="24210"/>
                  </a:lnTo>
                  <a:lnTo>
                    <a:pt x="21868" y="24210"/>
                  </a:lnTo>
                  <a:lnTo>
                    <a:pt x="21790" y="24811"/>
                  </a:lnTo>
                  <a:lnTo>
                    <a:pt x="21686" y="25623"/>
                  </a:lnTo>
                  <a:lnTo>
                    <a:pt x="21624" y="26107"/>
                  </a:lnTo>
                  <a:lnTo>
                    <a:pt x="21533" y="26815"/>
                  </a:lnTo>
                  <a:lnTo>
                    <a:pt x="20946" y="26815"/>
                  </a:lnTo>
                  <a:lnTo>
                    <a:pt x="22076" y="26107"/>
                  </a:lnTo>
                  <a:lnTo>
                    <a:pt x="22628" y="25623"/>
                  </a:lnTo>
                  <a:lnTo>
                    <a:pt x="22776" y="25119"/>
                  </a:lnTo>
                  <a:lnTo>
                    <a:pt x="23411" y="22348"/>
                  </a:lnTo>
                  <a:lnTo>
                    <a:pt x="23517" y="21885"/>
                  </a:lnTo>
                  <a:lnTo>
                    <a:pt x="23607" y="21493"/>
                  </a:lnTo>
                  <a:lnTo>
                    <a:pt x="23672" y="21209"/>
                  </a:lnTo>
                  <a:lnTo>
                    <a:pt x="23788" y="20703"/>
                  </a:lnTo>
                  <a:lnTo>
                    <a:pt x="23885" y="19977"/>
                  </a:lnTo>
                  <a:lnTo>
                    <a:pt x="23997" y="19128"/>
                  </a:lnTo>
                  <a:lnTo>
                    <a:pt x="24099" y="18365"/>
                  </a:lnTo>
                  <a:lnTo>
                    <a:pt x="24199" y="17606"/>
                  </a:lnTo>
                  <a:lnTo>
                    <a:pt x="24258" y="17164"/>
                  </a:lnTo>
                  <a:lnTo>
                    <a:pt x="24378" y="16258"/>
                  </a:lnTo>
                  <a:lnTo>
                    <a:pt x="24446" y="15746"/>
                  </a:lnTo>
                  <a:lnTo>
                    <a:pt x="24046" y="15746"/>
                  </a:lnTo>
                  <a:lnTo>
                    <a:pt x="24346" y="15396"/>
                  </a:lnTo>
                  <a:lnTo>
                    <a:pt x="24210" y="15219"/>
                  </a:lnTo>
                  <a:close/>
                </a:path>
                <a:path w="43179" h="35560">
                  <a:moveTo>
                    <a:pt x="27209" y="24811"/>
                  </a:moveTo>
                  <a:lnTo>
                    <a:pt x="26842" y="25119"/>
                  </a:lnTo>
                  <a:lnTo>
                    <a:pt x="26445" y="25623"/>
                  </a:lnTo>
                  <a:lnTo>
                    <a:pt x="26114" y="26107"/>
                  </a:lnTo>
                  <a:lnTo>
                    <a:pt x="26062" y="26815"/>
                  </a:lnTo>
                  <a:lnTo>
                    <a:pt x="27209" y="24811"/>
                  </a:lnTo>
                  <a:close/>
                </a:path>
                <a:path w="43179" h="35560">
                  <a:moveTo>
                    <a:pt x="8692" y="9047"/>
                  </a:moveTo>
                  <a:lnTo>
                    <a:pt x="8543" y="9696"/>
                  </a:lnTo>
                  <a:lnTo>
                    <a:pt x="8430" y="10186"/>
                  </a:lnTo>
                  <a:lnTo>
                    <a:pt x="8324" y="10646"/>
                  </a:lnTo>
                  <a:lnTo>
                    <a:pt x="8251" y="10964"/>
                  </a:lnTo>
                  <a:lnTo>
                    <a:pt x="8196" y="11205"/>
                  </a:lnTo>
                  <a:lnTo>
                    <a:pt x="8099" y="11627"/>
                  </a:lnTo>
                  <a:lnTo>
                    <a:pt x="8021" y="11969"/>
                  </a:lnTo>
                  <a:lnTo>
                    <a:pt x="7948" y="12283"/>
                  </a:lnTo>
                  <a:lnTo>
                    <a:pt x="7891" y="12533"/>
                  </a:lnTo>
                  <a:lnTo>
                    <a:pt x="7819" y="12984"/>
                  </a:lnTo>
                  <a:lnTo>
                    <a:pt x="6828" y="17164"/>
                  </a:lnTo>
                  <a:lnTo>
                    <a:pt x="6726" y="17606"/>
                  </a:lnTo>
                  <a:lnTo>
                    <a:pt x="6642" y="17970"/>
                  </a:lnTo>
                  <a:lnTo>
                    <a:pt x="6552" y="18365"/>
                  </a:lnTo>
                  <a:lnTo>
                    <a:pt x="6500" y="18591"/>
                  </a:lnTo>
                  <a:lnTo>
                    <a:pt x="6376" y="19128"/>
                  </a:lnTo>
                  <a:lnTo>
                    <a:pt x="6291" y="19499"/>
                  </a:lnTo>
                  <a:lnTo>
                    <a:pt x="6181" y="19977"/>
                  </a:lnTo>
                  <a:lnTo>
                    <a:pt x="6107" y="20302"/>
                  </a:lnTo>
                  <a:lnTo>
                    <a:pt x="6015" y="20703"/>
                  </a:lnTo>
                  <a:lnTo>
                    <a:pt x="5899" y="21209"/>
                  </a:lnTo>
                  <a:lnTo>
                    <a:pt x="5867" y="22083"/>
                  </a:lnTo>
                  <a:lnTo>
                    <a:pt x="8388" y="26107"/>
                  </a:lnTo>
                  <a:lnTo>
                    <a:pt x="8360" y="25623"/>
                  </a:lnTo>
                  <a:lnTo>
                    <a:pt x="8258" y="25119"/>
                  </a:lnTo>
                  <a:lnTo>
                    <a:pt x="8195" y="24811"/>
                  </a:lnTo>
                  <a:lnTo>
                    <a:pt x="8073" y="24210"/>
                  </a:lnTo>
                  <a:lnTo>
                    <a:pt x="7929" y="24210"/>
                  </a:lnTo>
                  <a:lnTo>
                    <a:pt x="8640" y="23136"/>
                  </a:lnTo>
                  <a:lnTo>
                    <a:pt x="8565" y="21209"/>
                  </a:lnTo>
                  <a:lnTo>
                    <a:pt x="6515" y="20703"/>
                  </a:lnTo>
                  <a:lnTo>
                    <a:pt x="8570" y="20703"/>
                  </a:lnTo>
                  <a:lnTo>
                    <a:pt x="8636" y="14418"/>
                  </a:lnTo>
                  <a:lnTo>
                    <a:pt x="8370" y="14180"/>
                  </a:lnTo>
                  <a:lnTo>
                    <a:pt x="7956" y="13518"/>
                  </a:lnTo>
                  <a:lnTo>
                    <a:pt x="7863" y="13370"/>
                  </a:lnTo>
                  <a:lnTo>
                    <a:pt x="8647" y="13370"/>
                  </a:lnTo>
                  <a:lnTo>
                    <a:pt x="8654" y="12701"/>
                  </a:lnTo>
                  <a:lnTo>
                    <a:pt x="8051" y="12701"/>
                  </a:lnTo>
                  <a:lnTo>
                    <a:pt x="8658" y="12283"/>
                  </a:lnTo>
                  <a:lnTo>
                    <a:pt x="8692" y="9047"/>
                  </a:lnTo>
                  <a:close/>
                </a:path>
                <a:path w="43179" h="35560">
                  <a:moveTo>
                    <a:pt x="22660" y="25623"/>
                  </a:moveTo>
                  <a:lnTo>
                    <a:pt x="22487" y="25762"/>
                  </a:lnTo>
                  <a:lnTo>
                    <a:pt x="22135" y="26107"/>
                  </a:lnTo>
                  <a:lnTo>
                    <a:pt x="22626" y="25762"/>
                  </a:lnTo>
                  <a:lnTo>
                    <a:pt x="22660" y="25623"/>
                  </a:lnTo>
                  <a:close/>
                </a:path>
                <a:path w="43179" h="35560">
                  <a:moveTo>
                    <a:pt x="27562" y="9826"/>
                  </a:moveTo>
                  <a:lnTo>
                    <a:pt x="27566" y="11627"/>
                  </a:lnTo>
                  <a:lnTo>
                    <a:pt x="25385" y="14180"/>
                  </a:lnTo>
                  <a:lnTo>
                    <a:pt x="25461" y="22083"/>
                  </a:lnTo>
                  <a:lnTo>
                    <a:pt x="25807" y="22957"/>
                  </a:lnTo>
                  <a:lnTo>
                    <a:pt x="26256" y="24210"/>
                  </a:lnTo>
                  <a:lnTo>
                    <a:pt x="26211" y="24811"/>
                  </a:lnTo>
                  <a:lnTo>
                    <a:pt x="26114" y="26107"/>
                  </a:lnTo>
                  <a:lnTo>
                    <a:pt x="26336" y="25762"/>
                  </a:lnTo>
                  <a:lnTo>
                    <a:pt x="27558" y="24210"/>
                  </a:lnTo>
                  <a:lnTo>
                    <a:pt x="30013" y="19977"/>
                  </a:lnTo>
                  <a:lnTo>
                    <a:pt x="30160" y="19977"/>
                  </a:lnTo>
                  <a:lnTo>
                    <a:pt x="29171" y="16258"/>
                  </a:lnTo>
                  <a:lnTo>
                    <a:pt x="29108" y="16020"/>
                  </a:lnTo>
                  <a:lnTo>
                    <a:pt x="28985" y="15560"/>
                  </a:lnTo>
                  <a:lnTo>
                    <a:pt x="28895" y="15219"/>
                  </a:lnTo>
                  <a:lnTo>
                    <a:pt x="28784" y="14801"/>
                  </a:lnTo>
                  <a:lnTo>
                    <a:pt x="26316" y="13370"/>
                  </a:lnTo>
                  <a:lnTo>
                    <a:pt x="35289" y="13370"/>
                  </a:lnTo>
                  <a:lnTo>
                    <a:pt x="33650" y="11969"/>
                  </a:lnTo>
                  <a:lnTo>
                    <a:pt x="27562" y="9826"/>
                  </a:lnTo>
                  <a:close/>
                </a:path>
                <a:path w="43179" h="35560">
                  <a:moveTo>
                    <a:pt x="23631" y="21885"/>
                  </a:moveTo>
                  <a:lnTo>
                    <a:pt x="23472" y="22083"/>
                  </a:lnTo>
                  <a:lnTo>
                    <a:pt x="22846" y="24811"/>
                  </a:lnTo>
                  <a:lnTo>
                    <a:pt x="22776" y="25119"/>
                  </a:lnTo>
                  <a:lnTo>
                    <a:pt x="22660" y="25623"/>
                  </a:lnTo>
                  <a:lnTo>
                    <a:pt x="23143" y="25119"/>
                  </a:lnTo>
                  <a:lnTo>
                    <a:pt x="23464" y="23136"/>
                  </a:lnTo>
                  <a:lnTo>
                    <a:pt x="23570" y="22348"/>
                  </a:lnTo>
                  <a:lnTo>
                    <a:pt x="23631" y="21885"/>
                  </a:lnTo>
                  <a:close/>
                </a:path>
                <a:path w="43179" h="35560">
                  <a:moveTo>
                    <a:pt x="25181" y="14418"/>
                  </a:moveTo>
                  <a:lnTo>
                    <a:pt x="24516" y="15219"/>
                  </a:lnTo>
                  <a:lnTo>
                    <a:pt x="23290" y="24210"/>
                  </a:lnTo>
                  <a:lnTo>
                    <a:pt x="23193" y="24811"/>
                  </a:lnTo>
                  <a:lnTo>
                    <a:pt x="23143" y="25119"/>
                  </a:lnTo>
                  <a:lnTo>
                    <a:pt x="25169" y="23136"/>
                  </a:lnTo>
                  <a:lnTo>
                    <a:pt x="25181" y="14418"/>
                  </a:lnTo>
                  <a:close/>
                </a:path>
                <a:path w="43179" h="35560">
                  <a:moveTo>
                    <a:pt x="18783" y="14418"/>
                  </a:moveTo>
                  <a:lnTo>
                    <a:pt x="18665" y="14601"/>
                  </a:lnTo>
                  <a:lnTo>
                    <a:pt x="18539" y="15396"/>
                  </a:lnTo>
                  <a:lnTo>
                    <a:pt x="18105" y="17164"/>
                  </a:lnTo>
                  <a:lnTo>
                    <a:pt x="17996" y="17606"/>
                  </a:lnTo>
                  <a:lnTo>
                    <a:pt x="17907" y="17970"/>
                  </a:lnTo>
                  <a:lnTo>
                    <a:pt x="17810" y="18365"/>
                  </a:lnTo>
                  <a:lnTo>
                    <a:pt x="17715" y="18750"/>
                  </a:lnTo>
                  <a:lnTo>
                    <a:pt x="17622" y="19128"/>
                  </a:lnTo>
                  <a:lnTo>
                    <a:pt x="17531" y="19499"/>
                  </a:lnTo>
                  <a:lnTo>
                    <a:pt x="17414" y="19977"/>
                  </a:lnTo>
                  <a:lnTo>
                    <a:pt x="17123" y="19977"/>
                  </a:lnTo>
                  <a:lnTo>
                    <a:pt x="13208" y="22348"/>
                  </a:lnTo>
                  <a:lnTo>
                    <a:pt x="12186" y="22348"/>
                  </a:lnTo>
                  <a:lnTo>
                    <a:pt x="12582" y="24210"/>
                  </a:lnTo>
                  <a:lnTo>
                    <a:pt x="22119" y="24210"/>
                  </a:lnTo>
                  <a:lnTo>
                    <a:pt x="21020" y="22348"/>
                  </a:lnTo>
                  <a:lnTo>
                    <a:pt x="13208" y="22348"/>
                  </a:lnTo>
                  <a:lnTo>
                    <a:pt x="12130" y="22083"/>
                  </a:lnTo>
                  <a:lnTo>
                    <a:pt x="20864" y="22083"/>
                  </a:lnTo>
                  <a:lnTo>
                    <a:pt x="19338" y="19499"/>
                  </a:lnTo>
                  <a:lnTo>
                    <a:pt x="19306" y="19128"/>
                  </a:lnTo>
                  <a:lnTo>
                    <a:pt x="17142" y="19128"/>
                  </a:lnTo>
                  <a:lnTo>
                    <a:pt x="19273" y="18750"/>
                  </a:lnTo>
                  <a:lnTo>
                    <a:pt x="18922" y="16258"/>
                  </a:lnTo>
                  <a:lnTo>
                    <a:pt x="18807" y="14801"/>
                  </a:lnTo>
                  <a:lnTo>
                    <a:pt x="18783" y="14418"/>
                  </a:lnTo>
                  <a:close/>
                </a:path>
                <a:path w="43179" h="35560">
                  <a:moveTo>
                    <a:pt x="8573" y="21209"/>
                  </a:moveTo>
                  <a:lnTo>
                    <a:pt x="8547" y="22957"/>
                  </a:lnTo>
                  <a:lnTo>
                    <a:pt x="8722" y="23136"/>
                  </a:lnTo>
                  <a:lnTo>
                    <a:pt x="8758" y="22957"/>
                  </a:lnTo>
                  <a:lnTo>
                    <a:pt x="9727" y="21493"/>
                  </a:lnTo>
                  <a:lnTo>
                    <a:pt x="8573" y="21209"/>
                  </a:lnTo>
                  <a:close/>
                </a:path>
                <a:path w="43179" h="35560">
                  <a:moveTo>
                    <a:pt x="16922" y="10646"/>
                  </a:moveTo>
                  <a:lnTo>
                    <a:pt x="12102" y="17970"/>
                  </a:lnTo>
                  <a:lnTo>
                    <a:pt x="17142" y="19128"/>
                  </a:lnTo>
                  <a:lnTo>
                    <a:pt x="11502" y="19128"/>
                  </a:lnTo>
                  <a:lnTo>
                    <a:pt x="11580" y="19499"/>
                  </a:lnTo>
                  <a:lnTo>
                    <a:pt x="11682" y="19977"/>
                  </a:lnTo>
                  <a:lnTo>
                    <a:pt x="11751" y="20302"/>
                  </a:lnTo>
                  <a:lnTo>
                    <a:pt x="11836" y="20703"/>
                  </a:lnTo>
                  <a:lnTo>
                    <a:pt x="11944" y="21209"/>
                  </a:lnTo>
                  <a:lnTo>
                    <a:pt x="12004" y="21493"/>
                  </a:lnTo>
                  <a:lnTo>
                    <a:pt x="12130" y="22083"/>
                  </a:lnTo>
                  <a:lnTo>
                    <a:pt x="13208" y="22348"/>
                  </a:lnTo>
                  <a:lnTo>
                    <a:pt x="17123" y="19977"/>
                  </a:lnTo>
                  <a:lnTo>
                    <a:pt x="17414" y="19977"/>
                  </a:lnTo>
                  <a:lnTo>
                    <a:pt x="18328" y="16258"/>
                  </a:lnTo>
                  <a:lnTo>
                    <a:pt x="18453" y="15746"/>
                  </a:lnTo>
                  <a:lnTo>
                    <a:pt x="18539" y="15396"/>
                  </a:lnTo>
                  <a:lnTo>
                    <a:pt x="18621" y="11627"/>
                  </a:lnTo>
                  <a:lnTo>
                    <a:pt x="15755" y="11627"/>
                  </a:lnTo>
                  <a:lnTo>
                    <a:pt x="18582" y="10964"/>
                  </a:lnTo>
                  <a:lnTo>
                    <a:pt x="19316" y="10964"/>
                  </a:lnTo>
                  <a:lnTo>
                    <a:pt x="16922" y="10646"/>
                  </a:lnTo>
                  <a:close/>
                </a:path>
                <a:path w="43179" h="35560">
                  <a:moveTo>
                    <a:pt x="12102" y="17970"/>
                  </a:moveTo>
                  <a:lnTo>
                    <a:pt x="11693" y="18591"/>
                  </a:lnTo>
                  <a:lnTo>
                    <a:pt x="11292" y="19128"/>
                  </a:lnTo>
                  <a:lnTo>
                    <a:pt x="9727" y="21493"/>
                  </a:lnTo>
                  <a:lnTo>
                    <a:pt x="12130" y="22083"/>
                  </a:lnTo>
                  <a:lnTo>
                    <a:pt x="12004" y="21493"/>
                  </a:lnTo>
                  <a:lnTo>
                    <a:pt x="11944" y="21209"/>
                  </a:lnTo>
                  <a:lnTo>
                    <a:pt x="11836" y="20703"/>
                  </a:lnTo>
                  <a:lnTo>
                    <a:pt x="11751" y="20302"/>
                  </a:lnTo>
                  <a:lnTo>
                    <a:pt x="11682" y="19977"/>
                  </a:lnTo>
                  <a:lnTo>
                    <a:pt x="11580" y="19499"/>
                  </a:lnTo>
                  <a:lnTo>
                    <a:pt x="11502" y="19128"/>
                  </a:lnTo>
                  <a:lnTo>
                    <a:pt x="17142" y="19128"/>
                  </a:lnTo>
                  <a:lnTo>
                    <a:pt x="12102" y="17970"/>
                  </a:lnTo>
                  <a:close/>
                </a:path>
                <a:path w="43179" h="35560">
                  <a:moveTo>
                    <a:pt x="8760" y="14801"/>
                  </a:moveTo>
                  <a:lnTo>
                    <a:pt x="8629" y="15219"/>
                  </a:lnTo>
                  <a:lnTo>
                    <a:pt x="8573" y="21209"/>
                  </a:lnTo>
                  <a:lnTo>
                    <a:pt x="9727" y="21493"/>
                  </a:lnTo>
                  <a:lnTo>
                    <a:pt x="12058" y="17970"/>
                  </a:lnTo>
                  <a:lnTo>
                    <a:pt x="10516" y="17606"/>
                  </a:lnTo>
                  <a:lnTo>
                    <a:pt x="8760" y="14801"/>
                  </a:lnTo>
                  <a:close/>
                </a:path>
                <a:path w="43179" h="35560">
                  <a:moveTo>
                    <a:pt x="8570" y="20703"/>
                  </a:moveTo>
                  <a:lnTo>
                    <a:pt x="6515" y="20703"/>
                  </a:lnTo>
                  <a:lnTo>
                    <a:pt x="8573" y="21209"/>
                  </a:lnTo>
                  <a:lnTo>
                    <a:pt x="8570" y="20703"/>
                  </a:lnTo>
                  <a:close/>
                </a:path>
                <a:path w="43179" h="35560">
                  <a:moveTo>
                    <a:pt x="6376" y="19128"/>
                  </a:moveTo>
                  <a:lnTo>
                    <a:pt x="4083" y="19128"/>
                  </a:lnTo>
                  <a:lnTo>
                    <a:pt x="4597" y="19977"/>
                  </a:lnTo>
                  <a:lnTo>
                    <a:pt x="4881" y="20302"/>
                  </a:lnTo>
                  <a:lnTo>
                    <a:pt x="6515" y="20703"/>
                  </a:lnTo>
                  <a:lnTo>
                    <a:pt x="6015" y="20703"/>
                  </a:lnTo>
                  <a:lnTo>
                    <a:pt x="6107" y="20302"/>
                  </a:lnTo>
                  <a:lnTo>
                    <a:pt x="6181" y="19977"/>
                  </a:lnTo>
                  <a:lnTo>
                    <a:pt x="6291" y="19499"/>
                  </a:lnTo>
                  <a:lnTo>
                    <a:pt x="6376" y="19128"/>
                  </a:lnTo>
                  <a:close/>
                </a:path>
                <a:path w="43179" h="35560">
                  <a:moveTo>
                    <a:pt x="14745" y="5583"/>
                  </a:moveTo>
                  <a:lnTo>
                    <a:pt x="7105" y="6028"/>
                  </a:lnTo>
                  <a:lnTo>
                    <a:pt x="4273" y="8274"/>
                  </a:lnTo>
                  <a:lnTo>
                    <a:pt x="3571" y="10646"/>
                  </a:lnTo>
                  <a:lnTo>
                    <a:pt x="3477" y="10964"/>
                  </a:lnTo>
                  <a:lnTo>
                    <a:pt x="3406" y="11205"/>
                  </a:lnTo>
                  <a:lnTo>
                    <a:pt x="3281" y="11627"/>
                  </a:lnTo>
                  <a:lnTo>
                    <a:pt x="3197" y="11969"/>
                  </a:lnTo>
                  <a:lnTo>
                    <a:pt x="3120" y="12283"/>
                  </a:lnTo>
                  <a:lnTo>
                    <a:pt x="3058" y="12533"/>
                  </a:lnTo>
                  <a:lnTo>
                    <a:pt x="2947" y="12984"/>
                  </a:lnTo>
                  <a:lnTo>
                    <a:pt x="2852" y="13370"/>
                  </a:lnTo>
                  <a:lnTo>
                    <a:pt x="2737" y="13841"/>
                  </a:lnTo>
                  <a:lnTo>
                    <a:pt x="2654" y="14180"/>
                  </a:lnTo>
                  <a:lnTo>
                    <a:pt x="2595" y="14418"/>
                  </a:lnTo>
                  <a:lnTo>
                    <a:pt x="2501" y="14801"/>
                  </a:lnTo>
                  <a:lnTo>
                    <a:pt x="2398" y="15219"/>
                  </a:lnTo>
                  <a:lnTo>
                    <a:pt x="2314" y="15560"/>
                  </a:lnTo>
                  <a:lnTo>
                    <a:pt x="2201" y="16020"/>
                  </a:lnTo>
                  <a:lnTo>
                    <a:pt x="4083" y="19128"/>
                  </a:lnTo>
                  <a:lnTo>
                    <a:pt x="3765" y="19128"/>
                  </a:lnTo>
                  <a:lnTo>
                    <a:pt x="6828" y="17164"/>
                  </a:lnTo>
                  <a:lnTo>
                    <a:pt x="8692" y="9047"/>
                  </a:lnTo>
                  <a:lnTo>
                    <a:pt x="8723" y="6028"/>
                  </a:lnTo>
                  <a:lnTo>
                    <a:pt x="15244" y="6028"/>
                  </a:lnTo>
                  <a:lnTo>
                    <a:pt x="14745" y="5583"/>
                  </a:lnTo>
                  <a:close/>
                </a:path>
                <a:path w="43179" h="35560">
                  <a:moveTo>
                    <a:pt x="19273" y="18750"/>
                  </a:moveTo>
                  <a:lnTo>
                    <a:pt x="17142" y="19128"/>
                  </a:lnTo>
                  <a:lnTo>
                    <a:pt x="19306" y="19128"/>
                  </a:lnTo>
                  <a:lnTo>
                    <a:pt x="19273" y="18750"/>
                  </a:lnTo>
                  <a:close/>
                </a:path>
                <a:path w="43179" h="35560">
                  <a:moveTo>
                    <a:pt x="18769" y="14180"/>
                  </a:moveTo>
                  <a:lnTo>
                    <a:pt x="18807" y="14801"/>
                  </a:lnTo>
                  <a:lnTo>
                    <a:pt x="18922" y="16258"/>
                  </a:lnTo>
                  <a:lnTo>
                    <a:pt x="19053" y="17164"/>
                  </a:lnTo>
                  <a:lnTo>
                    <a:pt x="19169" y="17970"/>
                  </a:lnTo>
                  <a:lnTo>
                    <a:pt x="19273" y="18750"/>
                  </a:lnTo>
                  <a:lnTo>
                    <a:pt x="19635" y="18591"/>
                  </a:lnTo>
                  <a:lnTo>
                    <a:pt x="21146" y="17606"/>
                  </a:lnTo>
                  <a:lnTo>
                    <a:pt x="21788" y="17164"/>
                  </a:lnTo>
                  <a:lnTo>
                    <a:pt x="23232" y="16020"/>
                  </a:lnTo>
                  <a:lnTo>
                    <a:pt x="20924" y="16020"/>
                  </a:lnTo>
                  <a:lnTo>
                    <a:pt x="18769" y="14180"/>
                  </a:lnTo>
                  <a:close/>
                </a:path>
                <a:path w="43179" h="35560">
                  <a:moveTo>
                    <a:pt x="13459" y="10186"/>
                  </a:moveTo>
                  <a:lnTo>
                    <a:pt x="12298" y="10186"/>
                  </a:lnTo>
                  <a:lnTo>
                    <a:pt x="8642" y="13841"/>
                  </a:lnTo>
                  <a:lnTo>
                    <a:pt x="8760" y="14801"/>
                  </a:lnTo>
                  <a:lnTo>
                    <a:pt x="10516" y="17606"/>
                  </a:lnTo>
                  <a:lnTo>
                    <a:pt x="12102" y="17970"/>
                  </a:lnTo>
                  <a:lnTo>
                    <a:pt x="12299" y="17606"/>
                  </a:lnTo>
                  <a:lnTo>
                    <a:pt x="16922" y="10646"/>
                  </a:lnTo>
                  <a:lnTo>
                    <a:pt x="13459" y="10186"/>
                  </a:lnTo>
                  <a:close/>
                </a:path>
                <a:path w="43179" h="35560">
                  <a:moveTo>
                    <a:pt x="25185" y="10186"/>
                  </a:moveTo>
                  <a:lnTo>
                    <a:pt x="21899" y="10186"/>
                  </a:lnTo>
                  <a:lnTo>
                    <a:pt x="18582" y="10964"/>
                  </a:lnTo>
                  <a:lnTo>
                    <a:pt x="18659" y="12283"/>
                  </a:lnTo>
                  <a:lnTo>
                    <a:pt x="18769" y="14180"/>
                  </a:lnTo>
                  <a:lnTo>
                    <a:pt x="20924" y="16020"/>
                  </a:lnTo>
                  <a:lnTo>
                    <a:pt x="20082" y="16020"/>
                  </a:lnTo>
                  <a:lnTo>
                    <a:pt x="23576" y="15746"/>
                  </a:lnTo>
                  <a:lnTo>
                    <a:pt x="24014" y="15396"/>
                  </a:lnTo>
                  <a:lnTo>
                    <a:pt x="24106" y="15219"/>
                  </a:lnTo>
                  <a:lnTo>
                    <a:pt x="23890" y="14801"/>
                  </a:lnTo>
                  <a:lnTo>
                    <a:pt x="21138" y="11205"/>
                  </a:lnTo>
                  <a:lnTo>
                    <a:pt x="19316" y="10964"/>
                  </a:lnTo>
                  <a:lnTo>
                    <a:pt x="22167" y="10964"/>
                  </a:lnTo>
                  <a:lnTo>
                    <a:pt x="21618" y="10646"/>
                  </a:lnTo>
                  <a:lnTo>
                    <a:pt x="25124" y="10646"/>
                  </a:lnTo>
                  <a:lnTo>
                    <a:pt x="25185" y="10186"/>
                  </a:lnTo>
                  <a:close/>
                </a:path>
                <a:path w="43179" h="35560">
                  <a:moveTo>
                    <a:pt x="23576" y="15746"/>
                  </a:moveTo>
                  <a:lnTo>
                    <a:pt x="20082" y="16020"/>
                  </a:lnTo>
                  <a:lnTo>
                    <a:pt x="23232" y="16020"/>
                  </a:lnTo>
                  <a:lnTo>
                    <a:pt x="23576" y="15746"/>
                  </a:lnTo>
                  <a:close/>
                </a:path>
                <a:path w="43179" h="35560">
                  <a:moveTo>
                    <a:pt x="24346" y="15396"/>
                  </a:moveTo>
                  <a:lnTo>
                    <a:pt x="24046" y="15746"/>
                  </a:lnTo>
                  <a:lnTo>
                    <a:pt x="24446" y="15746"/>
                  </a:lnTo>
                  <a:lnTo>
                    <a:pt x="24346" y="15396"/>
                  </a:lnTo>
                  <a:close/>
                </a:path>
                <a:path w="43179" h="35560">
                  <a:moveTo>
                    <a:pt x="24654" y="14180"/>
                  </a:moveTo>
                  <a:lnTo>
                    <a:pt x="24486" y="14418"/>
                  </a:lnTo>
                  <a:lnTo>
                    <a:pt x="24399" y="14601"/>
                  </a:lnTo>
                  <a:lnTo>
                    <a:pt x="24304" y="14801"/>
                  </a:lnTo>
                  <a:lnTo>
                    <a:pt x="24210" y="15219"/>
                  </a:lnTo>
                  <a:lnTo>
                    <a:pt x="24346" y="15396"/>
                  </a:lnTo>
                  <a:lnTo>
                    <a:pt x="24496" y="15219"/>
                  </a:lnTo>
                  <a:lnTo>
                    <a:pt x="24623" y="14418"/>
                  </a:lnTo>
                  <a:lnTo>
                    <a:pt x="24654" y="14180"/>
                  </a:lnTo>
                  <a:close/>
                </a:path>
                <a:path w="43179" h="35560">
                  <a:moveTo>
                    <a:pt x="22167" y="10964"/>
                  </a:moveTo>
                  <a:lnTo>
                    <a:pt x="19316" y="10964"/>
                  </a:lnTo>
                  <a:lnTo>
                    <a:pt x="21138" y="11205"/>
                  </a:lnTo>
                  <a:lnTo>
                    <a:pt x="24210" y="15219"/>
                  </a:lnTo>
                  <a:lnTo>
                    <a:pt x="24304" y="14801"/>
                  </a:lnTo>
                  <a:lnTo>
                    <a:pt x="24759" y="13841"/>
                  </a:lnTo>
                  <a:lnTo>
                    <a:pt x="24762" y="13370"/>
                  </a:lnTo>
                  <a:lnTo>
                    <a:pt x="22552" y="11205"/>
                  </a:lnTo>
                  <a:lnTo>
                    <a:pt x="22167" y="10964"/>
                  </a:lnTo>
                  <a:close/>
                </a:path>
                <a:path w="43179" h="35560">
                  <a:moveTo>
                    <a:pt x="24913" y="13518"/>
                  </a:moveTo>
                  <a:lnTo>
                    <a:pt x="24699" y="13841"/>
                  </a:lnTo>
                  <a:lnTo>
                    <a:pt x="24623" y="14418"/>
                  </a:lnTo>
                  <a:lnTo>
                    <a:pt x="24516" y="15219"/>
                  </a:lnTo>
                  <a:lnTo>
                    <a:pt x="25181" y="14418"/>
                  </a:lnTo>
                  <a:lnTo>
                    <a:pt x="25175" y="13841"/>
                  </a:lnTo>
                  <a:lnTo>
                    <a:pt x="24913" y="13518"/>
                  </a:lnTo>
                  <a:close/>
                </a:path>
                <a:path w="43179" h="35560">
                  <a:moveTo>
                    <a:pt x="8647" y="13370"/>
                  </a:moveTo>
                  <a:lnTo>
                    <a:pt x="7863" y="13370"/>
                  </a:lnTo>
                  <a:lnTo>
                    <a:pt x="8520" y="14418"/>
                  </a:lnTo>
                  <a:lnTo>
                    <a:pt x="8647" y="13370"/>
                  </a:lnTo>
                  <a:close/>
                </a:path>
                <a:path w="43179" h="35560">
                  <a:moveTo>
                    <a:pt x="25163" y="12701"/>
                  </a:moveTo>
                  <a:lnTo>
                    <a:pt x="25181" y="14418"/>
                  </a:lnTo>
                  <a:lnTo>
                    <a:pt x="25950" y="13518"/>
                  </a:lnTo>
                  <a:lnTo>
                    <a:pt x="26076" y="13370"/>
                  </a:lnTo>
                  <a:lnTo>
                    <a:pt x="26316" y="13370"/>
                  </a:lnTo>
                  <a:lnTo>
                    <a:pt x="25163" y="12701"/>
                  </a:lnTo>
                  <a:close/>
                </a:path>
                <a:path w="43179" h="35560">
                  <a:moveTo>
                    <a:pt x="18004" y="9826"/>
                  </a:moveTo>
                  <a:lnTo>
                    <a:pt x="12227" y="9826"/>
                  </a:lnTo>
                  <a:lnTo>
                    <a:pt x="8658" y="12283"/>
                  </a:lnTo>
                  <a:lnTo>
                    <a:pt x="8642" y="13841"/>
                  </a:lnTo>
                  <a:lnTo>
                    <a:pt x="12298" y="10186"/>
                  </a:lnTo>
                  <a:lnTo>
                    <a:pt x="16608" y="10186"/>
                  </a:lnTo>
                  <a:lnTo>
                    <a:pt x="18004" y="9826"/>
                  </a:lnTo>
                  <a:close/>
                </a:path>
                <a:path w="43179" h="35560">
                  <a:moveTo>
                    <a:pt x="24762" y="13370"/>
                  </a:moveTo>
                  <a:lnTo>
                    <a:pt x="24699" y="13841"/>
                  </a:lnTo>
                  <a:lnTo>
                    <a:pt x="24913" y="13518"/>
                  </a:lnTo>
                  <a:lnTo>
                    <a:pt x="24762" y="13370"/>
                  </a:lnTo>
                  <a:close/>
                </a:path>
                <a:path w="43179" h="35560">
                  <a:moveTo>
                    <a:pt x="25166" y="12984"/>
                  </a:moveTo>
                  <a:lnTo>
                    <a:pt x="24983" y="13370"/>
                  </a:lnTo>
                  <a:lnTo>
                    <a:pt x="24913" y="13518"/>
                  </a:lnTo>
                  <a:lnTo>
                    <a:pt x="25243" y="13841"/>
                  </a:lnTo>
                  <a:lnTo>
                    <a:pt x="25166" y="12984"/>
                  </a:lnTo>
                  <a:close/>
                </a:path>
                <a:path w="43179" h="35560">
                  <a:moveTo>
                    <a:pt x="24873" y="12533"/>
                  </a:moveTo>
                  <a:lnTo>
                    <a:pt x="24762" y="13370"/>
                  </a:lnTo>
                  <a:lnTo>
                    <a:pt x="24913" y="13518"/>
                  </a:lnTo>
                  <a:lnTo>
                    <a:pt x="25166" y="12984"/>
                  </a:lnTo>
                  <a:lnTo>
                    <a:pt x="25163" y="12701"/>
                  </a:lnTo>
                  <a:lnTo>
                    <a:pt x="24873" y="12533"/>
                  </a:lnTo>
                  <a:close/>
                </a:path>
                <a:path w="43179" h="35560">
                  <a:moveTo>
                    <a:pt x="22584" y="11205"/>
                  </a:moveTo>
                  <a:lnTo>
                    <a:pt x="22982" y="11627"/>
                  </a:lnTo>
                  <a:lnTo>
                    <a:pt x="24762" y="13370"/>
                  </a:lnTo>
                  <a:lnTo>
                    <a:pt x="24873" y="12533"/>
                  </a:lnTo>
                  <a:lnTo>
                    <a:pt x="22584" y="11205"/>
                  </a:lnTo>
                  <a:close/>
                </a:path>
                <a:path w="43179" h="35560">
                  <a:moveTo>
                    <a:pt x="25348" y="9047"/>
                  </a:moveTo>
                  <a:lnTo>
                    <a:pt x="25250" y="9696"/>
                  </a:lnTo>
                  <a:lnTo>
                    <a:pt x="25163" y="12701"/>
                  </a:lnTo>
                  <a:lnTo>
                    <a:pt x="26316" y="13370"/>
                  </a:lnTo>
                  <a:lnTo>
                    <a:pt x="26076" y="13370"/>
                  </a:lnTo>
                  <a:lnTo>
                    <a:pt x="27566" y="11627"/>
                  </a:lnTo>
                  <a:lnTo>
                    <a:pt x="27562" y="9826"/>
                  </a:lnTo>
                  <a:lnTo>
                    <a:pt x="25348" y="9047"/>
                  </a:lnTo>
                  <a:close/>
                </a:path>
                <a:path w="43179" h="35560">
                  <a:moveTo>
                    <a:pt x="8658" y="12283"/>
                  </a:moveTo>
                  <a:lnTo>
                    <a:pt x="8051" y="12701"/>
                  </a:lnTo>
                  <a:lnTo>
                    <a:pt x="8654" y="12701"/>
                  </a:lnTo>
                  <a:lnTo>
                    <a:pt x="8658" y="12283"/>
                  </a:lnTo>
                  <a:close/>
                </a:path>
                <a:path w="43179" h="35560">
                  <a:moveTo>
                    <a:pt x="25147" y="11205"/>
                  </a:moveTo>
                  <a:lnTo>
                    <a:pt x="24993" y="11627"/>
                  </a:lnTo>
                  <a:lnTo>
                    <a:pt x="24873" y="12533"/>
                  </a:lnTo>
                  <a:lnTo>
                    <a:pt x="25163" y="12701"/>
                  </a:lnTo>
                  <a:lnTo>
                    <a:pt x="25147" y="11205"/>
                  </a:lnTo>
                  <a:close/>
                </a:path>
                <a:path w="43179" h="35560">
                  <a:moveTo>
                    <a:pt x="25124" y="10646"/>
                  </a:moveTo>
                  <a:lnTo>
                    <a:pt x="21980" y="10646"/>
                  </a:lnTo>
                  <a:lnTo>
                    <a:pt x="22584" y="11205"/>
                  </a:lnTo>
                  <a:lnTo>
                    <a:pt x="24873" y="12533"/>
                  </a:lnTo>
                  <a:lnTo>
                    <a:pt x="24993" y="11627"/>
                  </a:lnTo>
                  <a:lnTo>
                    <a:pt x="25081" y="10964"/>
                  </a:lnTo>
                  <a:lnTo>
                    <a:pt x="25124" y="10646"/>
                  </a:lnTo>
                  <a:close/>
                </a:path>
                <a:path w="43179" h="35560">
                  <a:moveTo>
                    <a:pt x="15244" y="6028"/>
                  </a:moveTo>
                  <a:lnTo>
                    <a:pt x="9386" y="6028"/>
                  </a:lnTo>
                  <a:lnTo>
                    <a:pt x="8989" y="7755"/>
                  </a:lnTo>
                  <a:lnTo>
                    <a:pt x="8869" y="8274"/>
                  </a:lnTo>
                  <a:lnTo>
                    <a:pt x="8840" y="8404"/>
                  </a:lnTo>
                  <a:lnTo>
                    <a:pt x="8696" y="8683"/>
                  </a:lnTo>
                  <a:lnTo>
                    <a:pt x="8658" y="12283"/>
                  </a:lnTo>
                  <a:lnTo>
                    <a:pt x="11705" y="10186"/>
                  </a:lnTo>
                  <a:lnTo>
                    <a:pt x="13459" y="10186"/>
                  </a:lnTo>
                  <a:lnTo>
                    <a:pt x="10750" y="9826"/>
                  </a:lnTo>
                  <a:lnTo>
                    <a:pt x="18004" y="9826"/>
                  </a:lnTo>
                  <a:lnTo>
                    <a:pt x="18509" y="9696"/>
                  </a:lnTo>
                  <a:lnTo>
                    <a:pt x="18471" y="9047"/>
                  </a:lnTo>
                  <a:lnTo>
                    <a:pt x="18636" y="9047"/>
                  </a:lnTo>
                  <a:lnTo>
                    <a:pt x="15244" y="6028"/>
                  </a:lnTo>
                  <a:close/>
                </a:path>
                <a:path w="43179" h="35560">
                  <a:moveTo>
                    <a:pt x="18582" y="10964"/>
                  </a:moveTo>
                  <a:lnTo>
                    <a:pt x="15755" y="11627"/>
                  </a:lnTo>
                  <a:lnTo>
                    <a:pt x="18621" y="11627"/>
                  </a:lnTo>
                  <a:lnTo>
                    <a:pt x="18582" y="10964"/>
                  </a:lnTo>
                  <a:close/>
                </a:path>
                <a:path w="43179" h="35560">
                  <a:moveTo>
                    <a:pt x="21510" y="10186"/>
                  </a:moveTo>
                  <a:lnTo>
                    <a:pt x="20826" y="10186"/>
                  </a:lnTo>
                  <a:lnTo>
                    <a:pt x="22584" y="11205"/>
                  </a:lnTo>
                  <a:lnTo>
                    <a:pt x="22304" y="10964"/>
                  </a:lnTo>
                  <a:lnTo>
                    <a:pt x="21510" y="10186"/>
                  </a:lnTo>
                  <a:close/>
                </a:path>
                <a:path w="43179" h="35560">
                  <a:moveTo>
                    <a:pt x="18509" y="9696"/>
                  </a:moveTo>
                  <a:lnTo>
                    <a:pt x="16608" y="10186"/>
                  </a:lnTo>
                  <a:lnTo>
                    <a:pt x="17224" y="10186"/>
                  </a:lnTo>
                  <a:lnTo>
                    <a:pt x="16922" y="10646"/>
                  </a:lnTo>
                  <a:lnTo>
                    <a:pt x="19316" y="10964"/>
                  </a:lnTo>
                  <a:lnTo>
                    <a:pt x="18582" y="10964"/>
                  </a:lnTo>
                  <a:lnTo>
                    <a:pt x="18509" y="9696"/>
                  </a:lnTo>
                  <a:close/>
                </a:path>
                <a:path w="43179" h="35560">
                  <a:moveTo>
                    <a:pt x="23521" y="8404"/>
                  </a:moveTo>
                  <a:lnTo>
                    <a:pt x="18509" y="9696"/>
                  </a:lnTo>
                  <a:lnTo>
                    <a:pt x="18582" y="10964"/>
                  </a:lnTo>
                  <a:lnTo>
                    <a:pt x="19938" y="10646"/>
                  </a:lnTo>
                  <a:lnTo>
                    <a:pt x="21618" y="10646"/>
                  </a:lnTo>
                  <a:lnTo>
                    <a:pt x="20826" y="10186"/>
                  </a:lnTo>
                  <a:lnTo>
                    <a:pt x="25136" y="10186"/>
                  </a:lnTo>
                  <a:lnTo>
                    <a:pt x="25125" y="9047"/>
                  </a:lnTo>
                  <a:lnTo>
                    <a:pt x="25348" y="9047"/>
                  </a:lnTo>
                  <a:lnTo>
                    <a:pt x="23521" y="8404"/>
                  </a:lnTo>
                  <a:close/>
                </a:path>
                <a:path w="43179" h="35560">
                  <a:moveTo>
                    <a:pt x="17224" y="10186"/>
                  </a:moveTo>
                  <a:lnTo>
                    <a:pt x="13459" y="10186"/>
                  </a:lnTo>
                  <a:lnTo>
                    <a:pt x="16922" y="10646"/>
                  </a:lnTo>
                  <a:lnTo>
                    <a:pt x="17224" y="10186"/>
                  </a:lnTo>
                  <a:close/>
                </a:path>
                <a:path w="43179" h="35560">
                  <a:moveTo>
                    <a:pt x="21899" y="10186"/>
                  </a:moveTo>
                  <a:lnTo>
                    <a:pt x="21510" y="10186"/>
                  </a:lnTo>
                  <a:lnTo>
                    <a:pt x="21980" y="10646"/>
                  </a:lnTo>
                  <a:lnTo>
                    <a:pt x="19938" y="10646"/>
                  </a:lnTo>
                  <a:lnTo>
                    <a:pt x="21899" y="10186"/>
                  </a:lnTo>
                  <a:close/>
                </a:path>
                <a:path w="43179" h="35560">
                  <a:moveTo>
                    <a:pt x="12227" y="9826"/>
                  </a:moveTo>
                  <a:lnTo>
                    <a:pt x="10750" y="9826"/>
                  </a:lnTo>
                  <a:lnTo>
                    <a:pt x="13459" y="10186"/>
                  </a:lnTo>
                  <a:lnTo>
                    <a:pt x="11705" y="10186"/>
                  </a:lnTo>
                  <a:lnTo>
                    <a:pt x="12227" y="9826"/>
                  </a:lnTo>
                  <a:close/>
                </a:path>
                <a:path w="43179" h="35560">
                  <a:moveTo>
                    <a:pt x="25100" y="6028"/>
                  </a:moveTo>
                  <a:lnTo>
                    <a:pt x="25098" y="6512"/>
                  </a:lnTo>
                  <a:lnTo>
                    <a:pt x="25588" y="7151"/>
                  </a:lnTo>
                  <a:lnTo>
                    <a:pt x="25507" y="7755"/>
                  </a:lnTo>
                  <a:lnTo>
                    <a:pt x="25439" y="8274"/>
                  </a:lnTo>
                  <a:lnTo>
                    <a:pt x="25348" y="9047"/>
                  </a:lnTo>
                  <a:lnTo>
                    <a:pt x="27562" y="9826"/>
                  </a:lnTo>
                  <a:lnTo>
                    <a:pt x="27541" y="8683"/>
                  </a:lnTo>
                  <a:lnTo>
                    <a:pt x="25100" y="6028"/>
                  </a:lnTo>
                  <a:close/>
                </a:path>
                <a:path w="43179" h="35560">
                  <a:moveTo>
                    <a:pt x="18813" y="0"/>
                  </a:moveTo>
                  <a:lnTo>
                    <a:pt x="7831" y="679"/>
                  </a:lnTo>
                  <a:lnTo>
                    <a:pt x="4795" y="6028"/>
                  </a:lnTo>
                  <a:lnTo>
                    <a:pt x="4538" y="6512"/>
                  </a:lnTo>
                  <a:lnTo>
                    <a:pt x="3755" y="9696"/>
                  </a:lnTo>
                  <a:lnTo>
                    <a:pt x="4045" y="9047"/>
                  </a:lnTo>
                  <a:lnTo>
                    <a:pt x="4152" y="8683"/>
                  </a:lnTo>
                  <a:lnTo>
                    <a:pt x="4273" y="8274"/>
                  </a:lnTo>
                  <a:lnTo>
                    <a:pt x="7105" y="6028"/>
                  </a:lnTo>
                  <a:lnTo>
                    <a:pt x="8672" y="6028"/>
                  </a:lnTo>
                  <a:lnTo>
                    <a:pt x="9595" y="5104"/>
                  </a:lnTo>
                  <a:lnTo>
                    <a:pt x="9682" y="4735"/>
                  </a:lnTo>
                  <a:lnTo>
                    <a:pt x="9500" y="4735"/>
                  </a:lnTo>
                  <a:lnTo>
                    <a:pt x="11014" y="3685"/>
                  </a:lnTo>
                  <a:lnTo>
                    <a:pt x="12233" y="2466"/>
                  </a:lnTo>
                  <a:lnTo>
                    <a:pt x="12771" y="2466"/>
                  </a:lnTo>
                  <a:lnTo>
                    <a:pt x="13671" y="1842"/>
                  </a:lnTo>
                  <a:lnTo>
                    <a:pt x="20904" y="1842"/>
                  </a:lnTo>
                  <a:lnTo>
                    <a:pt x="18813" y="0"/>
                  </a:lnTo>
                  <a:close/>
                </a:path>
                <a:path w="43179" h="35560">
                  <a:moveTo>
                    <a:pt x="24218" y="5583"/>
                  </a:moveTo>
                  <a:lnTo>
                    <a:pt x="14745" y="5583"/>
                  </a:lnTo>
                  <a:lnTo>
                    <a:pt x="18636" y="9047"/>
                  </a:lnTo>
                  <a:lnTo>
                    <a:pt x="18471" y="9047"/>
                  </a:lnTo>
                  <a:lnTo>
                    <a:pt x="18509" y="9696"/>
                  </a:lnTo>
                  <a:lnTo>
                    <a:pt x="23521" y="8404"/>
                  </a:lnTo>
                  <a:lnTo>
                    <a:pt x="25118" y="8404"/>
                  </a:lnTo>
                  <a:lnTo>
                    <a:pt x="25111" y="7755"/>
                  </a:lnTo>
                  <a:lnTo>
                    <a:pt x="24218" y="5583"/>
                  </a:lnTo>
                  <a:close/>
                </a:path>
                <a:path w="43179" h="35560">
                  <a:moveTo>
                    <a:pt x="25098" y="6512"/>
                  </a:moveTo>
                  <a:lnTo>
                    <a:pt x="25131" y="9696"/>
                  </a:lnTo>
                  <a:lnTo>
                    <a:pt x="25336" y="9047"/>
                  </a:lnTo>
                  <a:lnTo>
                    <a:pt x="25439" y="8274"/>
                  </a:lnTo>
                  <a:lnTo>
                    <a:pt x="25507" y="7755"/>
                  </a:lnTo>
                  <a:lnTo>
                    <a:pt x="25588" y="7151"/>
                  </a:lnTo>
                  <a:lnTo>
                    <a:pt x="25098" y="6512"/>
                  </a:lnTo>
                  <a:close/>
                </a:path>
                <a:path w="43179" h="35560">
                  <a:moveTo>
                    <a:pt x="25118" y="8404"/>
                  </a:moveTo>
                  <a:lnTo>
                    <a:pt x="23521" y="8404"/>
                  </a:lnTo>
                  <a:lnTo>
                    <a:pt x="25348" y="9047"/>
                  </a:lnTo>
                  <a:lnTo>
                    <a:pt x="25125" y="9047"/>
                  </a:lnTo>
                  <a:lnTo>
                    <a:pt x="25118" y="8404"/>
                  </a:lnTo>
                  <a:close/>
                </a:path>
                <a:path w="43179" h="35560">
                  <a:moveTo>
                    <a:pt x="9597" y="5104"/>
                  </a:moveTo>
                  <a:lnTo>
                    <a:pt x="9116" y="5583"/>
                  </a:lnTo>
                  <a:lnTo>
                    <a:pt x="8723" y="6028"/>
                  </a:lnTo>
                  <a:lnTo>
                    <a:pt x="8696" y="8683"/>
                  </a:lnTo>
                  <a:lnTo>
                    <a:pt x="8839" y="8404"/>
                  </a:lnTo>
                  <a:lnTo>
                    <a:pt x="9274" y="6512"/>
                  </a:lnTo>
                  <a:lnTo>
                    <a:pt x="9385" y="6028"/>
                  </a:lnTo>
                  <a:lnTo>
                    <a:pt x="9487" y="5583"/>
                  </a:lnTo>
                  <a:lnTo>
                    <a:pt x="9597" y="5104"/>
                  </a:lnTo>
                  <a:close/>
                </a:path>
                <a:path w="43179" h="35560">
                  <a:moveTo>
                    <a:pt x="24021" y="5104"/>
                  </a:moveTo>
                  <a:lnTo>
                    <a:pt x="25111" y="7755"/>
                  </a:lnTo>
                  <a:lnTo>
                    <a:pt x="25098" y="6512"/>
                  </a:lnTo>
                  <a:lnTo>
                    <a:pt x="24021" y="5104"/>
                  </a:lnTo>
                  <a:close/>
                </a:path>
                <a:path w="43179" h="35560">
                  <a:moveTo>
                    <a:pt x="23738" y="4735"/>
                  </a:moveTo>
                  <a:lnTo>
                    <a:pt x="25098" y="6512"/>
                  </a:lnTo>
                  <a:lnTo>
                    <a:pt x="25093" y="6028"/>
                  </a:lnTo>
                  <a:lnTo>
                    <a:pt x="24251" y="5104"/>
                  </a:lnTo>
                  <a:lnTo>
                    <a:pt x="23738" y="4735"/>
                  </a:lnTo>
                  <a:close/>
                </a:path>
                <a:path w="43179" h="35560">
                  <a:moveTo>
                    <a:pt x="13671" y="1842"/>
                  </a:moveTo>
                  <a:lnTo>
                    <a:pt x="11999" y="3002"/>
                  </a:lnTo>
                  <a:lnTo>
                    <a:pt x="11118" y="3685"/>
                  </a:lnTo>
                  <a:lnTo>
                    <a:pt x="9488" y="5583"/>
                  </a:lnTo>
                  <a:lnTo>
                    <a:pt x="9386" y="6028"/>
                  </a:lnTo>
                  <a:lnTo>
                    <a:pt x="7105" y="6028"/>
                  </a:lnTo>
                  <a:lnTo>
                    <a:pt x="14745" y="5583"/>
                  </a:lnTo>
                  <a:lnTo>
                    <a:pt x="24218" y="5583"/>
                  </a:lnTo>
                  <a:lnTo>
                    <a:pt x="24021" y="5104"/>
                  </a:lnTo>
                  <a:lnTo>
                    <a:pt x="23738" y="4735"/>
                  </a:lnTo>
                  <a:lnTo>
                    <a:pt x="20860" y="3002"/>
                  </a:lnTo>
                  <a:lnTo>
                    <a:pt x="11536" y="3002"/>
                  </a:lnTo>
                  <a:lnTo>
                    <a:pt x="15745" y="2117"/>
                  </a:lnTo>
                  <a:lnTo>
                    <a:pt x="13671" y="1842"/>
                  </a:lnTo>
                  <a:close/>
                </a:path>
                <a:path w="43179" h="35560">
                  <a:moveTo>
                    <a:pt x="11118" y="3685"/>
                  </a:moveTo>
                  <a:lnTo>
                    <a:pt x="10574" y="4125"/>
                  </a:lnTo>
                  <a:lnTo>
                    <a:pt x="9597" y="5104"/>
                  </a:lnTo>
                  <a:lnTo>
                    <a:pt x="9487" y="5583"/>
                  </a:lnTo>
                  <a:lnTo>
                    <a:pt x="11118" y="3685"/>
                  </a:lnTo>
                  <a:close/>
                </a:path>
                <a:path w="43179" h="35560">
                  <a:moveTo>
                    <a:pt x="11014" y="3685"/>
                  </a:moveTo>
                  <a:lnTo>
                    <a:pt x="9500" y="4735"/>
                  </a:lnTo>
                  <a:lnTo>
                    <a:pt x="9597" y="5104"/>
                  </a:lnTo>
                  <a:lnTo>
                    <a:pt x="11014" y="3685"/>
                  </a:lnTo>
                  <a:close/>
                </a:path>
                <a:path w="43179" h="35560">
                  <a:moveTo>
                    <a:pt x="23271" y="4125"/>
                  </a:moveTo>
                  <a:lnTo>
                    <a:pt x="23738" y="4735"/>
                  </a:lnTo>
                  <a:lnTo>
                    <a:pt x="24351" y="5104"/>
                  </a:lnTo>
                  <a:lnTo>
                    <a:pt x="24021" y="5104"/>
                  </a:lnTo>
                  <a:lnTo>
                    <a:pt x="23869" y="4735"/>
                  </a:lnTo>
                  <a:lnTo>
                    <a:pt x="23271" y="4125"/>
                  </a:lnTo>
                  <a:close/>
                </a:path>
                <a:path w="43179" h="35560">
                  <a:moveTo>
                    <a:pt x="23912" y="4735"/>
                  </a:moveTo>
                  <a:lnTo>
                    <a:pt x="24021" y="5104"/>
                  </a:lnTo>
                  <a:lnTo>
                    <a:pt x="24251" y="5104"/>
                  </a:lnTo>
                  <a:lnTo>
                    <a:pt x="23912" y="4735"/>
                  </a:lnTo>
                  <a:close/>
                </a:path>
                <a:path w="43179" h="35560">
                  <a:moveTo>
                    <a:pt x="21221" y="2117"/>
                  </a:moveTo>
                  <a:lnTo>
                    <a:pt x="18024" y="2117"/>
                  </a:lnTo>
                  <a:lnTo>
                    <a:pt x="19682" y="2466"/>
                  </a:lnTo>
                  <a:lnTo>
                    <a:pt x="20254" y="2716"/>
                  </a:lnTo>
                  <a:lnTo>
                    <a:pt x="22411" y="3002"/>
                  </a:lnTo>
                  <a:lnTo>
                    <a:pt x="20860" y="3002"/>
                  </a:lnTo>
                  <a:lnTo>
                    <a:pt x="23738" y="4735"/>
                  </a:lnTo>
                  <a:lnTo>
                    <a:pt x="22934" y="3685"/>
                  </a:lnTo>
                  <a:lnTo>
                    <a:pt x="22124" y="3002"/>
                  </a:lnTo>
                  <a:lnTo>
                    <a:pt x="22411" y="3002"/>
                  </a:lnTo>
                  <a:lnTo>
                    <a:pt x="20254" y="2716"/>
                  </a:lnTo>
                  <a:lnTo>
                    <a:pt x="21832" y="2716"/>
                  </a:lnTo>
                  <a:lnTo>
                    <a:pt x="21221" y="2117"/>
                  </a:lnTo>
                  <a:close/>
                </a:path>
                <a:path w="43179" h="35560">
                  <a:moveTo>
                    <a:pt x="12771" y="2466"/>
                  </a:moveTo>
                  <a:lnTo>
                    <a:pt x="12233" y="2466"/>
                  </a:lnTo>
                  <a:lnTo>
                    <a:pt x="11712" y="3002"/>
                  </a:lnTo>
                  <a:lnTo>
                    <a:pt x="11118" y="3685"/>
                  </a:lnTo>
                  <a:lnTo>
                    <a:pt x="11999" y="3002"/>
                  </a:lnTo>
                  <a:lnTo>
                    <a:pt x="12771" y="2466"/>
                  </a:lnTo>
                  <a:close/>
                </a:path>
                <a:path w="43179" h="35560">
                  <a:moveTo>
                    <a:pt x="22222" y="3002"/>
                  </a:moveTo>
                  <a:lnTo>
                    <a:pt x="22822" y="3685"/>
                  </a:lnTo>
                  <a:lnTo>
                    <a:pt x="22997" y="3685"/>
                  </a:lnTo>
                  <a:lnTo>
                    <a:pt x="22222" y="3002"/>
                  </a:lnTo>
                  <a:close/>
                </a:path>
                <a:path w="43179" h="35560">
                  <a:moveTo>
                    <a:pt x="22411" y="3002"/>
                  </a:moveTo>
                  <a:lnTo>
                    <a:pt x="22222" y="3002"/>
                  </a:lnTo>
                  <a:lnTo>
                    <a:pt x="22997" y="3685"/>
                  </a:lnTo>
                  <a:lnTo>
                    <a:pt x="22411" y="3002"/>
                  </a:lnTo>
                  <a:close/>
                </a:path>
                <a:path w="43179" h="35560">
                  <a:moveTo>
                    <a:pt x="15745" y="2117"/>
                  </a:moveTo>
                  <a:lnTo>
                    <a:pt x="11536" y="3002"/>
                  </a:lnTo>
                  <a:lnTo>
                    <a:pt x="20910" y="3002"/>
                  </a:lnTo>
                  <a:lnTo>
                    <a:pt x="20254" y="2716"/>
                  </a:lnTo>
                  <a:lnTo>
                    <a:pt x="15745" y="2117"/>
                  </a:lnTo>
                  <a:close/>
                </a:path>
                <a:path w="43179" h="35560">
                  <a:moveTo>
                    <a:pt x="20904" y="1842"/>
                  </a:moveTo>
                  <a:lnTo>
                    <a:pt x="13671" y="1842"/>
                  </a:lnTo>
                  <a:lnTo>
                    <a:pt x="20254" y="2716"/>
                  </a:lnTo>
                  <a:lnTo>
                    <a:pt x="19682" y="2466"/>
                  </a:lnTo>
                  <a:lnTo>
                    <a:pt x="18024" y="2117"/>
                  </a:lnTo>
                  <a:lnTo>
                    <a:pt x="21217" y="2117"/>
                  </a:lnTo>
                  <a:lnTo>
                    <a:pt x="20904" y="18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2724" y="6189186"/>
              <a:ext cx="814513" cy="30648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21834" y="6160764"/>
              <a:ext cx="645797" cy="283497"/>
            </a:xfrm>
            <a:prstGeom prst="rect">
              <a:avLst/>
            </a:prstGeom>
          </p:spPr>
        </p:pic>
      </p:grpSp>
      <p:sp>
        <p:nvSpPr>
          <p:cNvPr id="54" name="object 54"/>
          <p:cNvSpPr/>
          <p:nvPr/>
        </p:nvSpPr>
        <p:spPr>
          <a:xfrm>
            <a:off x="403546" y="5948047"/>
            <a:ext cx="26670" cy="42545"/>
          </a:xfrm>
          <a:custGeom>
            <a:avLst/>
            <a:gdLst/>
            <a:ahLst/>
            <a:cxnLst/>
            <a:rect l="l" t="t" r="r" b="b"/>
            <a:pathLst>
              <a:path w="26670" h="42545">
                <a:moveTo>
                  <a:pt x="258" y="26189"/>
                </a:moveTo>
                <a:lnTo>
                  <a:pt x="0" y="27171"/>
                </a:lnTo>
                <a:lnTo>
                  <a:pt x="113" y="31135"/>
                </a:lnTo>
                <a:lnTo>
                  <a:pt x="200" y="32034"/>
                </a:lnTo>
                <a:lnTo>
                  <a:pt x="292" y="32989"/>
                </a:lnTo>
                <a:lnTo>
                  <a:pt x="409" y="33973"/>
                </a:lnTo>
                <a:lnTo>
                  <a:pt x="1224" y="36267"/>
                </a:lnTo>
                <a:lnTo>
                  <a:pt x="5468" y="40975"/>
                </a:lnTo>
                <a:lnTo>
                  <a:pt x="9564" y="41995"/>
                </a:lnTo>
                <a:lnTo>
                  <a:pt x="9791" y="41995"/>
                </a:lnTo>
                <a:lnTo>
                  <a:pt x="5836" y="40779"/>
                </a:lnTo>
                <a:lnTo>
                  <a:pt x="4627" y="39255"/>
                </a:lnTo>
                <a:lnTo>
                  <a:pt x="593" y="33973"/>
                </a:lnTo>
                <a:lnTo>
                  <a:pt x="852" y="32034"/>
                </a:lnTo>
                <a:lnTo>
                  <a:pt x="972" y="31135"/>
                </a:lnTo>
                <a:lnTo>
                  <a:pt x="1069" y="30413"/>
                </a:lnTo>
                <a:lnTo>
                  <a:pt x="1164" y="29706"/>
                </a:lnTo>
                <a:lnTo>
                  <a:pt x="1263" y="28961"/>
                </a:lnTo>
                <a:lnTo>
                  <a:pt x="1312" y="28599"/>
                </a:lnTo>
                <a:lnTo>
                  <a:pt x="1701" y="28215"/>
                </a:lnTo>
                <a:lnTo>
                  <a:pt x="258" y="26189"/>
                </a:lnTo>
                <a:close/>
              </a:path>
              <a:path w="26670" h="42545">
                <a:moveTo>
                  <a:pt x="1730" y="28215"/>
                </a:moveTo>
                <a:lnTo>
                  <a:pt x="1312" y="28599"/>
                </a:lnTo>
                <a:lnTo>
                  <a:pt x="724" y="32989"/>
                </a:lnTo>
                <a:lnTo>
                  <a:pt x="683" y="33295"/>
                </a:lnTo>
                <a:lnTo>
                  <a:pt x="593" y="33973"/>
                </a:lnTo>
                <a:lnTo>
                  <a:pt x="4627" y="39255"/>
                </a:lnTo>
                <a:lnTo>
                  <a:pt x="5836" y="40779"/>
                </a:lnTo>
                <a:lnTo>
                  <a:pt x="9791" y="41995"/>
                </a:lnTo>
                <a:lnTo>
                  <a:pt x="9561" y="41995"/>
                </a:lnTo>
                <a:lnTo>
                  <a:pt x="17775" y="39255"/>
                </a:lnTo>
                <a:lnTo>
                  <a:pt x="20242" y="34314"/>
                </a:lnTo>
                <a:lnTo>
                  <a:pt x="19902" y="33295"/>
                </a:lnTo>
                <a:lnTo>
                  <a:pt x="11670" y="33295"/>
                </a:lnTo>
                <a:lnTo>
                  <a:pt x="9216" y="31135"/>
                </a:lnTo>
                <a:lnTo>
                  <a:pt x="9375" y="31135"/>
                </a:lnTo>
                <a:lnTo>
                  <a:pt x="3133" y="30147"/>
                </a:lnTo>
                <a:lnTo>
                  <a:pt x="1730" y="28215"/>
                </a:lnTo>
                <a:close/>
              </a:path>
              <a:path w="26670" h="42545">
                <a:moveTo>
                  <a:pt x="21990" y="31135"/>
                </a:moveTo>
                <a:lnTo>
                  <a:pt x="19181" y="31135"/>
                </a:lnTo>
                <a:lnTo>
                  <a:pt x="20129" y="33973"/>
                </a:lnTo>
                <a:lnTo>
                  <a:pt x="20242" y="34314"/>
                </a:lnTo>
                <a:lnTo>
                  <a:pt x="17775" y="39255"/>
                </a:lnTo>
                <a:lnTo>
                  <a:pt x="20262" y="38425"/>
                </a:lnTo>
                <a:lnTo>
                  <a:pt x="21777" y="32034"/>
                </a:lnTo>
                <a:lnTo>
                  <a:pt x="21871" y="31635"/>
                </a:lnTo>
                <a:lnTo>
                  <a:pt x="21990" y="31135"/>
                </a:lnTo>
                <a:close/>
              </a:path>
              <a:path w="26670" h="42545">
                <a:moveTo>
                  <a:pt x="9375" y="31135"/>
                </a:moveTo>
                <a:lnTo>
                  <a:pt x="9216" y="31135"/>
                </a:lnTo>
                <a:lnTo>
                  <a:pt x="11670" y="33295"/>
                </a:lnTo>
                <a:lnTo>
                  <a:pt x="16481" y="32989"/>
                </a:lnTo>
                <a:lnTo>
                  <a:pt x="17619" y="32034"/>
                </a:lnTo>
                <a:lnTo>
                  <a:pt x="15419" y="31635"/>
                </a:lnTo>
                <a:lnTo>
                  <a:pt x="12530" y="31635"/>
                </a:lnTo>
                <a:lnTo>
                  <a:pt x="9375" y="31135"/>
                </a:lnTo>
                <a:close/>
              </a:path>
              <a:path w="26670" h="42545">
                <a:moveTo>
                  <a:pt x="22675" y="26189"/>
                </a:moveTo>
                <a:lnTo>
                  <a:pt x="22385" y="27171"/>
                </a:lnTo>
                <a:lnTo>
                  <a:pt x="22199" y="28215"/>
                </a:lnTo>
                <a:lnTo>
                  <a:pt x="22131" y="28599"/>
                </a:lnTo>
                <a:lnTo>
                  <a:pt x="22067" y="28961"/>
                </a:lnTo>
                <a:lnTo>
                  <a:pt x="18237" y="31635"/>
                </a:lnTo>
                <a:lnTo>
                  <a:pt x="17619" y="32034"/>
                </a:lnTo>
                <a:lnTo>
                  <a:pt x="16481" y="32989"/>
                </a:lnTo>
                <a:lnTo>
                  <a:pt x="11670" y="33295"/>
                </a:lnTo>
                <a:lnTo>
                  <a:pt x="19902" y="33295"/>
                </a:lnTo>
                <a:lnTo>
                  <a:pt x="19181" y="31135"/>
                </a:lnTo>
                <a:lnTo>
                  <a:pt x="21990" y="31135"/>
                </a:lnTo>
                <a:lnTo>
                  <a:pt x="22128" y="30552"/>
                </a:lnTo>
                <a:lnTo>
                  <a:pt x="22555" y="27171"/>
                </a:lnTo>
                <a:lnTo>
                  <a:pt x="22675" y="26189"/>
                </a:lnTo>
                <a:close/>
              </a:path>
              <a:path w="26670" h="42545">
                <a:moveTo>
                  <a:pt x="18418" y="31135"/>
                </a:moveTo>
                <a:lnTo>
                  <a:pt x="12609" y="31135"/>
                </a:lnTo>
                <a:lnTo>
                  <a:pt x="17665" y="32034"/>
                </a:lnTo>
                <a:lnTo>
                  <a:pt x="18230" y="31635"/>
                </a:lnTo>
                <a:lnTo>
                  <a:pt x="18418" y="31135"/>
                </a:lnTo>
                <a:close/>
              </a:path>
              <a:path w="26670" h="42545">
                <a:moveTo>
                  <a:pt x="8456" y="15998"/>
                </a:moveTo>
                <a:lnTo>
                  <a:pt x="8579" y="18924"/>
                </a:lnTo>
                <a:lnTo>
                  <a:pt x="8699" y="20908"/>
                </a:lnTo>
                <a:lnTo>
                  <a:pt x="8819" y="22802"/>
                </a:lnTo>
                <a:lnTo>
                  <a:pt x="8894" y="23985"/>
                </a:lnTo>
                <a:lnTo>
                  <a:pt x="8996" y="25590"/>
                </a:lnTo>
                <a:lnTo>
                  <a:pt x="9096" y="27171"/>
                </a:lnTo>
                <a:lnTo>
                  <a:pt x="9210" y="28961"/>
                </a:lnTo>
                <a:lnTo>
                  <a:pt x="9332" y="30552"/>
                </a:lnTo>
                <a:lnTo>
                  <a:pt x="12609" y="31135"/>
                </a:lnTo>
                <a:lnTo>
                  <a:pt x="9375" y="31135"/>
                </a:lnTo>
                <a:lnTo>
                  <a:pt x="12530" y="31635"/>
                </a:lnTo>
                <a:lnTo>
                  <a:pt x="11401" y="31635"/>
                </a:lnTo>
                <a:lnTo>
                  <a:pt x="12089" y="31135"/>
                </a:lnTo>
                <a:lnTo>
                  <a:pt x="12609" y="31135"/>
                </a:lnTo>
                <a:lnTo>
                  <a:pt x="9332" y="30552"/>
                </a:lnTo>
                <a:lnTo>
                  <a:pt x="12891" y="30552"/>
                </a:lnTo>
                <a:lnTo>
                  <a:pt x="15579" y="28599"/>
                </a:lnTo>
                <a:lnTo>
                  <a:pt x="15961" y="26189"/>
                </a:lnTo>
                <a:lnTo>
                  <a:pt x="16056" y="25590"/>
                </a:lnTo>
                <a:lnTo>
                  <a:pt x="16163" y="24912"/>
                </a:lnTo>
                <a:lnTo>
                  <a:pt x="16284" y="23985"/>
                </a:lnTo>
                <a:lnTo>
                  <a:pt x="16345" y="19621"/>
                </a:lnTo>
                <a:lnTo>
                  <a:pt x="19514" y="19621"/>
                </a:lnTo>
                <a:lnTo>
                  <a:pt x="8710" y="18515"/>
                </a:lnTo>
                <a:lnTo>
                  <a:pt x="10506" y="18515"/>
                </a:lnTo>
                <a:lnTo>
                  <a:pt x="8456" y="15998"/>
                </a:lnTo>
                <a:close/>
              </a:path>
              <a:path w="26670" h="42545">
                <a:moveTo>
                  <a:pt x="16408" y="23323"/>
                </a:moveTo>
                <a:lnTo>
                  <a:pt x="16284" y="23985"/>
                </a:lnTo>
                <a:lnTo>
                  <a:pt x="16163" y="24912"/>
                </a:lnTo>
                <a:lnTo>
                  <a:pt x="15640" y="28215"/>
                </a:lnTo>
                <a:lnTo>
                  <a:pt x="15579" y="28599"/>
                </a:lnTo>
                <a:lnTo>
                  <a:pt x="11401" y="31635"/>
                </a:lnTo>
                <a:lnTo>
                  <a:pt x="15419" y="31635"/>
                </a:lnTo>
                <a:lnTo>
                  <a:pt x="12609" y="31135"/>
                </a:lnTo>
                <a:lnTo>
                  <a:pt x="18418" y="31135"/>
                </a:lnTo>
                <a:lnTo>
                  <a:pt x="18535" y="30552"/>
                </a:lnTo>
                <a:lnTo>
                  <a:pt x="18616" y="30147"/>
                </a:lnTo>
                <a:lnTo>
                  <a:pt x="18704" y="29706"/>
                </a:lnTo>
                <a:lnTo>
                  <a:pt x="18206" y="28215"/>
                </a:lnTo>
                <a:lnTo>
                  <a:pt x="17489" y="27171"/>
                </a:lnTo>
                <a:lnTo>
                  <a:pt x="16456" y="26189"/>
                </a:lnTo>
                <a:lnTo>
                  <a:pt x="16408" y="23323"/>
                </a:lnTo>
                <a:close/>
              </a:path>
              <a:path w="26670" h="42545">
                <a:moveTo>
                  <a:pt x="18704" y="29706"/>
                </a:moveTo>
                <a:lnTo>
                  <a:pt x="18616" y="30147"/>
                </a:lnTo>
                <a:lnTo>
                  <a:pt x="18535" y="30552"/>
                </a:lnTo>
                <a:lnTo>
                  <a:pt x="18418" y="31135"/>
                </a:lnTo>
                <a:lnTo>
                  <a:pt x="18318" y="31635"/>
                </a:lnTo>
                <a:lnTo>
                  <a:pt x="18952" y="31135"/>
                </a:lnTo>
                <a:lnTo>
                  <a:pt x="19181" y="31135"/>
                </a:lnTo>
                <a:lnTo>
                  <a:pt x="18704" y="29706"/>
                </a:lnTo>
                <a:close/>
              </a:path>
              <a:path w="26670" h="42545">
                <a:moveTo>
                  <a:pt x="5660" y="24363"/>
                </a:moveTo>
                <a:lnTo>
                  <a:pt x="5400" y="24912"/>
                </a:lnTo>
                <a:lnTo>
                  <a:pt x="5162" y="25590"/>
                </a:lnTo>
                <a:lnTo>
                  <a:pt x="1730" y="28215"/>
                </a:lnTo>
                <a:lnTo>
                  <a:pt x="3133" y="30147"/>
                </a:lnTo>
                <a:lnTo>
                  <a:pt x="9375" y="31135"/>
                </a:lnTo>
                <a:lnTo>
                  <a:pt x="9311" y="30552"/>
                </a:lnTo>
                <a:lnTo>
                  <a:pt x="8551" y="30413"/>
                </a:lnTo>
                <a:lnTo>
                  <a:pt x="8271" y="30147"/>
                </a:lnTo>
                <a:lnTo>
                  <a:pt x="5508" y="26189"/>
                </a:lnTo>
                <a:lnTo>
                  <a:pt x="5562" y="24912"/>
                </a:lnTo>
                <a:lnTo>
                  <a:pt x="5660" y="24363"/>
                </a:lnTo>
                <a:close/>
              </a:path>
              <a:path w="26670" h="42545">
                <a:moveTo>
                  <a:pt x="22092" y="17417"/>
                </a:moveTo>
                <a:lnTo>
                  <a:pt x="21541" y="17866"/>
                </a:lnTo>
                <a:lnTo>
                  <a:pt x="21005" y="20201"/>
                </a:lnTo>
                <a:lnTo>
                  <a:pt x="18704" y="29706"/>
                </a:lnTo>
                <a:lnTo>
                  <a:pt x="19181" y="31135"/>
                </a:lnTo>
                <a:lnTo>
                  <a:pt x="18952" y="31135"/>
                </a:lnTo>
                <a:lnTo>
                  <a:pt x="22067" y="28961"/>
                </a:lnTo>
                <a:lnTo>
                  <a:pt x="22559" y="26189"/>
                </a:lnTo>
                <a:lnTo>
                  <a:pt x="22666" y="25590"/>
                </a:lnTo>
                <a:lnTo>
                  <a:pt x="22786" y="24912"/>
                </a:lnTo>
                <a:lnTo>
                  <a:pt x="22883" y="24363"/>
                </a:lnTo>
                <a:lnTo>
                  <a:pt x="22951" y="23985"/>
                </a:lnTo>
                <a:lnTo>
                  <a:pt x="23318" y="20908"/>
                </a:lnTo>
                <a:lnTo>
                  <a:pt x="23404" y="20201"/>
                </a:lnTo>
                <a:lnTo>
                  <a:pt x="21862" y="20201"/>
                </a:lnTo>
                <a:lnTo>
                  <a:pt x="23088" y="19621"/>
                </a:lnTo>
                <a:lnTo>
                  <a:pt x="23471" y="19621"/>
                </a:lnTo>
                <a:lnTo>
                  <a:pt x="23577" y="18924"/>
                </a:lnTo>
                <a:lnTo>
                  <a:pt x="23272" y="18924"/>
                </a:lnTo>
                <a:lnTo>
                  <a:pt x="22092" y="17417"/>
                </a:lnTo>
                <a:close/>
              </a:path>
              <a:path w="26670" h="42545">
                <a:moveTo>
                  <a:pt x="12804" y="14113"/>
                </a:moveTo>
                <a:lnTo>
                  <a:pt x="10811" y="14113"/>
                </a:lnTo>
                <a:lnTo>
                  <a:pt x="7382" y="16649"/>
                </a:lnTo>
                <a:lnTo>
                  <a:pt x="6991" y="16975"/>
                </a:lnTo>
                <a:lnTo>
                  <a:pt x="6894" y="17417"/>
                </a:lnTo>
                <a:lnTo>
                  <a:pt x="5937" y="22802"/>
                </a:lnTo>
                <a:lnTo>
                  <a:pt x="5845" y="23323"/>
                </a:lnTo>
                <a:lnTo>
                  <a:pt x="5727" y="23985"/>
                </a:lnTo>
                <a:lnTo>
                  <a:pt x="5660" y="24363"/>
                </a:lnTo>
                <a:lnTo>
                  <a:pt x="5562" y="24912"/>
                </a:lnTo>
                <a:lnTo>
                  <a:pt x="5442" y="25590"/>
                </a:lnTo>
                <a:lnTo>
                  <a:pt x="5335" y="26189"/>
                </a:lnTo>
                <a:lnTo>
                  <a:pt x="5508" y="26189"/>
                </a:lnTo>
                <a:lnTo>
                  <a:pt x="8271" y="30147"/>
                </a:lnTo>
                <a:lnTo>
                  <a:pt x="8551" y="30413"/>
                </a:lnTo>
                <a:lnTo>
                  <a:pt x="9332" y="30552"/>
                </a:lnTo>
                <a:lnTo>
                  <a:pt x="9210" y="28961"/>
                </a:lnTo>
                <a:lnTo>
                  <a:pt x="9096" y="27171"/>
                </a:lnTo>
                <a:lnTo>
                  <a:pt x="8996" y="25590"/>
                </a:lnTo>
                <a:lnTo>
                  <a:pt x="8894" y="23985"/>
                </a:lnTo>
                <a:lnTo>
                  <a:pt x="8819" y="22802"/>
                </a:lnTo>
                <a:lnTo>
                  <a:pt x="8699" y="20908"/>
                </a:lnTo>
                <a:lnTo>
                  <a:pt x="8579" y="18924"/>
                </a:lnTo>
                <a:lnTo>
                  <a:pt x="8455" y="16503"/>
                </a:lnTo>
                <a:lnTo>
                  <a:pt x="8429" y="15998"/>
                </a:lnTo>
                <a:lnTo>
                  <a:pt x="10979" y="15998"/>
                </a:lnTo>
                <a:lnTo>
                  <a:pt x="10141" y="15015"/>
                </a:lnTo>
                <a:lnTo>
                  <a:pt x="20211" y="15015"/>
                </a:lnTo>
                <a:lnTo>
                  <a:pt x="12804" y="14113"/>
                </a:lnTo>
                <a:close/>
              </a:path>
              <a:path w="26670" h="42545">
                <a:moveTo>
                  <a:pt x="16977" y="18515"/>
                </a:moveTo>
                <a:lnTo>
                  <a:pt x="16667" y="19621"/>
                </a:lnTo>
                <a:lnTo>
                  <a:pt x="16532" y="20201"/>
                </a:lnTo>
                <a:lnTo>
                  <a:pt x="16456" y="26189"/>
                </a:lnTo>
                <a:lnTo>
                  <a:pt x="17489" y="27171"/>
                </a:lnTo>
                <a:lnTo>
                  <a:pt x="18206" y="28215"/>
                </a:lnTo>
                <a:lnTo>
                  <a:pt x="18704" y="29706"/>
                </a:lnTo>
                <a:lnTo>
                  <a:pt x="20837" y="20908"/>
                </a:lnTo>
                <a:lnTo>
                  <a:pt x="20915" y="20586"/>
                </a:lnTo>
                <a:lnTo>
                  <a:pt x="21005" y="20201"/>
                </a:lnTo>
                <a:lnTo>
                  <a:pt x="17438" y="18924"/>
                </a:lnTo>
                <a:lnTo>
                  <a:pt x="17701" y="18924"/>
                </a:lnTo>
                <a:lnTo>
                  <a:pt x="16977" y="18515"/>
                </a:lnTo>
                <a:close/>
              </a:path>
              <a:path w="26670" h="42545">
                <a:moveTo>
                  <a:pt x="7287" y="15498"/>
                </a:moveTo>
                <a:lnTo>
                  <a:pt x="4699" y="15498"/>
                </a:lnTo>
                <a:lnTo>
                  <a:pt x="1760" y="17866"/>
                </a:lnTo>
                <a:lnTo>
                  <a:pt x="1512" y="18163"/>
                </a:lnTo>
                <a:lnTo>
                  <a:pt x="777" y="22802"/>
                </a:lnTo>
                <a:lnTo>
                  <a:pt x="695" y="23323"/>
                </a:lnTo>
                <a:lnTo>
                  <a:pt x="590" y="23985"/>
                </a:lnTo>
                <a:lnTo>
                  <a:pt x="530" y="24363"/>
                </a:lnTo>
                <a:lnTo>
                  <a:pt x="443" y="24912"/>
                </a:lnTo>
                <a:lnTo>
                  <a:pt x="336" y="25590"/>
                </a:lnTo>
                <a:lnTo>
                  <a:pt x="258" y="26189"/>
                </a:lnTo>
                <a:lnTo>
                  <a:pt x="1730" y="28215"/>
                </a:lnTo>
                <a:lnTo>
                  <a:pt x="5162" y="25590"/>
                </a:lnTo>
                <a:lnTo>
                  <a:pt x="6626" y="18924"/>
                </a:lnTo>
                <a:lnTo>
                  <a:pt x="6699" y="18515"/>
                </a:lnTo>
                <a:lnTo>
                  <a:pt x="6814" y="17866"/>
                </a:lnTo>
                <a:lnTo>
                  <a:pt x="6902" y="17417"/>
                </a:lnTo>
                <a:lnTo>
                  <a:pt x="6973" y="16975"/>
                </a:lnTo>
                <a:lnTo>
                  <a:pt x="7085" y="16503"/>
                </a:lnTo>
                <a:lnTo>
                  <a:pt x="7187" y="15998"/>
                </a:lnTo>
                <a:lnTo>
                  <a:pt x="7287" y="15498"/>
                </a:lnTo>
                <a:close/>
              </a:path>
              <a:path w="26670" h="42545">
                <a:moveTo>
                  <a:pt x="13691" y="16213"/>
                </a:moveTo>
                <a:lnTo>
                  <a:pt x="16006" y="18515"/>
                </a:lnTo>
                <a:lnTo>
                  <a:pt x="16333" y="18924"/>
                </a:lnTo>
                <a:lnTo>
                  <a:pt x="16362" y="20586"/>
                </a:lnTo>
                <a:lnTo>
                  <a:pt x="16532" y="20201"/>
                </a:lnTo>
                <a:lnTo>
                  <a:pt x="16856" y="18924"/>
                </a:lnTo>
                <a:lnTo>
                  <a:pt x="16977" y="18515"/>
                </a:lnTo>
                <a:lnTo>
                  <a:pt x="20745" y="18515"/>
                </a:lnTo>
                <a:lnTo>
                  <a:pt x="21541" y="17866"/>
                </a:lnTo>
                <a:lnTo>
                  <a:pt x="21644" y="17417"/>
                </a:lnTo>
                <a:lnTo>
                  <a:pt x="21746" y="16975"/>
                </a:lnTo>
                <a:lnTo>
                  <a:pt x="21491" y="16649"/>
                </a:lnTo>
                <a:lnTo>
                  <a:pt x="19167" y="16649"/>
                </a:lnTo>
                <a:lnTo>
                  <a:pt x="13691" y="16213"/>
                </a:lnTo>
                <a:close/>
              </a:path>
              <a:path w="26670" h="42545">
                <a:moveTo>
                  <a:pt x="21541" y="17866"/>
                </a:moveTo>
                <a:lnTo>
                  <a:pt x="19386" y="19621"/>
                </a:lnTo>
                <a:lnTo>
                  <a:pt x="21005" y="20201"/>
                </a:lnTo>
                <a:lnTo>
                  <a:pt x="21298" y="18924"/>
                </a:lnTo>
                <a:lnTo>
                  <a:pt x="21392" y="18515"/>
                </a:lnTo>
                <a:lnTo>
                  <a:pt x="21473" y="18163"/>
                </a:lnTo>
                <a:lnTo>
                  <a:pt x="21541" y="17866"/>
                </a:lnTo>
                <a:close/>
              </a:path>
              <a:path w="26670" h="42545">
                <a:moveTo>
                  <a:pt x="23474" y="19621"/>
                </a:moveTo>
                <a:lnTo>
                  <a:pt x="23088" y="19621"/>
                </a:lnTo>
                <a:lnTo>
                  <a:pt x="21862" y="20201"/>
                </a:lnTo>
                <a:lnTo>
                  <a:pt x="23404" y="20201"/>
                </a:lnTo>
                <a:lnTo>
                  <a:pt x="23474" y="19621"/>
                </a:lnTo>
                <a:close/>
              </a:path>
              <a:path w="26670" h="42545">
                <a:moveTo>
                  <a:pt x="10979" y="15998"/>
                </a:moveTo>
                <a:lnTo>
                  <a:pt x="8456" y="15998"/>
                </a:lnTo>
                <a:lnTo>
                  <a:pt x="10506" y="18515"/>
                </a:lnTo>
                <a:lnTo>
                  <a:pt x="8710" y="18515"/>
                </a:lnTo>
                <a:lnTo>
                  <a:pt x="19514" y="19621"/>
                </a:lnTo>
                <a:lnTo>
                  <a:pt x="16345" y="19621"/>
                </a:lnTo>
                <a:lnTo>
                  <a:pt x="16333" y="18924"/>
                </a:lnTo>
                <a:lnTo>
                  <a:pt x="16006" y="18515"/>
                </a:lnTo>
                <a:lnTo>
                  <a:pt x="13691" y="16213"/>
                </a:lnTo>
                <a:lnTo>
                  <a:pt x="10979" y="15998"/>
                </a:lnTo>
                <a:close/>
              </a:path>
              <a:path w="26670" h="42545">
                <a:moveTo>
                  <a:pt x="20745" y="18515"/>
                </a:moveTo>
                <a:lnTo>
                  <a:pt x="16977" y="18515"/>
                </a:lnTo>
                <a:lnTo>
                  <a:pt x="17701" y="18924"/>
                </a:lnTo>
                <a:lnTo>
                  <a:pt x="17438" y="18924"/>
                </a:lnTo>
                <a:lnTo>
                  <a:pt x="19386" y="19621"/>
                </a:lnTo>
                <a:lnTo>
                  <a:pt x="20745" y="18515"/>
                </a:lnTo>
                <a:close/>
              </a:path>
              <a:path w="26670" h="42545">
                <a:moveTo>
                  <a:pt x="23705" y="10011"/>
                </a:moveTo>
                <a:lnTo>
                  <a:pt x="23640" y="18515"/>
                </a:lnTo>
                <a:lnTo>
                  <a:pt x="23559" y="18924"/>
                </a:lnTo>
                <a:lnTo>
                  <a:pt x="23474" y="19621"/>
                </a:lnTo>
                <a:lnTo>
                  <a:pt x="23088" y="19621"/>
                </a:lnTo>
                <a:lnTo>
                  <a:pt x="24563" y="18924"/>
                </a:lnTo>
                <a:lnTo>
                  <a:pt x="26286" y="14113"/>
                </a:lnTo>
                <a:lnTo>
                  <a:pt x="26491" y="14113"/>
                </a:lnTo>
                <a:lnTo>
                  <a:pt x="25534" y="11226"/>
                </a:lnTo>
                <a:lnTo>
                  <a:pt x="23705" y="10011"/>
                </a:lnTo>
                <a:close/>
              </a:path>
              <a:path w="26670" h="42545">
                <a:moveTo>
                  <a:pt x="23872" y="11677"/>
                </a:moveTo>
                <a:lnTo>
                  <a:pt x="23749" y="12067"/>
                </a:lnTo>
                <a:lnTo>
                  <a:pt x="23660" y="12931"/>
                </a:lnTo>
                <a:lnTo>
                  <a:pt x="23539" y="14113"/>
                </a:lnTo>
                <a:lnTo>
                  <a:pt x="23447" y="15015"/>
                </a:lnTo>
                <a:lnTo>
                  <a:pt x="23324" y="16213"/>
                </a:lnTo>
                <a:lnTo>
                  <a:pt x="23215" y="16503"/>
                </a:lnTo>
                <a:lnTo>
                  <a:pt x="22092" y="17417"/>
                </a:lnTo>
                <a:lnTo>
                  <a:pt x="23272" y="18924"/>
                </a:lnTo>
                <a:lnTo>
                  <a:pt x="23577" y="18924"/>
                </a:lnTo>
                <a:lnTo>
                  <a:pt x="23693" y="18163"/>
                </a:lnTo>
                <a:lnTo>
                  <a:pt x="23807" y="17417"/>
                </a:lnTo>
                <a:lnTo>
                  <a:pt x="23872" y="11677"/>
                </a:lnTo>
                <a:close/>
              </a:path>
              <a:path w="26670" h="42545">
                <a:moveTo>
                  <a:pt x="8146" y="8426"/>
                </a:moveTo>
                <a:lnTo>
                  <a:pt x="1751" y="16649"/>
                </a:lnTo>
                <a:lnTo>
                  <a:pt x="1630" y="17417"/>
                </a:lnTo>
                <a:lnTo>
                  <a:pt x="1512" y="18163"/>
                </a:lnTo>
                <a:lnTo>
                  <a:pt x="1760" y="17866"/>
                </a:lnTo>
                <a:lnTo>
                  <a:pt x="4699" y="15498"/>
                </a:lnTo>
                <a:lnTo>
                  <a:pt x="7287" y="15498"/>
                </a:lnTo>
                <a:lnTo>
                  <a:pt x="7564" y="14113"/>
                </a:lnTo>
                <a:lnTo>
                  <a:pt x="7685" y="12931"/>
                </a:lnTo>
                <a:lnTo>
                  <a:pt x="7789" y="12067"/>
                </a:lnTo>
                <a:lnTo>
                  <a:pt x="7911" y="10724"/>
                </a:lnTo>
                <a:lnTo>
                  <a:pt x="8009" y="9768"/>
                </a:lnTo>
                <a:lnTo>
                  <a:pt x="8094" y="8942"/>
                </a:lnTo>
                <a:lnTo>
                  <a:pt x="8146" y="8426"/>
                </a:lnTo>
                <a:close/>
              </a:path>
              <a:path w="26670" h="42545">
                <a:moveTo>
                  <a:pt x="21746" y="16975"/>
                </a:moveTo>
                <a:lnTo>
                  <a:pt x="21644" y="17417"/>
                </a:lnTo>
                <a:lnTo>
                  <a:pt x="21541" y="17866"/>
                </a:lnTo>
                <a:lnTo>
                  <a:pt x="22092" y="17417"/>
                </a:lnTo>
                <a:lnTo>
                  <a:pt x="21746" y="16975"/>
                </a:lnTo>
                <a:close/>
              </a:path>
              <a:path w="26670" h="42545">
                <a:moveTo>
                  <a:pt x="23340" y="9768"/>
                </a:moveTo>
                <a:lnTo>
                  <a:pt x="23239" y="10011"/>
                </a:lnTo>
                <a:lnTo>
                  <a:pt x="23186" y="10579"/>
                </a:lnTo>
                <a:lnTo>
                  <a:pt x="23084" y="11677"/>
                </a:lnTo>
                <a:lnTo>
                  <a:pt x="22954" y="12067"/>
                </a:lnTo>
                <a:lnTo>
                  <a:pt x="22686" y="14113"/>
                </a:lnTo>
                <a:lnTo>
                  <a:pt x="22472" y="14113"/>
                </a:lnTo>
                <a:lnTo>
                  <a:pt x="22243" y="15015"/>
                </a:lnTo>
                <a:lnTo>
                  <a:pt x="22120" y="15498"/>
                </a:lnTo>
                <a:lnTo>
                  <a:pt x="21994" y="15998"/>
                </a:lnTo>
                <a:lnTo>
                  <a:pt x="21939" y="16213"/>
                </a:lnTo>
                <a:lnTo>
                  <a:pt x="21866" y="16503"/>
                </a:lnTo>
                <a:lnTo>
                  <a:pt x="21746" y="16975"/>
                </a:lnTo>
                <a:lnTo>
                  <a:pt x="23539" y="14113"/>
                </a:lnTo>
                <a:lnTo>
                  <a:pt x="22686" y="14113"/>
                </a:lnTo>
                <a:lnTo>
                  <a:pt x="22841" y="12931"/>
                </a:lnTo>
                <a:lnTo>
                  <a:pt x="23660" y="12931"/>
                </a:lnTo>
                <a:lnTo>
                  <a:pt x="23705" y="10011"/>
                </a:lnTo>
                <a:lnTo>
                  <a:pt x="23340" y="9768"/>
                </a:lnTo>
                <a:close/>
              </a:path>
              <a:path w="26670" h="42545">
                <a:moveTo>
                  <a:pt x="7746" y="12337"/>
                </a:moveTo>
                <a:lnTo>
                  <a:pt x="7685" y="12931"/>
                </a:lnTo>
                <a:lnTo>
                  <a:pt x="7564" y="14113"/>
                </a:lnTo>
                <a:lnTo>
                  <a:pt x="7384" y="15015"/>
                </a:lnTo>
                <a:lnTo>
                  <a:pt x="7287" y="15498"/>
                </a:lnTo>
                <a:lnTo>
                  <a:pt x="7187" y="15998"/>
                </a:lnTo>
                <a:lnTo>
                  <a:pt x="7085" y="16503"/>
                </a:lnTo>
                <a:lnTo>
                  <a:pt x="6991" y="16975"/>
                </a:lnTo>
                <a:lnTo>
                  <a:pt x="7382" y="16649"/>
                </a:lnTo>
                <a:lnTo>
                  <a:pt x="8263" y="15998"/>
                </a:lnTo>
                <a:lnTo>
                  <a:pt x="8456" y="15998"/>
                </a:lnTo>
                <a:lnTo>
                  <a:pt x="7656" y="15015"/>
                </a:lnTo>
                <a:lnTo>
                  <a:pt x="8378" y="15015"/>
                </a:lnTo>
                <a:lnTo>
                  <a:pt x="8271" y="12931"/>
                </a:lnTo>
                <a:lnTo>
                  <a:pt x="7746" y="12337"/>
                </a:lnTo>
                <a:close/>
              </a:path>
              <a:path w="26670" h="42545">
                <a:moveTo>
                  <a:pt x="22472" y="14113"/>
                </a:moveTo>
                <a:lnTo>
                  <a:pt x="22300" y="14113"/>
                </a:lnTo>
                <a:lnTo>
                  <a:pt x="20589" y="15498"/>
                </a:lnTo>
                <a:lnTo>
                  <a:pt x="21746" y="16975"/>
                </a:lnTo>
                <a:lnTo>
                  <a:pt x="22472" y="14113"/>
                </a:lnTo>
                <a:close/>
              </a:path>
              <a:path w="26670" h="42545">
                <a:moveTo>
                  <a:pt x="20589" y="15498"/>
                </a:moveTo>
                <a:lnTo>
                  <a:pt x="12971" y="15498"/>
                </a:lnTo>
                <a:lnTo>
                  <a:pt x="13691" y="16213"/>
                </a:lnTo>
                <a:lnTo>
                  <a:pt x="19167" y="16649"/>
                </a:lnTo>
                <a:lnTo>
                  <a:pt x="20589" y="15498"/>
                </a:lnTo>
                <a:close/>
              </a:path>
              <a:path w="26670" h="42545">
                <a:moveTo>
                  <a:pt x="20589" y="15498"/>
                </a:moveTo>
                <a:lnTo>
                  <a:pt x="19167" y="16649"/>
                </a:lnTo>
                <a:lnTo>
                  <a:pt x="21491" y="16649"/>
                </a:lnTo>
                <a:lnTo>
                  <a:pt x="20589" y="15498"/>
                </a:lnTo>
                <a:close/>
              </a:path>
              <a:path w="26670" h="42545">
                <a:moveTo>
                  <a:pt x="20211" y="15015"/>
                </a:moveTo>
                <a:lnTo>
                  <a:pt x="10141" y="15015"/>
                </a:lnTo>
                <a:lnTo>
                  <a:pt x="10979" y="15998"/>
                </a:lnTo>
                <a:lnTo>
                  <a:pt x="13691" y="16213"/>
                </a:lnTo>
                <a:lnTo>
                  <a:pt x="12971" y="15498"/>
                </a:lnTo>
                <a:lnTo>
                  <a:pt x="20589" y="15498"/>
                </a:lnTo>
                <a:lnTo>
                  <a:pt x="20211" y="15015"/>
                </a:lnTo>
                <a:close/>
              </a:path>
              <a:path w="26670" h="42545">
                <a:moveTo>
                  <a:pt x="8378" y="15015"/>
                </a:moveTo>
                <a:lnTo>
                  <a:pt x="7656" y="15015"/>
                </a:lnTo>
                <a:lnTo>
                  <a:pt x="8456" y="15998"/>
                </a:lnTo>
                <a:lnTo>
                  <a:pt x="8378" y="15015"/>
                </a:lnTo>
                <a:close/>
              </a:path>
              <a:path w="26670" h="42545">
                <a:moveTo>
                  <a:pt x="8271" y="12931"/>
                </a:moveTo>
                <a:lnTo>
                  <a:pt x="8332" y="14113"/>
                </a:lnTo>
                <a:lnTo>
                  <a:pt x="8429" y="15998"/>
                </a:lnTo>
                <a:lnTo>
                  <a:pt x="8263" y="15998"/>
                </a:lnTo>
                <a:lnTo>
                  <a:pt x="9592" y="15015"/>
                </a:lnTo>
                <a:lnTo>
                  <a:pt x="10154" y="15015"/>
                </a:lnTo>
                <a:lnTo>
                  <a:pt x="8271" y="12931"/>
                </a:lnTo>
                <a:close/>
              </a:path>
              <a:path w="26670" h="42545">
                <a:moveTo>
                  <a:pt x="22300" y="14113"/>
                </a:moveTo>
                <a:lnTo>
                  <a:pt x="12804" y="14113"/>
                </a:lnTo>
                <a:lnTo>
                  <a:pt x="20211" y="15015"/>
                </a:lnTo>
                <a:lnTo>
                  <a:pt x="20589" y="15498"/>
                </a:lnTo>
                <a:lnTo>
                  <a:pt x="22300" y="14113"/>
                </a:lnTo>
                <a:close/>
              </a:path>
              <a:path w="26670" h="42545">
                <a:moveTo>
                  <a:pt x="13960" y="5443"/>
                </a:moveTo>
                <a:lnTo>
                  <a:pt x="8823" y="8079"/>
                </a:lnTo>
                <a:lnTo>
                  <a:pt x="8185" y="8426"/>
                </a:lnTo>
                <a:lnTo>
                  <a:pt x="8271" y="12931"/>
                </a:lnTo>
                <a:lnTo>
                  <a:pt x="10154" y="15015"/>
                </a:lnTo>
                <a:lnTo>
                  <a:pt x="9592" y="15015"/>
                </a:lnTo>
                <a:lnTo>
                  <a:pt x="10811" y="14113"/>
                </a:lnTo>
                <a:lnTo>
                  <a:pt x="22472" y="14113"/>
                </a:lnTo>
                <a:lnTo>
                  <a:pt x="22769" y="12931"/>
                </a:lnTo>
                <a:lnTo>
                  <a:pt x="22846" y="12626"/>
                </a:lnTo>
                <a:lnTo>
                  <a:pt x="22918" y="12337"/>
                </a:lnTo>
                <a:lnTo>
                  <a:pt x="23005" y="11677"/>
                </a:lnTo>
                <a:lnTo>
                  <a:pt x="23130" y="10724"/>
                </a:lnTo>
                <a:lnTo>
                  <a:pt x="23256" y="9768"/>
                </a:lnTo>
                <a:lnTo>
                  <a:pt x="22097" y="8942"/>
                </a:lnTo>
                <a:lnTo>
                  <a:pt x="19236" y="7040"/>
                </a:lnTo>
                <a:lnTo>
                  <a:pt x="13960" y="5443"/>
                </a:lnTo>
                <a:close/>
              </a:path>
              <a:path w="26670" h="42545">
                <a:moveTo>
                  <a:pt x="8059" y="10724"/>
                </a:moveTo>
                <a:lnTo>
                  <a:pt x="7921" y="11226"/>
                </a:lnTo>
                <a:lnTo>
                  <a:pt x="7850" y="11677"/>
                </a:lnTo>
                <a:lnTo>
                  <a:pt x="7746" y="12337"/>
                </a:lnTo>
                <a:lnTo>
                  <a:pt x="8271" y="12931"/>
                </a:lnTo>
                <a:lnTo>
                  <a:pt x="8157" y="11677"/>
                </a:lnTo>
                <a:lnTo>
                  <a:pt x="8059" y="10724"/>
                </a:lnTo>
                <a:close/>
              </a:path>
              <a:path w="26670" h="42545">
                <a:moveTo>
                  <a:pt x="23547" y="8426"/>
                </a:moveTo>
                <a:lnTo>
                  <a:pt x="23338" y="8942"/>
                </a:lnTo>
                <a:lnTo>
                  <a:pt x="23340" y="9768"/>
                </a:lnTo>
                <a:lnTo>
                  <a:pt x="23705" y="10011"/>
                </a:lnTo>
                <a:lnTo>
                  <a:pt x="23598" y="8942"/>
                </a:lnTo>
                <a:lnTo>
                  <a:pt x="23547" y="8426"/>
                </a:lnTo>
                <a:close/>
              </a:path>
              <a:path w="26670" h="42545">
                <a:moveTo>
                  <a:pt x="22510" y="5443"/>
                </a:moveTo>
                <a:lnTo>
                  <a:pt x="13960" y="5443"/>
                </a:lnTo>
                <a:lnTo>
                  <a:pt x="19236" y="7040"/>
                </a:lnTo>
                <a:lnTo>
                  <a:pt x="23340" y="9768"/>
                </a:lnTo>
                <a:lnTo>
                  <a:pt x="23314" y="6101"/>
                </a:lnTo>
                <a:lnTo>
                  <a:pt x="22510" y="5443"/>
                </a:lnTo>
                <a:close/>
              </a:path>
              <a:path w="26670" h="42545">
                <a:moveTo>
                  <a:pt x="19420" y="2914"/>
                </a:moveTo>
                <a:lnTo>
                  <a:pt x="11297" y="3727"/>
                </a:lnTo>
                <a:lnTo>
                  <a:pt x="8338" y="6692"/>
                </a:lnTo>
                <a:lnTo>
                  <a:pt x="8305" y="7040"/>
                </a:lnTo>
                <a:lnTo>
                  <a:pt x="8185" y="8426"/>
                </a:lnTo>
                <a:lnTo>
                  <a:pt x="8823" y="8079"/>
                </a:lnTo>
                <a:lnTo>
                  <a:pt x="13960" y="5443"/>
                </a:lnTo>
                <a:lnTo>
                  <a:pt x="22510" y="5443"/>
                </a:lnTo>
                <a:lnTo>
                  <a:pt x="19420" y="2914"/>
                </a:lnTo>
                <a:close/>
              </a:path>
              <a:path w="26670" h="42545">
                <a:moveTo>
                  <a:pt x="23175" y="4715"/>
                </a:moveTo>
                <a:lnTo>
                  <a:pt x="23248" y="5443"/>
                </a:lnTo>
                <a:lnTo>
                  <a:pt x="23314" y="6101"/>
                </a:lnTo>
                <a:lnTo>
                  <a:pt x="23408" y="7040"/>
                </a:lnTo>
                <a:lnTo>
                  <a:pt x="23548" y="6692"/>
                </a:lnTo>
                <a:lnTo>
                  <a:pt x="23664" y="5443"/>
                </a:lnTo>
                <a:lnTo>
                  <a:pt x="23175" y="4715"/>
                </a:lnTo>
                <a:close/>
              </a:path>
              <a:path w="26670" h="42545">
                <a:moveTo>
                  <a:pt x="12286" y="854"/>
                </a:moveTo>
                <a:lnTo>
                  <a:pt x="9384" y="3262"/>
                </a:lnTo>
                <a:lnTo>
                  <a:pt x="8648" y="5443"/>
                </a:lnTo>
                <a:lnTo>
                  <a:pt x="8393" y="6101"/>
                </a:lnTo>
                <a:lnTo>
                  <a:pt x="8338" y="6692"/>
                </a:lnTo>
                <a:lnTo>
                  <a:pt x="11297" y="3727"/>
                </a:lnTo>
                <a:lnTo>
                  <a:pt x="19420" y="2914"/>
                </a:lnTo>
                <a:lnTo>
                  <a:pt x="21634" y="2914"/>
                </a:lnTo>
                <a:lnTo>
                  <a:pt x="20254" y="1629"/>
                </a:lnTo>
                <a:lnTo>
                  <a:pt x="20614" y="1629"/>
                </a:lnTo>
                <a:lnTo>
                  <a:pt x="12286" y="854"/>
                </a:lnTo>
                <a:close/>
              </a:path>
              <a:path w="26670" h="42545">
                <a:moveTo>
                  <a:pt x="9384" y="3262"/>
                </a:moveTo>
                <a:lnTo>
                  <a:pt x="8393" y="6101"/>
                </a:lnTo>
                <a:lnTo>
                  <a:pt x="8648" y="5443"/>
                </a:lnTo>
                <a:lnTo>
                  <a:pt x="9384" y="3262"/>
                </a:lnTo>
                <a:close/>
              </a:path>
              <a:path w="26670" h="42545">
                <a:moveTo>
                  <a:pt x="21634" y="2914"/>
                </a:moveTo>
                <a:lnTo>
                  <a:pt x="19420" y="2914"/>
                </a:lnTo>
                <a:lnTo>
                  <a:pt x="23314" y="6101"/>
                </a:lnTo>
                <a:lnTo>
                  <a:pt x="23248" y="5443"/>
                </a:lnTo>
                <a:lnTo>
                  <a:pt x="22451" y="3727"/>
                </a:lnTo>
                <a:lnTo>
                  <a:pt x="21969" y="3262"/>
                </a:lnTo>
                <a:lnTo>
                  <a:pt x="21841" y="3108"/>
                </a:lnTo>
                <a:lnTo>
                  <a:pt x="21634" y="2914"/>
                </a:lnTo>
                <a:close/>
              </a:path>
              <a:path w="26670" h="42545">
                <a:moveTo>
                  <a:pt x="22580" y="3998"/>
                </a:moveTo>
                <a:lnTo>
                  <a:pt x="23269" y="5443"/>
                </a:lnTo>
                <a:lnTo>
                  <a:pt x="23175" y="4715"/>
                </a:lnTo>
                <a:lnTo>
                  <a:pt x="22580" y="3998"/>
                </a:lnTo>
                <a:close/>
              </a:path>
              <a:path w="26670" h="42545">
                <a:moveTo>
                  <a:pt x="21267" y="1629"/>
                </a:moveTo>
                <a:lnTo>
                  <a:pt x="20614" y="1629"/>
                </a:lnTo>
                <a:lnTo>
                  <a:pt x="21841" y="3108"/>
                </a:lnTo>
                <a:lnTo>
                  <a:pt x="22506" y="3727"/>
                </a:lnTo>
                <a:lnTo>
                  <a:pt x="22355" y="3727"/>
                </a:lnTo>
                <a:lnTo>
                  <a:pt x="23175" y="4715"/>
                </a:lnTo>
                <a:lnTo>
                  <a:pt x="23076" y="3727"/>
                </a:lnTo>
                <a:lnTo>
                  <a:pt x="23014" y="3108"/>
                </a:lnTo>
                <a:lnTo>
                  <a:pt x="22838" y="2914"/>
                </a:lnTo>
                <a:lnTo>
                  <a:pt x="21267" y="1629"/>
                </a:lnTo>
                <a:close/>
              </a:path>
              <a:path w="26670" h="42545">
                <a:moveTo>
                  <a:pt x="9605" y="2659"/>
                </a:moveTo>
                <a:lnTo>
                  <a:pt x="9001" y="3262"/>
                </a:lnTo>
                <a:lnTo>
                  <a:pt x="8628" y="3727"/>
                </a:lnTo>
                <a:lnTo>
                  <a:pt x="8600" y="3998"/>
                </a:lnTo>
                <a:lnTo>
                  <a:pt x="8823" y="3727"/>
                </a:lnTo>
                <a:lnTo>
                  <a:pt x="9384" y="3262"/>
                </a:lnTo>
                <a:lnTo>
                  <a:pt x="9440" y="3108"/>
                </a:lnTo>
                <a:lnTo>
                  <a:pt x="9511" y="2914"/>
                </a:lnTo>
                <a:lnTo>
                  <a:pt x="9605" y="2659"/>
                </a:lnTo>
                <a:close/>
              </a:path>
              <a:path w="26670" h="42545">
                <a:moveTo>
                  <a:pt x="22007" y="3262"/>
                </a:moveTo>
                <a:lnTo>
                  <a:pt x="22355" y="3727"/>
                </a:lnTo>
                <a:lnTo>
                  <a:pt x="22506" y="3727"/>
                </a:lnTo>
                <a:lnTo>
                  <a:pt x="22007" y="3262"/>
                </a:lnTo>
                <a:close/>
              </a:path>
              <a:path w="26670" h="42545">
                <a:moveTo>
                  <a:pt x="16092" y="318"/>
                </a:moveTo>
                <a:lnTo>
                  <a:pt x="12581" y="318"/>
                </a:lnTo>
                <a:lnTo>
                  <a:pt x="10384" y="1881"/>
                </a:lnTo>
                <a:lnTo>
                  <a:pt x="9605" y="2659"/>
                </a:lnTo>
                <a:lnTo>
                  <a:pt x="9511" y="2914"/>
                </a:lnTo>
                <a:lnTo>
                  <a:pt x="9440" y="3108"/>
                </a:lnTo>
                <a:lnTo>
                  <a:pt x="9384" y="3262"/>
                </a:lnTo>
                <a:lnTo>
                  <a:pt x="12286" y="854"/>
                </a:lnTo>
                <a:lnTo>
                  <a:pt x="10741" y="854"/>
                </a:lnTo>
                <a:lnTo>
                  <a:pt x="16092" y="318"/>
                </a:lnTo>
                <a:close/>
              </a:path>
              <a:path w="26670" h="42545">
                <a:moveTo>
                  <a:pt x="10384" y="1881"/>
                </a:moveTo>
                <a:lnTo>
                  <a:pt x="9706" y="2364"/>
                </a:lnTo>
                <a:lnTo>
                  <a:pt x="9605" y="2659"/>
                </a:lnTo>
                <a:lnTo>
                  <a:pt x="10384" y="1881"/>
                </a:lnTo>
                <a:close/>
              </a:path>
              <a:path w="26670" h="42545">
                <a:moveTo>
                  <a:pt x="19665" y="318"/>
                </a:moveTo>
                <a:lnTo>
                  <a:pt x="17790" y="318"/>
                </a:lnTo>
                <a:lnTo>
                  <a:pt x="19628" y="1046"/>
                </a:lnTo>
                <a:lnTo>
                  <a:pt x="21359" y="2659"/>
                </a:lnTo>
                <a:lnTo>
                  <a:pt x="21224" y="2364"/>
                </a:lnTo>
                <a:lnTo>
                  <a:pt x="20614" y="1629"/>
                </a:lnTo>
                <a:lnTo>
                  <a:pt x="21267" y="1629"/>
                </a:lnTo>
                <a:lnTo>
                  <a:pt x="19665" y="318"/>
                </a:lnTo>
                <a:close/>
              </a:path>
              <a:path w="26670" h="42545">
                <a:moveTo>
                  <a:pt x="11828" y="854"/>
                </a:moveTo>
                <a:lnTo>
                  <a:pt x="11414" y="854"/>
                </a:lnTo>
                <a:lnTo>
                  <a:pt x="10637" y="1629"/>
                </a:lnTo>
                <a:lnTo>
                  <a:pt x="11558" y="1046"/>
                </a:lnTo>
                <a:lnTo>
                  <a:pt x="11828" y="854"/>
                </a:lnTo>
                <a:close/>
              </a:path>
              <a:path w="26670" h="42545">
                <a:moveTo>
                  <a:pt x="19276" y="0"/>
                </a:moveTo>
                <a:lnTo>
                  <a:pt x="10741" y="854"/>
                </a:lnTo>
                <a:lnTo>
                  <a:pt x="12286" y="854"/>
                </a:lnTo>
                <a:lnTo>
                  <a:pt x="20614" y="1629"/>
                </a:lnTo>
                <a:lnTo>
                  <a:pt x="20254" y="1629"/>
                </a:lnTo>
                <a:lnTo>
                  <a:pt x="19628" y="1046"/>
                </a:lnTo>
                <a:lnTo>
                  <a:pt x="17790" y="318"/>
                </a:lnTo>
                <a:lnTo>
                  <a:pt x="19665" y="318"/>
                </a:lnTo>
                <a:lnTo>
                  <a:pt x="19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5" name="object 5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649582" y="4904474"/>
            <a:ext cx="1825112" cy="34001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539593" y="4817952"/>
            <a:ext cx="615762" cy="366513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225556" y="4981109"/>
            <a:ext cx="444647" cy="17906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629940" y="5395984"/>
            <a:ext cx="634667" cy="30502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406051" y="5569558"/>
            <a:ext cx="136414" cy="32532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613130" y="5402512"/>
            <a:ext cx="368877" cy="28524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127990" y="5416501"/>
            <a:ext cx="509924" cy="247345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9723873" y="5518283"/>
            <a:ext cx="362815" cy="17653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866950" y="5813218"/>
            <a:ext cx="1181799" cy="300758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9167878" y="5937678"/>
            <a:ext cx="130661" cy="95138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9423886" y="5814309"/>
            <a:ext cx="371674" cy="289370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7484294" y="6252981"/>
            <a:ext cx="2838450" cy="768985"/>
            <a:chOff x="7484294" y="6252981"/>
            <a:chExt cx="2838450" cy="768985"/>
          </a:xfrm>
        </p:grpSpPr>
        <p:sp>
          <p:nvSpPr>
            <p:cNvPr id="67" name="object 67"/>
            <p:cNvSpPr/>
            <p:nvPr/>
          </p:nvSpPr>
          <p:spPr>
            <a:xfrm>
              <a:off x="9425292" y="6457976"/>
              <a:ext cx="149860" cy="99060"/>
            </a:xfrm>
            <a:custGeom>
              <a:avLst/>
              <a:gdLst/>
              <a:ahLst/>
              <a:cxnLst/>
              <a:rect l="l" t="t" r="r" b="b"/>
              <a:pathLst>
                <a:path w="149859" h="99059">
                  <a:moveTo>
                    <a:pt x="144386" y="92608"/>
                  </a:moveTo>
                  <a:lnTo>
                    <a:pt x="144272" y="90614"/>
                  </a:lnTo>
                  <a:lnTo>
                    <a:pt x="144157" y="88430"/>
                  </a:lnTo>
                  <a:lnTo>
                    <a:pt x="144030" y="86258"/>
                  </a:lnTo>
                  <a:lnTo>
                    <a:pt x="144018" y="86042"/>
                  </a:lnTo>
                  <a:lnTo>
                    <a:pt x="141389" y="83527"/>
                  </a:lnTo>
                  <a:lnTo>
                    <a:pt x="118478" y="83185"/>
                  </a:lnTo>
                  <a:lnTo>
                    <a:pt x="72453" y="82562"/>
                  </a:lnTo>
                  <a:lnTo>
                    <a:pt x="57327" y="82689"/>
                  </a:lnTo>
                  <a:lnTo>
                    <a:pt x="57302" y="82435"/>
                  </a:lnTo>
                  <a:lnTo>
                    <a:pt x="56896" y="79514"/>
                  </a:lnTo>
                  <a:lnTo>
                    <a:pt x="56870" y="79349"/>
                  </a:lnTo>
                  <a:lnTo>
                    <a:pt x="54813" y="77762"/>
                  </a:lnTo>
                  <a:lnTo>
                    <a:pt x="39966" y="79514"/>
                  </a:lnTo>
                  <a:lnTo>
                    <a:pt x="30353" y="81102"/>
                  </a:lnTo>
                  <a:lnTo>
                    <a:pt x="26720" y="81572"/>
                  </a:lnTo>
                  <a:lnTo>
                    <a:pt x="24752" y="82435"/>
                  </a:lnTo>
                  <a:lnTo>
                    <a:pt x="23317" y="82981"/>
                  </a:lnTo>
                  <a:lnTo>
                    <a:pt x="0" y="83185"/>
                  </a:lnTo>
                  <a:lnTo>
                    <a:pt x="22783" y="83185"/>
                  </a:lnTo>
                  <a:lnTo>
                    <a:pt x="22072" y="83464"/>
                  </a:lnTo>
                  <a:lnTo>
                    <a:pt x="22072" y="92405"/>
                  </a:lnTo>
                  <a:lnTo>
                    <a:pt x="21958" y="92176"/>
                  </a:lnTo>
                  <a:lnTo>
                    <a:pt x="22072" y="92405"/>
                  </a:lnTo>
                  <a:lnTo>
                    <a:pt x="22072" y="83464"/>
                  </a:lnTo>
                  <a:lnTo>
                    <a:pt x="20929" y="83908"/>
                  </a:lnTo>
                  <a:lnTo>
                    <a:pt x="20929" y="84150"/>
                  </a:lnTo>
                  <a:lnTo>
                    <a:pt x="20205" y="86042"/>
                  </a:lnTo>
                  <a:lnTo>
                    <a:pt x="20116" y="86258"/>
                  </a:lnTo>
                  <a:lnTo>
                    <a:pt x="20929" y="84150"/>
                  </a:lnTo>
                  <a:lnTo>
                    <a:pt x="20929" y="83908"/>
                  </a:lnTo>
                  <a:lnTo>
                    <a:pt x="20269" y="84150"/>
                  </a:lnTo>
                  <a:lnTo>
                    <a:pt x="18719" y="88125"/>
                  </a:lnTo>
                  <a:lnTo>
                    <a:pt x="18605" y="88430"/>
                  </a:lnTo>
                  <a:lnTo>
                    <a:pt x="21996" y="93306"/>
                  </a:lnTo>
                  <a:lnTo>
                    <a:pt x="23736" y="94246"/>
                  </a:lnTo>
                  <a:lnTo>
                    <a:pt x="29451" y="96304"/>
                  </a:lnTo>
                  <a:lnTo>
                    <a:pt x="34315" y="96951"/>
                  </a:lnTo>
                  <a:lnTo>
                    <a:pt x="34988" y="97040"/>
                  </a:lnTo>
                  <a:lnTo>
                    <a:pt x="34404" y="97040"/>
                  </a:lnTo>
                  <a:lnTo>
                    <a:pt x="38061" y="97447"/>
                  </a:lnTo>
                  <a:lnTo>
                    <a:pt x="41859" y="97967"/>
                  </a:lnTo>
                  <a:lnTo>
                    <a:pt x="44602" y="97967"/>
                  </a:lnTo>
                  <a:lnTo>
                    <a:pt x="48768" y="98298"/>
                  </a:lnTo>
                  <a:lnTo>
                    <a:pt x="51092" y="98298"/>
                  </a:lnTo>
                  <a:lnTo>
                    <a:pt x="56667" y="98463"/>
                  </a:lnTo>
                  <a:lnTo>
                    <a:pt x="65087" y="98463"/>
                  </a:lnTo>
                  <a:lnTo>
                    <a:pt x="87795" y="97967"/>
                  </a:lnTo>
                  <a:lnTo>
                    <a:pt x="88900" y="97967"/>
                  </a:lnTo>
                  <a:lnTo>
                    <a:pt x="122669" y="96532"/>
                  </a:lnTo>
                  <a:lnTo>
                    <a:pt x="141820" y="95491"/>
                  </a:lnTo>
                  <a:lnTo>
                    <a:pt x="144386" y="92608"/>
                  </a:lnTo>
                  <a:close/>
                </a:path>
                <a:path w="149859" h="99059">
                  <a:moveTo>
                    <a:pt x="149491" y="7302"/>
                  </a:moveTo>
                  <a:lnTo>
                    <a:pt x="147193" y="1574"/>
                  </a:lnTo>
                  <a:lnTo>
                    <a:pt x="144602" y="0"/>
                  </a:lnTo>
                  <a:lnTo>
                    <a:pt x="141859" y="279"/>
                  </a:lnTo>
                  <a:lnTo>
                    <a:pt x="101028" y="6946"/>
                  </a:lnTo>
                  <a:lnTo>
                    <a:pt x="82562" y="11468"/>
                  </a:lnTo>
                  <a:lnTo>
                    <a:pt x="74295" y="13614"/>
                  </a:lnTo>
                  <a:lnTo>
                    <a:pt x="31127" y="25831"/>
                  </a:lnTo>
                  <a:lnTo>
                    <a:pt x="29222" y="29565"/>
                  </a:lnTo>
                  <a:lnTo>
                    <a:pt x="30505" y="33858"/>
                  </a:lnTo>
                  <a:lnTo>
                    <a:pt x="31191" y="35915"/>
                  </a:lnTo>
                  <a:lnTo>
                    <a:pt x="33959" y="37769"/>
                  </a:lnTo>
                  <a:lnTo>
                    <a:pt x="37033" y="37477"/>
                  </a:lnTo>
                  <a:lnTo>
                    <a:pt x="50888" y="35915"/>
                  </a:lnTo>
                  <a:lnTo>
                    <a:pt x="64693" y="33858"/>
                  </a:lnTo>
                  <a:lnTo>
                    <a:pt x="78409" y="31343"/>
                  </a:lnTo>
                  <a:lnTo>
                    <a:pt x="86715" y="29565"/>
                  </a:lnTo>
                  <a:lnTo>
                    <a:pt x="87071" y="29565"/>
                  </a:lnTo>
                  <a:lnTo>
                    <a:pt x="91859" y="28473"/>
                  </a:lnTo>
                  <a:lnTo>
                    <a:pt x="92049" y="28422"/>
                  </a:lnTo>
                  <a:lnTo>
                    <a:pt x="97104" y="27254"/>
                  </a:lnTo>
                  <a:lnTo>
                    <a:pt x="96748" y="27254"/>
                  </a:lnTo>
                  <a:lnTo>
                    <a:pt x="97167" y="27152"/>
                  </a:lnTo>
                  <a:lnTo>
                    <a:pt x="105448" y="25107"/>
                  </a:lnTo>
                  <a:lnTo>
                    <a:pt x="144780" y="12166"/>
                  </a:lnTo>
                  <a:lnTo>
                    <a:pt x="148793" y="8928"/>
                  </a:lnTo>
                  <a:lnTo>
                    <a:pt x="149491" y="73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738665" y="6321140"/>
              <a:ext cx="378035" cy="26808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484294" y="6252981"/>
              <a:ext cx="2838128" cy="768689"/>
            </a:xfrm>
            <a:prstGeom prst="rect">
              <a:avLst/>
            </a:prstGeom>
          </p:spPr>
        </p:pic>
      </p:grpSp>
      <p:pic>
        <p:nvPicPr>
          <p:cNvPr id="70" name="object 7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228792" y="6857226"/>
            <a:ext cx="85267" cy="214241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393957" y="6701959"/>
            <a:ext cx="1017729" cy="354734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208180" y="7097631"/>
            <a:ext cx="369166" cy="304632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8655201" y="7274590"/>
            <a:ext cx="116453" cy="93716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8931816" y="7098362"/>
            <a:ext cx="1573376" cy="34367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spc="75" dirty="0"/>
              <a:t> </a:t>
            </a:r>
            <a:r>
              <a:rPr dirty="0"/>
              <a:t>so</a:t>
            </a:r>
            <a:r>
              <a:rPr spc="70" dirty="0"/>
              <a:t> </a:t>
            </a:r>
            <a:r>
              <a:rPr spc="-25" dirty="0"/>
              <a:t>far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6" y="1720653"/>
            <a:ext cx="6639559" cy="307657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regression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exemplifies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recurring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themes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course:</a:t>
            </a:r>
            <a:endParaRPr sz="1900">
              <a:latin typeface="Calibri"/>
              <a:cs typeface="Calibri"/>
            </a:endParaRPr>
          </a:p>
          <a:p>
            <a:pPr marL="379095" indent="-27114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79095" algn="l"/>
              </a:tabLst>
            </a:pPr>
            <a:r>
              <a:rPr sz="1900" dirty="0">
                <a:latin typeface="Calibri"/>
                <a:cs typeface="Calibri"/>
              </a:rPr>
              <a:t>Choose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sz="19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19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endParaRPr sz="1900">
              <a:latin typeface="Calibri"/>
              <a:cs typeface="Calibri"/>
            </a:endParaRPr>
          </a:p>
          <a:p>
            <a:pPr marL="379095" indent="-271145">
              <a:lnSpc>
                <a:spcPts val="2230"/>
              </a:lnSpc>
              <a:spcBef>
                <a:spcPts val="25"/>
              </a:spcBef>
              <a:buFont typeface="Arial MT"/>
              <a:buChar char="•"/>
              <a:tabLst>
                <a:tab pos="379095" algn="l"/>
              </a:tabLst>
            </a:pPr>
            <a:r>
              <a:rPr sz="1900" dirty="0">
                <a:latin typeface="Calibri"/>
                <a:cs typeface="Calibri"/>
              </a:rPr>
              <a:t>Formulate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optimization</a:t>
            </a:r>
            <a:r>
              <a:rPr sz="19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problem</a:t>
            </a:r>
            <a:endParaRPr sz="1900">
              <a:latin typeface="Calibri"/>
              <a:cs typeface="Calibri"/>
            </a:endParaRPr>
          </a:p>
          <a:p>
            <a:pPr marL="379095" indent="-271145">
              <a:lnSpc>
                <a:spcPts val="2230"/>
              </a:lnSpc>
              <a:buFont typeface="Arial MT"/>
              <a:buChar char="•"/>
              <a:tabLst>
                <a:tab pos="379095" algn="l"/>
              </a:tabLst>
            </a:pPr>
            <a:r>
              <a:rPr sz="1900" dirty="0">
                <a:latin typeface="Calibri"/>
                <a:cs typeface="Calibri"/>
              </a:rPr>
              <a:t>Solve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minimization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problem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two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strategies</a:t>
            </a:r>
            <a:endParaRPr sz="1900">
              <a:latin typeface="Calibri"/>
              <a:cs typeface="Calibri"/>
            </a:endParaRPr>
          </a:p>
          <a:p>
            <a:pPr marL="895985" lvl="1" indent="-27051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Wingdings"/>
              <a:buChar char=""/>
              <a:tabLst>
                <a:tab pos="89598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Direct</a:t>
            </a:r>
            <a:r>
              <a:rPr sz="19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solution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(set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derivatives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zero)</a:t>
            </a:r>
            <a:endParaRPr sz="1900">
              <a:latin typeface="Calibri"/>
              <a:cs typeface="Calibri"/>
            </a:endParaRPr>
          </a:p>
          <a:p>
            <a:pPr marL="895985" lvl="1" indent="-270510">
              <a:lnSpc>
                <a:spcPct val="100000"/>
              </a:lnSpc>
              <a:spcBef>
                <a:spcPts val="25"/>
              </a:spcBef>
              <a:buClr>
                <a:srgbClr val="000000"/>
              </a:buClr>
              <a:buFont typeface="Wingdings"/>
              <a:buChar char=""/>
              <a:tabLst>
                <a:tab pos="89598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Gradient</a:t>
            </a:r>
            <a:r>
              <a:rPr sz="19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descent</a:t>
            </a:r>
            <a:r>
              <a:rPr sz="19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(next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topic)</a:t>
            </a:r>
            <a:endParaRPr sz="1900">
              <a:latin typeface="Calibri"/>
              <a:cs typeface="Calibri"/>
            </a:endParaRPr>
          </a:p>
          <a:p>
            <a:pPr marL="379095" indent="-271145">
              <a:lnSpc>
                <a:spcPts val="2245"/>
              </a:lnSpc>
              <a:spcBef>
                <a:spcPts val="1630"/>
              </a:spcBef>
              <a:buClr>
                <a:srgbClr val="000000"/>
              </a:buClr>
              <a:buFont typeface="Arial MT"/>
              <a:buChar char="•"/>
              <a:tabLst>
                <a:tab pos="37909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Vectorize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algorithm,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i.e.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represent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terms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algebra</a:t>
            </a:r>
            <a:endParaRPr sz="1900">
              <a:latin typeface="Calibri"/>
              <a:cs typeface="Calibri"/>
            </a:endParaRPr>
          </a:p>
          <a:p>
            <a:pPr marL="379095" indent="-271145">
              <a:lnSpc>
                <a:spcPts val="2245"/>
              </a:lnSpc>
              <a:buFont typeface="Arial MT"/>
              <a:buChar char="•"/>
              <a:tabLst>
                <a:tab pos="379095" algn="l"/>
              </a:tabLst>
            </a:pPr>
            <a:r>
              <a:rPr sz="1900" dirty="0">
                <a:latin typeface="Calibri"/>
                <a:cs typeface="Calibri"/>
              </a:rPr>
              <a:t>Make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powerful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using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features</a:t>
            </a:r>
            <a:endParaRPr sz="1900">
              <a:latin typeface="Calibri"/>
              <a:cs typeface="Calibri"/>
            </a:endParaRPr>
          </a:p>
          <a:p>
            <a:pPr marL="37909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79095" algn="l"/>
              </a:tabLst>
            </a:pPr>
            <a:r>
              <a:rPr sz="1900" dirty="0">
                <a:latin typeface="Calibri"/>
                <a:cs typeface="Calibri"/>
              </a:rPr>
              <a:t>Improve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generalization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adding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regularizer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5009" y="1150804"/>
            <a:ext cx="251789" cy="4944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Gradient</a:t>
            </a:r>
            <a:r>
              <a:rPr spc="60" dirty="0"/>
              <a:t> </a:t>
            </a:r>
            <a:r>
              <a:rPr spc="-10" dirty="0"/>
              <a:t>Descent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47195" y="4168895"/>
            <a:ext cx="4648611" cy="2080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56457" y="1820898"/>
            <a:ext cx="8864600" cy="23361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3845" marR="750570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Now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let’s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second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way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minimize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cost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which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more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broadly </a:t>
            </a:r>
            <a:r>
              <a:rPr sz="1900" dirty="0">
                <a:latin typeface="Calibri"/>
                <a:cs typeface="Calibri"/>
              </a:rPr>
              <a:t>applicable:</a:t>
            </a:r>
            <a:r>
              <a:rPr sz="1900" spc="-9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gradient</a:t>
            </a:r>
            <a:r>
              <a:rPr sz="19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descent</a:t>
            </a:r>
            <a:r>
              <a:rPr sz="1900" spc="-10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ts val="2210"/>
              </a:lnSpc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Many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times,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direct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solution: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Taking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derivatives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𝒥</a:t>
            </a:r>
            <a:r>
              <a:rPr sz="1900" spc="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w.r.t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libri"/>
                <a:cs typeface="Calibri"/>
              </a:rPr>
              <a:t>and</a:t>
            </a:r>
            <a:endParaRPr sz="19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latin typeface="Calibri"/>
                <a:cs typeface="Calibri"/>
              </a:rPr>
              <a:t>setting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them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doesn’t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explicit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solution.</a:t>
            </a:r>
            <a:endParaRPr sz="1900">
              <a:latin typeface="Calibri"/>
              <a:cs typeface="Calibri"/>
            </a:endParaRPr>
          </a:p>
          <a:p>
            <a:pPr marL="283845" marR="5080" indent="-271780">
              <a:lnSpc>
                <a:spcPts val="2300"/>
              </a:lnSpc>
              <a:spcBef>
                <a:spcPts val="8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descent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iterative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algorithm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which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means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apply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update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repeatedly </a:t>
            </a:r>
            <a:r>
              <a:rPr sz="1900" dirty="0">
                <a:latin typeface="Calibri"/>
                <a:cs typeface="Calibri"/>
              </a:rPr>
              <a:t>until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some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criterion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met.</a:t>
            </a:r>
            <a:endParaRPr sz="1900">
              <a:latin typeface="Calibri"/>
              <a:cs typeface="Calibri"/>
            </a:endParaRPr>
          </a:p>
          <a:p>
            <a:pPr marL="283845" marR="9525" indent="-271780">
              <a:lnSpc>
                <a:spcPts val="2180"/>
              </a:lnSpc>
              <a:spcBef>
                <a:spcPts val="10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initialize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weights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something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reasonable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(e.g.,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all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zeros)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repeatedly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adjust </a:t>
            </a:r>
            <a:r>
              <a:rPr sz="1900" dirty="0">
                <a:latin typeface="Calibri"/>
                <a:cs typeface="Calibri"/>
              </a:rPr>
              <a:t>them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direction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steepest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descent</a:t>
            </a:r>
            <a:r>
              <a:rPr sz="1900" spc="-10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1126" y="1188025"/>
            <a:ext cx="735805" cy="4120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95823" y="2050234"/>
            <a:ext cx="3017393" cy="3675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87813" y="2033742"/>
            <a:ext cx="778210" cy="3719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24483" y="2068572"/>
            <a:ext cx="689755" cy="3522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77053" y="2043967"/>
            <a:ext cx="1983177" cy="85228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099162" y="2107661"/>
            <a:ext cx="227103" cy="253622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8272681" y="4065094"/>
            <a:ext cx="2418080" cy="2117725"/>
            <a:chOff x="8272681" y="4065094"/>
            <a:chExt cx="2418080" cy="2117725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72681" y="5218378"/>
              <a:ext cx="260459" cy="16128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31208" y="4065094"/>
              <a:ext cx="2259220" cy="2117304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248198" y="6316569"/>
            <a:ext cx="203897" cy="20574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524850" y="6253706"/>
            <a:ext cx="1963413" cy="102226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Gradient</a:t>
            </a:r>
            <a:r>
              <a:rPr spc="60" dirty="0"/>
              <a:t> </a:t>
            </a:r>
            <a:r>
              <a:rPr spc="-10" dirty="0"/>
              <a:t>Descent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8356" y="1708461"/>
            <a:ext cx="8578850" cy="179070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21945" indent="-27114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21945" algn="l"/>
              </a:tabLst>
            </a:pPr>
            <a:r>
              <a:rPr sz="1900" spc="-10" dirty="0">
                <a:latin typeface="Calibri"/>
                <a:cs typeface="Calibri"/>
              </a:rPr>
              <a:t>Observe</a:t>
            </a:r>
            <a:r>
              <a:rPr sz="1900" spc="-10" dirty="0">
                <a:latin typeface="Arial MT"/>
                <a:cs typeface="Arial MT"/>
              </a:rPr>
              <a:t>:</a:t>
            </a:r>
            <a:endParaRPr sz="1900">
              <a:latin typeface="Arial MT"/>
              <a:cs typeface="Arial MT"/>
            </a:endParaRPr>
          </a:p>
          <a:p>
            <a:pPr marL="778510" lvl="1" indent="-270510">
              <a:lnSpc>
                <a:spcPct val="100000"/>
              </a:lnSpc>
              <a:spcBef>
                <a:spcPts val="190"/>
              </a:spcBef>
              <a:buFont typeface="Wingdings"/>
              <a:buChar char=""/>
              <a:tabLst>
                <a:tab pos="778510" algn="l"/>
              </a:tabLst>
            </a:pPr>
            <a:r>
              <a:rPr sz="1900" dirty="0">
                <a:latin typeface="Calibri"/>
                <a:cs typeface="Calibri"/>
              </a:rPr>
              <a:t>If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𝜕𝒥</a:t>
            </a:r>
            <a:r>
              <a:rPr sz="2850" baseline="1461" dirty="0">
                <a:latin typeface="Cambria Math"/>
                <a:cs typeface="Cambria Math"/>
              </a:rPr>
              <a:t>⁄</a:t>
            </a:r>
            <a:r>
              <a:rPr sz="1900" dirty="0">
                <a:latin typeface="Cambria Math"/>
                <a:cs typeface="Cambria Math"/>
              </a:rPr>
              <a:t>𝜕𝑤</a:t>
            </a:r>
            <a:r>
              <a:rPr sz="2100" baseline="-15873" dirty="0">
                <a:latin typeface="Cambria Math"/>
                <a:cs typeface="Cambria Math"/>
              </a:rPr>
              <a:t>j</a:t>
            </a:r>
            <a:r>
              <a:rPr sz="2100" spc="502" baseline="-15873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&gt;</a:t>
            </a:r>
            <a:r>
              <a:rPr sz="1900" spc="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0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then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increasing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2100" baseline="-15873" dirty="0">
                <a:latin typeface="Cambria Math"/>
                <a:cs typeface="Cambria Math"/>
              </a:rPr>
              <a:t>j</a:t>
            </a:r>
            <a:r>
              <a:rPr sz="2100" spc="352" baseline="-15873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increases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𝒥</a:t>
            </a:r>
            <a:r>
              <a:rPr sz="1900" spc="-25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marL="778510" lvl="1" indent="-270510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778510" algn="l"/>
              </a:tabLst>
            </a:pPr>
            <a:r>
              <a:rPr sz="1900" dirty="0">
                <a:latin typeface="Calibri"/>
                <a:cs typeface="Calibri"/>
              </a:rPr>
              <a:t>If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𝜕𝒥</a:t>
            </a:r>
            <a:r>
              <a:rPr sz="2850" baseline="2923" dirty="0">
                <a:latin typeface="Cambria Math"/>
                <a:cs typeface="Cambria Math"/>
              </a:rPr>
              <a:t>⁄</a:t>
            </a:r>
            <a:r>
              <a:rPr sz="1900" dirty="0">
                <a:latin typeface="Cambria Math"/>
                <a:cs typeface="Cambria Math"/>
              </a:rPr>
              <a:t>𝜕𝑤</a:t>
            </a:r>
            <a:r>
              <a:rPr sz="2100" baseline="-15873" dirty="0">
                <a:latin typeface="Cambria Math"/>
                <a:cs typeface="Cambria Math"/>
              </a:rPr>
              <a:t>j</a:t>
            </a:r>
            <a:r>
              <a:rPr sz="2100" spc="502" baseline="-15873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&lt;</a:t>
            </a:r>
            <a:r>
              <a:rPr sz="1900" spc="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0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then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increasing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2100" baseline="-15873" dirty="0">
                <a:latin typeface="Cambria Math"/>
                <a:cs typeface="Cambria Math"/>
              </a:rPr>
              <a:t>j</a:t>
            </a:r>
            <a:r>
              <a:rPr sz="2100" spc="352" baseline="-15873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decreases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𝒥</a:t>
            </a:r>
            <a:r>
              <a:rPr sz="1900" spc="-25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marL="321945" indent="-271145">
              <a:lnSpc>
                <a:spcPct val="100000"/>
              </a:lnSpc>
              <a:spcBef>
                <a:spcPts val="1850"/>
              </a:spcBef>
              <a:buFont typeface="Arial MT"/>
              <a:buChar char="•"/>
              <a:tabLst>
                <a:tab pos="32194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following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update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always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decreases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cost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small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enough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𝛼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spc="-10" dirty="0">
                <a:latin typeface="Calibri"/>
                <a:cs typeface="Calibri"/>
              </a:rPr>
              <a:t>(unless</a:t>
            </a:r>
            <a:endParaRPr sz="1900">
              <a:latin typeface="Calibri"/>
              <a:cs typeface="Calibri"/>
            </a:endParaRPr>
          </a:p>
          <a:p>
            <a:pPr marL="321945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latin typeface="Cambria Math"/>
                <a:cs typeface="Cambria Math"/>
              </a:rPr>
              <a:t>𝜕𝒥</a:t>
            </a:r>
            <a:r>
              <a:rPr sz="2850" baseline="2923" dirty="0">
                <a:latin typeface="Cambria Math"/>
                <a:cs typeface="Cambria Math"/>
              </a:rPr>
              <a:t>⁄</a:t>
            </a:r>
            <a:r>
              <a:rPr sz="1900" dirty="0">
                <a:latin typeface="Cambria Math"/>
                <a:cs typeface="Cambria Math"/>
              </a:rPr>
              <a:t>𝜕𝑤</a:t>
            </a:r>
            <a:r>
              <a:rPr sz="2100" baseline="-15873" dirty="0">
                <a:latin typeface="Cambria Math"/>
                <a:cs typeface="Cambria Math"/>
              </a:rPr>
              <a:t>j</a:t>
            </a:r>
            <a:r>
              <a:rPr sz="2100" spc="600" baseline="-15873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145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0</a:t>
            </a:r>
            <a:r>
              <a:rPr sz="1900" spc="-25" dirty="0">
                <a:latin typeface="Calibri"/>
                <a:cs typeface="Calibri"/>
              </a:rPr>
              <a:t>):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1056" y="4210869"/>
            <a:ext cx="8811895" cy="177546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09245" indent="-27114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mbria Math"/>
                <a:cs typeface="Cambria Math"/>
              </a:rPr>
              <a:t>𝛼</a:t>
            </a:r>
            <a:r>
              <a:rPr sz="1900" spc="1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&gt;</a:t>
            </a:r>
            <a:r>
              <a:rPr sz="1900" spc="8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0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learning</a:t>
            </a:r>
            <a:r>
              <a:rPr sz="19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rate</a:t>
            </a:r>
            <a:r>
              <a:rPr sz="19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(or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step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size).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larger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is,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faster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-20" dirty="0">
                <a:latin typeface="Cambria Math"/>
                <a:cs typeface="Cambria Math"/>
              </a:rPr>
              <a:t> </a:t>
            </a:r>
            <a:r>
              <a:rPr sz="1900" spc="-10" dirty="0">
                <a:latin typeface="Calibri"/>
                <a:cs typeface="Calibri"/>
              </a:rPr>
              <a:t>changes.</a:t>
            </a:r>
            <a:endParaRPr sz="1900">
              <a:latin typeface="Calibri"/>
              <a:cs typeface="Calibri"/>
            </a:endParaRPr>
          </a:p>
          <a:p>
            <a:pPr marL="765810" lvl="1" indent="-27051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765810" algn="l"/>
              </a:tabLst>
            </a:pPr>
            <a:r>
              <a:rPr sz="1900" dirty="0">
                <a:latin typeface="Calibri"/>
                <a:cs typeface="Calibri"/>
              </a:rPr>
              <a:t>We’ll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later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how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tune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learning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rate,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but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typically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small,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e.g.,</a:t>
            </a:r>
            <a:endParaRPr sz="1900">
              <a:latin typeface="Calibri"/>
              <a:cs typeface="Calibri"/>
            </a:endParaRPr>
          </a:p>
          <a:p>
            <a:pPr marL="766445">
              <a:lnSpc>
                <a:spcPts val="2245"/>
              </a:lnSpc>
              <a:spcBef>
                <a:spcPts val="20"/>
              </a:spcBef>
            </a:pPr>
            <a:r>
              <a:rPr sz="1900" dirty="0">
                <a:latin typeface="Calibri"/>
                <a:cs typeface="Calibri"/>
              </a:rPr>
              <a:t>0.01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0.0001.</a:t>
            </a:r>
            <a:endParaRPr sz="1900">
              <a:latin typeface="Calibri"/>
              <a:cs typeface="Calibri"/>
            </a:endParaRPr>
          </a:p>
          <a:p>
            <a:pPr marL="765175" marR="43180" indent="-270510">
              <a:lnSpc>
                <a:spcPts val="2300"/>
              </a:lnSpc>
              <a:spcBef>
                <a:spcPts val="25"/>
              </a:spcBef>
              <a:buFont typeface="Wingdings"/>
              <a:buChar char=""/>
              <a:tabLst>
                <a:tab pos="766445" algn="l"/>
              </a:tabLst>
            </a:pPr>
            <a:r>
              <a:rPr sz="1900" dirty="0">
                <a:latin typeface="Calibri"/>
                <a:cs typeface="Calibri"/>
              </a:rPr>
              <a:t>If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cost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sum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𝑁</a:t>
            </a:r>
            <a:r>
              <a:rPr sz="1900" spc="2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individual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losses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rather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their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average,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smaller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learning 	</a:t>
            </a:r>
            <a:r>
              <a:rPr sz="1900" dirty="0">
                <a:latin typeface="Calibri"/>
                <a:cs typeface="Calibri"/>
              </a:rPr>
              <a:t>rate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will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needed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70" dirty="0">
                <a:latin typeface="Calibri"/>
                <a:cs typeface="Calibri"/>
              </a:rPr>
              <a:t>(</a:t>
            </a:r>
            <a:r>
              <a:rPr sz="1900" spc="70" dirty="0">
                <a:latin typeface="Cambria Math"/>
                <a:cs typeface="Cambria Math"/>
              </a:rPr>
              <a:t>𝛼</a:t>
            </a:r>
            <a:r>
              <a:rPr sz="2100" spc="104" baseline="27777" dirty="0">
                <a:latin typeface="Cambria Math"/>
                <a:cs typeface="Cambria Math"/>
              </a:rPr>
              <a:t>′</a:t>
            </a:r>
            <a:r>
              <a:rPr sz="2100" spc="390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70" dirty="0">
                <a:latin typeface="Cambria Math"/>
                <a:cs typeface="Cambria Math"/>
              </a:rPr>
              <a:t> </a:t>
            </a:r>
            <a:r>
              <a:rPr sz="1900" spc="-20" dirty="0">
                <a:latin typeface="Cambria Math"/>
                <a:cs typeface="Cambria Math"/>
              </a:rPr>
              <a:t>𝛼</a:t>
            </a:r>
            <a:r>
              <a:rPr sz="2850" spc="-30" baseline="1461" dirty="0">
                <a:latin typeface="Cambria Math"/>
                <a:cs typeface="Cambria Math"/>
              </a:rPr>
              <a:t>⁄</a:t>
            </a:r>
            <a:r>
              <a:rPr sz="1900" spc="-20" dirty="0">
                <a:latin typeface="Cambria Math"/>
                <a:cs typeface="Cambria Math"/>
              </a:rPr>
              <a:t>𝑁</a:t>
            </a:r>
            <a:r>
              <a:rPr sz="1900" spc="-20" dirty="0">
                <a:latin typeface="Calibri"/>
                <a:cs typeface="Calibri"/>
              </a:rPr>
              <a:t>).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79500" y="3694984"/>
            <a:ext cx="6934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6900" algn="l"/>
              </a:tabLst>
            </a:pPr>
            <a:r>
              <a:rPr sz="1400" spc="229" dirty="0">
                <a:latin typeface="Cambria Math"/>
                <a:cs typeface="Cambria Math"/>
              </a:rPr>
              <a:t>j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229" dirty="0">
                <a:latin typeface="Cambria Math"/>
                <a:cs typeface="Cambria Math"/>
              </a:rPr>
              <a:t>j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60423" y="3760248"/>
            <a:ext cx="393700" cy="13335"/>
          </a:xfrm>
          <a:custGeom>
            <a:avLst/>
            <a:gdLst/>
            <a:ahLst/>
            <a:cxnLst/>
            <a:rect l="l" t="t" r="r" b="b"/>
            <a:pathLst>
              <a:path w="393700" h="13335">
                <a:moveTo>
                  <a:pt x="393700" y="0"/>
                </a:moveTo>
                <a:lnTo>
                  <a:pt x="0" y="0"/>
                </a:lnTo>
                <a:lnTo>
                  <a:pt x="0" y="12714"/>
                </a:lnTo>
                <a:lnTo>
                  <a:pt x="393700" y="12714"/>
                </a:lnTo>
                <a:lnTo>
                  <a:pt x="393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05098" y="3582642"/>
            <a:ext cx="1720214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52425" algn="l"/>
              </a:tabLst>
            </a:pPr>
            <a:r>
              <a:rPr sz="1900" spc="-50" dirty="0">
                <a:latin typeface="Cambria Math"/>
                <a:cs typeface="Cambria Math"/>
              </a:rPr>
              <a:t>𝑤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-325" dirty="0">
                <a:latin typeface="Cambria Math"/>
                <a:cs typeface="Cambria Math"/>
              </a:rPr>
              <a:t>➛</a:t>
            </a:r>
            <a:r>
              <a:rPr sz="1900" spc="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𝑤</a:t>
            </a:r>
            <a:r>
              <a:rPr sz="1900" spc="60" dirty="0">
                <a:latin typeface="Cambria Math"/>
                <a:cs typeface="Cambria Math"/>
              </a:rPr>
              <a:t> 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𝛼</a:t>
            </a:r>
            <a:r>
              <a:rPr sz="1900" spc="325" dirty="0">
                <a:latin typeface="Cambria Math"/>
                <a:cs typeface="Cambria Math"/>
              </a:rPr>
              <a:t> </a:t>
            </a:r>
            <a:r>
              <a:rPr sz="2850" spc="-37" baseline="42397" dirty="0">
                <a:latin typeface="Cambria Math"/>
                <a:cs typeface="Cambria Math"/>
              </a:rPr>
              <a:t>𝜕𝒥</a:t>
            </a:r>
            <a:endParaRPr sz="2850" baseline="42397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16463" y="3744186"/>
            <a:ext cx="44958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latin typeface="Cambria Math"/>
                <a:cs typeface="Cambria Math"/>
              </a:rPr>
              <a:t>𝜕𝑤</a:t>
            </a:r>
            <a:r>
              <a:rPr sz="2100" spc="-37" baseline="-15873" dirty="0">
                <a:latin typeface="Cambria Math"/>
                <a:cs typeface="Cambria Math"/>
              </a:rPr>
              <a:t>j</a:t>
            </a:r>
            <a:endParaRPr sz="2100" baseline="-15873">
              <a:latin typeface="Cambria Math"/>
              <a:cs typeface="Cambria Math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7728" y="415238"/>
            <a:ext cx="1150488" cy="469692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516874" y="785613"/>
            <a:ext cx="39370" cy="56515"/>
          </a:xfrm>
          <a:custGeom>
            <a:avLst/>
            <a:gdLst/>
            <a:ahLst/>
            <a:cxnLst/>
            <a:rect l="l" t="t" r="r" b="b"/>
            <a:pathLst>
              <a:path w="39370" h="56515">
                <a:moveTo>
                  <a:pt x="33021" y="0"/>
                </a:moveTo>
                <a:lnTo>
                  <a:pt x="30261" y="960"/>
                </a:lnTo>
                <a:lnTo>
                  <a:pt x="25228" y="10741"/>
                </a:lnTo>
                <a:lnTo>
                  <a:pt x="21270" y="18194"/>
                </a:lnTo>
                <a:lnTo>
                  <a:pt x="0" y="51241"/>
                </a:lnTo>
                <a:lnTo>
                  <a:pt x="147" y="53564"/>
                </a:lnTo>
                <a:lnTo>
                  <a:pt x="3060" y="56131"/>
                </a:lnTo>
                <a:lnTo>
                  <a:pt x="4759" y="56131"/>
                </a:lnTo>
                <a:lnTo>
                  <a:pt x="30094" y="23076"/>
                </a:lnTo>
                <a:lnTo>
                  <a:pt x="38815" y="5008"/>
                </a:lnTo>
                <a:lnTo>
                  <a:pt x="37757" y="2167"/>
                </a:lnTo>
                <a:lnTo>
                  <a:pt x="330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8795" y="487558"/>
            <a:ext cx="1001965" cy="30723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57431" y="501699"/>
            <a:ext cx="1359632" cy="35407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88589" y="514968"/>
            <a:ext cx="854108" cy="29134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06822" y="474166"/>
            <a:ext cx="1314384" cy="35748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9510189" y="784729"/>
            <a:ext cx="25400" cy="24765"/>
          </a:xfrm>
          <a:custGeom>
            <a:avLst/>
            <a:gdLst/>
            <a:ahLst/>
            <a:cxnLst/>
            <a:rect l="l" t="t" r="r" b="b"/>
            <a:pathLst>
              <a:path w="25400" h="24765">
                <a:moveTo>
                  <a:pt x="21752" y="0"/>
                </a:moveTo>
                <a:lnTo>
                  <a:pt x="19969" y="0"/>
                </a:lnTo>
                <a:lnTo>
                  <a:pt x="1018" y="11962"/>
                </a:lnTo>
                <a:lnTo>
                  <a:pt x="0" y="16466"/>
                </a:lnTo>
                <a:lnTo>
                  <a:pt x="4300" y="23279"/>
                </a:lnTo>
                <a:lnTo>
                  <a:pt x="8804" y="24296"/>
                </a:lnTo>
                <a:lnTo>
                  <a:pt x="13023" y="21633"/>
                </a:lnTo>
                <a:lnTo>
                  <a:pt x="13728" y="20963"/>
                </a:lnTo>
                <a:lnTo>
                  <a:pt x="25242" y="4602"/>
                </a:lnTo>
                <a:lnTo>
                  <a:pt x="24817" y="2156"/>
                </a:lnTo>
                <a:lnTo>
                  <a:pt x="217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24560" y="1006799"/>
            <a:ext cx="1122854" cy="385519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4523395" y="1309738"/>
            <a:ext cx="51435" cy="22860"/>
          </a:xfrm>
          <a:custGeom>
            <a:avLst/>
            <a:gdLst/>
            <a:ahLst/>
            <a:cxnLst/>
            <a:rect l="l" t="t" r="r" b="b"/>
            <a:pathLst>
              <a:path w="51435" h="22859">
                <a:moveTo>
                  <a:pt x="47731" y="0"/>
                </a:moveTo>
                <a:lnTo>
                  <a:pt x="45157" y="0"/>
                </a:lnTo>
                <a:lnTo>
                  <a:pt x="43564" y="1550"/>
                </a:lnTo>
                <a:lnTo>
                  <a:pt x="34662" y="8401"/>
                </a:lnTo>
                <a:lnTo>
                  <a:pt x="24638" y="13119"/>
                </a:lnTo>
                <a:lnTo>
                  <a:pt x="13858" y="15953"/>
                </a:lnTo>
                <a:lnTo>
                  <a:pt x="2112" y="17213"/>
                </a:lnTo>
                <a:lnTo>
                  <a:pt x="1177" y="17213"/>
                </a:lnTo>
                <a:lnTo>
                  <a:pt x="0" y="18492"/>
                </a:lnTo>
                <a:lnTo>
                  <a:pt x="119" y="21404"/>
                </a:lnTo>
                <a:lnTo>
                  <a:pt x="1314" y="22633"/>
                </a:lnTo>
                <a:lnTo>
                  <a:pt x="14660" y="22633"/>
                </a:lnTo>
                <a:lnTo>
                  <a:pt x="27733" y="20104"/>
                </a:lnTo>
                <a:lnTo>
                  <a:pt x="39232" y="15161"/>
                </a:lnTo>
                <a:lnTo>
                  <a:pt x="49338" y="7383"/>
                </a:lnTo>
                <a:lnTo>
                  <a:pt x="50935" y="5775"/>
                </a:lnTo>
                <a:lnTo>
                  <a:pt x="50928" y="3177"/>
                </a:lnTo>
                <a:lnTo>
                  <a:pt x="477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57904" y="978758"/>
            <a:ext cx="2579963" cy="34988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56785" y="965623"/>
            <a:ext cx="2268019" cy="435009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9824591" y="1375254"/>
            <a:ext cx="27940" cy="19050"/>
          </a:xfrm>
          <a:custGeom>
            <a:avLst/>
            <a:gdLst/>
            <a:ahLst/>
            <a:cxnLst/>
            <a:rect l="l" t="t" r="r" b="b"/>
            <a:pathLst>
              <a:path w="27940" h="19050">
                <a:moveTo>
                  <a:pt x="22453" y="0"/>
                </a:moveTo>
                <a:lnTo>
                  <a:pt x="0" y="15006"/>
                </a:lnTo>
                <a:lnTo>
                  <a:pt x="2124" y="18067"/>
                </a:lnTo>
                <a:lnTo>
                  <a:pt x="3689" y="18698"/>
                </a:lnTo>
                <a:lnTo>
                  <a:pt x="25316" y="14401"/>
                </a:lnTo>
                <a:lnTo>
                  <a:pt x="27899" y="10537"/>
                </a:lnTo>
                <a:lnTo>
                  <a:pt x="26318" y="2583"/>
                </a:lnTo>
                <a:lnTo>
                  <a:pt x="224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6775143" y="3207589"/>
            <a:ext cx="3263900" cy="1534795"/>
            <a:chOff x="6775143" y="3207589"/>
            <a:chExt cx="3263900" cy="153479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7055" y="3378266"/>
              <a:ext cx="552918" cy="21971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79120" y="3396030"/>
              <a:ext cx="37270" cy="11254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75143" y="3207589"/>
              <a:ext cx="3263719" cy="15341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Gradient</a:t>
            </a:r>
            <a:r>
              <a:rPr spc="60" dirty="0"/>
              <a:t> </a:t>
            </a:r>
            <a:r>
              <a:rPr spc="-10" dirty="0"/>
              <a:t>Descent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6" y="1732506"/>
            <a:ext cx="39033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This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gets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name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from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gradient</a:t>
            </a:r>
            <a:r>
              <a:rPr sz="1900" spc="-10" dirty="0"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456" y="3051912"/>
            <a:ext cx="4081145" cy="7366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754380" indent="-271145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754380" algn="l"/>
              </a:tabLst>
            </a:pPr>
            <a:r>
              <a:rPr sz="1500" dirty="0">
                <a:latin typeface="Calibri"/>
                <a:cs typeface="Calibri"/>
              </a:rPr>
              <a:t>This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direction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fastest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increase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5" dirty="0">
                <a:latin typeface="Cambria Math"/>
                <a:cs typeface="Cambria Math"/>
              </a:rPr>
              <a:t>𝒥</a:t>
            </a:r>
            <a:r>
              <a:rPr sz="1500" spc="-25" dirty="0">
                <a:latin typeface="Calibri"/>
                <a:cs typeface="Calibri"/>
              </a:rPr>
              <a:t>.</a:t>
            </a:r>
            <a:endParaRPr sz="15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Update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rule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vector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form: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76256" y="5750104"/>
            <a:ext cx="254000" cy="13335"/>
          </a:xfrm>
          <a:custGeom>
            <a:avLst/>
            <a:gdLst/>
            <a:ahLst/>
            <a:cxnLst/>
            <a:rect l="l" t="t" r="r" b="b"/>
            <a:pathLst>
              <a:path w="254000" h="13335">
                <a:moveTo>
                  <a:pt x="254000" y="0"/>
                </a:moveTo>
                <a:lnTo>
                  <a:pt x="0" y="0"/>
                </a:lnTo>
                <a:lnTo>
                  <a:pt x="0" y="12714"/>
                </a:lnTo>
                <a:lnTo>
                  <a:pt x="254000" y="12714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57536" y="5758481"/>
            <a:ext cx="2787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𝛛w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1056" y="5572986"/>
            <a:ext cx="684784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Observe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once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converges,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get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critical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point,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i.e.</a:t>
            </a:r>
            <a:r>
              <a:rPr sz="1900" spc="60" dirty="0">
                <a:latin typeface="Calibri"/>
                <a:cs typeface="Calibri"/>
              </a:rPr>
              <a:t> </a:t>
            </a:r>
            <a:r>
              <a:rPr sz="2100" baseline="45634" dirty="0">
                <a:latin typeface="Cambria Math"/>
                <a:cs typeface="Cambria Math"/>
              </a:rPr>
              <a:t>𝛛𝒥</a:t>
            </a:r>
            <a:r>
              <a:rPr sz="2100" spc="472" baseline="4563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65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0</a:t>
            </a:r>
            <a:r>
              <a:rPr sz="1900" spc="-25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54462" y="2584120"/>
            <a:ext cx="279400" cy="13335"/>
          </a:xfrm>
          <a:custGeom>
            <a:avLst/>
            <a:gdLst/>
            <a:ahLst/>
            <a:cxnLst/>
            <a:rect l="l" t="t" r="r" b="b"/>
            <a:pathLst>
              <a:path w="279400" h="13335">
                <a:moveTo>
                  <a:pt x="279400" y="0"/>
                </a:moveTo>
                <a:lnTo>
                  <a:pt x="0" y="0"/>
                </a:lnTo>
                <a:lnTo>
                  <a:pt x="0" y="12714"/>
                </a:lnTo>
                <a:lnTo>
                  <a:pt x="279400" y="12714"/>
                </a:lnTo>
                <a:lnTo>
                  <a:pt x="27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60339" y="2279667"/>
            <a:ext cx="2622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Cambria Math"/>
                <a:cs typeface="Cambria Math"/>
              </a:rPr>
              <a:t>𝜕𝒥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80111" y="2432067"/>
            <a:ext cx="11976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∇</a:t>
            </a:r>
            <a:r>
              <a:rPr sz="1800" baseline="-16203" dirty="0">
                <a:latin typeface="Cambria Math"/>
                <a:cs typeface="Cambria Math"/>
              </a:rPr>
              <a:t>w</a:t>
            </a:r>
            <a:r>
              <a:rPr sz="1600" dirty="0">
                <a:latin typeface="Cambria Math"/>
                <a:cs typeface="Cambria Math"/>
              </a:rPr>
              <a:t>𝒥</a:t>
            </a:r>
            <a:r>
              <a:rPr sz="1600" spc="16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110" dirty="0">
                <a:latin typeface="Cambria Math"/>
                <a:cs typeface="Cambria Math"/>
              </a:rPr>
              <a:t> </a:t>
            </a:r>
            <a:r>
              <a:rPr sz="2400" baseline="-36458" dirty="0">
                <a:latin typeface="Cambria Math"/>
                <a:cs typeface="Cambria Math"/>
              </a:rPr>
              <a:t>𝜕&gt;</a:t>
            </a:r>
            <a:r>
              <a:rPr sz="2400" spc="157" baseline="-36458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617298" y="2027226"/>
            <a:ext cx="636270" cy="1123315"/>
          </a:xfrm>
          <a:custGeom>
            <a:avLst/>
            <a:gdLst/>
            <a:ahLst/>
            <a:cxnLst/>
            <a:rect l="l" t="t" r="r" b="b"/>
            <a:pathLst>
              <a:path w="636270" h="1123314">
                <a:moveTo>
                  <a:pt x="127698" y="6464"/>
                </a:moveTo>
                <a:lnTo>
                  <a:pt x="94081" y="38366"/>
                </a:lnTo>
                <a:lnTo>
                  <a:pt x="70929" y="82524"/>
                </a:lnTo>
                <a:lnTo>
                  <a:pt x="50507" y="132486"/>
                </a:lnTo>
                <a:lnTo>
                  <a:pt x="32804" y="188239"/>
                </a:lnTo>
                <a:lnTo>
                  <a:pt x="21678" y="232854"/>
                </a:lnTo>
                <a:lnTo>
                  <a:pt x="12865" y="278688"/>
                </a:lnTo>
                <a:lnTo>
                  <a:pt x="6337" y="325755"/>
                </a:lnTo>
                <a:lnTo>
                  <a:pt x="2095" y="374053"/>
                </a:lnTo>
                <a:lnTo>
                  <a:pt x="0" y="438340"/>
                </a:lnTo>
                <a:lnTo>
                  <a:pt x="127" y="686676"/>
                </a:lnTo>
                <a:lnTo>
                  <a:pt x="2095" y="748995"/>
                </a:lnTo>
                <a:lnTo>
                  <a:pt x="6337" y="797293"/>
                </a:lnTo>
                <a:lnTo>
                  <a:pt x="12865" y="844359"/>
                </a:lnTo>
                <a:lnTo>
                  <a:pt x="21678" y="890193"/>
                </a:lnTo>
                <a:lnTo>
                  <a:pt x="32804" y="934796"/>
                </a:lnTo>
                <a:lnTo>
                  <a:pt x="50507" y="990561"/>
                </a:lnTo>
                <a:lnTo>
                  <a:pt x="70929" y="1040523"/>
                </a:lnTo>
                <a:lnTo>
                  <a:pt x="94081" y="1084681"/>
                </a:lnTo>
                <a:lnTo>
                  <a:pt x="119964" y="1123035"/>
                </a:lnTo>
                <a:lnTo>
                  <a:pt x="127698" y="1116584"/>
                </a:lnTo>
                <a:lnTo>
                  <a:pt x="103581" y="1077582"/>
                </a:lnTo>
                <a:lnTo>
                  <a:pt x="82423" y="1033068"/>
                </a:lnTo>
                <a:lnTo>
                  <a:pt x="64211" y="983056"/>
                </a:lnTo>
                <a:lnTo>
                  <a:pt x="48971" y="927544"/>
                </a:lnTo>
                <a:lnTo>
                  <a:pt x="39052" y="880478"/>
                </a:lnTo>
                <a:lnTo>
                  <a:pt x="31318" y="832459"/>
                </a:lnTo>
                <a:lnTo>
                  <a:pt x="25768" y="783501"/>
                </a:lnTo>
                <a:lnTo>
                  <a:pt x="22415" y="733615"/>
                </a:lnTo>
                <a:lnTo>
                  <a:pt x="21323" y="686676"/>
                </a:lnTo>
                <a:lnTo>
                  <a:pt x="21285" y="438340"/>
                </a:lnTo>
                <a:lnTo>
                  <a:pt x="22415" y="389432"/>
                </a:lnTo>
                <a:lnTo>
                  <a:pt x="25768" y="339534"/>
                </a:lnTo>
                <a:lnTo>
                  <a:pt x="31318" y="290588"/>
                </a:lnTo>
                <a:lnTo>
                  <a:pt x="39052" y="242570"/>
                </a:lnTo>
                <a:lnTo>
                  <a:pt x="48971" y="195491"/>
                </a:lnTo>
                <a:lnTo>
                  <a:pt x="64211" y="139992"/>
                </a:lnTo>
                <a:lnTo>
                  <a:pt x="82423" y="89979"/>
                </a:lnTo>
                <a:lnTo>
                  <a:pt x="103581" y="45466"/>
                </a:lnTo>
                <a:lnTo>
                  <a:pt x="127698" y="6464"/>
                </a:lnTo>
                <a:close/>
              </a:path>
              <a:path w="636270" h="1123314">
                <a:moveTo>
                  <a:pt x="491261" y="188175"/>
                </a:moveTo>
                <a:lnTo>
                  <a:pt x="148361" y="188175"/>
                </a:lnTo>
                <a:lnTo>
                  <a:pt x="148361" y="200888"/>
                </a:lnTo>
                <a:lnTo>
                  <a:pt x="491261" y="200888"/>
                </a:lnTo>
                <a:lnTo>
                  <a:pt x="491261" y="188175"/>
                </a:lnTo>
                <a:close/>
              </a:path>
              <a:path w="636270" h="1123314">
                <a:moveTo>
                  <a:pt x="635749" y="438391"/>
                </a:moveTo>
                <a:lnTo>
                  <a:pt x="633717" y="374103"/>
                </a:lnTo>
                <a:lnTo>
                  <a:pt x="629488" y="325805"/>
                </a:lnTo>
                <a:lnTo>
                  <a:pt x="622947" y="278739"/>
                </a:lnTo>
                <a:lnTo>
                  <a:pt x="614133" y="232905"/>
                </a:lnTo>
                <a:lnTo>
                  <a:pt x="603021" y="188290"/>
                </a:lnTo>
                <a:lnTo>
                  <a:pt x="585304" y="132537"/>
                </a:lnTo>
                <a:lnTo>
                  <a:pt x="564883" y="82575"/>
                </a:lnTo>
                <a:lnTo>
                  <a:pt x="541731" y="38417"/>
                </a:lnTo>
                <a:lnTo>
                  <a:pt x="515848" y="50"/>
                </a:lnTo>
                <a:lnTo>
                  <a:pt x="508114" y="6515"/>
                </a:lnTo>
                <a:lnTo>
                  <a:pt x="532231" y="45516"/>
                </a:lnTo>
                <a:lnTo>
                  <a:pt x="553389" y="90030"/>
                </a:lnTo>
                <a:lnTo>
                  <a:pt x="571601" y="140030"/>
                </a:lnTo>
                <a:lnTo>
                  <a:pt x="586841" y="195541"/>
                </a:lnTo>
                <a:lnTo>
                  <a:pt x="596760" y="242620"/>
                </a:lnTo>
                <a:lnTo>
                  <a:pt x="604494" y="290639"/>
                </a:lnTo>
                <a:lnTo>
                  <a:pt x="610044" y="339585"/>
                </a:lnTo>
                <a:lnTo>
                  <a:pt x="613397" y="389483"/>
                </a:lnTo>
                <a:lnTo>
                  <a:pt x="614527" y="438391"/>
                </a:lnTo>
                <a:lnTo>
                  <a:pt x="614489" y="686727"/>
                </a:lnTo>
                <a:lnTo>
                  <a:pt x="613397" y="733564"/>
                </a:lnTo>
                <a:lnTo>
                  <a:pt x="610044" y="783463"/>
                </a:lnTo>
                <a:lnTo>
                  <a:pt x="604494" y="832408"/>
                </a:lnTo>
                <a:lnTo>
                  <a:pt x="596760" y="880427"/>
                </a:lnTo>
                <a:lnTo>
                  <a:pt x="586841" y="927506"/>
                </a:lnTo>
                <a:lnTo>
                  <a:pt x="571601" y="983005"/>
                </a:lnTo>
                <a:lnTo>
                  <a:pt x="553389" y="1033018"/>
                </a:lnTo>
                <a:lnTo>
                  <a:pt x="532231" y="1077531"/>
                </a:lnTo>
                <a:lnTo>
                  <a:pt x="508114" y="1116533"/>
                </a:lnTo>
                <a:lnTo>
                  <a:pt x="515848" y="1122997"/>
                </a:lnTo>
                <a:lnTo>
                  <a:pt x="541731" y="1084630"/>
                </a:lnTo>
                <a:lnTo>
                  <a:pt x="564883" y="1040472"/>
                </a:lnTo>
                <a:lnTo>
                  <a:pt x="585304" y="990511"/>
                </a:lnTo>
                <a:lnTo>
                  <a:pt x="603021" y="934758"/>
                </a:lnTo>
                <a:lnTo>
                  <a:pt x="614133" y="890143"/>
                </a:lnTo>
                <a:lnTo>
                  <a:pt x="622947" y="844308"/>
                </a:lnTo>
                <a:lnTo>
                  <a:pt x="629488" y="797242"/>
                </a:lnTo>
                <a:lnTo>
                  <a:pt x="633717" y="748944"/>
                </a:lnTo>
                <a:lnTo>
                  <a:pt x="635685" y="686727"/>
                </a:lnTo>
                <a:lnTo>
                  <a:pt x="635749" y="4383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00375" y="1916955"/>
            <a:ext cx="2622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Cambria Math"/>
                <a:cs typeface="Cambria Math"/>
              </a:rPr>
              <a:t>𝜕𝒥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40262" y="2952853"/>
            <a:ext cx="381000" cy="13335"/>
          </a:xfrm>
          <a:custGeom>
            <a:avLst/>
            <a:gdLst/>
            <a:ahLst/>
            <a:cxnLst/>
            <a:rect l="l" t="t" r="r" b="b"/>
            <a:pathLst>
              <a:path w="381000" h="13335">
                <a:moveTo>
                  <a:pt x="381000" y="0"/>
                </a:moveTo>
                <a:lnTo>
                  <a:pt x="0" y="0"/>
                </a:lnTo>
                <a:lnTo>
                  <a:pt x="0" y="12714"/>
                </a:lnTo>
                <a:lnTo>
                  <a:pt x="381000" y="12714"/>
                </a:lnTo>
                <a:lnTo>
                  <a:pt x="381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708266" y="2203467"/>
            <a:ext cx="444500" cy="998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1885"/>
              </a:lnSpc>
              <a:spcBef>
                <a:spcPts val="100"/>
              </a:spcBef>
            </a:pPr>
            <a:r>
              <a:rPr sz="1600" spc="-25" dirty="0">
                <a:latin typeface="Cambria Math"/>
                <a:cs typeface="Cambria Math"/>
              </a:rPr>
              <a:t>𝜕𝑤</a:t>
            </a:r>
            <a:r>
              <a:rPr sz="1800" spc="-37" baseline="-16203" dirty="0">
                <a:latin typeface="Cambria Math"/>
                <a:cs typeface="Cambria Math"/>
              </a:rPr>
              <a:t>1</a:t>
            </a:r>
            <a:endParaRPr sz="1800" baseline="-16203">
              <a:latin typeface="Cambria Math"/>
              <a:cs typeface="Cambria Math"/>
            </a:endParaRPr>
          </a:p>
          <a:p>
            <a:pPr marL="8255" algn="ctr">
              <a:lnSpc>
                <a:spcPts val="1739"/>
              </a:lnSpc>
            </a:pPr>
            <a:r>
              <a:rPr sz="1600" spc="-50" dirty="0">
                <a:latin typeface="Cambria Math"/>
                <a:cs typeface="Cambria Math"/>
              </a:rPr>
              <a:t>⋮</a:t>
            </a:r>
            <a:endParaRPr sz="1600">
              <a:latin typeface="Cambria Math"/>
              <a:cs typeface="Cambria Math"/>
            </a:endParaRPr>
          </a:p>
          <a:p>
            <a:pPr marL="1905" algn="ctr">
              <a:lnSpc>
                <a:spcPts val="1775"/>
              </a:lnSpc>
            </a:pPr>
            <a:r>
              <a:rPr sz="1600" spc="-25" dirty="0">
                <a:latin typeface="Cambria Math"/>
                <a:cs typeface="Cambria Math"/>
              </a:rPr>
              <a:t>𝜕𝒥</a:t>
            </a:r>
            <a:endParaRPr sz="16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1600" spc="-25" dirty="0">
                <a:latin typeface="Cambria Math"/>
                <a:cs typeface="Cambria Math"/>
              </a:rPr>
              <a:t>𝜕𝑤</a:t>
            </a:r>
            <a:r>
              <a:rPr sz="1800" spc="-37" baseline="-16203" dirty="0">
                <a:latin typeface="Cambria Math"/>
                <a:cs typeface="Cambria Math"/>
              </a:rPr>
              <a:t>𝐷</a:t>
            </a:r>
            <a:endParaRPr sz="1800" baseline="-16203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636061" y="3979593"/>
            <a:ext cx="203200" cy="13335"/>
          </a:xfrm>
          <a:custGeom>
            <a:avLst/>
            <a:gdLst/>
            <a:ahLst/>
            <a:cxnLst/>
            <a:rect l="l" t="t" r="r" b="b"/>
            <a:pathLst>
              <a:path w="203200" h="13335">
                <a:moveTo>
                  <a:pt x="203200" y="0"/>
                </a:moveTo>
                <a:lnTo>
                  <a:pt x="0" y="0"/>
                </a:lnTo>
                <a:lnTo>
                  <a:pt x="0" y="12714"/>
                </a:lnTo>
                <a:lnTo>
                  <a:pt x="203200" y="12714"/>
                </a:lnTo>
                <a:lnTo>
                  <a:pt x="203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69261" y="3828051"/>
            <a:ext cx="12954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80" dirty="0">
                <a:latin typeface="Cambria Math"/>
                <a:cs typeface="Cambria Math"/>
              </a:rPr>
              <a:t>&gt;</a:t>
            </a:r>
            <a:r>
              <a:rPr sz="1600" spc="6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←</a:t>
            </a:r>
            <a:r>
              <a:rPr sz="1600" spc="65" dirty="0">
                <a:latin typeface="Cambria Math"/>
                <a:cs typeface="Cambria Math"/>
              </a:rPr>
              <a:t> </a:t>
            </a:r>
            <a:r>
              <a:rPr sz="1600" spc="80" dirty="0">
                <a:latin typeface="Cambria Math"/>
                <a:cs typeface="Cambria Math"/>
              </a:rPr>
              <a:t>&gt;</a:t>
            </a:r>
            <a:r>
              <a:rPr sz="1600" spc="-2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𝛼</a:t>
            </a:r>
            <a:r>
              <a:rPr sz="1600" spc="200" dirty="0">
                <a:latin typeface="Cambria Math"/>
                <a:cs typeface="Cambria Math"/>
              </a:rPr>
              <a:t> </a:t>
            </a:r>
            <a:r>
              <a:rPr sz="1800" spc="-37" baseline="43981" dirty="0">
                <a:latin typeface="Cambria Math"/>
                <a:cs typeface="Cambria Math"/>
              </a:rPr>
              <a:t>𝛛𝒥</a:t>
            </a:r>
            <a:endParaRPr sz="1800" baseline="43981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21243" y="3979494"/>
            <a:ext cx="2393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𝛛w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47908" y="4180050"/>
            <a:ext cx="3383279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And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regression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have: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09061" y="4890295"/>
            <a:ext cx="152400" cy="13335"/>
          </a:xfrm>
          <a:custGeom>
            <a:avLst/>
            <a:gdLst/>
            <a:ahLst/>
            <a:cxnLst/>
            <a:rect l="l" t="t" r="r" b="b"/>
            <a:pathLst>
              <a:path w="152400" h="13335">
                <a:moveTo>
                  <a:pt x="152400" y="0"/>
                </a:moveTo>
                <a:lnTo>
                  <a:pt x="0" y="0"/>
                </a:lnTo>
                <a:lnTo>
                  <a:pt x="0" y="12714"/>
                </a:lnTo>
                <a:lnTo>
                  <a:pt x="152400" y="12714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511149" y="4587003"/>
            <a:ext cx="1473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Cambria Math"/>
                <a:cs typeface="Cambria Math"/>
              </a:rPr>
              <a:t>𝛼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6456" y="5046294"/>
            <a:ext cx="6840220" cy="473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631314" algn="r">
              <a:lnSpc>
                <a:spcPts val="134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𝑖=1</a:t>
            </a:r>
            <a:endParaRPr sz="1200">
              <a:latin typeface="Cambria Math"/>
              <a:cs typeface="Cambria Math"/>
            </a:endParaRPr>
          </a:p>
          <a:p>
            <a:pPr marL="283845" indent="-271145">
              <a:lnSpc>
                <a:spcPts val="2180"/>
              </a:lnSpc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So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descent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updates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-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direction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fastest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decrease</a:t>
            </a:r>
            <a:r>
              <a:rPr sz="1900" spc="-10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60292" y="4488510"/>
            <a:ext cx="1409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𝑁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981181" y="4773380"/>
            <a:ext cx="970915" cy="246379"/>
          </a:xfrm>
          <a:custGeom>
            <a:avLst/>
            <a:gdLst/>
            <a:ahLst/>
            <a:cxnLst/>
            <a:rect l="l" t="t" r="r" b="b"/>
            <a:pathLst>
              <a:path w="970915" h="246379">
                <a:moveTo>
                  <a:pt x="906095" y="0"/>
                </a:moveTo>
                <a:lnTo>
                  <a:pt x="903615" y="8145"/>
                </a:lnTo>
                <a:lnTo>
                  <a:pt x="914892" y="14000"/>
                </a:lnTo>
                <a:lnTo>
                  <a:pt x="924711" y="22524"/>
                </a:lnTo>
                <a:lnTo>
                  <a:pt x="945383" y="63692"/>
                </a:lnTo>
                <a:lnTo>
                  <a:pt x="951559" y="101390"/>
                </a:lnTo>
                <a:lnTo>
                  <a:pt x="952331" y="122976"/>
                </a:lnTo>
                <a:lnTo>
                  <a:pt x="951559" y="144517"/>
                </a:lnTo>
                <a:lnTo>
                  <a:pt x="945383" y="182140"/>
                </a:lnTo>
                <a:lnTo>
                  <a:pt x="924711" y="223242"/>
                </a:lnTo>
                <a:lnTo>
                  <a:pt x="903615" y="237609"/>
                </a:lnTo>
                <a:lnTo>
                  <a:pt x="906095" y="245755"/>
                </a:lnTo>
                <a:lnTo>
                  <a:pt x="944549" y="218953"/>
                </a:lnTo>
                <a:lnTo>
                  <a:pt x="966395" y="166336"/>
                </a:lnTo>
                <a:lnTo>
                  <a:pt x="970583" y="122976"/>
                </a:lnTo>
                <a:lnTo>
                  <a:pt x="969587" y="101390"/>
                </a:lnTo>
                <a:lnTo>
                  <a:pt x="961155" y="60035"/>
                </a:lnTo>
                <a:lnTo>
                  <a:pt x="933505" y="14627"/>
                </a:lnTo>
                <a:lnTo>
                  <a:pt x="920687" y="5693"/>
                </a:lnTo>
                <a:lnTo>
                  <a:pt x="906095" y="0"/>
                </a:lnTo>
                <a:close/>
              </a:path>
              <a:path w="970915" h="246379">
                <a:moveTo>
                  <a:pt x="64487" y="0"/>
                </a:moveTo>
                <a:lnTo>
                  <a:pt x="26033" y="26802"/>
                </a:lnTo>
                <a:lnTo>
                  <a:pt x="4187" y="79418"/>
                </a:lnTo>
                <a:lnTo>
                  <a:pt x="0" y="122976"/>
                </a:lnTo>
                <a:lnTo>
                  <a:pt x="1002" y="144517"/>
                </a:lnTo>
                <a:lnTo>
                  <a:pt x="9427" y="185719"/>
                </a:lnTo>
                <a:lnTo>
                  <a:pt x="37078" y="231127"/>
                </a:lnTo>
                <a:lnTo>
                  <a:pt x="64487" y="245755"/>
                </a:lnTo>
                <a:lnTo>
                  <a:pt x="66968" y="237609"/>
                </a:lnTo>
                <a:lnTo>
                  <a:pt x="55691" y="231757"/>
                </a:lnTo>
                <a:lnTo>
                  <a:pt x="45871" y="223242"/>
                </a:lnTo>
                <a:lnTo>
                  <a:pt x="25200" y="182140"/>
                </a:lnTo>
                <a:lnTo>
                  <a:pt x="19126" y="145389"/>
                </a:lnTo>
                <a:lnTo>
                  <a:pt x="19023" y="144517"/>
                </a:lnTo>
                <a:lnTo>
                  <a:pt x="18251" y="122976"/>
                </a:lnTo>
                <a:lnTo>
                  <a:pt x="19023" y="101390"/>
                </a:lnTo>
                <a:lnTo>
                  <a:pt x="21339" y="81628"/>
                </a:lnTo>
                <a:lnTo>
                  <a:pt x="37509" y="33718"/>
                </a:lnTo>
                <a:lnTo>
                  <a:pt x="66968" y="8145"/>
                </a:lnTo>
                <a:lnTo>
                  <a:pt x="644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628582" y="4739403"/>
            <a:ext cx="24853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78000" algn="l"/>
                <a:tab pos="2339975" algn="l"/>
              </a:tabLst>
            </a:pPr>
            <a:r>
              <a:rPr sz="1600" spc="80" dirty="0">
                <a:latin typeface="Cambria Math"/>
                <a:cs typeface="Cambria Math"/>
              </a:rPr>
              <a:t>&gt;</a:t>
            </a:r>
            <a:r>
              <a:rPr sz="1600" spc="6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←</a:t>
            </a:r>
            <a:r>
              <a:rPr sz="1600" spc="70" dirty="0">
                <a:latin typeface="Cambria Math"/>
                <a:cs typeface="Cambria Math"/>
              </a:rPr>
              <a:t> </a:t>
            </a:r>
            <a:r>
              <a:rPr sz="1600" spc="80" dirty="0">
                <a:latin typeface="Cambria Math"/>
                <a:cs typeface="Cambria Math"/>
              </a:rPr>
              <a:t>&gt;</a:t>
            </a:r>
            <a:r>
              <a:rPr sz="1600" spc="-2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2400" baseline="-36458" dirty="0">
                <a:latin typeface="Cambria Math"/>
                <a:cs typeface="Cambria Math"/>
              </a:rPr>
              <a:t>𝑁</a:t>
            </a:r>
            <a:r>
              <a:rPr sz="2400" spc="-97" baseline="-36458" dirty="0">
                <a:latin typeface="Cambria Math"/>
                <a:cs typeface="Cambria Math"/>
              </a:rPr>
              <a:t> </a:t>
            </a:r>
            <a:r>
              <a:rPr sz="1600" spc="1220" dirty="0">
                <a:latin typeface="Cambria Math"/>
                <a:cs typeface="Cambria Math"/>
              </a:rPr>
              <a:t>8</a:t>
            </a:r>
            <a:r>
              <a:rPr sz="1600" spc="32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𝑦</a:t>
            </a:r>
            <a:r>
              <a:rPr sz="1600" dirty="0">
                <a:latin typeface="Cambria Math"/>
                <a:cs typeface="Cambria Math"/>
              </a:rPr>
              <a:t>	−</a:t>
            </a:r>
            <a:r>
              <a:rPr sz="1600" spc="-2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𝑡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B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63866" y="4714062"/>
            <a:ext cx="11112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8320" algn="l"/>
                <a:tab pos="917575" algn="l"/>
              </a:tabLst>
            </a:pPr>
            <a:r>
              <a:rPr sz="1200" spc="-25" dirty="0">
                <a:latin typeface="Cambria Math"/>
                <a:cs typeface="Cambria Math"/>
              </a:rPr>
              <a:t>(𝑖)</a:t>
            </a:r>
            <a:r>
              <a:rPr sz="1200" dirty="0">
                <a:latin typeface="Cambria Math"/>
                <a:cs typeface="Cambria Math"/>
              </a:rPr>
              <a:t>	</a:t>
            </a:r>
            <a:r>
              <a:rPr sz="1200" spc="-25" dirty="0">
                <a:latin typeface="Cambria Math"/>
                <a:cs typeface="Cambria Math"/>
              </a:rPr>
              <a:t>(𝑖)</a:t>
            </a:r>
            <a:r>
              <a:rPr sz="1200" dirty="0">
                <a:latin typeface="Cambria Math"/>
                <a:cs typeface="Cambria Math"/>
              </a:rPr>
              <a:t>	</a:t>
            </a:r>
            <a:r>
              <a:rPr sz="1200" spc="-25" dirty="0">
                <a:latin typeface="Cambria Math"/>
                <a:cs typeface="Cambria Math"/>
              </a:rPr>
              <a:t>(𝑖)</a:t>
            </a:r>
            <a:endParaRPr sz="1200">
              <a:latin typeface="Cambria Math"/>
              <a:cs typeface="Cambria Math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4266" y="3731589"/>
            <a:ext cx="336633" cy="490434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6963079" y="3979738"/>
            <a:ext cx="106680" cy="16510"/>
          </a:xfrm>
          <a:custGeom>
            <a:avLst/>
            <a:gdLst/>
            <a:ahLst/>
            <a:cxnLst/>
            <a:rect l="l" t="t" r="r" b="b"/>
            <a:pathLst>
              <a:path w="106679" h="16510">
                <a:moveTo>
                  <a:pt x="7694" y="0"/>
                </a:moveTo>
                <a:lnTo>
                  <a:pt x="4582" y="2495"/>
                </a:lnTo>
                <a:lnTo>
                  <a:pt x="0" y="8401"/>
                </a:lnTo>
                <a:lnTo>
                  <a:pt x="7717" y="12125"/>
                </a:lnTo>
                <a:lnTo>
                  <a:pt x="17969" y="14307"/>
                </a:lnTo>
                <a:lnTo>
                  <a:pt x="29621" y="15087"/>
                </a:lnTo>
                <a:lnTo>
                  <a:pt x="47589" y="15967"/>
                </a:lnTo>
                <a:lnTo>
                  <a:pt x="65588" y="16360"/>
                </a:lnTo>
                <a:lnTo>
                  <a:pt x="101583" y="16348"/>
                </a:lnTo>
                <a:lnTo>
                  <a:pt x="104203" y="16334"/>
                </a:lnTo>
                <a:lnTo>
                  <a:pt x="106315" y="14197"/>
                </a:lnTo>
                <a:lnTo>
                  <a:pt x="106285" y="8992"/>
                </a:lnTo>
                <a:lnTo>
                  <a:pt x="104203" y="6894"/>
                </a:lnTo>
                <a:lnTo>
                  <a:pt x="69963" y="6306"/>
                </a:lnTo>
                <a:lnTo>
                  <a:pt x="54139" y="5833"/>
                </a:lnTo>
                <a:lnTo>
                  <a:pt x="26593" y="4491"/>
                </a:lnTo>
                <a:lnTo>
                  <a:pt x="15013" y="3322"/>
                </a:lnTo>
                <a:lnTo>
                  <a:pt x="12246" y="2617"/>
                </a:lnTo>
                <a:lnTo>
                  <a:pt x="10692" y="476"/>
                </a:lnTo>
                <a:lnTo>
                  <a:pt x="76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958159" y="4054704"/>
            <a:ext cx="114935" cy="26034"/>
          </a:xfrm>
          <a:custGeom>
            <a:avLst/>
            <a:gdLst/>
            <a:ahLst/>
            <a:cxnLst/>
            <a:rect l="l" t="t" r="r" b="b"/>
            <a:pathLst>
              <a:path w="114934" h="26035">
                <a:moveTo>
                  <a:pt x="44729" y="6228"/>
                </a:moveTo>
                <a:lnTo>
                  <a:pt x="32937" y="6228"/>
                </a:lnTo>
                <a:lnTo>
                  <a:pt x="32906" y="6634"/>
                </a:lnTo>
                <a:lnTo>
                  <a:pt x="31636" y="9037"/>
                </a:lnTo>
                <a:lnTo>
                  <a:pt x="31541" y="9216"/>
                </a:lnTo>
                <a:lnTo>
                  <a:pt x="25180" y="11179"/>
                </a:lnTo>
                <a:lnTo>
                  <a:pt x="21832" y="12268"/>
                </a:lnTo>
                <a:lnTo>
                  <a:pt x="16722" y="14343"/>
                </a:lnTo>
                <a:lnTo>
                  <a:pt x="14875" y="15005"/>
                </a:lnTo>
                <a:lnTo>
                  <a:pt x="12923" y="16797"/>
                </a:lnTo>
                <a:lnTo>
                  <a:pt x="12212" y="17242"/>
                </a:lnTo>
                <a:lnTo>
                  <a:pt x="11376" y="17622"/>
                </a:lnTo>
                <a:lnTo>
                  <a:pt x="11351" y="18091"/>
                </a:lnTo>
                <a:lnTo>
                  <a:pt x="38320" y="25015"/>
                </a:lnTo>
                <a:lnTo>
                  <a:pt x="34830" y="25015"/>
                </a:lnTo>
                <a:lnTo>
                  <a:pt x="53281" y="25683"/>
                </a:lnTo>
                <a:lnTo>
                  <a:pt x="45038" y="25683"/>
                </a:lnTo>
                <a:lnTo>
                  <a:pt x="42884" y="23519"/>
                </a:lnTo>
                <a:lnTo>
                  <a:pt x="23295" y="23519"/>
                </a:lnTo>
                <a:lnTo>
                  <a:pt x="27755" y="20419"/>
                </a:lnTo>
                <a:lnTo>
                  <a:pt x="29376" y="11409"/>
                </a:lnTo>
                <a:lnTo>
                  <a:pt x="29418" y="11179"/>
                </a:lnTo>
                <a:lnTo>
                  <a:pt x="29144" y="10678"/>
                </a:lnTo>
                <a:lnTo>
                  <a:pt x="28809" y="10196"/>
                </a:lnTo>
                <a:lnTo>
                  <a:pt x="40844" y="10196"/>
                </a:lnTo>
                <a:lnTo>
                  <a:pt x="44729" y="6228"/>
                </a:lnTo>
                <a:close/>
              </a:path>
              <a:path w="114934" h="26035">
                <a:moveTo>
                  <a:pt x="55850" y="6228"/>
                </a:moveTo>
                <a:lnTo>
                  <a:pt x="44729" y="6228"/>
                </a:lnTo>
                <a:lnTo>
                  <a:pt x="40844" y="10196"/>
                </a:lnTo>
                <a:lnTo>
                  <a:pt x="40481" y="10678"/>
                </a:lnTo>
                <a:lnTo>
                  <a:pt x="40595" y="21422"/>
                </a:lnTo>
                <a:lnTo>
                  <a:pt x="40797" y="21422"/>
                </a:lnTo>
                <a:lnTo>
                  <a:pt x="45038" y="25683"/>
                </a:lnTo>
                <a:lnTo>
                  <a:pt x="55427" y="25683"/>
                </a:lnTo>
                <a:lnTo>
                  <a:pt x="59877" y="21422"/>
                </a:lnTo>
                <a:lnTo>
                  <a:pt x="59998" y="15900"/>
                </a:lnTo>
                <a:lnTo>
                  <a:pt x="60111" y="10678"/>
                </a:lnTo>
                <a:lnTo>
                  <a:pt x="55850" y="6228"/>
                </a:lnTo>
                <a:close/>
              </a:path>
              <a:path w="114934" h="26035">
                <a:moveTo>
                  <a:pt x="109786" y="2885"/>
                </a:moveTo>
                <a:lnTo>
                  <a:pt x="91980" y="4286"/>
                </a:lnTo>
                <a:lnTo>
                  <a:pt x="78470" y="5144"/>
                </a:lnTo>
                <a:lnTo>
                  <a:pt x="72503" y="5414"/>
                </a:lnTo>
                <a:lnTo>
                  <a:pt x="80398" y="5414"/>
                </a:lnTo>
                <a:lnTo>
                  <a:pt x="44968" y="6228"/>
                </a:lnTo>
                <a:lnTo>
                  <a:pt x="55850" y="6228"/>
                </a:lnTo>
                <a:lnTo>
                  <a:pt x="60111" y="10678"/>
                </a:lnTo>
                <a:lnTo>
                  <a:pt x="59998" y="15900"/>
                </a:lnTo>
                <a:lnTo>
                  <a:pt x="59877" y="21422"/>
                </a:lnTo>
                <a:lnTo>
                  <a:pt x="55427" y="25683"/>
                </a:lnTo>
                <a:lnTo>
                  <a:pt x="46977" y="25683"/>
                </a:lnTo>
                <a:lnTo>
                  <a:pt x="65119" y="25015"/>
                </a:lnTo>
                <a:lnTo>
                  <a:pt x="80019" y="23055"/>
                </a:lnTo>
                <a:lnTo>
                  <a:pt x="114581" y="11179"/>
                </a:lnTo>
                <a:lnTo>
                  <a:pt x="112805" y="5414"/>
                </a:lnTo>
                <a:lnTo>
                  <a:pt x="112722" y="5144"/>
                </a:lnTo>
                <a:lnTo>
                  <a:pt x="112614" y="4794"/>
                </a:lnTo>
                <a:lnTo>
                  <a:pt x="109786" y="2885"/>
                </a:lnTo>
                <a:close/>
              </a:path>
              <a:path w="114934" h="26035">
                <a:moveTo>
                  <a:pt x="18633" y="22679"/>
                </a:moveTo>
                <a:lnTo>
                  <a:pt x="23295" y="23519"/>
                </a:lnTo>
                <a:lnTo>
                  <a:pt x="24065" y="23519"/>
                </a:lnTo>
                <a:lnTo>
                  <a:pt x="18633" y="22679"/>
                </a:lnTo>
                <a:close/>
              </a:path>
              <a:path w="114934" h="26035">
                <a:moveTo>
                  <a:pt x="40844" y="10196"/>
                </a:moveTo>
                <a:lnTo>
                  <a:pt x="28809" y="10196"/>
                </a:lnTo>
                <a:lnTo>
                  <a:pt x="29144" y="10678"/>
                </a:lnTo>
                <a:lnTo>
                  <a:pt x="29418" y="11179"/>
                </a:lnTo>
                <a:lnTo>
                  <a:pt x="27842" y="19934"/>
                </a:lnTo>
                <a:lnTo>
                  <a:pt x="27755" y="20419"/>
                </a:lnTo>
                <a:lnTo>
                  <a:pt x="23295" y="23519"/>
                </a:lnTo>
                <a:lnTo>
                  <a:pt x="42884" y="23519"/>
                </a:lnTo>
                <a:lnTo>
                  <a:pt x="40797" y="21422"/>
                </a:lnTo>
                <a:lnTo>
                  <a:pt x="40595" y="21422"/>
                </a:lnTo>
                <a:lnTo>
                  <a:pt x="40481" y="10678"/>
                </a:lnTo>
                <a:lnTo>
                  <a:pt x="40844" y="10196"/>
                </a:lnTo>
                <a:close/>
              </a:path>
              <a:path w="114934" h="26035">
                <a:moveTo>
                  <a:pt x="6720" y="4663"/>
                </a:moveTo>
                <a:lnTo>
                  <a:pt x="1053" y="6228"/>
                </a:lnTo>
                <a:lnTo>
                  <a:pt x="2160" y="6228"/>
                </a:lnTo>
                <a:lnTo>
                  <a:pt x="95" y="11179"/>
                </a:lnTo>
                <a:lnTo>
                  <a:pt x="0" y="11409"/>
                </a:lnTo>
                <a:lnTo>
                  <a:pt x="3716" y="17622"/>
                </a:lnTo>
                <a:lnTo>
                  <a:pt x="5689" y="18953"/>
                </a:lnTo>
                <a:lnTo>
                  <a:pt x="11318" y="21422"/>
                </a:lnTo>
                <a:lnTo>
                  <a:pt x="11704" y="21422"/>
                </a:lnTo>
                <a:lnTo>
                  <a:pt x="14406" y="21912"/>
                </a:lnTo>
                <a:lnTo>
                  <a:pt x="13985" y="21422"/>
                </a:lnTo>
                <a:lnTo>
                  <a:pt x="12033" y="18953"/>
                </a:lnTo>
                <a:lnTo>
                  <a:pt x="7918" y="18953"/>
                </a:lnTo>
                <a:lnTo>
                  <a:pt x="3944" y="17242"/>
                </a:lnTo>
                <a:lnTo>
                  <a:pt x="1126" y="10196"/>
                </a:lnTo>
                <a:lnTo>
                  <a:pt x="2658" y="6634"/>
                </a:lnTo>
                <a:lnTo>
                  <a:pt x="2739" y="6447"/>
                </a:lnTo>
                <a:lnTo>
                  <a:pt x="2833" y="6228"/>
                </a:lnTo>
                <a:lnTo>
                  <a:pt x="6720" y="4663"/>
                </a:lnTo>
                <a:close/>
              </a:path>
              <a:path w="114934" h="26035">
                <a:moveTo>
                  <a:pt x="8714" y="4113"/>
                </a:moveTo>
                <a:lnTo>
                  <a:pt x="6720" y="4663"/>
                </a:lnTo>
                <a:lnTo>
                  <a:pt x="2833" y="6228"/>
                </a:lnTo>
                <a:lnTo>
                  <a:pt x="1126" y="10196"/>
                </a:lnTo>
                <a:lnTo>
                  <a:pt x="3944" y="17242"/>
                </a:lnTo>
                <a:lnTo>
                  <a:pt x="7918" y="18953"/>
                </a:lnTo>
                <a:lnTo>
                  <a:pt x="11259" y="17622"/>
                </a:lnTo>
                <a:lnTo>
                  <a:pt x="11397" y="17242"/>
                </a:lnTo>
                <a:lnTo>
                  <a:pt x="11520" y="15005"/>
                </a:lnTo>
                <a:lnTo>
                  <a:pt x="11556" y="14343"/>
                </a:lnTo>
                <a:lnTo>
                  <a:pt x="11670" y="12268"/>
                </a:lnTo>
                <a:lnTo>
                  <a:pt x="11784" y="10196"/>
                </a:lnTo>
                <a:lnTo>
                  <a:pt x="11847" y="9037"/>
                </a:lnTo>
                <a:lnTo>
                  <a:pt x="14983" y="6228"/>
                </a:lnTo>
                <a:lnTo>
                  <a:pt x="33442" y="6228"/>
                </a:lnTo>
                <a:lnTo>
                  <a:pt x="14637" y="5414"/>
                </a:lnTo>
                <a:lnTo>
                  <a:pt x="15444" y="5414"/>
                </a:lnTo>
                <a:lnTo>
                  <a:pt x="12829" y="5144"/>
                </a:lnTo>
                <a:lnTo>
                  <a:pt x="12153" y="5144"/>
                </a:lnTo>
                <a:lnTo>
                  <a:pt x="10464" y="4286"/>
                </a:lnTo>
                <a:lnTo>
                  <a:pt x="8714" y="4113"/>
                </a:lnTo>
                <a:close/>
              </a:path>
              <a:path w="114934" h="26035">
                <a:moveTo>
                  <a:pt x="11376" y="17622"/>
                </a:moveTo>
                <a:lnTo>
                  <a:pt x="10082" y="18091"/>
                </a:lnTo>
                <a:lnTo>
                  <a:pt x="7918" y="18953"/>
                </a:lnTo>
                <a:lnTo>
                  <a:pt x="12033" y="18953"/>
                </a:lnTo>
                <a:lnTo>
                  <a:pt x="11351" y="18091"/>
                </a:lnTo>
                <a:lnTo>
                  <a:pt x="11376" y="17622"/>
                </a:lnTo>
                <a:close/>
              </a:path>
              <a:path w="114934" h="26035">
                <a:moveTo>
                  <a:pt x="19546" y="5414"/>
                </a:moveTo>
                <a:lnTo>
                  <a:pt x="15892" y="5414"/>
                </a:lnTo>
                <a:lnTo>
                  <a:pt x="11847" y="9037"/>
                </a:lnTo>
                <a:lnTo>
                  <a:pt x="11784" y="10196"/>
                </a:lnTo>
                <a:lnTo>
                  <a:pt x="11670" y="12268"/>
                </a:lnTo>
                <a:lnTo>
                  <a:pt x="11556" y="14343"/>
                </a:lnTo>
                <a:lnTo>
                  <a:pt x="11471" y="15900"/>
                </a:lnTo>
                <a:lnTo>
                  <a:pt x="11376" y="17622"/>
                </a:lnTo>
                <a:lnTo>
                  <a:pt x="12212" y="17242"/>
                </a:lnTo>
                <a:lnTo>
                  <a:pt x="12923" y="16797"/>
                </a:lnTo>
                <a:lnTo>
                  <a:pt x="14875" y="15005"/>
                </a:lnTo>
                <a:lnTo>
                  <a:pt x="16722" y="14343"/>
                </a:lnTo>
                <a:lnTo>
                  <a:pt x="21832" y="12268"/>
                </a:lnTo>
                <a:lnTo>
                  <a:pt x="25180" y="11179"/>
                </a:lnTo>
                <a:lnTo>
                  <a:pt x="28359" y="10196"/>
                </a:lnTo>
                <a:lnTo>
                  <a:pt x="28809" y="10196"/>
                </a:lnTo>
                <a:lnTo>
                  <a:pt x="26334" y="6634"/>
                </a:lnTo>
                <a:lnTo>
                  <a:pt x="19546" y="5414"/>
                </a:lnTo>
                <a:close/>
              </a:path>
              <a:path w="114934" h="26035">
                <a:moveTo>
                  <a:pt x="32285" y="4113"/>
                </a:moveTo>
                <a:lnTo>
                  <a:pt x="8714" y="4113"/>
                </a:lnTo>
                <a:lnTo>
                  <a:pt x="10464" y="4286"/>
                </a:lnTo>
                <a:lnTo>
                  <a:pt x="12153" y="5144"/>
                </a:lnTo>
                <a:lnTo>
                  <a:pt x="12829" y="5144"/>
                </a:lnTo>
                <a:lnTo>
                  <a:pt x="15444" y="5414"/>
                </a:lnTo>
                <a:lnTo>
                  <a:pt x="19546" y="5414"/>
                </a:lnTo>
                <a:lnTo>
                  <a:pt x="26334" y="6634"/>
                </a:lnTo>
                <a:lnTo>
                  <a:pt x="28809" y="10196"/>
                </a:lnTo>
                <a:lnTo>
                  <a:pt x="28359" y="10196"/>
                </a:lnTo>
                <a:lnTo>
                  <a:pt x="31541" y="9216"/>
                </a:lnTo>
                <a:lnTo>
                  <a:pt x="32906" y="6634"/>
                </a:lnTo>
                <a:lnTo>
                  <a:pt x="32937" y="6228"/>
                </a:lnTo>
                <a:lnTo>
                  <a:pt x="32686" y="5414"/>
                </a:lnTo>
                <a:lnTo>
                  <a:pt x="32603" y="5144"/>
                </a:lnTo>
                <a:lnTo>
                  <a:pt x="32495" y="4794"/>
                </a:lnTo>
                <a:lnTo>
                  <a:pt x="32454" y="4663"/>
                </a:lnTo>
                <a:lnTo>
                  <a:pt x="32338" y="4286"/>
                </a:lnTo>
                <a:lnTo>
                  <a:pt x="32285" y="4113"/>
                </a:lnTo>
                <a:close/>
              </a:path>
              <a:path w="114934" h="26035">
                <a:moveTo>
                  <a:pt x="15892" y="5414"/>
                </a:moveTo>
                <a:lnTo>
                  <a:pt x="14637" y="5414"/>
                </a:lnTo>
                <a:lnTo>
                  <a:pt x="33442" y="6228"/>
                </a:lnTo>
                <a:lnTo>
                  <a:pt x="14983" y="6228"/>
                </a:lnTo>
                <a:lnTo>
                  <a:pt x="15892" y="5414"/>
                </a:lnTo>
                <a:close/>
              </a:path>
              <a:path w="114934" h="26035">
                <a:moveTo>
                  <a:pt x="29084" y="0"/>
                </a:moveTo>
                <a:lnTo>
                  <a:pt x="18064" y="1927"/>
                </a:lnTo>
                <a:lnTo>
                  <a:pt x="11314" y="3354"/>
                </a:lnTo>
                <a:lnTo>
                  <a:pt x="8741" y="3859"/>
                </a:lnTo>
                <a:lnTo>
                  <a:pt x="6720" y="4663"/>
                </a:lnTo>
                <a:lnTo>
                  <a:pt x="8714" y="4113"/>
                </a:lnTo>
                <a:lnTo>
                  <a:pt x="32285" y="4113"/>
                </a:lnTo>
                <a:lnTo>
                  <a:pt x="31468" y="1463"/>
                </a:lnTo>
                <a:lnTo>
                  <a:pt x="29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2812" y="3724226"/>
            <a:ext cx="201545" cy="40869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06238" y="3759926"/>
            <a:ext cx="324002" cy="32945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98601" y="3788815"/>
            <a:ext cx="571240" cy="29484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37471" y="3869895"/>
            <a:ext cx="301644" cy="21616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68192" y="5102886"/>
            <a:ext cx="994563" cy="89285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46443" y="5115913"/>
            <a:ext cx="1279453" cy="411958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78398" y="5463227"/>
            <a:ext cx="462577" cy="25102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91476" y="5992571"/>
            <a:ext cx="872641" cy="6527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338958" y="4355085"/>
            <a:ext cx="3229197" cy="96011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91227" y="4547496"/>
            <a:ext cx="1095969" cy="440496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061315" y="4530773"/>
            <a:ext cx="486138" cy="407344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611605" y="4598010"/>
            <a:ext cx="45995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Gradient</a:t>
            </a:r>
            <a:r>
              <a:rPr spc="45" dirty="0"/>
              <a:t> </a:t>
            </a:r>
            <a:r>
              <a:rPr dirty="0"/>
              <a:t>Descent</a:t>
            </a:r>
            <a:r>
              <a:rPr spc="50" dirty="0"/>
              <a:t> </a:t>
            </a:r>
            <a:r>
              <a:rPr dirty="0"/>
              <a:t>for</a:t>
            </a:r>
            <a:r>
              <a:rPr spc="40" dirty="0"/>
              <a:t> </a:t>
            </a:r>
            <a:r>
              <a:rPr dirty="0"/>
              <a:t>Linear</a:t>
            </a:r>
            <a:r>
              <a:rPr spc="40" dirty="0"/>
              <a:t> </a:t>
            </a:r>
            <a:r>
              <a:rPr spc="-10" dirty="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3757" y="1717266"/>
            <a:ext cx="8737600" cy="367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654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squared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error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loss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3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regression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convex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function.</a:t>
            </a:r>
            <a:endParaRPr sz="1900">
              <a:latin typeface="Calibri"/>
              <a:cs typeface="Calibri"/>
            </a:endParaRPr>
          </a:p>
          <a:p>
            <a:pPr marL="296545" marR="17780" indent="-271780">
              <a:lnSpc>
                <a:spcPts val="2210"/>
              </a:lnSpc>
              <a:spcBef>
                <a:spcPts val="155"/>
              </a:spcBef>
              <a:buFont typeface="Arial MT"/>
              <a:buChar char="•"/>
              <a:tabLst>
                <a:tab pos="296545" algn="l"/>
              </a:tabLst>
            </a:pPr>
            <a:r>
              <a:rPr sz="1900" dirty="0">
                <a:latin typeface="Calibri"/>
                <a:cs typeface="Calibri"/>
              </a:rPr>
              <a:t>Even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regression,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where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direct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solution,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sometimes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use GD.</a:t>
            </a:r>
            <a:endParaRPr sz="1900">
              <a:latin typeface="Calibri"/>
              <a:cs typeface="Calibri"/>
            </a:endParaRPr>
          </a:p>
          <a:p>
            <a:pPr marL="296545" indent="-271145">
              <a:lnSpc>
                <a:spcPts val="2240"/>
              </a:lnSpc>
              <a:buFont typeface="Arial MT"/>
              <a:buChar char="•"/>
              <a:tabLst>
                <a:tab pos="296545" algn="l"/>
              </a:tabLst>
            </a:pPr>
            <a:r>
              <a:rPr sz="1900" dirty="0">
                <a:latin typeface="Calibri"/>
                <a:cs typeface="Calibri"/>
              </a:rPr>
              <a:t>Why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descent,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optimum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directly?</a:t>
            </a:r>
            <a:endParaRPr sz="1900">
              <a:latin typeface="Calibri"/>
              <a:cs typeface="Calibri"/>
            </a:endParaRPr>
          </a:p>
          <a:p>
            <a:pPr marL="647065" lvl="1" indent="-270510">
              <a:lnSpc>
                <a:spcPct val="100000"/>
              </a:lnSpc>
              <a:spcBef>
                <a:spcPts val="720"/>
              </a:spcBef>
              <a:buFont typeface="Wingdings"/>
              <a:buChar char=""/>
              <a:tabLst>
                <a:tab pos="647065" algn="l"/>
              </a:tabLst>
            </a:pPr>
            <a:r>
              <a:rPr sz="1900" dirty="0">
                <a:latin typeface="Calibri"/>
                <a:cs typeface="Calibri"/>
              </a:rPr>
              <a:t>GD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applied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much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broader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models</a:t>
            </a:r>
            <a:endParaRPr sz="1900">
              <a:latin typeface="Calibri"/>
              <a:cs typeface="Calibri"/>
            </a:endParaRPr>
          </a:p>
          <a:p>
            <a:pPr marL="647065" lvl="1" indent="-270510">
              <a:lnSpc>
                <a:spcPts val="2230"/>
              </a:lnSpc>
              <a:spcBef>
                <a:spcPts val="25"/>
              </a:spcBef>
              <a:buFont typeface="Wingdings"/>
              <a:buChar char=""/>
              <a:tabLst>
                <a:tab pos="647065" algn="l"/>
              </a:tabLst>
            </a:pPr>
            <a:r>
              <a:rPr sz="1900" dirty="0">
                <a:latin typeface="Calibri"/>
                <a:cs typeface="Calibri"/>
              </a:rPr>
              <a:t>GD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easier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implement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direct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solutions</a:t>
            </a:r>
            <a:endParaRPr sz="1900">
              <a:latin typeface="Calibri"/>
              <a:cs typeface="Calibri"/>
            </a:endParaRPr>
          </a:p>
          <a:p>
            <a:pPr marL="647065" lvl="1" indent="-270510">
              <a:lnSpc>
                <a:spcPts val="2230"/>
              </a:lnSpc>
              <a:buFont typeface="Wingdings"/>
              <a:buChar char=""/>
              <a:tabLst>
                <a:tab pos="647065" algn="l"/>
              </a:tabLst>
            </a:pPr>
            <a:r>
              <a:rPr sz="1900" dirty="0">
                <a:latin typeface="Calibri"/>
                <a:cs typeface="Calibri"/>
              </a:rPr>
              <a:t>For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regression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high-</a:t>
            </a:r>
            <a:r>
              <a:rPr sz="1900" dirty="0">
                <a:latin typeface="Calibri"/>
                <a:cs typeface="Calibri"/>
              </a:rPr>
              <a:t>dimensional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space,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efficient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direct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solution</a:t>
            </a:r>
            <a:endParaRPr sz="19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Wingdings"/>
              <a:buChar char=""/>
            </a:pPr>
            <a:endParaRPr sz="1900">
              <a:latin typeface="Calibri"/>
              <a:cs typeface="Calibri"/>
            </a:endParaRPr>
          </a:p>
          <a:p>
            <a:pPr marL="934719" lvl="2" indent="-271145">
              <a:lnSpc>
                <a:spcPts val="1910"/>
              </a:lnSpc>
              <a:spcBef>
                <a:spcPts val="5"/>
              </a:spcBef>
              <a:buFont typeface="Wingdings"/>
              <a:buChar char=""/>
              <a:tabLst>
                <a:tab pos="934719" algn="l"/>
              </a:tabLst>
            </a:pPr>
            <a:r>
              <a:rPr sz="1600" dirty="0">
                <a:latin typeface="Calibri"/>
                <a:cs typeface="Calibri"/>
              </a:rPr>
              <a:t>Linear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regression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solution:</a:t>
            </a:r>
            <a:r>
              <a:rPr sz="1600" dirty="0">
                <a:latin typeface="Cambria Math"/>
                <a:cs typeface="Cambria Math"/>
              </a:rPr>
              <a:t>(C</a:t>
            </a:r>
            <a:r>
              <a:rPr sz="1800" baseline="27777" dirty="0">
                <a:latin typeface="Cambria Math"/>
                <a:cs typeface="Cambria Math"/>
              </a:rPr>
              <a:t>𝗍</a:t>
            </a:r>
            <a:r>
              <a:rPr sz="1600" dirty="0">
                <a:latin typeface="Cambria Math"/>
                <a:cs typeface="Cambria Math"/>
              </a:rPr>
              <a:t>C)</a:t>
            </a:r>
            <a:r>
              <a:rPr sz="1800" baseline="27777" dirty="0">
                <a:latin typeface="Cambria Math"/>
                <a:cs typeface="Cambria Math"/>
              </a:rPr>
              <a:t>–1</a:t>
            </a:r>
            <a:r>
              <a:rPr sz="1800" spc="405" baseline="27777" dirty="0">
                <a:latin typeface="Cambria Math"/>
                <a:cs typeface="Cambria Math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C</a:t>
            </a:r>
            <a:r>
              <a:rPr sz="1800" spc="-37" baseline="27777" dirty="0">
                <a:latin typeface="Cambria Math"/>
                <a:cs typeface="Cambria Math"/>
              </a:rPr>
              <a:t>𝗍</a:t>
            </a:r>
            <a:r>
              <a:rPr sz="1600" spc="-25" dirty="0">
                <a:latin typeface="Cambria Math"/>
                <a:cs typeface="Cambria Math"/>
              </a:rPr>
              <a:t>D</a:t>
            </a:r>
            <a:endParaRPr sz="1600">
              <a:latin typeface="Cambria Math"/>
              <a:cs typeface="Cambria Math"/>
            </a:endParaRPr>
          </a:p>
          <a:p>
            <a:pPr marL="934719" lvl="2" indent="-271145">
              <a:lnSpc>
                <a:spcPts val="1895"/>
              </a:lnSpc>
              <a:buFont typeface="Wingdings"/>
              <a:buChar char=""/>
              <a:tabLst>
                <a:tab pos="934719" algn="l"/>
              </a:tabLst>
            </a:pPr>
            <a:r>
              <a:rPr sz="1600" dirty="0">
                <a:latin typeface="Calibri"/>
                <a:cs typeface="Calibri"/>
              </a:rPr>
              <a:t>Matrix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inversion </a:t>
            </a:r>
            <a:r>
              <a:rPr sz="1600" dirty="0">
                <a:latin typeface="Calibri"/>
                <a:cs typeface="Calibri"/>
              </a:rPr>
              <a:t>is an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𝒪(𝐷</a:t>
            </a:r>
            <a:r>
              <a:rPr sz="1800" baseline="27777" dirty="0">
                <a:latin typeface="Cambria Math"/>
                <a:cs typeface="Cambria Math"/>
              </a:rPr>
              <a:t>3</a:t>
            </a:r>
            <a:r>
              <a:rPr sz="1600" dirty="0">
                <a:latin typeface="Cambria Math"/>
                <a:cs typeface="Cambria Math"/>
              </a:rPr>
              <a:t>) </a:t>
            </a:r>
            <a:r>
              <a:rPr sz="1600" spc="-10" dirty="0">
                <a:latin typeface="Calibri"/>
                <a:cs typeface="Calibri"/>
              </a:rPr>
              <a:t>algorithm</a:t>
            </a:r>
            <a:endParaRPr sz="1600">
              <a:latin typeface="Calibri"/>
              <a:cs typeface="Calibri"/>
            </a:endParaRPr>
          </a:p>
          <a:p>
            <a:pPr marL="934719" lvl="2" indent="-271145">
              <a:lnSpc>
                <a:spcPts val="1895"/>
              </a:lnSpc>
              <a:buFont typeface="Wingdings"/>
              <a:buChar char=""/>
              <a:tabLst>
                <a:tab pos="934719" algn="l"/>
              </a:tabLst>
            </a:pPr>
            <a:r>
              <a:rPr sz="1600" dirty="0">
                <a:latin typeface="Calibri"/>
                <a:cs typeface="Calibri"/>
              </a:rPr>
              <a:t>Each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update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𝒪(𝑁𝐷)</a:t>
            </a:r>
            <a:endParaRPr sz="1600">
              <a:latin typeface="Cambria Math"/>
              <a:cs typeface="Cambria Math"/>
            </a:endParaRPr>
          </a:p>
          <a:p>
            <a:pPr marL="934719" lvl="2" indent="-271145">
              <a:lnSpc>
                <a:spcPts val="1910"/>
              </a:lnSpc>
              <a:buFont typeface="Wingdings"/>
              <a:buChar char=""/>
              <a:tabLst>
                <a:tab pos="934719" algn="l"/>
              </a:tabLst>
            </a:pPr>
            <a:r>
              <a:rPr sz="1600" dirty="0">
                <a:latin typeface="Calibri"/>
                <a:cs typeface="Calibri"/>
              </a:rPr>
              <a:t>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stochastic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(SGD,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few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slides)</a:t>
            </a:r>
            <a:endParaRPr sz="1600">
              <a:latin typeface="Calibri"/>
              <a:cs typeface="Calibri"/>
            </a:endParaRPr>
          </a:p>
          <a:p>
            <a:pPr marL="934719" lvl="2" indent="-271145">
              <a:lnSpc>
                <a:spcPct val="100000"/>
              </a:lnSpc>
              <a:buFont typeface="Wingdings"/>
              <a:buChar char=""/>
              <a:tabLst>
                <a:tab pos="934719" algn="l"/>
              </a:tabLst>
            </a:pPr>
            <a:r>
              <a:rPr sz="1600" dirty="0">
                <a:latin typeface="Calibri"/>
                <a:cs typeface="Calibri"/>
              </a:rPr>
              <a:t>Huge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difference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𝐷</a:t>
            </a:r>
            <a:r>
              <a:rPr sz="1600" spc="1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≫</a:t>
            </a:r>
            <a:r>
              <a:rPr sz="1600" spc="6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529" y="729969"/>
            <a:ext cx="3408241" cy="3942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739017" y="4880"/>
            <a:ext cx="5742940" cy="2171700"/>
            <a:chOff x="4739017" y="4880"/>
            <a:chExt cx="5742940" cy="21717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9017" y="710839"/>
              <a:ext cx="1808071" cy="3815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5099" y="4880"/>
              <a:ext cx="4196777" cy="217167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62242" y="1322155"/>
              <a:ext cx="26034" cy="49530"/>
            </a:xfrm>
            <a:custGeom>
              <a:avLst/>
              <a:gdLst/>
              <a:ahLst/>
              <a:cxnLst/>
              <a:rect l="l" t="t" r="r" b="b"/>
              <a:pathLst>
                <a:path w="26034" h="49530">
                  <a:moveTo>
                    <a:pt x="18718" y="0"/>
                  </a:moveTo>
                  <a:lnTo>
                    <a:pt x="16070" y="1525"/>
                  </a:lnTo>
                  <a:lnTo>
                    <a:pt x="13308" y="10245"/>
                  </a:lnTo>
                  <a:lnTo>
                    <a:pt x="11309" y="16376"/>
                  </a:lnTo>
                  <a:lnTo>
                    <a:pt x="0" y="45764"/>
                  </a:lnTo>
                  <a:lnTo>
                    <a:pt x="713" y="47805"/>
                  </a:lnTo>
                  <a:lnTo>
                    <a:pt x="3578" y="49184"/>
                  </a:lnTo>
                  <a:lnTo>
                    <a:pt x="4964" y="49038"/>
                  </a:lnTo>
                  <a:lnTo>
                    <a:pt x="11052" y="44310"/>
                  </a:lnTo>
                  <a:lnTo>
                    <a:pt x="25276" y="6797"/>
                  </a:lnTo>
                  <a:lnTo>
                    <a:pt x="25906" y="4000"/>
                  </a:lnTo>
                  <a:lnTo>
                    <a:pt x="24149" y="1221"/>
                  </a:lnTo>
                  <a:lnTo>
                    <a:pt x="187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50732" y="3838500"/>
            <a:ext cx="10008235" cy="2731135"/>
            <a:chOff x="650732" y="3838500"/>
            <a:chExt cx="10008235" cy="273113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04808" y="3843703"/>
              <a:ext cx="208943" cy="3175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35697" y="3999054"/>
              <a:ext cx="479277" cy="1714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0732" y="3838500"/>
              <a:ext cx="10007744" cy="273073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83771" y="5419285"/>
              <a:ext cx="1475049" cy="3299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35089" y="5349216"/>
              <a:ext cx="1245366" cy="3681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23074" y="6283410"/>
              <a:ext cx="9525" cy="17780"/>
            </a:xfrm>
            <a:custGeom>
              <a:avLst/>
              <a:gdLst/>
              <a:ahLst/>
              <a:cxnLst/>
              <a:rect l="l" t="t" r="r" b="b"/>
              <a:pathLst>
                <a:path w="9525" h="17779">
                  <a:moveTo>
                    <a:pt x="2583" y="0"/>
                  </a:moveTo>
                  <a:lnTo>
                    <a:pt x="288" y="1744"/>
                  </a:lnTo>
                  <a:lnTo>
                    <a:pt x="121" y="2973"/>
                  </a:lnTo>
                  <a:lnTo>
                    <a:pt x="0" y="15840"/>
                  </a:lnTo>
                  <a:lnTo>
                    <a:pt x="1770" y="17580"/>
                  </a:lnTo>
                  <a:lnTo>
                    <a:pt x="5843" y="17580"/>
                  </a:lnTo>
                  <a:lnTo>
                    <a:pt x="7522" y="16102"/>
                  </a:lnTo>
                  <a:lnTo>
                    <a:pt x="9310" y="2973"/>
                  </a:lnTo>
                  <a:lnTo>
                    <a:pt x="7566" y="678"/>
                  </a:lnTo>
                  <a:lnTo>
                    <a:pt x="25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Gradient</a:t>
            </a:r>
            <a:r>
              <a:rPr spc="45" dirty="0"/>
              <a:t> </a:t>
            </a:r>
            <a:r>
              <a:rPr dirty="0"/>
              <a:t>Descent</a:t>
            </a:r>
            <a:r>
              <a:rPr spc="50" dirty="0"/>
              <a:t> </a:t>
            </a:r>
            <a:r>
              <a:rPr dirty="0"/>
              <a:t>under</a:t>
            </a:r>
            <a:r>
              <a:rPr spc="40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dirty="0"/>
              <a:t>L2</a:t>
            </a:r>
            <a:r>
              <a:rPr spc="55" dirty="0"/>
              <a:t> </a:t>
            </a:r>
            <a:r>
              <a:rPr spc="-10" dirty="0"/>
              <a:t>Regularization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7" y="1717266"/>
            <a:ext cx="4751705" cy="840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descent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update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minimize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𝒥</a:t>
            </a:r>
            <a:r>
              <a:rPr sz="1900" spc="-25" dirty="0"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850"/>
              </a:spcBef>
            </a:pP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100" dirty="0">
                <a:latin typeface="Cambria Math"/>
                <a:cs typeface="Cambria Math"/>
              </a:rPr>
              <a:t> </a:t>
            </a:r>
            <a:r>
              <a:rPr sz="1900" spc="-325" dirty="0">
                <a:latin typeface="Cambria Math"/>
                <a:cs typeface="Cambria Math"/>
              </a:rPr>
              <a:t>➛</a:t>
            </a:r>
            <a:r>
              <a:rPr sz="1900" spc="110" dirty="0">
                <a:latin typeface="Cambria Math"/>
                <a:cs typeface="Cambria Math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dirty="0">
                <a:latin typeface="Cambria Math"/>
                <a:cs typeface="Cambria Math"/>
              </a:rPr>
              <a:t> −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𝛼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1057" y="2875506"/>
            <a:ext cx="8404225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09245" marR="30480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descent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update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minimize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𝐿</a:t>
            </a:r>
            <a:r>
              <a:rPr sz="2100" baseline="27777" dirty="0">
                <a:latin typeface="Cambria Math"/>
                <a:cs typeface="Cambria Math"/>
              </a:rPr>
              <a:t>2</a:t>
            </a:r>
            <a:r>
              <a:rPr sz="2100" spc="195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regularized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cost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𝒥</a:t>
            </a:r>
            <a:r>
              <a:rPr sz="1900" spc="1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𝜆ℛ</a:t>
            </a:r>
            <a:r>
              <a:rPr sz="1900" spc="2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results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in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weight</a:t>
            </a:r>
            <a:r>
              <a:rPr sz="19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decay</a:t>
            </a:r>
            <a:r>
              <a:rPr sz="1900" spc="-10" dirty="0"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69512" y="2420051"/>
            <a:ext cx="254000" cy="13335"/>
          </a:xfrm>
          <a:custGeom>
            <a:avLst/>
            <a:gdLst/>
            <a:ahLst/>
            <a:cxnLst/>
            <a:rect l="l" t="t" r="r" b="b"/>
            <a:pathLst>
              <a:path w="254000" h="13335">
                <a:moveTo>
                  <a:pt x="254000" y="0"/>
                </a:moveTo>
                <a:lnTo>
                  <a:pt x="0" y="0"/>
                </a:lnTo>
                <a:lnTo>
                  <a:pt x="0" y="12714"/>
                </a:lnTo>
                <a:lnTo>
                  <a:pt x="254000" y="12714"/>
                </a:lnTo>
                <a:lnTo>
                  <a:pt x="25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99667" y="2101314"/>
            <a:ext cx="448309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𝛛</a:t>
            </a:r>
            <a:r>
              <a:rPr sz="1400" spc="150" dirty="0">
                <a:latin typeface="Cambria Math"/>
                <a:cs typeface="Cambria Math"/>
              </a:rPr>
              <a:t>  </a:t>
            </a:r>
            <a:r>
              <a:rPr sz="2850" spc="-75" baseline="-32163" dirty="0">
                <a:latin typeface="Cambria Math"/>
                <a:cs typeface="Cambria Math"/>
              </a:rPr>
              <a:t>𝒥</a:t>
            </a:r>
            <a:endParaRPr sz="2850" baseline="-3216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56296" y="2427017"/>
            <a:ext cx="2787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𝛛w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24056" y="3588304"/>
            <a:ext cx="2787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𝛛w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7271" y="3402810"/>
            <a:ext cx="253492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105" dirty="0">
                <a:latin typeface="Cambria Math"/>
                <a:cs typeface="Cambria Math"/>
              </a:rPr>
              <a:t> </a:t>
            </a:r>
            <a:r>
              <a:rPr sz="1900" spc="-325" dirty="0">
                <a:latin typeface="Cambria Math"/>
                <a:cs typeface="Cambria Math"/>
              </a:rPr>
              <a:t>➛</a:t>
            </a:r>
            <a:r>
              <a:rPr sz="1900" spc="110" dirty="0">
                <a:latin typeface="Cambria Math"/>
                <a:cs typeface="Cambria Math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dirty="0">
                <a:latin typeface="Cambria Math"/>
                <a:cs typeface="Cambria Math"/>
              </a:rPr>
              <a:t> −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𝛼</a:t>
            </a:r>
            <a:r>
              <a:rPr sz="1900" spc="165" dirty="0">
                <a:latin typeface="Cambria Math"/>
                <a:cs typeface="Cambria Math"/>
              </a:rPr>
              <a:t> </a:t>
            </a:r>
            <a:r>
              <a:rPr sz="2100" u="heavy" spc="300" baseline="436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2100" u="heavy" baseline="436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𝛛</a:t>
            </a:r>
            <a:r>
              <a:rPr sz="2100" u="heavy" spc="434" baseline="436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2100" spc="-30" baseline="436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(𝒥</a:t>
            </a:r>
            <a:r>
              <a:rPr sz="1900" spc="6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𝜆ℛ</a:t>
            </a:r>
            <a:r>
              <a:rPr sz="1900" spc="-25" dirty="0">
                <a:latin typeface="Arial MT"/>
                <a:cs typeface="Arial MT"/>
              </a:rPr>
              <a:t>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69603" y="3972786"/>
            <a:ext cx="89916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90" dirty="0">
                <a:latin typeface="Cambria Math"/>
                <a:cs typeface="Cambria Math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𝛼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22887" y="3920250"/>
            <a:ext cx="1313180" cy="477520"/>
          </a:xfrm>
          <a:custGeom>
            <a:avLst/>
            <a:gdLst/>
            <a:ahLst/>
            <a:cxnLst/>
            <a:rect l="l" t="t" r="r" b="b"/>
            <a:pathLst>
              <a:path w="1313179" h="477520">
                <a:moveTo>
                  <a:pt x="91541" y="7899"/>
                </a:moveTo>
                <a:lnTo>
                  <a:pt x="52844" y="35128"/>
                </a:lnTo>
                <a:lnTo>
                  <a:pt x="25336" y="87223"/>
                </a:lnTo>
                <a:lnTo>
                  <a:pt x="6337" y="155333"/>
                </a:lnTo>
                <a:lnTo>
                  <a:pt x="1587" y="195033"/>
                </a:lnTo>
                <a:lnTo>
                  <a:pt x="0" y="238633"/>
                </a:lnTo>
                <a:lnTo>
                  <a:pt x="1511" y="280149"/>
                </a:lnTo>
                <a:lnTo>
                  <a:pt x="6337" y="321868"/>
                </a:lnTo>
                <a:lnTo>
                  <a:pt x="25336" y="390029"/>
                </a:lnTo>
                <a:lnTo>
                  <a:pt x="52844" y="442125"/>
                </a:lnTo>
                <a:lnTo>
                  <a:pt x="84709" y="477266"/>
                </a:lnTo>
                <a:lnTo>
                  <a:pt x="91541" y="469353"/>
                </a:lnTo>
                <a:lnTo>
                  <a:pt x="77292" y="453644"/>
                </a:lnTo>
                <a:lnTo>
                  <a:pt x="64325" y="434086"/>
                </a:lnTo>
                <a:lnTo>
                  <a:pt x="42303" y="383489"/>
                </a:lnTo>
                <a:lnTo>
                  <a:pt x="27711" y="318135"/>
                </a:lnTo>
                <a:lnTo>
                  <a:pt x="24066" y="280149"/>
                </a:lnTo>
                <a:lnTo>
                  <a:pt x="22860" y="238633"/>
                </a:lnTo>
                <a:lnTo>
                  <a:pt x="24066" y="197104"/>
                </a:lnTo>
                <a:lnTo>
                  <a:pt x="27711" y="159118"/>
                </a:lnTo>
                <a:lnTo>
                  <a:pt x="42303" y="93776"/>
                </a:lnTo>
                <a:lnTo>
                  <a:pt x="64325" y="43167"/>
                </a:lnTo>
                <a:lnTo>
                  <a:pt x="77292" y="23622"/>
                </a:lnTo>
                <a:lnTo>
                  <a:pt x="91541" y="7899"/>
                </a:lnTo>
                <a:close/>
              </a:path>
              <a:path w="1313179" h="477520">
                <a:moveTo>
                  <a:pt x="424421" y="230847"/>
                </a:moveTo>
                <a:lnTo>
                  <a:pt x="94221" y="230847"/>
                </a:lnTo>
                <a:lnTo>
                  <a:pt x="94221" y="243560"/>
                </a:lnTo>
                <a:lnTo>
                  <a:pt x="424421" y="243560"/>
                </a:lnTo>
                <a:lnTo>
                  <a:pt x="424421" y="230847"/>
                </a:lnTo>
                <a:close/>
              </a:path>
              <a:path w="1313179" h="477520">
                <a:moveTo>
                  <a:pt x="1211821" y="230847"/>
                </a:moveTo>
                <a:lnTo>
                  <a:pt x="881621" y="230847"/>
                </a:lnTo>
                <a:lnTo>
                  <a:pt x="881621" y="243560"/>
                </a:lnTo>
                <a:lnTo>
                  <a:pt x="1211821" y="243560"/>
                </a:lnTo>
                <a:lnTo>
                  <a:pt x="1211821" y="230847"/>
                </a:lnTo>
                <a:close/>
              </a:path>
              <a:path w="1313179" h="477520">
                <a:moveTo>
                  <a:pt x="1312722" y="238633"/>
                </a:moveTo>
                <a:lnTo>
                  <a:pt x="1311211" y="197104"/>
                </a:lnTo>
                <a:lnTo>
                  <a:pt x="1306385" y="155333"/>
                </a:lnTo>
                <a:lnTo>
                  <a:pt x="1287386" y="87223"/>
                </a:lnTo>
                <a:lnTo>
                  <a:pt x="1259878" y="35128"/>
                </a:lnTo>
                <a:lnTo>
                  <a:pt x="1228001" y="0"/>
                </a:lnTo>
                <a:lnTo>
                  <a:pt x="1221168" y="7899"/>
                </a:lnTo>
                <a:lnTo>
                  <a:pt x="1235430" y="23622"/>
                </a:lnTo>
                <a:lnTo>
                  <a:pt x="1248384" y="43167"/>
                </a:lnTo>
                <a:lnTo>
                  <a:pt x="1270419" y="93776"/>
                </a:lnTo>
                <a:lnTo>
                  <a:pt x="1284998" y="159118"/>
                </a:lnTo>
                <a:lnTo>
                  <a:pt x="1288643" y="197104"/>
                </a:lnTo>
                <a:lnTo>
                  <a:pt x="1289862" y="238633"/>
                </a:lnTo>
                <a:lnTo>
                  <a:pt x="1288643" y="280149"/>
                </a:lnTo>
                <a:lnTo>
                  <a:pt x="1284998" y="318135"/>
                </a:lnTo>
                <a:lnTo>
                  <a:pt x="1270419" y="383489"/>
                </a:lnTo>
                <a:lnTo>
                  <a:pt x="1248384" y="434086"/>
                </a:lnTo>
                <a:lnTo>
                  <a:pt x="1221168" y="469353"/>
                </a:lnTo>
                <a:lnTo>
                  <a:pt x="1228001" y="477266"/>
                </a:lnTo>
                <a:lnTo>
                  <a:pt x="1259878" y="442125"/>
                </a:lnTo>
                <a:lnTo>
                  <a:pt x="1287386" y="390029"/>
                </a:lnTo>
                <a:lnTo>
                  <a:pt x="1306385" y="321868"/>
                </a:lnTo>
                <a:lnTo>
                  <a:pt x="1311135" y="282092"/>
                </a:lnTo>
                <a:lnTo>
                  <a:pt x="1312722" y="2386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02807" y="3789906"/>
            <a:ext cx="115951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mbria Math"/>
                <a:cs typeface="Cambria Math"/>
              </a:rPr>
              <a:t>𝜕𝒥</a:t>
            </a:r>
            <a:r>
              <a:rPr sz="1900" spc="180" dirty="0">
                <a:latin typeface="Cambria Math"/>
                <a:cs typeface="Cambria Math"/>
              </a:rPr>
              <a:t> </a:t>
            </a:r>
            <a:r>
              <a:rPr sz="2850" baseline="-42397" dirty="0">
                <a:latin typeface="Cambria Math"/>
                <a:cs typeface="Cambria Math"/>
              </a:rPr>
              <a:t>+</a:t>
            </a:r>
            <a:r>
              <a:rPr sz="2850" spc="-22" baseline="-42397" dirty="0">
                <a:latin typeface="Cambria Math"/>
                <a:cs typeface="Cambria Math"/>
              </a:rPr>
              <a:t> </a:t>
            </a:r>
            <a:r>
              <a:rPr sz="2850" baseline="-42397" dirty="0">
                <a:latin typeface="Cambria Math"/>
                <a:cs typeface="Cambria Math"/>
              </a:rPr>
              <a:t>𝜆</a:t>
            </a:r>
            <a:r>
              <a:rPr sz="2850" spc="-82" baseline="-42397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𝜕ℛ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09406" y="4134330"/>
            <a:ext cx="114046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7560" algn="l"/>
              </a:tabLst>
            </a:pPr>
            <a:r>
              <a:rPr sz="1900" spc="-25" dirty="0">
                <a:latin typeface="Cambria Math"/>
                <a:cs typeface="Cambria Math"/>
              </a:rPr>
              <a:t>𝜕w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-25" dirty="0">
                <a:latin typeface="Cambria Math"/>
                <a:cs typeface="Cambria Math"/>
              </a:rPr>
              <a:t>𝜕w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21782" y="4513987"/>
            <a:ext cx="1134110" cy="477520"/>
          </a:xfrm>
          <a:custGeom>
            <a:avLst/>
            <a:gdLst/>
            <a:ahLst/>
            <a:cxnLst/>
            <a:rect l="l" t="t" r="r" b="b"/>
            <a:pathLst>
              <a:path w="1134110" h="477520">
                <a:moveTo>
                  <a:pt x="91541" y="7899"/>
                </a:moveTo>
                <a:lnTo>
                  <a:pt x="52844" y="35128"/>
                </a:lnTo>
                <a:lnTo>
                  <a:pt x="25336" y="87223"/>
                </a:lnTo>
                <a:lnTo>
                  <a:pt x="6337" y="155333"/>
                </a:lnTo>
                <a:lnTo>
                  <a:pt x="1587" y="195033"/>
                </a:lnTo>
                <a:lnTo>
                  <a:pt x="0" y="238633"/>
                </a:lnTo>
                <a:lnTo>
                  <a:pt x="1511" y="280149"/>
                </a:lnTo>
                <a:lnTo>
                  <a:pt x="6337" y="321868"/>
                </a:lnTo>
                <a:lnTo>
                  <a:pt x="25336" y="390029"/>
                </a:lnTo>
                <a:lnTo>
                  <a:pt x="52844" y="442125"/>
                </a:lnTo>
                <a:lnTo>
                  <a:pt x="84709" y="477266"/>
                </a:lnTo>
                <a:lnTo>
                  <a:pt x="91541" y="469353"/>
                </a:lnTo>
                <a:lnTo>
                  <a:pt x="77292" y="453644"/>
                </a:lnTo>
                <a:lnTo>
                  <a:pt x="64325" y="434086"/>
                </a:lnTo>
                <a:lnTo>
                  <a:pt x="42291" y="383476"/>
                </a:lnTo>
                <a:lnTo>
                  <a:pt x="27711" y="318135"/>
                </a:lnTo>
                <a:lnTo>
                  <a:pt x="24066" y="280149"/>
                </a:lnTo>
                <a:lnTo>
                  <a:pt x="22860" y="238633"/>
                </a:lnTo>
                <a:lnTo>
                  <a:pt x="24066" y="197104"/>
                </a:lnTo>
                <a:lnTo>
                  <a:pt x="27711" y="159118"/>
                </a:lnTo>
                <a:lnTo>
                  <a:pt x="42291" y="93776"/>
                </a:lnTo>
                <a:lnTo>
                  <a:pt x="64325" y="43167"/>
                </a:lnTo>
                <a:lnTo>
                  <a:pt x="77292" y="23622"/>
                </a:lnTo>
                <a:lnTo>
                  <a:pt x="91541" y="7899"/>
                </a:lnTo>
                <a:close/>
              </a:path>
              <a:path w="1134110" h="477520">
                <a:moveTo>
                  <a:pt x="425526" y="230847"/>
                </a:moveTo>
                <a:lnTo>
                  <a:pt x="95326" y="230847"/>
                </a:lnTo>
                <a:lnTo>
                  <a:pt x="95326" y="243560"/>
                </a:lnTo>
                <a:lnTo>
                  <a:pt x="425526" y="243560"/>
                </a:lnTo>
                <a:lnTo>
                  <a:pt x="425526" y="230847"/>
                </a:lnTo>
                <a:close/>
              </a:path>
              <a:path w="1134110" h="477520">
                <a:moveTo>
                  <a:pt x="1133906" y="238633"/>
                </a:moveTo>
                <a:lnTo>
                  <a:pt x="1132395" y="197104"/>
                </a:lnTo>
                <a:lnTo>
                  <a:pt x="1127569" y="155333"/>
                </a:lnTo>
                <a:lnTo>
                  <a:pt x="1108570" y="87223"/>
                </a:lnTo>
                <a:lnTo>
                  <a:pt x="1081062" y="35128"/>
                </a:lnTo>
                <a:lnTo>
                  <a:pt x="1049197" y="0"/>
                </a:lnTo>
                <a:lnTo>
                  <a:pt x="1042365" y="7899"/>
                </a:lnTo>
                <a:lnTo>
                  <a:pt x="1056614" y="23622"/>
                </a:lnTo>
                <a:lnTo>
                  <a:pt x="1069581" y="43167"/>
                </a:lnTo>
                <a:lnTo>
                  <a:pt x="1091603" y="93776"/>
                </a:lnTo>
                <a:lnTo>
                  <a:pt x="1106182" y="159118"/>
                </a:lnTo>
                <a:lnTo>
                  <a:pt x="1109840" y="197104"/>
                </a:lnTo>
                <a:lnTo>
                  <a:pt x="1111046" y="238633"/>
                </a:lnTo>
                <a:lnTo>
                  <a:pt x="1109840" y="280149"/>
                </a:lnTo>
                <a:lnTo>
                  <a:pt x="1106182" y="318135"/>
                </a:lnTo>
                <a:lnTo>
                  <a:pt x="1091603" y="383476"/>
                </a:lnTo>
                <a:lnTo>
                  <a:pt x="1069581" y="434086"/>
                </a:lnTo>
                <a:lnTo>
                  <a:pt x="1042365" y="469353"/>
                </a:lnTo>
                <a:lnTo>
                  <a:pt x="1049197" y="477266"/>
                </a:lnTo>
                <a:lnTo>
                  <a:pt x="1081062" y="442125"/>
                </a:lnTo>
                <a:lnTo>
                  <a:pt x="1108570" y="390029"/>
                </a:lnTo>
                <a:lnTo>
                  <a:pt x="1127569" y="321868"/>
                </a:lnTo>
                <a:lnTo>
                  <a:pt x="1132319" y="282079"/>
                </a:lnTo>
                <a:lnTo>
                  <a:pt x="1133906" y="2386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408300" y="4728690"/>
            <a:ext cx="3549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latin typeface="Cambria Math"/>
                <a:cs typeface="Cambria Math"/>
              </a:rPr>
              <a:t>𝜕w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3097" y="4567146"/>
            <a:ext cx="20643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96645" algn="l"/>
              </a:tabLst>
            </a:pP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90" dirty="0">
                <a:latin typeface="Cambria Math"/>
                <a:cs typeface="Cambria Math"/>
              </a:rPr>
              <a:t> </a:t>
            </a:r>
            <a:r>
              <a:rPr sz="1900" spc="55" dirty="0">
                <a:latin typeface="Cambria Math"/>
                <a:cs typeface="Cambria Math"/>
              </a:rPr>
              <a:t>w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𝛼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2850" baseline="42397" dirty="0">
                <a:latin typeface="Cambria Math"/>
                <a:cs typeface="Cambria Math"/>
              </a:rPr>
              <a:t>𝜕𝒥</a:t>
            </a:r>
            <a:r>
              <a:rPr sz="2850" spc="270" baseline="4239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+</a:t>
            </a:r>
            <a:r>
              <a:rPr sz="1900" spc="-2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𝜆w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17212" y="5338563"/>
            <a:ext cx="330200" cy="13335"/>
          </a:xfrm>
          <a:custGeom>
            <a:avLst/>
            <a:gdLst/>
            <a:ahLst/>
            <a:cxnLst/>
            <a:rect l="l" t="t" r="r" b="b"/>
            <a:pathLst>
              <a:path w="330200" h="13335">
                <a:moveTo>
                  <a:pt x="330200" y="0"/>
                </a:moveTo>
                <a:lnTo>
                  <a:pt x="0" y="0"/>
                </a:lnTo>
                <a:lnTo>
                  <a:pt x="0" y="12714"/>
                </a:lnTo>
                <a:lnTo>
                  <a:pt x="330200" y="12714"/>
                </a:lnTo>
                <a:lnTo>
                  <a:pt x="330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357878" y="5161506"/>
            <a:ext cx="21939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1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(1</a:t>
            </a:r>
            <a:r>
              <a:rPr sz="1900" spc="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𝛼𝜆)w − 𝛼</a:t>
            </a:r>
            <a:r>
              <a:rPr sz="1900" spc="105" dirty="0">
                <a:latin typeface="Cambria Math"/>
                <a:cs typeface="Cambria Math"/>
              </a:rPr>
              <a:t> </a:t>
            </a:r>
            <a:r>
              <a:rPr sz="2850" spc="-37" baseline="42397" dirty="0">
                <a:latin typeface="Cambria Math"/>
                <a:cs typeface="Cambria Math"/>
              </a:rPr>
              <a:t>𝜕𝒥</a:t>
            </a:r>
            <a:endParaRPr sz="2850" baseline="42397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98205" y="5323050"/>
            <a:ext cx="3549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latin typeface="Cambria Math"/>
                <a:cs typeface="Cambria Math"/>
              </a:rPr>
              <a:t>𝜕w</a:t>
            </a:r>
            <a:endParaRPr sz="1900">
              <a:latin typeface="Cambria Math"/>
              <a:cs typeface="Cambria Math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0674" y="3315731"/>
            <a:ext cx="543464" cy="31831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88958" y="3285914"/>
            <a:ext cx="441561" cy="36791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59848" y="3708946"/>
            <a:ext cx="588699" cy="31784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7632" y="3778923"/>
            <a:ext cx="280861" cy="24017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3403" y="3773512"/>
            <a:ext cx="597535" cy="18782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60035" y="3737582"/>
            <a:ext cx="294842" cy="21717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90712" y="3740023"/>
            <a:ext cx="705305" cy="224261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4674795" y="5679328"/>
            <a:ext cx="1924685" cy="54610"/>
            <a:chOff x="4674795" y="5679328"/>
            <a:chExt cx="1924685" cy="54610"/>
          </a:xfrm>
        </p:grpSpPr>
        <p:sp>
          <p:nvSpPr>
            <p:cNvPr id="28" name="object 28"/>
            <p:cNvSpPr/>
            <p:nvPr/>
          </p:nvSpPr>
          <p:spPr>
            <a:xfrm>
              <a:off x="4685089" y="5703137"/>
              <a:ext cx="63500" cy="31115"/>
            </a:xfrm>
            <a:custGeom>
              <a:avLst/>
              <a:gdLst/>
              <a:ahLst/>
              <a:cxnLst/>
              <a:rect l="l" t="t" r="r" b="b"/>
              <a:pathLst>
                <a:path w="63500" h="31114">
                  <a:moveTo>
                    <a:pt x="26764" y="14632"/>
                  </a:moveTo>
                  <a:lnTo>
                    <a:pt x="24458" y="15532"/>
                  </a:lnTo>
                  <a:lnTo>
                    <a:pt x="22834" y="19373"/>
                  </a:lnTo>
                  <a:lnTo>
                    <a:pt x="23453" y="20900"/>
                  </a:lnTo>
                  <a:lnTo>
                    <a:pt x="61003" y="30746"/>
                  </a:lnTo>
                  <a:lnTo>
                    <a:pt x="62609" y="29461"/>
                  </a:lnTo>
                  <a:lnTo>
                    <a:pt x="63007" y="25892"/>
                  </a:lnTo>
                  <a:lnTo>
                    <a:pt x="61720" y="24284"/>
                  </a:lnTo>
                  <a:lnTo>
                    <a:pt x="59936" y="24086"/>
                  </a:lnTo>
                  <a:lnTo>
                    <a:pt x="54170" y="23182"/>
                  </a:lnTo>
                  <a:lnTo>
                    <a:pt x="27818" y="23182"/>
                  </a:lnTo>
                  <a:lnTo>
                    <a:pt x="29979" y="22160"/>
                  </a:lnTo>
                  <a:lnTo>
                    <a:pt x="31320" y="18409"/>
                  </a:lnTo>
                  <a:lnTo>
                    <a:pt x="30440" y="16224"/>
                  </a:lnTo>
                  <a:lnTo>
                    <a:pt x="28802" y="15532"/>
                  </a:lnTo>
                  <a:lnTo>
                    <a:pt x="26764" y="14632"/>
                  </a:lnTo>
                  <a:close/>
                </a:path>
                <a:path w="63500" h="31114">
                  <a:moveTo>
                    <a:pt x="26890" y="22823"/>
                  </a:moveTo>
                  <a:lnTo>
                    <a:pt x="27818" y="23182"/>
                  </a:lnTo>
                  <a:lnTo>
                    <a:pt x="27972" y="23182"/>
                  </a:lnTo>
                  <a:lnTo>
                    <a:pt x="26890" y="22823"/>
                  </a:lnTo>
                  <a:close/>
                </a:path>
                <a:path w="63500" h="31114">
                  <a:moveTo>
                    <a:pt x="29306" y="15721"/>
                  </a:moveTo>
                  <a:lnTo>
                    <a:pt x="30440" y="16224"/>
                  </a:lnTo>
                  <a:lnTo>
                    <a:pt x="31320" y="18409"/>
                  </a:lnTo>
                  <a:lnTo>
                    <a:pt x="29979" y="22160"/>
                  </a:lnTo>
                  <a:lnTo>
                    <a:pt x="27818" y="23182"/>
                  </a:lnTo>
                  <a:lnTo>
                    <a:pt x="54170" y="23182"/>
                  </a:lnTo>
                  <a:lnTo>
                    <a:pt x="51882" y="22823"/>
                  </a:lnTo>
                  <a:lnTo>
                    <a:pt x="43959" y="20900"/>
                  </a:lnTo>
                  <a:lnTo>
                    <a:pt x="36190" y="18409"/>
                  </a:lnTo>
                  <a:lnTo>
                    <a:pt x="29306" y="15721"/>
                  </a:lnTo>
                  <a:close/>
                </a:path>
                <a:path w="63500" h="31114">
                  <a:moveTo>
                    <a:pt x="4225" y="0"/>
                  </a:moveTo>
                  <a:lnTo>
                    <a:pt x="2316" y="0"/>
                  </a:lnTo>
                  <a:lnTo>
                    <a:pt x="232" y="1951"/>
                  </a:lnTo>
                  <a:lnTo>
                    <a:pt x="0" y="3404"/>
                  </a:lnTo>
                  <a:lnTo>
                    <a:pt x="640" y="4573"/>
                  </a:lnTo>
                  <a:lnTo>
                    <a:pt x="5382" y="10799"/>
                  </a:lnTo>
                  <a:lnTo>
                    <a:pt x="11576" y="15721"/>
                  </a:lnTo>
                  <a:lnTo>
                    <a:pt x="18605" y="19546"/>
                  </a:lnTo>
                  <a:lnTo>
                    <a:pt x="23749" y="21628"/>
                  </a:lnTo>
                  <a:lnTo>
                    <a:pt x="22904" y="19546"/>
                  </a:lnTo>
                  <a:lnTo>
                    <a:pt x="22834" y="19373"/>
                  </a:lnTo>
                  <a:lnTo>
                    <a:pt x="24378" y="15721"/>
                  </a:lnTo>
                  <a:lnTo>
                    <a:pt x="24458" y="15532"/>
                  </a:lnTo>
                  <a:lnTo>
                    <a:pt x="26675" y="14632"/>
                  </a:lnTo>
                  <a:lnTo>
                    <a:pt x="22355" y="12678"/>
                  </a:lnTo>
                  <a:lnTo>
                    <a:pt x="16201" y="9493"/>
                  </a:lnTo>
                  <a:lnTo>
                    <a:pt x="10426" y="5716"/>
                  </a:lnTo>
                  <a:lnTo>
                    <a:pt x="5326" y="1176"/>
                  </a:lnTo>
                  <a:lnTo>
                    <a:pt x="4225" y="0"/>
                  </a:lnTo>
                  <a:close/>
                </a:path>
              </a:pathLst>
            </a:custGeom>
            <a:solidFill>
              <a:srgbClr val="D2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74795" y="5687428"/>
              <a:ext cx="1924685" cy="0"/>
            </a:xfrm>
            <a:custGeom>
              <a:avLst/>
              <a:gdLst/>
              <a:ahLst/>
              <a:cxnLst/>
              <a:rect l="l" t="t" r="r" b="b"/>
              <a:pathLst>
                <a:path w="1924684">
                  <a:moveTo>
                    <a:pt x="0" y="0"/>
                  </a:moveTo>
                  <a:lnTo>
                    <a:pt x="1924500" y="0"/>
                  </a:lnTo>
                </a:path>
              </a:pathLst>
            </a:custGeom>
            <a:ln w="16200">
              <a:solidFill>
                <a:srgbClr val="D2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9592" y="795948"/>
            <a:ext cx="1542483" cy="43454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28202" y="853038"/>
            <a:ext cx="1577216" cy="334341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4609294" y="784088"/>
            <a:ext cx="1085215" cy="415290"/>
            <a:chOff x="4609294" y="784088"/>
            <a:chExt cx="1085215" cy="415290"/>
          </a:xfrm>
        </p:grpSpPr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09294" y="784088"/>
              <a:ext cx="781974" cy="41510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23446" y="861644"/>
              <a:ext cx="270437" cy="336470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10765" y="773065"/>
            <a:ext cx="1523966" cy="42740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279223" y="2217910"/>
            <a:ext cx="2493283" cy="344101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912293" y="2216155"/>
            <a:ext cx="1013577" cy="47255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618903" y="4569537"/>
            <a:ext cx="1054573" cy="318090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8799234" y="4491873"/>
            <a:ext cx="1656714" cy="721995"/>
            <a:chOff x="8799234" y="4491873"/>
            <a:chExt cx="1656714" cy="721995"/>
          </a:xfrm>
        </p:grpSpPr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799234" y="4491873"/>
              <a:ext cx="1656257" cy="69852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87735" y="4924149"/>
              <a:ext cx="556846" cy="289569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18867" y="5237245"/>
            <a:ext cx="725809" cy="414834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8536622" y="5642395"/>
            <a:ext cx="30480" cy="31115"/>
          </a:xfrm>
          <a:custGeom>
            <a:avLst/>
            <a:gdLst/>
            <a:ahLst/>
            <a:cxnLst/>
            <a:rect l="l" t="t" r="r" b="b"/>
            <a:pathLst>
              <a:path w="30479" h="31114">
                <a:moveTo>
                  <a:pt x="23778" y="0"/>
                </a:moveTo>
                <a:lnTo>
                  <a:pt x="0" y="28602"/>
                </a:lnTo>
                <a:lnTo>
                  <a:pt x="1545" y="30374"/>
                </a:lnTo>
                <a:lnTo>
                  <a:pt x="4879" y="30604"/>
                </a:lnTo>
                <a:lnTo>
                  <a:pt x="6156" y="29997"/>
                </a:lnTo>
                <a:lnTo>
                  <a:pt x="8801" y="26160"/>
                </a:lnTo>
                <a:lnTo>
                  <a:pt x="11324" y="23787"/>
                </a:lnTo>
                <a:lnTo>
                  <a:pt x="18218" y="17164"/>
                </a:lnTo>
                <a:lnTo>
                  <a:pt x="22931" y="13078"/>
                </a:lnTo>
                <a:lnTo>
                  <a:pt x="29707" y="7326"/>
                </a:lnTo>
                <a:lnTo>
                  <a:pt x="29866" y="5380"/>
                </a:lnTo>
                <a:lnTo>
                  <a:pt x="29955" y="4287"/>
                </a:lnTo>
                <a:lnTo>
                  <a:pt x="26606" y="342"/>
                </a:lnTo>
                <a:lnTo>
                  <a:pt x="23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664364" y="5280164"/>
            <a:ext cx="1469938" cy="367477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754473" y="5716647"/>
            <a:ext cx="716315" cy="30128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601869" y="6122129"/>
            <a:ext cx="558529" cy="500988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318372" y="6203365"/>
            <a:ext cx="772130" cy="384239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165265" y="6354552"/>
            <a:ext cx="495260" cy="2444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spc="45" dirty="0"/>
              <a:t> </a:t>
            </a:r>
            <a:r>
              <a:rPr dirty="0"/>
              <a:t>Rate</a:t>
            </a:r>
            <a:r>
              <a:rPr spc="35" dirty="0"/>
              <a:t> </a:t>
            </a:r>
            <a:r>
              <a:rPr dirty="0"/>
              <a:t>(Step</a:t>
            </a:r>
            <a:r>
              <a:rPr spc="45" dirty="0"/>
              <a:t> </a:t>
            </a:r>
            <a:r>
              <a:rPr spc="-10" dirty="0"/>
              <a:t>Size)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6" y="1732506"/>
            <a:ext cx="8809355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3845" marR="5080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In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descent,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learning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rate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𝛼</a:t>
            </a:r>
            <a:r>
              <a:rPr sz="1900" spc="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hyperparameter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need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tune.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Here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are </a:t>
            </a:r>
            <a:r>
              <a:rPr sz="1900" dirty="0">
                <a:latin typeface="Calibri"/>
                <a:cs typeface="Calibri"/>
              </a:rPr>
              <a:t>some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things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wrong: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456" y="5204178"/>
            <a:ext cx="8456930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3845" marR="5080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Good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typically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between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0.001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0.1.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should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grid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search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you </a:t>
            </a:r>
            <a:r>
              <a:rPr sz="1900" dirty="0">
                <a:latin typeface="Calibri"/>
                <a:cs typeface="Calibri"/>
              </a:rPr>
              <a:t>want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good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performance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(i.e.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try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0.1,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0.03,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0.01,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…).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497" y="2423067"/>
            <a:ext cx="7493797" cy="188149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17322" y="4177002"/>
            <a:ext cx="1372870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8763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Cambria Math"/>
                <a:cs typeface="Cambria Math"/>
              </a:rPr>
              <a:t>𝛼</a:t>
            </a:r>
            <a:r>
              <a:rPr sz="1900" spc="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too</a:t>
            </a:r>
            <a:r>
              <a:rPr sz="1900" spc="-10" dirty="0">
                <a:latin typeface="Calibri"/>
                <a:cs typeface="Calibri"/>
              </a:rPr>
              <a:t> small: </a:t>
            </a:r>
            <a:r>
              <a:rPr sz="1900" dirty="0">
                <a:latin typeface="Calibri"/>
                <a:cs typeface="Calibri"/>
              </a:rPr>
              <a:t>slow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progress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7861" y="4201386"/>
            <a:ext cx="1173480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910" marR="5080" indent="-29845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Cambria Math"/>
                <a:cs typeface="Cambria Math"/>
              </a:rPr>
              <a:t>𝛼</a:t>
            </a:r>
            <a:r>
              <a:rPr sz="1900" spc="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too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large: oscillations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5208" y="4177002"/>
            <a:ext cx="1775460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09575" marR="5080" indent="-39751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Cambria Math"/>
                <a:cs typeface="Cambria Math"/>
              </a:rPr>
              <a:t>𝛼</a:t>
            </a:r>
            <a:r>
              <a:rPr sz="1900" spc="4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much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too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large: instability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2147" y="1276430"/>
            <a:ext cx="356918" cy="3011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450" y="1116063"/>
            <a:ext cx="297815" cy="4932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47215" y="1277413"/>
            <a:ext cx="227996" cy="27946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39471" y="1195408"/>
            <a:ext cx="1931244" cy="379896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7251852" y="1489236"/>
            <a:ext cx="21590" cy="48895"/>
          </a:xfrm>
          <a:custGeom>
            <a:avLst/>
            <a:gdLst/>
            <a:ahLst/>
            <a:cxnLst/>
            <a:rect l="l" t="t" r="r" b="b"/>
            <a:pathLst>
              <a:path w="21590" h="48894">
                <a:moveTo>
                  <a:pt x="424" y="39297"/>
                </a:moveTo>
                <a:lnTo>
                  <a:pt x="0" y="41452"/>
                </a:lnTo>
                <a:lnTo>
                  <a:pt x="1061" y="46163"/>
                </a:lnTo>
                <a:lnTo>
                  <a:pt x="1150" y="46556"/>
                </a:lnTo>
                <a:lnTo>
                  <a:pt x="7119" y="48547"/>
                </a:lnTo>
                <a:lnTo>
                  <a:pt x="8387" y="48547"/>
                </a:lnTo>
                <a:lnTo>
                  <a:pt x="14344" y="46874"/>
                </a:lnTo>
                <a:lnTo>
                  <a:pt x="14432" y="46556"/>
                </a:lnTo>
                <a:lnTo>
                  <a:pt x="14541" y="46163"/>
                </a:lnTo>
                <a:lnTo>
                  <a:pt x="11037" y="46163"/>
                </a:lnTo>
                <a:lnTo>
                  <a:pt x="2992" y="45131"/>
                </a:lnTo>
                <a:lnTo>
                  <a:pt x="148" y="41452"/>
                </a:lnTo>
                <a:lnTo>
                  <a:pt x="424" y="39297"/>
                </a:lnTo>
                <a:close/>
              </a:path>
              <a:path w="21590" h="48894">
                <a:moveTo>
                  <a:pt x="11065" y="30573"/>
                </a:moveTo>
                <a:lnTo>
                  <a:pt x="3835" y="31475"/>
                </a:lnTo>
                <a:lnTo>
                  <a:pt x="1267" y="33922"/>
                </a:lnTo>
                <a:lnTo>
                  <a:pt x="683" y="37278"/>
                </a:lnTo>
                <a:lnTo>
                  <a:pt x="148" y="41452"/>
                </a:lnTo>
                <a:lnTo>
                  <a:pt x="2992" y="45131"/>
                </a:lnTo>
                <a:lnTo>
                  <a:pt x="11037" y="46163"/>
                </a:lnTo>
                <a:lnTo>
                  <a:pt x="14718" y="43320"/>
                </a:lnTo>
                <a:lnTo>
                  <a:pt x="15233" y="39297"/>
                </a:lnTo>
                <a:lnTo>
                  <a:pt x="15207" y="37278"/>
                </a:lnTo>
                <a:lnTo>
                  <a:pt x="14953" y="35190"/>
                </a:lnTo>
                <a:lnTo>
                  <a:pt x="14915" y="34876"/>
                </a:lnTo>
                <a:lnTo>
                  <a:pt x="14796" y="33922"/>
                </a:lnTo>
                <a:lnTo>
                  <a:pt x="14747" y="33535"/>
                </a:lnTo>
                <a:lnTo>
                  <a:pt x="12409" y="31620"/>
                </a:lnTo>
                <a:lnTo>
                  <a:pt x="11065" y="30573"/>
                </a:lnTo>
                <a:close/>
              </a:path>
              <a:path w="21590" h="48894">
                <a:moveTo>
                  <a:pt x="15277" y="37782"/>
                </a:moveTo>
                <a:lnTo>
                  <a:pt x="15233" y="39297"/>
                </a:lnTo>
                <a:lnTo>
                  <a:pt x="14718" y="43320"/>
                </a:lnTo>
                <a:lnTo>
                  <a:pt x="11037" y="46163"/>
                </a:lnTo>
                <a:lnTo>
                  <a:pt x="14541" y="46163"/>
                </a:lnTo>
                <a:lnTo>
                  <a:pt x="15769" y="41727"/>
                </a:lnTo>
                <a:lnTo>
                  <a:pt x="15277" y="37782"/>
                </a:lnTo>
                <a:close/>
              </a:path>
              <a:path w="21590" h="48894">
                <a:moveTo>
                  <a:pt x="13384" y="0"/>
                </a:moveTo>
                <a:lnTo>
                  <a:pt x="10555" y="1668"/>
                </a:lnTo>
                <a:lnTo>
                  <a:pt x="7533" y="11581"/>
                </a:lnTo>
                <a:lnTo>
                  <a:pt x="5379" y="18724"/>
                </a:lnTo>
                <a:lnTo>
                  <a:pt x="2349" y="29686"/>
                </a:lnTo>
                <a:lnTo>
                  <a:pt x="1163" y="33535"/>
                </a:lnTo>
                <a:lnTo>
                  <a:pt x="1113" y="33922"/>
                </a:lnTo>
                <a:lnTo>
                  <a:pt x="991" y="34876"/>
                </a:lnTo>
                <a:lnTo>
                  <a:pt x="1267" y="33922"/>
                </a:lnTo>
                <a:lnTo>
                  <a:pt x="3835" y="31475"/>
                </a:lnTo>
                <a:lnTo>
                  <a:pt x="11065" y="30573"/>
                </a:lnTo>
                <a:lnTo>
                  <a:pt x="16039" y="30573"/>
                </a:lnTo>
                <a:lnTo>
                  <a:pt x="17532" y="21554"/>
                </a:lnTo>
                <a:lnTo>
                  <a:pt x="19017" y="14390"/>
                </a:lnTo>
                <a:lnTo>
                  <a:pt x="21178" y="4217"/>
                </a:lnTo>
                <a:lnTo>
                  <a:pt x="19248" y="1245"/>
                </a:lnTo>
                <a:lnTo>
                  <a:pt x="13384" y="0"/>
                </a:lnTo>
                <a:close/>
              </a:path>
              <a:path w="21590" h="48894">
                <a:moveTo>
                  <a:pt x="16039" y="30573"/>
                </a:moveTo>
                <a:lnTo>
                  <a:pt x="11065" y="30573"/>
                </a:lnTo>
                <a:lnTo>
                  <a:pt x="12409" y="31620"/>
                </a:lnTo>
                <a:lnTo>
                  <a:pt x="14747" y="33535"/>
                </a:lnTo>
                <a:lnTo>
                  <a:pt x="14796" y="33922"/>
                </a:lnTo>
                <a:lnTo>
                  <a:pt x="14915" y="34876"/>
                </a:lnTo>
                <a:lnTo>
                  <a:pt x="15277" y="33922"/>
                </a:lnTo>
                <a:lnTo>
                  <a:pt x="15866" y="31620"/>
                </a:lnTo>
                <a:lnTo>
                  <a:pt x="16039" y="30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72267" y="5578853"/>
            <a:ext cx="2220595" cy="0"/>
          </a:xfrm>
          <a:custGeom>
            <a:avLst/>
            <a:gdLst/>
            <a:ahLst/>
            <a:cxnLst/>
            <a:rect l="l" t="t" r="r" b="b"/>
            <a:pathLst>
              <a:path w="2220595">
                <a:moveTo>
                  <a:pt x="0" y="0"/>
                </a:moveTo>
                <a:lnTo>
                  <a:pt x="2220342" y="0"/>
                </a:lnTo>
              </a:path>
            </a:pathLst>
          </a:custGeom>
          <a:ln w="16200">
            <a:solidFill>
              <a:srgbClr val="D2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7418" y="5940252"/>
            <a:ext cx="668672" cy="29390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44491" y="5826910"/>
            <a:ext cx="3046660" cy="411754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5096867" y="6102243"/>
            <a:ext cx="34290" cy="36195"/>
          </a:xfrm>
          <a:custGeom>
            <a:avLst/>
            <a:gdLst/>
            <a:ahLst/>
            <a:cxnLst/>
            <a:rect l="l" t="t" r="r" b="b"/>
            <a:pathLst>
              <a:path w="34289" h="36195">
                <a:moveTo>
                  <a:pt x="29820" y="0"/>
                </a:moveTo>
                <a:lnTo>
                  <a:pt x="1074" y="25897"/>
                </a:lnTo>
                <a:lnTo>
                  <a:pt x="0" y="32542"/>
                </a:lnTo>
                <a:lnTo>
                  <a:pt x="1720" y="34983"/>
                </a:lnTo>
                <a:lnTo>
                  <a:pt x="6611" y="35830"/>
                </a:lnTo>
                <a:lnTo>
                  <a:pt x="8817" y="34629"/>
                </a:lnTo>
                <a:lnTo>
                  <a:pt x="9704" y="32542"/>
                </a:lnTo>
                <a:lnTo>
                  <a:pt x="12889" y="25897"/>
                </a:lnTo>
                <a:lnTo>
                  <a:pt x="16986" y="19668"/>
                </a:lnTo>
                <a:lnTo>
                  <a:pt x="22232" y="14585"/>
                </a:lnTo>
                <a:lnTo>
                  <a:pt x="28868" y="11377"/>
                </a:lnTo>
                <a:lnTo>
                  <a:pt x="31930" y="10539"/>
                </a:lnTo>
                <a:lnTo>
                  <a:pt x="33733" y="7379"/>
                </a:lnTo>
                <a:lnTo>
                  <a:pt x="32194" y="1750"/>
                </a:lnTo>
                <a:lnTo>
                  <a:pt x="298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46440" y="5860479"/>
            <a:ext cx="466119" cy="28362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01250" y="5735209"/>
            <a:ext cx="1141674" cy="460701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7054530" y="6157458"/>
            <a:ext cx="39370" cy="29209"/>
          </a:xfrm>
          <a:custGeom>
            <a:avLst/>
            <a:gdLst/>
            <a:ahLst/>
            <a:cxnLst/>
            <a:rect l="l" t="t" r="r" b="b"/>
            <a:pathLst>
              <a:path w="39370" h="29210">
                <a:moveTo>
                  <a:pt x="19733" y="13350"/>
                </a:moveTo>
                <a:lnTo>
                  <a:pt x="19411" y="13497"/>
                </a:lnTo>
                <a:lnTo>
                  <a:pt x="15598" y="16083"/>
                </a:lnTo>
                <a:lnTo>
                  <a:pt x="15529" y="16516"/>
                </a:lnTo>
                <a:lnTo>
                  <a:pt x="15427" y="17148"/>
                </a:lnTo>
                <a:lnTo>
                  <a:pt x="15012" y="18160"/>
                </a:lnTo>
                <a:lnTo>
                  <a:pt x="12136" y="22188"/>
                </a:lnTo>
                <a:lnTo>
                  <a:pt x="7847" y="22918"/>
                </a:lnTo>
                <a:lnTo>
                  <a:pt x="21151" y="26258"/>
                </a:lnTo>
                <a:lnTo>
                  <a:pt x="27108" y="27327"/>
                </a:lnTo>
                <a:lnTo>
                  <a:pt x="35833" y="28794"/>
                </a:lnTo>
                <a:lnTo>
                  <a:pt x="38461" y="26922"/>
                </a:lnTo>
                <a:lnTo>
                  <a:pt x="39135" y="22918"/>
                </a:lnTo>
                <a:lnTo>
                  <a:pt x="39258" y="22188"/>
                </a:lnTo>
                <a:lnTo>
                  <a:pt x="39360" y="21579"/>
                </a:lnTo>
                <a:lnTo>
                  <a:pt x="37785" y="19098"/>
                </a:lnTo>
                <a:lnTo>
                  <a:pt x="30154" y="16962"/>
                </a:lnTo>
                <a:lnTo>
                  <a:pt x="25028" y="15441"/>
                </a:lnTo>
                <a:lnTo>
                  <a:pt x="19733" y="13350"/>
                </a:lnTo>
                <a:close/>
              </a:path>
              <a:path w="39370" h="29210">
                <a:moveTo>
                  <a:pt x="7712" y="7158"/>
                </a:moveTo>
                <a:lnTo>
                  <a:pt x="7145" y="7158"/>
                </a:lnTo>
                <a:lnTo>
                  <a:pt x="1242" y="12038"/>
                </a:lnTo>
                <a:lnTo>
                  <a:pt x="919" y="15441"/>
                </a:lnTo>
                <a:lnTo>
                  <a:pt x="841" y="16516"/>
                </a:lnTo>
                <a:lnTo>
                  <a:pt x="3009" y="19098"/>
                </a:lnTo>
                <a:lnTo>
                  <a:pt x="3624" y="19962"/>
                </a:lnTo>
                <a:lnTo>
                  <a:pt x="7764" y="22918"/>
                </a:lnTo>
                <a:lnTo>
                  <a:pt x="12136" y="22188"/>
                </a:lnTo>
                <a:lnTo>
                  <a:pt x="15012" y="18160"/>
                </a:lnTo>
                <a:lnTo>
                  <a:pt x="15427" y="17148"/>
                </a:lnTo>
                <a:lnTo>
                  <a:pt x="15529" y="16516"/>
                </a:lnTo>
                <a:lnTo>
                  <a:pt x="15598" y="16083"/>
                </a:lnTo>
                <a:lnTo>
                  <a:pt x="19411" y="13497"/>
                </a:lnTo>
                <a:lnTo>
                  <a:pt x="19733" y="13350"/>
                </a:lnTo>
                <a:lnTo>
                  <a:pt x="18072" y="12694"/>
                </a:lnTo>
                <a:lnTo>
                  <a:pt x="15782" y="11885"/>
                </a:lnTo>
                <a:lnTo>
                  <a:pt x="14081" y="10511"/>
                </a:lnTo>
                <a:lnTo>
                  <a:pt x="11618" y="7529"/>
                </a:lnTo>
                <a:lnTo>
                  <a:pt x="7712" y="7158"/>
                </a:lnTo>
                <a:close/>
              </a:path>
              <a:path w="39370" h="29210">
                <a:moveTo>
                  <a:pt x="841" y="16516"/>
                </a:moveTo>
                <a:lnTo>
                  <a:pt x="850" y="17148"/>
                </a:lnTo>
                <a:lnTo>
                  <a:pt x="1099" y="18160"/>
                </a:lnTo>
                <a:lnTo>
                  <a:pt x="3624" y="19962"/>
                </a:lnTo>
                <a:lnTo>
                  <a:pt x="3009" y="19098"/>
                </a:lnTo>
                <a:lnTo>
                  <a:pt x="841" y="16516"/>
                </a:lnTo>
                <a:close/>
              </a:path>
              <a:path w="39370" h="29210">
                <a:moveTo>
                  <a:pt x="27233" y="0"/>
                </a:moveTo>
                <a:lnTo>
                  <a:pt x="13668" y="2265"/>
                </a:lnTo>
                <a:lnTo>
                  <a:pt x="5973" y="5618"/>
                </a:lnTo>
                <a:lnTo>
                  <a:pt x="3593" y="7158"/>
                </a:lnTo>
                <a:lnTo>
                  <a:pt x="0" y="13350"/>
                </a:lnTo>
                <a:lnTo>
                  <a:pt x="611" y="16083"/>
                </a:lnTo>
                <a:lnTo>
                  <a:pt x="660" y="16301"/>
                </a:lnTo>
                <a:lnTo>
                  <a:pt x="841" y="16516"/>
                </a:lnTo>
                <a:lnTo>
                  <a:pt x="919" y="15441"/>
                </a:lnTo>
                <a:lnTo>
                  <a:pt x="1104" y="13497"/>
                </a:lnTo>
                <a:lnTo>
                  <a:pt x="1180" y="12694"/>
                </a:lnTo>
                <a:lnTo>
                  <a:pt x="1242" y="12038"/>
                </a:lnTo>
                <a:lnTo>
                  <a:pt x="7145" y="7158"/>
                </a:lnTo>
                <a:lnTo>
                  <a:pt x="30853" y="7158"/>
                </a:lnTo>
                <a:lnTo>
                  <a:pt x="31428" y="5618"/>
                </a:lnTo>
                <a:lnTo>
                  <a:pt x="29388" y="1146"/>
                </a:lnTo>
                <a:lnTo>
                  <a:pt x="27233" y="0"/>
                </a:lnTo>
                <a:close/>
              </a:path>
              <a:path w="39370" h="29210">
                <a:moveTo>
                  <a:pt x="30853" y="7158"/>
                </a:moveTo>
                <a:lnTo>
                  <a:pt x="7712" y="7158"/>
                </a:lnTo>
                <a:lnTo>
                  <a:pt x="11618" y="7529"/>
                </a:lnTo>
                <a:lnTo>
                  <a:pt x="14081" y="10511"/>
                </a:lnTo>
                <a:lnTo>
                  <a:pt x="15782" y="11885"/>
                </a:lnTo>
                <a:lnTo>
                  <a:pt x="18072" y="12694"/>
                </a:lnTo>
                <a:lnTo>
                  <a:pt x="19733" y="13350"/>
                </a:lnTo>
                <a:lnTo>
                  <a:pt x="30344" y="8520"/>
                </a:lnTo>
                <a:lnTo>
                  <a:pt x="30853" y="7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3436596" y="4212949"/>
            <a:ext cx="6009005" cy="325755"/>
            <a:chOff x="3436596" y="4212949"/>
            <a:chExt cx="6009005" cy="325755"/>
          </a:xfrm>
        </p:grpSpPr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596" y="4212949"/>
              <a:ext cx="416407" cy="26669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92158" y="4284834"/>
              <a:ext cx="431248" cy="23953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980719" y="4235813"/>
              <a:ext cx="464835" cy="302681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384489" y="4713861"/>
            <a:ext cx="2099824" cy="37244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856440" y="4708512"/>
            <a:ext cx="886896" cy="32297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346966" y="4739528"/>
            <a:ext cx="1967859" cy="60268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881758" y="4722090"/>
            <a:ext cx="681070" cy="32580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199" y="1255988"/>
            <a:ext cx="8913495" cy="427355"/>
            <a:chOff x="777199" y="1255988"/>
            <a:chExt cx="8913495" cy="427355"/>
          </a:xfrm>
        </p:grpSpPr>
        <p:sp>
          <p:nvSpPr>
            <p:cNvPr id="3" name="object 3"/>
            <p:cNvSpPr/>
            <p:nvPr/>
          </p:nvSpPr>
          <p:spPr>
            <a:xfrm>
              <a:off x="2932776" y="1294028"/>
              <a:ext cx="37465" cy="42545"/>
            </a:xfrm>
            <a:custGeom>
              <a:avLst/>
              <a:gdLst/>
              <a:ahLst/>
              <a:cxnLst/>
              <a:rect l="l" t="t" r="r" b="b"/>
              <a:pathLst>
                <a:path w="37464" h="42544">
                  <a:moveTo>
                    <a:pt x="297" y="7659"/>
                  </a:moveTo>
                  <a:lnTo>
                    <a:pt x="19" y="8161"/>
                  </a:lnTo>
                  <a:lnTo>
                    <a:pt x="0" y="8667"/>
                  </a:lnTo>
                  <a:lnTo>
                    <a:pt x="1043" y="11433"/>
                  </a:lnTo>
                  <a:lnTo>
                    <a:pt x="33765" y="42381"/>
                  </a:lnTo>
                  <a:lnTo>
                    <a:pt x="35530" y="42169"/>
                  </a:lnTo>
                  <a:lnTo>
                    <a:pt x="37402" y="39784"/>
                  </a:lnTo>
                  <a:lnTo>
                    <a:pt x="37257" y="38112"/>
                  </a:lnTo>
                  <a:lnTo>
                    <a:pt x="31061" y="32504"/>
                  </a:lnTo>
                  <a:lnTo>
                    <a:pt x="26023" y="27815"/>
                  </a:lnTo>
                  <a:lnTo>
                    <a:pt x="11295" y="12293"/>
                  </a:lnTo>
                  <a:lnTo>
                    <a:pt x="4940" y="12293"/>
                  </a:lnTo>
                  <a:lnTo>
                    <a:pt x="1012" y="10128"/>
                  </a:lnTo>
                  <a:lnTo>
                    <a:pt x="297" y="7659"/>
                  </a:lnTo>
                  <a:close/>
                </a:path>
                <a:path w="37464" h="42544">
                  <a:moveTo>
                    <a:pt x="4063" y="3308"/>
                  </a:moveTo>
                  <a:lnTo>
                    <a:pt x="2661" y="3933"/>
                  </a:lnTo>
                  <a:lnTo>
                    <a:pt x="2223" y="4164"/>
                  </a:lnTo>
                  <a:lnTo>
                    <a:pt x="297" y="7659"/>
                  </a:lnTo>
                  <a:lnTo>
                    <a:pt x="1012" y="10128"/>
                  </a:lnTo>
                  <a:lnTo>
                    <a:pt x="4940" y="12293"/>
                  </a:lnTo>
                  <a:lnTo>
                    <a:pt x="7410" y="11578"/>
                  </a:lnTo>
                  <a:lnTo>
                    <a:pt x="8481" y="9634"/>
                  </a:lnTo>
                  <a:lnTo>
                    <a:pt x="8958" y="8667"/>
                  </a:lnTo>
                  <a:lnTo>
                    <a:pt x="8976" y="8161"/>
                  </a:lnTo>
                  <a:lnTo>
                    <a:pt x="9381" y="6328"/>
                  </a:lnTo>
                  <a:lnTo>
                    <a:pt x="7992" y="4164"/>
                  </a:lnTo>
                  <a:lnTo>
                    <a:pt x="4063" y="3308"/>
                  </a:lnTo>
                  <a:close/>
                </a:path>
                <a:path w="37464" h="42544">
                  <a:moveTo>
                    <a:pt x="8958" y="8667"/>
                  </a:moveTo>
                  <a:lnTo>
                    <a:pt x="8672" y="9255"/>
                  </a:lnTo>
                  <a:lnTo>
                    <a:pt x="7490" y="11433"/>
                  </a:lnTo>
                  <a:lnTo>
                    <a:pt x="7410" y="11578"/>
                  </a:lnTo>
                  <a:lnTo>
                    <a:pt x="4940" y="12293"/>
                  </a:lnTo>
                  <a:lnTo>
                    <a:pt x="11295" y="12293"/>
                  </a:lnTo>
                  <a:lnTo>
                    <a:pt x="9348" y="9634"/>
                  </a:lnTo>
                  <a:lnTo>
                    <a:pt x="8958" y="8667"/>
                  </a:lnTo>
                  <a:close/>
                </a:path>
                <a:path w="37464" h="42544">
                  <a:moveTo>
                    <a:pt x="17574" y="7659"/>
                  </a:moveTo>
                  <a:lnTo>
                    <a:pt x="9530" y="7659"/>
                  </a:lnTo>
                  <a:lnTo>
                    <a:pt x="11614" y="8161"/>
                  </a:lnTo>
                  <a:lnTo>
                    <a:pt x="15262" y="9255"/>
                  </a:lnTo>
                  <a:lnTo>
                    <a:pt x="17297" y="8161"/>
                  </a:lnTo>
                  <a:lnTo>
                    <a:pt x="17574" y="7659"/>
                  </a:lnTo>
                  <a:close/>
                </a:path>
                <a:path w="37464" h="42544">
                  <a:moveTo>
                    <a:pt x="18356" y="3308"/>
                  </a:moveTo>
                  <a:lnTo>
                    <a:pt x="4063" y="3308"/>
                  </a:lnTo>
                  <a:lnTo>
                    <a:pt x="7992" y="4164"/>
                  </a:lnTo>
                  <a:lnTo>
                    <a:pt x="9381" y="6328"/>
                  </a:lnTo>
                  <a:lnTo>
                    <a:pt x="9087" y="7659"/>
                  </a:lnTo>
                  <a:lnTo>
                    <a:pt x="8976" y="8161"/>
                  </a:lnTo>
                  <a:lnTo>
                    <a:pt x="8958" y="8667"/>
                  </a:lnTo>
                  <a:lnTo>
                    <a:pt x="9447" y="7659"/>
                  </a:lnTo>
                  <a:lnTo>
                    <a:pt x="17574" y="7659"/>
                  </a:lnTo>
                  <a:lnTo>
                    <a:pt x="18623" y="4164"/>
                  </a:lnTo>
                  <a:lnTo>
                    <a:pt x="18693" y="3933"/>
                  </a:lnTo>
                  <a:lnTo>
                    <a:pt x="18356" y="3308"/>
                  </a:lnTo>
                  <a:close/>
                </a:path>
                <a:path w="37464" h="42544">
                  <a:moveTo>
                    <a:pt x="10087" y="0"/>
                  </a:moveTo>
                  <a:lnTo>
                    <a:pt x="4823" y="1474"/>
                  </a:lnTo>
                  <a:lnTo>
                    <a:pt x="2694" y="3308"/>
                  </a:lnTo>
                  <a:lnTo>
                    <a:pt x="2223" y="4164"/>
                  </a:lnTo>
                  <a:lnTo>
                    <a:pt x="2661" y="3933"/>
                  </a:lnTo>
                  <a:lnTo>
                    <a:pt x="4037" y="3308"/>
                  </a:lnTo>
                  <a:lnTo>
                    <a:pt x="18356" y="3308"/>
                  </a:lnTo>
                  <a:lnTo>
                    <a:pt x="17515" y="1747"/>
                  </a:lnTo>
                  <a:lnTo>
                    <a:pt x="12873" y="354"/>
                  </a:lnTo>
                  <a:lnTo>
                    <a:pt x="10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3517" y="1286233"/>
              <a:ext cx="990908" cy="3525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15785" y="1590613"/>
              <a:ext cx="24130" cy="26670"/>
            </a:xfrm>
            <a:custGeom>
              <a:avLst/>
              <a:gdLst/>
              <a:ahLst/>
              <a:cxnLst/>
              <a:rect l="l" t="t" r="r" b="b"/>
              <a:pathLst>
                <a:path w="24129" h="26669">
                  <a:moveTo>
                    <a:pt x="19808" y="0"/>
                  </a:moveTo>
                  <a:lnTo>
                    <a:pt x="17631" y="193"/>
                  </a:lnTo>
                  <a:lnTo>
                    <a:pt x="130" y="16616"/>
                  </a:lnTo>
                  <a:lnTo>
                    <a:pt x="0" y="20737"/>
                  </a:lnTo>
                  <a:lnTo>
                    <a:pt x="4922" y="25984"/>
                  </a:lnTo>
                  <a:lnTo>
                    <a:pt x="9044" y="26116"/>
                  </a:lnTo>
                  <a:lnTo>
                    <a:pt x="12048" y="23296"/>
                  </a:lnTo>
                  <a:lnTo>
                    <a:pt x="12385" y="22894"/>
                  </a:lnTo>
                  <a:lnTo>
                    <a:pt x="24009" y="5021"/>
                  </a:lnTo>
                  <a:lnTo>
                    <a:pt x="23446" y="2366"/>
                  </a:lnTo>
                  <a:lnTo>
                    <a:pt x="198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8858" y="1255988"/>
              <a:ext cx="2217794" cy="38669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Training</a:t>
            </a:r>
            <a:r>
              <a:rPr spc="100" dirty="0"/>
              <a:t> </a:t>
            </a:r>
            <a:r>
              <a:rPr spc="-10" dirty="0"/>
              <a:t>Curves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6457" y="1717266"/>
            <a:ext cx="8182609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3845" marR="5080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diagnose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optimization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problems,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it’s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useful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look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training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curves</a:t>
            </a:r>
            <a:r>
              <a:rPr sz="1900" dirty="0">
                <a:latin typeface="Calibri"/>
                <a:cs typeface="Calibri"/>
              </a:rPr>
              <a:t>: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plot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training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cost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iteration.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6457" y="5188938"/>
            <a:ext cx="8883650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3845" marR="5080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Warning: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general,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it’s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very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hard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tell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from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training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curves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whether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optimizer </a:t>
            </a:r>
            <a:r>
              <a:rPr sz="1900" dirty="0">
                <a:latin typeface="Calibri"/>
                <a:cs typeface="Calibri"/>
              </a:rPr>
              <a:t>has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converged.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reveal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major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problems,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but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can’t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guarantee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convergence.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70945" y="2430594"/>
            <a:ext cx="5746115" cy="2746375"/>
            <a:chOff x="3770945" y="2430594"/>
            <a:chExt cx="5746115" cy="274637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70945" y="2430594"/>
              <a:ext cx="3172335" cy="261311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9156" y="2527472"/>
              <a:ext cx="825240" cy="27255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39540" y="3141115"/>
              <a:ext cx="784610" cy="33396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844285" y="3366433"/>
              <a:ext cx="20955" cy="43815"/>
            </a:xfrm>
            <a:custGeom>
              <a:avLst/>
              <a:gdLst/>
              <a:ahLst/>
              <a:cxnLst/>
              <a:rect l="l" t="t" r="r" b="b"/>
              <a:pathLst>
                <a:path w="20954" h="43814">
                  <a:moveTo>
                    <a:pt x="14627" y="0"/>
                  </a:moveTo>
                  <a:lnTo>
                    <a:pt x="302" y="39632"/>
                  </a:lnTo>
                  <a:lnTo>
                    <a:pt x="0" y="41182"/>
                  </a:lnTo>
                  <a:lnTo>
                    <a:pt x="1010" y="42682"/>
                  </a:lnTo>
                  <a:lnTo>
                    <a:pt x="3840" y="43233"/>
                  </a:lnTo>
                  <a:lnTo>
                    <a:pt x="4930" y="42682"/>
                  </a:lnTo>
                  <a:lnTo>
                    <a:pt x="5079" y="42682"/>
                  </a:lnTo>
                  <a:lnTo>
                    <a:pt x="19620" y="6362"/>
                  </a:lnTo>
                  <a:lnTo>
                    <a:pt x="20405" y="4052"/>
                  </a:lnTo>
                  <a:lnTo>
                    <a:pt x="19169" y="1544"/>
                  </a:lnTo>
                  <a:lnTo>
                    <a:pt x="14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1866" y="4186133"/>
              <a:ext cx="774229" cy="3200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10785" y="4146126"/>
              <a:ext cx="2505711" cy="1030639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52436" y="1971510"/>
            <a:ext cx="2990094" cy="33183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23586" y="1977347"/>
            <a:ext cx="1304538" cy="31954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294839" y="1907445"/>
            <a:ext cx="499298" cy="35992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230157" y="2501384"/>
            <a:ext cx="1831560" cy="36100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983007" y="3190294"/>
            <a:ext cx="606660" cy="22039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603784" y="4566266"/>
            <a:ext cx="452377" cy="27213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Stochastic</a:t>
            </a:r>
            <a:r>
              <a:rPr spc="65" dirty="0"/>
              <a:t> </a:t>
            </a:r>
            <a:r>
              <a:rPr dirty="0"/>
              <a:t>Gradient</a:t>
            </a:r>
            <a:r>
              <a:rPr spc="70" dirty="0"/>
              <a:t> </a:t>
            </a:r>
            <a:r>
              <a:rPr spc="-10" dirty="0"/>
              <a:t>Descent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7" y="1718315"/>
            <a:ext cx="8164830" cy="62801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So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far,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cost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𝒥</a:t>
            </a:r>
            <a:r>
              <a:rPr sz="1900" spc="3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has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been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average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loss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training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examples:</a:t>
            </a:r>
            <a:endParaRPr sz="1900">
              <a:latin typeface="Calibri"/>
              <a:cs typeface="Calibri"/>
            </a:endParaRPr>
          </a:p>
          <a:p>
            <a:pPr marL="254000" algn="ctr">
              <a:lnSpc>
                <a:spcPct val="100000"/>
              </a:lnSpc>
              <a:spcBef>
                <a:spcPts val="330"/>
              </a:spcBef>
              <a:tabLst>
                <a:tab pos="1537970" algn="l"/>
              </a:tabLst>
            </a:pPr>
            <a:r>
              <a:rPr sz="1400" spc="-50" dirty="0">
                <a:latin typeface="Cambria Math"/>
                <a:cs typeface="Cambria Math"/>
              </a:rPr>
              <a:t>𝑁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-50" dirty="0">
                <a:latin typeface="Cambria Math"/>
                <a:cs typeface="Cambria Math"/>
              </a:rPr>
              <a:t>𝑁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06592" y="2475587"/>
            <a:ext cx="300990" cy="224154"/>
          </a:xfrm>
          <a:custGeom>
            <a:avLst/>
            <a:gdLst/>
            <a:ahLst/>
            <a:cxnLst/>
            <a:rect l="l" t="t" r="r" b="b"/>
            <a:pathLst>
              <a:path w="300989" h="224155">
                <a:moveTo>
                  <a:pt x="229408" y="0"/>
                </a:moveTo>
                <a:lnTo>
                  <a:pt x="226227" y="9083"/>
                </a:lnTo>
                <a:lnTo>
                  <a:pt x="239166" y="14704"/>
                </a:lnTo>
                <a:lnTo>
                  <a:pt x="250293" y="22486"/>
                </a:lnTo>
                <a:lnTo>
                  <a:pt x="272885" y="58556"/>
                </a:lnTo>
                <a:lnTo>
                  <a:pt x="279448" y="91429"/>
                </a:lnTo>
                <a:lnTo>
                  <a:pt x="279483" y="91673"/>
                </a:lnTo>
                <a:lnTo>
                  <a:pt x="279479" y="130500"/>
                </a:lnTo>
                <a:lnTo>
                  <a:pt x="267053" y="178827"/>
                </a:lnTo>
                <a:lnTo>
                  <a:pt x="239317" y="209039"/>
                </a:lnTo>
                <a:lnTo>
                  <a:pt x="226581" y="214687"/>
                </a:lnTo>
                <a:lnTo>
                  <a:pt x="229408" y="223770"/>
                </a:lnTo>
                <a:lnTo>
                  <a:pt x="272112" y="198368"/>
                </a:lnTo>
                <a:lnTo>
                  <a:pt x="296096" y="151475"/>
                </a:lnTo>
                <a:lnTo>
                  <a:pt x="300691" y="111944"/>
                </a:lnTo>
                <a:lnTo>
                  <a:pt x="299552" y="91673"/>
                </a:lnTo>
                <a:lnTo>
                  <a:pt x="299539" y="91429"/>
                </a:lnTo>
                <a:lnTo>
                  <a:pt x="282252" y="39221"/>
                </a:lnTo>
                <a:lnTo>
                  <a:pt x="245613" y="5857"/>
                </a:lnTo>
                <a:lnTo>
                  <a:pt x="229408" y="0"/>
                </a:lnTo>
                <a:close/>
              </a:path>
              <a:path w="300989" h="224155">
                <a:moveTo>
                  <a:pt x="71282" y="0"/>
                </a:moveTo>
                <a:lnTo>
                  <a:pt x="28656" y="25468"/>
                </a:lnTo>
                <a:lnTo>
                  <a:pt x="4609" y="72471"/>
                </a:lnTo>
                <a:lnTo>
                  <a:pt x="66" y="110764"/>
                </a:lnTo>
                <a:lnTo>
                  <a:pt x="0" y="111944"/>
                </a:lnTo>
                <a:lnTo>
                  <a:pt x="1036" y="130500"/>
                </a:lnTo>
                <a:lnTo>
                  <a:pt x="1148" y="132502"/>
                </a:lnTo>
                <a:lnTo>
                  <a:pt x="18379" y="184666"/>
                </a:lnTo>
                <a:lnTo>
                  <a:pt x="55030" y="217920"/>
                </a:lnTo>
                <a:lnTo>
                  <a:pt x="71282" y="223770"/>
                </a:lnTo>
                <a:lnTo>
                  <a:pt x="74109" y="214687"/>
                </a:lnTo>
                <a:lnTo>
                  <a:pt x="61373" y="209039"/>
                </a:lnTo>
                <a:lnTo>
                  <a:pt x="50383" y="201180"/>
                </a:lnTo>
                <a:lnTo>
                  <a:pt x="27839" y="164532"/>
                </a:lnTo>
                <a:lnTo>
                  <a:pt x="20433" y="111944"/>
                </a:lnTo>
                <a:lnTo>
                  <a:pt x="20383" y="110764"/>
                </a:lnTo>
                <a:lnTo>
                  <a:pt x="27839" y="58556"/>
                </a:lnTo>
                <a:lnTo>
                  <a:pt x="50472" y="22486"/>
                </a:lnTo>
                <a:lnTo>
                  <a:pt x="74463" y="9083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36689" y="2579599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800" y="0"/>
                </a:moveTo>
                <a:lnTo>
                  <a:pt x="0" y="0"/>
                </a:lnTo>
                <a:lnTo>
                  <a:pt x="0" y="12714"/>
                </a:lnTo>
                <a:lnTo>
                  <a:pt x="177800" y="12714"/>
                </a:lnTo>
                <a:lnTo>
                  <a:pt x="177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4472" y="2434681"/>
            <a:ext cx="183248" cy="16488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232089" y="2579599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800" y="0"/>
                </a:moveTo>
                <a:lnTo>
                  <a:pt x="0" y="0"/>
                </a:lnTo>
                <a:lnTo>
                  <a:pt x="0" y="12714"/>
                </a:lnTo>
                <a:lnTo>
                  <a:pt x="177800" y="12714"/>
                </a:lnTo>
                <a:lnTo>
                  <a:pt x="177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29522" y="2564610"/>
            <a:ext cx="148653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6670" algn="l"/>
              </a:tabLst>
            </a:pPr>
            <a:r>
              <a:rPr sz="1900" spc="-50" dirty="0">
                <a:latin typeface="Cambria Math"/>
                <a:cs typeface="Cambria Math"/>
              </a:rPr>
              <a:t>𝑁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𝑁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3934" y="2774488"/>
            <a:ext cx="16084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6670" algn="l"/>
              </a:tabLst>
            </a:pPr>
            <a:r>
              <a:rPr sz="1400" spc="-25" dirty="0">
                <a:latin typeface="Cambria Math"/>
                <a:cs typeface="Cambria Math"/>
              </a:rPr>
              <a:t>𝑖=1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-25" dirty="0">
                <a:latin typeface="Cambria Math"/>
                <a:cs typeface="Cambria Math"/>
              </a:rPr>
              <a:t>𝑖=1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19792" y="2434681"/>
            <a:ext cx="772160" cy="299085"/>
            <a:chOff x="6219792" y="2434681"/>
            <a:chExt cx="772160" cy="299085"/>
          </a:xfrm>
        </p:grpSpPr>
        <p:sp>
          <p:nvSpPr>
            <p:cNvPr id="11" name="object 11"/>
            <p:cNvSpPr/>
            <p:nvPr/>
          </p:nvSpPr>
          <p:spPr>
            <a:xfrm>
              <a:off x="6219792" y="2441546"/>
              <a:ext cx="772160" cy="292100"/>
            </a:xfrm>
            <a:custGeom>
              <a:avLst/>
              <a:gdLst/>
              <a:ahLst/>
              <a:cxnLst/>
              <a:rect l="l" t="t" r="r" b="b"/>
              <a:pathLst>
                <a:path w="772159" h="292100">
                  <a:moveTo>
                    <a:pt x="694991" y="0"/>
                  </a:moveTo>
                  <a:lnTo>
                    <a:pt x="692045" y="9673"/>
                  </a:lnTo>
                  <a:lnTo>
                    <a:pt x="705437" y="16625"/>
                  </a:lnTo>
                  <a:lnTo>
                    <a:pt x="717098" y="26748"/>
                  </a:lnTo>
                  <a:lnTo>
                    <a:pt x="741645" y="75635"/>
                  </a:lnTo>
                  <a:lnTo>
                    <a:pt x="748979" y="120400"/>
                  </a:lnTo>
                  <a:lnTo>
                    <a:pt x="749896" y="146034"/>
                  </a:lnTo>
                  <a:lnTo>
                    <a:pt x="748979" y="171613"/>
                  </a:lnTo>
                  <a:lnTo>
                    <a:pt x="741645" y="216291"/>
                  </a:lnTo>
                  <a:lnTo>
                    <a:pt x="727028" y="251826"/>
                  </a:lnTo>
                  <a:lnTo>
                    <a:pt x="692045" y="282162"/>
                  </a:lnTo>
                  <a:lnTo>
                    <a:pt x="694991" y="291834"/>
                  </a:lnTo>
                  <a:lnTo>
                    <a:pt x="740655" y="260007"/>
                  </a:lnTo>
                  <a:lnTo>
                    <a:pt x="760375" y="220542"/>
                  </a:lnTo>
                  <a:lnTo>
                    <a:pt x="770332" y="172650"/>
                  </a:lnTo>
                  <a:lnTo>
                    <a:pt x="771571" y="146034"/>
                  </a:lnTo>
                  <a:lnTo>
                    <a:pt x="770388" y="120400"/>
                  </a:lnTo>
                  <a:lnTo>
                    <a:pt x="760375" y="71292"/>
                  </a:lnTo>
                  <a:lnTo>
                    <a:pt x="740655" y="31827"/>
                  </a:lnTo>
                  <a:lnTo>
                    <a:pt x="712319" y="6760"/>
                  </a:lnTo>
                  <a:lnTo>
                    <a:pt x="694991" y="0"/>
                  </a:lnTo>
                  <a:close/>
                </a:path>
                <a:path w="772159" h="292100">
                  <a:moveTo>
                    <a:pt x="76579" y="0"/>
                  </a:moveTo>
                  <a:lnTo>
                    <a:pt x="30915" y="31827"/>
                  </a:lnTo>
                  <a:lnTo>
                    <a:pt x="11195" y="71292"/>
                  </a:lnTo>
                  <a:lnTo>
                    <a:pt x="1238" y="119184"/>
                  </a:lnTo>
                  <a:lnTo>
                    <a:pt x="0" y="146034"/>
                  </a:lnTo>
                  <a:lnTo>
                    <a:pt x="1190" y="171613"/>
                  </a:lnTo>
                  <a:lnTo>
                    <a:pt x="11195" y="220542"/>
                  </a:lnTo>
                  <a:lnTo>
                    <a:pt x="30915" y="260007"/>
                  </a:lnTo>
                  <a:lnTo>
                    <a:pt x="76579" y="291834"/>
                  </a:lnTo>
                  <a:lnTo>
                    <a:pt x="79524" y="282162"/>
                  </a:lnTo>
                  <a:lnTo>
                    <a:pt x="66132" y="275212"/>
                  </a:lnTo>
                  <a:lnTo>
                    <a:pt x="54472" y="265100"/>
                  </a:lnTo>
                  <a:lnTo>
                    <a:pt x="29924" y="216291"/>
                  </a:lnTo>
                  <a:lnTo>
                    <a:pt x="22711" y="172650"/>
                  </a:lnTo>
                  <a:lnTo>
                    <a:pt x="22590" y="171613"/>
                  </a:lnTo>
                  <a:lnTo>
                    <a:pt x="21673" y="146034"/>
                  </a:lnTo>
                  <a:lnTo>
                    <a:pt x="22590" y="120400"/>
                  </a:lnTo>
                  <a:lnTo>
                    <a:pt x="25340" y="96934"/>
                  </a:lnTo>
                  <a:lnTo>
                    <a:pt x="36341" y="56503"/>
                  </a:lnTo>
                  <a:lnTo>
                    <a:pt x="66132" y="16625"/>
                  </a:lnTo>
                  <a:lnTo>
                    <a:pt x="79524" y="9673"/>
                  </a:lnTo>
                  <a:lnTo>
                    <a:pt x="765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3950" y="2434681"/>
              <a:ext cx="183248" cy="16488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077386" y="2403066"/>
            <a:ext cx="45078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17855" algn="l"/>
                <a:tab pos="1901825" algn="l"/>
              </a:tabLst>
            </a:pPr>
            <a:r>
              <a:rPr sz="1900" dirty="0">
                <a:latin typeface="Cambria Math"/>
                <a:cs typeface="Cambria Math"/>
              </a:rPr>
              <a:t>𝒥</a:t>
            </a:r>
            <a:r>
              <a:rPr sz="1900" spc="409" dirty="0">
                <a:latin typeface="Cambria Math"/>
                <a:cs typeface="Cambria Math"/>
              </a:rPr>
              <a:t> </a:t>
            </a:r>
            <a:r>
              <a:rPr sz="1900" spc="45" dirty="0">
                <a:latin typeface="Cambria Math"/>
                <a:cs typeface="Cambria Math"/>
              </a:rPr>
              <a:t>v</a:t>
            </a:r>
            <a:r>
              <a:rPr sz="1900" dirty="0">
                <a:latin typeface="Cambria Math"/>
                <a:cs typeface="Cambria Math"/>
              </a:rPr>
              <a:t>	=</a:t>
            </a:r>
            <a:r>
              <a:rPr sz="1900" spc="275" dirty="0">
                <a:latin typeface="Cambria Math"/>
                <a:cs typeface="Cambria Math"/>
              </a:rPr>
              <a:t> </a:t>
            </a:r>
            <a:r>
              <a:rPr sz="2850" baseline="42397" dirty="0">
                <a:latin typeface="Cambria Math"/>
                <a:cs typeface="Cambria Math"/>
              </a:rPr>
              <a:t>1</a:t>
            </a:r>
            <a:r>
              <a:rPr sz="2850" spc="127" baseline="42397" dirty="0">
                <a:latin typeface="Cambria Math"/>
                <a:cs typeface="Cambria Math"/>
              </a:rPr>
              <a:t> </a:t>
            </a:r>
            <a:r>
              <a:rPr sz="1900" spc="1160" dirty="0">
                <a:latin typeface="Cambria Math"/>
                <a:cs typeface="Cambria Math"/>
              </a:rPr>
              <a:t>∑</a:t>
            </a:r>
            <a:r>
              <a:rPr sz="1900" spc="-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ℒ</a:t>
            </a:r>
            <a:r>
              <a:rPr sz="1900" spc="305" dirty="0">
                <a:latin typeface="Cambria Math"/>
                <a:cs typeface="Cambria Math"/>
              </a:rPr>
              <a:t> </a:t>
            </a:r>
            <a:r>
              <a:rPr sz="2100" baseline="27777" dirty="0">
                <a:latin typeface="Cambria Math"/>
                <a:cs typeface="Cambria Math"/>
              </a:rPr>
              <a:t>𝑖	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290" dirty="0">
                <a:latin typeface="Cambria Math"/>
                <a:cs typeface="Cambria Math"/>
              </a:rPr>
              <a:t> </a:t>
            </a:r>
            <a:r>
              <a:rPr sz="2850" baseline="42397" dirty="0">
                <a:latin typeface="Cambria Math"/>
                <a:cs typeface="Cambria Math"/>
              </a:rPr>
              <a:t>1</a:t>
            </a:r>
            <a:r>
              <a:rPr sz="2850" spc="142" baseline="42397" dirty="0">
                <a:latin typeface="Cambria Math"/>
                <a:cs typeface="Cambria Math"/>
              </a:rPr>
              <a:t> </a:t>
            </a:r>
            <a:r>
              <a:rPr sz="1900" spc="1160" dirty="0">
                <a:latin typeface="Cambria Math"/>
                <a:cs typeface="Cambria Math"/>
              </a:rPr>
              <a:t>∑</a:t>
            </a:r>
            <a:r>
              <a:rPr sz="1900" spc="-10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ℒ(𝑦</a:t>
            </a:r>
            <a:r>
              <a:rPr sz="1900" spc="45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𝑥</a:t>
            </a:r>
            <a:r>
              <a:rPr sz="1900" spc="250" dirty="0">
                <a:latin typeface="Cambria Math"/>
                <a:cs typeface="Cambria Math"/>
              </a:rPr>
              <a:t> </a:t>
            </a:r>
            <a:r>
              <a:rPr sz="2100" spc="75" baseline="27777" dirty="0">
                <a:latin typeface="Cambria Math"/>
                <a:cs typeface="Cambria Math"/>
              </a:rPr>
              <a:t>𝑖</a:t>
            </a:r>
            <a:r>
              <a:rPr sz="2100" spc="585" baseline="27777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spc="105" dirty="0">
                <a:latin typeface="Cambria Math"/>
                <a:cs typeface="Cambria Math"/>
              </a:rPr>
              <a:t>v</a:t>
            </a:r>
            <a:r>
              <a:rPr sz="1900" spc="48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spc="40" dirty="0">
                <a:latin typeface="Cambria Math"/>
                <a:cs typeface="Cambria Math"/>
              </a:rPr>
              <a:t>𝑡</a:t>
            </a:r>
            <a:r>
              <a:rPr sz="2100" spc="60" baseline="27777" dirty="0">
                <a:latin typeface="Cambria Math"/>
                <a:cs typeface="Cambria Math"/>
              </a:rPr>
              <a:t>(𝑖)</a:t>
            </a:r>
            <a:r>
              <a:rPr sz="1900" spc="40" dirty="0">
                <a:latin typeface="Cambria Math"/>
                <a:cs typeface="Cambria Math"/>
              </a:rPr>
              <a:t>)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6457" y="2942562"/>
            <a:ext cx="6698615" cy="598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>
              <a:lnSpc>
                <a:spcPts val="2255"/>
              </a:lnSpc>
              <a:spcBef>
                <a:spcPts val="100"/>
              </a:spcBef>
            </a:pPr>
            <a:r>
              <a:rPr sz="1900" spc="50" dirty="0">
                <a:latin typeface="Calibri"/>
                <a:cs typeface="Calibri"/>
              </a:rPr>
              <a:t>(</a:t>
            </a:r>
            <a:r>
              <a:rPr sz="1900" spc="50" dirty="0">
                <a:latin typeface="Cambria Math"/>
                <a:cs typeface="Cambria Math"/>
              </a:rPr>
              <a:t>v</a:t>
            </a:r>
            <a:r>
              <a:rPr sz="1900" spc="-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denotes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parameters;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e.g.,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regression,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95" dirty="0">
                <a:latin typeface="Cambria Math"/>
                <a:cs typeface="Cambria Math"/>
              </a:rPr>
              <a:t>w</a:t>
            </a:r>
            <a:r>
              <a:rPr sz="1900" spc="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6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(w,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𝑏)</a:t>
            </a:r>
            <a:r>
              <a:rPr sz="1900" spc="-25" dirty="0">
                <a:latin typeface="Calibri"/>
                <a:cs typeface="Calibri"/>
              </a:rPr>
              <a:t>)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ts val="2255"/>
              </a:lnSpc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By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linearity,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78235" y="3859976"/>
            <a:ext cx="292100" cy="13335"/>
          </a:xfrm>
          <a:custGeom>
            <a:avLst/>
            <a:gdLst/>
            <a:ahLst/>
            <a:cxnLst/>
            <a:rect l="l" t="t" r="r" b="b"/>
            <a:pathLst>
              <a:path w="292100" h="13335">
                <a:moveTo>
                  <a:pt x="292100" y="0"/>
                </a:moveTo>
                <a:lnTo>
                  <a:pt x="0" y="0"/>
                </a:lnTo>
                <a:lnTo>
                  <a:pt x="0" y="12714"/>
                </a:lnTo>
                <a:lnTo>
                  <a:pt x="292100" y="12714"/>
                </a:lnTo>
                <a:lnTo>
                  <a:pt x="292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87835" y="3859976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800" y="0"/>
                </a:moveTo>
                <a:lnTo>
                  <a:pt x="0" y="0"/>
                </a:lnTo>
                <a:lnTo>
                  <a:pt x="0" y="12714"/>
                </a:lnTo>
                <a:lnTo>
                  <a:pt x="177800" y="12714"/>
                </a:lnTo>
                <a:lnTo>
                  <a:pt x="177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169260" y="3500346"/>
            <a:ext cx="78994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2620" algn="l"/>
              </a:tabLst>
            </a:pPr>
            <a:r>
              <a:rPr sz="1900" spc="-25" dirty="0">
                <a:latin typeface="Cambria Math"/>
                <a:cs typeface="Cambria Math"/>
              </a:rPr>
              <a:t>𝜕𝒥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6457" y="3971414"/>
            <a:ext cx="8718550" cy="159131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11125" algn="ctr">
              <a:lnSpc>
                <a:spcPct val="100000"/>
              </a:lnSpc>
              <a:spcBef>
                <a:spcPts val="755"/>
              </a:spcBef>
            </a:pPr>
            <a:r>
              <a:rPr sz="1400" spc="-25" dirty="0">
                <a:latin typeface="Cambria Math"/>
                <a:cs typeface="Cambria Math"/>
              </a:rPr>
              <a:t>𝑖=1</a:t>
            </a:r>
            <a:endParaRPr sz="1400">
              <a:latin typeface="Cambria Math"/>
              <a:cs typeface="Cambria Math"/>
            </a:endParaRPr>
          </a:p>
          <a:p>
            <a:pPr marL="283845" marR="346075" indent="-271780">
              <a:lnSpc>
                <a:spcPct val="101099"/>
              </a:lnSpc>
              <a:spcBef>
                <a:spcPts val="86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Computing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requires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summing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all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training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examples.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is </a:t>
            </a:r>
            <a:r>
              <a:rPr sz="1900" dirty="0">
                <a:latin typeface="Calibri"/>
                <a:cs typeface="Calibri"/>
              </a:rPr>
              <a:t>known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batch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training</a:t>
            </a:r>
            <a:r>
              <a:rPr sz="1900" spc="-10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marL="283845" marR="5080" indent="-271780">
              <a:lnSpc>
                <a:spcPts val="2210"/>
              </a:lnSpc>
              <a:spcBef>
                <a:spcPts val="16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Batch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training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impractical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large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dataset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𝑁</a:t>
            </a:r>
            <a:r>
              <a:rPr sz="1900" spc="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≫</a:t>
            </a:r>
            <a:r>
              <a:rPr sz="1900" spc="7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1</a:t>
            </a:r>
            <a:r>
              <a:rPr sz="1900" spc="-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(e.g.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millions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training examples.)!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89216" y="3387136"/>
            <a:ext cx="1600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𝑁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372035" y="3859977"/>
            <a:ext cx="533400" cy="13335"/>
          </a:xfrm>
          <a:custGeom>
            <a:avLst/>
            <a:gdLst/>
            <a:ahLst/>
            <a:cxnLst/>
            <a:rect l="l" t="t" r="r" b="b"/>
            <a:pathLst>
              <a:path w="533400" h="13335">
                <a:moveTo>
                  <a:pt x="533400" y="0"/>
                </a:moveTo>
                <a:lnTo>
                  <a:pt x="0" y="0"/>
                </a:lnTo>
                <a:lnTo>
                  <a:pt x="0" y="12713"/>
                </a:lnTo>
                <a:lnTo>
                  <a:pt x="533400" y="12713"/>
                </a:lnTo>
                <a:lnTo>
                  <a:pt x="533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332665" y="3411954"/>
            <a:ext cx="59436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spc="67" baseline="-20467" dirty="0">
                <a:latin typeface="Cambria Math"/>
                <a:cs typeface="Cambria Math"/>
              </a:rPr>
              <a:t>𝜕ℒ</a:t>
            </a:r>
            <a:r>
              <a:rPr sz="1400" spc="45" dirty="0">
                <a:latin typeface="Cambria Math"/>
                <a:cs typeface="Cambria Math"/>
              </a:rPr>
              <a:t>(𝑖)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47027" y="3844770"/>
            <a:ext cx="16681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344295" algn="l"/>
              </a:tabLst>
            </a:pPr>
            <a:r>
              <a:rPr sz="1900" spc="-75" dirty="0">
                <a:latin typeface="Cambria Math"/>
                <a:cs typeface="Cambria Math"/>
              </a:rPr>
              <a:t>𝜕w</a:t>
            </a:r>
            <a:r>
              <a:rPr sz="1900" spc="65" dirty="0">
                <a:latin typeface="Cambria Math"/>
                <a:cs typeface="Cambria Math"/>
              </a:rPr>
              <a:t> </a:t>
            </a:r>
            <a:r>
              <a:rPr sz="2850" baseline="36549" dirty="0">
                <a:latin typeface="Cambria Math"/>
                <a:cs typeface="Cambria Math"/>
              </a:rPr>
              <a:t>=</a:t>
            </a:r>
            <a:r>
              <a:rPr sz="2850" spc="60" baseline="36549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𝑁</a:t>
            </a:r>
            <a:r>
              <a:rPr sz="1900" spc="-95" dirty="0">
                <a:latin typeface="Cambria Math"/>
                <a:cs typeface="Cambria Math"/>
              </a:rPr>
              <a:t> </a:t>
            </a:r>
            <a:r>
              <a:rPr sz="2850" spc="1664" baseline="36549" dirty="0">
                <a:latin typeface="Cambria Math"/>
                <a:cs typeface="Cambria Math"/>
              </a:rPr>
              <a:t>∑</a:t>
            </a:r>
            <a:r>
              <a:rPr sz="2850" baseline="36549" dirty="0">
                <a:latin typeface="Cambria Math"/>
                <a:cs typeface="Cambria Math"/>
              </a:rPr>
              <a:t>	</a:t>
            </a:r>
            <a:r>
              <a:rPr sz="1900" spc="-25" dirty="0">
                <a:latin typeface="Cambria Math"/>
                <a:cs typeface="Cambria Math"/>
              </a:rPr>
              <a:t>𝜕w</a:t>
            </a:r>
            <a:endParaRPr sz="1900">
              <a:latin typeface="Cambria Math"/>
              <a:cs typeface="Cambria Math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9754" y="856763"/>
            <a:ext cx="1614382" cy="43055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56147" y="873841"/>
            <a:ext cx="1227638" cy="341786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5092233" y="1327132"/>
            <a:ext cx="4224020" cy="429259"/>
            <a:chOff x="5092233" y="1327132"/>
            <a:chExt cx="4224020" cy="429259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92233" y="1327132"/>
              <a:ext cx="1364184" cy="42186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87910" y="1395344"/>
              <a:ext cx="576785" cy="24871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68906" y="1419005"/>
              <a:ext cx="828878" cy="33735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25989" y="1380467"/>
              <a:ext cx="842831" cy="28235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291375" y="1621980"/>
              <a:ext cx="24765" cy="33655"/>
            </a:xfrm>
            <a:custGeom>
              <a:avLst/>
              <a:gdLst/>
              <a:ahLst/>
              <a:cxnLst/>
              <a:rect l="l" t="t" r="r" b="b"/>
              <a:pathLst>
                <a:path w="24765" h="33655">
                  <a:moveTo>
                    <a:pt x="20617" y="0"/>
                  </a:moveTo>
                  <a:lnTo>
                    <a:pt x="18188" y="513"/>
                  </a:lnTo>
                  <a:lnTo>
                    <a:pt x="0" y="28423"/>
                  </a:lnTo>
                  <a:lnTo>
                    <a:pt x="569" y="30890"/>
                  </a:lnTo>
                  <a:lnTo>
                    <a:pt x="4140" y="33216"/>
                  </a:lnTo>
                  <a:lnTo>
                    <a:pt x="6568" y="32703"/>
                  </a:lnTo>
                  <a:lnTo>
                    <a:pt x="24757" y="4792"/>
                  </a:lnTo>
                  <a:lnTo>
                    <a:pt x="24244" y="2364"/>
                  </a:lnTo>
                  <a:lnTo>
                    <a:pt x="206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13354" y="2173116"/>
            <a:ext cx="2310621" cy="702976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7756166" y="3016613"/>
            <a:ext cx="2365375" cy="1108710"/>
            <a:chOff x="7756166" y="3016613"/>
            <a:chExt cx="2365375" cy="1108710"/>
          </a:xfrm>
        </p:grpSpPr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56166" y="3081889"/>
              <a:ext cx="419945" cy="59091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59720" y="3016613"/>
              <a:ext cx="1961470" cy="110840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50312" y="3874207"/>
              <a:ext cx="209135" cy="233679"/>
            </a:xfrm>
            <a:prstGeom prst="rect">
              <a:avLst/>
            </a:prstGeom>
          </p:spPr>
        </p:pic>
      </p:grpSp>
      <p:pic>
        <p:nvPicPr>
          <p:cNvPr id="36" name="object 3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84434" y="3447245"/>
            <a:ext cx="2975523" cy="876602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282634" y="5288050"/>
            <a:ext cx="2043123" cy="402145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93168" y="5299773"/>
            <a:ext cx="1080162" cy="347663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5556942" y="5412614"/>
            <a:ext cx="54610" cy="208279"/>
          </a:xfrm>
          <a:custGeom>
            <a:avLst/>
            <a:gdLst/>
            <a:ahLst/>
            <a:cxnLst/>
            <a:rect l="l" t="t" r="r" b="b"/>
            <a:pathLst>
              <a:path w="54610" h="208279">
                <a:moveTo>
                  <a:pt x="28712" y="152528"/>
                </a:moveTo>
                <a:lnTo>
                  <a:pt x="7187" y="189581"/>
                </a:lnTo>
                <a:lnTo>
                  <a:pt x="0" y="199649"/>
                </a:lnTo>
                <a:lnTo>
                  <a:pt x="678" y="203868"/>
                </a:lnTo>
                <a:lnTo>
                  <a:pt x="6347" y="207967"/>
                </a:lnTo>
                <a:lnTo>
                  <a:pt x="9989" y="207708"/>
                </a:lnTo>
                <a:lnTo>
                  <a:pt x="12341" y="205436"/>
                </a:lnTo>
                <a:lnTo>
                  <a:pt x="41025" y="171944"/>
                </a:lnTo>
                <a:lnTo>
                  <a:pt x="46864" y="161254"/>
                </a:lnTo>
                <a:lnTo>
                  <a:pt x="42900" y="161254"/>
                </a:lnTo>
                <a:lnTo>
                  <a:pt x="31875" y="158159"/>
                </a:lnTo>
                <a:lnTo>
                  <a:pt x="28712" y="152528"/>
                </a:lnTo>
                <a:close/>
              </a:path>
              <a:path w="54610" h="208279">
                <a:moveTo>
                  <a:pt x="37464" y="138203"/>
                </a:moveTo>
                <a:lnTo>
                  <a:pt x="31752" y="141419"/>
                </a:lnTo>
                <a:lnTo>
                  <a:pt x="30257" y="146724"/>
                </a:lnTo>
                <a:lnTo>
                  <a:pt x="28712" y="152528"/>
                </a:lnTo>
                <a:lnTo>
                  <a:pt x="31875" y="158159"/>
                </a:lnTo>
                <a:lnTo>
                  <a:pt x="42900" y="161254"/>
                </a:lnTo>
                <a:lnTo>
                  <a:pt x="48154" y="158303"/>
                </a:lnTo>
                <a:lnTo>
                  <a:pt x="50170" y="152528"/>
                </a:lnTo>
                <a:lnTo>
                  <a:pt x="51495" y="146996"/>
                </a:lnTo>
                <a:lnTo>
                  <a:pt x="51560" y="146724"/>
                </a:lnTo>
                <a:lnTo>
                  <a:pt x="48569" y="141419"/>
                </a:lnTo>
                <a:lnTo>
                  <a:pt x="48489" y="141278"/>
                </a:lnTo>
                <a:lnTo>
                  <a:pt x="37464" y="138203"/>
                </a:lnTo>
                <a:close/>
              </a:path>
              <a:path w="54610" h="208279">
                <a:moveTo>
                  <a:pt x="48154" y="158303"/>
                </a:moveTo>
                <a:lnTo>
                  <a:pt x="42900" y="161254"/>
                </a:lnTo>
                <a:lnTo>
                  <a:pt x="46864" y="161254"/>
                </a:lnTo>
                <a:lnTo>
                  <a:pt x="47813" y="159280"/>
                </a:lnTo>
                <a:lnTo>
                  <a:pt x="48154" y="158303"/>
                </a:lnTo>
                <a:close/>
              </a:path>
              <a:path w="54610" h="208279">
                <a:moveTo>
                  <a:pt x="49699" y="154207"/>
                </a:moveTo>
                <a:lnTo>
                  <a:pt x="48204" y="158159"/>
                </a:lnTo>
                <a:lnTo>
                  <a:pt x="48154" y="158303"/>
                </a:lnTo>
                <a:lnTo>
                  <a:pt x="48410" y="158159"/>
                </a:lnTo>
                <a:lnTo>
                  <a:pt x="48589" y="158159"/>
                </a:lnTo>
                <a:lnTo>
                  <a:pt x="49699" y="154207"/>
                </a:lnTo>
                <a:close/>
              </a:path>
              <a:path w="54610" h="208279">
                <a:moveTo>
                  <a:pt x="51560" y="146724"/>
                </a:moveTo>
                <a:lnTo>
                  <a:pt x="50171" y="152528"/>
                </a:lnTo>
                <a:lnTo>
                  <a:pt x="51713" y="146996"/>
                </a:lnTo>
                <a:lnTo>
                  <a:pt x="51560" y="146724"/>
                </a:lnTo>
                <a:close/>
              </a:path>
              <a:path w="54610" h="208279">
                <a:moveTo>
                  <a:pt x="53122" y="138203"/>
                </a:moveTo>
                <a:lnTo>
                  <a:pt x="37464" y="138203"/>
                </a:lnTo>
                <a:lnTo>
                  <a:pt x="48489" y="141278"/>
                </a:lnTo>
                <a:lnTo>
                  <a:pt x="51560" y="146724"/>
                </a:lnTo>
                <a:lnTo>
                  <a:pt x="52044" y="144701"/>
                </a:lnTo>
                <a:lnTo>
                  <a:pt x="53122" y="138203"/>
                </a:lnTo>
                <a:close/>
              </a:path>
              <a:path w="54610" h="208279">
                <a:moveTo>
                  <a:pt x="33812" y="122444"/>
                </a:moveTo>
                <a:lnTo>
                  <a:pt x="33585" y="126253"/>
                </a:lnTo>
                <a:lnTo>
                  <a:pt x="33557" y="127227"/>
                </a:lnTo>
                <a:lnTo>
                  <a:pt x="32879" y="133863"/>
                </a:lnTo>
                <a:lnTo>
                  <a:pt x="31774" y="140439"/>
                </a:lnTo>
                <a:lnTo>
                  <a:pt x="30745" y="144701"/>
                </a:lnTo>
                <a:lnTo>
                  <a:pt x="31752" y="141419"/>
                </a:lnTo>
                <a:lnTo>
                  <a:pt x="37464" y="138203"/>
                </a:lnTo>
                <a:lnTo>
                  <a:pt x="53122" y="138203"/>
                </a:lnTo>
                <a:lnTo>
                  <a:pt x="53358" y="136787"/>
                </a:lnTo>
                <a:lnTo>
                  <a:pt x="53922" y="131085"/>
                </a:lnTo>
                <a:lnTo>
                  <a:pt x="38461" y="131085"/>
                </a:lnTo>
                <a:lnTo>
                  <a:pt x="33760" y="126253"/>
                </a:lnTo>
                <a:lnTo>
                  <a:pt x="33812" y="122444"/>
                </a:lnTo>
                <a:close/>
              </a:path>
              <a:path w="54610" h="208279">
                <a:moveTo>
                  <a:pt x="54415" y="115091"/>
                </a:moveTo>
                <a:lnTo>
                  <a:pt x="33912" y="115091"/>
                </a:lnTo>
                <a:lnTo>
                  <a:pt x="33837" y="120562"/>
                </a:lnTo>
                <a:lnTo>
                  <a:pt x="33760" y="126253"/>
                </a:lnTo>
                <a:lnTo>
                  <a:pt x="38461" y="131085"/>
                </a:lnTo>
                <a:lnTo>
                  <a:pt x="49691" y="131085"/>
                </a:lnTo>
                <a:lnTo>
                  <a:pt x="54227" y="126671"/>
                </a:lnTo>
                <a:lnTo>
                  <a:pt x="54384" y="122444"/>
                </a:lnTo>
                <a:lnTo>
                  <a:pt x="54415" y="115091"/>
                </a:lnTo>
                <a:close/>
              </a:path>
              <a:path w="54610" h="208279">
                <a:moveTo>
                  <a:pt x="54227" y="126671"/>
                </a:moveTo>
                <a:lnTo>
                  <a:pt x="49691" y="131085"/>
                </a:lnTo>
                <a:lnTo>
                  <a:pt x="53922" y="131085"/>
                </a:lnTo>
                <a:lnTo>
                  <a:pt x="54148" y="128801"/>
                </a:lnTo>
                <a:lnTo>
                  <a:pt x="54227" y="126671"/>
                </a:lnTo>
                <a:close/>
              </a:path>
              <a:path w="54610" h="208279">
                <a:moveTo>
                  <a:pt x="54368" y="126253"/>
                </a:moveTo>
                <a:lnTo>
                  <a:pt x="54232" y="126535"/>
                </a:lnTo>
                <a:lnTo>
                  <a:pt x="54227" y="126671"/>
                </a:lnTo>
                <a:lnTo>
                  <a:pt x="54367" y="126535"/>
                </a:lnTo>
                <a:lnTo>
                  <a:pt x="54368" y="126253"/>
                </a:lnTo>
                <a:close/>
              </a:path>
              <a:path w="54610" h="208279">
                <a:moveTo>
                  <a:pt x="49912" y="110441"/>
                </a:moveTo>
                <a:lnTo>
                  <a:pt x="38465" y="110441"/>
                </a:lnTo>
                <a:lnTo>
                  <a:pt x="33741" y="115091"/>
                </a:lnTo>
                <a:lnTo>
                  <a:pt x="33750" y="120562"/>
                </a:lnTo>
                <a:lnTo>
                  <a:pt x="33912" y="115091"/>
                </a:lnTo>
                <a:lnTo>
                  <a:pt x="54490" y="115091"/>
                </a:lnTo>
                <a:lnTo>
                  <a:pt x="49912" y="110441"/>
                </a:lnTo>
                <a:close/>
              </a:path>
              <a:path w="54610" h="208279">
                <a:moveTo>
                  <a:pt x="33676" y="95098"/>
                </a:moveTo>
                <a:lnTo>
                  <a:pt x="33741" y="115091"/>
                </a:lnTo>
                <a:lnTo>
                  <a:pt x="38465" y="110441"/>
                </a:lnTo>
                <a:lnTo>
                  <a:pt x="54373" y="110441"/>
                </a:lnTo>
                <a:lnTo>
                  <a:pt x="54240" y="104642"/>
                </a:lnTo>
                <a:lnTo>
                  <a:pt x="54017" y="99401"/>
                </a:lnTo>
                <a:lnTo>
                  <a:pt x="38301" y="99401"/>
                </a:lnTo>
                <a:lnTo>
                  <a:pt x="33676" y="95098"/>
                </a:lnTo>
                <a:close/>
              </a:path>
              <a:path w="54610" h="208279">
                <a:moveTo>
                  <a:pt x="54373" y="110441"/>
                </a:moveTo>
                <a:lnTo>
                  <a:pt x="49912" y="110441"/>
                </a:lnTo>
                <a:lnTo>
                  <a:pt x="54490" y="115091"/>
                </a:lnTo>
                <a:lnTo>
                  <a:pt x="54373" y="110441"/>
                </a:lnTo>
                <a:close/>
              </a:path>
              <a:path w="54610" h="208279">
                <a:moveTo>
                  <a:pt x="48232" y="78889"/>
                </a:moveTo>
                <a:lnTo>
                  <a:pt x="37377" y="79664"/>
                </a:lnTo>
                <a:lnTo>
                  <a:pt x="34359" y="83026"/>
                </a:lnTo>
                <a:lnTo>
                  <a:pt x="33287" y="84305"/>
                </a:lnTo>
                <a:lnTo>
                  <a:pt x="33650" y="94380"/>
                </a:lnTo>
                <a:lnTo>
                  <a:pt x="33676" y="95098"/>
                </a:lnTo>
                <a:lnTo>
                  <a:pt x="38301" y="99401"/>
                </a:lnTo>
                <a:lnTo>
                  <a:pt x="49314" y="99004"/>
                </a:lnTo>
                <a:lnTo>
                  <a:pt x="53615" y="94380"/>
                </a:lnTo>
                <a:lnTo>
                  <a:pt x="52393" y="82495"/>
                </a:lnTo>
                <a:lnTo>
                  <a:pt x="48232" y="78889"/>
                </a:lnTo>
                <a:close/>
              </a:path>
              <a:path w="54610" h="208279">
                <a:moveTo>
                  <a:pt x="53464" y="89593"/>
                </a:moveTo>
                <a:lnTo>
                  <a:pt x="53615" y="94380"/>
                </a:lnTo>
                <a:lnTo>
                  <a:pt x="49314" y="99004"/>
                </a:lnTo>
                <a:lnTo>
                  <a:pt x="38301" y="99401"/>
                </a:lnTo>
                <a:lnTo>
                  <a:pt x="54017" y="99401"/>
                </a:lnTo>
                <a:lnTo>
                  <a:pt x="53897" y="96578"/>
                </a:lnTo>
                <a:lnTo>
                  <a:pt x="53464" y="89593"/>
                </a:lnTo>
                <a:close/>
              </a:path>
              <a:path w="54610" h="208279">
                <a:moveTo>
                  <a:pt x="31396" y="66480"/>
                </a:moveTo>
                <a:lnTo>
                  <a:pt x="31640" y="68005"/>
                </a:lnTo>
                <a:lnTo>
                  <a:pt x="31695" y="68354"/>
                </a:lnTo>
                <a:lnTo>
                  <a:pt x="32533" y="75411"/>
                </a:lnTo>
                <a:lnTo>
                  <a:pt x="33118" y="82495"/>
                </a:lnTo>
                <a:lnTo>
                  <a:pt x="33210" y="84305"/>
                </a:lnTo>
                <a:lnTo>
                  <a:pt x="37377" y="79664"/>
                </a:lnTo>
                <a:lnTo>
                  <a:pt x="48232" y="78889"/>
                </a:lnTo>
                <a:lnTo>
                  <a:pt x="52503" y="78889"/>
                </a:lnTo>
                <a:lnTo>
                  <a:pt x="51798" y="72992"/>
                </a:lnTo>
                <a:lnTo>
                  <a:pt x="51308" y="69865"/>
                </a:lnTo>
                <a:lnTo>
                  <a:pt x="36417" y="69865"/>
                </a:lnTo>
                <a:lnTo>
                  <a:pt x="31396" y="66480"/>
                </a:lnTo>
                <a:close/>
              </a:path>
              <a:path w="54610" h="208279">
                <a:moveTo>
                  <a:pt x="52503" y="78889"/>
                </a:moveTo>
                <a:lnTo>
                  <a:pt x="48232" y="78889"/>
                </a:lnTo>
                <a:lnTo>
                  <a:pt x="53005" y="83026"/>
                </a:lnTo>
                <a:lnTo>
                  <a:pt x="52874" y="82495"/>
                </a:lnTo>
                <a:lnTo>
                  <a:pt x="52725" y="80745"/>
                </a:lnTo>
                <a:lnTo>
                  <a:pt x="52596" y="79664"/>
                </a:lnTo>
                <a:lnTo>
                  <a:pt x="52503" y="78889"/>
                </a:lnTo>
                <a:close/>
              </a:path>
              <a:path w="54610" h="208279">
                <a:moveTo>
                  <a:pt x="43089" y="49427"/>
                </a:moveTo>
                <a:lnTo>
                  <a:pt x="42421" y="49427"/>
                </a:lnTo>
                <a:lnTo>
                  <a:pt x="32875" y="51530"/>
                </a:lnTo>
                <a:lnTo>
                  <a:pt x="29672" y="56344"/>
                </a:lnTo>
                <a:lnTo>
                  <a:pt x="30576" y="61335"/>
                </a:lnTo>
                <a:lnTo>
                  <a:pt x="31396" y="66480"/>
                </a:lnTo>
                <a:lnTo>
                  <a:pt x="36417" y="69865"/>
                </a:lnTo>
                <a:lnTo>
                  <a:pt x="46671" y="68005"/>
                </a:lnTo>
                <a:lnTo>
                  <a:pt x="50073" y="63096"/>
                </a:lnTo>
                <a:lnTo>
                  <a:pt x="49142" y="57969"/>
                </a:lnTo>
                <a:lnTo>
                  <a:pt x="48792" y="56344"/>
                </a:lnTo>
                <a:lnTo>
                  <a:pt x="48129" y="53912"/>
                </a:lnTo>
                <a:lnTo>
                  <a:pt x="47780" y="52533"/>
                </a:lnTo>
                <a:lnTo>
                  <a:pt x="47746" y="52402"/>
                </a:lnTo>
                <a:lnTo>
                  <a:pt x="43089" y="49427"/>
                </a:lnTo>
                <a:close/>
              </a:path>
              <a:path w="54610" h="208279">
                <a:moveTo>
                  <a:pt x="50158" y="63096"/>
                </a:moveTo>
                <a:lnTo>
                  <a:pt x="48560" y="65279"/>
                </a:lnTo>
                <a:lnTo>
                  <a:pt x="46671" y="68005"/>
                </a:lnTo>
                <a:lnTo>
                  <a:pt x="36417" y="69865"/>
                </a:lnTo>
                <a:lnTo>
                  <a:pt x="51308" y="69865"/>
                </a:lnTo>
                <a:lnTo>
                  <a:pt x="50590" y="65279"/>
                </a:lnTo>
                <a:lnTo>
                  <a:pt x="50158" y="63096"/>
                </a:lnTo>
                <a:close/>
              </a:path>
              <a:path w="54610" h="208279">
                <a:moveTo>
                  <a:pt x="40266" y="30398"/>
                </a:moveTo>
                <a:lnTo>
                  <a:pt x="39382" y="32226"/>
                </a:lnTo>
                <a:lnTo>
                  <a:pt x="37891" y="35562"/>
                </a:lnTo>
                <a:lnTo>
                  <a:pt x="28828" y="39025"/>
                </a:lnTo>
                <a:lnTo>
                  <a:pt x="24505" y="39025"/>
                </a:lnTo>
                <a:lnTo>
                  <a:pt x="26974" y="46585"/>
                </a:lnTo>
                <a:lnTo>
                  <a:pt x="28985" y="53912"/>
                </a:lnTo>
                <a:lnTo>
                  <a:pt x="29805" y="57736"/>
                </a:lnTo>
                <a:lnTo>
                  <a:pt x="29672" y="56344"/>
                </a:lnTo>
                <a:lnTo>
                  <a:pt x="32875" y="51530"/>
                </a:lnTo>
                <a:lnTo>
                  <a:pt x="42421" y="49427"/>
                </a:lnTo>
                <a:lnTo>
                  <a:pt x="46992" y="49427"/>
                </a:lnTo>
                <a:lnTo>
                  <a:pt x="44445" y="41360"/>
                </a:lnTo>
                <a:lnTo>
                  <a:pt x="43705" y="39357"/>
                </a:lnTo>
                <a:lnTo>
                  <a:pt x="43583" y="39025"/>
                </a:lnTo>
                <a:lnTo>
                  <a:pt x="28828" y="39025"/>
                </a:lnTo>
                <a:lnTo>
                  <a:pt x="23752" y="36756"/>
                </a:lnTo>
                <a:lnTo>
                  <a:pt x="42745" y="36756"/>
                </a:lnTo>
                <a:lnTo>
                  <a:pt x="41515" y="33421"/>
                </a:lnTo>
                <a:lnTo>
                  <a:pt x="40266" y="30398"/>
                </a:lnTo>
                <a:close/>
              </a:path>
              <a:path w="54610" h="208279">
                <a:moveTo>
                  <a:pt x="47746" y="52402"/>
                </a:moveTo>
                <a:lnTo>
                  <a:pt x="48129" y="53912"/>
                </a:lnTo>
                <a:lnTo>
                  <a:pt x="47952" y="52533"/>
                </a:lnTo>
                <a:lnTo>
                  <a:pt x="47746" y="52402"/>
                </a:lnTo>
                <a:close/>
              </a:path>
              <a:path w="54610" h="208279">
                <a:moveTo>
                  <a:pt x="46992" y="49427"/>
                </a:moveTo>
                <a:lnTo>
                  <a:pt x="43089" y="49427"/>
                </a:lnTo>
                <a:lnTo>
                  <a:pt x="47746" y="52402"/>
                </a:lnTo>
                <a:lnTo>
                  <a:pt x="46992" y="49427"/>
                </a:lnTo>
                <a:close/>
              </a:path>
              <a:path w="54610" h="208279">
                <a:moveTo>
                  <a:pt x="31193" y="19104"/>
                </a:moveTo>
                <a:lnTo>
                  <a:pt x="22423" y="22894"/>
                </a:lnTo>
                <a:lnTo>
                  <a:pt x="20346" y="27829"/>
                </a:lnTo>
                <a:lnTo>
                  <a:pt x="20854" y="29009"/>
                </a:lnTo>
                <a:lnTo>
                  <a:pt x="23752" y="36756"/>
                </a:lnTo>
                <a:lnTo>
                  <a:pt x="28828" y="39025"/>
                </a:lnTo>
                <a:lnTo>
                  <a:pt x="37891" y="35562"/>
                </a:lnTo>
                <a:lnTo>
                  <a:pt x="40198" y="30398"/>
                </a:lnTo>
                <a:lnTo>
                  <a:pt x="38428" y="25954"/>
                </a:lnTo>
                <a:lnTo>
                  <a:pt x="36087" y="21154"/>
                </a:lnTo>
                <a:lnTo>
                  <a:pt x="36020" y="21018"/>
                </a:lnTo>
                <a:lnTo>
                  <a:pt x="31193" y="19104"/>
                </a:lnTo>
                <a:close/>
              </a:path>
              <a:path w="54610" h="208279">
                <a:moveTo>
                  <a:pt x="12975" y="0"/>
                </a:moveTo>
                <a:lnTo>
                  <a:pt x="9511" y="1784"/>
                </a:lnTo>
                <a:lnTo>
                  <a:pt x="7744" y="7306"/>
                </a:lnTo>
                <a:lnTo>
                  <a:pt x="8407" y="9805"/>
                </a:lnTo>
                <a:lnTo>
                  <a:pt x="12520" y="13587"/>
                </a:lnTo>
                <a:lnTo>
                  <a:pt x="14347" y="16283"/>
                </a:lnTo>
                <a:lnTo>
                  <a:pt x="18366" y="23224"/>
                </a:lnTo>
                <a:lnTo>
                  <a:pt x="20346" y="27829"/>
                </a:lnTo>
                <a:lnTo>
                  <a:pt x="22423" y="22894"/>
                </a:lnTo>
                <a:lnTo>
                  <a:pt x="31193" y="19104"/>
                </a:lnTo>
                <a:lnTo>
                  <a:pt x="35078" y="19104"/>
                </a:lnTo>
                <a:lnTo>
                  <a:pt x="34561" y="18055"/>
                </a:lnTo>
                <a:lnTo>
                  <a:pt x="29743" y="10897"/>
                </a:lnTo>
                <a:lnTo>
                  <a:pt x="23678" y="4951"/>
                </a:lnTo>
                <a:lnTo>
                  <a:pt x="16212" y="1035"/>
                </a:lnTo>
                <a:lnTo>
                  <a:pt x="12975" y="0"/>
                </a:lnTo>
                <a:close/>
              </a:path>
              <a:path w="54610" h="208279">
                <a:moveTo>
                  <a:pt x="36020" y="21018"/>
                </a:moveTo>
                <a:lnTo>
                  <a:pt x="38336" y="25722"/>
                </a:lnTo>
                <a:lnTo>
                  <a:pt x="36362" y="21154"/>
                </a:lnTo>
                <a:lnTo>
                  <a:pt x="36020" y="21018"/>
                </a:lnTo>
                <a:close/>
              </a:path>
              <a:path w="54610" h="208279">
                <a:moveTo>
                  <a:pt x="35078" y="19104"/>
                </a:moveTo>
                <a:lnTo>
                  <a:pt x="31193" y="19104"/>
                </a:lnTo>
                <a:lnTo>
                  <a:pt x="36020" y="21018"/>
                </a:lnTo>
                <a:lnTo>
                  <a:pt x="35078" y="191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789373" y="5220136"/>
            <a:ext cx="1889955" cy="444378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756073" y="5256796"/>
            <a:ext cx="525645" cy="375804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8438621" y="5635084"/>
            <a:ext cx="22225" cy="24130"/>
          </a:xfrm>
          <a:custGeom>
            <a:avLst/>
            <a:gdLst/>
            <a:ahLst/>
            <a:cxnLst/>
            <a:rect l="l" t="t" r="r" b="b"/>
            <a:pathLst>
              <a:path w="22225" h="24129">
                <a:moveTo>
                  <a:pt x="18246" y="0"/>
                </a:moveTo>
                <a:lnTo>
                  <a:pt x="16347" y="148"/>
                </a:lnTo>
                <a:lnTo>
                  <a:pt x="264" y="14216"/>
                </a:lnTo>
                <a:lnTo>
                  <a:pt x="0" y="18186"/>
                </a:lnTo>
                <a:lnTo>
                  <a:pt x="4568" y="23408"/>
                </a:lnTo>
                <a:lnTo>
                  <a:pt x="8538" y="23674"/>
                </a:lnTo>
                <a:lnTo>
                  <a:pt x="11607" y="20988"/>
                </a:lnTo>
                <a:lnTo>
                  <a:pt x="12005" y="20523"/>
                </a:lnTo>
                <a:lnTo>
                  <a:pt x="12330" y="20007"/>
                </a:lnTo>
                <a:lnTo>
                  <a:pt x="22095" y="4495"/>
                </a:lnTo>
                <a:lnTo>
                  <a:pt x="21544" y="2075"/>
                </a:lnTo>
                <a:lnTo>
                  <a:pt x="182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524377" y="5240187"/>
            <a:ext cx="856608" cy="37069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199" y="1283379"/>
            <a:ext cx="8913495" cy="400050"/>
            <a:chOff x="777199" y="1283379"/>
            <a:chExt cx="8913495" cy="400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0837" y="1283379"/>
              <a:ext cx="1755078" cy="3663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8540" y="1320611"/>
              <a:ext cx="590240" cy="30735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25127" y="1324521"/>
              <a:ext cx="568471" cy="29150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Stochastic</a:t>
            </a:r>
            <a:r>
              <a:rPr spc="65" dirty="0"/>
              <a:t> </a:t>
            </a:r>
            <a:r>
              <a:rPr dirty="0"/>
              <a:t>Gradient</a:t>
            </a:r>
            <a:r>
              <a:rPr spc="70" dirty="0"/>
              <a:t> </a:t>
            </a:r>
            <a:r>
              <a:rPr spc="-10" dirty="0"/>
              <a:t>Descent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6457" y="3753330"/>
            <a:ext cx="8688070" cy="119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Cost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each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SGD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update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independent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𝑁</a:t>
            </a:r>
            <a:r>
              <a:rPr sz="1900" spc="-25" dirty="0">
                <a:latin typeface="Calibri"/>
                <a:cs typeface="Calibri"/>
              </a:rPr>
              <a:t>!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SGD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make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significant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progress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before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even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seeing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data!</a:t>
            </a:r>
            <a:endParaRPr sz="1900">
              <a:latin typeface="Calibri"/>
              <a:cs typeface="Calibri"/>
            </a:endParaRPr>
          </a:p>
          <a:p>
            <a:pPr marL="283845" marR="5080" indent="-271780">
              <a:lnSpc>
                <a:spcPts val="2300"/>
              </a:lnSpc>
              <a:spcBef>
                <a:spcPts val="8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spc="-10" dirty="0">
                <a:latin typeface="Calibri"/>
                <a:cs typeface="Calibri"/>
              </a:rPr>
              <a:t>Mathematical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justification: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sample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training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example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uniformly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random,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stochastic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unbiased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estimate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batch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gradient: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67545" y="3113250"/>
            <a:ext cx="142748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 MT"/>
                <a:cs typeface="Arial MT"/>
              </a:rPr>
              <a:t>2-</a:t>
            </a:r>
            <a:r>
              <a:rPr sz="1900" spc="365" dirty="0">
                <a:latin typeface="Arial MT"/>
                <a:cs typeface="Arial MT"/>
              </a:rPr>
              <a:t> </a:t>
            </a:r>
            <a:r>
              <a:rPr sz="1900" spc="-295" dirty="0">
                <a:latin typeface="Cambria Math"/>
                <a:cs typeface="Cambria Math"/>
              </a:rPr>
              <a:t>w</a:t>
            </a:r>
            <a:r>
              <a:rPr sz="1900" spc="110" dirty="0">
                <a:latin typeface="Cambria Math"/>
                <a:cs typeface="Cambria Math"/>
              </a:rPr>
              <a:t> </a:t>
            </a:r>
            <a:r>
              <a:rPr sz="1900" spc="-325" dirty="0">
                <a:latin typeface="Cambria Math"/>
                <a:cs typeface="Cambria Math"/>
              </a:rPr>
              <a:t>➛</a:t>
            </a:r>
            <a:r>
              <a:rPr sz="1900" spc="110" dirty="0">
                <a:latin typeface="Cambria Math"/>
                <a:cs typeface="Cambria Math"/>
              </a:rPr>
              <a:t> </a:t>
            </a:r>
            <a:r>
              <a:rPr sz="1900" spc="-295" dirty="0">
                <a:latin typeface="Cambria Math"/>
                <a:cs typeface="Cambria Math"/>
              </a:rPr>
              <a:t>w</a:t>
            </a:r>
            <a:r>
              <a:rPr sz="1900" spc="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−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𝛼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3757" y="1732506"/>
            <a:ext cx="8731250" cy="14217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96545" marR="17780" indent="-271780">
              <a:lnSpc>
                <a:spcPct val="101099"/>
              </a:lnSpc>
              <a:spcBef>
                <a:spcPts val="75"/>
              </a:spcBef>
              <a:buClr>
                <a:srgbClr val="000000"/>
              </a:buClr>
              <a:buFont typeface="Arial MT"/>
              <a:buChar char="•"/>
              <a:tabLst>
                <a:tab pos="29654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Stochastic</a:t>
            </a:r>
            <a:r>
              <a:rPr sz="19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gradient</a:t>
            </a:r>
            <a:r>
              <a:rPr sz="19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descent</a:t>
            </a:r>
            <a:r>
              <a:rPr sz="19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(SGD):</a:t>
            </a:r>
            <a:r>
              <a:rPr sz="19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update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parameters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based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a </a:t>
            </a:r>
            <a:r>
              <a:rPr sz="1900" dirty="0">
                <a:latin typeface="Calibri"/>
                <a:cs typeface="Calibri"/>
              </a:rPr>
              <a:t>single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training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example,</a:t>
            </a:r>
            <a:endParaRPr sz="1900">
              <a:latin typeface="Calibri"/>
              <a:cs typeface="Calibri"/>
            </a:endParaRPr>
          </a:p>
          <a:p>
            <a:pPr marL="2336165">
              <a:lnSpc>
                <a:spcPct val="100000"/>
              </a:lnSpc>
              <a:spcBef>
                <a:spcPts val="1705"/>
              </a:spcBef>
            </a:pPr>
            <a:r>
              <a:rPr sz="1900" dirty="0">
                <a:latin typeface="Arial MT"/>
                <a:cs typeface="Arial MT"/>
              </a:rPr>
              <a:t>1-</a:t>
            </a:r>
            <a:r>
              <a:rPr sz="1900" spc="229" dirty="0">
                <a:latin typeface="Arial MT"/>
                <a:cs typeface="Arial MT"/>
              </a:rPr>
              <a:t> </a:t>
            </a:r>
            <a:r>
              <a:rPr sz="1900" dirty="0">
                <a:latin typeface="Calibri"/>
                <a:cs typeface="Calibri"/>
              </a:rPr>
              <a:t>Choose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𝑖</a:t>
            </a:r>
            <a:r>
              <a:rPr sz="1900" spc="4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uniformly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random,</a:t>
            </a:r>
            <a:endParaRPr sz="1900">
              <a:latin typeface="Calibri"/>
              <a:cs typeface="Calibri"/>
            </a:endParaRPr>
          </a:p>
          <a:p>
            <a:pPr marR="633730" algn="ctr">
              <a:lnSpc>
                <a:spcPct val="100000"/>
              </a:lnSpc>
              <a:spcBef>
                <a:spcPts val="145"/>
              </a:spcBef>
            </a:pPr>
            <a:r>
              <a:rPr sz="2850" spc="67" baseline="-20467" dirty="0">
                <a:latin typeface="Cambria Math"/>
                <a:cs typeface="Cambria Math"/>
              </a:rPr>
              <a:t>𝜕ℒ</a:t>
            </a:r>
            <a:r>
              <a:rPr sz="1400" spc="45" dirty="0">
                <a:latin typeface="Cambria Math"/>
                <a:cs typeface="Cambria Math"/>
              </a:rPr>
              <a:t>(𝑖)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26756" y="3287567"/>
            <a:ext cx="533400" cy="13335"/>
          </a:xfrm>
          <a:custGeom>
            <a:avLst/>
            <a:gdLst/>
            <a:ahLst/>
            <a:cxnLst/>
            <a:rect l="l" t="t" r="r" b="b"/>
            <a:pathLst>
              <a:path w="533400" h="13335">
                <a:moveTo>
                  <a:pt x="533400" y="0"/>
                </a:moveTo>
                <a:lnTo>
                  <a:pt x="0" y="0"/>
                </a:lnTo>
                <a:lnTo>
                  <a:pt x="0" y="12715"/>
                </a:lnTo>
                <a:lnTo>
                  <a:pt x="533400" y="12715"/>
                </a:lnTo>
                <a:lnTo>
                  <a:pt x="533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37597" y="3271746"/>
            <a:ext cx="31051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30" dirty="0">
                <a:latin typeface="Cambria Math"/>
                <a:cs typeface="Cambria Math"/>
              </a:rPr>
              <a:t>𝜕w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59375" y="5320002"/>
            <a:ext cx="17970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latin typeface="Cambria Math"/>
                <a:cs typeface="Cambria Math"/>
              </a:rPr>
              <a:t>𝔼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92359" y="5199381"/>
            <a:ext cx="659130" cy="609600"/>
          </a:xfrm>
          <a:custGeom>
            <a:avLst/>
            <a:gdLst/>
            <a:ahLst/>
            <a:cxnLst/>
            <a:rect l="l" t="t" r="r" b="b"/>
            <a:pathLst>
              <a:path w="659129" h="609600">
                <a:moveTo>
                  <a:pt x="60553" y="0"/>
                </a:moveTo>
                <a:lnTo>
                  <a:pt x="0" y="0"/>
                </a:lnTo>
                <a:lnTo>
                  <a:pt x="0" y="11430"/>
                </a:lnTo>
                <a:lnTo>
                  <a:pt x="0" y="598170"/>
                </a:lnTo>
                <a:lnTo>
                  <a:pt x="0" y="609600"/>
                </a:lnTo>
                <a:lnTo>
                  <a:pt x="60553" y="609600"/>
                </a:lnTo>
                <a:lnTo>
                  <a:pt x="60553" y="598170"/>
                </a:lnTo>
                <a:lnTo>
                  <a:pt x="22974" y="598170"/>
                </a:lnTo>
                <a:lnTo>
                  <a:pt x="22974" y="11430"/>
                </a:lnTo>
                <a:lnTo>
                  <a:pt x="60553" y="11430"/>
                </a:lnTo>
                <a:lnTo>
                  <a:pt x="60553" y="0"/>
                </a:lnTo>
                <a:close/>
              </a:path>
              <a:path w="659129" h="609600">
                <a:moveTo>
                  <a:pt x="595553" y="296697"/>
                </a:moveTo>
                <a:lnTo>
                  <a:pt x="62153" y="296697"/>
                </a:lnTo>
                <a:lnTo>
                  <a:pt x="62153" y="309410"/>
                </a:lnTo>
                <a:lnTo>
                  <a:pt x="595553" y="309410"/>
                </a:lnTo>
                <a:lnTo>
                  <a:pt x="595553" y="296697"/>
                </a:lnTo>
                <a:close/>
              </a:path>
              <a:path w="659129" h="609600">
                <a:moveTo>
                  <a:pt x="658952" y="0"/>
                </a:moveTo>
                <a:lnTo>
                  <a:pt x="598398" y="0"/>
                </a:lnTo>
                <a:lnTo>
                  <a:pt x="598398" y="11430"/>
                </a:lnTo>
                <a:lnTo>
                  <a:pt x="635977" y="11430"/>
                </a:lnTo>
                <a:lnTo>
                  <a:pt x="635977" y="598170"/>
                </a:lnTo>
                <a:lnTo>
                  <a:pt x="598398" y="598170"/>
                </a:lnTo>
                <a:lnTo>
                  <a:pt x="598398" y="609600"/>
                </a:lnTo>
                <a:lnTo>
                  <a:pt x="658952" y="609600"/>
                </a:lnTo>
                <a:lnTo>
                  <a:pt x="658952" y="598170"/>
                </a:lnTo>
                <a:lnTo>
                  <a:pt x="658952" y="11430"/>
                </a:lnTo>
                <a:lnTo>
                  <a:pt x="6589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820116" y="5045682"/>
            <a:ext cx="59436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spc="67" baseline="-20467" dirty="0">
                <a:latin typeface="Cambria Math"/>
                <a:cs typeface="Cambria Math"/>
              </a:rPr>
              <a:t>𝜕ℒ</a:t>
            </a:r>
            <a:r>
              <a:rPr sz="1400" spc="45" dirty="0">
                <a:latin typeface="Cambria Math"/>
                <a:cs typeface="Cambria Math"/>
              </a:rPr>
              <a:t>(𝑖)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94318" y="5496075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800" y="0"/>
                </a:moveTo>
                <a:lnTo>
                  <a:pt x="0" y="0"/>
                </a:lnTo>
                <a:lnTo>
                  <a:pt x="0" y="12714"/>
                </a:lnTo>
                <a:lnTo>
                  <a:pt x="177800" y="12714"/>
                </a:lnTo>
                <a:lnTo>
                  <a:pt x="177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013509" y="5691424"/>
            <a:ext cx="3244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𝑖=1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93641" y="5023912"/>
            <a:ext cx="1600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𝑁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378518" y="5496075"/>
            <a:ext cx="533400" cy="13335"/>
          </a:xfrm>
          <a:custGeom>
            <a:avLst/>
            <a:gdLst/>
            <a:ahLst/>
            <a:cxnLst/>
            <a:rect l="l" t="t" r="r" b="b"/>
            <a:pathLst>
              <a:path w="533400" h="13335">
                <a:moveTo>
                  <a:pt x="533400" y="0"/>
                </a:moveTo>
                <a:lnTo>
                  <a:pt x="0" y="0"/>
                </a:lnTo>
                <a:lnTo>
                  <a:pt x="0" y="12714"/>
                </a:lnTo>
                <a:lnTo>
                  <a:pt x="533400" y="12714"/>
                </a:lnTo>
                <a:lnTo>
                  <a:pt x="533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337089" y="5045682"/>
            <a:ext cx="59436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spc="67" baseline="-20467" dirty="0">
                <a:latin typeface="Cambria Math"/>
                <a:cs typeface="Cambria Math"/>
              </a:rPr>
              <a:t>𝜕ℒ</a:t>
            </a:r>
            <a:r>
              <a:rPr sz="1400" spc="45" dirty="0">
                <a:latin typeface="Cambria Math"/>
                <a:cs typeface="Cambria Math"/>
              </a:rPr>
              <a:t>(𝑖)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04030" y="5137122"/>
            <a:ext cx="17087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1605" algn="l"/>
              </a:tabLst>
            </a:pPr>
            <a:r>
              <a:rPr sz="1900" spc="-50" dirty="0">
                <a:latin typeface="Cambria Math"/>
                <a:cs typeface="Cambria Math"/>
              </a:rPr>
              <a:t>1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-25" dirty="0">
                <a:latin typeface="Cambria Math"/>
                <a:cs typeface="Cambria Math"/>
              </a:rPr>
              <a:t>𝜕𝒥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16717" y="5496075"/>
            <a:ext cx="292100" cy="13335"/>
          </a:xfrm>
          <a:custGeom>
            <a:avLst/>
            <a:gdLst/>
            <a:ahLst/>
            <a:cxnLst/>
            <a:rect l="l" t="t" r="r" b="b"/>
            <a:pathLst>
              <a:path w="292100" h="13335">
                <a:moveTo>
                  <a:pt x="292100" y="0"/>
                </a:moveTo>
                <a:lnTo>
                  <a:pt x="0" y="0"/>
                </a:lnTo>
                <a:lnTo>
                  <a:pt x="0" y="12714"/>
                </a:lnTo>
                <a:lnTo>
                  <a:pt x="292100" y="12714"/>
                </a:lnTo>
                <a:lnTo>
                  <a:pt x="292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941069" y="5481546"/>
            <a:ext cx="261429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03885" algn="l"/>
                <a:tab pos="1554480" algn="l"/>
                <a:tab pos="2028189" algn="l"/>
              </a:tabLst>
            </a:pPr>
            <a:r>
              <a:rPr sz="1900" spc="-25" dirty="0">
                <a:latin typeface="Cambria Math"/>
                <a:cs typeface="Cambria Math"/>
              </a:rPr>
              <a:t>𝜕w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2850" baseline="36549" dirty="0">
                <a:latin typeface="Cambria Math"/>
                <a:cs typeface="Cambria Math"/>
              </a:rPr>
              <a:t>=</a:t>
            </a:r>
            <a:r>
              <a:rPr sz="2850" spc="135" baseline="36549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𝑁</a:t>
            </a:r>
            <a:r>
              <a:rPr sz="1900" spc="-60" dirty="0">
                <a:latin typeface="Cambria Math"/>
                <a:cs typeface="Cambria Math"/>
              </a:rPr>
              <a:t> </a:t>
            </a:r>
            <a:r>
              <a:rPr sz="2850" spc="1664" baseline="36549" dirty="0">
                <a:latin typeface="Cambria Math"/>
                <a:cs typeface="Cambria Math"/>
              </a:rPr>
              <a:t>∑</a:t>
            </a:r>
            <a:r>
              <a:rPr sz="2850" baseline="36549" dirty="0">
                <a:latin typeface="Cambria Math"/>
                <a:cs typeface="Cambria Math"/>
              </a:rPr>
              <a:t>	</a:t>
            </a:r>
            <a:r>
              <a:rPr sz="1900" spc="-35" dirty="0">
                <a:latin typeface="Cambria Math"/>
                <a:cs typeface="Cambria Math"/>
              </a:rPr>
              <a:t>𝜕w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2850" baseline="36549" dirty="0">
                <a:latin typeface="Cambria Math"/>
                <a:cs typeface="Cambria Math"/>
              </a:rPr>
              <a:t>=</a:t>
            </a:r>
            <a:r>
              <a:rPr sz="2850" spc="165" baseline="36549" dirty="0">
                <a:latin typeface="Cambria Math"/>
                <a:cs typeface="Cambria Math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𝜕w</a:t>
            </a:r>
            <a:endParaRPr sz="1900">
              <a:latin typeface="Cambria Math"/>
              <a:cs typeface="Cambria Math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40127" y="1235832"/>
            <a:ext cx="1194823" cy="385695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6002164" y="1547492"/>
            <a:ext cx="36195" cy="40640"/>
          </a:xfrm>
          <a:custGeom>
            <a:avLst/>
            <a:gdLst/>
            <a:ahLst/>
            <a:cxnLst/>
            <a:rect l="l" t="t" r="r" b="b"/>
            <a:pathLst>
              <a:path w="36195" h="40640">
                <a:moveTo>
                  <a:pt x="3269" y="18835"/>
                </a:moveTo>
                <a:lnTo>
                  <a:pt x="1953" y="22066"/>
                </a:lnTo>
                <a:lnTo>
                  <a:pt x="0" y="29490"/>
                </a:lnTo>
                <a:lnTo>
                  <a:pt x="1115" y="38912"/>
                </a:lnTo>
                <a:lnTo>
                  <a:pt x="3105" y="40482"/>
                </a:lnTo>
                <a:lnTo>
                  <a:pt x="6507" y="40079"/>
                </a:lnTo>
                <a:lnTo>
                  <a:pt x="7583" y="39397"/>
                </a:lnTo>
                <a:lnTo>
                  <a:pt x="11750" y="32724"/>
                </a:lnTo>
                <a:lnTo>
                  <a:pt x="14522" y="26610"/>
                </a:lnTo>
                <a:lnTo>
                  <a:pt x="14968" y="25514"/>
                </a:lnTo>
                <a:lnTo>
                  <a:pt x="11739" y="25514"/>
                </a:lnTo>
                <a:lnTo>
                  <a:pt x="4909" y="22731"/>
                </a:lnTo>
                <a:lnTo>
                  <a:pt x="3269" y="18835"/>
                </a:lnTo>
                <a:close/>
              </a:path>
              <a:path w="36195" h="40640">
                <a:moveTo>
                  <a:pt x="9947" y="10364"/>
                </a:moveTo>
                <a:lnTo>
                  <a:pt x="6051" y="12005"/>
                </a:lnTo>
                <a:lnTo>
                  <a:pt x="3269" y="18835"/>
                </a:lnTo>
                <a:lnTo>
                  <a:pt x="4909" y="22731"/>
                </a:lnTo>
                <a:lnTo>
                  <a:pt x="11739" y="25514"/>
                </a:lnTo>
                <a:lnTo>
                  <a:pt x="15636" y="23873"/>
                </a:lnTo>
                <a:lnTo>
                  <a:pt x="18044" y="17962"/>
                </a:lnTo>
                <a:lnTo>
                  <a:pt x="18445" y="17107"/>
                </a:lnTo>
                <a:lnTo>
                  <a:pt x="16779" y="13147"/>
                </a:lnTo>
                <a:lnTo>
                  <a:pt x="9947" y="10364"/>
                </a:lnTo>
                <a:close/>
              </a:path>
              <a:path w="36195" h="40640">
                <a:moveTo>
                  <a:pt x="15637" y="23873"/>
                </a:moveTo>
                <a:lnTo>
                  <a:pt x="11739" y="25514"/>
                </a:lnTo>
                <a:lnTo>
                  <a:pt x="14968" y="25514"/>
                </a:lnTo>
                <a:lnTo>
                  <a:pt x="15637" y="23873"/>
                </a:lnTo>
                <a:close/>
              </a:path>
              <a:path w="36195" h="40640">
                <a:moveTo>
                  <a:pt x="34787" y="10364"/>
                </a:moveTo>
                <a:lnTo>
                  <a:pt x="9947" y="10364"/>
                </a:lnTo>
                <a:lnTo>
                  <a:pt x="16779" y="13147"/>
                </a:lnTo>
                <a:lnTo>
                  <a:pt x="18445" y="17107"/>
                </a:lnTo>
                <a:lnTo>
                  <a:pt x="19438" y="14992"/>
                </a:lnTo>
                <a:lnTo>
                  <a:pt x="23778" y="12402"/>
                </a:lnTo>
                <a:lnTo>
                  <a:pt x="34226" y="12402"/>
                </a:lnTo>
                <a:lnTo>
                  <a:pt x="34787" y="10364"/>
                </a:lnTo>
                <a:close/>
              </a:path>
              <a:path w="36195" h="40640">
                <a:moveTo>
                  <a:pt x="34226" y="12402"/>
                </a:moveTo>
                <a:lnTo>
                  <a:pt x="24180" y="12402"/>
                </a:lnTo>
                <a:lnTo>
                  <a:pt x="26361" y="12698"/>
                </a:lnTo>
                <a:lnTo>
                  <a:pt x="31309" y="14060"/>
                </a:lnTo>
                <a:lnTo>
                  <a:pt x="34226" y="12402"/>
                </a:lnTo>
                <a:close/>
              </a:path>
              <a:path w="36195" h="40640">
                <a:moveTo>
                  <a:pt x="21396" y="0"/>
                </a:moveTo>
                <a:lnTo>
                  <a:pt x="10519" y="4718"/>
                </a:lnTo>
                <a:lnTo>
                  <a:pt x="6888" y="9951"/>
                </a:lnTo>
                <a:lnTo>
                  <a:pt x="6051" y="12005"/>
                </a:lnTo>
                <a:lnTo>
                  <a:pt x="9947" y="10364"/>
                </a:lnTo>
                <a:lnTo>
                  <a:pt x="34787" y="10364"/>
                </a:lnTo>
                <a:lnTo>
                  <a:pt x="35673" y="7147"/>
                </a:lnTo>
                <a:lnTo>
                  <a:pt x="34594" y="4718"/>
                </a:lnTo>
                <a:lnTo>
                  <a:pt x="34532" y="4578"/>
                </a:lnTo>
                <a:lnTo>
                  <a:pt x="27245" y="909"/>
                </a:lnTo>
                <a:lnTo>
                  <a:pt x="213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6616186" y="2070311"/>
            <a:ext cx="3999229" cy="1879600"/>
            <a:chOff x="6616186" y="2070311"/>
            <a:chExt cx="3999229" cy="1879600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96106" y="2437732"/>
              <a:ext cx="618177" cy="38655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16186" y="2070311"/>
              <a:ext cx="3999183" cy="18792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Stochastic</a:t>
            </a:r>
            <a:r>
              <a:rPr spc="65" dirty="0"/>
              <a:t> </a:t>
            </a:r>
            <a:r>
              <a:rPr dirty="0"/>
              <a:t>Gradient</a:t>
            </a:r>
            <a:r>
              <a:rPr spc="70" dirty="0"/>
              <a:t> </a:t>
            </a:r>
            <a:r>
              <a:rPr spc="-10" dirty="0"/>
              <a:t>Descent</a:t>
            </a:r>
          </a:p>
        </p:txBody>
      </p:sp>
      <p:sp>
        <p:nvSpPr>
          <p:cNvPr id="3" name="object 3"/>
          <p:cNvSpPr/>
          <p:nvPr/>
        </p:nvSpPr>
        <p:spPr>
          <a:xfrm>
            <a:off x="3371220" y="4488026"/>
            <a:ext cx="18415" cy="219710"/>
          </a:xfrm>
          <a:custGeom>
            <a:avLst/>
            <a:gdLst/>
            <a:ahLst/>
            <a:cxnLst/>
            <a:rect l="l" t="t" r="r" b="b"/>
            <a:pathLst>
              <a:path w="18414" h="219710">
                <a:moveTo>
                  <a:pt x="18144" y="0"/>
                </a:moveTo>
                <a:lnTo>
                  <a:pt x="0" y="0"/>
                </a:lnTo>
                <a:lnTo>
                  <a:pt x="0" y="219523"/>
                </a:lnTo>
                <a:lnTo>
                  <a:pt x="18144" y="219523"/>
                </a:lnTo>
                <a:lnTo>
                  <a:pt x="18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18972" y="4488026"/>
            <a:ext cx="18415" cy="219710"/>
          </a:xfrm>
          <a:custGeom>
            <a:avLst/>
            <a:gdLst/>
            <a:ahLst/>
            <a:cxnLst/>
            <a:rect l="l" t="t" r="r" b="b"/>
            <a:pathLst>
              <a:path w="18414" h="219710">
                <a:moveTo>
                  <a:pt x="18144" y="0"/>
                </a:moveTo>
                <a:lnTo>
                  <a:pt x="0" y="0"/>
                </a:lnTo>
                <a:lnTo>
                  <a:pt x="0" y="219523"/>
                </a:lnTo>
                <a:lnTo>
                  <a:pt x="18144" y="219523"/>
                </a:lnTo>
                <a:lnTo>
                  <a:pt x="18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62186" y="3751559"/>
            <a:ext cx="906144" cy="225425"/>
          </a:xfrm>
          <a:custGeom>
            <a:avLst/>
            <a:gdLst/>
            <a:ahLst/>
            <a:cxnLst/>
            <a:rect l="l" t="t" r="r" b="b"/>
            <a:pathLst>
              <a:path w="906145" h="225425">
                <a:moveTo>
                  <a:pt x="833485" y="0"/>
                </a:moveTo>
                <a:lnTo>
                  <a:pt x="830422" y="0"/>
                </a:lnTo>
                <a:lnTo>
                  <a:pt x="830422" y="8964"/>
                </a:lnTo>
                <a:lnTo>
                  <a:pt x="832190" y="8964"/>
                </a:lnTo>
                <a:lnTo>
                  <a:pt x="840268" y="9521"/>
                </a:lnTo>
                <a:lnTo>
                  <a:pt x="867992" y="37764"/>
                </a:lnTo>
                <a:lnTo>
                  <a:pt x="868596" y="47301"/>
                </a:lnTo>
                <a:lnTo>
                  <a:pt x="868596" y="52806"/>
                </a:lnTo>
                <a:lnTo>
                  <a:pt x="867811" y="59608"/>
                </a:lnTo>
                <a:lnTo>
                  <a:pt x="864669" y="75808"/>
                </a:lnTo>
                <a:lnTo>
                  <a:pt x="863884" y="81588"/>
                </a:lnTo>
                <a:lnTo>
                  <a:pt x="863884" y="91733"/>
                </a:lnTo>
                <a:lnTo>
                  <a:pt x="865847" y="97218"/>
                </a:lnTo>
                <a:lnTo>
                  <a:pt x="873702" y="105789"/>
                </a:lnTo>
                <a:lnTo>
                  <a:pt x="878376" y="108955"/>
                </a:lnTo>
                <a:lnTo>
                  <a:pt x="883795" y="110999"/>
                </a:lnTo>
                <a:lnTo>
                  <a:pt x="883795" y="113122"/>
                </a:lnTo>
                <a:lnTo>
                  <a:pt x="878376" y="115167"/>
                </a:lnTo>
                <a:lnTo>
                  <a:pt x="873702" y="118333"/>
                </a:lnTo>
                <a:lnTo>
                  <a:pt x="865847" y="126904"/>
                </a:lnTo>
                <a:lnTo>
                  <a:pt x="863884" y="132389"/>
                </a:lnTo>
                <a:lnTo>
                  <a:pt x="863884" y="142534"/>
                </a:lnTo>
                <a:lnTo>
                  <a:pt x="864669" y="148314"/>
                </a:lnTo>
                <a:lnTo>
                  <a:pt x="867811" y="164514"/>
                </a:lnTo>
                <a:lnTo>
                  <a:pt x="868596" y="171316"/>
                </a:lnTo>
                <a:lnTo>
                  <a:pt x="868596" y="176822"/>
                </a:lnTo>
                <a:lnTo>
                  <a:pt x="868002" y="186557"/>
                </a:lnTo>
                <a:lnTo>
                  <a:pt x="867992" y="186719"/>
                </a:lnTo>
                <a:lnTo>
                  <a:pt x="840268" y="215427"/>
                </a:lnTo>
                <a:lnTo>
                  <a:pt x="832190" y="215983"/>
                </a:lnTo>
                <a:lnTo>
                  <a:pt x="830422" y="215983"/>
                </a:lnTo>
                <a:lnTo>
                  <a:pt x="830422" y="224948"/>
                </a:lnTo>
                <a:lnTo>
                  <a:pt x="833485" y="224948"/>
                </a:lnTo>
                <a:lnTo>
                  <a:pt x="846456" y="223979"/>
                </a:lnTo>
                <a:lnTo>
                  <a:pt x="880905" y="205342"/>
                </a:lnTo>
                <a:lnTo>
                  <a:pt x="887727" y="186719"/>
                </a:lnTo>
                <a:lnTo>
                  <a:pt x="887768" y="186557"/>
                </a:lnTo>
                <a:lnTo>
                  <a:pt x="888626" y="174698"/>
                </a:lnTo>
                <a:lnTo>
                  <a:pt x="888626" y="168170"/>
                </a:lnTo>
                <a:lnTo>
                  <a:pt x="887703" y="160740"/>
                </a:lnTo>
                <a:lnTo>
                  <a:pt x="884011" y="144067"/>
                </a:lnTo>
                <a:lnTo>
                  <a:pt x="883089" y="138484"/>
                </a:lnTo>
                <a:lnTo>
                  <a:pt x="883089" y="130227"/>
                </a:lnTo>
                <a:lnTo>
                  <a:pt x="884953" y="125803"/>
                </a:lnTo>
                <a:lnTo>
                  <a:pt x="892416" y="118962"/>
                </a:lnTo>
                <a:lnTo>
                  <a:pt x="898052" y="117133"/>
                </a:lnTo>
                <a:lnTo>
                  <a:pt x="905592" y="116898"/>
                </a:lnTo>
                <a:lnTo>
                  <a:pt x="905592" y="107224"/>
                </a:lnTo>
                <a:lnTo>
                  <a:pt x="898052" y="106989"/>
                </a:lnTo>
                <a:lnTo>
                  <a:pt x="892416" y="105161"/>
                </a:lnTo>
                <a:lnTo>
                  <a:pt x="884953" y="98319"/>
                </a:lnTo>
                <a:lnTo>
                  <a:pt x="883089" y="93896"/>
                </a:lnTo>
                <a:lnTo>
                  <a:pt x="883089" y="85638"/>
                </a:lnTo>
                <a:lnTo>
                  <a:pt x="884011" y="80054"/>
                </a:lnTo>
                <a:lnTo>
                  <a:pt x="887703" y="63383"/>
                </a:lnTo>
                <a:lnTo>
                  <a:pt x="888626" y="55952"/>
                </a:lnTo>
                <a:lnTo>
                  <a:pt x="888626" y="49424"/>
                </a:lnTo>
                <a:lnTo>
                  <a:pt x="887768" y="37926"/>
                </a:lnTo>
                <a:lnTo>
                  <a:pt x="857683" y="3405"/>
                </a:lnTo>
                <a:lnTo>
                  <a:pt x="846456" y="969"/>
                </a:lnTo>
                <a:lnTo>
                  <a:pt x="833485" y="0"/>
                </a:lnTo>
                <a:close/>
              </a:path>
              <a:path w="906145" h="225425">
                <a:moveTo>
                  <a:pt x="75171" y="0"/>
                </a:moveTo>
                <a:lnTo>
                  <a:pt x="72106" y="0"/>
                </a:lnTo>
                <a:lnTo>
                  <a:pt x="59135" y="969"/>
                </a:lnTo>
                <a:lnTo>
                  <a:pt x="24687" y="19547"/>
                </a:lnTo>
                <a:lnTo>
                  <a:pt x="17866" y="37698"/>
                </a:lnTo>
                <a:lnTo>
                  <a:pt x="17823" y="37861"/>
                </a:lnTo>
                <a:lnTo>
                  <a:pt x="16965" y="49306"/>
                </a:lnTo>
                <a:lnTo>
                  <a:pt x="16965" y="55834"/>
                </a:lnTo>
                <a:lnTo>
                  <a:pt x="17889" y="63265"/>
                </a:lnTo>
                <a:lnTo>
                  <a:pt x="21581" y="79937"/>
                </a:lnTo>
                <a:lnTo>
                  <a:pt x="22504" y="85520"/>
                </a:lnTo>
                <a:lnTo>
                  <a:pt x="22504" y="93778"/>
                </a:lnTo>
                <a:lnTo>
                  <a:pt x="20638" y="98201"/>
                </a:lnTo>
                <a:lnTo>
                  <a:pt x="13176" y="105042"/>
                </a:lnTo>
                <a:lnTo>
                  <a:pt x="7541" y="106871"/>
                </a:lnTo>
                <a:lnTo>
                  <a:pt x="0" y="107106"/>
                </a:lnTo>
                <a:lnTo>
                  <a:pt x="0" y="116780"/>
                </a:lnTo>
                <a:lnTo>
                  <a:pt x="7541" y="117015"/>
                </a:lnTo>
                <a:lnTo>
                  <a:pt x="13176" y="118844"/>
                </a:lnTo>
                <a:lnTo>
                  <a:pt x="20638" y="125685"/>
                </a:lnTo>
                <a:lnTo>
                  <a:pt x="22504" y="130108"/>
                </a:lnTo>
                <a:lnTo>
                  <a:pt x="22504" y="138366"/>
                </a:lnTo>
                <a:lnTo>
                  <a:pt x="21581" y="143950"/>
                </a:lnTo>
                <a:lnTo>
                  <a:pt x="17889" y="160621"/>
                </a:lnTo>
                <a:lnTo>
                  <a:pt x="16965" y="168052"/>
                </a:lnTo>
                <a:lnTo>
                  <a:pt x="16965" y="174580"/>
                </a:lnTo>
                <a:lnTo>
                  <a:pt x="17823" y="186490"/>
                </a:lnTo>
                <a:lnTo>
                  <a:pt x="47909" y="221543"/>
                </a:lnTo>
                <a:lnTo>
                  <a:pt x="72106" y="224948"/>
                </a:lnTo>
                <a:lnTo>
                  <a:pt x="75171" y="224948"/>
                </a:lnTo>
                <a:lnTo>
                  <a:pt x="75171" y="215983"/>
                </a:lnTo>
                <a:lnTo>
                  <a:pt x="73403" y="215983"/>
                </a:lnTo>
                <a:lnTo>
                  <a:pt x="65325" y="215427"/>
                </a:lnTo>
                <a:lnTo>
                  <a:pt x="37600" y="186652"/>
                </a:lnTo>
                <a:lnTo>
                  <a:pt x="36996" y="176703"/>
                </a:lnTo>
                <a:lnTo>
                  <a:pt x="36996" y="171198"/>
                </a:lnTo>
                <a:lnTo>
                  <a:pt x="37781" y="164396"/>
                </a:lnTo>
                <a:lnTo>
                  <a:pt x="40923" y="148196"/>
                </a:lnTo>
                <a:lnTo>
                  <a:pt x="41709" y="142416"/>
                </a:lnTo>
                <a:lnTo>
                  <a:pt x="41709" y="132271"/>
                </a:lnTo>
                <a:lnTo>
                  <a:pt x="39745" y="126786"/>
                </a:lnTo>
                <a:lnTo>
                  <a:pt x="31890" y="118215"/>
                </a:lnTo>
                <a:lnTo>
                  <a:pt x="27217" y="115049"/>
                </a:lnTo>
                <a:lnTo>
                  <a:pt x="21797" y="113004"/>
                </a:lnTo>
                <a:lnTo>
                  <a:pt x="21797" y="110882"/>
                </a:lnTo>
                <a:lnTo>
                  <a:pt x="27217" y="108837"/>
                </a:lnTo>
                <a:lnTo>
                  <a:pt x="31890" y="105671"/>
                </a:lnTo>
                <a:lnTo>
                  <a:pt x="39745" y="97100"/>
                </a:lnTo>
                <a:lnTo>
                  <a:pt x="41709" y="91615"/>
                </a:lnTo>
                <a:lnTo>
                  <a:pt x="41709" y="81470"/>
                </a:lnTo>
                <a:lnTo>
                  <a:pt x="40923" y="75690"/>
                </a:lnTo>
                <a:lnTo>
                  <a:pt x="37781" y="59490"/>
                </a:lnTo>
                <a:lnTo>
                  <a:pt x="36996" y="52688"/>
                </a:lnTo>
                <a:lnTo>
                  <a:pt x="36996" y="47183"/>
                </a:lnTo>
                <a:lnTo>
                  <a:pt x="37589" y="37861"/>
                </a:lnTo>
                <a:lnTo>
                  <a:pt x="65325" y="9521"/>
                </a:lnTo>
                <a:lnTo>
                  <a:pt x="73403" y="8964"/>
                </a:lnTo>
                <a:lnTo>
                  <a:pt x="75171" y="8964"/>
                </a:lnTo>
                <a:lnTo>
                  <a:pt x="751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98967" y="5713462"/>
            <a:ext cx="18415" cy="219710"/>
          </a:xfrm>
          <a:custGeom>
            <a:avLst/>
            <a:gdLst/>
            <a:ahLst/>
            <a:cxnLst/>
            <a:rect l="l" t="t" r="r" b="b"/>
            <a:pathLst>
              <a:path w="18414" h="219710">
                <a:moveTo>
                  <a:pt x="18144" y="0"/>
                </a:moveTo>
                <a:lnTo>
                  <a:pt x="0" y="0"/>
                </a:lnTo>
                <a:lnTo>
                  <a:pt x="0" y="219523"/>
                </a:lnTo>
                <a:lnTo>
                  <a:pt x="18144" y="219523"/>
                </a:lnTo>
                <a:lnTo>
                  <a:pt x="18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46718" y="5713462"/>
            <a:ext cx="18415" cy="219710"/>
          </a:xfrm>
          <a:custGeom>
            <a:avLst/>
            <a:gdLst/>
            <a:ahLst/>
            <a:cxnLst/>
            <a:rect l="l" t="t" r="r" b="b"/>
            <a:pathLst>
              <a:path w="18414" h="219710">
                <a:moveTo>
                  <a:pt x="18144" y="0"/>
                </a:moveTo>
                <a:lnTo>
                  <a:pt x="0" y="0"/>
                </a:lnTo>
                <a:lnTo>
                  <a:pt x="0" y="219523"/>
                </a:lnTo>
                <a:lnTo>
                  <a:pt x="18144" y="219523"/>
                </a:lnTo>
                <a:lnTo>
                  <a:pt x="18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6456" y="1702365"/>
            <a:ext cx="7962265" cy="425005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91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Problems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single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training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example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estimate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gradient:</a:t>
            </a:r>
            <a:endParaRPr sz="1900">
              <a:latin typeface="Calibri"/>
              <a:cs typeface="Calibri"/>
            </a:endParaRPr>
          </a:p>
          <a:p>
            <a:pPr marL="619760" lvl="1" indent="-270510">
              <a:lnSpc>
                <a:spcPct val="100000"/>
              </a:lnSpc>
              <a:spcBef>
                <a:spcPts val="815"/>
              </a:spcBef>
              <a:buFont typeface="Wingdings"/>
              <a:buChar char=""/>
              <a:tabLst>
                <a:tab pos="619760" algn="l"/>
              </a:tabLst>
            </a:pPr>
            <a:r>
              <a:rPr sz="1900" dirty="0">
                <a:latin typeface="Calibri"/>
                <a:cs typeface="Calibri"/>
              </a:rPr>
              <a:t>Variance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estimate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high</a:t>
            </a:r>
            <a:endParaRPr sz="1900">
              <a:latin typeface="Calibri"/>
              <a:cs typeface="Calibri"/>
            </a:endParaRPr>
          </a:p>
          <a:p>
            <a:pPr marL="619760" lvl="1" indent="-270510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619760" algn="l"/>
              </a:tabLst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can’t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exploit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efficient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vectorized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operations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Compromise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approach:</a:t>
            </a:r>
            <a:endParaRPr sz="1900">
              <a:latin typeface="Calibri"/>
              <a:cs typeface="Calibri"/>
            </a:endParaRPr>
          </a:p>
          <a:p>
            <a:pPr marL="619125" marR="5080" lvl="1" indent="-270510">
              <a:lnSpc>
                <a:spcPct val="101099"/>
              </a:lnSpc>
              <a:spcBef>
                <a:spcPts val="1030"/>
              </a:spcBef>
              <a:buFont typeface="Wingdings"/>
              <a:buChar char=""/>
              <a:tabLst>
                <a:tab pos="620395" algn="l"/>
                <a:tab pos="2287905" algn="l"/>
              </a:tabLst>
            </a:pPr>
            <a:r>
              <a:rPr sz="1900" dirty="0">
                <a:latin typeface="Calibri"/>
                <a:cs typeface="Calibri"/>
              </a:rPr>
              <a:t>Compute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randomly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chosen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medium-</a:t>
            </a:r>
            <a:r>
              <a:rPr sz="1900" dirty="0">
                <a:latin typeface="Calibri"/>
                <a:cs typeface="Calibri"/>
              </a:rPr>
              <a:t>sized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training 	</a:t>
            </a:r>
            <a:r>
              <a:rPr sz="1900" dirty="0">
                <a:latin typeface="Calibri"/>
                <a:cs typeface="Calibri"/>
              </a:rPr>
              <a:t>examples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ℳ</a:t>
            </a:r>
            <a:r>
              <a:rPr sz="1900" spc="135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⊂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-10" dirty="0">
                <a:latin typeface="Cambria Math"/>
                <a:cs typeface="Cambria Math"/>
              </a:rPr>
              <a:t>1,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⋯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,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𝑁</a:t>
            </a:r>
            <a:r>
              <a:rPr sz="1900" spc="33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called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mini-batch</a:t>
            </a:r>
            <a:r>
              <a:rPr sz="1900" spc="-10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Stochastic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computed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larger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mini-</a:t>
            </a:r>
            <a:r>
              <a:rPr sz="1900" dirty="0">
                <a:latin typeface="Calibri"/>
                <a:cs typeface="Calibri"/>
              </a:rPr>
              <a:t>batches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smaller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variance.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83845" algn="l"/>
                <a:tab pos="2309495" algn="l"/>
                <a:tab pos="271589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mini-</a:t>
            </a:r>
            <a:r>
              <a:rPr sz="1900" dirty="0">
                <a:latin typeface="Calibri"/>
                <a:cs typeface="Calibri"/>
              </a:rPr>
              <a:t>batch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size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ℳ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hyperparameter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needs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set.</a:t>
            </a:r>
            <a:endParaRPr sz="1900">
              <a:latin typeface="Calibri"/>
              <a:cs typeface="Calibri"/>
            </a:endParaRPr>
          </a:p>
          <a:p>
            <a:pPr marL="619125" marR="20955" lvl="1" indent="-270510">
              <a:lnSpc>
                <a:spcPct val="101099"/>
              </a:lnSpc>
              <a:spcBef>
                <a:spcPts val="550"/>
              </a:spcBef>
              <a:buFont typeface="Wingdings"/>
              <a:buChar char=""/>
              <a:tabLst>
                <a:tab pos="620395" algn="l"/>
              </a:tabLst>
            </a:pPr>
            <a:r>
              <a:rPr sz="1900" dirty="0">
                <a:latin typeface="Calibri"/>
                <a:cs typeface="Calibri"/>
              </a:rPr>
              <a:t>Too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large: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requires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compute: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e.g.,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takes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memory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store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	</a:t>
            </a:r>
            <a:r>
              <a:rPr sz="1900" dirty="0">
                <a:latin typeface="Calibri"/>
                <a:cs typeface="Calibri"/>
              </a:rPr>
              <a:t>activations,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longer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compute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each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update</a:t>
            </a:r>
            <a:endParaRPr sz="1900">
              <a:latin typeface="Calibri"/>
              <a:cs typeface="Calibri"/>
            </a:endParaRPr>
          </a:p>
          <a:p>
            <a:pPr marL="619760" lvl="1" indent="-270510">
              <a:lnSpc>
                <a:spcPts val="2185"/>
              </a:lnSpc>
              <a:buFont typeface="Wingdings"/>
              <a:buChar char=""/>
              <a:tabLst>
                <a:tab pos="619760" algn="l"/>
              </a:tabLst>
            </a:pPr>
            <a:r>
              <a:rPr sz="1900" dirty="0">
                <a:latin typeface="Calibri"/>
                <a:cs typeface="Calibri"/>
              </a:rPr>
              <a:t>Too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small: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can’t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exploit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vectorization,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high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variance</a:t>
            </a:r>
            <a:endParaRPr sz="1900">
              <a:latin typeface="Calibri"/>
              <a:cs typeface="Calibri"/>
            </a:endParaRPr>
          </a:p>
          <a:p>
            <a:pPr marL="619760" lvl="1" indent="-270510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619760" algn="l"/>
                <a:tab pos="3536950" algn="l"/>
                <a:tab pos="3956685" algn="l"/>
              </a:tabLst>
            </a:pPr>
            <a:r>
              <a:rPr sz="1900" dirty="0">
                <a:latin typeface="Calibri"/>
                <a:cs typeface="Calibri"/>
              </a:rPr>
              <a:t>A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reasonable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might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be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ℳ</a:t>
            </a:r>
            <a:r>
              <a:rPr sz="1900" dirty="0">
                <a:latin typeface="Cambria Math"/>
                <a:cs typeface="Cambria Math"/>
              </a:rPr>
              <a:t>	=</a:t>
            </a:r>
            <a:r>
              <a:rPr sz="1900" spc="85" dirty="0">
                <a:latin typeface="Cambria Math"/>
                <a:cs typeface="Cambria Math"/>
              </a:rPr>
              <a:t> </a:t>
            </a:r>
            <a:r>
              <a:rPr sz="1900" spc="-20" dirty="0">
                <a:latin typeface="Cambria Math"/>
                <a:cs typeface="Cambria Math"/>
              </a:rPr>
              <a:t>100</a:t>
            </a:r>
            <a:r>
              <a:rPr sz="1900" spc="-20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60" y="2129147"/>
            <a:ext cx="2161828" cy="3613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9925" y="2092150"/>
            <a:ext cx="2061292" cy="50200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65457" y="3023905"/>
            <a:ext cx="448964" cy="3162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88980" y="2942677"/>
            <a:ext cx="387582" cy="35605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27666" y="2986085"/>
            <a:ext cx="1423716" cy="27803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20911" y="2905516"/>
            <a:ext cx="3853994" cy="8378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Stochastic</a:t>
            </a:r>
            <a:r>
              <a:rPr spc="65" dirty="0"/>
              <a:t> </a:t>
            </a:r>
            <a:r>
              <a:rPr dirty="0"/>
              <a:t>Gradient</a:t>
            </a:r>
            <a:r>
              <a:rPr spc="70" dirty="0"/>
              <a:t> </a:t>
            </a:r>
            <a:r>
              <a:rPr spc="-10" dirty="0"/>
              <a:t>Descent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6" y="1717266"/>
            <a:ext cx="7006590" cy="60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Batch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descent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moves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directly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downhill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(locally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speaking).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SGD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takes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steps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noisy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direction,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but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moves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downhill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average.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2185" y="2929964"/>
            <a:ext cx="5128985" cy="16184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46521" y="4783554"/>
            <a:ext cx="228092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batch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descent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8827" y="4783554"/>
            <a:ext cx="270700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stochastic</a:t>
            </a:r>
            <a:r>
              <a:rPr sz="1900" spc="-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gradient</a:t>
            </a:r>
            <a:r>
              <a:rPr sz="1900" spc="-8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descent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12220" y="5193688"/>
            <a:ext cx="1842770" cy="797560"/>
            <a:chOff x="1612220" y="5193688"/>
            <a:chExt cx="1842770" cy="7975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2220" y="5193688"/>
              <a:ext cx="901059" cy="36626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1016" y="5600583"/>
              <a:ext cx="1783872" cy="390121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2580198" y="5159504"/>
            <a:ext cx="2957830" cy="790575"/>
            <a:chOff x="2580198" y="5159504"/>
            <a:chExt cx="2957830" cy="79057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0198" y="5160506"/>
              <a:ext cx="1046392" cy="366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22519" y="5159504"/>
              <a:ext cx="2014895" cy="790266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393405" y="5095400"/>
            <a:ext cx="3861435" cy="737870"/>
            <a:chOff x="6393405" y="5095400"/>
            <a:chExt cx="3861435" cy="737870"/>
          </a:xfrm>
        </p:grpSpPr>
        <p:sp>
          <p:nvSpPr>
            <p:cNvPr id="14" name="object 14"/>
            <p:cNvSpPr/>
            <p:nvPr/>
          </p:nvSpPr>
          <p:spPr>
            <a:xfrm>
              <a:off x="8890788" y="5428626"/>
              <a:ext cx="36830" cy="29845"/>
            </a:xfrm>
            <a:custGeom>
              <a:avLst/>
              <a:gdLst/>
              <a:ahLst/>
              <a:cxnLst/>
              <a:rect l="l" t="t" r="r" b="b"/>
              <a:pathLst>
                <a:path w="36829" h="29845">
                  <a:moveTo>
                    <a:pt x="30152" y="0"/>
                  </a:moveTo>
                  <a:lnTo>
                    <a:pt x="384" y="22499"/>
                  </a:lnTo>
                  <a:lnTo>
                    <a:pt x="60" y="24826"/>
                  </a:lnTo>
                  <a:lnTo>
                    <a:pt x="0" y="25257"/>
                  </a:lnTo>
                  <a:lnTo>
                    <a:pt x="2670" y="28792"/>
                  </a:lnTo>
                  <a:lnTo>
                    <a:pt x="4800" y="29373"/>
                  </a:lnTo>
                  <a:lnTo>
                    <a:pt x="6649" y="28613"/>
                  </a:lnTo>
                  <a:lnTo>
                    <a:pt x="36629" y="4097"/>
                  </a:lnTo>
                  <a:lnTo>
                    <a:pt x="33008" y="242"/>
                  </a:lnTo>
                  <a:lnTo>
                    <a:pt x="301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93405" y="5095400"/>
              <a:ext cx="3861276" cy="737368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55636" y="5952291"/>
            <a:ext cx="1775222" cy="43796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22005" y="5922835"/>
            <a:ext cx="997115" cy="49687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SGD</a:t>
            </a:r>
            <a:r>
              <a:rPr spc="80" dirty="0"/>
              <a:t> </a:t>
            </a:r>
            <a:r>
              <a:rPr dirty="0"/>
              <a:t>Learning</a:t>
            </a:r>
            <a:r>
              <a:rPr spc="75" dirty="0"/>
              <a:t> </a:t>
            </a:r>
            <a:r>
              <a:rPr spc="-20" dirty="0"/>
              <a:t>Rate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456" y="1732506"/>
            <a:ext cx="8313420" cy="11188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3845" marR="5080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In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stochastic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training,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learning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rate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also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influences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fluctuations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due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alibri"/>
                <a:cs typeface="Calibri"/>
              </a:rPr>
              <a:t>stochasticity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gradients.</a:t>
            </a:r>
            <a:endParaRPr sz="1900">
              <a:latin typeface="Calibri"/>
              <a:cs typeface="Calibri"/>
            </a:endParaRPr>
          </a:p>
          <a:p>
            <a:pPr marL="254000" algn="ctr">
              <a:lnSpc>
                <a:spcPct val="100000"/>
              </a:lnSpc>
              <a:spcBef>
                <a:spcPts val="2100"/>
              </a:spcBef>
              <a:tabLst>
                <a:tab pos="2542540" algn="l"/>
              </a:tabLst>
            </a:pPr>
            <a:r>
              <a:rPr sz="1600" dirty="0">
                <a:latin typeface="Arial MT"/>
                <a:cs typeface="Arial MT"/>
              </a:rPr>
              <a:t>Small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learning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rate</a:t>
            </a:r>
            <a:r>
              <a:rPr sz="1600" dirty="0">
                <a:latin typeface="Arial MT"/>
                <a:cs typeface="Arial MT"/>
              </a:rPr>
              <a:t>	Large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learning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rate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8681" y="2931396"/>
            <a:ext cx="3975882" cy="19737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56456" y="4631154"/>
            <a:ext cx="814324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Typical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strategy:</a:t>
            </a:r>
            <a:endParaRPr sz="1900">
              <a:latin typeface="Calibri"/>
              <a:cs typeface="Calibri"/>
            </a:endParaRPr>
          </a:p>
          <a:p>
            <a:pPr marL="541655" lvl="1" indent="-270510">
              <a:lnSpc>
                <a:spcPct val="100000"/>
              </a:lnSpc>
              <a:spcBef>
                <a:spcPts val="2039"/>
              </a:spcBef>
              <a:buFont typeface="Wingdings"/>
              <a:buChar char=""/>
              <a:tabLst>
                <a:tab pos="541655" algn="l"/>
              </a:tabLst>
            </a:pPr>
            <a:r>
              <a:rPr sz="1900" dirty="0">
                <a:latin typeface="Calibri"/>
                <a:cs typeface="Calibri"/>
              </a:rPr>
              <a:t>Use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large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learning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rate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early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training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get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close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optimum</a:t>
            </a:r>
            <a:endParaRPr sz="1900">
              <a:latin typeface="Calibri"/>
              <a:cs typeface="Calibri"/>
            </a:endParaRPr>
          </a:p>
          <a:p>
            <a:pPr marL="541655" lvl="1" indent="-270510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541655" algn="l"/>
              </a:tabLst>
            </a:pPr>
            <a:r>
              <a:rPr sz="1900" dirty="0">
                <a:latin typeface="Calibri"/>
                <a:cs typeface="Calibri"/>
              </a:rPr>
              <a:t>Gradually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decay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learning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rate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reduce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fluctuations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6357" y="188986"/>
            <a:ext cx="336634" cy="31802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6404" y="239936"/>
            <a:ext cx="446868" cy="21464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02304" y="115667"/>
            <a:ext cx="787089" cy="40266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71097" y="120524"/>
            <a:ext cx="543631" cy="3439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64601" y="14151"/>
            <a:ext cx="3322290" cy="46497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78204" y="65969"/>
            <a:ext cx="812051" cy="33102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85841" y="81174"/>
            <a:ext cx="844887" cy="2813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747618" y="70927"/>
            <a:ext cx="1229183" cy="325704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0090562" y="347933"/>
            <a:ext cx="20320" cy="12065"/>
          </a:xfrm>
          <a:custGeom>
            <a:avLst/>
            <a:gdLst/>
            <a:ahLst/>
            <a:cxnLst/>
            <a:rect l="l" t="t" r="r" b="b"/>
            <a:pathLst>
              <a:path w="20320" h="12064">
                <a:moveTo>
                  <a:pt x="2573" y="0"/>
                </a:moveTo>
                <a:lnTo>
                  <a:pt x="585" y="1485"/>
                </a:lnTo>
                <a:lnTo>
                  <a:pt x="0" y="5542"/>
                </a:lnTo>
                <a:lnTo>
                  <a:pt x="1160" y="7371"/>
                </a:lnTo>
                <a:lnTo>
                  <a:pt x="15887" y="11873"/>
                </a:lnTo>
                <a:lnTo>
                  <a:pt x="18544" y="10459"/>
                </a:lnTo>
                <a:lnTo>
                  <a:pt x="20048" y="5542"/>
                </a:lnTo>
                <a:lnTo>
                  <a:pt x="18666" y="2783"/>
                </a:lnTo>
                <a:lnTo>
                  <a:pt x="16156" y="2015"/>
                </a:lnTo>
                <a:lnTo>
                  <a:pt x="16540" y="2015"/>
                </a:lnTo>
                <a:lnTo>
                  <a:pt x="25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9749" y="5852627"/>
            <a:ext cx="2142872" cy="42070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941869" y="5829737"/>
            <a:ext cx="2558525" cy="37970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64828" y="5810470"/>
            <a:ext cx="600113" cy="311095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6300496" y="6061217"/>
            <a:ext cx="21590" cy="59690"/>
          </a:xfrm>
          <a:custGeom>
            <a:avLst/>
            <a:gdLst/>
            <a:ahLst/>
            <a:cxnLst/>
            <a:rect l="l" t="t" r="r" b="b"/>
            <a:pathLst>
              <a:path w="21589" h="59689">
                <a:moveTo>
                  <a:pt x="2927" y="22390"/>
                </a:moveTo>
                <a:lnTo>
                  <a:pt x="1800" y="27357"/>
                </a:lnTo>
                <a:lnTo>
                  <a:pt x="548" y="36486"/>
                </a:lnTo>
                <a:lnTo>
                  <a:pt x="0" y="45690"/>
                </a:lnTo>
                <a:lnTo>
                  <a:pt x="77" y="54902"/>
                </a:lnTo>
                <a:lnTo>
                  <a:pt x="184" y="57574"/>
                </a:lnTo>
                <a:lnTo>
                  <a:pt x="2435" y="59655"/>
                </a:lnTo>
                <a:lnTo>
                  <a:pt x="6999" y="59655"/>
                </a:lnTo>
                <a:lnTo>
                  <a:pt x="16348" y="28282"/>
                </a:lnTo>
                <a:lnTo>
                  <a:pt x="12545" y="28282"/>
                </a:lnTo>
                <a:lnTo>
                  <a:pt x="5081" y="26101"/>
                </a:lnTo>
                <a:lnTo>
                  <a:pt x="3310" y="23088"/>
                </a:lnTo>
                <a:lnTo>
                  <a:pt x="2927" y="22390"/>
                </a:lnTo>
                <a:close/>
              </a:path>
              <a:path w="21589" h="59689">
                <a:moveTo>
                  <a:pt x="9001" y="12579"/>
                </a:moveTo>
                <a:lnTo>
                  <a:pt x="8362" y="12579"/>
                </a:lnTo>
                <a:lnTo>
                  <a:pt x="5893" y="14081"/>
                </a:lnTo>
                <a:lnTo>
                  <a:pt x="4905" y="14718"/>
                </a:lnTo>
                <a:lnTo>
                  <a:pt x="3837" y="18373"/>
                </a:lnTo>
                <a:lnTo>
                  <a:pt x="3044" y="21874"/>
                </a:lnTo>
                <a:lnTo>
                  <a:pt x="2927" y="22390"/>
                </a:lnTo>
                <a:lnTo>
                  <a:pt x="3310" y="23088"/>
                </a:lnTo>
                <a:lnTo>
                  <a:pt x="5081" y="26101"/>
                </a:lnTo>
                <a:lnTo>
                  <a:pt x="12545" y="28282"/>
                </a:lnTo>
                <a:lnTo>
                  <a:pt x="16530" y="26101"/>
                </a:lnTo>
                <a:lnTo>
                  <a:pt x="17410" y="23088"/>
                </a:lnTo>
                <a:lnTo>
                  <a:pt x="12371" y="23088"/>
                </a:lnTo>
                <a:lnTo>
                  <a:pt x="9729" y="20841"/>
                </a:lnTo>
                <a:lnTo>
                  <a:pt x="9222" y="14718"/>
                </a:lnTo>
                <a:lnTo>
                  <a:pt x="9126" y="13562"/>
                </a:lnTo>
                <a:lnTo>
                  <a:pt x="9001" y="12579"/>
                </a:lnTo>
                <a:close/>
              </a:path>
              <a:path w="21589" h="59689">
                <a:moveTo>
                  <a:pt x="17485" y="23088"/>
                </a:moveTo>
                <a:lnTo>
                  <a:pt x="16530" y="26101"/>
                </a:lnTo>
                <a:lnTo>
                  <a:pt x="12545" y="28282"/>
                </a:lnTo>
                <a:lnTo>
                  <a:pt x="16348" y="28282"/>
                </a:lnTo>
                <a:lnTo>
                  <a:pt x="17485" y="23088"/>
                </a:lnTo>
                <a:close/>
              </a:path>
              <a:path w="21589" h="59689">
                <a:moveTo>
                  <a:pt x="9001" y="12579"/>
                </a:moveTo>
                <a:lnTo>
                  <a:pt x="9126" y="13562"/>
                </a:lnTo>
                <a:lnTo>
                  <a:pt x="9695" y="20436"/>
                </a:lnTo>
                <a:lnTo>
                  <a:pt x="9729" y="20841"/>
                </a:lnTo>
                <a:lnTo>
                  <a:pt x="12371" y="23088"/>
                </a:lnTo>
                <a:lnTo>
                  <a:pt x="17532" y="22670"/>
                </a:lnTo>
                <a:lnTo>
                  <a:pt x="17614" y="22390"/>
                </a:lnTo>
                <a:lnTo>
                  <a:pt x="17706" y="22075"/>
                </a:lnTo>
                <a:lnTo>
                  <a:pt x="17970" y="20841"/>
                </a:lnTo>
                <a:lnTo>
                  <a:pt x="18439" y="18373"/>
                </a:lnTo>
                <a:lnTo>
                  <a:pt x="18534" y="17887"/>
                </a:lnTo>
                <a:lnTo>
                  <a:pt x="16113" y="14081"/>
                </a:lnTo>
                <a:lnTo>
                  <a:pt x="9001" y="12579"/>
                </a:lnTo>
                <a:close/>
              </a:path>
              <a:path w="21589" h="59689">
                <a:moveTo>
                  <a:pt x="17532" y="22670"/>
                </a:moveTo>
                <a:lnTo>
                  <a:pt x="12371" y="23088"/>
                </a:lnTo>
                <a:lnTo>
                  <a:pt x="17410" y="23088"/>
                </a:lnTo>
                <a:lnTo>
                  <a:pt x="17532" y="22670"/>
                </a:lnTo>
                <a:close/>
              </a:path>
              <a:path w="21589" h="59689">
                <a:moveTo>
                  <a:pt x="20865" y="5967"/>
                </a:moveTo>
                <a:lnTo>
                  <a:pt x="19380" y="13562"/>
                </a:lnTo>
                <a:lnTo>
                  <a:pt x="18594" y="17887"/>
                </a:lnTo>
                <a:lnTo>
                  <a:pt x="18055" y="20436"/>
                </a:lnTo>
                <a:lnTo>
                  <a:pt x="17956" y="20841"/>
                </a:lnTo>
                <a:lnTo>
                  <a:pt x="17754" y="21874"/>
                </a:lnTo>
                <a:lnTo>
                  <a:pt x="17638" y="22390"/>
                </a:lnTo>
                <a:lnTo>
                  <a:pt x="17577" y="22670"/>
                </a:lnTo>
                <a:lnTo>
                  <a:pt x="18059" y="22670"/>
                </a:lnTo>
                <a:lnTo>
                  <a:pt x="20247" y="20436"/>
                </a:lnTo>
                <a:lnTo>
                  <a:pt x="20591" y="14718"/>
                </a:lnTo>
                <a:lnTo>
                  <a:pt x="20661" y="13562"/>
                </a:lnTo>
                <a:lnTo>
                  <a:pt x="20766" y="11442"/>
                </a:lnTo>
                <a:lnTo>
                  <a:pt x="20865" y="5967"/>
                </a:lnTo>
                <a:close/>
              </a:path>
              <a:path w="21589" h="59689">
                <a:moveTo>
                  <a:pt x="3837" y="18373"/>
                </a:moveTo>
                <a:lnTo>
                  <a:pt x="2813" y="21874"/>
                </a:lnTo>
                <a:lnTo>
                  <a:pt x="2754" y="22075"/>
                </a:lnTo>
                <a:lnTo>
                  <a:pt x="2927" y="22390"/>
                </a:lnTo>
                <a:lnTo>
                  <a:pt x="3837" y="18373"/>
                </a:lnTo>
                <a:close/>
              </a:path>
              <a:path w="21589" h="59689">
                <a:moveTo>
                  <a:pt x="12154" y="372"/>
                </a:moveTo>
                <a:lnTo>
                  <a:pt x="11527" y="372"/>
                </a:lnTo>
                <a:lnTo>
                  <a:pt x="9382" y="1677"/>
                </a:lnTo>
                <a:lnTo>
                  <a:pt x="8308" y="3072"/>
                </a:lnTo>
                <a:lnTo>
                  <a:pt x="7023" y="7574"/>
                </a:lnTo>
                <a:lnTo>
                  <a:pt x="7397" y="9344"/>
                </a:lnTo>
                <a:lnTo>
                  <a:pt x="7491" y="9789"/>
                </a:lnTo>
                <a:lnTo>
                  <a:pt x="8857" y="11442"/>
                </a:lnTo>
                <a:lnTo>
                  <a:pt x="8945" y="12136"/>
                </a:lnTo>
                <a:lnTo>
                  <a:pt x="9001" y="12579"/>
                </a:lnTo>
                <a:lnTo>
                  <a:pt x="16113" y="14081"/>
                </a:lnTo>
                <a:lnTo>
                  <a:pt x="18594" y="17887"/>
                </a:lnTo>
                <a:lnTo>
                  <a:pt x="19154" y="14718"/>
                </a:lnTo>
                <a:lnTo>
                  <a:pt x="20865" y="5967"/>
                </a:lnTo>
                <a:lnTo>
                  <a:pt x="20880" y="4705"/>
                </a:lnTo>
                <a:lnTo>
                  <a:pt x="19185" y="2185"/>
                </a:lnTo>
                <a:lnTo>
                  <a:pt x="18388" y="1522"/>
                </a:lnTo>
                <a:lnTo>
                  <a:pt x="18740" y="1522"/>
                </a:lnTo>
                <a:lnTo>
                  <a:pt x="15272" y="844"/>
                </a:lnTo>
                <a:lnTo>
                  <a:pt x="10525" y="844"/>
                </a:lnTo>
                <a:lnTo>
                  <a:pt x="12154" y="372"/>
                </a:lnTo>
                <a:close/>
              </a:path>
              <a:path w="21589" h="59689">
                <a:moveTo>
                  <a:pt x="7023" y="7574"/>
                </a:moveTo>
                <a:lnTo>
                  <a:pt x="6475" y="9344"/>
                </a:lnTo>
                <a:lnTo>
                  <a:pt x="4905" y="14718"/>
                </a:lnTo>
                <a:lnTo>
                  <a:pt x="5893" y="14081"/>
                </a:lnTo>
                <a:lnTo>
                  <a:pt x="8362" y="12579"/>
                </a:lnTo>
                <a:lnTo>
                  <a:pt x="9001" y="12579"/>
                </a:lnTo>
                <a:lnTo>
                  <a:pt x="8945" y="12136"/>
                </a:lnTo>
                <a:lnTo>
                  <a:pt x="8857" y="11442"/>
                </a:lnTo>
                <a:lnTo>
                  <a:pt x="7491" y="9789"/>
                </a:lnTo>
                <a:lnTo>
                  <a:pt x="7023" y="7574"/>
                </a:lnTo>
                <a:close/>
              </a:path>
              <a:path w="21589" h="59689">
                <a:moveTo>
                  <a:pt x="20880" y="4705"/>
                </a:moveTo>
                <a:lnTo>
                  <a:pt x="20865" y="5967"/>
                </a:lnTo>
                <a:lnTo>
                  <a:pt x="21060" y="4972"/>
                </a:lnTo>
                <a:lnTo>
                  <a:pt x="20880" y="4705"/>
                </a:lnTo>
                <a:close/>
              </a:path>
              <a:path w="21589" h="59689">
                <a:moveTo>
                  <a:pt x="19185" y="2185"/>
                </a:moveTo>
                <a:lnTo>
                  <a:pt x="20880" y="4705"/>
                </a:lnTo>
                <a:lnTo>
                  <a:pt x="20894" y="3604"/>
                </a:lnTo>
                <a:lnTo>
                  <a:pt x="19185" y="2185"/>
                </a:lnTo>
                <a:close/>
              </a:path>
              <a:path w="21589" h="59689">
                <a:moveTo>
                  <a:pt x="9382" y="1677"/>
                </a:moveTo>
                <a:lnTo>
                  <a:pt x="8568" y="2185"/>
                </a:lnTo>
                <a:lnTo>
                  <a:pt x="8308" y="3072"/>
                </a:lnTo>
                <a:lnTo>
                  <a:pt x="9382" y="1677"/>
                </a:lnTo>
                <a:close/>
              </a:path>
              <a:path w="21589" h="59689">
                <a:moveTo>
                  <a:pt x="18740" y="1522"/>
                </a:moveTo>
                <a:lnTo>
                  <a:pt x="18388" y="1522"/>
                </a:lnTo>
                <a:lnTo>
                  <a:pt x="19185" y="2185"/>
                </a:lnTo>
                <a:lnTo>
                  <a:pt x="18844" y="1677"/>
                </a:lnTo>
                <a:lnTo>
                  <a:pt x="18740" y="1522"/>
                </a:lnTo>
                <a:close/>
              </a:path>
              <a:path w="21589" h="59689">
                <a:moveTo>
                  <a:pt x="14720" y="0"/>
                </a:moveTo>
                <a:lnTo>
                  <a:pt x="13437" y="0"/>
                </a:lnTo>
                <a:lnTo>
                  <a:pt x="9899" y="1026"/>
                </a:lnTo>
                <a:lnTo>
                  <a:pt x="9505" y="1522"/>
                </a:lnTo>
                <a:lnTo>
                  <a:pt x="9382" y="1677"/>
                </a:lnTo>
                <a:lnTo>
                  <a:pt x="10750" y="844"/>
                </a:lnTo>
                <a:lnTo>
                  <a:pt x="15272" y="844"/>
                </a:lnTo>
                <a:lnTo>
                  <a:pt x="12856" y="372"/>
                </a:lnTo>
                <a:lnTo>
                  <a:pt x="16576" y="372"/>
                </a:lnTo>
                <a:lnTo>
                  <a:pt x="14720" y="0"/>
                </a:lnTo>
                <a:close/>
              </a:path>
              <a:path w="21589" h="59689">
                <a:moveTo>
                  <a:pt x="12138" y="0"/>
                </a:moveTo>
                <a:lnTo>
                  <a:pt x="10954" y="0"/>
                </a:lnTo>
                <a:lnTo>
                  <a:pt x="18740" y="1522"/>
                </a:lnTo>
                <a:lnTo>
                  <a:pt x="18388" y="1522"/>
                </a:lnTo>
                <a:lnTo>
                  <a:pt x="17571" y="844"/>
                </a:lnTo>
                <a:lnTo>
                  <a:pt x="16576" y="372"/>
                </a:lnTo>
                <a:lnTo>
                  <a:pt x="11527" y="372"/>
                </a:lnTo>
                <a:lnTo>
                  <a:pt x="121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406062" y="5779572"/>
            <a:ext cx="1920021" cy="38538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41172" y="6341053"/>
            <a:ext cx="1846258" cy="470757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2746063" y="6713322"/>
            <a:ext cx="47625" cy="72390"/>
          </a:xfrm>
          <a:custGeom>
            <a:avLst/>
            <a:gdLst/>
            <a:ahLst/>
            <a:cxnLst/>
            <a:rect l="l" t="t" r="r" b="b"/>
            <a:pathLst>
              <a:path w="47625" h="72390">
                <a:moveTo>
                  <a:pt x="42240" y="0"/>
                </a:moveTo>
                <a:lnTo>
                  <a:pt x="39834" y="641"/>
                </a:lnTo>
                <a:lnTo>
                  <a:pt x="0" y="63448"/>
                </a:lnTo>
                <a:lnTo>
                  <a:pt x="836" y="67183"/>
                </a:lnTo>
                <a:lnTo>
                  <a:pt x="873" y="67350"/>
                </a:lnTo>
                <a:lnTo>
                  <a:pt x="966" y="67764"/>
                </a:lnTo>
                <a:lnTo>
                  <a:pt x="7481" y="71895"/>
                </a:lnTo>
                <a:lnTo>
                  <a:pt x="11797" y="70930"/>
                </a:lnTo>
                <a:lnTo>
                  <a:pt x="13963" y="67513"/>
                </a:lnTo>
                <a:lnTo>
                  <a:pt x="47039" y="4659"/>
                </a:lnTo>
                <a:lnTo>
                  <a:pt x="46247" y="2108"/>
                </a:lnTo>
                <a:lnTo>
                  <a:pt x="422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882916" y="6351959"/>
            <a:ext cx="1473857" cy="42642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425838" y="6410979"/>
            <a:ext cx="788331" cy="31722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318182" y="6388656"/>
            <a:ext cx="623222" cy="34777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21945" marR="125095" indent="-271780">
              <a:lnSpc>
                <a:spcPct val="101099"/>
              </a:lnSpc>
              <a:spcBef>
                <a:spcPts val="75"/>
              </a:spcBef>
              <a:buFont typeface="Arial MT"/>
              <a:buChar char="•"/>
              <a:tabLst>
                <a:tab pos="321945" algn="l"/>
              </a:tabLst>
            </a:pPr>
            <a:r>
              <a:rPr dirty="0"/>
              <a:t>In</a:t>
            </a:r>
            <a:r>
              <a:rPr spc="-55" dirty="0"/>
              <a:t> </a:t>
            </a:r>
            <a:r>
              <a:rPr dirty="0"/>
              <a:t>this</a:t>
            </a:r>
            <a:r>
              <a:rPr spc="-50" dirty="0"/>
              <a:t> </a:t>
            </a:r>
            <a:r>
              <a:rPr dirty="0"/>
              <a:t>lecture,</a:t>
            </a:r>
            <a:r>
              <a:rPr spc="-50" dirty="0"/>
              <a:t> </a:t>
            </a:r>
            <a:r>
              <a:rPr dirty="0"/>
              <a:t>we</a:t>
            </a:r>
            <a:r>
              <a:rPr spc="-45" dirty="0"/>
              <a:t> </a:t>
            </a:r>
            <a:r>
              <a:rPr dirty="0"/>
              <a:t>looked</a:t>
            </a:r>
            <a:r>
              <a:rPr spc="-50" dirty="0"/>
              <a:t> </a:t>
            </a:r>
            <a:r>
              <a:rPr dirty="0"/>
              <a:t>at</a:t>
            </a:r>
            <a:r>
              <a:rPr spc="-55" dirty="0"/>
              <a:t> </a:t>
            </a:r>
            <a:r>
              <a:rPr dirty="0"/>
              <a:t>linear</a:t>
            </a:r>
            <a:r>
              <a:rPr spc="-50" dirty="0"/>
              <a:t> </a:t>
            </a:r>
            <a:r>
              <a:rPr dirty="0"/>
              <a:t>regression,</a:t>
            </a:r>
            <a:r>
              <a:rPr spc="-50" dirty="0"/>
              <a:t> </a:t>
            </a:r>
            <a:r>
              <a:rPr dirty="0"/>
              <a:t>which</a:t>
            </a:r>
            <a:r>
              <a:rPr spc="-50" dirty="0"/>
              <a:t> </a:t>
            </a:r>
            <a:r>
              <a:rPr dirty="0"/>
              <a:t>exemplifies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modular</a:t>
            </a:r>
            <a:r>
              <a:rPr spc="-50" dirty="0"/>
              <a:t> </a:t>
            </a:r>
            <a:r>
              <a:rPr spc="-10" dirty="0"/>
              <a:t>approach </a:t>
            </a:r>
            <a:r>
              <a:rPr dirty="0"/>
              <a:t>that</a:t>
            </a:r>
            <a:r>
              <a:rPr spc="-55" dirty="0"/>
              <a:t> </a:t>
            </a:r>
            <a:r>
              <a:rPr dirty="0"/>
              <a:t>will</a:t>
            </a:r>
            <a:r>
              <a:rPr spc="-45" dirty="0"/>
              <a:t> </a:t>
            </a:r>
            <a:r>
              <a:rPr dirty="0"/>
              <a:t>be</a:t>
            </a:r>
            <a:r>
              <a:rPr spc="-45" dirty="0"/>
              <a:t> </a:t>
            </a:r>
            <a:r>
              <a:rPr dirty="0"/>
              <a:t>used</a:t>
            </a:r>
            <a:r>
              <a:rPr spc="-45" dirty="0"/>
              <a:t> </a:t>
            </a:r>
            <a:r>
              <a:rPr dirty="0"/>
              <a:t>throughout</a:t>
            </a:r>
            <a:r>
              <a:rPr spc="-50" dirty="0"/>
              <a:t> </a:t>
            </a:r>
            <a:r>
              <a:rPr dirty="0"/>
              <a:t>this</a:t>
            </a:r>
            <a:r>
              <a:rPr spc="-50" dirty="0"/>
              <a:t> </a:t>
            </a:r>
            <a:r>
              <a:rPr spc="-10" dirty="0"/>
              <a:t>course:</a:t>
            </a:r>
          </a:p>
          <a:p>
            <a:pPr marL="612140" lvl="1" indent="-270510">
              <a:lnSpc>
                <a:spcPct val="100000"/>
              </a:lnSpc>
              <a:spcBef>
                <a:spcPts val="1415"/>
              </a:spcBef>
              <a:buFont typeface="Wingdings"/>
              <a:buChar char=""/>
              <a:tabLst>
                <a:tab pos="612140" algn="l"/>
              </a:tabLst>
            </a:pPr>
            <a:r>
              <a:rPr sz="1900" dirty="0">
                <a:latin typeface="Calibri"/>
                <a:cs typeface="Calibri"/>
              </a:rPr>
              <a:t>Choose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describing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relationships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between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variables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interest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</a:t>
            </a:r>
            <a:r>
              <a:rPr sz="1900" b="1" spc="-10" dirty="0">
                <a:latin typeface="Calibri"/>
                <a:cs typeface="Calibri"/>
              </a:rPr>
              <a:t>linear</a:t>
            </a:r>
            <a:r>
              <a:rPr sz="1900" spc="-10" dirty="0">
                <a:latin typeface="Calibri"/>
                <a:cs typeface="Calibri"/>
              </a:rPr>
              <a:t>)</a:t>
            </a:r>
            <a:endParaRPr sz="1900">
              <a:latin typeface="Calibri"/>
              <a:cs typeface="Calibri"/>
            </a:endParaRPr>
          </a:p>
          <a:p>
            <a:pPr marL="612140" lvl="1" indent="-270510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612140" algn="l"/>
              </a:tabLst>
            </a:pPr>
            <a:r>
              <a:rPr sz="1900" dirty="0">
                <a:latin typeface="Calibri"/>
                <a:cs typeface="Calibri"/>
              </a:rPr>
              <a:t>Define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19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19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quantifying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how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bad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</a:t>
            </a:r>
            <a:r>
              <a:rPr sz="1900" b="1" dirty="0">
                <a:latin typeface="Calibri"/>
                <a:cs typeface="Calibri"/>
              </a:rPr>
              <a:t>squared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error</a:t>
            </a:r>
            <a:r>
              <a:rPr sz="1900" spc="-10" dirty="0">
                <a:latin typeface="Calibri"/>
                <a:cs typeface="Calibri"/>
              </a:rPr>
              <a:t>)</a:t>
            </a:r>
            <a:endParaRPr sz="1900">
              <a:latin typeface="Calibri"/>
              <a:cs typeface="Calibri"/>
            </a:endParaRPr>
          </a:p>
          <a:p>
            <a:pPr marL="612140" lvl="1" indent="-270510">
              <a:lnSpc>
                <a:spcPts val="2245"/>
              </a:lnSpc>
              <a:spcBef>
                <a:spcPts val="25"/>
              </a:spcBef>
              <a:buFont typeface="Wingdings"/>
              <a:buChar char=""/>
              <a:tabLst>
                <a:tab pos="612140" algn="l"/>
              </a:tabLst>
            </a:pPr>
            <a:r>
              <a:rPr sz="1900" dirty="0">
                <a:latin typeface="Calibri"/>
                <a:cs typeface="Calibri"/>
              </a:rPr>
              <a:t>Choose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regularizer</a:t>
            </a:r>
            <a:r>
              <a:rPr sz="19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control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complexity/overfitting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</a:t>
            </a:r>
            <a:r>
              <a:rPr sz="1900" dirty="0">
                <a:latin typeface="Cambria Math"/>
                <a:cs typeface="Cambria Math"/>
              </a:rPr>
              <a:t>𝐿</a:t>
            </a:r>
            <a:r>
              <a:rPr sz="2100" baseline="27777" dirty="0">
                <a:latin typeface="Cambria Math"/>
                <a:cs typeface="Cambria Math"/>
              </a:rPr>
              <a:t>2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mbria Math"/>
                <a:cs typeface="Cambria Math"/>
              </a:rPr>
              <a:t>𝐿</a:t>
            </a:r>
            <a:r>
              <a:rPr sz="2100" spc="-37" baseline="27777" dirty="0">
                <a:latin typeface="Cambria Math"/>
                <a:cs typeface="Cambria Math"/>
              </a:rPr>
              <a:t>𝑝</a:t>
            </a:r>
            <a:endParaRPr sz="2100" baseline="27777">
              <a:latin typeface="Cambria Math"/>
              <a:cs typeface="Cambria Math"/>
            </a:endParaRPr>
          </a:p>
          <a:p>
            <a:pPr marL="613410">
              <a:lnSpc>
                <a:spcPts val="2245"/>
              </a:lnSpc>
            </a:pPr>
            <a:r>
              <a:rPr b="1" spc="-10" dirty="0">
                <a:latin typeface="Calibri"/>
                <a:cs typeface="Calibri"/>
              </a:rPr>
              <a:t>regularization</a:t>
            </a:r>
            <a:r>
              <a:rPr spc="-10" dirty="0"/>
              <a:t>)</a:t>
            </a:r>
          </a:p>
          <a:p>
            <a:pPr marL="612140" lvl="1" indent="-270510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612140" algn="l"/>
              </a:tabLst>
            </a:pPr>
            <a:r>
              <a:rPr sz="1900" spc="-10" dirty="0">
                <a:latin typeface="Calibri"/>
                <a:cs typeface="Calibri"/>
              </a:rPr>
              <a:t>Fit/Optimize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</a:t>
            </a:r>
            <a:r>
              <a:rPr sz="1900" b="1" dirty="0">
                <a:latin typeface="Calibri"/>
                <a:cs typeface="Calibri"/>
              </a:rPr>
              <a:t>gradient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descent,</a:t>
            </a:r>
            <a:r>
              <a:rPr sz="1900" b="1" spc="-5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stochastic</a:t>
            </a:r>
            <a:r>
              <a:rPr sz="1900" b="1" spc="-6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gradient</a:t>
            </a:r>
            <a:r>
              <a:rPr sz="1900" b="1" spc="-5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descent,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convexity</a:t>
            </a:r>
            <a:r>
              <a:rPr sz="1900" spc="-10" dirty="0">
                <a:latin typeface="Calibri"/>
                <a:cs typeface="Calibri"/>
              </a:rPr>
              <a:t>)</a:t>
            </a:r>
            <a:endParaRPr sz="19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Wingdings"/>
              <a:buChar char=""/>
            </a:pPr>
            <a:endParaRPr sz="19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785"/>
              </a:spcBef>
              <a:buFont typeface="Wingdings"/>
              <a:buChar char=""/>
            </a:pPr>
            <a:endParaRPr sz="1900">
              <a:latin typeface="Calibri"/>
              <a:cs typeface="Calibri"/>
            </a:endParaRPr>
          </a:p>
          <a:p>
            <a:pPr marL="321945" indent="-271145">
              <a:lnSpc>
                <a:spcPct val="100000"/>
              </a:lnSpc>
              <a:buFont typeface="Arial MT"/>
              <a:buChar char="•"/>
              <a:tabLst>
                <a:tab pos="321945" algn="l"/>
              </a:tabLst>
            </a:pPr>
            <a:r>
              <a:rPr dirty="0"/>
              <a:t>By</a:t>
            </a:r>
            <a:r>
              <a:rPr spc="-50" dirty="0"/>
              <a:t> </a:t>
            </a:r>
            <a:r>
              <a:rPr dirty="0"/>
              <a:t>mixing</a:t>
            </a:r>
            <a:r>
              <a:rPr spc="-5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matching</a:t>
            </a:r>
            <a:r>
              <a:rPr spc="-55" dirty="0"/>
              <a:t> </a:t>
            </a:r>
            <a:r>
              <a:rPr dirty="0"/>
              <a:t>these</a:t>
            </a:r>
            <a:r>
              <a:rPr spc="-40" dirty="0"/>
              <a:t> </a:t>
            </a:r>
            <a:r>
              <a:rPr dirty="0"/>
              <a:t>modular</a:t>
            </a:r>
            <a:r>
              <a:rPr spc="-50" dirty="0"/>
              <a:t> </a:t>
            </a:r>
            <a:r>
              <a:rPr dirty="0"/>
              <a:t>components,</a:t>
            </a:r>
            <a:r>
              <a:rPr spc="-50" dirty="0"/>
              <a:t> </a:t>
            </a:r>
            <a:r>
              <a:rPr dirty="0"/>
              <a:t>we</a:t>
            </a:r>
            <a:r>
              <a:rPr spc="-45" dirty="0"/>
              <a:t> </a:t>
            </a:r>
            <a:r>
              <a:rPr dirty="0"/>
              <a:t>can</a:t>
            </a:r>
            <a:r>
              <a:rPr spc="-50" dirty="0"/>
              <a:t> </a:t>
            </a:r>
            <a:r>
              <a:rPr dirty="0"/>
              <a:t>obtain</a:t>
            </a:r>
            <a:r>
              <a:rPr spc="-50" dirty="0"/>
              <a:t> </a:t>
            </a:r>
            <a:r>
              <a:rPr dirty="0"/>
              <a:t>new</a:t>
            </a:r>
            <a:r>
              <a:rPr spc="-50" dirty="0"/>
              <a:t> </a:t>
            </a:r>
            <a:r>
              <a:rPr dirty="0"/>
              <a:t>ML</a:t>
            </a:r>
            <a:r>
              <a:rPr spc="-50" dirty="0"/>
              <a:t> </a:t>
            </a:r>
            <a:r>
              <a:rPr spc="-10" dirty="0"/>
              <a:t>methods.</a:t>
            </a:r>
          </a:p>
          <a:p>
            <a:pPr marL="3219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21945" algn="l"/>
              </a:tabLst>
            </a:pPr>
            <a:r>
              <a:rPr dirty="0"/>
              <a:t>Next</a:t>
            </a:r>
            <a:r>
              <a:rPr spc="-50" dirty="0"/>
              <a:t> </a:t>
            </a:r>
            <a:r>
              <a:rPr dirty="0"/>
              <a:t>lecture:</a:t>
            </a:r>
            <a:r>
              <a:rPr spc="-50" dirty="0"/>
              <a:t> </a:t>
            </a:r>
            <a:r>
              <a:rPr dirty="0"/>
              <a:t>apply</a:t>
            </a:r>
            <a:r>
              <a:rPr spc="-45" dirty="0"/>
              <a:t> </a:t>
            </a:r>
            <a:r>
              <a:rPr dirty="0"/>
              <a:t>this</a:t>
            </a:r>
            <a:r>
              <a:rPr spc="-45" dirty="0"/>
              <a:t> </a:t>
            </a:r>
            <a:r>
              <a:rPr dirty="0"/>
              <a:t>framework</a:t>
            </a:r>
            <a:r>
              <a:rPr spc="-5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10" dirty="0"/>
              <a:t>classification.</a:t>
            </a:r>
          </a:p>
        </p:txBody>
      </p:sp>
      <p:sp>
        <p:nvSpPr>
          <p:cNvPr id="4" name="object 4"/>
          <p:cNvSpPr/>
          <p:nvPr/>
        </p:nvSpPr>
        <p:spPr>
          <a:xfrm>
            <a:off x="258801" y="475325"/>
            <a:ext cx="35560" cy="182245"/>
          </a:xfrm>
          <a:custGeom>
            <a:avLst/>
            <a:gdLst/>
            <a:ahLst/>
            <a:cxnLst/>
            <a:rect l="l" t="t" r="r" b="b"/>
            <a:pathLst>
              <a:path w="35560" h="182245">
                <a:moveTo>
                  <a:pt x="3059" y="160343"/>
                </a:moveTo>
                <a:lnTo>
                  <a:pt x="32428" y="181908"/>
                </a:lnTo>
                <a:lnTo>
                  <a:pt x="34768" y="180154"/>
                </a:lnTo>
                <a:lnTo>
                  <a:pt x="35410" y="175684"/>
                </a:lnTo>
                <a:lnTo>
                  <a:pt x="34427" y="173775"/>
                </a:lnTo>
                <a:lnTo>
                  <a:pt x="28702" y="170811"/>
                </a:lnTo>
                <a:lnTo>
                  <a:pt x="25020" y="168066"/>
                </a:lnTo>
                <a:lnTo>
                  <a:pt x="21357" y="163045"/>
                </a:lnTo>
                <a:lnTo>
                  <a:pt x="7321" y="163045"/>
                </a:lnTo>
                <a:lnTo>
                  <a:pt x="3059" y="160343"/>
                </a:lnTo>
                <a:close/>
              </a:path>
              <a:path w="35560" h="182245">
                <a:moveTo>
                  <a:pt x="12810" y="145689"/>
                </a:moveTo>
                <a:lnTo>
                  <a:pt x="4143" y="147231"/>
                </a:lnTo>
                <a:lnTo>
                  <a:pt x="1256" y="151368"/>
                </a:lnTo>
                <a:lnTo>
                  <a:pt x="2018" y="155701"/>
                </a:lnTo>
                <a:lnTo>
                  <a:pt x="3059" y="160343"/>
                </a:lnTo>
                <a:lnTo>
                  <a:pt x="7321" y="163045"/>
                </a:lnTo>
                <a:lnTo>
                  <a:pt x="15751" y="161155"/>
                </a:lnTo>
                <a:lnTo>
                  <a:pt x="18438" y="157211"/>
                </a:lnTo>
                <a:lnTo>
                  <a:pt x="16948" y="148577"/>
                </a:lnTo>
                <a:lnTo>
                  <a:pt x="12810" y="145689"/>
                </a:lnTo>
                <a:close/>
              </a:path>
              <a:path w="35560" h="182245">
                <a:moveTo>
                  <a:pt x="18484" y="157211"/>
                </a:moveTo>
                <a:lnTo>
                  <a:pt x="15839" y="161027"/>
                </a:lnTo>
                <a:lnTo>
                  <a:pt x="15751" y="161155"/>
                </a:lnTo>
                <a:lnTo>
                  <a:pt x="7321" y="163045"/>
                </a:lnTo>
                <a:lnTo>
                  <a:pt x="21357" y="163045"/>
                </a:lnTo>
                <a:lnTo>
                  <a:pt x="19978" y="161155"/>
                </a:lnTo>
                <a:lnTo>
                  <a:pt x="19884" y="161027"/>
                </a:lnTo>
                <a:lnTo>
                  <a:pt x="18484" y="157211"/>
                </a:lnTo>
                <a:close/>
              </a:path>
              <a:path w="35560" h="182245">
                <a:moveTo>
                  <a:pt x="1256" y="151368"/>
                </a:moveTo>
                <a:lnTo>
                  <a:pt x="1373" y="152822"/>
                </a:lnTo>
                <a:lnTo>
                  <a:pt x="2018" y="155701"/>
                </a:lnTo>
                <a:lnTo>
                  <a:pt x="1256" y="151368"/>
                </a:lnTo>
                <a:close/>
              </a:path>
              <a:path w="35560" h="182245">
                <a:moveTo>
                  <a:pt x="211" y="81921"/>
                </a:moveTo>
                <a:lnTo>
                  <a:pt x="87" y="90789"/>
                </a:lnTo>
                <a:lnTo>
                  <a:pt x="0" y="116606"/>
                </a:lnTo>
                <a:lnTo>
                  <a:pt x="173" y="129030"/>
                </a:lnTo>
                <a:lnTo>
                  <a:pt x="299" y="135077"/>
                </a:lnTo>
                <a:lnTo>
                  <a:pt x="421" y="139062"/>
                </a:lnTo>
                <a:lnTo>
                  <a:pt x="470" y="140643"/>
                </a:lnTo>
                <a:lnTo>
                  <a:pt x="834" y="145689"/>
                </a:lnTo>
                <a:lnTo>
                  <a:pt x="931" y="147038"/>
                </a:lnTo>
                <a:lnTo>
                  <a:pt x="1042" y="148577"/>
                </a:lnTo>
                <a:lnTo>
                  <a:pt x="1152" y="150043"/>
                </a:lnTo>
                <a:lnTo>
                  <a:pt x="1257" y="151368"/>
                </a:lnTo>
                <a:lnTo>
                  <a:pt x="4143" y="147231"/>
                </a:lnTo>
                <a:lnTo>
                  <a:pt x="12810" y="145689"/>
                </a:lnTo>
                <a:lnTo>
                  <a:pt x="16962" y="145689"/>
                </a:lnTo>
                <a:lnTo>
                  <a:pt x="16618" y="140643"/>
                </a:lnTo>
                <a:lnTo>
                  <a:pt x="16511" y="139062"/>
                </a:lnTo>
                <a:lnTo>
                  <a:pt x="16108" y="129513"/>
                </a:lnTo>
                <a:lnTo>
                  <a:pt x="15663" y="116606"/>
                </a:lnTo>
                <a:lnTo>
                  <a:pt x="15319" y="103460"/>
                </a:lnTo>
                <a:lnTo>
                  <a:pt x="15065" y="90789"/>
                </a:lnTo>
                <a:lnTo>
                  <a:pt x="14975" y="85350"/>
                </a:lnTo>
                <a:lnTo>
                  <a:pt x="3537" y="85350"/>
                </a:lnTo>
                <a:lnTo>
                  <a:pt x="211" y="81921"/>
                </a:lnTo>
                <a:close/>
              </a:path>
              <a:path w="35560" h="182245">
                <a:moveTo>
                  <a:pt x="16962" y="145689"/>
                </a:moveTo>
                <a:lnTo>
                  <a:pt x="12810" y="145689"/>
                </a:lnTo>
                <a:lnTo>
                  <a:pt x="16948" y="148577"/>
                </a:lnTo>
                <a:lnTo>
                  <a:pt x="17109" y="149486"/>
                </a:lnTo>
                <a:lnTo>
                  <a:pt x="17054" y="147038"/>
                </a:lnTo>
                <a:lnTo>
                  <a:pt x="16962" y="145689"/>
                </a:lnTo>
                <a:close/>
              </a:path>
              <a:path w="35560" h="182245">
                <a:moveTo>
                  <a:pt x="11600" y="70759"/>
                </a:moveTo>
                <a:lnTo>
                  <a:pt x="3504" y="70759"/>
                </a:lnTo>
                <a:lnTo>
                  <a:pt x="323" y="73940"/>
                </a:lnTo>
                <a:lnTo>
                  <a:pt x="211" y="81921"/>
                </a:lnTo>
                <a:lnTo>
                  <a:pt x="3537" y="85350"/>
                </a:lnTo>
                <a:lnTo>
                  <a:pt x="11475" y="85350"/>
                </a:lnTo>
                <a:lnTo>
                  <a:pt x="14791" y="82134"/>
                </a:lnTo>
                <a:lnTo>
                  <a:pt x="14792" y="73940"/>
                </a:lnTo>
                <a:lnTo>
                  <a:pt x="11600" y="70759"/>
                </a:lnTo>
                <a:close/>
              </a:path>
              <a:path w="35560" h="182245">
                <a:moveTo>
                  <a:pt x="14919" y="81921"/>
                </a:moveTo>
                <a:lnTo>
                  <a:pt x="14791" y="82134"/>
                </a:lnTo>
                <a:lnTo>
                  <a:pt x="11475" y="85350"/>
                </a:lnTo>
                <a:lnTo>
                  <a:pt x="14975" y="85350"/>
                </a:lnTo>
                <a:lnTo>
                  <a:pt x="14919" y="81921"/>
                </a:lnTo>
                <a:close/>
              </a:path>
              <a:path w="35560" h="182245">
                <a:moveTo>
                  <a:pt x="1452" y="7710"/>
                </a:moveTo>
                <a:lnTo>
                  <a:pt x="1329" y="8333"/>
                </a:lnTo>
                <a:lnTo>
                  <a:pt x="372" y="70759"/>
                </a:lnTo>
                <a:lnTo>
                  <a:pt x="323" y="73940"/>
                </a:lnTo>
                <a:lnTo>
                  <a:pt x="3504" y="70759"/>
                </a:lnTo>
                <a:lnTo>
                  <a:pt x="14743" y="70759"/>
                </a:lnTo>
                <a:lnTo>
                  <a:pt x="14058" y="26031"/>
                </a:lnTo>
                <a:lnTo>
                  <a:pt x="5211" y="26031"/>
                </a:lnTo>
                <a:lnTo>
                  <a:pt x="2796" y="23980"/>
                </a:lnTo>
                <a:lnTo>
                  <a:pt x="2208" y="16793"/>
                </a:lnTo>
                <a:lnTo>
                  <a:pt x="2184" y="16363"/>
                </a:lnTo>
                <a:lnTo>
                  <a:pt x="2069" y="14297"/>
                </a:lnTo>
                <a:lnTo>
                  <a:pt x="1383" y="13551"/>
                </a:lnTo>
                <a:lnTo>
                  <a:pt x="2028" y="13551"/>
                </a:lnTo>
                <a:lnTo>
                  <a:pt x="1941" y="11979"/>
                </a:lnTo>
                <a:lnTo>
                  <a:pt x="1523" y="8333"/>
                </a:lnTo>
                <a:lnTo>
                  <a:pt x="1452" y="7710"/>
                </a:lnTo>
                <a:close/>
              </a:path>
              <a:path w="35560" h="182245">
                <a:moveTo>
                  <a:pt x="14743" y="70759"/>
                </a:moveTo>
                <a:lnTo>
                  <a:pt x="11600" y="70759"/>
                </a:lnTo>
                <a:lnTo>
                  <a:pt x="14880" y="73940"/>
                </a:lnTo>
                <a:lnTo>
                  <a:pt x="14743" y="70759"/>
                </a:lnTo>
                <a:close/>
              </a:path>
              <a:path w="35560" h="182245">
                <a:moveTo>
                  <a:pt x="2107" y="14297"/>
                </a:moveTo>
                <a:lnTo>
                  <a:pt x="2208" y="16793"/>
                </a:lnTo>
                <a:lnTo>
                  <a:pt x="2770" y="23667"/>
                </a:lnTo>
                <a:lnTo>
                  <a:pt x="2796" y="23980"/>
                </a:lnTo>
                <a:lnTo>
                  <a:pt x="5211" y="26031"/>
                </a:lnTo>
                <a:lnTo>
                  <a:pt x="10407" y="25605"/>
                </a:lnTo>
                <a:lnTo>
                  <a:pt x="12345" y="23667"/>
                </a:lnTo>
                <a:lnTo>
                  <a:pt x="12908" y="16793"/>
                </a:lnTo>
                <a:lnTo>
                  <a:pt x="12932" y="16363"/>
                </a:lnTo>
                <a:lnTo>
                  <a:pt x="4111" y="16363"/>
                </a:lnTo>
                <a:lnTo>
                  <a:pt x="2107" y="14297"/>
                </a:lnTo>
                <a:close/>
              </a:path>
              <a:path w="35560" h="182245">
                <a:moveTo>
                  <a:pt x="13867" y="13551"/>
                </a:moveTo>
                <a:lnTo>
                  <a:pt x="13046" y="14297"/>
                </a:lnTo>
                <a:lnTo>
                  <a:pt x="12932" y="16363"/>
                </a:lnTo>
                <a:lnTo>
                  <a:pt x="12345" y="23667"/>
                </a:lnTo>
                <a:lnTo>
                  <a:pt x="10407" y="25605"/>
                </a:lnTo>
                <a:lnTo>
                  <a:pt x="5211" y="26031"/>
                </a:lnTo>
                <a:lnTo>
                  <a:pt x="14058" y="26031"/>
                </a:lnTo>
                <a:lnTo>
                  <a:pt x="14022" y="23667"/>
                </a:lnTo>
                <a:lnTo>
                  <a:pt x="13910" y="16363"/>
                </a:lnTo>
                <a:lnTo>
                  <a:pt x="13867" y="13551"/>
                </a:lnTo>
                <a:close/>
              </a:path>
              <a:path w="35560" h="182245">
                <a:moveTo>
                  <a:pt x="13761" y="6652"/>
                </a:moveTo>
                <a:lnTo>
                  <a:pt x="1521" y="6652"/>
                </a:lnTo>
                <a:lnTo>
                  <a:pt x="1523" y="8333"/>
                </a:lnTo>
                <a:lnTo>
                  <a:pt x="1941" y="11979"/>
                </a:lnTo>
                <a:lnTo>
                  <a:pt x="2028" y="13551"/>
                </a:lnTo>
                <a:lnTo>
                  <a:pt x="2107" y="14297"/>
                </a:lnTo>
                <a:lnTo>
                  <a:pt x="4111" y="16363"/>
                </a:lnTo>
                <a:lnTo>
                  <a:pt x="10916" y="16363"/>
                </a:lnTo>
                <a:lnTo>
                  <a:pt x="13046" y="14297"/>
                </a:lnTo>
                <a:lnTo>
                  <a:pt x="13088" y="13551"/>
                </a:lnTo>
                <a:lnTo>
                  <a:pt x="13175" y="11979"/>
                </a:lnTo>
                <a:lnTo>
                  <a:pt x="13592" y="8333"/>
                </a:lnTo>
                <a:lnTo>
                  <a:pt x="13664" y="7710"/>
                </a:lnTo>
                <a:lnTo>
                  <a:pt x="13761" y="6652"/>
                </a:lnTo>
                <a:close/>
              </a:path>
              <a:path w="35560" h="182245">
                <a:moveTo>
                  <a:pt x="13046" y="14297"/>
                </a:moveTo>
                <a:lnTo>
                  <a:pt x="10916" y="16363"/>
                </a:lnTo>
                <a:lnTo>
                  <a:pt x="12932" y="16363"/>
                </a:lnTo>
                <a:lnTo>
                  <a:pt x="13046" y="14297"/>
                </a:lnTo>
                <a:close/>
              </a:path>
              <a:path w="35560" h="182245">
                <a:moveTo>
                  <a:pt x="2028" y="13551"/>
                </a:moveTo>
                <a:lnTo>
                  <a:pt x="1383" y="13551"/>
                </a:lnTo>
                <a:lnTo>
                  <a:pt x="2107" y="14297"/>
                </a:lnTo>
                <a:lnTo>
                  <a:pt x="2028" y="13551"/>
                </a:lnTo>
                <a:close/>
              </a:path>
              <a:path w="35560" h="182245">
                <a:moveTo>
                  <a:pt x="13777" y="7710"/>
                </a:moveTo>
                <a:lnTo>
                  <a:pt x="13592" y="8333"/>
                </a:lnTo>
                <a:lnTo>
                  <a:pt x="13175" y="11979"/>
                </a:lnTo>
                <a:lnTo>
                  <a:pt x="13088" y="13551"/>
                </a:lnTo>
                <a:lnTo>
                  <a:pt x="13046" y="14297"/>
                </a:lnTo>
                <a:lnTo>
                  <a:pt x="13816" y="13551"/>
                </a:lnTo>
                <a:lnTo>
                  <a:pt x="13777" y="7710"/>
                </a:lnTo>
                <a:close/>
              </a:path>
              <a:path w="35560" h="182245">
                <a:moveTo>
                  <a:pt x="1643" y="4645"/>
                </a:moveTo>
                <a:lnTo>
                  <a:pt x="1161" y="5309"/>
                </a:lnTo>
                <a:lnTo>
                  <a:pt x="1213" y="10024"/>
                </a:lnTo>
                <a:lnTo>
                  <a:pt x="1338" y="7710"/>
                </a:lnTo>
                <a:lnTo>
                  <a:pt x="1355" y="6652"/>
                </a:lnTo>
                <a:lnTo>
                  <a:pt x="1522" y="6652"/>
                </a:lnTo>
                <a:lnTo>
                  <a:pt x="1643" y="4645"/>
                </a:lnTo>
                <a:close/>
              </a:path>
              <a:path w="35560" h="182245">
                <a:moveTo>
                  <a:pt x="5825" y="629"/>
                </a:moveTo>
                <a:lnTo>
                  <a:pt x="3415" y="2379"/>
                </a:lnTo>
                <a:lnTo>
                  <a:pt x="2880" y="2942"/>
                </a:lnTo>
                <a:lnTo>
                  <a:pt x="1643" y="4645"/>
                </a:lnTo>
                <a:lnTo>
                  <a:pt x="1522" y="6652"/>
                </a:lnTo>
                <a:lnTo>
                  <a:pt x="1284" y="6652"/>
                </a:lnTo>
                <a:lnTo>
                  <a:pt x="4083" y="3854"/>
                </a:lnTo>
                <a:lnTo>
                  <a:pt x="12897" y="3854"/>
                </a:lnTo>
                <a:lnTo>
                  <a:pt x="11038" y="1294"/>
                </a:lnTo>
                <a:lnTo>
                  <a:pt x="11629" y="1294"/>
                </a:lnTo>
                <a:lnTo>
                  <a:pt x="5825" y="629"/>
                </a:lnTo>
                <a:close/>
              </a:path>
              <a:path w="35560" h="182245">
                <a:moveTo>
                  <a:pt x="11023" y="3854"/>
                </a:moveTo>
                <a:lnTo>
                  <a:pt x="4083" y="3854"/>
                </a:lnTo>
                <a:lnTo>
                  <a:pt x="1284" y="6652"/>
                </a:lnTo>
                <a:lnTo>
                  <a:pt x="13909" y="6652"/>
                </a:lnTo>
                <a:lnTo>
                  <a:pt x="11023" y="3854"/>
                </a:lnTo>
                <a:close/>
              </a:path>
              <a:path w="35560" h="182245">
                <a:moveTo>
                  <a:pt x="12897" y="3854"/>
                </a:moveTo>
                <a:lnTo>
                  <a:pt x="11023" y="3854"/>
                </a:lnTo>
                <a:lnTo>
                  <a:pt x="13909" y="6652"/>
                </a:lnTo>
                <a:lnTo>
                  <a:pt x="13456" y="5309"/>
                </a:lnTo>
                <a:lnTo>
                  <a:pt x="13254" y="4645"/>
                </a:lnTo>
                <a:lnTo>
                  <a:pt x="13177" y="4389"/>
                </a:lnTo>
                <a:lnTo>
                  <a:pt x="12897" y="3854"/>
                </a:lnTo>
                <a:close/>
              </a:path>
              <a:path w="35560" h="182245">
                <a:moveTo>
                  <a:pt x="11629" y="1294"/>
                </a:moveTo>
                <a:lnTo>
                  <a:pt x="11038" y="1294"/>
                </a:lnTo>
                <a:lnTo>
                  <a:pt x="12897" y="3854"/>
                </a:lnTo>
                <a:lnTo>
                  <a:pt x="13177" y="4389"/>
                </a:lnTo>
                <a:lnTo>
                  <a:pt x="13864" y="6652"/>
                </a:lnTo>
                <a:lnTo>
                  <a:pt x="13939" y="5309"/>
                </a:lnTo>
                <a:lnTo>
                  <a:pt x="14044" y="4389"/>
                </a:lnTo>
                <a:lnTo>
                  <a:pt x="13663" y="3854"/>
                </a:lnTo>
                <a:lnTo>
                  <a:pt x="11629" y="1294"/>
                </a:lnTo>
                <a:close/>
              </a:path>
              <a:path w="35560" h="182245">
                <a:moveTo>
                  <a:pt x="5825" y="629"/>
                </a:moveTo>
                <a:lnTo>
                  <a:pt x="4749" y="629"/>
                </a:lnTo>
                <a:lnTo>
                  <a:pt x="1838" y="2942"/>
                </a:lnTo>
                <a:lnTo>
                  <a:pt x="1734" y="3854"/>
                </a:lnTo>
                <a:lnTo>
                  <a:pt x="1643" y="4645"/>
                </a:lnTo>
                <a:lnTo>
                  <a:pt x="2880" y="2942"/>
                </a:lnTo>
                <a:lnTo>
                  <a:pt x="3415" y="2379"/>
                </a:lnTo>
                <a:lnTo>
                  <a:pt x="5825" y="629"/>
                </a:lnTo>
                <a:close/>
              </a:path>
              <a:path w="35560" h="182245">
                <a:moveTo>
                  <a:pt x="6692" y="0"/>
                </a:moveTo>
                <a:lnTo>
                  <a:pt x="5825" y="629"/>
                </a:lnTo>
                <a:lnTo>
                  <a:pt x="11629" y="1294"/>
                </a:lnTo>
                <a:lnTo>
                  <a:pt x="11038" y="1294"/>
                </a:lnTo>
                <a:lnTo>
                  <a:pt x="10556" y="629"/>
                </a:lnTo>
                <a:lnTo>
                  <a:pt x="66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95619" y="5405"/>
            <a:ext cx="10293985" cy="1671955"/>
            <a:chOff x="195619" y="5405"/>
            <a:chExt cx="10293985" cy="16719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5613" y="321827"/>
              <a:ext cx="2284989" cy="40789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58251" y="569915"/>
              <a:ext cx="25400" cy="24765"/>
            </a:xfrm>
            <a:custGeom>
              <a:avLst/>
              <a:gdLst/>
              <a:ahLst/>
              <a:cxnLst/>
              <a:rect l="l" t="t" r="r" b="b"/>
              <a:pathLst>
                <a:path w="25400" h="24765">
                  <a:moveTo>
                    <a:pt x="19744" y="0"/>
                  </a:moveTo>
                  <a:lnTo>
                    <a:pt x="16819" y="0"/>
                  </a:lnTo>
                  <a:lnTo>
                    <a:pt x="11691" y="3916"/>
                  </a:lnTo>
                  <a:lnTo>
                    <a:pt x="8657" y="6336"/>
                  </a:lnTo>
                  <a:lnTo>
                    <a:pt x="3268" y="11913"/>
                  </a:lnTo>
                  <a:lnTo>
                    <a:pt x="0" y="16238"/>
                  </a:lnTo>
                  <a:lnTo>
                    <a:pt x="3059" y="20783"/>
                  </a:lnTo>
                  <a:lnTo>
                    <a:pt x="3549" y="21277"/>
                  </a:lnTo>
                  <a:lnTo>
                    <a:pt x="8069" y="24375"/>
                  </a:lnTo>
                  <a:lnTo>
                    <a:pt x="12420" y="21142"/>
                  </a:lnTo>
                  <a:lnTo>
                    <a:pt x="18042" y="15803"/>
                  </a:lnTo>
                  <a:lnTo>
                    <a:pt x="20488" y="12790"/>
                  </a:lnTo>
                  <a:lnTo>
                    <a:pt x="24811" y="7227"/>
                  </a:lnTo>
                  <a:lnTo>
                    <a:pt x="24396" y="3916"/>
                  </a:lnTo>
                  <a:lnTo>
                    <a:pt x="24354" y="3582"/>
                  </a:lnTo>
                  <a:lnTo>
                    <a:pt x="197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619" y="967515"/>
              <a:ext cx="231844" cy="1854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8609" y="5405"/>
              <a:ext cx="10140420" cy="16717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33071" y="1344843"/>
              <a:ext cx="99134" cy="20066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422309" y="1529834"/>
              <a:ext cx="28575" cy="15875"/>
            </a:xfrm>
            <a:custGeom>
              <a:avLst/>
              <a:gdLst/>
              <a:ahLst/>
              <a:cxnLst/>
              <a:rect l="l" t="t" r="r" b="b"/>
              <a:pathLst>
                <a:path w="28575" h="15875">
                  <a:moveTo>
                    <a:pt x="5772" y="0"/>
                  </a:moveTo>
                  <a:lnTo>
                    <a:pt x="1798" y="2515"/>
                  </a:lnTo>
                  <a:lnTo>
                    <a:pt x="0" y="10521"/>
                  </a:lnTo>
                  <a:lnTo>
                    <a:pt x="2515" y="14497"/>
                  </a:lnTo>
                  <a:lnTo>
                    <a:pt x="7590" y="15636"/>
                  </a:lnTo>
                  <a:lnTo>
                    <a:pt x="8703" y="15636"/>
                  </a:lnTo>
                  <a:lnTo>
                    <a:pt x="27129" y="11497"/>
                  </a:lnTo>
                  <a:lnTo>
                    <a:pt x="28456" y="9400"/>
                  </a:lnTo>
                  <a:lnTo>
                    <a:pt x="27650" y="5810"/>
                  </a:lnTo>
                  <a:lnTo>
                    <a:pt x="26496" y="4654"/>
                  </a:lnTo>
                  <a:lnTo>
                    <a:pt x="57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30519" y="1965933"/>
            <a:ext cx="5112900" cy="66609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6900816" y="2518076"/>
            <a:ext cx="29845" cy="36830"/>
          </a:xfrm>
          <a:custGeom>
            <a:avLst/>
            <a:gdLst/>
            <a:ahLst/>
            <a:cxnLst/>
            <a:rect l="l" t="t" r="r" b="b"/>
            <a:pathLst>
              <a:path w="29845" h="36830">
                <a:moveTo>
                  <a:pt x="3439" y="0"/>
                </a:moveTo>
                <a:lnTo>
                  <a:pt x="320" y="2680"/>
                </a:lnTo>
                <a:lnTo>
                  <a:pt x="0" y="4842"/>
                </a:lnTo>
                <a:lnTo>
                  <a:pt x="19420" y="35384"/>
                </a:lnTo>
                <a:lnTo>
                  <a:pt x="23218" y="36229"/>
                </a:lnTo>
                <a:lnTo>
                  <a:pt x="28943" y="32589"/>
                </a:lnTo>
                <a:lnTo>
                  <a:pt x="29789" y="28792"/>
                </a:lnTo>
                <a:lnTo>
                  <a:pt x="27810" y="25680"/>
                </a:lnTo>
                <a:lnTo>
                  <a:pt x="27442" y="25219"/>
                </a:lnTo>
                <a:lnTo>
                  <a:pt x="5913" y="185"/>
                </a:lnTo>
                <a:lnTo>
                  <a:pt x="3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7002" y="3897094"/>
            <a:ext cx="2342767" cy="33838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27265" y="3890001"/>
            <a:ext cx="1520976" cy="34016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04511" y="3879029"/>
            <a:ext cx="3401142" cy="35399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68586" y="3902495"/>
            <a:ext cx="1208633" cy="2978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243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4258</Words>
  <Application>Microsoft Office PowerPoint</Application>
  <PresentationFormat>自定义</PresentationFormat>
  <Paragraphs>468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49" baseType="lpstr">
      <vt:lpstr>Arial MT</vt:lpstr>
      <vt:lpstr>Calibri</vt:lpstr>
      <vt:lpstr>Cambria Math</vt:lpstr>
      <vt:lpstr>Wingdings</vt:lpstr>
      <vt:lpstr>Office Theme</vt:lpstr>
      <vt:lpstr>INT305 Machine Learning Lecture 2 Linear Methods for Regression, Optimization</vt:lpstr>
      <vt:lpstr>Overview</vt:lpstr>
      <vt:lpstr>Supervised Learning Setup</vt:lpstr>
      <vt:lpstr>Linear Regression - Model</vt:lpstr>
      <vt:lpstr>What is Linear? 1 feature vs D features</vt:lpstr>
      <vt:lpstr>Linear Regression</vt:lpstr>
      <vt:lpstr>Linear Regression - Loss Function</vt:lpstr>
      <vt:lpstr>Vectorization</vt:lpstr>
      <vt:lpstr>Vectorization</vt:lpstr>
      <vt:lpstr>Vectorization</vt:lpstr>
      <vt:lpstr>Vectorization</vt:lpstr>
      <vt:lpstr>Solving the Minimization Problem</vt:lpstr>
      <vt:lpstr>Direct Solution I: Linear Algebra</vt:lpstr>
      <vt:lpstr>Direct Solution I: Linear Algebra</vt:lpstr>
      <vt:lpstr>Direct Solution II: Calculus</vt:lpstr>
      <vt:lpstr>Direct Solution II: Calculus</vt:lpstr>
      <vt:lpstr>Direct Solution II: Calculus</vt:lpstr>
      <vt:lpstr>Direct Solution II: Calculus</vt:lpstr>
      <vt:lpstr>Polynomial Feature Mapping</vt:lpstr>
      <vt:lpstr>Polynomial Feature Mapping</vt:lpstr>
      <vt:lpstr>Polynomial Feature Mapping with M = 0</vt:lpstr>
      <vt:lpstr>Polynomial Feature Mapping with M = 1</vt:lpstr>
      <vt:lpstr>Polynomial Feature Mapping with M = 3</vt:lpstr>
      <vt:lpstr>Polynomial Feature Mapping with M = 9</vt:lpstr>
      <vt:lpstr>Model Complexity and Generalization</vt:lpstr>
      <vt:lpstr>Model Complexity and Generalization</vt:lpstr>
      <vt:lpstr>Regularization</vt:lpstr>
      <vt:lpstr>L2 Regularization</vt:lpstr>
      <vt:lpstr>L2 Regularization</vt:lpstr>
      <vt:lpstr>L2 Regularized Least Squares: Ridge regression</vt:lpstr>
      <vt:lpstr>Conclusion so far</vt:lpstr>
      <vt:lpstr>Gradient Descent</vt:lpstr>
      <vt:lpstr>Gradient Descent</vt:lpstr>
      <vt:lpstr>Gradient Descent</vt:lpstr>
      <vt:lpstr>Gradient Descent for Linear Regression</vt:lpstr>
      <vt:lpstr>Gradient Descent under the L2 Regularization</vt:lpstr>
      <vt:lpstr>Learning Rate (Step Size)</vt:lpstr>
      <vt:lpstr>Training Curves</vt:lpstr>
      <vt:lpstr>Stochastic Gradient Descent</vt:lpstr>
      <vt:lpstr>Stochastic Gradient Descent</vt:lpstr>
      <vt:lpstr>Stochastic Gradient Descent</vt:lpstr>
      <vt:lpstr>Stochastic Gradient Descent</vt:lpstr>
      <vt:lpstr>SGD Learning Rate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Huang Junhao</cp:lastModifiedBy>
  <cp:revision>1</cp:revision>
  <cp:lastPrinted>2025-12-21T11:09:35Z</cp:lastPrinted>
  <dcterms:created xsi:type="dcterms:W3CDTF">2025-12-21T11:07:35Z</dcterms:created>
  <dcterms:modified xsi:type="dcterms:W3CDTF">2025-12-21T11:18:20Z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2025-12-21T00:00:00Z</vt:filetime>
  </property>
  <property fmtid="{D5CDD505-2E9C-101B-9397-08002B2CF9AE}" pid="3" name="LastSaved">
    <vt:filetime>2025-12-21T00:00:00Z</vt:filetime>
  </property>
  <property fmtid="{D5CDD505-2E9C-101B-9397-08002B2CF9AE}" pid="4" name="Producer">
    <vt:lpwstr>iOS Version 26.2 (Build 23C55) Quartz PDFContext</vt:lpwstr>
  </property>
</Properties>
</file>