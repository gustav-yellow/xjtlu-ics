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12192000" cy="6858000"/>
  <p:embeddedFontLst>
    <p:embeddedFont>
      <p:font typeface="AQTIUB+Calibri-Italic" panose="02010600030101010101"/>
      <p:regular r:id="rId53"/>
    </p:embeddedFont>
    <p:embeddedFont>
      <p:font typeface="BCHHUO+PingFangSC-Semibold" panose="02010600030101010101"/>
      <p:regular r:id="rId54"/>
    </p:embeddedFont>
    <p:embeddedFont>
      <p:font typeface="BUHCII+Wingdings" panose="02010600030101010101" charset="2"/>
      <p:regular r:id="rId55"/>
    </p:embeddedFont>
    <p:embeddedFont>
      <p:font typeface="CFIBUC+ZapfDingbatsITC" panose="02010600030101010101"/>
      <p:regular r:id="rId56"/>
    </p:embeddedFont>
    <p:embeddedFont>
      <p:font typeface="DCQREI+Arial" panose="02010600030101010101" charset="0"/>
      <p:regular r:id="rId57"/>
    </p:embeddedFont>
    <p:embeddedFont>
      <p:font typeface="DDLMID+ArialMT" panose="02010600030101010101"/>
      <p:regular r:id="rId58"/>
    </p:embeddedFont>
    <p:embeddedFont>
      <p:font typeface="DHSVHP+Calibri" panose="02010600030101010101"/>
      <p:regular r:id="rId59"/>
    </p:embeddedFont>
    <p:embeddedFont>
      <p:font typeface="EMCSPQ+TimesNewRomanPSMT" panose="02010600030101010101"/>
      <p:regular r:id="rId60"/>
    </p:embeddedFont>
    <p:embeddedFont>
      <p:font typeface="EQAMVT+Calibri Bold" panose="02010600030101010101" charset="0"/>
      <p:regular r:id="rId61"/>
    </p:embeddedFont>
    <p:embeddedFont>
      <p:font typeface="FSSNHE+Cambria Math" panose="02010600030101010101" charset="0"/>
      <p:regular r:id="rId62"/>
    </p:embeddedFont>
    <p:embeddedFont>
      <p:font typeface="JSVSMR+PingFangSC-Regular" panose="02010600030101010101"/>
      <p:regular r:id="rId63"/>
    </p:embeddedFont>
    <p:embeddedFont>
      <p:font typeface="Liberation Mono" panose="02010600030101010101" charset="0"/>
      <p:regular r:id="rId64"/>
    </p:embeddedFont>
    <p:embeddedFont>
      <p:font typeface="NOJCOO+TimesNewRomanPS-BoldMT" panose="02010600030101010101"/>
      <p:regular r:id="rId65"/>
    </p:embeddedFont>
    <p:embeddedFont>
      <p:font typeface="OHIOUC+Cambria Math" panose="02010600030101010101" charset="0"/>
      <p:regular r:id="rId66"/>
    </p:embeddedFont>
    <p:embeddedFont>
      <p:font typeface="PLNGGG+Cambria Math" panose="02010600030101010101" charset="0"/>
      <p:regular r:id="rId67"/>
    </p:embeddedFont>
    <p:embeddedFont>
      <p:font typeface="TWPBED+STIXTwoMath-Regular" panose="02010600030101010101"/>
      <p:regular r:id="rId68"/>
    </p:embeddedFont>
    <p:embeddedFont>
      <p:font typeface="UWTVVI+Calibri-Bold" panose="02010600030101010101"/>
      <p:regular r:id="rId69"/>
    </p:embeddedFont>
    <p:embeddedFont>
      <p:font typeface="VCNWLL+Calibri" panose="02010600030101010101" charset="0"/>
      <p:regular r:id="rId7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96" y="7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1.fntdata"/><Relationship Id="rId68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92651" y="2076767"/>
            <a:ext cx="4535543" cy="1010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3" dirty="0">
                <a:solidFill>
                  <a:srgbClr val="0F243E"/>
                </a:solidFill>
                <a:latin typeface="UWTVVI+Calibri-Bold"/>
                <a:cs typeface="UWTVVI+Calibri-Bold"/>
              </a:rPr>
              <a:t>INT305</a:t>
            </a:r>
            <a:r>
              <a:rPr sz="3250" spc="-506" dirty="0">
                <a:solidFill>
                  <a:srgbClr val="0F243E"/>
                </a:solidFill>
                <a:latin typeface="UWTVVI+Calibri-Bold"/>
                <a:cs typeface="UWTVVI+Calibri-Bold"/>
              </a:rPr>
              <a:t> </a:t>
            </a:r>
            <a:r>
              <a:rPr sz="3250" spc="-32" dirty="0">
                <a:solidFill>
                  <a:srgbClr val="0F243E"/>
                </a:solidFill>
                <a:latin typeface="UWTVVI+Calibri-Bold"/>
                <a:cs typeface="UWTVVI+Calibri-Bold"/>
              </a:rPr>
              <a:t>Machine</a:t>
            </a:r>
            <a:r>
              <a:rPr sz="3250" spc="-1161" dirty="0">
                <a:solidFill>
                  <a:srgbClr val="0F243E"/>
                </a:solidFill>
                <a:latin typeface="UWTVVI+Calibri-Bold"/>
                <a:cs typeface="UWTVVI+Calibri-Bold"/>
              </a:rPr>
              <a:t> </a:t>
            </a:r>
            <a:r>
              <a:rPr sz="3250" spc="-33" dirty="0">
                <a:solidFill>
                  <a:srgbClr val="0F243E"/>
                </a:solidFill>
                <a:latin typeface="UWTVVI+Calibri-Bold"/>
                <a:cs typeface="UWTVVI+Calibri-Bold"/>
              </a:rPr>
              <a:t>Learning</a:t>
            </a:r>
          </a:p>
          <a:p>
            <a:pPr marL="1417954" marR="0">
              <a:lnSpc>
                <a:spcPts val="3230"/>
              </a:lnSpc>
              <a:spcBef>
                <a:spcPts val="1249"/>
              </a:spcBef>
              <a:spcAft>
                <a:spcPts val="0"/>
              </a:spcAft>
            </a:pPr>
            <a:r>
              <a:rPr sz="3250" spc="-24" dirty="0">
                <a:solidFill>
                  <a:srgbClr val="0F243E"/>
                </a:solidFill>
                <a:latin typeface="UWTVVI+Calibri-Bold"/>
                <a:cs typeface="UWTVVI+Calibri-Bold"/>
              </a:rPr>
              <a:t>Lecture</a:t>
            </a:r>
            <a:r>
              <a:rPr sz="3250" spc="-1239" dirty="0">
                <a:solidFill>
                  <a:srgbClr val="0F243E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F243E"/>
                </a:solidFill>
                <a:latin typeface="UWTVVI+Calibri-Bold"/>
                <a:cs typeface="UWTVVI+Calibri-Bold"/>
              </a:rPr>
              <a:t>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60879" y="3202241"/>
            <a:ext cx="800216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3" dirty="0">
                <a:solidFill>
                  <a:srgbClr val="0F243E"/>
                </a:solidFill>
                <a:latin typeface="UWTVVI+Calibri-Bold"/>
                <a:cs typeface="UWTVVI+Calibri-Bold"/>
              </a:rPr>
              <a:t>Decision</a:t>
            </a:r>
            <a:r>
              <a:rPr sz="3250" spc="-1200" dirty="0">
                <a:solidFill>
                  <a:srgbClr val="0F243E"/>
                </a:solidFill>
                <a:latin typeface="UWTVVI+Calibri-Bold"/>
                <a:cs typeface="UWTVVI+Calibri-Bold"/>
              </a:rPr>
              <a:t> </a:t>
            </a:r>
            <a:r>
              <a:rPr sz="3250" spc="-28" dirty="0">
                <a:solidFill>
                  <a:srgbClr val="0F243E"/>
                </a:solidFill>
                <a:latin typeface="UWTVVI+Calibri-Bold"/>
                <a:cs typeface="UWTVVI+Calibri-Bold"/>
              </a:rPr>
              <a:t>Trees</a:t>
            </a:r>
            <a:r>
              <a:rPr sz="3250" spc="-1196" dirty="0">
                <a:solidFill>
                  <a:srgbClr val="0F243E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F243E"/>
                </a:solidFill>
                <a:latin typeface="UWTVVI+Calibri-Bold"/>
                <a:cs typeface="UWTVVI+Calibri-Bold"/>
              </a:rPr>
              <a:t>&amp;</a:t>
            </a:r>
            <a:r>
              <a:rPr sz="3250" spc="-1313" dirty="0">
                <a:solidFill>
                  <a:srgbClr val="0F243E"/>
                </a:solidFill>
                <a:latin typeface="UWTVVI+Calibri-Bold"/>
                <a:cs typeface="UWTVVI+Calibri-Bold"/>
              </a:rPr>
              <a:t> </a:t>
            </a:r>
            <a:r>
              <a:rPr sz="3250" spc="-15" dirty="0">
                <a:solidFill>
                  <a:srgbClr val="0F243E"/>
                </a:solidFill>
                <a:latin typeface="UWTVVI+Calibri-Bold"/>
                <a:cs typeface="UWTVVI+Calibri-Bold"/>
              </a:rPr>
              <a:t>Bias-Variance</a:t>
            </a:r>
            <a:r>
              <a:rPr sz="3250" spc="-1258" dirty="0">
                <a:solidFill>
                  <a:srgbClr val="0F243E"/>
                </a:solidFill>
                <a:latin typeface="UWTVVI+Calibri-Bold"/>
                <a:cs typeface="UWTVVI+Calibri-Bold"/>
              </a:rPr>
              <a:t> </a:t>
            </a:r>
            <a:r>
              <a:rPr sz="3250" spc="-27" dirty="0">
                <a:solidFill>
                  <a:srgbClr val="0F243E"/>
                </a:solidFill>
                <a:latin typeface="UWTVVI+Calibri-Bold"/>
                <a:cs typeface="UWTVVI+Calibri-Bold"/>
              </a:rPr>
              <a:t>Decomposition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3105" y="4403233"/>
            <a:ext cx="1348827" cy="381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700" spc="-22" dirty="0">
                <a:solidFill>
                  <a:srgbClr val="0F243E"/>
                </a:solidFill>
                <a:latin typeface="UWTVVI+Calibri-Bold"/>
                <a:cs typeface="UWTVVI+Calibri-Bold"/>
              </a:rPr>
              <a:t>Siyue</a:t>
            </a:r>
            <a:r>
              <a:rPr sz="2700" spc="-991" dirty="0">
                <a:solidFill>
                  <a:srgbClr val="0F243E"/>
                </a:solidFill>
                <a:latin typeface="UWTVVI+Calibri-Bold"/>
                <a:cs typeface="UWTVVI+Calibri-Bold"/>
              </a:rPr>
              <a:t> </a:t>
            </a:r>
            <a:r>
              <a:rPr sz="2700" spc="25" dirty="0">
                <a:solidFill>
                  <a:srgbClr val="0F243E"/>
                </a:solidFill>
                <a:latin typeface="UWTVVI+Calibri-Bold"/>
                <a:cs typeface="UWTVVI+Calibri-Bold"/>
              </a:rPr>
              <a:t>Yu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77334" y="4889516"/>
            <a:ext cx="4697432" cy="867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700" spc="-16" dirty="0">
                <a:solidFill>
                  <a:srgbClr val="0F243E"/>
                </a:solidFill>
                <a:latin typeface="UWTVVI+Calibri-Bold"/>
                <a:cs typeface="UWTVVI+Calibri-Bold"/>
              </a:rPr>
              <a:t>Department</a:t>
            </a:r>
            <a:r>
              <a:rPr sz="2700" spc="-1040" dirty="0">
                <a:solidFill>
                  <a:srgbClr val="0F243E"/>
                </a:solidFill>
                <a:latin typeface="UWTVVI+Calibri-Bold"/>
                <a:cs typeface="UWTVVI+Calibri-Bold"/>
              </a:rPr>
              <a:t> </a:t>
            </a:r>
            <a:r>
              <a:rPr sz="2700" spc="-18" dirty="0">
                <a:solidFill>
                  <a:srgbClr val="0F243E"/>
                </a:solidFill>
                <a:latin typeface="UWTVVI+Calibri-Bold"/>
                <a:cs typeface="UWTVVI+Calibri-Bold"/>
              </a:rPr>
              <a:t>Intelligence</a:t>
            </a:r>
            <a:r>
              <a:rPr sz="2700" spc="-1015" dirty="0">
                <a:solidFill>
                  <a:srgbClr val="0F243E"/>
                </a:solidFill>
                <a:latin typeface="UWTVVI+Calibri-Bold"/>
                <a:cs typeface="UWTVVI+Calibri-Bold"/>
              </a:rPr>
              <a:t> </a:t>
            </a:r>
            <a:r>
              <a:rPr sz="2700" spc="-17" dirty="0">
                <a:solidFill>
                  <a:srgbClr val="0F243E"/>
                </a:solidFill>
                <a:latin typeface="UWTVVI+Calibri-Bold"/>
                <a:cs typeface="UWTVVI+Calibri-Bold"/>
              </a:rPr>
              <a:t>Science</a:t>
            </a:r>
          </a:p>
          <a:p>
            <a:pPr marL="575945" marR="0">
              <a:lnSpc>
                <a:spcPts val="2702"/>
              </a:lnSpc>
              <a:spcBef>
                <a:spcPts val="1127"/>
              </a:spcBef>
              <a:spcAft>
                <a:spcPts val="0"/>
              </a:spcAft>
            </a:pPr>
            <a:r>
              <a:rPr sz="2700" spc="-17" dirty="0">
                <a:solidFill>
                  <a:srgbClr val="0F243E"/>
                </a:solidFill>
                <a:latin typeface="UWTVVI+Calibri-Bold"/>
                <a:cs typeface="UWTVVI+Calibri-Bold"/>
              </a:rPr>
              <a:t>siyue.yu02@xjtlu.edu.cn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1929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2060"/>
                </a:solidFill>
                <a:latin typeface="UWTVVI+Calibri-Bold"/>
                <a:cs typeface="UWTVVI+Calibri-Bold"/>
              </a:rPr>
              <a:t>Today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73150" y="1270739"/>
            <a:ext cx="2288797" cy="390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C44E5"/>
                </a:solidFill>
                <a:latin typeface="DHSVHP+Calibri"/>
                <a:cs typeface="DHSVHP+Calibri"/>
              </a:rPr>
              <a:t>Decision Trees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89380" y="1855766"/>
            <a:ext cx="5355540" cy="750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Simple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but</a:t>
            </a:r>
            <a:r>
              <a:rPr sz="2400" spc="-8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powerful</a:t>
            </a:r>
            <a:r>
              <a:rPr sz="2400" spc="-4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learning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algorithm</a:t>
            </a:r>
          </a:p>
          <a:p>
            <a:pPr marL="0" marR="0">
              <a:lnSpc>
                <a:spcPts val="2666"/>
              </a:lnSpc>
              <a:spcBef>
                <a:spcPts val="42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Used widely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Kaggle</a:t>
            </a:r>
            <a:r>
              <a:rPr sz="2400" spc="-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competitions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50191" y="1908012"/>
            <a:ext cx="3498273" cy="676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简单但强⼤的学习算法</a:t>
            </a:r>
          </a:p>
          <a:p>
            <a:pPr marL="0" marR="0">
              <a:lnSpc>
                <a:spcPts val="1510"/>
              </a:lnSpc>
              <a:spcBef>
                <a:spcPts val="29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⼴泛⽤于</a:t>
            </a:r>
            <a:r>
              <a:rPr sz="1250" dirty="0">
                <a:solidFill>
                  <a:srgbClr val="000000"/>
                </a:solidFill>
                <a:latin typeface="EMCSPQ+TimesNewRomanPSMT"/>
                <a:cs typeface="EMCSPQ+TimesNewRomanPSMT"/>
              </a:rPr>
              <a:t>Kaggle</a:t>
            </a:r>
            <a:r>
              <a:rPr sz="12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竞赛</a:t>
            </a:r>
          </a:p>
          <a:p>
            <a:pPr marL="0" marR="0">
              <a:lnSpc>
                <a:spcPts val="1510"/>
              </a:lnSpc>
              <a:spcBef>
                <a:spcPts val="24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让我们从信息论（熵，互信息等）中激发概念。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89380" y="2590207"/>
            <a:ext cx="8842628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Let</a:t>
            </a:r>
            <a:r>
              <a:rPr sz="2400" spc="-8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us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motivate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concepts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from</a:t>
            </a:r>
            <a:r>
              <a:rPr sz="2400" spc="-6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information theory</a:t>
            </a:r>
            <a:r>
              <a:rPr sz="2400" spc="2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(entropy,</a:t>
            </a:r>
            <a:r>
              <a:rPr sz="2400" spc="-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mutual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2660" y="2997740"/>
            <a:ext cx="2319834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information,</a:t>
            </a:r>
            <a:r>
              <a:rPr sz="2400" spc="-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etc.)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73150" y="3464951"/>
            <a:ext cx="4054910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C44E5"/>
                </a:solidFill>
                <a:latin typeface="DHSVHP+Calibri"/>
                <a:cs typeface="DHSVHP+Calibri"/>
              </a:rPr>
              <a:t>Bias-variance decomposition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89380" y="3940217"/>
            <a:ext cx="7853113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Let</a:t>
            </a:r>
            <a:r>
              <a:rPr sz="2400" spc="-8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us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motivate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methods</a:t>
            </a:r>
            <a:r>
              <a:rPr sz="2400" spc="-5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for</a:t>
            </a:r>
            <a:r>
              <a:rPr sz="2400" spc="-4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combining</a:t>
            </a:r>
            <a:r>
              <a:rPr sz="2400" spc="-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different classifiers.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259434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Decision</a:t>
            </a:r>
            <a:r>
              <a:rPr sz="3250" spc="-119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UWTVVI+Calibri-Bold"/>
                <a:cs typeface="UWTVVI+Calibri-Bold"/>
              </a:rPr>
              <a:t>Trees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3162" y="1270739"/>
            <a:ext cx="9260135" cy="390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Make predictions</a:t>
            </a:r>
            <a:r>
              <a:rPr sz="2400" spc="-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splitting</a:t>
            </a:r>
            <a:r>
              <a:rPr sz="2400" spc="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63" dirty="0">
                <a:solidFill>
                  <a:srgbClr val="000000"/>
                </a:solidFill>
                <a:latin typeface="DHSVHP+Calibri"/>
                <a:cs typeface="DHSVHP+Calibri"/>
              </a:rPr>
              <a:t>on</a:t>
            </a:r>
            <a:r>
              <a:rPr sz="2400" spc="6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features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according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tree</a:t>
            </a:r>
            <a:r>
              <a:rPr sz="2400" spc="8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259434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Decision</a:t>
            </a:r>
            <a:r>
              <a:rPr sz="3250" spc="-119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UWTVVI+Calibri-Bold"/>
                <a:cs typeface="UWTVVI+Calibri-Bold"/>
              </a:rPr>
              <a:t>Trees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4115" y="1221115"/>
            <a:ext cx="9262679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Make predictions</a:t>
            </a:r>
            <a:r>
              <a:rPr sz="2400" spc="-5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splitting</a:t>
            </a:r>
            <a:r>
              <a:rPr sz="2400" spc="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62" dirty="0">
                <a:solidFill>
                  <a:srgbClr val="000000"/>
                </a:solidFill>
                <a:latin typeface="DHSVHP+Calibri"/>
                <a:cs typeface="DHSVHP+Calibri"/>
              </a:rPr>
              <a:t>on</a:t>
            </a:r>
            <a:r>
              <a:rPr sz="2400" spc="6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features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according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DHSVHP+Calibri"/>
                <a:cs typeface="DHSVHP+Calibri"/>
              </a:rPr>
              <a:t>tree</a:t>
            </a:r>
            <a:r>
              <a:rPr sz="2400" spc="9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structure.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934617" y="1878671"/>
            <a:ext cx="3338945" cy="229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通过根据树结构对要素进⾏分割来进⾏预测。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195778"/>
            <a:ext cx="6544663" cy="5388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42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Decision</a:t>
            </a:r>
            <a:r>
              <a:rPr sz="3250" spc="-119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5" dirty="0">
                <a:solidFill>
                  <a:srgbClr val="001F5F"/>
                </a:solidFill>
                <a:latin typeface="UWTVVI+Calibri-Bold"/>
                <a:cs typeface="UWTVVI+Calibri-Bold"/>
              </a:rPr>
              <a:t>Trees</a:t>
            </a:r>
            <a:r>
              <a:rPr sz="3250" b="1" spc="685" dirty="0">
                <a:solidFill>
                  <a:srgbClr val="001F5F"/>
                </a:solidFill>
                <a:latin typeface="EQAMVT+Calibri Bold"/>
                <a:cs typeface="EQAMVT+Calibri Bold"/>
              </a:rPr>
              <a:t>—</a:t>
            </a:r>
            <a:r>
              <a:rPr sz="3250" spc="-25" dirty="0">
                <a:solidFill>
                  <a:srgbClr val="001F5F"/>
                </a:solidFill>
                <a:latin typeface="UWTVVI+Calibri-Bold"/>
                <a:cs typeface="UWTVVI+Calibri-Bold"/>
              </a:rPr>
              <a:t>Continuous</a:t>
            </a:r>
            <a:r>
              <a:rPr sz="3250" spc="-1196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6" dirty="0">
                <a:solidFill>
                  <a:srgbClr val="001F5F"/>
                </a:solidFill>
                <a:latin typeface="UWTVVI+Calibri-Bold"/>
                <a:cs typeface="UWTVVI+Calibri-Bold"/>
              </a:rPr>
              <a:t>Features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21344"/>
            <a:ext cx="11118548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TIUB+Calibri-Italic"/>
                <a:cs typeface="AQTIUB+Calibri-Italic"/>
              </a:rPr>
              <a:t>continuous</a:t>
            </a:r>
            <a:r>
              <a:rPr sz="2400" spc="-873" dirty="0">
                <a:solidFill>
                  <a:srgbClr val="000000"/>
                </a:solidFill>
                <a:latin typeface="AQTIUB+Calibri-Italic"/>
                <a:cs typeface="AQTIUB+Calibri-Italic"/>
              </a:rPr>
              <a:t> </a:t>
            </a:r>
            <a:r>
              <a:rPr sz="2400" dirty="0">
                <a:solidFill>
                  <a:srgbClr val="000000"/>
                </a:solidFill>
                <a:latin typeface="AQTIUB+Calibri-Italic"/>
                <a:cs typeface="AQTIUB+Calibri-Italic"/>
              </a:rPr>
              <a:t>features</a:t>
            </a:r>
            <a:r>
              <a:rPr sz="2400" spc="-854" dirty="0">
                <a:solidFill>
                  <a:srgbClr val="000000"/>
                </a:solidFill>
                <a:latin typeface="AQTIUB+Calibri-Italic"/>
                <a:cs typeface="AQTIUB+Calibri-Italic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checking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whether</a:t>
            </a:r>
            <a:r>
              <a:rPr sz="2400" spc="5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that</a:t>
            </a:r>
            <a:r>
              <a:rPr sz="2400" spc="-7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feature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-10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greater</a:t>
            </a:r>
            <a:r>
              <a:rPr sz="2400" spc="-3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than or</a:t>
            </a:r>
            <a:r>
              <a:rPr sz="2400" spc="-3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less</a:t>
            </a:r>
            <a:r>
              <a:rPr sz="2400" spc="-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225" y="1430814"/>
            <a:ext cx="2160769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some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threshold.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65221" y="1434181"/>
            <a:ext cx="3789218" cy="213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9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通过检查特征是否⼤于或⼩于某个阈值来拆分连续特征。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1755785"/>
            <a:ext cx="7035342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Decision boundary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made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up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axis-aligned planes.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259434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Decision</a:t>
            </a:r>
            <a:r>
              <a:rPr sz="3250" spc="-119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UWTVVI+Calibri-Bold"/>
                <a:cs typeface="UWTVVI+Calibri-Bold"/>
              </a:rPr>
              <a:t>Trees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18049" y="4242111"/>
            <a:ext cx="1814945" cy="1169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内部节点测试特征</a:t>
            </a:r>
          </a:p>
          <a:p>
            <a:pPr marL="0" marR="0">
              <a:lnSpc>
                <a:spcPts val="1576"/>
              </a:lnSpc>
              <a:spcBef>
                <a:spcPts val="2039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分⽀由特征值决定</a:t>
            </a:r>
          </a:p>
          <a:p>
            <a:pPr marL="0" marR="0">
              <a:lnSpc>
                <a:spcPts val="1576"/>
              </a:lnSpc>
              <a:spcBef>
                <a:spcPts val="2089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叶节点是输出（预测）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68041" y="4267845"/>
            <a:ext cx="6086282" cy="112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Internal</a:t>
            </a:r>
            <a:r>
              <a:rPr sz="2400" spc="-42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nodes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test a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feature</a:t>
            </a:r>
          </a:p>
          <a:p>
            <a:pPr marL="0" marR="0">
              <a:lnSpc>
                <a:spcPts val="2686"/>
              </a:lnSpc>
              <a:spcBef>
                <a:spcPts val="2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Branching</a:t>
            </a:r>
            <a:r>
              <a:rPr sz="2400" spc="26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determined 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5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feature</a:t>
            </a:r>
            <a:r>
              <a:rPr sz="2400" spc="-15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value</a:t>
            </a:r>
          </a:p>
          <a:p>
            <a:pPr marL="0" marR="0">
              <a:lnSpc>
                <a:spcPts val="2684"/>
              </a:lnSpc>
              <a:spcBef>
                <a:spcPts val="15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Leaf </a:t>
            </a:r>
            <a:r>
              <a:rPr sz="2400" spc="-10" dirty="0">
                <a:solidFill>
                  <a:srgbClr val="0B44E4"/>
                </a:solidFill>
                <a:latin typeface="DHSVHP+Calibri"/>
                <a:cs typeface="DHSVHP+Calibri"/>
              </a:rPr>
              <a:t>nodes</a:t>
            </a:r>
            <a:r>
              <a:rPr sz="2400" spc="50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are</a:t>
            </a:r>
            <a:r>
              <a:rPr sz="2400" spc="-5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outputs</a:t>
            </a:r>
            <a:r>
              <a:rPr sz="2400" spc="-18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(predictions)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195778"/>
            <a:ext cx="7839383" cy="5388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42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Decision</a:t>
            </a:r>
            <a:r>
              <a:rPr sz="3250" spc="-119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5" dirty="0">
                <a:solidFill>
                  <a:srgbClr val="001F5F"/>
                </a:solidFill>
                <a:latin typeface="UWTVVI+Calibri-Bold"/>
                <a:cs typeface="UWTVVI+Calibri-Bold"/>
              </a:rPr>
              <a:t>Trees</a:t>
            </a:r>
            <a:r>
              <a:rPr sz="3250" b="1" spc="-40" dirty="0">
                <a:solidFill>
                  <a:srgbClr val="001F5F"/>
                </a:solidFill>
                <a:latin typeface="EQAMVT+Calibri Bold"/>
                <a:cs typeface="EQAMVT+Calibri Bold"/>
              </a:rPr>
              <a:t>—</a:t>
            </a: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Classification</a:t>
            </a:r>
            <a:r>
              <a:rPr sz="3250" spc="-1273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and</a:t>
            </a:r>
            <a:r>
              <a:rPr sz="3250" spc="-1207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UWTVVI+Calibri-Bold"/>
                <a:cs typeface="UWTVVI+Calibri-Bold"/>
              </a:rPr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602" y="913634"/>
            <a:ext cx="8414969" cy="6606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571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从“树根”⾛到“树叶”的每⼀条路径，都定义了输⼊空间中的⼀个区域</a:t>
            </a:r>
            <a:r>
              <a:rPr sz="13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 Rm</a:t>
            </a:r>
          </a:p>
          <a:p>
            <a:pPr marL="0" marR="0">
              <a:lnSpc>
                <a:spcPts val="2684"/>
              </a:lnSpc>
              <a:spcBef>
                <a:spcPts val="21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Each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9" dirty="0">
                <a:solidFill>
                  <a:srgbClr val="000000"/>
                </a:solidFill>
                <a:latin typeface="DHSVHP+Calibri"/>
                <a:cs typeface="DHSVHP+Calibri"/>
              </a:rPr>
              <a:t>pa</a:t>
            </a:r>
            <a:r>
              <a:rPr sz="2400" spc="-49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th</a:t>
            </a:r>
            <a:r>
              <a:rPr sz="2400" spc="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from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root </a:t>
            </a:r>
            <a:r>
              <a:rPr sz="2400" spc="-52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4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leaf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defines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-3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region</a:t>
            </a:r>
            <a:r>
              <a:rPr sz="2400" spc="-8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43" dirty="0">
                <a:solidFill>
                  <a:srgbClr val="000000"/>
                </a:solidFill>
                <a:latin typeface="PLNGGG+Cambria Math"/>
                <a:cs typeface="PLNGGG+Cambria Math"/>
              </a:rPr>
              <a:t>ꢀ</a:t>
            </a:r>
            <a:r>
              <a:rPr sz="2650" baseline="-20374" dirty="0">
                <a:solidFill>
                  <a:srgbClr val="000000"/>
                </a:solidFill>
                <a:latin typeface="PLNGGG+Cambria Math"/>
                <a:cs typeface="PLNGGG+Cambria Math"/>
              </a:rPr>
              <a:t>ꢁ</a:t>
            </a:r>
            <a:r>
              <a:rPr sz="2650" spc="-380" baseline="-203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input space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602" y="1543000"/>
            <a:ext cx="8937902" cy="397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Let</a:t>
            </a:r>
            <a:r>
              <a:rPr sz="2400" spc="194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858" dirty="0">
                <a:solidFill>
                  <a:srgbClr val="000000"/>
                </a:solidFill>
                <a:latin typeface="PLNGGG+Cambria Math"/>
                <a:cs typeface="PLNGGG+Cambria Math"/>
              </a:rPr>
              <a:t>ꢂ</a:t>
            </a:r>
            <a:r>
              <a:rPr sz="2650" baseline="36666" dirty="0">
                <a:solidFill>
                  <a:srgbClr val="000000"/>
                </a:solidFill>
                <a:latin typeface="PLNGGG+Cambria Math"/>
                <a:cs typeface="PLNGGG+Cambria Math"/>
              </a:rPr>
              <a:t>ꢁ</a:t>
            </a:r>
            <a:r>
              <a:rPr sz="2650" spc="175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5" dirty="0">
                <a:solidFill>
                  <a:srgbClr val="000000"/>
                </a:solidFill>
                <a:latin typeface="PLNGGG+Cambria Math"/>
                <a:cs typeface="PLNGGG+Cambria Math"/>
              </a:rPr>
              <a:t>,ꢃ</a:t>
            </a:r>
            <a:r>
              <a:rPr sz="2400" spc="-9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650" baseline="36666" dirty="0">
                <a:solidFill>
                  <a:srgbClr val="000000"/>
                </a:solidFill>
                <a:latin typeface="PLNGGG+Cambria Math"/>
                <a:cs typeface="PLNGGG+Cambria Math"/>
              </a:rPr>
              <a:t>ꢁ</a:t>
            </a:r>
            <a:r>
              <a:rPr sz="2650" spc="1252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39" dirty="0">
                <a:solidFill>
                  <a:srgbClr val="000000"/>
                </a:solidFill>
                <a:latin typeface="PLNGGG+Cambria Math"/>
                <a:cs typeface="PLNGGG+Cambria Math"/>
              </a:rPr>
              <a:t>,⋯,(ꢂ</a:t>
            </a:r>
            <a:r>
              <a:rPr sz="2650" baseline="36666" dirty="0">
                <a:solidFill>
                  <a:srgbClr val="000000"/>
                </a:solidFill>
                <a:latin typeface="PLNGGG+Cambria Math"/>
                <a:cs typeface="PLNGGG+Cambria Math"/>
              </a:rPr>
              <a:t>ꢁ</a:t>
            </a:r>
            <a:r>
              <a:rPr sz="2650" spc="235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99" dirty="0">
                <a:solidFill>
                  <a:srgbClr val="000000"/>
                </a:solidFill>
                <a:latin typeface="PLNGGG+Cambria Math"/>
                <a:cs typeface="PLNGGG+Cambria Math"/>
              </a:rPr>
              <a:t>,ꢃ</a:t>
            </a:r>
            <a:r>
              <a:rPr sz="2650" baseline="36666" dirty="0">
                <a:solidFill>
                  <a:srgbClr val="000000"/>
                </a:solidFill>
                <a:latin typeface="PLNGGG+Cambria Math"/>
                <a:cs typeface="PLNGGG+Cambria Math"/>
              </a:rPr>
              <a:t>(ꢁ</a:t>
            </a:r>
            <a:r>
              <a:rPr sz="2650" spc="-588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650" spc="100" baseline="36666" dirty="0">
                <a:solidFill>
                  <a:srgbClr val="000000"/>
                </a:solidFill>
                <a:latin typeface="PLNGGG+Cambria Math"/>
                <a:cs typeface="PLNGGG+Cambria Math"/>
              </a:rPr>
              <a:t>)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)</a:t>
            </a:r>
            <a:r>
              <a:rPr sz="2400" spc="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be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training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examples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58365" y="1618012"/>
            <a:ext cx="260219" cy="2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33446" y="1618012"/>
            <a:ext cx="260219" cy="2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37380" y="1619028"/>
            <a:ext cx="268894" cy="2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ꢄ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220335" y="1619028"/>
            <a:ext cx="268894" cy="2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ꢄ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29602" y="1979157"/>
            <a:ext cx="5527718" cy="10540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899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fall</a:t>
            </a:r>
            <a:r>
              <a:rPr sz="2400" spc="-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into</a:t>
            </a:r>
            <a:r>
              <a:rPr sz="2400" spc="-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43" dirty="0">
                <a:solidFill>
                  <a:srgbClr val="000000"/>
                </a:solidFill>
                <a:latin typeface="PLNGGG+Cambria Math"/>
                <a:cs typeface="PLNGGG+Cambria Math"/>
              </a:rPr>
              <a:t>ꢀ</a:t>
            </a:r>
            <a:r>
              <a:rPr sz="2650" baseline="-20416" dirty="0">
                <a:solidFill>
                  <a:srgbClr val="000000"/>
                </a:solidFill>
                <a:latin typeface="PLNGGG+Cambria Math"/>
                <a:cs typeface="PLNGGG+Cambria Math"/>
              </a:rPr>
              <a:t>ꢁ</a:t>
            </a:r>
          </a:p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Classification tree</a:t>
            </a:r>
            <a:r>
              <a:rPr sz="2400" spc="-35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(we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will</a:t>
            </a:r>
            <a:r>
              <a:rPr sz="2400" spc="4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focus</a:t>
            </a:r>
            <a:r>
              <a:rPr sz="2400" spc="-5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on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this):</a:t>
            </a:r>
          </a:p>
          <a:p>
            <a:pPr marL="380365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discrete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output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09967" y="2998420"/>
            <a:ext cx="7406384" cy="397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leaf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value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2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650" baseline="36666" dirty="0">
                <a:solidFill>
                  <a:srgbClr val="000000"/>
                </a:solidFill>
                <a:latin typeface="PLNGGG+Cambria Math"/>
                <a:cs typeface="PLNGGG+Cambria Math"/>
              </a:rPr>
              <a:t>ꢁ</a:t>
            </a:r>
            <a:r>
              <a:rPr sz="2650" spc="-919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typically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set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most common value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01165" y="3399105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ꢁ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00426" y="3399105"/>
            <a:ext cx="476793" cy="29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ꢁ</a:t>
            </a:r>
          </a:p>
          <a:p>
            <a:pPr marL="207898" marR="0">
              <a:lnSpc>
                <a:spcPts val="1428"/>
              </a:lnSpc>
              <a:spcBef>
                <a:spcPts val="5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ꢄ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53185" y="3444102"/>
            <a:ext cx="2257458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{ꢃ</a:t>
            </a:r>
            <a:r>
              <a:rPr sz="2400" spc="28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6" dirty="0">
                <a:solidFill>
                  <a:srgbClr val="000000"/>
                </a:solidFill>
                <a:latin typeface="PLNGGG+Cambria Math"/>
                <a:cs typeface="PLNGGG+Cambria Math"/>
              </a:rPr>
              <a:t>,⋯,ꢃ</a:t>
            </a:r>
            <a:r>
              <a:rPr sz="2400" spc="24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}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909191" y="3474244"/>
            <a:ext cx="260219" cy="2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29602" y="3762385"/>
            <a:ext cx="2507406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Regression tree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: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99807" y="4195233"/>
            <a:ext cx="6323415" cy="750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Continuous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output</a:t>
            </a:r>
          </a:p>
          <a:p>
            <a:pPr marL="0" marR="0">
              <a:lnSpc>
                <a:spcPts val="2669"/>
              </a:lnSpc>
              <a:spcBef>
                <a:spcPts val="25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leaf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value</a:t>
            </a:r>
            <a:r>
              <a:rPr sz="2400" spc="-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4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650" baseline="36666" dirty="0">
                <a:solidFill>
                  <a:srgbClr val="000000"/>
                </a:solidFill>
                <a:latin typeface="PLNGGG+Cambria Math"/>
                <a:cs typeface="PLNGGG+Cambria Math"/>
              </a:rPr>
              <a:t>ꢁ</a:t>
            </a:r>
            <a:r>
              <a:rPr sz="2650" spc="-922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typically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set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mean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value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690751" y="4949775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ꢁ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889885" y="4949775"/>
            <a:ext cx="476920" cy="29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ꢁ</a:t>
            </a:r>
          </a:p>
          <a:p>
            <a:pPr marL="208025" marR="0">
              <a:lnSpc>
                <a:spcPts val="1428"/>
              </a:lnSpc>
              <a:spcBef>
                <a:spcPts val="5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ꢄ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342644" y="4994525"/>
            <a:ext cx="2257962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{ꢃ</a:t>
            </a:r>
            <a:r>
              <a:rPr sz="2400" spc="28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6" dirty="0">
                <a:solidFill>
                  <a:srgbClr val="000000"/>
                </a:solidFill>
                <a:latin typeface="PLNGGG+Cambria Math"/>
                <a:cs typeface="PLNGGG+Cambria Math"/>
              </a:rPr>
              <a:t>,⋯,ꢃ</a:t>
            </a:r>
            <a:r>
              <a:rPr sz="2400" spc="249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}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898650" y="5024914"/>
            <a:ext cx="260219" cy="2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195778"/>
            <a:ext cx="5897164" cy="5388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42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Decision</a:t>
            </a:r>
            <a:r>
              <a:rPr sz="3250" spc="-119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5" dirty="0">
                <a:solidFill>
                  <a:srgbClr val="001F5F"/>
                </a:solidFill>
                <a:latin typeface="UWTVVI+Calibri-Bold"/>
                <a:cs typeface="UWTVVI+Calibri-Bold"/>
              </a:rPr>
              <a:t>Trees</a:t>
            </a:r>
            <a:r>
              <a:rPr sz="3250" b="1" spc="-40" dirty="0">
                <a:solidFill>
                  <a:srgbClr val="001F5F"/>
                </a:solidFill>
                <a:latin typeface="EQAMVT+Calibri Bold"/>
                <a:cs typeface="EQAMVT+Calibri Bold"/>
              </a:rPr>
              <a:t>—</a:t>
            </a:r>
            <a:r>
              <a:rPr sz="3250" spc="-17" dirty="0">
                <a:solidFill>
                  <a:srgbClr val="001F5F"/>
                </a:solidFill>
                <a:latin typeface="UWTVVI+Calibri-Bold"/>
                <a:cs typeface="UWTVVI+Calibri-Bold"/>
              </a:rPr>
              <a:t>Discrete</a:t>
            </a:r>
            <a:r>
              <a:rPr sz="3250" spc="-1240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UWTVVI+Calibri-Bold"/>
                <a:cs typeface="UWTVVI+Calibri-Bold"/>
              </a:rPr>
              <a:t>Features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0270" y="1120752"/>
            <a:ext cx="5372916" cy="390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Will</a:t>
            </a:r>
            <a:r>
              <a:rPr sz="2400" spc="3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</a:t>
            </a:r>
            <a:r>
              <a:rPr sz="2400" spc="-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wait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50" dirty="0">
                <a:solidFill>
                  <a:srgbClr val="000000"/>
                </a:solidFill>
                <a:latin typeface="DHSVHP+Calibri"/>
                <a:cs typeface="DHSVHP+Calibri"/>
              </a:rPr>
              <a:t>at</a:t>
            </a:r>
            <a:r>
              <a:rPr sz="2400" spc="-1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this</a:t>
            </a:r>
            <a:r>
              <a:rPr sz="2400" spc="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restaurant</a:t>
            </a:r>
            <a:r>
              <a:rPr sz="2400" spc="-4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for</a:t>
            </a:r>
            <a:r>
              <a:rPr sz="2400" spc="-3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dinnar?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195778"/>
            <a:ext cx="5897164" cy="5388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42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Decision</a:t>
            </a:r>
            <a:r>
              <a:rPr sz="3250" spc="-119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5" dirty="0">
                <a:solidFill>
                  <a:srgbClr val="001F5F"/>
                </a:solidFill>
                <a:latin typeface="UWTVVI+Calibri-Bold"/>
                <a:cs typeface="UWTVVI+Calibri-Bold"/>
              </a:rPr>
              <a:t>Trees</a:t>
            </a:r>
            <a:r>
              <a:rPr sz="3250" b="1" spc="-40" dirty="0">
                <a:solidFill>
                  <a:srgbClr val="001F5F"/>
                </a:solidFill>
                <a:latin typeface="EQAMVT+Calibri Bold"/>
                <a:cs typeface="EQAMVT+Calibri Bold"/>
              </a:rPr>
              <a:t>—</a:t>
            </a:r>
            <a:r>
              <a:rPr sz="3250" spc="-17" dirty="0">
                <a:solidFill>
                  <a:srgbClr val="001F5F"/>
                </a:solidFill>
                <a:latin typeface="UWTVVI+Calibri-Bold"/>
                <a:cs typeface="UWTVVI+Calibri-Bold"/>
              </a:rPr>
              <a:t>Discrete</a:t>
            </a:r>
            <a:r>
              <a:rPr sz="3250" spc="-1240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UWTVVI+Calibri-Bold"/>
                <a:cs typeface="UWTVVI+Calibri-Bold"/>
              </a:rPr>
              <a:t>Features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890534"/>
            <a:ext cx="10185232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UWTVVI+Calibri-Bold"/>
                <a:cs typeface="UWTVVI+Calibri-Bold"/>
              </a:rPr>
              <a:t>discrete</a:t>
            </a:r>
            <a:r>
              <a:rPr sz="2400" spc="-924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UWTVVI+Calibri-Bold"/>
                <a:cs typeface="UWTVVI+Calibri-Bold"/>
              </a:rPr>
              <a:t>features</a:t>
            </a:r>
            <a:r>
              <a:rPr sz="2400" spc="-862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into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partition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67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spc="6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possible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values.</a:t>
            </a:r>
            <a:r>
              <a:rPr sz="2400" spc="188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12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将离散特征分割为可能值的划分。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71141" y="6374210"/>
            <a:ext cx="1312233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Features: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751578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6" dirty="0">
                <a:solidFill>
                  <a:srgbClr val="001F5F"/>
                </a:solidFill>
                <a:latin typeface="UWTVVI+Calibri-Bold"/>
                <a:cs typeface="UWTVVI+Calibri-Bold"/>
              </a:rPr>
              <a:t>Attempts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15072" y="1300496"/>
            <a:ext cx="9888400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40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drawing</a:t>
            </a:r>
            <a:r>
              <a:rPr sz="2400" spc="5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below</a:t>
            </a:r>
            <a:r>
              <a:rPr sz="2400" spc="44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shows</a:t>
            </a:r>
            <a:r>
              <a:rPr sz="2400" spc="43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4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dataset.</a:t>
            </a:r>
            <a:r>
              <a:rPr sz="2400" spc="45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Each</a:t>
            </a:r>
            <a:r>
              <a:rPr sz="2400" spc="46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</a:t>
            </a:r>
            <a:r>
              <a:rPr sz="2400" spc="44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49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40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dataset</a:t>
            </a:r>
            <a:r>
              <a:rPr sz="2400" spc="4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has</a:t>
            </a:r>
            <a:r>
              <a:rPr sz="2400" spc="46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two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15072" y="1682365"/>
            <a:ext cx="9982740" cy="1115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inputs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features</a:t>
            </a:r>
            <a:r>
              <a:rPr sz="2400" spc="9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60" dirty="0">
                <a:solidFill>
                  <a:srgbClr val="000000"/>
                </a:solidFill>
                <a:latin typeface="PLNGGG+Cambria Math"/>
                <a:cs typeface="PLNGGG+Cambria Math"/>
              </a:rPr>
              <a:t>ꢂ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</a:t>
            </a:r>
            <a:r>
              <a:rPr sz="2400" spc="7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34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</a:t>
            </a:r>
            <a:r>
              <a:rPr sz="2400" spc="4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</a:t>
            </a:r>
            <a:r>
              <a:rPr sz="2400" spc="6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maybe</a:t>
            </a:r>
            <a:r>
              <a:rPr sz="2400" spc="3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classified</a:t>
            </a:r>
            <a:r>
              <a:rPr sz="2400" spc="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as</a:t>
            </a:r>
            <a:r>
              <a:rPr sz="2400" spc="9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4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positive</a:t>
            </a:r>
            <a:r>
              <a:rPr sz="2400" spc="4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example</a:t>
            </a:r>
            <a:r>
              <a:rPr sz="2400" spc="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(labelled</a:t>
            </a:r>
            <a:r>
              <a:rPr sz="2400" spc="5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+)</a:t>
            </a:r>
          </a:p>
          <a:p>
            <a:pPr marL="0" marR="0">
              <a:lnSpc>
                <a:spcPts val="2932"/>
              </a:lnSpc>
              <a:spcBef>
                <a:spcPts val="16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or</a:t>
            </a:r>
            <a:r>
              <a:rPr sz="2400" spc="6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66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negative</a:t>
            </a:r>
            <a:r>
              <a:rPr sz="2400" spc="7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example</a:t>
            </a:r>
            <a:r>
              <a:rPr sz="2400" spc="67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(labelled</a:t>
            </a:r>
            <a:r>
              <a:rPr sz="2400" spc="66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−)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  <a:r>
              <a:rPr sz="2400" spc="65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8" dirty="0">
                <a:solidFill>
                  <a:srgbClr val="000000"/>
                </a:solidFill>
                <a:latin typeface="DHSVHP+Calibri"/>
                <a:cs typeface="DHSVHP+Calibri"/>
              </a:rPr>
              <a:t>Draw</a:t>
            </a:r>
            <a:r>
              <a:rPr sz="2400" spc="70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66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decision</a:t>
            </a:r>
            <a:r>
              <a:rPr sz="2400" spc="68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tree</a:t>
            </a:r>
            <a:r>
              <a:rPr sz="2400" spc="7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which</a:t>
            </a:r>
            <a:r>
              <a:rPr sz="2400" spc="62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correctly</a:t>
            </a:r>
          </a:p>
          <a:p>
            <a:pPr marL="0" marR="0">
              <a:lnSpc>
                <a:spcPts val="2402"/>
              </a:lnSpc>
              <a:spcBef>
                <a:spcPts val="50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classifies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each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5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4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dataset.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751578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6" dirty="0">
                <a:solidFill>
                  <a:srgbClr val="001F5F"/>
                </a:solidFill>
                <a:latin typeface="UWTVVI+Calibri-Bold"/>
                <a:cs typeface="UWTVVI+Calibri-Bold"/>
              </a:rPr>
              <a:t>Attempts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01008" y="233894"/>
            <a:ext cx="4308764" cy="471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对于任何训练集，我们都能构建⼀个为每个训练点精确⽣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成单⼀叶节点的决策树，但其泛化能⼒很可能不佳。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278702"/>
            <a:ext cx="4139200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UWTVVI+Calibri-Bold"/>
                <a:cs typeface="UWTVVI+Calibri-Bold"/>
              </a:rPr>
              <a:t>Learning</a:t>
            </a:r>
            <a:r>
              <a:rPr sz="3250" spc="-1229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Decision</a:t>
            </a:r>
            <a:r>
              <a:rPr sz="3250" spc="-1269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Trees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1037694"/>
            <a:ext cx="10922142" cy="390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For</a:t>
            </a:r>
            <a:r>
              <a:rPr sz="2400" spc="-4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any</a:t>
            </a:r>
            <a:r>
              <a:rPr sz="2400" spc="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training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set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can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construct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decision tree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that has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exactly</a:t>
            </a:r>
            <a:r>
              <a:rPr sz="2400" spc="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8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one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leaf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for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7225" y="1386137"/>
            <a:ext cx="6758024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VCNWLL+Calibri"/>
                <a:cs typeface="VCNWLL+Calibri"/>
              </a:rPr>
              <a:t>every</a:t>
            </a:r>
            <a:r>
              <a:rPr sz="2400" spc="-63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training</a:t>
            </a:r>
            <a:r>
              <a:rPr sz="2400" spc="-2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point,</a:t>
            </a:r>
            <a:r>
              <a:rPr sz="2400" spc="-22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VCNWLL+Calibri"/>
                <a:cs typeface="VCNWLL+Calibri"/>
              </a:rPr>
              <a:t>but</a:t>
            </a:r>
            <a:r>
              <a:rPr sz="2400" spc="2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VCNWLL+Calibri"/>
                <a:cs typeface="VCNWLL+Calibri"/>
              </a:rPr>
              <a:t>it</a:t>
            </a:r>
            <a:r>
              <a:rPr sz="2400" spc="-117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probably</a:t>
            </a:r>
            <a:r>
              <a:rPr sz="2400" spc="-61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won’t generalize.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5960" y="1905677"/>
            <a:ext cx="6958752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Decision trees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are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universal</a:t>
            </a:r>
            <a:r>
              <a:rPr sz="2400" spc="-4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function approximators.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51647" y="1978796"/>
            <a:ext cx="2147454" cy="23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决策树是通⽤函数逼近器。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4007" y="2506990"/>
            <a:ext cx="10418224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But,</a:t>
            </a:r>
            <a:r>
              <a:rPr sz="2400" spc="-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finding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smallest decision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tree</a:t>
            </a:r>
            <a:r>
              <a:rPr sz="2400" spc="8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that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correctly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classifies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training</a:t>
            </a:r>
            <a:r>
              <a:rPr sz="2400" spc="5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set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27" dirty="0">
                <a:solidFill>
                  <a:srgbClr val="000000"/>
                </a:solidFill>
                <a:latin typeface="DHSVHP+Calibri"/>
                <a:cs typeface="DHSVHP+Calibri"/>
              </a:rPr>
              <a:t>NP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7225" y="2916571"/>
            <a:ext cx="1399854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complete.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22407" y="2987027"/>
            <a:ext cx="4157216" cy="221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寻找能够正确分类训练集的最⼩决策树是⼀个</a:t>
            </a:r>
            <a:r>
              <a:rPr sz="1200" dirty="0">
                <a:solidFill>
                  <a:srgbClr val="000000"/>
                </a:solidFill>
                <a:latin typeface="EMCSPQ+TimesNewRomanPSMT"/>
                <a:cs typeface="EMCSPQ+TimesNewRomanPSMT"/>
              </a:rPr>
              <a:t>NP</a:t>
            </a:r>
            <a:r>
              <a:rPr sz="12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完全问题。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95960" y="3332158"/>
            <a:ext cx="6280742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If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you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are</a:t>
            </a:r>
            <a:r>
              <a:rPr sz="2400" spc="-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interested,</a:t>
            </a:r>
            <a:r>
              <a:rPr sz="2400" spc="-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check: Hyafil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&amp; Rivest’76.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4007" y="3966220"/>
            <a:ext cx="6384195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So,</a:t>
            </a:r>
            <a:r>
              <a:rPr sz="2400" spc="-3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how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do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construct 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useful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decision tree?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4139200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UWTVVI+Calibri-Bold"/>
                <a:cs typeface="UWTVVI+Calibri-Bold"/>
              </a:rPr>
              <a:t>Learning</a:t>
            </a:r>
            <a:r>
              <a:rPr sz="3250" spc="-1229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Decision</a:t>
            </a:r>
            <a:r>
              <a:rPr sz="3250" spc="-1269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Trees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02829" y="961688"/>
            <a:ext cx="2978727" cy="23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从整个训练集和⼀个空的决策树开始。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1187714"/>
            <a:ext cx="3986575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Resort 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greedy</a:t>
            </a:r>
            <a:r>
              <a:rPr sz="2400" spc="17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heuristic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02829" y="1194444"/>
            <a:ext cx="4142509" cy="471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选择⼀个能最⼤程度上减少损失的特征和候选划分点。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在该特征上进⾏区分，并在⼦分区上进⾏递归执⾏。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3575" y="1744102"/>
            <a:ext cx="8727211" cy="112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Start with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whole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training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set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 </a:t>
            </a:r>
            <a:r>
              <a:rPr sz="2400" spc="48" dirty="0">
                <a:solidFill>
                  <a:srgbClr val="000000"/>
                </a:solidFill>
                <a:latin typeface="DHSVHP+Calibri"/>
                <a:cs typeface="DHSVHP+Calibri"/>
              </a:rPr>
              <a:t>an</a:t>
            </a:r>
            <a:r>
              <a:rPr sz="2400" spc="-5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empty</a:t>
            </a:r>
            <a:r>
              <a:rPr sz="2400" spc="-5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decision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tree.</a:t>
            </a:r>
          </a:p>
          <a:p>
            <a:pPr marL="0" marR="0">
              <a:lnSpc>
                <a:spcPts val="2666"/>
              </a:lnSpc>
              <a:spcBef>
                <a:spcPts val="44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Pick</a:t>
            </a:r>
            <a:r>
              <a:rPr sz="2400" spc="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feature</a:t>
            </a:r>
            <a:r>
              <a:rPr sz="2400" spc="7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 candidate</a:t>
            </a:r>
            <a:r>
              <a:rPr sz="2400" spc="6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</a:t>
            </a:r>
            <a:r>
              <a:rPr sz="2400" spc="-7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that would most reduce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loss.</a:t>
            </a:r>
          </a:p>
          <a:p>
            <a:pPr marL="0" marR="0">
              <a:lnSpc>
                <a:spcPts val="2666"/>
              </a:lnSpc>
              <a:spcBef>
                <a:spcPts val="16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 on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that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feature</a:t>
            </a:r>
            <a:r>
              <a:rPr sz="2400" spc="7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 recurse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on</a:t>
            </a:r>
            <a:r>
              <a:rPr sz="2400" spc="3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subpartitions.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4007" y="3019181"/>
            <a:ext cx="3797104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Which loss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should we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use?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3575" y="3600715"/>
            <a:ext cx="6222656" cy="410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5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Let’s</a:t>
            </a:r>
            <a:r>
              <a:rPr sz="2400" spc="1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VCNWLL+Calibri"/>
                <a:cs typeface="VCNWLL+Calibri"/>
              </a:rPr>
              <a:t>see</a:t>
            </a:r>
            <a:r>
              <a:rPr sz="2400" spc="80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VCNWLL+Calibri"/>
                <a:cs typeface="VCNWLL+Calibri"/>
              </a:rPr>
              <a:t>if</a:t>
            </a:r>
            <a:r>
              <a:rPr sz="2400" spc="24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misclassification rate </a:t>
            </a:r>
            <a:r>
              <a:rPr sz="2400" spc="-26" dirty="0">
                <a:solidFill>
                  <a:srgbClr val="000000"/>
                </a:solidFill>
                <a:latin typeface="VCNWLL+Calibri"/>
                <a:cs typeface="VCNWLL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good</a:t>
            </a:r>
            <a:r>
              <a:rPr sz="2400" spc="-10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loss.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84046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Choosing</a:t>
            </a:r>
            <a:r>
              <a:rPr sz="3250" spc="-1231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a</a:t>
            </a:r>
            <a:r>
              <a:rPr sz="3250" spc="-1303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Good</a:t>
            </a:r>
            <a:r>
              <a:rPr sz="3250" spc="-1291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Split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3735" y="1390074"/>
            <a:ext cx="6461715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Consider</a:t>
            </a:r>
            <a:r>
              <a:rPr sz="2400" spc="54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VCNWLL+Calibri"/>
                <a:cs typeface="VCNWLL+Calibri"/>
              </a:rPr>
              <a:t>the</a:t>
            </a:r>
            <a:r>
              <a:rPr sz="2400" spc="10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following</a:t>
            </a:r>
            <a:r>
              <a:rPr sz="2400" spc="-27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data.</a:t>
            </a:r>
            <a:r>
              <a:rPr sz="2400" spc="-21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Let’s</a:t>
            </a:r>
            <a:r>
              <a:rPr sz="2400" spc="21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split </a:t>
            </a:r>
            <a:r>
              <a:rPr sz="2400" spc="10" dirty="0">
                <a:solidFill>
                  <a:srgbClr val="000000"/>
                </a:solidFill>
                <a:latin typeface="VCNWLL+Calibri"/>
                <a:cs typeface="VCNWLL+Calibri"/>
              </a:rPr>
              <a:t>on</a:t>
            </a:r>
            <a:r>
              <a:rPr sz="2400" spc="-12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width.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84046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Choosing</a:t>
            </a:r>
            <a:r>
              <a:rPr sz="3250" spc="-1231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a</a:t>
            </a:r>
            <a:r>
              <a:rPr sz="3250" spc="-1303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Good</a:t>
            </a:r>
            <a:r>
              <a:rPr sz="3250" spc="-1291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Split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54745"/>
            <a:ext cx="3808717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Recall: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classify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62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  <a:r>
              <a:rPr sz="2400" spc="8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majority.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5079756"/>
            <a:ext cx="10027700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 B</a:t>
            </a:r>
            <a:r>
              <a:rPr sz="2400" spc="-4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have</a:t>
            </a:r>
            <a:r>
              <a:rPr sz="2400" spc="-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same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misclassification rate, </a:t>
            </a:r>
            <a:r>
              <a:rPr sz="2400" spc="34" dirty="0">
                <a:solidFill>
                  <a:srgbClr val="000000"/>
                </a:solidFill>
                <a:latin typeface="DHSVHP+Calibri"/>
                <a:cs typeface="DHSVHP+Calibri"/>
              </a:rPr>
              <a:t>so</a:t>
            </a:r>
            <a:r>
              <a:rPr sz="2400" spc="-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which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-10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best split?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Vote!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84046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Choosing</a:t>
            </a:r>
            <a:r>
              <a:rPr sz="3250" spc="-1231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a</a:t>
            </a:r>
            <a:r>
              <a:rPr sz="3250" spc="-1303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Good</a:t>
            </a:r>
            <a:r>
              <a:rPr sz="3250" spc="-1291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Split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137930"/>
            <a:ext cx="10899552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feels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like 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better</a:t>
            </a:r>
            <a:r>
              <a:rPr sz="2400" spc="-3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split,</a:t>
            </a:r>
            <a:r>
              <a:rPr sz="2400" spc="-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because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left-hand region </a:t>
            </a:r>
            <a:r>
              <a:rPr sz="2400" spc="47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-10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very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certain about</a:t>
            </a:r>
            <a:r>
              <a:rPr sz="2400" spc="-7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whether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225" y="1547273"/>
            <a:ext cx="2807070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fruit 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an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orange.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5534987"/>
            <a:ext cx="3159103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Can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quantify</a:t>
            </a:r>
            <a:r>
              <a:rPr sz="2400" spc="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this?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84046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Choosing</a:t>
            </a:r>
            <a:r>
              <a:rPr sz="3250" spc="-1231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a</a:t>
            </a:r>
            <a:r>
              <a:rPr sz="3250" spc="-1303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Good</a:t>
            </a:r>
            <a:r>
              <a:rPr sz="3250" spc="-1291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Split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890534"/>
            <a:ext cx="8973730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How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can we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quantify</a:t>
            </a:r>
            <a:r>
              <a:rPr sz="2400" spc="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uncertainty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prediction 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for</a:t>
            </a:r>
            <a:r>
              <a:rPr sz="2400" spc="7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given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leaf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node?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2787" y="1489371"/>
            <a:ext cx="9430553" cy="751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If 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all</a:t>
            </a:r>
            <a:r>
              <a:rPr sz="2400" spc="-5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examples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leaf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have</a:t>
            </a:r>
            <a:r>
              <a:rPr sz="2400" spc="7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same class: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good,</a:t>
            </a:r>
            <a:r>
              <a:rPr sz="2400" spc="7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l</a:t>
            </a:r>
            <a:r>
              <a:rPr sz="2400" u="sng" spc="10" dirty="0">
                <a:solidFill>
                  <a:srgbClr val="000000"/>
                </a:solidFill>
                <a:latin typeface="DHSVHP+Calibri"/>
                <a:cs typeface="DHSVHP+Calibri"/>
              </a:rPr>
              <a:t>ow</a:t>
            </a:r>
            <a:r>
              <a:rPr sz="2400" u="sng" spc="-9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u="sng" dirty="0">
                <a:solidFill>
                  <a:srgbClr val="000000"/>
                </a:solidFill>
                <a:latin typeface="DHSVHP+Calibri"/>
                <a:cs typeface="DHSVHP+Calibri"/>
              </a:rPr>
              <a:t>uncertaint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y</a:t>
            </a:r>
          </a:p>
          <a:p>
            <a:pPr marL="0" marR="0">
              <a:lnSpc>
                <a:spcPts val="2666"/>
              </a:lnSpc>
              <a:spcBef>
                <a:spcPts val="42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If each class</a:t>
            </a:r>
            <a:r>
              <a:rPr sz="2400" spc="-5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has</a:t>
            </a:r>
            <a:r>
              <a:rPr sz="2400" spc="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same</a:t>
            </a:r>
            <a:r>
              <a:rPr sz="2400" spc="7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amount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examples</a:t>
            </a:r>
            <a:r>
              <a:rPr sz="2400" spc="3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leaf: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bad,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h</a:t>
            </a:r>
            <a:r>
              <a:rPr sz="2400" u="sng" spc="-10" dirty="0">
                <a:solidFill>
                  <a:srgbClr val="000000"/>
                </a:solidFill>
                <a:latin typeface="DHSVHP+Calibri"/>
                <a:cs typeface="DHSVHP+Calibri"/>
              </a:rPr>
              <a:t>igh</a:t>
            </a:r>
            <a:r>
              <a:rPr sz="2400" u="sng" spc="-89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u="sng" dirty="0">
                <a:solidFill>
                  <a:srgbClr val="000000"/>
                </a:solidFill>
                <a:latin typeface="DHSVHP+Calibri"/>
                <a:cs typeface="DHSVHP+Calibri"/>
              </a:rPr>
              <a:t>uncertaint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2722001"/>
            <a:ext cx="11196588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UWTVVI+Calibri-Bold"/>
                <a:cs typeface="UWTVVI+Calibri-Bold"/>
              </a:rPr>
              <a:t>Idea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: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use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counts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DHSVHP+Calibri"/>
                <a:cs typeface="DHSVHP+Calibri"/>
              </a:rPr>
              <a:t>at</a:t>
            </a:r>
            <a:r>
              <a:rPr sz="2400" spc="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leaves</a:t>
            </a:r>
            <a:r>
              <a:rPr sz="2400" spc="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52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4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define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probability</a:t>
            </a:r>
            <a:r>
              <a:rPr sz="2400" spc="-5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distributions;</a:t>
            </a:r>
            <a:r>
              <a:rPr sz="2400" spc="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use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a</a:t>
            </a:r>
            <a:r>
              <a:rPr sz="2400" spc="3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probabilistic</a:t>
            </a:r>
            <a:r>
              <a:rPr sz="2400" spc="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notion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7225" y="3131582"/>
            <a:ext cx="3902428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uncertainty</a:t>
            </a:r>
            <a:r>
              <a:rPr sz="2400" spc="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decide</a:t>
            </a:r>
            <a:r>
              <a:rPr sz="2400" spc="-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16157" y="3250613"/>
            <a:ext cx="5309340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⽤叶⼦节点⾥的“计数”来定义“概率分布”；然后⽤⼀个基于概率的“不确定性”概念来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决定如何分裂。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4007" y="3804041"/>
            <a:ext cx="5929130" cy="410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A</a:t>
            </a:r>
            <a:r>
              <a:rPr sz="2400" spc="19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brief detour</a:t>
            </a:r>
            <a:r>
              <a:rPr sz="2400" spc="4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through information theory…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6996" y="5188131"/>
            <a:ext cx="4857824" cy="221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• 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熵</a:t>
            </a:r>
            <a:r>
              <a:rPr sz="1200" spc="-1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(Entropy) 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就是那个能衡量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“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混乱程度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（即不确定性）的数学公式。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6996" y="5401491"/>
            <a:ext cx="9391376" cy="648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• 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决策树在构建时，会评估所有可能的分裂⽅式（⽐如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“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按年龄</a:t>
            </a:r>
            <a:r>
              <a:rPr sz="1200" spc="-1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&gt; 30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岁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分，还是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“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按收⼊</a:t>
            </a:r>
            <a:r>
              <a:rPr sz="1200" spc="-1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&gt; 5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万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分）。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• 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它会选择那个能让分裂后的⼦节点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“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熵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的总和最⼩（也就是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“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纯度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最⾼）的分裂⽅式。这个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“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熵减少的量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通常被称为信息增益</a:t>
            </a:r>
            <a:r>
              <a:rPr sz="1200" spc="-1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(Information</a:t>
            </a:r>
          </a:p>
          <a:p>
            <a:pPr marL="18946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1B1C1D"/>
                </a:solidFill>
                <a:latin typeface="EMCSPQ+TimesNewRomanPSMT"/>
                <a:cs typeface="EMCSPQ+TimesNewRomanPSMT"/>
              </a:rPr>
              <a:t>Gain)</a:t>
            </a:r>
            <a:r>
              <a:rPr sz="1200" dirty="0">
                <a:solidFill>
                  <a:srgbClr val="1B1C1D"/>
                </a:solidFill>
                <a:latin typeface="JSVSMR+PingFangSC-Regular"/>
                <a:cs typeface="JSVSMR+PingFangSC-Regular"/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422686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1F5F"/>
                </a:solidFill>
                <a:latin typeface="UWTVVI+Calibri-Bold"/>
                <a:cs typeface="UWTVVI+Calibri-Bold"/>
              </a:rPr>
              <a:t>Quantifying</a:t>
            </a:r>
            <a:r>
              <a:rPr sz="3250" spc="-121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2" dirty="0">
                <a:solidFill>
                  <a:srgbClr val="001F5F"/>
                </a:solidFill>
                <a:latin typeface="UWTVVI+Calibri-Bold"/>
                <a:cs typeface="UWTVVI+Calibri-Bold"/>
              </a:rPr>
              <a:t>Uncertainty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61477"/>
            <a:ext cx="11304812" cy="1334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8616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202124"/>
                </a:solidFill>
                <a:latin typeface="JSVSMR+PingFangSC-Regular"/>
                <a:cs typeface="JSVSMR+PingFangSC-Regular"/>
              </a:rPr>
              <a:t>离散随机变量的熵是⼀个数值，⽤于量化其可能结果中固有的不确定性</a:t>
            </a:r>
          </a:p>
          <a:p>
            <a:pPr marL="0" marR="0">
              <a:lnSpc>
                <a:spcPts val="2499"/>
              </a:lnSpc>
              <a:spcBef>
                <a:spcPts val="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4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entropy</a:t>
            </a:r>
            <a:r>
              <a:rPr sz="2400" spc="25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discrete</a:t>
            </a:r>
            <a:r>
              <a:rPr sz="2400" spc="6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random</a:t>
            </a:r>
            <a:r>
              <a:rPr sz="2400" spc="-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variable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-10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number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that quantifies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9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uncertainty</a:t>
            </a:r>
          </a:p>
          <a:p>
            <a:pPr marL="343217" marR="0">
              <a:lnSpc>
                <a:spcPts val="2402"/>
              </a:lnSpc>
              <a:spcBef>
                <a:spcPts val="45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inherent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its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possible outcomes.</a:t>
            </a:r>
          </a:p>
          <a:p>
            <a:pPr marL="0" marR="0">
              <a:lnSpc>
                <a:spcPts val="2686"/>
              </a:lnSpc>
              <a:spcBef>
                <a:spcPts val="10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3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mathematical</a:t>
            </a:r>
            <a:r>
              <a:rPr sz="2400" spc="-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definition of entropy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that we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give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few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slides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may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seem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arbitrary,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225" y="2415302"/>
            <a:ext cx="4805882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but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it</a:t>
            </a:r>
            <a:r>
              <a:rPr sz="2400" spc="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can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62" dirty="0">
                <a:solidFill>
                  <a:srgbClr val="000000"/>
                </a:solidFill>
                <a:latin typeface="DHSVHP+Calibri"/>
                <a:cs typeface="DHSVHP+Calibri"/>
              </a:rPr>
              <a:t>be</a:t>
            </a:r>
            <a:r>
              <a:rPr sz="2400" spc="1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motivated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axiomatically.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5640" y="2836103"/>
            <a:ext cx="6880811" cy="352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4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050" spc="-1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VCNWLL+Calibri"/>
                <a:cs typeface="VCNWLL+Calibri"/>
              </a:rPr>
              <a:t>If</a:t>
            </a:r>
            <a:r>
              <a:rPr sz="2050" spc="-37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050" spc="-22" dirty="0">
                <a:solidFill>
                  <a:srgbClr val="000000"/>
                </a:solidFill>
                <a:latin typeface="VCNWLL+Calibri"/>
                <a:cs typeface="VCNWLL+Calibri"/>
              </a:rPr>
              <a:t>you’re</a:t>
            </a:r>
            <a:r>
              <a:rPr sz="2050" spc="-2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050" spc="-16" dirty="0">
                <a:solidFill>
                  <a:srgbClr val="000000"/>
                </a:solidFill>
                <a:latin typeface="VCNWLL+Calibri"/>
                <a:cs typeface="VCNWLL+Calibri"/>
              </a:rPr>
              <a:t>interested,</a:t>
            </a:r>
            <a:r>
              <a:rPr sz="2050" spc="25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050" spc="-22" dirty="0">
                <a:solidFill>
                  <a:srgbClr val="000000"/>
                </a:solidFill>
                <a:latin typeface="VCNWLL+Calibri"/>
                <a:cs typeface="VCNWLL+Calibri"/>
              </a:rPr>
              <a:t>check:</a:t>
            </a:r>
            <a:r>
              <a:rPr sz="2050" spc="-33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050" spc="-21" dirty="0">
                <a:solidFill>
                  <a:srgbClr val="000000"/>
                </a:solidFill>
                <a:latin typeface="AQTIUB+Calibri-Italic"/>
                <a:cs typeface="AQTIUB+Calibri-Italic"/>
              </a:rPr>
              <a:t>Information</a:t>
            </a:r>
            <a:r>
              <a:rPr sz="2050" spc="-762" dirty="0">
                <a:solidFill>
                  <a:srgbClr val="000000"/>
                </a:solidFill>
                <a:latin typeface="AQTIUB+Calibri-Italic"/>
                <a:cs typeface="AQTIUB+Calibri-Italic"/>
              </a:rPr>
              <a:t> </a:t>
            </a:r>
            <a:r>
              <a:rPr sz="2050" spc="-26" dirty="0">
                <a:solidFill>
                  <a:srgbClr val="000000"/>
                </a:solidFill>
                <a:latin typeface="AQTIUB+Calibri-Italic"/>
                <a:cs typeface="AQTIUB+Calibri-Italic"/>
              </a:rPr>
              <a:t>Theory</a:t>
            </a:r>
            <a:r>
              <a:rPr sz="2050" spc="-780" dirty="0">
                <a:solidFill>
                  <a:srgbClr val="000000"/>
                </a:solidFill>
                <a:latin typeface="AQTIUB+Calibri-Italic"/>
                <a:cs typeface="AQTIUB+Calibri-Italic"/>
              </a:rPr>
              <a:t> </a:t>
            </a:r>
            <a:r>
              <a:rPr sz="2050" spc="-25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  <a:r>
              <a:rPr sz="205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25" dirty="0">
                <a:solidFill>
                  <a:srgbClr val="000000"/>
                </a:solidFill>
                <a:latin typeface="DHSVHP+Calibri"/>
                <a:cs typeface="DHSVHP+Calibri"/>
              </a:rPr>
              <a:t>Robert</a:t>
            </a: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21" dirty="0">
                <a:solidFill>
                  <a:srgbClr val="000000"/>
                </a:solidFill>
                <a:latin typeface="DHSVHP+Calibri"/>
                <a:cs typeface="DHSVHP+Calibri"/>
              </a:rPr>
              <a:t>Ash.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3450649"/>
            <a:ext cx="7624516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7" dirty="0">
                <a:solidFill>
                  <a:srgbClr val="000000"/>
                </a:solidFill>
                <a:latin typeface="VCNWLL+Calibri"/>
                <a:cs typeface="VCNWLL+Calibri"/>
              </a:rPr>
              <a:t>To</a:t>
            </a:r>
            <a:r>
              <a:rPr sz="2400" spc="-3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explain entropy,</a:t>
            </a:r>
            <a:r>
              <a:rPr sz="2400" spc="-18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consider</a:t>
            </a:r>
            <a:r>
              <a:rPr sz="2400" spc="47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flipping</a:t>
            </a:r>
            <a:r>
              <a:rPr sz="2400" spc="-19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VCNWLL+Calibri"/>
                <a:cs typeface="VCNWLL+Calibri"/>
              </a:rPr>
              <a:t>two</a:t>
            </a:r>
            <a:r>
              <a:rPr sz="2400" spc="-25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different coins…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487183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We</a:t>
            </a:r>
            <a:r>
              <a:rPr sz="3250" spc="-1241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Flip</a:t>
            </a:r>
            <a:r>
              <a:rPr sz="3250" spc="-1287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4" dirty="0">
                <a:solidFill>
                  <a:srgbClr val="001F5F"/>
                </a:solidFill>
                <a:latin typeface="UWTVVI+Calibri-Bold"/>
                <a:cs typeface="UWTVVI+Calibri-Bold"/>
              </a:rPr>
              <a:t>Two</a:t>
            </a:r>
            <a:r>
              <a:rPr sz="3250" spc="-120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3" dirty="0">
                <a:solidFill>
                  <a:srgbClr val="001F5F"/>
                </a:solidFill>
                <a:latin typeface="UWTVVI+Calibri-Bold"/>
                <a:cs typeface="UWTVVI+Calibri-Bold"/>
              </a:rPr>
              <a:t>Different</a:t>
            </a:r>
            <a:r>
              <a:rPr sz="3250" spc="-1187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Coins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422686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1F5F"/>
                </a:solidFill>
                <a:latin typeface="UWTVVI+Calibri-Bold"/>
                <a:cs typeface="UWTVVI+Calibri-Bold"/>
              </a:rPr>
              <a:t>Quantifying</a:t>
            </a:r>
            <a:r>
              <a:rPr sz="3250" spc="-121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2" dirty="0">
                <a:solidFill>
                  <a:srgbClr val="001F5F"/>
                </a:solidFill>
                <a:latin typeface="UWTVVI+Calibri-Bold"/>
                <a:cs typeface="UWTVVI+Calibri-Bold"/>
              </a:rPr>
              <a:t>Uncertainty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71255"/>
            <a:ext cx="8806438" cy="1011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3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entropy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loaded coin with probability</a:t>
            </a:r>
            <a:r>
              <a:rPr sz="2400" spc="10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567" dirty="0">
                <a:solidFill>
                  <a:srgbClr val="000000"/>
                </a:solidFill>
                <a:latin typeface="PLNGGG+Cambria Math"/>
                <a:cs typeface="PLNGGG+Cambria Math"/>
              </a:rPr>
              <a:t>ꢆ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heads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given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</a:p>
          <a:p>
            <a:pPr marL="3683317" marR="0">
              <a:lnSpc>
                <a:spcPts val="2407"/>
              </a:lnSpc>
              <a:spcBef>
                <a:spcPts val="2483"/>
              </a:spcBef>
              <a:spcAft>
                <a:spcPts val="0"/>
              </a:spcAft>
            </a:pPr>
            <a:r>
              <a:rPr sz="2400" spc="13" dirty="0">
                <a:solidFill>
                  <a:srgbClr val="000000"/>
                </a:solidFill>
                <a:latin typeface="PLNGGG+Cambria Math"/>
                <a:cs typeface="PLNGGG+Cambria Math"/>
              </a:rPr>
              <a:t>−ꢆlog</a:t>
            </a:r>
            <a:r>
              <a:rPr sz="2400" spc="7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ꢆ</a:t>
            </a:r>
            <a:r>
              <a:rPr sz="2400" spc="1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65" dirty="0">
                <a:solidFill>
                  <a:srgbClr val="000000"/>
                </a:solidFill>
                <a:latin typeface="PLNGGG+Cambria Math"/>
                <a:cs typeface="PLNGGG+Cambria Math"/>
              </a:rPr>
              <a:t>−(</a:t>
            </a:r>
            <a:r>
              <a:rPr sz="2400" spc="532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400" spc="-9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PLNGGG+Cambria Math"/>
                <a:cs typeface="PLNGGG+Cambria Math"/>
              </a:rPr>
              <a:t>ꢆ)log</a:t>
            </a:r>
            <a:r>
              <a:rPr sz="2400" spc="7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31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400" spc="532" dirty="0">
                <a:solidFill>
                  <a:srgbClr val="000000"/>
                </a:solidFill>
                <a:latin typeface="PLNGGG+Cambria Math"/>
                <a:cs typeface="PLNGGG+Cambria Math"/>
              </a:rPr>
              <a:t>−ꢆ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05934" y="1868501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03744" y="1868501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4733935"/>
            <a:ext cx="9286249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Notice: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coin whose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outcomes</a:t>
            </a:r>
            <a:r>
              <a:rPr sz="2400" spc="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are</a:t>
            </a:r>
            <a:r>
              <a:rPr sz="2400" spc="-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more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certain 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has</a:t>
            </a:r>
            <a:r>
              <a:rPr sz="2400" spc="-8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lower</a:t>
            </a:r>
            <a:r>
              <a:rPr sz="2400" spc="-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entropy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4007" y="5468312"/>
            <a:ext cx="11257404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extreme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case</a:t>
            </a:r>
            <a:r>
              <a:rPr sz="2400" spc="6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454" dirty="0">
                <a:solidFill>
                  <a:srgbClr val="000000"/>
                </a:solidFill>
                <a:latin typeface="PLNGGG+Cambria Math"/>
                <a:cs typeface="PLNGGG+Cambria Math"/>
              </a:rPr>
              <a:t>ꢆ=0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or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79" dirty="0">
                <a:solidFill>
                  <a:srgbClr val="000000"/>
                </a:solidFill>
                <a:latin typeface="PLNGGG+Cambria Math"/>
                <a:cs typeface="PLNGGG+Cambria Math"/>
              </a:rPr>
              <a:t>ꢆ=</a:t>
            </a:r>
            <a:r>
              <a:rPr sz="240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were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certain of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outcome before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observing.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7225" y="5878275"/>
            <a:ext cx="7510443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So,</a:t>
            </a:r>
            <a:r>
              <a:rPr sz="2400" spc="-3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gained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no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certainty</a:t>
            </a:r>
            <a:r>
              <a:rPr sz="2400" spc="-5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observing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it,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i.e.,</a:t>
            </a:r>
            <a:r>
              <a:rPr sz="2400" spc="6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entropy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88440" y="124823"/>
            <a:ext cx="4503411" cy="648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“</a:t>
            </a:r>
            <a:r>
              <a:rPr sz="1200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熵</a:t>
            </a:r>
            <a:r>
              <a:rPr sz="120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”</a:t>
            </a:r>
            <a:r>
              <a:rPr sz="1200" spc="-42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(Entropy)</a:t>
            </a:r>
            <a:r>
              <a:rPr sz="1200" spc="-417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=</a:t>
            </a:r>
            <a:r>
              <a:rPr sz="1200" spc="-42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“</a:t>
            </a:r>
            <a:r>
              <a:rPr sz="1200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预期的信息量</a:t>
            </a:r>
            <a:r>
              <a:rPr sz="120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”</a:t>
            </a:r>
            <a:r>
              <a:rPr sz="1200" spc="-42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(Expected</a:t>
            </a:r>
            <a:r>
              <a:rPr sz="1200" spc="-42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Information</a:t>
            </a:r>
            <a:r>
              <a:rPr sz="1200" spc="-42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Content)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• “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预期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在概率论中就是指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“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平均值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。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• 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所以，熵就是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“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平均的意外程度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278702"/>
            <a:ext cx="422686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1F5F"/>
                </a:solidFill>
                <a:latin typeface="UWTVVI+Calibri-Bold"/>
                <a:cs typeface="UWTVVI+Calibri-Bold"/>
              </a:rPr>
              <a:t>Quantifying</a:t>
            </a:r>
            <a:r>
              <a:rPr sz="3250" spc="-121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2" dirty="0">
                <a:solidFill>
                  <a:srgbClr val="001F5F"/>
                </a:solidFill>
                <a:latin typeface="UWTVVI+Calibri-Bold"/>
                <a:cs typeface="UWTVVI+Calibri-Bold"/>
              </a:rPr>
              <a:t>Uncertainty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1049565"/>
            <a:ext cx="242658" cy="326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6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7225" y="1089596"/>
            <a:ext cx="28986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90512" y="1089596"/>
            <a:ext cx="27589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4003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05041" y="1089596"/>
            <a:ext cx="27589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28532" y="1089596"/>
            <a:ext cx="21156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l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86023" y="1089596"/>
            <a:ext cx="253232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90436" y="1089596"/>
            <a:ext cx="288354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80958" y="1089596"/>
            <a:ext cx="238756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67324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00096" y="1089596"/>
            <a:ext cx="21156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i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57330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990618" y="1089596"/>
            <a:ext cx="269597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k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162062" y="1089596"/>
            <a:ext cx="288354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295350" y="1089596"/>
            <a:ext cx="231077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f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30145" y="1089596"/>
            <a:ext cx="28067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B44E4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554409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B44E4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687955" y="1089596"/>
            <a:ext cx="238756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B44E4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774321" y="1089596"/>
            <a:ext cx="24228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B44E4"/>
                </a:solidFill>
                <a:latin typeface="DHSVHP+Calibri"/>
                <a:cs typeface="DHSVHP+Calibri"/>
              </a:rPr>
              <a:t>r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869195" y="1089596"/>
            <a:ext cx="288354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B44E4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002741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B44E4"/>
                </a:solidFill>
                <a:latin typeface="DHSVHP+Calibri"/>
                <a:cs typeface="DHSVHP+Calibri"/>
              </a:rPr>
              <a:t>p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136286" y="1089596"/>
            <a:ext cx="269094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B44E4"/>
                </a:solidFill>
                <a:latin typeface="DHSVHP+Calibri"/>
                <a:cs typeface="DHSVHP+Calibri"/>
              </a:rPr>
              <a:t>y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303905" y="1089596"/>
            <a:ext cx="27589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427395" y="1089596"/>
            <a:ext cx="253232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581050" y="1089596"/>
            <a:ext cx="238756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3667416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h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800704" y="1089596"/>
            <a:ext cx="28067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991483" y="1089596"/>
            <a:ext cx="28067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115748" y="1089596"/>
            <a:ext cx="264058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x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230216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p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363761" y="1089596"/>
            <a:ext cx="28067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488026" y="1089596"/>
            <a:ext cx="26141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c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4593212" y="1089596"/>
            <a:ext cx="238756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4679579" y="1089596"/>
            <a:ext cx="28067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4812609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d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5003646" y="1089596"/>
            <a:ext cx="21156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i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5061137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5194683" y="1089596"/>
            <a:ext cx="231077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f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5271253" y="1089596"/>
            <a:ext cx="288354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5404799" y="1089596"/>
            <a:ext cx="24228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r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5490907" y="1089596"/>
            <a:ext cx="35834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m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5700507" y="1089596"/>
            <a:ext cx="27589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5815232" y="1089596"/>
            <a:ext cx="238756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5901599" y="1089596"/>
            <a:ext cx="21156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i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5968114" y="1089596"/>
            <a:ext cx="288354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6101659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6292697" y="1089596"/>
            <a:ext cx="26141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c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6397883" y="1089596"/>
            <a:ext cx="288354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6531429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6664974" y="1089596"/>
            <a:ext cx="238756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6751340" y="1089596"/>
            <a:ext cx="28067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6875089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7008635" y="1089596"/>
            <a:ext cx="238756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7152235" y="1089596"/>
            <a:ext cx="288354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7285781" y="1089596"/>
            <a:ext cx="231077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f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7419842" y="1089596"/>
            <a:ext cx="27589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7601599" y="1089596"/>
            <a:ext cx="24228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r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7696730" y="1089596"/>
            <a:ext cx="27589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7811456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7945001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d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8078546" y="1089596"/>
            <a:ext cx="288354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8212092" y="1089596"/>
            <a:ext cx="35834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m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8479183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d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8612729" y="1089596"/>
            <a:ext cx="24228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r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8698837" y="1089596"/>
            <a:ext cx="27589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8822328" y="1089596"/>
            <a:ext cx="336693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w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9061834" y="1089596"/>
            <a:ext cx="231077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f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9138403" y="1089596"/>
            <a:ext cx="24228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r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9224512" y="1089596"/>
            <a:ext cx="288354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9358057" y="1089596"/>
            <a:ext cx="35834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m</a:t>
            </a:r>
          </a:p>
        </p:txBody>
      </p:sp>
      <p:sp>
        <p:nvSpPr>
          <p:cNvPr id="75" name="object 75"/>
          <p:cNvSpPr txBox="1"/>
          <p:nvPr/>
        </p:nvSpPr>
        <p:spPr>
          <a:xfrm>
            <a:off x="9625149" y="1089596"/>
            <a:ext cx="27589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76" name="object 76"/>
          <p:cNvSpPr txBox="1"/>
          <p:nvPr/>
        </p:nvSpPr>
        <p:spPr>
          <a:xfrm>
            <a:off x="9806905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p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9940451" y="1089596"/>
            <a:ext cx="24228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r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10026559" y="1089596"/>
            <a:ext cx="288354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79" name="object 79"/>
          <p:cNvSpPr txBox="1"/>
          <p:nvPr/>
        </p:nvSpPr>
        <p:spPr>
          <a:xfrm>
            <a:off x="10160105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b</a:t>
            </a:r>
          </a:p>
        </p:txBody>
      </p:sp>
      <p:sp>
        <p:nvSpPr>
          <p:cNvPr id="80" name="object 80"/>
          <p:cNvSpPr txBox="1"/>
          <p:nvPr/>
        </p:nvSpPr>
        <p:spPr>
          <a:xfrm>
            <a:off x="10293650" y="1089596"/>
            <a:ext cx="275891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81" name="object 81"/>
          <p:cNvSpPr txBox="1"/>
          <p:nvPr/>
        </p:nvSpPr>
        <p:spPr>
          <a:xfrm>
            <a:off x="10417141" y="1089596"/>
            <a:ext cx="28785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b</a:t>
            </a:r>
          </a:p>
        </p:txBody>
      </p:sp>
      <p:sp>
        <p:nvSpPr>
          <p:cNvPr id="82" name="object 82"/>
          <p:cNvSpPr txBox="1"/>
          <p:nvPr/>
        </p:nvSpPr>
        <p:spPr>
          <a:xfrm>
            <a:off x="10551460" y="1089596"/>
            <a:ext cx="21156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i</a:t>
            </a:r>
          </a:p>
        </p:txBody>
      </p:sp>
      <p:sp>
        <p:nvSpPr>
          <p:cNvPr id="83" name="object 83"/>
          <p:cNvSpPr txBox="1"/>
          <p:nvPr/>
        </p:nvSpPr>
        <p:spPr>
          <a:xfrm>
            <a:off x="10608952" y="1089596"/>
            <a:ext cx="21156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l</a:t>
            </a:r>
          </a:p>
        </p:txBody>
      </p:sp>
      <p:sp>
        <p:nvSpPr>
          <p:cNvPr id="84" name="object 84"/>
          <p:cNvSpPr txBox="1"/>
          <p:nvPr/>
        </p:nvSpPr>
        <p:spPr>
          <a:xfrm>
            <a:off x="10666444" y="1089596"/>
            <a:ext cx="21156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i</a:t>
            </a:r>
          </a:p>
        </p:txBody>
      </p:sp>
      <p:sp>
        <p:nvSpPr>
          <p:cNvPr id="85" name="object 85"/>
          <p:cNvSpPr txBox="1"/>
          <p:nvPr/>
        </p:nvSpPr>
        <p:spPr>
          <a:xfrm>
            <a:off x="10723935" y="1089596"/>
            <a:ext cx="238756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86" name="object 86"/>
          <p:cNvSpPr txBox="1"/>
          <p:nvPr/>
        </p:nvSpPr>
        <p:spPr>
          <a:xfrm>
            <a:off x="10810301" y="1089596"/>
            <a:ext cx="269094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y</a:t>
            </a:r>
          </a:p>
        </p:txBody>
      </p:sp>
      <p:sp>
        <p:nvSpPr>
          <p:cNvPr id="87" name="object 87"/>
          <p:cNvSpPr txBox="1"/>
          <p:nvPr/>
        </p:nvSpPr>
        <p:spPr>
          <a:xfrm>
            <a:off x="657225" y="1395396"/>
            <a:ext cx="1434581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spc="-20" dirty="0">
                <a:solidFill>
                  <a:srgbClr val="000000"/>
                </a:solidFill>
                <a:latin typeface="DHSVHP+Calibri"/>
                <a:cs typeface="DHSVHP+Calibri"/>
              </a:rPr>
              <a:t>distribution.</a:t>
            </a:r>
          </a:p>
        </p:txBody>
      </p:sp>
      <p:sp>
        <p:nvSpPr>
          <p:cNvPr id="88" name="object 88"/>
          <p:cNvSpPr txBox="1"/>
          <p:nvPr/>
        </p:nvSpPr>
        <p:spPr>
          <a:xfrm>
            <a:off x="5899644" y="1477225"/>
            <a:ext cx="5556273" cy="861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• “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坏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的叶⼦节点</a:t>
            </a:r>
            <a:r>
              <a:rPr sz="1200" spc="-1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(50% </a:t>
            </a:r>
            <a:r>
              <a:rPr sz="1200" spc="233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是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A, 50% 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是</a:t>
            </a:r>
            <a:r>
              <a:rPr sz="1200" spc="-1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B)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：</a:t>
            </a:r>
            <a:r>
              <a:rPr sz="1200" spc="-1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⽆论你抽到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A</a:t>
            </a:r>
            <a:r>
              <a:rPr sz="1200" spc="-66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 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还是</a:t>
            </a:r>
            <a:r>
              <a:rPr sz="1200" spc="-1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B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，都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“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有点意外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”</a:t>
            </a:r>
          </a:p>
          <a:p>
            <a:pPr marL="383424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（因为你有⼀半的概率猜错）。所以它的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“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平均意外程度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（熵）很⾼。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• “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好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的叶⼦节点</a:t>
            </a:r>
            <a:r>
              <a:rPr sz="1200" spc="-1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(100% </a:t>
            </a:r>
            <a:r>
              <a:rPr sz="1200" spc="233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是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A, 0% 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是</a:t>
            </a:r>
            <a:r>
              <a:rPr sz="1200" spc="-1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B)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：</a:t>
            </a:r>
            <a:r>
              <a:rPr sz="1200" spc="-1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你抽到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A“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毫不意外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（信息量为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0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）。你</a:t>
            </a:r>
          </a:p>
          <a:p>
            <a:pPr marL="383424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永远抽不到</a:t>
            </a:r>
            <a:r>
              <a:rPr sz="1200" spc="-1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B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。所以它的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“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平均意外程度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”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（熵）为</a:t>
            </a:r>
            <a:r>
              <a:rPr sz="1200" spc="-1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0</a:t>
            </a:r>
            <a:r>
              <a:rPr sz="12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。</a:t>
            </a:r>
          </a:p>
        </p:txBody>
      </p:sp>
      <p:sp>
        <p:nvSpPr>
          <p:cNvPr id="89" name="object 89"/>
          <p:cNvSpPr txBox="1"/>
          <p:nvPr/>
        </p:nvSpPr>
        <p:spPr>
          <a:xfrm>
            <a:off x="7265221" y="2622162"/>
            <a:ext cx="4140182" cy="11692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熵</a:t>
            </a:r>
            <a:r>
              <a:rPr sz="1300" spc="-335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 </a:t>
            </a:r>
            <a:r>
              <a:rPr sz="1300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=</a:t>
            </a:r>
            <a:r>
              <a:rPr sz="1300" spc="-338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 </a:t>
            </a:r>
            <a:r>
              <a:rPr sz="1300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信息的物理下限</a:t>
            </a:r>
            <a:r>
              <a:rPr sz="1300" spc="-344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 </a:t>
            </a:r>
            <a:r>
              <a:rPr sz="1300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(Entropy</a:t>
            </a:r>
            <a:r>
              <a:rPr sz="1300" spc="-344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 </a:t>
            </a:r>
            <a:r>
              <a:rPr sz="1300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=</a:t>
            </a:r>
            <a:r>
              <a:rPr sz="1300" spc="-338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 </a:t>
            </a:r>
            <a:r>
              <a:rPr sz="1300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The</a:t>
            </a:r>
            <a:r>
              <a:rPr sz="1300" spc="-344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 </a:t>
            </a:r>
            <a:r>
              <a:rPr sz="1300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Physical</a:t>
            </a:r>
            <a:r>
              <a:rPr sz="1300" spc="-346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 </a:t>
            </a:r>
            <a:r>
              <a:rPr sz="1300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Limit)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“</a:t>
            </a:r>
            <a:r>
              <a:rPr sz="13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熵</a:t>
            </a:r>
            <a:r>
              <a:rPr sz="13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”</a:t>
            </a:r>
            <a:r>
              <a:rPr sz="13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不仅是⼀个数学概念，它是⼀个物理上的硬限制。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• </a:t>
            </a:r>
            <a:r>
              <a:rPr sz="13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熵</a:t>
            </a:r>
            <a:r>
              <a:rPr sz="1300" spc="-97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 </a:t>
            </a:r>
            <a:r>
              <a:rPr sz="13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= “</a:t>
            </a:r>
            <a:r>
              <a:rPr sz="13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数据压缩的极限</a:t>
            </a:r>
            <a:r>
              <a:rPr sz="13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”</a:t>
            </a:r>
            <a:r>
              <a:rPr sz="13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。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• </a:t>
            </a:r>
            <a:r>
              <a:rPr sz="13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它告诉你，要⽆损地存储来⾃某个概率分布的数据，</a:t>
            </a:r>
          </a:p>
          <a:p>
            <a:pPr marL="18946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你平均最少需要多少个</a:t>
            </a:r>
            <a:r>
              <a:rPr sz="1300" spc="-105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 </a:t>
            </a:r>
            <a:r>
              <a:rPr sz="13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bit</a:t>
            </a:r>
            <a:r>
              <a:rPr sz="13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。</a:t>
            </a:r>
          </a:p>
        </p:txBody>
      </p:sp>
      <p:sp>
        <p:nvSpPr>
          <p:cNvPr id="90" name="object 90"/>
          <p:cNvSpPr txBox="1"/>
          <p:nvPr/>
        </p:nvSpPr>
        <p:spPr>
          <a:xfrm>
            <a:off x="314007" y="5017968"/>
            <a:ext cx="242547" cy="3257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65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</a:p>
        </p:txBody>
      </p:sp>
      <p:sp>
        <p:nvSpPr>
          <p:cNvPr id="91" name="object 91"/>
          <p:cNvSpPr txBox="1"/>
          <p:nvPr/>
        </p:nvSpPr>
        <p:spPr>
          <a:xfrm>
            <a:off x="657225" y="5057950"/>
            <a:ext cx="289695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C</a:t>
            </a:r>
          </a:p>
        </p:txBody>
      </p:sp>
      <p:sp>
        <p:nvSpPr>
          <p:cNvPr id="92" name="object 92"/>
          <p:cNvSpPr txBox="1"/>
          <p:nvPr/>
        </p:nvSpPr>
        <p:spPr>
          <a:xfrm>
            <a:off x="790606" y="5057950"/>
            <a:ext cx="211492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l</a:t>
            </a:r>
          </a:p>
        </p:txBody>
      </p:sp>
      <p:sp>
        <p:nvSpPr>
          <p:cNvPr id="93" name="object 93"/>
          <p:cNvSpPr txBox="1"/>
          <p:nvPr/>
        </p:nvSpPr>
        <p:spPr>
          <a:xfrm>
            <a:off x="847769" y="5057950"/>
            <a:ext cx="275739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94" name="object 94"/>
          <p:cNvSpPr txBox="1"/>
          <p:nvPr/>
        </p:nvSpPr>
        <p:spPr>
          <a:xfrm>
            <a:off x="971108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u</a:t>
            </a:r>
          </a:p>
        </p:txBody>
      </p:sp>
      <p:sp>
        <p:nvSpPr>
          <p:cNvPr id="95" name="object 95"/>
          <p:cNvSpPr txBox="1"/>
          <p:nvPr/>
        </p:nvSpPr>
        <p:spPr>
          <a:xfrm>
            <a:off x="1105004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d</a:t>
            </a:r>
          </a:p>
        </p:txBody>
      </p:sp>
      <p:sp>
        <p:nvSpPr>
          <p:cNvPr id="96" name="object 96"/>
          <p:cNvSpPr txBox="1"/>
          <p:nvPr/>
        </p:nvSpPr>
        <p:spPr>
          <a:xfrm>
            <a:off x="1238385" y="5057950"/>
            <a:ext cx="28051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97" name="object 97"/>
          <p:cNvSpPr txBox="1"/>
          <p:nvPr/>
        </p:nvSpPr>
        <p:spPr>
          <a:xfrm>
            <a:off x="1428672" y="5057950"/>
            <a:ext cx="270710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S</a:t>
            </a:r>
          </a:p>
        </p:txBody>
      </p:sp>
      <p:sp>
        <p:nvSpPr>
          <p:cNvPr id="98" name="object 98"/>
          <p:cNvSpPr txBox="1"/>
          <p:nvPr/>
        </p:nvSpPr>
        <p:spPr>
          <a:xfrm>
            <a:off x="1542999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h</a:t>
            </a:r>
          </a:p>
        </p:txBody>
      </p:sp>
      <p:sp>
        <p:nvSpPr>
          <p:cNvPr id="99" name="object 99"/>
          <p:cNvSpPr txBox="1"/>
          <p:nvPr/>
        </p:nvSpPr>
        <p:spPr>
          <a:xfrm>
            <a:off x="1676380" y="5057950"/>
            <a:ext cx="275739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100" name="object 100"/>
          <p:cNvSpPr txBox="1"/>
          <p:nvPr/>
        </p:nvSpPr>
        <p:spPr>
          <a:xfrm>
            <a:off x="1799719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101" name="object 101"/>
          <p:cNvSpPr txBox="1"/>
          <p:nvPr/>
        </p:nvSpPr>
        <p:spPr>
          <a:xfrm>
            <a:off x="1933615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102" name="object 102"/>
          <p:cNvSpPr txBox="1"/>
          <p:nvPr/>
        </p:nvSpPr>
        <p:spPr>
          <a:xfrm>
            <a:off x="2066996" y="5057950"/>
            <a:ext cx="28818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103" name="object 103"/>
          <p:cNvSpPr txBox="1"/>
          <p:nvPr/>
        </p:nvSpPr>
        <p:spPr>
          <a:xfrm>
            <a:off x="2200378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104" name="object 104"/>
          <p:cNvSpPr txBox="1"/>
          <p:nvPr/>
        </p:nvSpPr>
        <p:spPr>
          <a:xfrm>
            <a:off x="2390922" y="5057950"/>
            <a:ext cx="253108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s</a:t>
            </a:r>
          </a:p>
        </p:txBody>
      </p:sp>
      <p:sp>
        <p:nvSpPr>
          <p:cNvPr id="105" name="object 105"/>
          <p:cNvSpPr txBox="1"/>
          <p:nvPr/>
        </p:nvSpPr>
        <p:spPr>
          <a:xfrm>
            <a:off x="2486194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h</a:t>
            </a:r>
          </a:p>
        </p:txBody>
      </p:sp>
      <p:sp>
        <p:nvSpPr>
          <p:cNvPr id="106" name="object 106"/>
          <p:cNvSpPr txBox="1"/>
          <p:nvPr/>
        </p:nvSpPr>
        <p:spPr>
          <a:xfrm>
            <a:off x="2619576" y="5057950"/>
            <a:ext cx="28818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107" name="object 107"/>
          <p:cNvSpPr txBox="1"/>
          <p:nvPr/>
        </p:nvSpPr>
        <p:spPr>
          <a:xfrm>
            <a:off x="2752957" y="5057950"/>
            <a:ext cx="336466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w</a:t>
            </a:r>
          </a:p>
        </p:txBody>
      </p:sp>
      <p:sp>
        <p:nvSpPr>
          <p:cNvPr id="108" name="object 108"/>
          <p:cNvSpPr txBox="1"/>
          <p:nvPr/>
        </p:nvSpPr>
        <p:spPr>
          <a:xfrm>
            <a:off x="2934232" y="5057950"/>
            <a:ext cx="28051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109" name="object 109"/>
          <p:cNvSpPr txBox="1"/>
          <p:nvPr/>
        </p:nvSpPr>
        <p:spPr>
          <a:xfrm>
            <a:off x="3067355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d</a:t>
            </a:r>
          </a:p>
        </p:txBody>
      </p:sp>
      <p:sp>
        <p:nvSpPr>
          <p:cNvPr id="110" name="object 110"/>
          <p:cNvSpPr txBox="1"/>
          <p:nvPr/>
        </p:nvSpPr>
        <p:spPr>
          <a:xfrm>
            <a:off x="3200736" y="5057950"/>
            <a:ext cx="221299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:</a:t>
            </a:r>
          </a:p>
        </p:txBody>
      </p:sp>
      <p:sp>
        <p:nvSpPr>
          <p:cNvPr id="111" name="object 111"/>
          <p:cNvSpPr txBox="1"/>
          <p:nvPr/>
        </p:nvSpPr>
        <p:spPr>
          <a:xfrm>
            <a:off x="3324590" y="5057950"/>
            <a:ext cx="268950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y</a:t>
            </a:r>
          </a:p>
        </p:txBody>
      </p:sp>
      <p:sp>
        <p:nvSpPr>
          <p:cNvPr id="112" name="object 112"/>
          <p:cNvSpPr txBox="1"/>
          <p:nvPr/>
        </p:nvSpPr>
        <p:spPr>
          <a:xfrm>
            <a:off x="3438917" y="5057950"/>
            <a:ext cx="28818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113" name="object 113"/>
          <p:cNvSpPr txBox="1"/>
          <p:nvPr/>
        </p:nvSpPr>
        <p:spPr>
          <a:xfrm>
            <a:off x="3572298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u</a:t>
            </a:r>
          </a:p>
        </p:txBody>
      </p:sp>
      <p:sp>
        <p:nvSpPr>
          <p:cNvPr id="114" name="object 114"/>
          <p:cNvSpPr txBox="1"/>
          <p:nvPr/>
        </p:nvSpPr>
        <p:spPr>
          <a:xfrm>
            <a:off x="3762842" y="5057950"/>
            <a:ext cx="261281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c</a:t>
            </a:r>
          </a:p>
        </p:txBody>
      </p:sp>
      <p:sp>
        <p:nvSpPr>
          <p:cNvPr id="115" name="object 115"/>
          <p:cNvSpPr txBox="1"/>
          <p:nvPr/>
        </p:nvSpPr>
        <p:spPr>
          <a:xfrm>
            <a:off x="3867641" y="5057950"/>
            <a:ext cx="275739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116" name="object 116"/>
          <p:cNvSpPr txBox="1"/>
          <p:nvPr/>
        </p:nvSpPr>
        <p:spPr>
          <a:xfrm>
            <a:off x="3990980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117" name="object 117"/>
          <p:cNvSpPr txBox="1"/>
          <p:nvPr/>
        </p:nvSpPr>
        <p:spPr>
          <a:xfrm>
            <a:off x="4124877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118" name="object 118"/>
          <p:cNvSpPr txBox="1"/>
          <p:nvPr/>
        </p:nvSpPr>
        <p:spPr>
          <a:xfrm>
            <a:off x="4258258" y="5057950"/>
            <a:ext cx="28818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119" name="object 119"/>
          <p:cNvSpPr txBox="1"/>
          <p:nvPr/>
        </p:nvSpPr>
        <p:spPr>
          <a:xfrm>
            <a:off x="4391639" y="5057950"/>
            <a:ext cx="238649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120" name="object 120"/>
          <p:cNvSpPr txBox="1"/>
          <p:nvPr/>
        </p:nvSpPr>
        <p:spPr>
          <a:xfrm>
            <a:off x="4534547" y="5057950"/>
            <a:ext cx="253108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s</a:t>
            </a:r>
          </a:p>
        </p:txBody>
      </p:sp>
      <p:sp>
        <p:nvSpPr>
          <p:cNvPr id="121" name="object 121"/>
          <p:cNvSpPr txBox="1"/>
          <p:nvPr/>
        </p:nvSpPr>
        <p:spPr>
          <a:xfrm>
            <a:off x="4629819" y="5057950"/>
            <a:ext cx="238649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122" name="object 122"/>
          <p:cNvSpPr txBox="1"/>
          <p:nvPr/>
        </p:nvSpPr>
        <p:spPr>
          <a:xfrm>
            <a:off x="4716079" y="5057950"/>
            <a:ext cx="28818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123" name="object 123"/>
          <p:cNvSpPr txBox="1"/>
          <p:nvPr/>
        </p:nvSpPr>
        <p:spPr>
          <a:xfrm>
            <a:off x="4848945" y="5057950"/>
            <a:ext cx="242170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r</a:t>
            </a:r>
          </a:p>
        </p:txBody>
      </p:sp>
      <p:sp>
        <p:nvSpPr>
          <p:cNvPr id="124" name="object 124"/>
          <p:cNvSpPr txBox="1"/>
          <p:nvPr/>
        </p:nvSpPr>
        <p:spPr>
          <a:xfrm>
            <a:off x="4943960" y="5057950"/>
            <a:ext cx="28051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125" name="object 125"/>
          <p:cNvSpPr txBox="1"/>
          <p:nvPr/>
        </p:nvSpPr>
        <p:spPr>
          <a:xfrm>
            <a:off x="5124977" y="5057950"/>
            <a:ext cx="238649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126" name="object 126"/>
          <p:cNvSpPr txBox="1"/>
          <p:nvPr/>
        </p:nvSpPr>
        <p:spPr>
          <a:xfrm>
            <a:off x="5211237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h</a:t>
            </a:r>
          </a:p>
        </p:txBody>
      </p:sp>
      <p:sp>
        <p:nvSpPr>
          <p:cNvPr id="127" name="object 127"/>
          <p:cNvSpPr txBox="1"/>
          <p:nvPr/>
        </p:nvSpPr>
        <p:spPr>
          <a:xfrm>
            <a:off x="5344103" y="5057950"/>
            <a:ext cx="28051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128" name="object 128"/>
          <p:cNvSpPr txBox="1"/>
          <p:nvPr/>
        </p:nvSpPr>
        <p:spPr>
          <a:xfrm>
            <a:off x="5525121" y="5057950"/>
            <a:ext cx="28818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129" name="object 129"/>
          <p:cNvSpPr txBox="1"/>
          <p:nvPr/>
        </p:nvSpPr>
        <p:spPr>
          <a:xfrm>
            <a:off x="5658502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u</a:t>
            </a:r>
          </a:p>
        </p:txBody>
      </p:sp>
      <p:sp>
        <p:nvSpPr>
          <p:cNvPr id="130" name="object 130"/>
          <p:cNvSpPr txBox="1"/>
          <p:nvPr/>
        </p:nvSpPr>
        <p:spPr>
          <a:xfrm>
            <a:off x="5791883" y="5057950"/>
            <a:ext cx="238649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131" name="object 131"/>
          <p:cNvSpPr txBox="1"/>
          <p:nvPr/>
        </p:nvSpPr>
        <p:spPr>
          <a:xfrm>
            <a:off x="5878143" y="5057950"/>
            <a:ext cx="261281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c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5991697" y="5057950"/>
            <a:ext cx="28818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133" name="object 133"/>
          <p:cNvSpPr txBox="1"/>
          <p:nvPr/>
        </p:nvSpPr>
        <p:spPr>
          <a:xfrm>
            <a:off x="6125078" y="5057950"/>
            <a:ext cx="358092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m</a:t>
            </a:r>
          </a:p>
        </p:txBody>
      </p:sp>
      <p:sp>
        <p:nvSpPr>
          <p:cNvPr id="134" name="object 134"/>
          <p:cNvSpPr txBox="1"/>
          <p:nvPr/>
        </p:nvSpPr>
        <p:spPr>
          <a:xfrm>
            <a:off x="6325407" y="5057950"/>
            <a:ext cx="28051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135" name="object 135"/>
          <p:cNvSpPr txBox="1"/>
          <p:nvPr/>
        </p:nvSpPr>
        <p:spPr>
          <a:xfrm>
            <a:off x="6506424" y="5057950"/>
            <a:ext cx="28818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136" name="object 136"/>
          <p:cNvSpPr txBox="1"/>
          <p:nvPr/>
        </p:nvSpPr>
        <p:spPr>
          <a:xfrm>
            <a:off x="6639805" y="5057950"/>
            <a:ext cx="230980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f</a:t>
            </a:r>
          </a:p>
        </p:txBody>
      </p:sp>
      <p:sp>
        <p:nvSpPr>
          <p:cNvPr id="137" name="object 137"/>
          <p:cNvSpPr txBox="1"/>
          <p:nvPr/>
        </p:nvSpPr>
        <p:spPr>
          <a:xfrm>
            <a:off x="6782456" y="5057950"/>
            <a:ext cx="275739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138" name="object 138"/>
          <p:cNvSpPr txBox="1"/>
          <p:nvPr/>
        </p:nvSpPr>
        <p:spPr>
          <a:xfrm>
            <a:off x="6953946" y="5057950"/>
            <a:ext cx="242170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r</a:t>
            </a:r>
          </a:p>
        </p:txBody>
      </p:sp>
      <p:sp>
        <p:nvSpPr>
          <p:cNvPr id="139" name="object 139"/>
          <p:cNvSpPr txBox="1"/>
          <p:nvPr/>
        </p:nvSpPr>
        <p:spPr>
          <a:xfrm>
            <a:off x="7048960" y="5057950"/>
            <a:ext cx="275739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140" name="object 140"/>
          <p:cNvSpPr txBox="1"/>
          <p:nvPr/>
        </p:nvSpPr>
        <p:spPr>
          <a:xfrm>
            <a:off x="7172299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141" name="object 141"/>
          <p:cNvSpPr txBox="1"/>
          <p:nvPr/>
        </p:nvSpPr>
        <p:spPr>
          <a:xfrm>
            <a:off x="7306195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d</a:t>
            </a:r>
          </a:p>
        </p:txBody>
      </p:sp>
      <p:sp>
        <p:nvSpPr>
          <p:cNvPr id="142" name="object 142"/>
          <p:cNvSpPr txBox="1"/>
          <p:nvPr/>
        </p:nvSpPr>
        <p:spPr>
          <a:xfrm>
            <a:off x="7439576" y="5057950"/>
            <a:ext cx="28818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o</a:t>
            </a:r>
          </a:p>
        </p:txBody>
      </p:sp>
      <p:sp>
        <p:nvSpPr>
          <p:cNvPr id="143" name="object 143"/>
          <p:cNvSpPr txBox="1"/>
          <p:nvPr/>
        </p:nvSpPr>
        <p:spPr>
          <a:xfrm>
            <a:off x="7572957" y="5057950"/>
            <a:ext cx="358092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m</a:t>
            </a:r>
          </a:p>
        </p:txBody>
      </p:sp>
      <p:sp>
        <p:nvSpPr>
          <p:cNvPr id="144" name="object 144"/>
          <p:cNvSpPr txBox="1"/>
          <p:nvPr/>
        </p:nvSpPr>
        <p:spPr>
          <a:xfrm>
            <a:off x="7830449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d</a:t>
            </a:r>
          </a:p>
        </p:txBody>
      </p:sp>
      <p:sp>
        <p:nvSpPr>
          <p:cNvPr id="145" name="object 145"/>
          <p:cNvSpPr txBox="1"/>
          <p:nvPr/>
        </p:nvSpPr>
        <p:spPr>
          <a:xfrm>
            <a:off x="7963830" y="5057950"/>
            <a:ext cx="242170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r</a:t>
            </a:r>
          </a:p>
        </p:txBody>
      </p:sp>
      <p:sp>
        <p:nvSpPr>
          <p:cNvPr id="146" name="object 146"/>
          <p:cNvSpPr txBox="1"/>
          <p:nvPr/>
        </p:nvSpPr>
        <p:spPr>
          <a:xfrm>
            <a:off x="8049575" y="5057950"/>
            <a:ext cx="275739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</a:p>
        </p:txBody>
      </p:sp>
      <p:sp>
        <p:nvSpPr>
          <p:cNvPr id="147" name="object 147"/>
          <p:cNvSpPr txBox="1"/>
          <p:nvPr/>
        </p:nvSpPr>
        <p:spPr>
          <a:xfrm>
            <a:off x="8172914" y="5057950"/>
            <a:ext cx="336466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w</a:t>
            </a:r>
          </a:p>
        </p:txBody>
      </p:sp>
      <p:sp>
        <p:nvSpPr>
          <p:cNvPr id="148" name="object 148"/>
          <p:cNvSpPr txBox="1"/>
          <p:nvPr/>
        </p:nvSpPr>
        <p:spPr>
          <a:xfrm>
            <a:off x="8411867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u</a:t>
            </a:r>
          </a:p>
        </p:txBody>
      </p:sp>
      <p:sp>
        <p:nvSpPr>
          <p:cNvPr id="149" name="object 149"/>
          <p:cNvSpPr txBox="1"/>
          <p:nvPr/>
        </p:nvSpPr>
        <p:spPr>
          <a:xfrm>
            <a:off x="8545248" y="5057950"/>
            <a:ext cx="253108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s</a:t>
            </a:r>
          </a:p>
        </p:txBody>
      </p:sp>
      <p:sp>
        <p:nvSpPr>
          <p:cNvPr id="150" name="object 150"/>
          <p:cNvSpPr txBox="1"/>
          <p:nvPr/>
        </p:nvSpPr>
        <p:spPr>
          <a:xfrm>
            <a:off x="8649790" y="5057950"/>
            <a:ext cx="211492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i</a:t>
            </a:r>
          </a:p>
        </p:txBody>
      </p:sp>
      <p:sp>
        <p:nvSpPr>
          <p:cNvPr id="151" name="object 151"/>
          <p:cNvSpPr txBox="1"/>
          <p:nvPr/>
        </p:nvSpPr>
        <p:spPr>
          <a:xfrm>
            <a:off x="8706953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</a:p>
        </p:txBody>
      </p:sp>
      <p:sp>
        <p:nvSpPr>
          <p:cNvPr id="152" name="object 152"/>
          <p:cNvSpPr txBox="1"/>
          <p:nvPr/>
        </p:nvSpPr>
        <p:spPr>
          <a:xfrm>
            <a:off x="8840334" y="5057950"/>
            <a:ext cx="273602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g</a:t>
            </a:r>
          </a:p>
        </p:txBody>
      </p:sp>
      <p:sp>
        <p:nvSpPr>
          <p:cNvPr id="153" name="object 153"/>
          <p:cNvSpPr txBox="1"/>
          <p:nvPr/>
        </p:nvSpPr>
        <p:spPr>
          <a:xfrm>
            <a:off x="9011824" y="5057950"/>
            <a:ext cx="230980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f</a:t>
            </a:r>
          </a:p>
        </p:txBody>
      </p:sp>
      <p:sp>
        <p:nvSpPr>
          <p:cNvPr id="154" name="object 154"/>
          <p:cNvSpPr txBox="1"/>
          <p:nvPr/>
        </p:nvSpPr>
        <p:spPr>
          <a:xfrm>
            <a:off x="9088041" y="5057950"/>
            <a:ext cx="28051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155" name="object 155"/>
          <p:cNvSpPr txBox="1"/>
          <p:nvPr/>
        </p:nvSpPr>
        <p:spPr>
          <a:xfrm>
            <a:off x="9221165" y="5057950"/>
            <a:ext cx="336466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w</a:t>
            </a:r>
          </a:p>
        </p:txBody>
      </p:sp>
      <p:sp>
        <p:nvSpPr>
          <p:cNvPr id="156" name="object 156"/>
          <p:cNvSpPr txBox="1"/>
          <p:nvPr/>
        </p:nvSpPr>
        <p:spPr>
          <a:xfrm>
            <a:off x="9402440" y="5057950"/>
            <a:ext cx="28051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157" name="object 157"/>
          <p:cNvSpPr txBox="1"/>
          <p:nvPr/>
        </p:nvSpPr>
        <p:spPr>
          <a:xfrm>
            <a:off x="9526294" y="5057950"/>
            <a:ext cx="242170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r</a:t>
            </a:r>
          </a:p>
        </p:txBody>
      </p:sp>
      <p:sp>
        <p:nvSpPr>
          <p:cNvPr id="158" name="object 158"/>
          <p:cNvSpPr txBox="1"/>
          <p:nvPr/>
        </p:nvSpPr>
        <p:spPr>
          <a:xfrm>
            <a:off x="9669202" y="5057950"/>
            <a:ext cx="28051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159" name="object 159"/>
          <p:cNvSpPr txBox="1"/>
          <p:nvPr/>
        </p:nvSpPr>
        <p:spPr>
          <a:xfrm>
            <a:off x="9802326" y="5057950"/>
            <a:ext cx="263921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x</a:t>
            </a:r>
          </a:p>
        </p:txBody>
      </p:sp>
      <p:sp>
        <p:nvSpPr>
          <p:cNvPr id="160" name="object 160"/>
          <p:cNvSpPr txBox="1"/>
          <p:nvPr/>
        </p:nvSpPr>
        <p:spPr>
          <a:xfrm>
            <a:off x="9907126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p</a:t>
            </a:r>
          </a:p>
        </p:txBody>
      </p:sp>
      <p:sp>
        <p:nvSpPr>
          <p:cNvPr id="161" name="object 161"/>
          <p:cNvSpPr txBox="1"/>
          <p:nvPr/>
        </p:nvSpPr>
        <p:spPr>
          <a:xfrm>
            <a:off x="10040507" y="5057950"/>
            <a:ext cx="28051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162" name="object 162"/>
          <p:cNvSpPr txBox="1"/>
          <p:nvPr/>
        </p:nvSpPr>
        <p:spPr>
          <a:xfrm>
            <a:off x="10173630" y="5057950"/>
            <a:ext cx="261281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c</a:t>
            </a:r>
          </a:p>
        </p:txBody>
      </p:sp>
      <p:sp>
        <p:nvSpPr>
          <p:cNvPr id="163" name="object 163"/>
          <p:cNvSpPr txBox="1"/>
          <p:nvPr/>
        </p:nvSpPr>
        <p:spPr>
          <a:xfrm>
            <a:off x="10278430" y="5057950"/>
            <a:ext cx="238649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164" name="object 164"/>
          <p:cNvSpPr txBox="1"/>
          <p:nvPr/>
        </p:nvSpPr>
        <p:spPr>
          <a:xfrm>
            <a:off x="10364690" y="5057950"/>
            <a:ext cx="280517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165" name="object 165"/>
          <p:cNvSpPr txBox="1"/>
          <p:nvPr/>
        </p:nvSpPr>
        <p:spPr>
          <a:xfrm>
            <a:off x="10488029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d</a:t>
            </a:r>
          </a:p>
        </p:txBody>
      </p:sp>
      <p:sp>
        <p:nvSpPr>
          <p:cNvPr id="166" name="object 166"/>
          <p:cNvSpPr txBox="1"/>
          <p:nvPr/>
        </p:nvSpPr>
        <p:spPr>
          <a:xfrm>
            <a:off x="10678573" y="5057950"/>
            <a:ext cx="287684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b</a:t>
            </a:r>
          </a:p>
        </p:txBody>
      </p:sp>
      <p:sp>
        <p:nvSpPr>
          <p:cNvPr id="167" name="object 167"/>
          <p:cNvSpPr txBox="1"/>
          <p:nvPr/>
        </p:nvSpPr>
        <p:spPr>
          <a:xfrm>
            <a:off x="10811954" y="5057950"/>
            <a:ext cx="211492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i</a:t>
            </a:r>
          </a:p>
        </p:txBody>
      </p:sp>
      <p:sp>
        <p:nvSpPr>
          <p:cNvPr id="168" name="object 168"/>
          <p:cNvSpPr txBox="1"/>
          <p:nvPr/>
        </p:nvSpPr>
        <p:spPr>
          <a:xfrm>
            <a:off x="10869117" y="5057950"/>
            <a:ext cx="238649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t</a:t>
            </a:r>
          </a:p>
        </p:txBody>
      </p:sp>
      <p:sp>
        <p:nvSpPr>
          <p:cNvPr id="169" name="object 169"/>
          <p:cNvSpPr txBox="1"/>
          <p:nvPr/>
        </p:nvSpPr>
        <p:spPr>
          <a:xfrm>
            <a:off x="10955377" y="5057950"/>
            <a:ext cx="253108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s</a:t>
            </a:r>
          </a:p>
        </p:txBody>
      </p:sp>
      <p:sp>
        <p:nvSpPr>
          <p:cNvPr id="170" name="object 170"/>
          <p:cNvSpPr txBox="1"/>
          <p:nvPr/>
        </p:nvSpPr>
        <p:spPr>
          <a:xfrm>
            <a:off x="314007" y="5363131"/>
            <a:ext cx="6953861" cy="600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3217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spc="-16" dirty="0">
                <a:solidFill>
                  <a:srgbClr val="000000"/>
                </a:solidFill>
                <a:latin typeface="DHSVHP+Calibri"/>
                <a:cs typeface="DHSVHP+Calibri"/>
              </a:rPr>
              <a:t>than</a:t>
            </a:r>
            <a:r>
              <a:rPr sz="2050" spc="-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19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050" spc="-3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18" dirty="0">
                <a:solidFill>
                  <a:srgbClr val="000000"/>
                </a:solidFill>
                <a:latin typeface="DHSVHP+Calibri"/>
                <a:cs typeface="DHSVHP+Calibri"/>
              </a:rPr>
              <a:t>entropy</a:t>
            </a:r>
            <a:r>
              <a:rPr sz="2050" spc="-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26" dirty="0">
                <a:solidFill>
                  <a:srgbClr val="000000"/>
                </a:solidFill>
                <a:latin typeface="DHSVHP+Calibri"/>
                <a:cs typeface="DHSVHP+Calibri"/>
              </a:rPr>
              <a:t>without</a:t>
            </a: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15" dirty="0">
                <a:solidFill>
                  <a:srgbClr val="000000"/>
                </a:solidFill>
                <a:latin typeface="DHSVHP+Calibri"/>
                <a:cs typeface="DHSVHP+Calibri"/>
              </a:rPr>
              <a:t>losing</a:t>
            </a:r>
            <a:r>
              <a:rPr sz="2050" spc="-6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21" dirty="0">
                <a:solidFill>
                  <a:srgbClr val="000000"/>
                </a:solidFill>
                <a:latin typeface="DHSVHP+Calibri"/>
                <a:cs typeface="DHSVHP+Calibri"/>
              </a:rPr>
              <a:t>information.</a:t>
            </a:r>
          </a:p>
          <a:p>
            <a:pPr marL="0" marR="0">
              <a:lnSpc>
                <a:spcPts val="2265"/>
              </a:lnSpc>
              <a:spcBef>
                <a:spcPts val="6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050" spc="75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42" dirty="0">
                <a:solidFill>
                  <a:srgbClr val="000000"/>
                </a:solidFill>
                <a:latin typeface="DHSVHP+Calibri"/>
                <a:cs typeface="DHSVHP+Calibri"/>
              </a:rPr>
              <a:t>So</a:t>
            </a: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 units</a:t>
            </a:r>
            <a:r>
              <a:rPr sz="2050" spc="-6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31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18" dirty="0">
                <a:solidFill>
                  <a:srgbClr val="000000"/>
                </a:solidFill>
                <a:latin typeface="DHSVHP+Calibri"/>
                <a:cs typeface="DHSVHP+Calibri"/>
              </a:rPr>
              <a:t>entropy</a:t>
            </a:r>
            <a:r>
              <a:rPr sz="2050" spc="-23" dirty="0">
                <a:solidFill>
                  <a:srgbClr val="000000"/>
                </a:solidFill>
                <a:latin typeface="DHSVHP+Calibri"/>
                <a:cs typeface="DHSVHP+Calibri"/>
              </a:rPr>
              <a:t> are</a:t>
            </a: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15" dirty="0">
                <a:solidFill>
                  <a:srgbClr val="0B44E4"/>
                </a:solidFill>
                <a:latin typeface="DHSVHP+Calibri"/>
                <a:cs typeface="DHSVHP+Calibri"/>
              </a:rPr>
              <a:t>bits</a:t>
            </a: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;</a:t>
            </a:r>
            <a:r>
              <a:rPr sz="2050" spc="-3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05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19" dirty="0">
                <a:solidFill>
                  <a:srgbClr val="000000"/>
                </a:solidFill>
                <a:latin typeface="DHSVHP+Calibri"/>
                <a:cs typeface="DHSVHP+Calibri"/>
              </a:rPr>
              <a:t>fair</a:t>
            </a:r>
            <a:r>
              <a:rPr sz="2050" spc="3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31" dirty="0">
                <a:solidFill>
                  <a:srgbClr val="000000"/>
                </a:solidFill>
                <a:latin typeface="DHSVHP+Calibri"/>
                <a:cs typeface="DHSVHP+Calibri"/>
              </a:rPr>
              <a:t>coin</a:t>
            </a: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 flip</a:t>
            </a:r>
            <a:r>
              <a:rPr sz="205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54" dirty="0">
                <a:solidFill>
                  <a:srgbClr val="000000"/>
                </a:solidFill>
                <a:latin typeface="DHSVHP+Calibri"/>
                <a:cs typeface="DHSVHP+Calibri"/>
              </a:rPr>
              <a:t>has</a:t>
            </a:r>
            <a:r>
              <a:rPr sz="2050" spc="6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1</a:t>
            </a:r>
            <a:r>
              <a:rPr sz="2050" spc="-7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13" dirty="0">
                <a:solidFill>
                  <a:srgbClr val="000000"/>
                </a:solidFill>
                <a:latin typeface="DHSVHP+Calibri"/>
                <a:cs typeface="DHSVHP+Calibri"/>
              </a:rPr>
              <a:t>bit</a:t>
            </a:r>
            <a:r>
              <a:rPr sz="2050" spc="-3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31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05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050" spc="-30" dirty="0">
                <a:solidFill>
                  <a:srgbClr val="000000"/>
                </a:solidFill>
                <a:latin typeface="DHSVHP+Calibri"/>
                <a:cs typeface="DHSVHP+Calibri"/>
              </a:rPr>
              <a:t>entropy.</a:t>
            </a:r>
          </a:p>
        </p:txBody>
      </p:sp>
      <p:sp>
        <p:nvSpPr>
          <p:cNvPr id="171" name="object 171"/>
          <p:cNvSpPr txBox="1"/>
          <p:nvPr/>
        </p:nvSpPr>
        <p:spPr>
          <a:xfrm>
            <a:off x="7823053" y="5413330"/>
            <a:ext cx="2189017" cy="703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“</a:t>
            </a:r>
            <a:r>
              <a:rPr sz="1300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总熵下降得最多</a:t>
            </a:r>
            <a:r>
              <a:rPr sz="1300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”</a:t>
            </a:r>
            <a:r>
              <a:rPr sz="1300" spc="-448" dirty="0">
                <a:solidFill>
                  <a:srgbClr val="1A1B1D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300" dirty="0">
                <a:solidFill>
                  <a:srgbClr val="1A1B1D"/>
                </a:solidFill>
                <a:latin typeface="BCHHUO+PingFangSC-Semibold"/>
                <a:cs typeface="BCHHUO+PingFangSC-Semibold"/>
              </a:rPr>
              <a:t>就等于：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1. “</a:t>
            </a:r>
            <a:r>
              <a:rPr sz="13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不确定性消除得最多</a:t>
            </a:r>
            <a:r>
              <a:rPr sz="13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”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2. “</a:t>
            </a:r>
            <a:r>
              <a:rPr sz="1300" dirty="0">
                <a:solidFill>
                  <a:srgbClr val="1A1B1D"/>
                </a:solidFill>
                <a:latin typeface="JSVSMR+PingFangSC-Regular"/>
                <a:cs typeface="JSVSMR+PingFangSC-Regular"/>
              </a:rPr>
              <a:t>获得的信息最多</a:t>
            </a:r>
            <a:r>
              <a:rPr sz="1300" dirty="0">
                <a:solidFill>
                  <a:srgbClr val="1A1B1D"/>
                </a:solidFill>
                <a:latin typeface="EMCSPQ+TimesNewRomanPSMT"/>
                <a:cs typeface="EMCSPQ+TimesNewRomanPSMT"/>
              </a:rPr>
              <a:t>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49559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4" dirty="0">
                <a:solidFill>
                  <a:srgbClr val="001F5F"/>
                </a:solidFill>
                <a:latin typeface="UWTVVI+Calibri-Bold"/>
                <a:cs typeface="UWTVVI+Calibri-Bold"/>
              </a:rPr>
              <a:t>Entropy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137930"/>
            <a:ext cx="9309278" cy="39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More</a:t>
            </a:r>
            <a:r>
              <a:rPr sz="2400" spc="7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generally,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entropy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discrete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random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varia</a:t>
            </a:r>
            <a:r>
              <a:rPr sz="2400" u="sng" dirty="0">
                <a:solidFill>
                  <a:srgbClr val="000000"/>
                </a:solidFill>
                <a:latin typeface="DHSVHP+Calibri"/>
                <a:cs typeface="DHSVHP+Calibri"/>
              </a:rPr>
              <a:t>bl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  <a:r>
              <a:rPr sz="2400" spc="7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01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given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19855" y="1773417"/>
            <a:ext cx="3738515" cy="38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2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=</a:t>
            </a:r>
            <a:r>
              <a:rPr sz="2400" spc="-7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400" spc="-94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෍</a:t>
            </a:r>
            <a:r>
              <a:rPr sz="2400" spc="-9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PLNGGG+Cambria Math"/>
                <a:cs typeface="PLNGGG+Cambria Math"/>
              </a:rPr>
              <a:t>ꢆ(ꢅ)log</a:t>
            </a:r>
            <a:r>
              <a:rPr sz="2650" spc="103" baseline="-20416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  <a:r>
              <a:rPr sz="2400" spc="23" dirty="0">
                <a:solidFill>
                  <a:srgbClr val="000000"/>
                </a:solidFill>
                <a:latin typeface="PLNGGG+Cambria Math"/>
                <a:cs typeface="PLNGGG+Cambria Math"/>
              </a:rPr>
              <a:t>ꢆ(ꢅ)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70754" y="2229181"/>
            <a:ext cx="57427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22" dirty="0">
                <a:solidFill>
                  <a:srgbClr val="000000"/>
                </a:solidFill>
                <a:latin typeface="PLNGGG+Cambria Math"/>
                <a:cs typeface="PLNGGG+Cambria Math"/>
              </a:rPr>
              <a:t>ꢉ∈ꢊ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2592081"/>
            <a:ext cx="2355244" cy="410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“High</a:t>
            </a:r>
            <a:r>
              <a:rPr sz="2400" spc="-12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Entropy”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0410" y="3035342"/>
            <a:ext cx="7961267" cy="1122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Variable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has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uniform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like distribution </a:t>
            </a:r>
            <a:r>
              <a:rPr sz="2400" spc="16" dirty="0">
                <a:solidFill>
                  <a:srgbClr val="000000"/>
                </a:solidFill>
                <a:latin typeface="DHSVHP+Calibri"/>
                <a:cs typeface="DHSVHP+Calibri"/>
              </a:rPr>
              <a:t>over</a:t>
            </a:r>
            <a:r>
              <a:rPr sz="2400" spc="-4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many</a:t>
            </a:r>
            <a:r>
              <a:rPr sz="2400" spc="-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outcomes</a:t>
            </a:r>
          </a:p>
          <a:p>
            <a:pPr marL="0" marR="0">
              <a:lnSpc>
                <a:spcPts val="2669"/>
              </a:lnSpc>
              <a:spcBef>
                <a:spcPts val="3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Flat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histogram</a:t>
            </a:r>
          </a:p>
          <a:p>
            <a:pPr marL="0" marR="0">
              <a:lnSpc>
                <a:spcPts val="2666"/>
              </a:lnSpc>
              <a:spcBef>
                <a:spcPts val="16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Values</a:t>
            </a:r>
            <a:r>
              <a:rPr sz="2400" spc="-5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sampled from</a:t>
            </a:r>
            <a:r>
              <a:rPr sz="2400" spc="-6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DHSVHP+Calibri"/>
                <a:cs typeface="DHSVHP+Calibri"/>
              </a:rPr>
              <a:t>it</a:t>
            </a:r>
            <a:r>
              <a:rPr sz="2400" spc="-4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are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less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predictable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4007" y="4423723"/>
            <a:ext cx="2298085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“Low</a:t>
            </a:r>
            <a:r>
              <a:rPr sz="2400" spc="-13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Entropy”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0410" y="4940088"/>
            <a:ext cx="6970551" cy="112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Distribution </a:t>
            </a:r>
            <a:r>
              <a:rPr sz="2400" spc="47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-10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concentrated </a:t>
            </a:r>
            <a:r>
              <a:rPr sz="2400" spc="-67" dirty="0">
                <a:solidFill>
                  <a:srgbClr val="000000"/>
                </a:solidFill>
                <a:latin typeface="DHSVHP+Calibri"/>
                <a:cs typeface="DHSVHP+Calibri"/>
              </a:rPr>
              <a:t>on</a:t>
            </a:r>
            <a:r>
              <a:rPr sz="2400" spc="6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only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8" dirty="0">
                <a:solidFill>
                  <a:srgbClr val="000000"/>
                </a:solidFill>
                <a:latin typeface="DHSVHP+Calibri"/>
                <a:cs typeface="DHSVHP+Calibri"/>
              </a:rPr>
              <a:t>few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outcomes</a:t>
            </a:r>
          </a:p>
          <a:p>
            <a:pPr marL="0" marR="0">
              <a:lnSpc>
                <a:spcPts val="2666"/>
              </a:lnSpc>
              <a:spcBef>
                <a:spcPts val="44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Histogram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concentrated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few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areas</a:t>
            </a:r>
          </a:p>
          <a:p>
            <a:pPr marL="0" marR="0">
              <a:lnSpc>
                <a:spcPts val="2669"/>
              </a:lnSpc>
              <a:spcBef>
                <a:spcPts val="164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Values</a:t>
            </a:r>
            <a:r>
              <a:rPr sz="2400" spc="-6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sampled from</a:t>
            </a:r>
            <a:r>
              <a:rPr sz="2400" spc="-6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DHSVHP+Calibri"/>
                <a:cs typeface="DHSVHP+Calibri"/>
              </a:rPr>
              <a:t>it</a:t>
            </a:r>
            <a:r>
              <a:rPr sz="2400" spc="-4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are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more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predictable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49559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4" dirty="0">
                <a:solidFill>
                  <a:srgbClr val="001F5F"/>
                </a:solidFill>
                <a:latin typeface="UWTVVI+Calibri-Bold"/>
                <a:cs typeface="UWTVVI+Calibri-Bold"/>
              </a:rPr>
              <a:t>Entropy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111260"/>
            <a:ext cx="9096008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Suppose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observe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partial</a:t>
            </a:r>
            <a:r>
              <a:rPr sz="2400" spc="4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information</a:t>
            </a:r>
            <a:r>
              <a:rPr sz="2400" spc="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00" dirty="0">
                <a:solidFill>
                  <a:srgbClr val="000000"/>
                </a:solidFill>
                <a:latin typeface="PLNGGG+Cambria Math"/>
                <a:cs typeface="PLNGGG+Cambria Math"/>
              </a:rPr>
              <a:t>ꢋ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about a</a:t>
            </a:r>
            <a:r>
              <a:rPr sz="2400" spc="-3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random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variable</a:t>
            </a:r>
            <a:r>
              <a:rPr sz="2400" spc="-4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64990" y="1633021"/>
            <a:ext cx="2323189" cy="6885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1F2024"/>
                </a:solidFill>
                <a:latin typeface="TWPBED+STIXTwoMath-Regular"/>
                <a:cs typeface="TWPBED+STIXTwoMath-Regular"/>
              </a:rPr>
              <a:t>ꢀ</a:t>
            </a:r>
            <a:r>
              <a:rPr sz="1200" dirty="0">
                <a:solidFill>
                  <a:srgbClr val="1F2024"/>
                </a:solidFill>
                <a:latin typeface="JSVSMR+PingFangSC-Regular"/>
                <a:cs typeface="JSVSMR+PingFangSC-Regular"/>
              </a:rPr>
              <a:t>所能传递的关于</a:t>
            </a:r>
            <a:r>
              <a:rPr sz="1200" dirty="0">
                <a:solidFill>
                  <a:srgbClr val="1F2024"/>
                </a:solidFill>
                <a:latin typeface="TWPBED+STIXTwoMath-Regular"/>
                <a:cs typeface="TWPBED+STIXTwoMath-Regular"/>
              </a:rPr>
              <a:t>ꢁ</a:t>
            </a:r>
            <a:r>
              <a:rPr sz="1200" dirty="0">
                <a:solidFill>
                  <a:srgbClr val="1F2024"/>
                </a:solidFill>
                <a:latin typeface="JSVSMR+PingFangSC-Regular"/>
                <a:cs typeface="JSVSMR+PingFangSC-Regular"/>
              </a:rPr>
              <a:t>的信息期望量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6275" y="1685713"/>
            <a:ext cx="3832415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16" dirty="0">
                <a:solidFill>
                  <a:srgbClr val="000000"/>
                </a:solidFill>
                <a:latin typeface="DHSVHP+Calibri"/>
                <a:cs typeface="DHSVHP+Calibri"/>
              </a:rPr>
              <a:t>For</a:t>
            </a:r>
            <a:r>
              <a:rPr sz="2400" spc="-4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example,</a:t>
            </a:r>
            <a:r>
              <a:rPr sz="2400" spc="-3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ꢋ</a:t>
            </a:r>
            <a:r>
              <a:rPr sz="2400" spc="-71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=</a:t>
            </a:r>
            <a:r>
              <a:rPr sz="2400" spc="-7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PLNGGG+Cambria Math"/>
                <a:cs typeface="PLNGGG+Cambria Math"/>
              </a:rPr>
              <a:t>sign(ꢇ)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40990" y="1868936"/>
            <a:ext cx="2057527" cy="6885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1F2024"/>
                </a:solidFill>
                <a:latin typeface="JSVSMR+PingFangSC-Regular"/>
                <a:cs typeface="JSVSMR+PingFangSC-Regular"/>
              </a:rPr>
              <a:t>我们试图定义通过观测</a:t>
            </a:r>
            <a:r>
              <a:rPr sz="1200" dirty="0">
                <a:solidFill>
                  <a:srgbClr val="1F2024"/>
                </a:solidFill>
                <a:latin typeface="TWPBED+STIXTwoMath-Regular"/>
                <a:cs typeface="TWPBED+STIXTwoMath-Regular"/>
              </a:rPr>
              <a:t>ꢀ</a:t>
            </a:r>
            <a:r>
              <a:rPr sz="1200" spc="1679" dirty="0">
                <a:solidFill>
                  <a:srgbClr val="1F2024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1F2024"/>
                </a:solidFill>
                <a:latin typeface="TWPBED+STIXTwoMath-Regular"/>
                <a:cs typeface="TWPBED+STIXTwoMath-Regular"/>
              </a:rPr>
              <a:t>ꢁ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40990" y="2121159"/>
            <a:ext cx="3581528" cy="221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spc="400" dirty="0">
                <a:solidFill>
                  <a:srgbClr val="1F2024"/>
                </a:solidFill>
                <a:latin typeface="CFIBUC+ZapfDingbatsITC"/>
                <a:cs typeface="CFIBUC+ZapfDingbatsITC"/>
              </a:rPr>
              <a:t>➢</a:t>
            </a:r>
            <a:r>
              <a:rPr sz="1200" dirty="0">
                <a:solidFill>
                  <a:srgbClr val="1F2024"/>
                </a:solidFill>
                <a:latin typeface="JSVSMR+PingFangSC-Regular"/>
                <a:cs typeface="JSVSMR+PingFangSC-Regular"/>
              </a:rPr>
              <a:t>等价表述为：观测</a:t>
            </a:r>
            <a:r>
              <a:rPr sz="1200" spc="365" dirty="0">
                <a:solidFill>
                  <a:srgbClr val="1F2024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F2024"/>
                </a:solidFill>
                <a:latin typeface="JSVSMR+PingFangSC-Regular"/>
                <a:cs typeface="JSVSMR+PingFangSC-Regular"/>
              </a:rPr>
              <a:t>后对</a:t>
            </a:r>
            <a:r>
              <a:rPr sz="1200" spc="329" dirty="0">
                <a:solidFill>
                  <a:srgbClr val="1F2024"/>
                </a:solidFill>
                <a:latin typeface="JSVSMR+PingFangSC-Regular"/>
                <a:cs typeface="JSVSMR+PingFangSC-Regular"/>
              </a:rPr>
              <a:t> </a:t>
            </a:r>
            <a:r>
              <a:rPr sz="1200" dirty="0">
                <a:solidFill>
                  <a:srgbClr val="1F2024"/>
                </a:solidFill>
                <a:latin typeface="JSVSMR+PingFangSC-Regular"/>
                <a:cs typeface="JSVSMR+PingFangSC-Regular"/>
              </a:rPr>
              <a:t>不确定性的期望减少量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4007" y="2579728"/>
            <a:ext cx="11172556" cy="753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want 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work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towards</a:t>
            </a:r>
            <a:r>
              <a:rPr sz="2400" spc="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definition </a:t>
            </a:r>
            <a:r>
              <a:rPr sz="2400" spc="-66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spc="6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expected amount of information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that</a:t>
            </a:r>
            <a:r>
              <a:rPr sz="2400" spc="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will</a:t>
            </a:r>
          </a:p>
          <a:p>
            <a:pPr marL="343217" marR="0">
              <a:lnSpc>
                <a:spcPts val="2404"/>
              </a:lnSpc>
              <a:spcBef>
                <a:spcPts val="382"/>
              </a:spcBef>
              <a:spcAft>
                <a:spcPts val="0"/>
              </a:spcAft>
            </a:pP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be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conveyed about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02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observing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2" dirty="0">
                <a:solidFill>
                  <a:srgbClr val="000000"/>
                </a:solidFill>
                <a:latin typeface="PLNGGG+Cambria Math"/>
                <a:cs typeface="PLNGGG+Cambria Math"/>
              </a:rPr>
              <a:t>ꢋ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6275" y="3557662"/>
            <a:ext cx="11077209" cy="3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Or</a:t>
            </a:r>
            <a:r>
              <a:rPr sz="2400" spc="6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equivalently,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expected reduction 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our</a:t>
            </a:r>
            <a:r>
              <a:rPr sz="2400" spc="-3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uncertainty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about</a:t>
            </a:r>
            <a:r>
              <a:rPr sz="2400" spc="-4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06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after</a:t>
            </a:r>
            <a:r>
              <a:rPr sz="2400" spc="-2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observing </a:t>
            </a:r>
            <a:r>
              <a:rPr sz="2400" spc="67" dirty="0">
                <a:solidFill>
                  <a:srgbClr val="000000"/>
                </a:solidFill>
                <a:latin typeface="PLNGGG+Cambria Math"/>
                <a:cs typeface="PLNGGG+Cambria Math"/>
              </a:rPr>
              <a:t>ꢋ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24597" y="3998742"/>
            <a:ext cx="2387053" cy="221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“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低熵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”</a:t>
            </a:r>
            <a:r>
              <a:rPr sz="1200" spc="-42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(Low</a:t>
            </a:r>
            <a:r>
              <a:rPr sz="1200" spc="-42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Entropy)</a:t>
            </a:r>
            <a:r>
              <a:rPr sz="1200" spc="-417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=</a:t>
            </a:r>
            <a:r>
              <a:rPr sz="1200" spc="-42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⾼度有序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9162" y="4041248"/>
            <a:ext cx="2420987" cy="221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“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⾼熵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”</a:t>
            </a:r>
            <a:r>
              <a:rPr sz="1200" spc="-42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(High</a:t>
            </a:r>
            <a:r>
              <a:rPr sz="1200" spc="-42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Entropy)</a:t>
            </a:r>
            <a:r>
              <a:rPr sz="1200" spc="-417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=</a:t>
            </a:r>
            <a:r>
              <a:rPr sz="1200" spc="-42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⾼度混乱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024597" y="4322592"/>
            <a:ext cx="2438400" cy="221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“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概率分布集中在少数⼏个结果上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”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39162" y="4365098"/>
            <a:ext cx="3546764" cy="8145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“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变量的概率分布在许多结果上⾮常均匀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”</a:t>
            </a:r>
          </a:p>
          <a:p>
            <a:pPr marL="193963" marR="0">
              <a:lnSpc>
                <a:spcPts val="1444"/>
              </a:lnSpc>
              <a:spcBef>
                <a:spcPts val="939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意思是：每⼀种可能性发⽣的概率都差不多⼤。</a:t>
            </a:r>
          </a:p>
          <a:p>
            <a:pPr marL="0" marR="0">
              <a:lnSpc>
                <a:spcPts val="1444"/>
              </a:lnSpc>
              <a:spcBef>
                <a:spcPts val="889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“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扁平的直⽅图</a:t>
            </a:r>
            <a:r>
              <a:rPr sz="1200" spc="-42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 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(Flat</a:t>
            </a:r>
            <a:r>
              <a:rPr sz="1200" spc="-42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histogram)”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024597" y="4619079"/>
            <a:ext cx="4918364" cy="518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3963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意思是：只有⼀两种可能性概率⾮常⾼，其他的可能性都微乎其微。</a:t>
            </a:r>
          </a:p>
          <a:p>
            <a:pPr marL="0" marR="0">
              <a:lnSpc>
                <a:spcPts val="1444"/>
              </a:lnSpc>
              <a:spcBef>
                <a:spcPts val="939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“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直⽅图集中在少数⼏个区域（有⾼峰）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”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024597" y="5212053"/>
            <a:ext cx="4765965" cy="518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3963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意思是：柱状图上会有⼀两个⾼⾼耸起的柱⼦，其他的都⾮常矮。</a:t>
            </a:r>
          </a:p>
          <a:p>
            <a:pPr marL="0" marR="0">
              <a:lnSpc>
                <a:spcPts val="1444"/>
              </a:lnSpc>
              <a:spcBef>
                <a:spcPts val="939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“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从中抽取的样本可预测性很⾼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”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39162" y="5254560"/>
            <a:ext cx="4765964" cy="4349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3963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意思是：如果把所有可能性的概率画成柱状图，这些柱⼦都差不多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⾼。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39162" y="5764407"/>
            <a:ext cx="2286000" cy="221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“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从中抽取的样本可预测性很低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”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024597" y="5805028"/>
            <a:ext cx="4765965" cy="4349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3963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意思是：你很容易猜下⼀次会发⽣什么（⼤概率就是那个概率最⾼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的）。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33126" y="6060895"/>
            <a:ext cx="2743200" cy="221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意思是：你很难猜下⼀次会发⽣什么。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024597" y="6314876"/>
            <a:ext cx="5219698" cy="4349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经典例⼦：</a:t>
            </a:r>
            <a:r>
              <a:rPr sz="1200" spc="-42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 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掷⼀个作弊的骰⼦，它有</a:t>
            </a:r>
            <a:r>
              <a:rPr sz="1200" spc="-42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 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90%</a:t>
            </a:r>
            <a:r>
              <a:rPr sz="1200" spc="-42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的概率会掷出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“6”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。这个系统就⾮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常有序，不确定性很低（低熵），因为你⼏乎总能猜对结果是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“6”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。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39162" y="6357382"/>
            <a:ext cx="4995342" cy="4349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经典例⼦：</a:t>
            </a:r>
            <a:r>
              <a:rPr sz="1200" spc="-42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 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掷⼀个公平的</a:t>
            </a:r>
            <a:r>
              <a:rPr sz="1200" spc="-42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 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6</a:t>
            </a:r>
            <a:r>
              <a:rPr sz="1200" spc="-42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⾯骰⼦。点数</a:t>
            </a:r>
            <a:r>
              <a:rPr sz="1200" spc="-42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 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1</a:t>
            </a:r>
            <a:r>
              <a:rPr sz="1200" spc="-42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到</a:t>
            </a:r>
            <a:r>
              <a:rPr sz="1200" spc="-42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 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6</a:t>
            </a:r>
            <a:r>
              <a:rPr sz="1200" spc="-42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 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的概率都是</a:t>
            </a:r>
            <a:r>
              <a:rPr sz="1200" spc="-42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 </a:t>
            </a:r>
            <a:r>
              <a:rPr sz="1200" dirty="0">
                <a:solidFill>
                  <a:srgbClr val="000000"/>
                </a:solidFill>
                <a:latin typeface="NOJCOO+TimesNewRomanPS-BoldMT"/>
                <a:cs typeface="NOJCOO+TimesNewRomanPS-BoldMT"/>
              </a:rPr>
              <a:t>1/6</a:t>
            </a: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。你完全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CHHUO+PingFangSC-Semibold"/>
                <a:cs typeface="BCHHUO+PingFangSC-Semibold"/>
              </a:rPr>
              <a:t>⽆法预测下⼀次会掷出⼏，这就是⾼度不确定的（⾼熵）系统。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235156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4" dirty="0">
                <a:solidFill>
                  <a:srgbClr val="001F5F"/>
                </a:solidFill>
                <a:latin typeface="UWTVVI+Calibri-Bold"/>
                <a:cs typeface="UWTVVI+Calibri-Bold"/>
              </a:rPr>
              <a:t>Entropy</a:t>
            </a:r>
            <a:r>
              <a:rPr sz="3250" spc="-1305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of</a:t>
            </a:r>
            <a:r>
              <a:rPr sz="3250" spc="-1163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a</a:t>
            </a:r>
            <a:r>
              <a:rPr sz="3250" spc="-1303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Joint</a:t>
            </a:r>
            <a:r>
              <a:rPr sz="3250" spc="-1273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457" y="1073160"/>
            <a:ext cx="8401048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Example:</a:t>
            </a:r>
            <a:r>
              <a:rPr sz="2400" spc="-3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730" dirty="0">
                <a:solidFill>
                  <a:srgbClr val="000000"/>
                </a:solidFill>
                <a:latin typeface="PLNGGG+Cambria Math"/>
                <a:cs typeface="PLNGGG+Cambria Math"/>
              </a:rPr>
              <a:t>ꢋ=</a:t>
            </a:r>
            <a:r>
              <a:rPr sz="2400" spc="-5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Raining,</a:t>
            </a:r>
            <a:r>
              <a:rPr sz="2400" spc="-104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Not</a:t>
            </a:r>
            <a:r>
              <a:rPr sz="2400" spc="-9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raining</a:t>
            </a:r>
            <a:r>
              <a:rPr sz="2400" spc="-4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 </a:t>
            </a:r>
            <a:r>
              <a:rPr sz="2400" spc="729" dirty="0">
                <a:solidFill>
                  <a:srgbClr val="000000"/>
                </a:solidFill>
                <a:latin typeface="PLNGGG+Cambria Math"/>
                <a:cs typeface="PLNGGG+Cambria Math"/>
              </a:rPr>
              <a:t>ꢇ=</a:t>
            </a:r>
            <a:r>
              <a:rPr sz="2400" spc="-5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Cloudy,</a:t>
            </a:r>
            <a:r>
              <a:rPr sz="2400" spc="-1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Not</a:t>
            </a:r>
            <a:r>
              <a:rPr sz="2400" spc="-9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cloudy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00734" y="4653790"/>
            <a:ext cx="4286063" cy="331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1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050" spc="-38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114" dirty="0">
                <a:solidFill>
                  <a:srgbClr val="000000"/>
                </a:solidFill>
                <a:latin typeface="PLNGGG+Cambria Math"/>
                <a:cs typeface="PLNGGG+Cambria Math"/>
              </a:rPr>
              <a:t>ꢋ,ꢇ</a:t>
            </a:r>
            <a:r>
              <a:rPr sz="2050" spc="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=</a:t>
            </a:r>
            <a:r>
              <a:rPr sz="2050" spc="-7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050" spc="-8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෍</a:t>
            </a:r>
            <a:r>
              <a:rPr sz="2050" spc="-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60" dirty="0">
                <a:solidFill>
                  <a:srgbClr val="000000"/>
                </a:solidFill>
                <a:latin typeface="PLNGGG+Cambria Math"/>
                <a:cs typeface="PLNGGG+Cambria Math"/>
              </a:rPr>
              <a:t>෍ꢆ(ꢂ,ꢅ)log</a:t>
            </a:r>
            <a:r>
              <a:rPr sz="2200" spc="97" baseline="-2000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ꢆ(ꢂ,</a:t>
            </a:r>
            <a:r>
              <a:rPr sz="2050" spc="-9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ꢅ)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92146" y="5037614"/>
            <a:ext cx="6568658" cy="49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spc="18" dirty="0">
                <a:solidFill>
                  <a:srgbClr val="000000"/>
                </a:solidFill>
                <a:latin typeface="PLNGGG+Cambria Math"/>
                <a:cs typeface="PLNGGG+Cambria Math"/>
              </a:rPr>
              <a:t>ꢌ∈ꢍ</a:t>
            </a:r>
            <a:r>
              <a:rPr sz="1450" spc="-5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50" spc="18" dirty="0">
                <a:solidFill>
                  <a:srgbClr val="000000"/>
                </a:solidFill>
                <a:latin typeface="PLNGGG+Cambria Math"/>
                <a:cs typeface="PLNGGG+Cambria Math"/>
              </a:rPr>
              <a:t>ꢉ∈ꢊ</a:t>
            </a:r>
          </a:p>
          <a:p>
            <a:pPr marL="81788" marR="0">
              <a:lnSpc>
                <a:spcPts val="2016"/>
              </a:lnSpc>
              <a:spcBef>
                <a:spcPts val="17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4</a:t>
            </a:r>
            <a:r>
              <a:rPr sz="2050" spc="41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1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4</a:t>
            </a:r>
            <a:r>
              <a:rPr sz="2050" spc="27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050" spc="52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050" spc="28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5</a:t>
            </a:r>
            <a:r>
              <a:rPr sz="2050" spc="411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23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5</a:t>
            </a:r>
            <a:r>
              <a:rPr sz="2050" spc="225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10" dirty="0">
                <a:solidFill>
                  <a:srgbClr val="000000"/>
                </a:solidFill>
                <a:latin typeface="PLNGGG+Cambria Math"/>
                <a:cs typeface="PLNGGG+Cambria Math"/>
              </a:rPr>
              <a:t>50</a:t>
            </a:r>
            <a:r>
              <a:rPr sz="2050" spc="41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10" dirty="0">
                <a:solidFill>
                  <a:srgbClr val="000000"/>
                </a:solidFill>
                <a:latin typeface="PLNGGG+Cambria Math"/>
                <a:cs typeface="PLNGGG+Cambria Math"/>
              </a:rPr>
              <a:t>50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09165" y="5426586"/>
            <a:ext cx="6639301" cy="3312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1"/>
              </a:lnSpc>
              <a:spcBef>
                <a:spcPts val="0"/>
              </a:spcBef>
              <a:spcAft>
                <a:spcPts val="0"/>
              </a:spcAft>
            </a:pPr>
            <a:r>
              <a:rPr sz="2050" spc="527" dirty="0">
                <a:solidFill>
                  <a:srgbClr val="000000"/>
                </a:solidFill>
                <a:latin typeface="PLNGGG+Cambria Math"/>
                <a:cs typeface="PLNGGG+Cambria Math"/>
              </a:rPr>
              <a:t>=−</a:t>
            </a:r>
            <a:r>
              <a:rPr sz="2050" spc="22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33" dirty="0">
                <a:solidFill>
                  <a:srgbClr val="000000"/>
                </a:solidFill>
                <a:latin typeface="PLNGGG+Cambria Math"/>
                <a:cs typeface="PLNGGG+Cambria Math"/>
              </a:rPr>
              <a:t>log</a:t>
            </a:r>
            <a:r>
              <a:rPr sz="2050" spc="39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050" spc="28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35" dirty="0">
                <a:solidFill>
                  <a:srgbClr val="000000"/>
                </a:solidFill>
                <a:latin typeface="PLNGGG+Cambria Math"/>
                <a:cs typeface="PLNGGG+Cambria Math"/>
              </a:rPr>
              <a:t>log</a:t>
            </a:r>
            <a:r>
              <a:rPr sz="2050" spc="393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050" spc="28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35" dirty="0">
                <a:solidFill>
                  <a:srgbClr val="000000"/>
                </a:solidFill>
                <a:latin typeface="PLNGGG+Cambria Math"/>
                <a:cs typeface="PLNGGG+Cambria Math"/>
              </a:rPr>
              <a:t>log</a:t>
            </a:r>
            <a:r>
              <a:rPr sz="2050" spc="393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050" spc="28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35" dirty="0">
                <a:solidFill>
                  <a:srgbClr val="000000"/>
                </a:solidFill>
                <a:latin typeface="PLNGGG+Cambria Math"/>
                <a:cs typeface="PLNGGG+Cambria Math"/>
              </a:rPr>
              <a:t>log</a:t>
            </a:r>
          </a:p>
          <a:p>
            <a:pPr marL="6382003" marR="0">
              <a:lnSpc>
                <a:spcPts val="1428"/>
              </a:lnSpc>
              <a:spcBef>
                <a:spcPts val="5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508628" y="5538248"/>
            <a:ext cx="257298" cy="2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202809" y="5538248"/>
            <a:ext cx="257298" cy="2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97116" y="5538248"/>
            <a:ext cx="257298" cy="2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12721" y="5597013"/>
            <a:ext cx="7120226" cy="5917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0855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spc="-1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050" spc="-10" dirty="0">
                <a:solidFill>
                  <a:srgbClr val="000000"/>
                </a:solidFill>
                <a:latin typeface="PLNGGG+Cambria Math"/>
                <a:cs typeface="PLNGGG+Cambria Math"/>
              </a:rPr>
              <a:t>00</a:t>
            </a:r>
            <a:r>
              <a:rPr sz="2050" spc="300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00</a:t>
            </a:r>
            <a:r>
              <a:rPr sz="2050" spc="11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1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050" spc="-10" dirty="0">
                <a:solidFill>
                  <a:srgbClr val="000000"/>
                </a:solidFill>
                <a:latin typeface="PLNGGG+Cambria Math"/>
                <a:cs typeface="PLNGGG+Cambria Math"/>
              </a:rPr>
              <a:t>00</a:t>
            </a:r>
            <a:r>
              <a:rPr sz="2050" spc="30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00</a:t>
            </a:r>
            <a:r>
              <a:rPr sz="2050" spc="11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1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050" spc="-10" dirty="0">
                <a:solidFill>
                  <a:srgbClr val="000000"/>
                </a:solidFill>
                <a:latin typeface="PLNGGG+Cambria Math"/>
                <a:cs typeface="PLNGGG+Cambria Math"/>
              </a:rPr>
              <a:t>00</a:t>
            </a:r>
            <a:r>
              <a:rPr sz="2050" spc="30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1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050" spc="-10" dirty="0">
                <a:solidFill>
                  <a:srgbClr val="000000"/>
                </a:solidFill>
                <a:latin typeface="PLNGGG+Cambria Math"/>
                <a:cs typeface="PLNGGG+Cambria Math"/>
              </a:rPr>
              <a:t>00</a:t>
            </a:r>
            <a:r>
              <a:rPr sz="2050" spc="11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00</a:t>
            </a:r>
            <a:r>
              <a:rPr sz="2050" spc="299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1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050" spc="-10" dirty="0">
                <a:solidFill>
                  <a:srgbClr val="000000"/>
                </a:solidFill>
                <a:latin typeface="PLNGGG+Cambria Math"/>
                <a:cs typeface="PLNGGG+Cambria Math"/>
              </a:rPr>
              <a:t>00</a:t>
            </a:r>
          </a:p>
          <a:p>
            <a:pPr marL="0" marR="0">
              <a:lnSpc>
                <a:spcPts val="2265"/>
              </a:lnSpc>
              <a:spcBef>
                <a:spcPts val="44"/>
              </a:spcBef>
              <a:spcAft>
                <a:spcPts val="0"/>
              </a:spcAft>
            </a:pPr>
            <a:r>
              <a:rPr sz="2050" spc="524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050" spc="-22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050" spc="-17" dirty="0">
                <a:solidFill>
                  <a:srgbClr val="000000"/>
                </a:solidFill>
                <a:latin typeface="PLNGGG+Cambria Math"/>
                <a:cs typeface="PLNGGG+Cambria Math"/>
              </a:rPr>
              <a:t>.56</a:t>
            </a:r>
            <a:r>
              <a:rPr sz="2050" spc="-22" dirty="0">
                <a:solidFill>
                  <a:srgbClr val="000000"/>
                </a:solidFill>
                <a:latin typeface="DDLMID+ArialMT"/>
                <a:cs typeface="DDLMID+ArialMT"/>
              </a:rPr>
              <a:t>bits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08207" y="256949"/>
            <a:ext cx="4896806" cy="471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我们不再看整个系统的混乱程度，⽽是看“当我们知道了某个信息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之后，剩下的不确定性还有多少？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278702"/>
            <a:ext cx="490371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Specific</a:t>
            </a:r>
            <a:r>
              <a:rPr sz="3250" spc="-1263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Conditional</a:t>
            </a:r>
            <a:r>
              <a:rPr sz="3250" spc="-1160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6" dirty="0">
                <a:solidFill>
                  <a:srgbClr val="001F5F"/>
                </a:solidFill>
                <a:latin typeface="UWTVVI+Calibri-Bold"/>
                <a:cs typeface="UWTVVI+Calibri-Bold"/>
              </a:rPr>
              <a:t>Entropy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5457" y="1073160"/>
            <a:ext cx="8401048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Example:</a:t>
            </a:r>
            <a:r>
              <a:rPr sz="2400" spc="-3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730" dirty="0">
                <a:solidFill>
                  <a:srgbClr val="000000"/>
                </a:solidFill>
                <a:latin typeface="PLNGGG+Cambria Math"/>
                <a:cs typeface="PLNGGG+Cambria Math"/>
              </a:rPr>
              <a:t>ꢋ=</a:t>
            </a:r>
            <a:r>
              <a:rPr sz="2400" spc="-5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Raining,</a:t>
            </a:r>
            <a:r>
              <a:rPr sz="2400" spc="-104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Not</a:t>
            </a:r>
            <a:r>
              <a:rPr sz="2400" spc="-9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raining</a:t>
            </a:r>
            <a:r>
              <a:rPr sz="2400" spc="-4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 </a:t>
            </a:r>
            <a:r>
              <a:rPr sz="2400" spc="729" dirty="0">
                <a:solidFill>
                  <a:srgbClr val="000000"/>
                </a:solidFill>
                <a:latin typeface="PLNGGG+Cambria Math"/>
                <a:cs typeface="PLNGGG+Cambria Math"/>
              </a:rPr>
              <a:t>ꢇ=</a:t>
            </a:r>
            <a:r>
              <a:rPr sz="2400" spc="-5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Cloudy,</a:t>
            </a:r>
            <a:r>
              <a:rPr sz="2400" spc="-1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Not</a:t>
            </a:r>
            <a:r>
              <a:rPr sz="2400" spc="-9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cloudy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5457" y="3638814"/>
            <a:ext cx="7942931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What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entropy</a:t>
            </a:r>
            <a:r>
              <a:rPr sz="2400" spc="-6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cloudiness</a:t>
            </a:r>
            <a:r>
              <a:rPr sz="2400" spc="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4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 </a:t>
            </a:r>
            <a:r>
              <a:rPr sz="2400" dirty="0">
                <a:solidFill>
                  <a:srgbClr val="000000"/>
                </a:solidFill>
                <a:latin typeface="UWTVVI+Calibri-Bold"/>
                <a:cs typeface="UWTVVI+Calibri-Bold"/>
              </a:rPr>
              <a:t>given</a:t>
            </a:r>
            <a:r>
              <a:rPr sz="2400" spc="-854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UWTVVI+Calibri-Bold"/>
                <a:cs typeface="UWTVVI+Calibri-Bold"/>
              </a:rPr>
              <a:t>that</a:t>
            </a:r>
            <a:r>
              <a:rPr sz="2400" spc="-917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UWTVVI+Calibri-Bold"/>
                <a:cs typeface="UWTVVI+Calibri-Bold"/>
              </a:rPr>
              <a:t>it</a:t>
            </a:r>
            <a:r>
              <a:rPr sz="2400" spc="-928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UWTVVI+Calibri-Bold"/>
                <a:cs typeface="UWTVVI+Calibri-Bold"/>
              </a:rPr>
              <a:t>is</a:t>
            </a:r>
            <a:r>
              <a:rPr sz="2400" spc="-904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UWTVVI+Calibri-Bold"/>
                <a:cs typeface="UWTVVI+Calibri-Bold"/>
              </a:rPr>
              <a:t>raining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78404" y="4350508"/>
            <a:ext cx="4314506" cy="330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050" spc="-38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ꢇ|ꢋ</a:t>
            </a:r>
            <a:r>
              <a:rPr sz="2050" spc="-6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263" dirty="0">
                <a:solidFill>
                  <a:srgbClr val="000000"/>
                </a:solidFill>
                <a:latin typeface="PLNGGG+Cambria Math"/>
                <a:cs typeface="PLNGGG+Cambria Math"/>
              </a:rPr>
              <a:t>=ꢂ</a:t>
            </a:r>
            <a:r>
              <a:rPr sz="2050" spc="-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=</a:t>
            </a:r>
            <a:r>
              <a:rPr sz="2050" spc="-7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050" spc="-8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෍</a:t>
            </a:r>
            <a:r>
              <a:rPr sz="2050" spc="-8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10" dirty="0">
                <a:solidFill>
                  <a:srgbClr val="000000"/>
                </a:solidFill>
                <a:latin typeface="PLNGGG+Cambria Math"/>
                <a:cs typeface="PLNGGG+Cambria Math"/>
              </a:rPr>
              <a:t>ꢆ(ꢅ|ꢂ)log</a:t>
            </a:r>
            <a:r>
              <a:rPr sz="2200" spc="94" baseline="-19853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ꢆ(ꢅ|ꢂ)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61815" y="4733957"/>
            <a:ext cx="2601931" cy="4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8375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spc="27" dirty="0">
                <a:solidFill>
                  <a:srgbClr val="000000"/>
                </a:solidFill>
                <a:latin typeface="PLNGGG+Cambria Math"/>
                <a:cs typeface="PLNGGG+Cambria Math"/>
              </a:rPr>
              <a:t>ꢉ∈ꢊ</a:t>
            </a:r>
          </a:p>
          <a:p>
            <a:pPr marL="0" marR="0">
              <a:lnSpc>
                <a:spcPts val="1943"/>
              </a:lnSpc>
              <a:spcBef>
                <a:spcPts val="96"/>
              </a:spcBef>
              <a:spcAft>
                <a:spcPts val="0"/>
              </a:spcAft>
            </a:pPr>
            <a:r>
              <a:rPr sz="2050" spc="-1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4</a:t>
            </a:r>
            <a:r>
              <a:rPr sz="2050" spc="300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4</a:t>
            </a:r>
            <a:r>
              <a:rPr sz="2050" spc="168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050" spc="413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867531" y="5113778"/>
            <a:ext cx="2710978" cy="295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spc="526" dirty="0">
                <a:solidFill>
                  <a:srgbClr val="000000"/>
                </a:solidFill>
                <a:latin typeface="PLNGGG+Cambria Math"/>
                <a:cs typeface="PLNGGG+Cambria Math"/>
              </a:rPr>
              <a:t>=−</a:t>
            </a:r>
            <a:r>
              <a:rPr sz="2050" spc="110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35" dirty="0">
                <a:solidFill>
                  <a:srgbClr val="000000"/>
                </a:solidFill>
                <a:latin typeface="PLNGGG+Cambria Math"/>
                <a:cs typeface="PLNGGG+Cambria Math"/>
              </a:rPr>
              <a:t>log</a:t>
            </a:r>
            <a:r>
              <a:rPr sz="2050" spc="28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050" spc="174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33" dirty="0">
                <a:solidFill>
                  <a:srgbClr val="000000"/>
                </a:solidFill>
                <a:latin typeface="PLNGGG+Cambria Math"/>
                <a:cs typeface="PLNGGG+Cambria Math"/>
              </a:rPr>
              <a:t>log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025771" y="5224939"/>
            <a:ext cx="257298" cy="2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36995" y="5224939"/>
            <a:ext cx="257298" cy="2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77564" y="5283958"/>
            <a:ext cx="3158508" cy="6012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4251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spc="-1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5</a:t>
            </a:r>
            <a:r>
              <a:rPr sz="2050" spc="300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5</a:t>
            </a:r>
            <a:r>
              <a:rPr sz="2050" spc="11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5</a:t>
            </a:r>
            <a:r>
              <a:rPr sz="2050" spc="30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5</a:t>
            </a:r>
          </a:p>
          <a:p>
            <a:pPr marL="0" marR="0">
              <a:lnSpc>
                <a:spcPts val="2265"/>
              </a:lnSpc>
              <a:spcBef>
                <a:spcPts val="119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050" spc="-70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12" dirty="0">
                <a:solidFill>
                  <a:srgbClr val="000000"/>
                </a:solidFill>
                <a:latin typeface="PLNGGG+Cambria Math"/>
                <a:cs typeface="PLNGGG+Cambria Math"/>
              </a:rPr>
              <a:t>0.</a:t>
            </a:r>
            <a:r>
              <a:rPr sz="2050" spc="-1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050" spc="-32" dirty="0">
                <a:solidFill>
                  <a:srgbClr val="000000"/>
                </a:solidFill>
                <a:latin typeface="PLNGGG+Cambria Math"/>
                <a:cs typeface="PLNGGG+Cambria Math"/>
              </a:rPr>
              <a:t>4</a:t>
            </a:r>
            <a:r>
              <a:rPr sz="2050" spc="-22" dirty="0">
                <a:solidFill>
                  <a:srgbClr val="000000"/>
                </a:solidFill>
                <a:latin typeface="DDLMID+ArialMT"/>
                <a:cs typeface="DDLMID+ArialMT"/>
              </a:rPr>
              <a:t>bits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329686" y="5854650"/>
            <a:ext cx="808860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25" dirty="0">
                <a:solidFill>
                  <a:srgbClr val="000000"/>
                </a:solidFill>
                <a:latin typeface="PLNGGG+Cambria Math"/>
                <a:cs typeface="PLNGGG+Cambria Math"/>
              </a:rPr>
              <a:t>ꢎ(ꢌ,ꢉ)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5457" y="5928053"/>
            <a:ext cx="2912787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used: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ꢆ</a:t>
            </a:r>
            <a:r>
              <a:rPr sz="2400" spc="-41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797" dirty="0">
                <a:solidFill>
                  <a:srgbClr val="000000"/>
                </a:solidFill>
                <a:latin typeface="PLNGGG+Cambria Math"/>
                <a:cs typeface="PLNGGG+Cambria Math"/>
              </a:rPr>
              <a:t>ꢅꢂ</a:t>
            </a:r>
            <a:r>
              <a:rPr sz="2400" spc="-50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=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055490" y="5953692"/>
            <a:ext cx="4956509" cy="399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ꢆ</a:t>
            </a:r>
            <a:r>
              <a:rPr sz="2400" spc="-4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ꢂ</a:t>
            </a:r>
            <a:r>
              <a:rPr sz="2400" spc="2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5" dirty="0">
                <a:solidFill>
                  <a:srgbClr val="000000"/>
                </a:solidFill>
                <a:latin typeface="PLNGGG+Cambria Math"/>
                <a:cs typeface="PLNGGG+Cambria Math"/>
              </a:rPr>
              <a:t>=σ</a:t>
            </a:r>
            <a:r>
              <a:rPr sz="2400" spc="-54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7" dirty="0">
                <a:solidFill>
                  <a:srgbClr val="000000"/>
                </a:solidFill>
                <a:latin typeface="PLNGGG+Cambria Math"/>
                <a:cs typeface="PLNGGG+Cambria Math"/>
              </a:rPr>
              <a:t>ꢆ(ꢂ,</a:t>
            </a:r>
            <a:r>
              <a:rPr sz="2400" spc="-10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9" dirty="0">
                <a:solidFill>
                  <a:srgbClr val="000000"/>
                </a:solidFill>
                <a:latin typeface="PLNGGG+Cambria Math"/>
                <a:cs typeface="PLNGGG+Cambria Math"/>
              </a:rPr>
              <a:t>ꢅ)</a:t>
            </a:r>
            <a:r>
              <a:rPr sz="2400" spc="16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(sum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DHSVHP+Calibri"/>
                <a:cs typeface="DHSVHP+Calibri"/>
              </a:rPr>
              <a:t>row)</a:t>
            </a:r>
          </a:p>
          <a:p>
            <a:pPr marL="174625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ꢉ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426078" y="6186755"/>
            <a:ext cx="615947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24" dirty="0">
                <a:solidFill>
                  <a:srgbClr val="000000"/>
                </a:solidFill>
                <a:latin typeface="PLNGGG+Cambria Math"/>
                <a:cs typeface="PLNGGG+Cambria Math"/>
              </a:rPr>
              <a:t>ꢎ(ꢌ)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53155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Conditional</a:t>
            </a:r>
            <a:r>
              <a:rPr sz="3250" spc="-1231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4" dirty="0">
                <a:solidFill>
                  <a:srgbClr val="001F5F"/>
                </a:solidFill>
                <a:latin typeface="UWTVVI+Calibri-Bold"/>
                <a:cs typeface="UWTVVI+Calibri-Bold"/>
              </a:rPr>
              <a:t>Entropy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13129" y="3489048"/>
            <a:ext cx="6452887" cy="1169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2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3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expected </a:t>
            </a:r>
            <a:r>
              <a:rPr sz="2400" u="sng" dirty="0">
                <a:solidFill>
                  <a:srgbClr val="000000"/>
                </a:solidFill>
                <a:latin typeface="DHSVHP+Calibri"/>
                <a:cs typeface="DHSVHP+Calibri"/>
              </a:rPr>
              <a:t>conditional</a:t>
            </a:r>
            <a:r>
              <a:rPr sz="2400" u="sng" spc="-93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u="sng" dirty="0">
                <a:solidFill>
                  <a:srgbClr val="000000"/>
                </a:solidFill>
                <a:latin typeface="DHSVHP+Calibri"/>
                <a:cs typeface="DHSVHP+Calibri"/>
              </a:rPr>
              <a:t>entropy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:</a:t>
            </a:r>
          </a:p>
          <a:p>
            <a:pPr marL="2297811" marR="0">
              <a:lnSpc>
                <a:spcPts val="2404"/>
              </a:lnSpc>
              <a:spcBef>
                <a:spcPts val="372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3" dirty="0">
                <a:solidFill>
                  <a:srgbClr val="000000"/>
                </a:solidFill>
                <a:latin typeface="PLNGGG+Cambria Math"/>
                <a:cs typeface="PLNGGG+Cambria Math"/>
              </a:rPr>
              <a:t>ꢇ|ꢋ</a:t>
            </a:r>
            <a:r>
              <a:rPr sz="2400" spc="25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431" dirty="0">
                <a:solidFill>
                  <a:srgbClr val="000000"/>
                </a:solidFill>
                <a:latin typeface="PLNGGG+Cambria Math"/>
                <a:cs typeface="PLNGGG+Cambria Math"/>
              </a:rPr>
              <a:t>=෍ꢆ</a:t>
            </a:r>
            <a:r>
              <a:rPr sz="2400" spc="-84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ꢂ</a:t>
            </a:r>
            <a:r>
              <a:rPr sz="2400" spc="-3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0" dirty="0">
                <a:solidFill>
                  <a:srgbClr val="000000"/>
                </a:solidFill>
                <a:latin typeface="PLNGGG+Cambria Math"/>
                <a:cs typeface="PLNGGG+Cambria Math"/>
              </a:rPr>
              <a:t>ꢈ(ꢇ|ꢋ</a:t>
            </a:r>
            <a:r>
              <a:rPr sz="2400" spc="-71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=</a:t>
            </a:r>
            <a:r>
              <a:rPr sz="2400" spc="-7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5" dirty="0">
                <a:solidFill>
                  <a:srgbClr val="000000"/>
                </a:solidFill>
                <a:latin typeface="PLNGGG+Cambria Math"/>
                <a:cs typeface="PLNGGG+Cambria Math"/>
              </a:rPr>
              <a:t>ꢂ)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85080" y="4770959"/>
            <a:ext cx="579310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24" dirty="0">
                <a:solidFill>
                  <a:srgbClr val="000000"/>
                </a:solidFill>
                <a:latin typeface="PLNGGG+Cambria Math"/>
                <a:cs typeface="PLNGGG+Cambria Math"/>
              </a:rPr>
              <a:t>ꢌ∈ꢍ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76089" y="5225030"/>
            <a:ext cx="4064148" cy="38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=</a:t>
            </a:r>
            <a:r>
              <a:rPr sz="2400" spc="-7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407" dirty="0">
                <a:solidFill>
                  <a:srgbClr val="000000"/>
                </a:solidFill>
                <a:latin typeface="PLNGGG+Cambria Math"/>
                <a:cs typeface="PLNGGG+Cambria Math"/>
              </a:rPr>
              <a:t>−෍෍ꢆ</a:t>
            </a:r>
            <a:r>
              <a:rPr sz="2400" spc="-8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56" dirty="0">
                <a:solidFill>
                  <a:srgbClr val="000000"/>
                </a:solidFill>
                <a:latin typeface="PLNGGG+Cambria Math"/>
                <a:cs typeface="PLNGGG+Cambria Math"/>
              </a:rPr>
              <a:t>ꢂ,ꢅ</a:t>
            </a:r>
            <a:r>
              <a:rPr sz="2400" spc="-56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3" dirty="0">
                <a:solidFill>
                  <a:srgbClr val="000000"/>
                </a:solidFill>
                <a:latin typeface="PLNGGG+Cambria Math"/>
                <a:cs typeface="PLNGGG+Cambria Math"/>
              </a:rPr>
              <a:t>log</a:t>
            </a:r>
            <a:r>
              <a:rPr sz="2650" spc="498" baseline="-20541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  <a:r>
              <a:rPr sz="2400" spc="29" dirty="0">
                <a:solidFill>
                  <a:srgbClr val="000000"/>
                </a:solidFill>
                <a:latin typeface="PLNGGG+Cambria Math"/>
                <a:cs typeface="PLNGGG+Cambria Math"/>
              </a:rPr>
              <a:t>ꢆ(ꢅ|ꢂ)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66131" y="5681543"/>
            <a:ext cx="1058454" cy="257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6"/>
              </a:lnSpc>
              <a:spcBef>
                <a:spcPts val="0"/>
              </a:spcBef>
              <a:spcAft>
                <a:spcPts val="0"/>
              </a:spcAft>
            </a:pPr>
            <a:r>
              <a:rPr sz="1700" spc="37" dirty="0">
                <a:solidFill>
                  <a:srgbClr val="000000"/>
                </a:solidFill>
                <a:latin typeface="PLNGGG+Cambria Math"/>
                <a:cs typeface="PLNGGG+Cambria Math"/>
              </a:rPr>
              <a:t>ꢌ∈ꢍ</a:t>
            </a:r>
            <a:r>
              <a:rPr sz="1700" spc="-55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00" spc="36" dirty="0">
                <a:solidFill>
                  <a:srgbClr val="000000"/>
                </a:solidFill>
                <a:latin typeface="PLNGGG+Cambria Math"/>
                <a:cs typeface="PLNGGG+Cambria Math"/>
              </a:rPr>
              <a:t>ꢉ∈ꢊ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53155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Conditional</a:t>
            </a:r>
            <a:r>
              <a:rPr sz="3250" spc="-1231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4" dirty="0">
                <a:solidFill>
                  <a:srgbClr val="001F5F"/>
                </a:solidFill>
                <a:latin typeface="UWTVVI+Calibri-Bold"/>
                <a:cs typeface="UWTVVI+Calibri-Bold"/>
              </a:rPr>
              <a:t>Entropy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457" y="1073160"/>
            <a:ext cx="8401048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Example:</a:t>
            </a:r>
            <a:r>
              <a:rPr sz="2400" spc="-3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730" dirty="0">
                <a:solidFill>
                  <a:srgbClr val="000000"/>
                </a:solidFill>
                <a:latin typeface="PLNGGG+Cambria Math"/>
                <a:cs typeface="PLNGGG+Cambria Math"/>
              </a:rPr>
              <a:t>ꢋ=</a:t>
            </a:r>
            <a:r>
              <a:rPr sz="2400" spc="-5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Raining,</a:t>
            </a:r>
            <a:r>
              <a:rPr sz="2400" spc="-104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Not</a:t>
            </a:r>
            <a:r>
              <a:rPr sz="2400" spc="-9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raining</a:t>
            </a:r>
            <a:r>
              <a:rPr sz="2400" spc="-4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 </a:t>
            </a:r>
            <a:r>
              <a:rPr sz="2400" spc="729" dirty="0">
                <a:solidFill>
                  <a:srgbClr val="000000"/>
                </a:solidFill>
                <a:latin typeface="PLNGGG+Cambria Math"/>
                <a:cs typeface="PLNGGG+Cambria Math"/>
              </a:rPr>
              <a:t>ꢇ=</a:t>
            </a:r>
            <a:r>
              <a:rPr sz="2400" spc="-5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Cloudy,</a:t>
            </a:r>
            <a:r>
              <a:rPr sz="2400" spc="-1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Not</a:t>
            </a:r>
            <a:r>
              <a:rPr sz="2400" spc="-9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cloudy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5457" y="3638814"/>
            <a:ext cx="10536811" cy="753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What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entropy</a:t>
            </a:r>
            <a:r>
              <a:rPr sz="2400" spc="-6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cloudiness</a:t>
            </a:r>
            <a:r>
              <a:rPr sz="2400" spc="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4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 </a:t>
            </a:r>
            <a:r>
              <a:rPr sz="2400" dirty="0">
                <a:solidFill>
                  <a:srgbClr val="000000"/>
                </a:solidFill>
                <a:latin typeface="UWTVVI+Calibri-Bold"/>
                <a:cs typeface="UWTVVI+Calibri-Bold"/>
              </a:rPr>
              <a:t>given</a:t>
            </a:r>
            <a:r>
              <a:rPr sz="2400" spc="-854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UWTVVI+Calibri-Bold"/>
                <a:cs typeface="UWTVVI+Calibri-Bold"/>
              </a:rPr>
              <a:t>the</a:t>
            </a:r>
            <a:r>
              <a:rPr sz="2400" spc="-910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UWTVVI+Calibri-Bold"/>
                <a:cs typeface="UWTVVI+Calibri-Bold"/>
              </a:rPr>
              <a:t>knowledge</a:t>
            </a:r>
            <a:r>
              <a:rPr sz="2400" spc="-849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UWTVVI+Calibri-Bold"/>
                <a:cs typeface="UWTVVI+Calibri-Bold"/>
              </a:rPr>
              <a:t>of</a:t>
            </a:r>
            <a:r>
              <a:rPr sz="2400" spc="-906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UWTVVI+Calibri-Bold"/>
                <a:cs typeface="UWTVVI+Calibri-Bold"/>
              </a:rPr>
              <a:t>whether</a:t>
            </a:r>
            <a:r>
              <a:rPr sz="2400" spc="-951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UWTVVI+Calibri-Bold"/>
                <a:cs typeface="UWTVVI+Calibri-Bold"/>
              </a:rPr>
              <a:t>or</a:t>
            </a:r>
            <a:r>
              <a:rPr sz="2400" spc="-851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UWTVVI+Calibri-Bold"/>
                <a:cs typeface="UWTVVI+Calibri-Bold"/>
              </a:rPr>
              <a:t>not</a:t>
            </a:r>
            <a:r>
              <a:rPr sz="2400" spc="-834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spc="-61" dirty="0">
                <a:solidFill>
                  <a:srgbClr val="000000"/>
                </a:solidFill>
                <a:latin typeface="UWTVVI+Calibri-Bold"/>
                <a:cs typeface="UWTVVI+Calibri-Bold"/>
              </a:rPr>
              <a:t>it</a:t>
            </a:r>
            <a:r>
              <a:rPr sz="2400" spc="-781" dirty="0">
                <a:solidFill>
                  <a:srgbClr val="000000"/>
                </a:solidFill>
                <a:latin typeface="UWTVVI+Calibri-Bold"/>
                <a:cs typeface="UWTVVI+Calibri-Bold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UWTVVI+Calibri-Bold"/>
                <a:cs typeface="UWTVVI+Calibri-Bold"/>
              </a:rPr>
              <a:t>is</a:t>
            </a:r>
          </a:p>
          <a:p>
            <a:pPr marL="343217" marR="0">
              <a:lnSpc>
                <a:spcPts val="2402"/>
              </a:lnSpc>
              <a:spcBef>
                <a:spcPts val="4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WTVVI+Calibri-Bold"/>
                <a:cs typeface="UWTVVI+Calibri-Bold"/>
              </a:rPr>
              <a:t>raining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49550" y="4467475"/>
            <a:ext cx="4155208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3" dirty="0">
                <a:solidFill>
                  <a:srgbClr val="000000"/>
                </a:solidFill>
                <a:latin typeface="PLNGGG+Cambria Math"/>
                <a:cs typeface="PLNGGG+Cambria Math"/>
              </a:rPr>
              <a:t>ꢇ|ꢋ</a:t>
            </a:r>
            <a:r>
              <a:rPr sz="2400" spc="2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432" dirty="0">
                <a:solidFill>
                  <a:srgbClr val="000000"/>
                </a:solidFill>
                <a:latin typeface="PLNGGG+Cambria Math"/>
                <a:cs typeface="PLNGGG+Cambria Math"/>
              </a:rPr>
              <a:t>=෍ꢆ</a:t>
            </a:r>
            <a:r>
              <a:rPr sz="2400" spc="-84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ꢂ</a:t>
            </a:r>
            <a:r>
              <a:rPr sz="2400" spc="-3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9" dirty="0">
                <a:solidFill>
                  <a:srgbClr val="000000"/>
                </a:solidFill>
                <a:latin typeface="PLNGGG+Cambria Math"/>
                <a:cs typeface="PLNGGG+Cambria Math"/>
              </a:rPr>
              <a:t>ꢈ(ꢇ|ꢋ</a:t>
            </a:r>
            <a:r>
              <a:rPr sz="2400" spc="-7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=</a:t>
            </a:r>
            <a:r>
              <a:rPr sz="2400" spc="-7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6" dirty="0">
                <a:solidFill>
                  <a:srgbClr val="000000"/>
                </a:solidFill>
                <a:latin typeface="PLNGGG+Cambria Math"/>
                <a:cs typeface="PLNGGG+Cambria Math"/>
              </a:rPr>
              <a:t>ꢂ)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23690" y="4923740"/>
            <a:ext cx="579183" cy="5523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24" dirty="0">
                <a:solidFill>
                  <a:srgbClr val="000000"/>
                </a:solidFill>
                <a:latin typeface="PLNGGG+Cambria Math"/>
                <a:cs typeface="PLNGGG+Cambria Math"/>
              </a:rPr>
              <a:t>ꢌ∈ꢍ</a:t>
            </a:r>
          </a:p>
          <a:p>
            <a:pPr marL="118363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07731" y="5132567"/>
            <a:ext cx="321346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930396" y="5363142"/>
            <a:ext cx="7682504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=</a:t>
            </a:r>
            <a:r>
              <a:rPr sz="2400" spc="94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cloudiness</a:t>
            </a:r>
            <a:r>
              <a:rPr sz="2400" spc="-65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is</a:t>
            </a:r>
            <a:r>
              <a:rPr sz="2400" spc="-9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raining</a:t>
            </a:r>
            <a:r>
              <a:rPr sz="2400" spc="1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+</a:t>
            </a:r>
            <a:r>
              <a:rPr sz="2400" spc="81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ꢈ(cloudiness|not</a:t>
            </a:r>
            <a:r>
              <a:rPr sz="2400" spc="-9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rainig)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242054" y="5567860"/>
            <a:ext cx="321346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4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007731" y="5567860"/>
            <a:ext cx="321346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51909" y="6058080"/>
            <a:ext cx="1511224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400" spc="-7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0.75bits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53155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Conditional</a:t>
            </a:r>
            <a:r>
              <a:rPr sz="3250" spc="-1231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4" dirty="0">
                <a:solidFill>
                  <a:srgbClr val="001F5F"/>
                </a:solidFill>
                <a:latin typeface="UWTVVI+Calibri-Bold"/>
                <a:cs typeface="UWTVVI+Calibri-Bold"/>
              </a:rPr>
              <a:t>Entropy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11529" y="1174473"/>
            <a:ext cx="3373829" cy="390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Some useful</a:t>
            </a:r>
            <a:r>
              <a:rPr sz="2400" spc="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properties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54810" y="1638691"/>
            <a:ext cx="3598923" cy="389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613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always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n</a:t>
            </a:r>
            <a:r>
              <a:rPr sz="2400" u="sng" dirty="0">
                <a:solidFill>
                  <a:srgbClr val="000000"/>
                </a:solidFill>
                <a:latin typeface="DHSVHP+Calibri"/>
                <a:cs typeface="DHSVHP+Calibri"/>
              </a:rPr>
              <a:t>on-negativ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54810" y="2001562"/>
            <a:ext cx="9103544" cy="221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u="sng" dirty="0">
                <a:solidFill>
                  <a:srgbClr val="000000"/>
                </a:solidFill>
                <a:latin typeface="DHSVHP+Calibri"/>
                <a:cs typeface="DHSVHP+Calibri"/>
              </a:rPr>
              <a:t>Chain</a:t>
            </a:r>
            <a:r>
              <a:rPr sz="2400" u="sng" spc="-9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u="sng" dirty="0">
                <a:solidFill>
                  <a:srgbClr val="000000"/>
                </a:solidFill>
                <a:latin typeface="DHSVHP+Calibri"/>
                <a:cs typeface="DHSVHP+Calibri"/>
              </a:rPr>
              <a:t>rule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: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6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53" dirty="0">
                <a:solidFill>
                  <a:srgbClr val="000000"/>
                </a:solidFill>
                <a:latin typeface="PLNGGG+Cambria Math"/>
                <a:cs typeface="PLNGGG+Cambria Math"/>
              </a:rPr>
              <a:t>ꢋ,ꢇ</a:t>
            </a:r>
            <a:r>
              <a:rPr sz="2400" spc="1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4" dirty="0">
                <a:solidFill>
                  <a:srgbClr val="000000"/>
                </a:solidFill>
                <a:latin typeface="PLNGGG+Cambria Math"/>
                <a:cs typeface="PLNGGG+Cambria Math"/>
              </a:rPr>
              <a:t>=ꢈ</a:t>
            </a:r>
            <a:r>
              <a:rPr sz="2400" spc="-10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822" dirty="0">
                <a:solidFill>
                  <a:srgbClr val="000000"/>
                </a:solidFill>
                <a:latin typeface="PLNGGG+Cambria Math"/>
                <a:cs typeface="PLNGGG+Cambria Math"/>
              </a:rPr>
              <a:t>ꢋꢇ</a:t>
            </a:r>
            <a:r>
              <a:rPr sz="2400" spc="-6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29" dirty="0">
                <a:solidFill>
                  <a:srgbClr val="000000"/>
                </a:solidFill>
                <a:latin typeface="PLNGGG+Cambria Math"/>
                <a:cs typeface="PLNGGG+Cambria Math"/>
              </a:rPr>
              <a:t>+ꢈ</a:t>
            </a:r>
            <a:r>
              <a:rPr sz="2400" spc="-89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28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PLNGGG+Cambria Math"/>
                <a:cs typeface="PLNGGG+Cambria Math"/>
              </a:rPr>
              <a:t>=ꢈ</a:t>
            </a:r>
            <a:r>
              <a:rPr sz="2400" spc="-103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825" dirty="0">
                <a:solidFill>
                  <a:srgbClr val="000000"/>
                </a:solidFill>
                <a:latin typeface="PLNGGG+Cambria Math"/>
                <a:cs typeface="PLNGGG+Cambria Math"/>
              </a:rPr>
              <a:t>ꢇꢋ</a:t>
            </a:r>
            <a:r>
              <a:rPr sz="2400" spc="-6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30" dirty="0">
                <a:solidFill>
                  <a:srgbClr val="000000"/>
                </a:solidFill>
                <a:latin typeface="PLNGGG+Cambria Math"/>
                <a:cs typeface="PLNGGG+Cambria Math"/>
              </a:rPr>
              <a:t>+ꢈ</a:t>
            </a:r>
            <a:r>
              <a:rPr sz="2400" spc="-89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ꢋ</a:t>
            </a:r>
          </a:p>
          <a:p>
            <a:pPr marL="0" marR="0">
              <a:lnSpc>
                <a:spcPts val="2666"/>
              </a:lnSpc>
              <a:spcBef>
                <a:spcPts val="117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If </a:t>
            </a:r>
            <a:r>
              <a:rPr sz="2400" spc="587" dirty="0">
                <a:solidFill>
                  <a:srgbClr val="000000"/>
                </a:solidFill>
                <a:latin typeface="PLNGGG+Cambria Math"/>
                <a:cs typeface="PLNGGG+Cambria Math"/>
              </a:rPr>
              <a:t>ꢋ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02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independent,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then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599" dirty="0">
                <a:solidFill>
                  <a:srgbClr val="000000"/>
                </a:solidFill>
                <a:latin typeface="PLNGGG+Cambria Math"/>
                <a:cs typeface="PLNGGG+Cambria Math"/>
              </a:rPr>
              <a:t>ꢋ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does</a:t>
            </a:r>
            <a:r>
              <a:rPr sz="2400" spc="-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not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affect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our</a:t>
            </a:r>
            <a:r>
              <a:rPr sz="2400" spc="-3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uncertainty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about</a:t>
            </a:r>
          </a:p>
          <a:p>
            <a:pPr marL="343281" marR="0">
              <a:lnSpc>
                <a:spcPts val="2404"/>
              </a:lnSpc>
              <a:spcBef>
                <a:spcPts val="380"/>
              </a:spcBef>
              <a:spcAft>
                <a:spcPts val="0"/>
              </a:spcAft>
            </a:pPr>
            <a:r>
              <a:rPr sz="2400" spc="156" dirty="0">
                <a:solidFill>
                  <a:srgbClr val="000000"/>
                </a:solidFill>
                <a:latin typeface="PLNGGG+Cambria Math"/>
                <a:cs typeface="PLNGGG+Cambria Math"/>
              </a:rPr>
              <a:t>ꢇ:ꢈ</a:t>
            </a:r>
            <a:r>
              <a:rPr sz="2400" spc="-5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821" dirty="0">
                <a:solidFill>
                  <a:srgbClr val="000000"/>
                </a:solidFill>
                <a:latin typeface="PLNGGG+Cambria Math"/>
                <a:cs typeface="PLNGGG+Cambria Math"/>
              </a:rPr>
              <a:t>ꢇꢋ</a:t>
            </a:r>
            <a:r>
              <a:rPr sz="2400" spc="-5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3" dirty="0">
                <a:solidFill>
                  <a:srgbClr val="000000"/>
                </a:solidFill>
                <a:latin typeface="PLNGGG+Cambria Math"/>
                <a:cs typeface="PLNGGG+Cambria Math"/>
              </a:rPr>
              <a:t>=ꢈ</a:t>
            </a:r>
            <a:r>
              <a:rPr sz="2400" spc="-10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</a:p>
          <a:p>
            <a:pPr marL="0" marR="0">
              <a:lnSpc>
                <a:spcPts val="2666"/>
              </a:lnSpc>
              <a:spcBef>
                <a:spcPts val="237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But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knowing</a:t>
            </a:r>
            <a:r>
              <a:rPr sz="2400" spc="2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02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makes</a:t>
            </a:r>
            <a:r>
              <a:rPr sz="2400" spc="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our</a:t>
            </a:r>
            <a:r>
              <a:rPr sz="2400" spc="-3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knowledge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spc="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01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certain:</a:t>
            </a:r>
            <a:r>
              <a:rPr sz="2400" spc="-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4" dirty="0">
                <a:solidFill>
                  <a:srgbClr val="000000"/>
                </a:solidFill>
                <a:latin typeface="PLNGGG+Cambria Math"/>
                <a:cs typeface="PLNGGG+Cambria Math"/>
              </a:rPr>
              <a:t>ꢇ|ꢇ</a:t>
            </a:r>
            <a:r>
              <a:rPr sz="2400" spc="25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3" dirty="0">
                <a:solidFill>
                  <a:srgbClr val="000000"/>
                </a:solidFill>
                <a:latin typeface="PLNGGG+Cambria Math"/>
                <a:cs typeface="PLNGGG+Cambria Math"/>
              </a:rPr>
              <a:t>=0</a:t>
            </a:r>
          </a:p>
          <a:p>
            <a:pPr marL="0" marR="0">
              <a:lnSpc>
                <a:spcPts val="2669"/>
              </a:lnSpc>
              <a:spcBef>
                <a:spcPts val="3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-31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  <a:r>
              <a:rPr sz="2400" spc="4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knowing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2" dirty="0">
                <a:solidFill>
                  <a:srgbClr val="000000"/>
                </a:solidFill>
                <a:latin typeface="PLNGGG+Cambria Math"/>
                <a:cs typeface="PLNGGG+Cambria Math"/>
              </a:rPr>
              <a:t>ꢋ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can only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decrease uncertainty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about</a:t>
            </a:r>
            <a:r>
              <a:rPr sz="2400" spc="-3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4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: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35" dirty="0">
                <a:solidFill>
                  <a:srgbClr val="000000"/>
                </a:solidFill>
                <a:latin typeface="PLNGGG+Cambria Math"/>
                <a:cs typeface="PLNGGG+Cambria Math"/>
              </a:rPr>
              <a:t>ꢈ(ꢇ|ꢋ)</a:t>
            </a:r>
            <a:r>
              <a:rPr sz="2400" spc="-7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≤</a:t>
            </a:r>
          </a:p>
          <a:p>
            <a:pPr marL="343281" marR="0">
              <a:lnSpc>
                <a:spcPts val="2404"/>
              </a:lnSpc>
              <a:spcBef>
                <a:spcPts val="382"/>
              </a:spcBef>
              <a:spcAft>
                <a:spcPts val="0"/>
              </a:spcAft>
            </a:pPr>
            <a:r>
              <a:rPr sz="2400" spc="48" dirty="0">
                <a:solidFill>
                  <a:srgbClr val="000000"/>
                </a:solidFill>
                <a:latin typeface="PLNGGG+Cambria Math"/>
                <a:cs typeface="PLNGGG+Cambria Math"/>
              </a:rPr>
              <a:t>ꢈ(ꢇ)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051198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UWTVVI+Calibri-Bold"/>
                <a:cs typeface="UWTVVI+Calibri-Bold"/>
              </a:rPr>
              <a:t>Information</a:t>
            </a:r>
            <a:r>
              <a:rPr sz="3250" spc="-1271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6" dirty="0">
                <a:solidFill>
                  <a:srgbClr val="001F5F"/>
                </a:solidFill>
                <a:latin typeface="UWTVVI+Calibri-Bold"/>
                <a:cs typeface="UWTVVI+Calibri-Bold"/>
              </a:rPr>
              <a:t>Gain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63856" y="1044082"/>
            <a:ext cx="3247643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信息增益 (Information Gain): 这是它在决策树领域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的常⽤名字。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11204" y="1446860"/>
            <a:ext cx="3545753" cy="676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我对 Y（是否多云）的原始不确定性，减去我看</a:t>
            </a:r>
          </a:p>
          <a:p>
            <a:pPr marL="0" marR="0">
              <a:lnSpc>
                <a:spcPts val="1510"/>
              </a:lnSpc>
              <a:spcBef>
                <a:spcPts val="29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到了 X（是否下⾬）之后，对 Y 平均还剩下的不</a:t>
            </a:r>
          </a:p>
          <a:p>
            <a:pPr marL="0" marR="0">
              <a:lnSpc>
                <a:spcPts val="1510"/>
              </a:lnSpc>
              <a:spcBef>
                <a:spcPts val="24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确定性。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63856" y="1515137"/>
            <a:ext cx="3251662" cy="592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互信息 (Mutual Information): 这是它在信息论⾥的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名字。两者是完全等价的，都衡量“X 和</a:t>
            </a:r>
            <a:r>
              <a:rPr sz="1100" spc="-12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 </a:t>
            </a:r>
            <a:r>
              <a:rPr sz="11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Y 共享了</a:t>
            </a:r>
          </a:p>
          <a:p>
            <a:pPr marL="0" marR="0">
              <a:lnSpc>
                <a:spcPts val="1313"/>
              </a:lnSpc>
              <a:spcBef>
                <a:spcPts val="26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多少信息”。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2813998"/>
            <a:ext cx="11261196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How</a:t>
            </a:r>
            <a:r>
              <a:rPr sz="2400" spc="-14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much </a:t>
            </a:r>
            <a:r>
              <a:rPr sz="2400" spc="-15" dirty="0">
                <a:solidFill>
                  <a:srgbClr val="000000"/>
                </a:solidFill>
                <a:latin typeface="VCNWLL+Calibri"/>
                <a:cs typeface="VCNWLL+Calibri"/>
              </a:rPr>
              <a:t>more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 certain </a:t>
            </a:r>
            <a:r>
              <a:rPr sz="2400" spc="47" dirty="0">
                <a:solidFill>
                  <a:srgbClr val="000000"/>
                </a:solidFill>
                <a:latin typeface="VCNWLL+Calibri"/>
                <a:cs typeface="VCNWLL+Calibri"/>
              </a:rPr>
              <a:t>am</a:t>
            </a:r>
            <a:r>
              <a:rPr sz="2400" spc="-104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I</a:t>
            </a:r>
            <a:r>
              <a:rPr sz="2400" spc="49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VCNWLL+Calibri"/>
                <a:cs typeface="VCNWLL+Calibri"/>
              </a:rPr>
              <a:t>about</a:t>
            </a:r>
            <a:r>
              <a:rPr sz="2400" spc="18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whether</a:t>
            </a:r>
            <a:r>
              <a:rPr sz="2400" spc="50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it’s</a:t>
            </a:r>
            <a:r>
              <a:rPr sz="2400" spc="-55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cloudy</a:t>
            </a:r>
            <a:r>
              <a:rPr sz="2400" spc="-61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VCNWLL+Calibri"/>
                <a:cs typeface="VCNWLL+Calibri"/>
              </a:rPr>
              <a:t>if</a:t>
            </a:r>
            <a:r>
              <a:rPr sz="2400" spc="-49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I’m</a:t>
            </a:r>
            <a:r>
              <a:rPr sz="2400" spc="-63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told whether</a:t>
            </a:r>
            <a:r>
              <a:rPr sz="2400" spc="50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VCNWLL+Calibri"/>
                <a:cs typeface="VCNWLL+Calibri"/>
              </a:rPr>
              <a:t>it</a:t>
            </a:r>
            <a:r>
              <a:rPr sz="2400" spc="2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VCNWLL+Calibri"/>
                <a:cs typeface="VCNWLL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raining?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4007" y="3229218"/>
            <a:ext cx="11193615" cy="108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3217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My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uncertainty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02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minus</a:t>
            </a:r>
            <a:r>
              <a:rPr sz="2400" spc="-6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31" dirty="0">
                <a:solidFill>
                  <a:srgbClr val="000000"/>
                </a:solidFill>
                <a:latin typeface="DHSVHP+Calibri"/>
                <a:cs typeface="DHSVHP+Calibri"/>
              </a:rPr>
              <a:t>my</a:t>
            </a:r>
            <a:r>
              <a:rPr sz="2400" spc="-8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expected uncertainty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that would remain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1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01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after</a:t>
            </a:r>
          </a:p>
          <a:p>
            <a:pPr marL="343217" marR="0">
              <a:lnSpc>
                <a:spcPts val="2404"/>
              </a:lnSpc>
              <a:spcBef>
                <a:spcPts val="45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seeing</a:t>
            </a:r>
            <a:r>
              <a:rPr sz="2400" spc="-3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2" dirty="0">
                <a:solidFill>
                  <a:srgbClr val="000000"/>
                </a:solidFill>
                <a:latin typeface="PLNGGG+Cambria Math"/>
                <a:cs typeface="PLNGGG+Cambria Math"/>
              </a:rPr>
              <a:t>ꢋ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  <a:p>
            <a:pPr marL="0" marR="0">
              <a:lnSpc>
                <a:spcPts val="2686"/>
              </a:lnSpc>
              <a:spcBef>
                <a:spcPts val="2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This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called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information </a:t>
            </a:r>
            <a:r>
              <a:rPr sz="2400" spc="-17" dirty="0">
                <a:solidFill>
                  <a:srgbClr val="0B44E4"/>
                </a:solidFill>
                <a:latin typeface="DHSVHP+Calibri"/>
                <a:cs typeface="DHSVHP+Calibri"/>
              </a:rPr>
              <a:t>gain</a:t>
            </a:r>
            <a:r>
              <a:rPr sz="2400" spc="50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ꢏꢐ</a:t>
            </a:r>
            <a:r>
              <a:rPr sz="2400" spc="-31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824" dirty="0">
                <a:solidFill>
                  <a:srgbClr val="000000"/>
                </a:solidFill>
                <a:latin typeface="PLNGGG+Cambria Math"/>
                <a:cs typeface="PLNGGG+Cambria Math"/>
              </a:rPr>
              <a:t>ꢇꢋ</a:t>
            </a:r>
            <a:r>
              <a:rPr sz="2400" spc="-66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4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01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due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6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29" dirty="0">
                <a:solidFill>
                  <a:srgbClr val="000000"/>
                </a:solidFill>
                <a:latin typeface="PLNGGG+Cambria Math"/>
                <a:cs typeface="PLNGGG+Cambria Math"/>
              </a:rPr>
              <a:t>ꢋ,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or</a:t>
            </a:r>
            <a:r>
              <a:rPr sz="2400" spc="-3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mutual</a:t>
            </a:r>
            <a:r>
              <a:rPr sz="2400" spc="32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information</a:t>
            </a:r>
            <a:r>
              <a:rPr sz="2400" spc="67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7225" y="4335642"/>
            <a:ext cx="1144480" cy="352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601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ꢋ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59930" y="4436022"/>
            <a:ext cx="4611930" cy="221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这被称为由 X 带来的关于 Y 的信息增益，或者 Y 和 X 的互信息。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508121" y="4811010"/>
            <a:ext cx="3633872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ꢏꢐ</a:t>
            </a:r>
            <a:r>
              <a:rPr sz="2400" spc="-3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824" dirty="0">
                <a:solidFill>
                  <a:srgbClr val="000000"/>
                </a:solidFill>
                <a:latin typeface="PLNGGG+Cambria Math"/>
                <a:cs typeface="PLNGGG+Cambria Math"/>
              </a:rPr>
              <a:t>ꢇꢋ</a:t>
            </a:r>
            <a:r>
              <a:rPr sz="2400" spc="-5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5" dirty="0">
                <a:solidFill>
                  <a:srgbClr val="000000"/>
                </a:solidFill>
                <a:latin typeface="PLNGGG+Cambria Math"/>
                <a:cs typeface="PLNGGG+Cambria Math"/>
              </a:rPr>
              <a:t>=ꢈ</a:t>
            </a:r>
            <a:r>
              <a:rPr sz="2400" spc="-103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15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400" spc="-90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5" dirty="0">
                <a:solidFill>
                  <a:srgbClr val="000000"/>
                </a:solidFill>
                <a:latin typeface="PLNGGG+Cambria Math"/>
                <a:cs typeface="PLNGGG+Cambria Math"/>
              </a:rPr>
              <a:t>ꢈ(ꢇ|ꢋ)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599930" y="4772383"/>
            <a:ext cx="529920" cy="379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spc="19" dirty="0">
                <a:solidFill>
                  <a:srgbClr val="000000"/>
                </a:solidFill>
                <a:latin typeface="DDLMID+ArialMT"/>
                <a:cs typeface="DDLMID+ArialMT"/>
              </a:rPr>
              <a:t>(1)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4007" y="5394018"/>
            <a:ext cx="7498800" cy="752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If </a:t>
            </a:r>
            <a:r>
              <a:rPr sz="2400" spc="587" dirty="0">
                <a:solidFill>
                  <a:srgbClr val="000000"/>
                </a:solidFill>
                <a:latin typeface="PLNGGG+Cambria Math"/>
                <a:cs typeface="PLNGGG+Cambria Math"/>
              </a:rPr>
              <a:t>ꢋ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completely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uninformative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about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32" dirty="0">
                <a:solidFill>
                  <a:srgbClr val="000000"/>
                </a:solidFill>
                <a:latin typeface="PLNGGG+Cambria Math"/>
                <a:cs typeface="PLNGGG+Cambria Math"/>
              </a:rPr>
              <a:t>ꢇ:</a:t>
            </a:r>
            <a:r>
              <a:rPr sz="2400" spc="-103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ꢏꢐ</a:t>
            </a:r>
            <a:r>
              <a:rPr sz="2400" spc="-3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825" dirty="0">
                <a:solidFill>
                  <a:srgbClr val="000000"/>
                </a:solidFill>
                <a:latin typeface="PLNGGG+Cambria Math"/>
                <a:cs typeface="PLNGGG+Cambria Math"/>
              </a:rPr>
              <a:t>ꢇꢋ</a:t>
            </a:r>
            <a:r>
              <a:rPr sz="2400" spc="-5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5" dirty="0">
                <a:solidFill>
                  <a:srgbClr val="000000"/>
                </a:solidFill>
                <a:latin typeface="PLNGGG+Cambria Math"/>
                <a:cs typeface="PLNGGG+Cambria Math"/>
              </a:rPr>
              <a:t>=0</a:t>
            </a:r>
          </a:p>
          <a:p>
            <a:pPr marL="0" marR="0">
              <a:lnSpc>
                <a:spcPts val="2686"/>
              </a:lnSpc>
              <a:spcBef>
                <a:spcPts val="2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If </a:t>
            </a:r>
            <a:r>
              <a:rPr sz="2400" spc="587" dirty="0">
                <a:solidFill>
                  <a:srgbClr val="000000"/>
                </a:solidFill>
                <a:latin typeface="PLNGGG+Cambria Math"/>
                <a:cs typeface="PLNGGG+Cambria Math"/>
              </a:rPr>
              <a:t>ꢋ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completely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informative about</a:t>
            </a:r>
            <a:r>
              <a:rPr sz="2400" spc="4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5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: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ꢏꢐ</a:t>
            </a:r>
            <a:r>
              <a:rPr sz="2400" spc="-31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824" dirty="0">
                <a:solidFill>
                  <a:srgbClr val="000000"/>
                </a:solidFill>
                <a:latin typeface="PLNGGG+Cambria Math"/>
                <a:cs typeface="PLNGGG+Cambria Math"/>
              </a:rPr>
              <a:t>ꢇꢋ</a:t>
            </a:r>
            <a:r>
              <a:rPr sz="2400" spc="-5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=</a:t>
            </a:r>
            <a:r>
              <a:rPr sz="2400" spc="-7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6" dirty="0">
                <a:solidFill>
                  <a:srgbClr val="000000"/>
                </a:solidFill>
                <a:latin typeface="PLNGGG+Cambria Math"/>
                <a:cs typeface="PLNGGG+Cambria Math"/>
              </a:rPr>
              <a:t>ꢈ(ꢇ)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475866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UWTVVI+Calibri-Bold"/>
                <a:cs typeface="UWTVVI+Calibri-Bold"/>
              </a:rPr>
              <a:t>Revisiting</a:t>
            </a:r>
            <a:r>
              <a:rPr sz="3250" spc="-123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56" dirty="0">
                <a:solidFill>
                  <a:srgbClr val="001F5F"/>
                </a:solidFill>
                <a:latin typeface="UWTVVI+Calibri-Bold"/>
                <a:cs typeface="UWTVVI+Calibri-Bold"/>
              </a:rPr>
              <a:t>Our</a:t>
            </a:r>
            <a:r>
              <a:rPr sz="3250" spc="-1176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3" dirty="0">
                <a:solidFill>
                  <a:srgbClr val="001F5F"/>
                </a:solidFill>
                <a:latin typeface="UWTVVI+Calibri-Bold"/>
                <a:cs typeface="UWTVVI+Calibri-Bold"/>
              </a:rPr>
              <a:t>Original</a:t>
            </a:r>
            <a:r>
              <a:rPr sz="3250" spc="-1230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61160" y="1899389"/>
            <a:ext cx="8838755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Information gain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measures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informativeness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variable,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which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04441" y="2309511"/>
            <a:ext cx="6104536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exactly</a:t>
            </a:r>
            <a:r>
              <a:rPr sz="2400" spc="-5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what we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desire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decision tree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1160" y="2996288"/>
            <a:ext cx="8864209" cy="1131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3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information gain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split: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how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much information (over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</a:p>
          <a:p>
            <a:pPr marL="343281" marR="0">
              <a:lnSpc>
                <a:spcPts val="2404"/>
              </a:lnSpc>
              <a:spcBef>
                <a:spcPts val="40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training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set) about</a:t>
            </a:r>
            <a:r>
              <a:rPr sz="2400" spc="-7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class</a:t>
            </a:r>
            <a:r>
              <a:rPr sz="2400" spc="-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label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02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gained </a:t>
            </a:r>
            <a:r>
              <a:rPr sz="2400" spc="-62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  <a:r>
              <a:rPr sz="2400" spc="8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knowing</a:t>
            </a:r>
            <a:r>
              <a:rPr sz="2400" spc="-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which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side</a:t>
            </a:r>
          </a:p>
          <a:p>
            <a:pPr marL="343281" marR="0">
              <a:lnSpc>
                <a:spcPts val="285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of a</a:t>
            </a:r>
            <a:r>
              <a:rPr sz="2400" spc="-42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split you’re</a:t>
            </a:r>
            <a:r>
              <a:rPr sz="2400" spc="-21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VCNWLL+Calibri"/>
                <a:cs typeface="VCNWLL+Calibri"/>
              </a:rPr>
              <a:t>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475866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UWTVVI+Calibri-Bold"/>
                <a:cs typeface="UWTVVI+Calibri-Bold"/>
              </a:rPr>
              <a:t>Revisiting</a:t>
            </a:r>
            <a:r>
              <a:rPr sz="3250" spc="-123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56" dirty="0">
                <a:solidFill>
                  <a:srgbClr val="001F5F"/>
                </a:solidFill>
                <a:latin typeface="UWTVVI+Calibri-Bold"/>
                <a:cs typeface="UWTVVI+Calibri-Bold"/>
              </a:rPr>
              <a:t>Our</a:t>
            </a:r>
            <a:r>
              <a:rPr sz="3250" spc="-1176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3" dirty="0">
                <a:solidFill>
                  <a:srgbClr val="001F5F"/>
                </a:solidFill>
                <a:latin typeface="UWTVVI+Calibri-Bold"/>
                <a:cs typeface="UWTVVI+Calibri-Bold"/>
              </a:rPr>
              <a:t>Original</a:t>
            </a:r>
            <a:r>
              <a:rPr sz="3250" spc="-1230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8955" y="1109658"/>
            <a:ext cx="8537122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What </a:t>
            </a:r>
            <a:r>
              <a:rPr sz="2400" spc="-25" dirty="0">
                <a:solidFill>
                  <a:srgbClr val="000000"/>
                </a:solidFill>
                <a:latin typeface="VCNWLL+Calibri"/>
                <a:cs typeface="VCNWLL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VCNWLL+Calibri"/>
                <a:cs typeface="VCNWLL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 information gain</a:t>
            </a:r>
            <a:r>
              <a:rPr sz="2400" spc="-13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67" dirty="0">
                <a:solidFill>
                  <a:srgbClr val="000000"/>
                </a:solidFill>
                <a:latin typeface="VCNWLL+Calibri"/>
                <a:cs typeface="VCNWLL+Calibri"/>
              </a:rPr>
              <a:t>of</a:t>
            </a:r>
            <a:r>
              <a:rPr sz="2400" spc="65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split </a:t>
            </a:r>
            <a:r>
              <a:rPr sz="2400" spc="42" dirty="0">
                <a:solidFill>
                  <a:srgbClr val="000000"/>
                </a:solidFill>
                <a:latin typeface="VCNWLL+Calibri"/>
                <a:cs typeface="VCNWLL+Calibri"/>
              </a:rPr>
              <a:t>B?</a:t>
            </a:r>
            <a:r>
              <a:rPr sz="2400" spc="-49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VCNWLL+Calibri"/>
                <a:cs typeface="VCNWLL+Calibri"/>
              </a:rPr>
              <a:t>Not</a:t>
            </a:r>
            <a:r>
              <a:rPr sz="2400" spc="22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terribly</a:t>
            </a:r>
            <a:r>
              <a:rPr sz="2400" spc="25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informative…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8955" y="4799026"/>
            <a:ext cx="9331529" cy="464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29275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  <a:r>
              <a:rPr sz="1750" spc="46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  <a:r>
              <a:rPr sz="1750" spc="28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5</a:t>
            </a:r>
            <a:r>
              <a:rPr sz="1750" spc="46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5</a:t>
            </a:r>
          </a:p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Root entropy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class</a:t>
            </a:r>
            <a:r>
              <a:rPr sz="2400" spc="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outcome:</a:t>
            </a:r>
            <a:r>
              <a:rPr sz="2400" spc="7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28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PLNGGG+Cambria Math"/>
                <a:cs typeface="PLNGGG+Cambria Math"/>
              </a:rPr>
              <a:t>=−</a:t>
            </a:r>
            <a:r>
              <a:rPr sz="24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PLNGGG+Cambria Math"/>
                <a:cs typeface="PLNGGG+Cambria Math"/>
              </a:rPr>
              <a:t>log</a:t>
            </a:r>
            <a:r>
              <a:rPr sz="2400" spc="-2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(</a:t>
            </a:r>
            <a:r>
              <a:rPr sz="2400" spc="-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39" dirty="0">
                <a:solidFill>
                  <a:srgbClr val="000000"/>
                </a:solidFill>
                <a:latin typeface="PLNGGG+Cambria Math"/>
                <a:cs typeface="PLNGGG+Cambria Math"/>
              </a:rPr>
              <a:t>)−</a:t>
            </a:r>
            <a:r>
              <a:rPr sz="2400" spc="-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PLNGGG+Cambria Math"/>
                <a:cs typeface="PLNGGG+Cambria Math"/>
              </a:rPr>
              <a:t>log</a:t>
            </a:r>
            <a:r>
              <a:rPr sz="2400" spc="-2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(</a:t>
            </a:r>
            <a:r>
              <a:rPr sz="2400" spc="-4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)</a:t>
            </a:r>
            <a:r>
              <a:rPr sz="2400" spc="-7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400" spc="-7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0.86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45351" y="5040326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19440" y="5040326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58230" y="5131385"/>
            <a:ext cx="2608778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7</a:t>
            </a:r>
            <a:r>
              <a:rPr sz="1750" spc="46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7</a:t>
            </a:r>
            <a:r>
              <a:rPr sz="1750" spc="28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7</a:t>
            </a:r>
            <a:r>
              <a:rPr sz="1750" spc="46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7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28955" y="5310863"/>
            <a:ext cx="10708843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Leaf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conditional</a:t>
            </a:r>
            <a:r>
              <a:rPr sz="2400" spc="3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entropy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class</a:t>
            </a:r>
            <a:r>
              <a:rPr sz="2400" spc="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outcome:</a:t>
            </a:r>
            <a:r>
              <a:rPr sz="2400" spc="8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24" dirty="0">
                <a:solidFill>
                  <a:srgbClr val="000000"/>
                </a:solidFill>
                <a:latin typeface="PLNGGG+Cambria Math"/>
                <a:cs typeface="PLNGGG+Cambria Math"/>
              </a:rPr>
              <a:t>ꢈ(ꢇ|ꢑꢒꢓꢃ)</a:t>
            </a:r>
            <a:r>
              <a:rPr sz="2400" spc="-7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400" spc="-7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0.8</a:t>
            </a:r>
            <a:r>
              <a:rPr sz="2400" spc="-28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 </a:t>
            </a:r>
            <a:r>
              <a:rPr sz="2400" spc="21" dirty="0">
                <a:solidFill>
                  <a:srgbClr val="000000"/>
                </a:solidFill>
                <a:latin typeface="PLNGGG+Cambria Math"/>
                <a:cs typeface="PLNGGG+Cambria Math"/>
              </a:rPr>
              <a:t>ꢈ(ꢇ|ꢔꢕꢖℎꢃ)</a:t>
            </a:r>
            <a:r>
              <a:rPr sz="2400" spc="-7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400" spc="-7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0.9</a:t>
            </a:r>
            <a:r>
              <a:rPr sz="240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530600" y="5686058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4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810760" y="5686058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28955" y="5759173"/>
            <a:ext cx="6604703" cy="382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ꢏꢐ</a:t>
            </a:r>
            <a:r>
              <a:rPr sz="2400" spc="-3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ꢗꢆꢑꢕꢃ</a:t>
            </a:r>
            <a:r>
              <a:rPr sz="2400" spc="2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400" spc="-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75" dirty="0">
                <a:solidFill>
                  <a:srgbClr val="000000"/>
                </a:solidFill>
                <a:latin typeface="PLNGGG+Cambria Math"/>
                <a:cs typeface="PLNGGG+Cambria Math"/>
              </a:rPr>
              <a:t>0.86−(</a:t>
            </a:r>
            <a:r>
              <a:rPr sz="2400" spc="-6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∙</a:t>
            </a:r>
            <a:r>
              <a:rPr sz="2400" spc="-90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0.8</a:t>
            </a:r>
            <a:r>
              <a:rPr sz="2400" spc="506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+</a:t>
            </a:r>
            <a:r>
              <a:rPr sz="2400" spc="6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∙</a:t>
            </a:r>
            <a:r>
              <a:rPr sz="2400" spc="-90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0.9</a:t>
            </a:r>
            <a:r>
              <a:rPr sz="2400" spc="-29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)</a:t>
            </a:r>
            <a:r>
              <a:rPr sz="2400" spc="-7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400" spc="-7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0.006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530600" y="6018480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7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10760" y="6018480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475866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UWTVVI+Calibri-Bold"/>
                <a:cs typeface="UWTVVI+Calibri-Bold"/>
              </a:rPr>
              <a:t>Revisiting</a:t>
            </a:r>
            <a:r>
              <a:rPr sz="3250" spc="-123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56" dirty="0">
                <a:solidFill>
                  <a:srgbClr val="001F5F"/>
                </a:solidFill>
                <a:latin typeface="UWTVVI+Calibri-Bold"/>
                <a:cs typeface="UWTVVI+Calibri-Bold"/>
              </a:rPr>
              <a:t>Our</a:t>
            </a:r>
            <a:r>
              <a:rPr sz="3250" spc="-1176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3" dirty="0">
                <a:solidFill>
                  <a:srgbClr val="001F5F"/>
                </a:solidFill>
                <a:latin typeface="UWTVVI+Calibri-Bold"/>
                <a:cs typeface="UWTVVI+Calibri-Bold"/>
              </a:rPr>
              <a:t>Original</a:t>
            </a:r>
            <a:r>
              <a:rPr sz="3250" spc="-1230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8955" y="1123960"/>
            <a:ext cx="7578824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What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information gain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67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spc="6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 </a:t>
            </a:r>
            <a:r>
              <a:rPr sz="2400" spc="34" dirty="0">
                <a:solidFill>
                  <a:srgbClr val="000000"/>
                </a:solidFill>
                <a:latin typeface="DHSVHP+Calibri"/>
                <a:cs typeface="DHSVHP+Calibri"/>
              </a:rPr>
              <a:t>A?</a:t>
            </a:r>
            <a:r>
              <a:rPr sz="2400" spc="-4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Very</a:t>
            </a:r>
            <a:r>
              <a:rPr sz="2400" spc="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informative!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8955" y="4799026"/>
            <a:ext cx="9331529" cy="464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29275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  <a:r>
              <a:rPr sz="1750" spc="46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  <a:r>
              <a:rPr sz="1750" spc="28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5</a:t>
            </a:r>
            <a:r>
              <a:rPr sz="1750" spc="46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5</a:t>
            </a:r>
          </a:p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Root entropy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class</a:t>
            </a:r>
            <a:r>
              <a:rPr sz="2400" spc="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outcome:</a:t>
            </a:r>
            <a:r>
              <a:rPr sz="2400" spc="7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28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PLNGGG+Cambria Math"/>
                <a:cs typeface="PLNGGG+Cambria Math"/>
              </a:rPr>
              <a:t>=−</a:t>
            </a:r>
            <a:r>
              <a:rPr sz="24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PLNGGG+Cambria Math"/>
                <a:cs typeface="PLNGGG+Cambria Math"/>
              </a:rPr>
              <a:t>log</a:t>
            </a:r>
            <a:r>
              <a:rPr sz="2400" spc="-2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(</a:t>
            </a:r>
            <a:r>
              <a:rPr sz="2400" spc="-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39" dirty="0">
                <a:solidFill>
                  <a:srgbClr val="000000"/>
                </a:solidFill>
                <a:latin typeface="PLNGGG+Cambria Math"/>
                <a:cs typeface="PLNGGG+Cambria Math"/>
              </a:rPr>
              <a:t>)−</a:t>
            </a:r>
            <a:r>
              <a:rPr sz="2400" spc="-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PLNGGG+Cambria Math"/>
                <a:cs typeface="PLNGGG+Cambria Math"/>
              </a:rPr>
              <a:t>log</a:t>
            </a:r>
            <a:r>
              <a:rPr sz="2400" spc="-2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(</a:t>
            </a:r>
            <a:r>
              <a:rPr sz="2400" spc="-4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)</a:t>
            </a:r>
            <a:r>
              <a:rPr sz="2400" spc="-7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400" spc="-7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0.86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45351" y="5040326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19440" y="5040326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58230" y="5131385"/>
            <a:ext cx="2608778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7</a:t>
            </a:r>
            <a:r>
              <a:rPr sz="1750" spc="46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7</a:t>
            </a:r>
            <a:r>
              <a:rPr sz="1750" spc="28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7</a:t>
            </a:r>
            <a:r>
              <a:rPr sz="1750" spc="46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7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28955" y="5310863"/>
            <a:ext cx="10310063" cy="632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Leaf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conditional</a:t>
            </a:r>
            <a:r>
              <a:rPr sz="2400" spc="3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entropy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class</a:t>
            </a:r>
            <a:r>
              <a:rPr sz="2400" spc="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outcome:</a:t>
            </a:r>
            <a:r>
              <a:rPr sz="2400" spc="8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24" dirty="0">
                <a:solidFill>
                  <a:srgbClr val="000000"/>
                </a:solidFill>
                <a:latin typeface="PLNGGG+Cambria Math"/>
                <a:cs typeface="PLNGGG+Cambria Math"/>
              </a:rPr>
              <a:t>ꢈ(ꢇ|ꢑꢒꢓꢃ)</a:t>
            </a:r>
            <a:r>
              <a:rPr sz="2400" spc="-7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400" spc="-7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 </a:t>
            </a:r>
            <a:r>
              <a:rPr sz="2400" spc="21" dirty="0">
                <a:solidFill>
                  <a:srgbClr val="000000"/>
                </a:solidFill>
                <a:latin typeface="PLNGGG+Cambria Math"/>
                <a:cs typeface="PLNGGG+Cambria Math"/>
              </a:rPr>
              <a:t>ꢈ(ꢇ|ꢔꢕꢖℎꢃ)</a:t>
            </a:r>
            <a:r>
              <a:rPr sz="2400" spc="-7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400" spc="-7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0.97</a:t>
            </a:r>
          </a:p>
          <a:p>
            <a:pPr marL="3001645" marR="0">
              <a:lnSpc>
                <a:spcPts val="1729"/>
              </a:lnSpc>
              <a:spcBef>
                <a:spcPts val="172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  <a:r>
              <a:rPr sz="1750" spc="48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28955" y="5759173"/>
            <a:ext cx="6127620" cy="382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ꢏꢐ</a:t>
            </a:r>
            <a:r>
              <a:rPr sz="2400" spc="-3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ꢗꢆꢑꢕꢃ</a:t>
            </a:r>
            <a:r>
              <a:rPr sz="2400" spc="2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400" spc="-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75" dirty="0">
                <a:solidFill>
                  <a:srgbClr val="000000"/>
                </a:solidFill>
                <a:latin typeface="PLNGGG+Cambria Math"/>
                <a:cs typeface="PLNGGG+Cambria Math"/>
              </a:rPr>
              <a:t>0.86−(</a:t>
            </a:r>
            <a:r>
              <a:rPr sz="2400" spc="-6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31" dirty="0">
                <a:solidFill>
                  <a:srgbClr val="000000"/>
                </a:solidFill>
                <a:latin typeface="PLNGGG+Cambria Math"/>
                <a:cs typeface="PLNGGG+Cambria Math"/>
              </a:rPr>
              <a:t>∙0+</a:t>
            </a:r>
            <a:r>
              <a:rPr sz="2400" spc="10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∙</a:t>
            </a:r>
            <a:r>
              <a:rPr sz="2400" spc="-9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0.97)</a:t>
            </a:r>
            <a:r>
              <a:rPr sz="2400" spc="-7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400" spc="-7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0.</a:t>
            </a:r>
            <a:r>
              <a:rPr sz="2400" spc="24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400" spc="-29" dirty="0">
                <a:solidFill>
                  <a:srgbClr val="000000"/>
                </a:solidFill>
                <a:latin typeface="PLNGGG+Cambria Math"/>
                <a:cs typeface="PLNGGG+Cambria Math"/>
              </a:rPr>
              <a:t>7!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530600" y="6018480"/>
            <a:ext cx="116072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7</a:t>
            </a:r>
            <a:r>
              <a:rPr sz="1750" spc="48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OHIOUC+Cambria Math"/>
                <a:cs typeface="OHIOUC+Cambria Math"/>
              </a:rPr>
              <a:t>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482466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2" dirty="0">
                <a:solidFill>
                  <a:srgbClr val="001F5F"/>
                </a:solidFill>
                <a:latin typeface="UWTVVI+Calibri-Bold"/>
                <a:cs typeface="UWTVVI+Calibri-Bold"/>
              </a:rPr>
              <a:t>Constructing</a:t>
            </a:r>
            <a:r>
              <a:rPr sz="3250" spc="-1220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2" dirty="0">
                <a:solidFill>
                  <a:srgbClr val="001F5F"/>
                </a:solidFill>
                <a:latin typeface="UWTVVI+Calibri-Bold"/>
                <a:cs typeface="UWTVVI+Calibri-Bold"/>
              </a:rPr>
              <a:t>Decision</a:t>
            </a:r>
            <a:r>
              <a:rPr sz="3250" spc="-119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UWTVVI+Calibri-Bold"/>
                <a:cs typeface="UWTVVI+Calibri-Bold"/>
              </a:rPr>
              <a:t>Trees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050" y="4430118"/>
            <a:ext cx="4420633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5" dirty="0">
                <a:solidFill>
                  <a:srgbClr val="000000"/>
                </a:solidFill>
                <a:latin typeface="DHSVHP+Calibri"/>
                <a:cs typeface="DHSVHP+Calibri"/>
              </a:rPr>
              <a:t>At</a:t>
            </a:r>
            <a:r>
              <a:rPr sz="2400" spc="-10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each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level,</a:t>
            </a:r>
            <a:r>
              <a:rPr sz="2400" spc="5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one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must choose: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60792" y="4935379"/>
            <a:ext cx="3697536" cy="706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1.</a:t>
            </a:r>
            <a:r>
              <a:rPr sz="2400" spc="127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Which feature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split.</a:t>
            </a:r>
          </a:p>
          <a:p>
            <a:pPr marL="0" marR="0">
              <a:lnSpc>
                <a:spcPts val="2402"/>
              </a:lnSpc>
              <a:spcBef>
                <a:spcPts val="451"/>
              </a:spcBef>
              <a:spcAft>
                <a:spcPts val="0"/>
              </a:spcAft>
            </a:pP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2.</a:t>
            </a:r>
            <a:r>
              <a:rPr sz="2400" spc="127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Possibly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where</a:t>
            </a:r>
            <a:r>
              <a:rPr sz="2400" spc="7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4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 it.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8050" y="5899478"/>
            <a:ext cx="10435946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Choose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them</a:t>
            </a:r>
            <a:r>
              <a:rPr sz="2400" spc="-6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based on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how</a:t>
            </a:r>
            <a:r>
              <a:rPr sz="2400" spc="-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DHSVHP+Calibri"/>
                <a:cs typeface="DHSVHP+Calibri"/>
              </a:rPr>
              <a:t>much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information we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would gain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9" dirty="0">
                <a:solidFill>
                  <a:srgbClr val="000000"/>
                </a:solidFill>
                <a:latin typeface="DHSVHP+Calibri"/>
                <a:cs typeface="DHSVHP+Calibri"/>
              </a:rPr>
              <a:t>fr</a:t>
            </a:r>
            <a:r>
              <a:rPr sz="2400" spc="-48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33" dirty="0">
                <a:solidFill>
                  <a:srgbClr val="000000"/>
                </a:solidFill>
                <a:latin typeface="DHSVHP+Calibri"/>
                <a:cs typeface="DHSVHP+Calibri"/>
              </a:rPr>
              <a:t>om</a:t>
            </a:r>
            <a:r>
              <a:rPr sz="2400" spc="4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decision!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1267" y="6308884"/>
            <a:ext cx="5505825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(choose feature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that gives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highest 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gain)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6483366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Decision</a:t>
            </a:r>
            <a:r>
              <a:rPr sz="3250" spc="-119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5" dirty="0">
                <a:solidFill>
                  <a:srgbClr val="001F5F"/>
                </a:solidFill>
                <a:latin typeface="UWTVVI+Calibri-Bold"/>
                <a:cs typeface="UWTVVI+Calibri-Bold"/>
              </a:rPr>
              <a:t>Tree</a:t>
            </a:r>
            <a:r>
              <a:rPr sz="3250" spc="-124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2" dirty="0">
                <a:solidFill>
                  <a:srgbClr val="001F5F"/>
                </a:solidFill>
                <a:latin typeface="UWTVVI+Calibri-Bold"/>
                <a:cs typeface="UWTVVI+Calibri-Bold"/>
              </a:rPr>
              <a:t>Construction</a:t>
            </a:r>
            <a:r>
              <a:rPr sz="3250" spc="-119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7075" y="1403327"/>
            <a:ext cx="8526854" cy="390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Simple,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greedy,</a:t>
            </a:r>
            <a:r>
              <a:rPr sz="2400" spc="6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recursive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approach,</a:t>
            </a:r>
            <a:r>
              <a:rPr sz="2400" spc="6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builds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up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tree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node-by-node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9025" y="1946814"/>
            <a:ext cx="6788042" cy="1078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1.</a:t>
            </a:r>
            <a:r>
              <a:rPr sz="2400" spc="126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Pick</a:t>
            </a:r>
            <a:r>
              <a:rPr sz="2400" spc="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feature</a:t>
            </a:r>
            <a:r>
              <a:rPr sz="2400" spc="7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51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at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non-terminal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node</a:t>
            </a:r>
          </a:p>
          <a:p>
            <a:pPr marL="0" marR="0">
              <a:lnSpc>
                <a:spcPts val="2402"/>
              </a:lnSpc>
              <a:spcBef>
                <a:spcPts val="450"/>
              </a:spcBef>
              <a:spcAft>
                <a:spcPts val="0"/>
              </a:spcAft>
            </a:pP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2.</a:t>
            </a:r>
            <a:r>
              <a:rPr sz="2400" spc="126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 examples</a:t>
            </a:r>
            <a:r>
              <a:rPr sz="2400" spc="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into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groups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based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on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feature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value</a:t>
            </a:r>
          </a:p>
          <a:p>
            <a:pPr marL="0" marR="0">
              <a:lnSpc>
                <a:spcPts val="2402"/>
              </a:lnSpc>
              <a:spcBef>
                <a:spcPts val="527"/>
              </a:spcBef>
              <a:spcAft>
                <a:spcPts val="0"/>
              </a:spcAft>
            </a:pP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3.</a:t>
            </a:r>
            <a:r>
              <a:rPr sz="2400" spc="126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DHSVHP+Calibri"/>
                <a:cs typeface="DHSVHP+Calibri"/>
              </a:rPr>
              <a:t>For</a:t>
            </a:r>
            <a:r>
              <a:rPr sz="2400" spc="-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each group: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15745" y="3116893"/>
            <a:ext cx="6230154" cy="1139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If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no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examples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–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return majority</a:t>
            </a:r>
            <a:r>
              <a:rPr sz="2400" spc="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from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parent</a:t>
            </a:r>
          </a:p>
          <a:p>
            <a:pPr marL="0" marR="0">
              <a:lnSpc>
                <a:spcPts val="2853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Else</a:t>
            </a:r>
            <a:r>
              <a:rPr sz="2400" spc="-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if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all</a:t>
            </a:r>
            <a:r>
              <a:rPr sz="2400" spc="-5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examples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same</a:t>
            </a:r>
            <a:r>
              <a:rPr sz="2400" spc="7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class</a:t>
            </a:r>
            <a:r>
              <a:rPr sz="2400" spc="8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–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return class</a:t>
            </a:r>
          </a:p>
          <a:p>
            <a:pPr marL="0" marR="0">
              <a:lnSpc>
                <a:spcPts val="2666"/>
              </a:lnSpc>
              <a:spcBef>
                <a:spcPts val="123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Else</a:t>
            </a:r>
            <a:r>
              <a:rPr sz="2400" spc="-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loop 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step</a:t>
            </a:r>
            <a:r>
              <a:rPr sz="2400" spc="-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7075" y="4704090"/>
            <a:ext cx="10594837" cy="39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Terminates</a:t>
            </a:r>
            <a:r>
              <a:rPr sz="2400" spc="-5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when </a:t>
            </a:r>
            <a:r>
              <a:rPr sz="2400" u="sng" spc="11" dirty="0">
                <a:solidFill>
                  <a:srgbClr val="000000"/>
                </a:solidFill>
                <a:latin typeface="DHSVHP+Calibri"/>
                <a:cs typeface="DHSVHP+Calibri"/>
              </a:rPr>
              <a:t>all</a:t>
            </a:r>
            <a:r>
              <a:rPr sz="2400" u="sng" spc="-94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u="sng" dirty="0">
                <a:solidFill>
                  <a:srgbClr val="000000"/>
                </a:solidFill>
                <a:latin typeface="DHSVHP+Calibri"/>
                <a:cs typeface="DHSVHP+Calibri"/>
              </a:rPr>
              <a:t>leaves</a:t>
            </a:r>
            <a:r>
              <a:rPr sz="2400" u="sng" spc="-87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u="sng" dirty="0">
                <a:solidFill>
                  <a:srgbClr val="000000"/>
                </a:solidFill>
                <a:latin typeface="DHSVHP+Calibri"/>
                <a:cs typeface="DHSVHP+Calibri"/>
              </a:rPr>
              <a:t>contain</a:t>
            </a:r>
            <a:r>
              <a:rPr sz="2400" u="sng" spc="-89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u="sng" dirty="0">
                <a:solidFill>
                  <a:srgbClr val="000000"/>
                </a:solidFill>
                <a:latin typeface="DHSVHP+Calibri"/>
                <a:cs typeface="DHSVHP+Calibri"/>
              </a:rPr>
              <a:t>only</a:t>
            </a:r>
            <a:r>
              <a:rPr sz="2400" u="sng" spc="-87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u="sng" dirty="0">
                <a:solidFill>
                  <a:srgbClr val="000000"/>
                </a:solidFill>
                <a:latin typeface="DHSVHP+Calibri"/>
                <a:cs typeface="DHSVHP+Calibri"/>
              </a:rPr>
              <a:t>examples</a:t>
            </a:r>
            <a:r>
              <a:rPr sz="2400" u="sng" spc="-87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u="sng" spc="-25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u="sng" spc="-87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u="sng" spc="-22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u="sng" spc="-8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u="sng" spc="-11" dirty="0">
                <a:solidFill>
                  <a:srgbClr val="000000"/>
                </a:solidFill>
                <a:latin typeface="DHSVHP+Calibri"/>
                <a:cs typeface="DHSVHP+Calibri"/>
              </a:rPr>
              <a:t>same</a:t>
            </a:r>
            <a:r>
              <a:rPr sz="2400" u="sng" spc="-89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u="sng" dirty="0">
                <a:solidFill>
                  <a:srgbClr val="000000"/>
                </a:solidFill>
                <a:latin typeface="DHSVHP+Calibri"/>
                <a:cs typeface="DHSVHP+Calibri"/>
              </a:rPr>
              <a:t>class</a:t>
            </a:r>
            <a:r>
              <a:rPr sz="2400" spc="-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or</a:t>
            </a:r>
            <a:r>
              <a:rPr sz="2400" spc="3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are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empty.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666020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Back</a:t>
            </a:r>
            <a:r>
              <a:rPr sz="3250" spc="-1239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to</a:t>
            </a:r>
            <a:r>
              <a:rPr sz="3250" spc="-1210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52" dirty="0">
                <a:solidFill>
                  <a:srgbClr val="001F5F"/>
                </a:solidFill>
                <a:latin typeface="UWTVVI+Calibri-Bold"/>
                <a:cs typeface="UWTVVI+Calibri-Bold"/>
              </a:rPr>
              <a:t>Our</a:t>
            </a:r>
            <a:r>
              <a:rPr sz="3250" spc="-1186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6525" y="6209110"/>
            <a:ext cx="1312233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Features: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099193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Feature</a:t>
            </a:r>
            <a:r>
              <a:rPr sz="3250" spc="-1240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6" dirty="0">
                <a:solidFill>
                  <a:srgbClr val="001F5F"/>
                </a:solidFill>
                <a:latin typeface="UWTVVI+Calibri-Bold"/>
                <a:cs typeface="UWTVVI+Calibri-Bold"/>
              </a:rPr>
              <a:t>Selection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10151" y="4992613"/>
            <a:ext cx="3332750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ꢏꢐ</a:t>
            </a:r>
            <a:r>
              <a:rPr sz="2400" spc="-31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28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PLNGGG+Cambria Math"/>
                <a:cs typeface="PLNGGG+Cambria Math"/>
              </a:rPr>
              <a:t>=ꢈ</a:t>
            </a:r>
            <a:r>
              <a:rPr sz="2400" spc="-103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15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400" spc="-9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5" dirty="0">
                <a:solidFill>
                  <a:srgbClr val="000000"/>
                </a:solidFill>
                <a:latin typeface="PLNGGG+Cambria Math"/>
                <a:cs typeface="PLNGGG+Cambria Math"/>
              </a:rPr>
              <a:t>ꢈ(ꢇ|ꢋ)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51505" y="5348467"/>
            <a:ext cx="321346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76444" y="5348467"/>
            <a:ext cx="321346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14515" y="5348467"/>
            <a:ext cx="321346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020810" y="5348467"/>
            <a:ext cx="321346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0580" y="5579042"/>
            <a:ext cx="10692723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ꢏꢐ</a:t>
            </a:r>
            <a:r>
              <a:rPr sz="2400" spc="-31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PLNGGG+Cambria Math"/>
                <a:cs typeface="PLNGGG+Cambria Math"/>
              </a:rPr>
              <a:t>ꢃꢅꢆꢒ</a:t>
            </a:r>
            <a:r>
              <a:rPr sz="2400" spc="3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3" dirty="0">
                <a:solidFill>
                  <a:srgbClr val="000000"/>
                </a:solidFill>
                <a:latin typeface="PLNGGG+Cambria Math"/>
                <a:cs typeface="PLNGGG+Cambria Math"/>
              </a:rPr>
              <a:t>=</a:t>
            </a:r>
            <a:r>
              <a:rPr sz="2400" spc="531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400" spc="30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Fr.</a:t>
            </a:r>
            <a:r>
              <a:rPr sz="2400" spc="4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+</a:t>
            </a:r>
            <a:r>
              <a:rPr sz="2400" spc="214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-6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It.</a:t>
            </a:r>
            <a:r>
              <a:rPr sz="2400" spc="48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+</a:t>
            </a:r>
            <a:r>
              <a:rPr sz="2400" spc="21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-6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Thai</a:t>
            </a:r>
            <a:r>
              <a:rPr sz="2400" spc="1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+</a:t>
            </a:r>
            <a:r>
              <a:rPr sz="2400" spc="214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ꢇ</a:t>
            </a:r>
            <a:r>
              <a:rPr sz="24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Bur.</a:t>
            </a:r>
            <a:r>
              <a:rPr sz="2400" spc="15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PLNGGG+Cambria Math"/>
                <a:cs typeface="PLNGGG+Cambria Math"/>
              </a:rPr>
              <a:t>=0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67050" y="5783760"/>
            <a:ext cx="6362351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23" dirty="0">
                <a:solidFill>
                  <a:srgbClr val="000000"/>
                </a:solidFill>
                <a:latin typeface="OHIOUC+Cambria Math"/>
                <a:cs typeface="OHIOUC+Cambria Math"/>
              </a:rPr>
              <a:t>12</a:t>
            </a:r>
            <a:r>
              <a:rPr sz="2400" spc="110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3" dirty="0">
                <a:solidFill>
                  <a:srgbClr val="000000"/>
                </a:solidFill>
                <a:latin typeface="OHIOUC+Cambria Math"/>
                <a:cs typeface="OHIOUC+Cambria Math"/>
              </a:rPr>
              <a:t>12</a:t>
            </a:r>
            <a:r>
              <a:rPr sz="2400" spc="103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OHIOUC+Cambria Math"/>
                <a:cs typeface="OHIOUC+Cambria Math"/>
              </a:rPr>
              <a:t>12</a:t>
            </a:r>
            <a:r>
              <a:rPr sz="2400" spc="124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OHIOUC+Cambria Math"/>
                <a:cs typeface="OHIOUC+Cambria Math"/>
              </a:rPr>
              <a:t>12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15669" y="6063230"/>
            <a:ext cx="8744183" cy="779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02382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400" spc="1009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4</a:t>
            </a:r>
            <a:r>
              <a:rPr sz="2400" spc="100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6</a:t>
            </a:r>
            <a:r>
              <a:rPr sz="2400" spc="24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400" spc="-15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4</a:t>
            </a:r>
          </a:p>
          <a:p>
            <a:pPr marL="0" marR="0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ꢏꢐ</a:t>
            </a:r>
            <a:r>
              <a:rPr sz="2400" spc="-3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ꢘꢙꢃꢔꢚꢛꢗ</a:t>
            </a:r>
            <a:r>
              <a:rPr sz="24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1" dirty="0">
                <a:solidFill>
                  <a:srgbClr val="000000"/>
                </a:solidFill>
                <a:latin typeface="PLNGGG+Cambria Math"/>
                <a:cs typeface="PLNGGG+Cambria Math"/>
              </a:rPr>
              <a:t>=</a:t>
            </a:r>
            <a:r>
              <a:rPr sz="2400" spc="532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400" spc="529" dirty="0">
                <a:solidFill>
                  <a:srgbClr val="000000"/>
                </a:solidFill>
                <a:latin typeface="PLNGGG+Cambria Math"/>
                <a:cs typeface="PLNGGG+Cambria Math"/>
              </a:rPr>
              <a:t>−[</a:t>
            </a:r>
            <a:r>
              <a:rPr sz="2400" spc="10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6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0,</a:t>
            </a:r>
            <a:r>
              <a:rPr sz="240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400" spc="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+</a:t>
            </a:r>
            <a:r>
              <a:rPr sz="2400" spc="214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ꢈ</a:t>
            </a:r>
            <a:r>
              <a:rPr sz="2400" spc="-3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,0</a:t>
            </a:r>
            <a:r>
              <a:rPr sz="2400" spc="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+</a:t>
            </a:r>
            <a:r>
              <a:rPr sz="2400" spc="214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75" dirty="0">
                <a:solidFill>
                  <a:srgbClr val="000000"/>
                </a:solidFill>
                <a:latin typeface="PLNGGG+Cambria Math"/>
                <a:cs typeface="PLNGGG+Cambria Math"/>
              </a:rPr>
              <a:t>ꢈ(</a:t>
            </a:r>
            <a:r>
              <a:rPr sz="2400" spc="2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,</a:t>
            </a:r>
            <a:r>
              <a:rPr sz="24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)]</a:t>
            </a:r>
            <a:r>
              <a:rPr sz="2400" spc="-7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≈</a:t>
            </a:r>
            <a:r>
              <a:rPr sz="2400" spc="-7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0.54</a:t>
            </a:r>
            <a:r>
              <a:rPr sz="2400" dirty="0">
                <a:solidFill>
                  <a:srgbClr val="000000"/>
                </a:solidFill>
                <a:latin typeface="OHIOUC+Cambria Math"/>
                <a:cs typeface="OHIOUC+Cambria Math"/>
              </a:rPr>
              <a:t>1</a:t>
            </a:r>
          </a:p>
          <a:p>
            <a:pPr marL="2718181" marR="0">
              <a:lnSpc>
                <a:spcPts val="1607"/>
              </a:lnSpc>
              <a:spcBef>
                <a:spcPts val="0"/>
              </a:spcBef>
              <a:spcAft>
                <a:spcPts val="0"/>
              </a:spcAft>
            </a:pPr>
            <a:r>
              <a:rPr sz="2400" spc="21" dirty="0">
                <a:solidFill>
                  <a:srgbClr val="000000"/>
                </a:solidFill>
                <a:latin typeface="OHIOUC+Cambria Math"/>
                <a:cs typeface="OHIOUC+Cambria Math"/>
              </a:rPr>
              <a:t>12</a:t>
            </a:r>
            <a:r>
              <a:rPr sz="2400" spc="87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3" dirty="0">
                <a:solidFill>
                  <a:srgbClr val="000000"/>
                </a:solidFill>
                <a:latin typeface="OHIOUC+Cambria Math"/>
                <a:cs typeface="OHIOUC+Cambria Math"/>
              </a:rPr>
              <a:t>12</a:t>
            </a:r>
            <a:r>
              <a:rPr sz="2400" spc="87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OHIOUC+Cambria Math"/>
                <a:cs typeface="OHIOUC+Cambria Math"/>
              </a:rPr>
              <a:t>12</a:t>
            </a:r>
            <a:r>
              <a:rPr sz="2400" spc="173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6</a:t>
            </a:r>
            <a:r>
              <a:rPr sz="2400" spc="-15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4632048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UWTVVI+Calibri-Bold"/>
                <a:cs typeface="UWTVVI+Calibri-Bold"/>
              </a:rPr>
              <a:t>What</a:t>
            </a:r>
            <a:r>
              <a:rPr sz="3250" spc="-1257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34" dirty="0">
                <a:solidFill>
                  <a:srgbClr val="001F5F"/>
                </a:solidFill>
                <a:latin typeface="UWTVVI+Calibri-Bold"/>
                <a:cs typeface="UWTVVI+Calibri-Bold"/>
              </a:rPr>
              <a:t>Makes</a:t>
            </a:r>
            <a:r>
              <a:rPr sz="3250" spc="-1187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a</a:t>
            </a:r>
            <a:r>
              <a:rPr sz="3250" spc="-123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UWTVVI+Calibri-Bold"/>
                <a:cs typeface="UWTVVI+Calibri-Bold"/>
              </a:rPr>
              <a:t>Good</a:t>
            </a:r>
            <a:r>
              <a:rPr sz="3250" spc="-1264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Tree?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9257" y="1022360"/>
            <a:ext cx="10291113" cy="752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DHSVHP+Calibri"/>
                <a:cs typeface="DHSVHP+Calibri"/>
              </a:rPr>
              <a:t>Not</a:t>
            </a:r>
            <a:r>
              <a:rPr sz="2400" spc="-8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too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small:</a:t>
            </a:r>
            <a:r>
              <a:rPr sz="2400" spc="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need</a:t>
            </a:r>
            <a:r>
              <a:rPr sz="2400" spc="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handle important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but</a:t>
            </a:r>
            <a:r>
              <a:rPr sz="2400" spc="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possibly</a:t>
            </a:r>
            <a:r>
              <a:rPr sz="2400" spc="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subtle distinctions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data</a:t>
            </a:r>
          </a:p>
          <a:p>
            <a:pPr marL="0" marR="0">
              <a:lnSpc>
                <a:spcPts val="2686"/>
              </a:lnSpc>
              <a:spcBef>
                <a:spcPts val="2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Not</a:t>
            </a:r>
            <a:r>
              <a:rPr sz="2400" spc="-8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too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big: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4375" y="1939967"/>
            <a:ext cx="8380535" cy="1122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Computational</a:t>
            </a:r>
            <a:r>
              <a:rPr sz="2400" spc="3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efficiency</a:t>
            </a:r>
            <a:r>
              <a:rPr sz="2400" spc="-5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(avoid redundant,</a:t>
            </a:r>
            <a:r>
              <a:rPr sz="2400" spc="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spurious</a:t>
            </a:r>
            <a:r>
              <a:rPr sz="2400" spc="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attributes)</a:t>
            </a:r>
          </a:p>
          <a:p>
            <a:pPr marL="0" marR="0">
              <a:lnSpc>
                <a:spcPts val="2669"/>
              </a:lnSpc>
              <a:spcBef>
                <a:spcPts val="3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Avoid over-fitting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training</a:t>
            </a:r>
            <a:r>
              <a:rPr sz="2400" spc="5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examples</a:t>
            </a:r>
          </a:p>
          <a:p>
            <a:pPr marL="0" marR="0">
              <a:lnSpc>
                <a:spcPts val="2666"/>
              </a:lnSpc>
              <a:spcBef>
                <a:spcPts val="16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Human interpretability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9257" y="3573839"/>
            <a:ext cx="9356560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“</a:t>
            </a:r>
            <a:r>
              <a:rPr sz="2400" dirty="0">
                <a:solidFill>
                  <a:srgbClr val="0B44E4"/>
                </a:solidFill>
                <a:latin typeface="VCNWLL+Calibri"/>
                <a:cs typeface="VCNWLL+Calibri"/>
              </a:rPr>
              <a:t>Occam’s</a:t>
            </a:r>
            <a:r>
              <a:rPr sz="2400" spc="19" dirty="0">
                <a:solidFill>
                  <a:srgbClr val="0B44E4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VCNWLL+Calibri"/>
                <a:cs typeface="VCNWLL+Calibri"/>
              </a:rPr>
              <a:t>Razor</a:t>
            </a:r>
            <a:r>
              <a:rPr sz="2400" spc="-29" dirty="0">
                <a:solidFill>
                  <a:srgbClr val="000000"/>
                </a:solidFill>
                <a:latin typeface="VCNWLL+Calibri"/>
                <a:cs typeface="VCNWLL+Calibri"/>
              </a:rPr>
              <a:t>”:</a:t>
            </a:r>
            <a:r>
              <a:rPr sz="2400" spc="43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find </a:t>
            </a:r>
            <a:r>
              <a:rPr sz="2400" spc="15" dirty="0">
                <a:solidFill>
                  <a:srgbClr val="000000"/>
                </a:solidFill>
                <a:latin typeface="VCNWLL+Calibri"/>
                <a:cs typeface="VCNWLL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simplest hypothesis</a:t>
            </a:r>
            <a:r>
              <a:rPr sz="2400" spc="22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VCNWLL+Calibri"/>
                <a:cs typeface="VCNWLL+Calibri"/>
              </a:rPr>
              <a:t>that</a:t>
            </a:r>
            <a:r>
              <a:rPr sz="2400" spc="24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fits</a:t>
            </a:r>
            <a:r>
              <a:rPr sz="2400" spc="15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VCNWLL+Calibri"/>
                <a:cs typeface="VCNWLL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 observations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4375" y="4254542"/>
            <a:ext cx="9526801" cy="7566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Useful</a:t>
            </a:r>
            <a:r>
              <a:rPr sz="2400" spc="-4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principle,</a:t>
            </a:r>
            <a:r>
              <a:rPr sz="2400" spc="6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but</a:t>
            </a:r>
            <a:r>
              <a:rPr sz="2400" spc="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hard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formalize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(how</a:t>
            </a:r>
            <a:r>
              <a:rPr sz="2400" spc="-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define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simplicity?)</a:t>
            </a:r>
          </a:p>
          <a:p>
            <a:pPr marL="0" marR="0">
              <a:lnSpc>
                <a:spcPts val="2851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See</a:t>
            </a:r>
            <a:r>
              <a:rPr sz="2400" spc="-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Domingos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,</a:t>
            </a:r>
            <a:r>
              <a:rPr sz="2400" spc="-1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1999,</a:t>
            </a:r>
            <a:r>
              <a:rPr sz="2400" spc="-18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“The</a:t>
            </a:r>
            <a:r>
              <a:rPr sz="2400" spc="-15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VCNWLL+Calibri"/>
                <a:cs typeface="VCNWLL+Calibri"/>
              </a:rPr>
              <a:t>role</a:t>
            </a:r>
            <a:r>
              <a:rPr sz="2400" spc="70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66" dirty="0">
                <a:solidFill>
                  <a:srgbClr val="000000"/>
                </a:solidFill>
                <a:latin typeface="VCNWLL+Calibri"/>
                <a:cs typeface="VCNWLL+Calibri"/>
              </a:rPr>
              <a:t>of</a:t>
            </a:r>
            <a:r>
              <a:rPr sz="2400" spc="63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Occam’s</a:t>
            </a:r>
            <a:r>
              <a:rPr sz="2400" spc="17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razor</a:t>
            </a:r>
            <a:r>
              <a:rPr sz="2400" spc="-29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VCNWLL+Calibri"/>
                <a:cs typeface="VCNWLL+Calibri"/>
              </a:rPr>
              <a:t>in</a:t>
            </a:r>
            <a:r>
              <a:rPr sz="2400" spc="-52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knowledge discovery”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416589" y="5071384"/>
            <a:ext cx="3068090" cy="973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如果有两棵树，⼀棵</a:t>
            </a:r>
            <a:r>
              <a:rPr sz="13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 5</a:t>
            </a:r>
            <a:r>
              <a:rPr sz="1350" spc="13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层的树能达到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95%</a:t>
            </a:r>
            <a:r>
              <a:rPr sz="1350" spc="1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的准确率，⼀棵</a:t>
            </a:r>
            <a:r>
              <a:rPr sz="13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 50 </a:t>
            </a:r>
            <a:r>
              <a:rPr sz="1350" spc="14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层的树能达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到</a:t>
            </a:r>
            <a:r>
              <a:rPr sz="1350" spc="18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96%</a:t>
            </a:r>
            <a:r>
              <a:rPr sz="1350" spc="1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的准确率。我们应该毫不犹豫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地选择那棵</a:t>
            </a:r>
            <a:r>
              <a:rPr sz="1350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 5</a:t>
            </a:r>
            <a:r>
              <a:rPr sz="1350" spc="13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JSVSMR+PingFangSC-Regular"/>
                <a:cs typeface="JSVSMR+PingFangSC-Regular"/>
              </a:rPr>
              <a:t>层的！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257" y="5419418"/>
            <a:ext cx="7821783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desire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small</a:t>
            </a:r>
            <a:r>
              <a:rPr sz="2400" spc="4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trees</a:t>
            </a:r>
            <a:r>
              <a:rPr sz="2400" spc="-4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with informative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nodes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near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root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4331058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Decision</a:t>
            </a:r>
            <a:r>
              <a:rPr sz="3250" spc="-119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5" dirty="0">
                <a:solidFill>
                  <a:srgbClr val="001F5F"/>
                </a:solidFill>
                <a:latin typeface="UWTVVI+Calibri-Bold"/>
                <a:cs typeface="UWTVVI+Calibri-Bold"/>
              </a:rPr>
              <a:t>Tree</a:t>
            </a:r>
            <a:r>
              <a:rPr sz="3250" spc="-124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Miscellany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4902" y="1238514"/>
            <a:ext cx="1747691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Problems: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83284" y="1795187"/>
            <a:ext cx="8105564" cy="112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You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have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exponentially</a:t>
            </a:r>
            <a:r>
              <a:rPr sz="2400" spc="-5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less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data</a:t>
            </a:r>
            <a:r>
              <a:rPr sz="2400" spc="-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at</a:t>
            </a:r>
            <a:r>
              <a:rPr sz="2400" spc="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lower</a:t>
            </a:r>
            <a:r>
              <a:rPr sz="2400" spc="5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levels</a:t>
            </a:r>
          </a:p>
          <a:p>
            <a:pPr marL="0" marR="0">
              <a:lnSpc>
                <a:spcPts val="2669"/>
              </a:lnSpc>
              <a:spcBef>
                <a:spcPts val="3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Too</a:t>
            </a:r>
            <a:r>
              <a:rPr sz="2400" spc="-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big</a:t>
            </a:r>
            <a:r>
              <a:rPr sz="2400" spc="-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tree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can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overfit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data</a:t>
            </a:r>
          </a:p>
          <a:p>
            <a:pPr marL="0" marR="0">
              <a:lnSpc>
                <a:spcPts val="2929"/>
              </a:lnSpc>
              <a:spcBef>
                <a:spcPts val="91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Greedy</a:t>
            </a:r>
            <a:r>
              <a:rPr sz="2400" spc="20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algorithms</a:t>
            </a:r>
            <a:r>
              <a:rPr sz="2400" spc="21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VCNWLL+Calibri"/>
                <a:cs typeface="VCNWLL+Calibri"/>
              </a:rPr>
              <a:t>don’t</a:t>
            </a:r>
            <a:r>
              <a:rPr sz="2400" spc="11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necessarily</a:t>
            </a:r>
            <a:r>
              <a:rPr sz="2400" spc="23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yield </a:t>
            </a:r>
            <a:r>
              <a:rPr sz="2400" spc="15" dirty="0">
                <a:solidFill>
                  <a:srgbClr val="000000"/>
                </a:solidFill>
                <a:latin typeface="VCNWLL+Calibri"/>
                <a:cs typeface="VCNWLL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global</a:t>
            </a:r>
            <a:r>
              <a:rPr sz="2400" spc="38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optimum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24902" y="3069981"/>
            <a:ext cx="4325791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Handling</a:t>
            </a:r>
            <a:r>
              <a:rPr sz="2400" spc="-2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continuous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attributes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83284" y="3551851"/>
            <a:ext cx="8429773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Split based on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threshold,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chosen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maximize information gain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6389202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Comparison</a:t>
            </a:r>
            <a:r>
              <a:rPr sz="3250" spc="-1269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to</a:t>
            </a:r>
            <a:r>
              <a:rPr sz="3250" spc="-1210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some</a:t>
            </a:r>
            <a:r>
              <a:rPr sz="3250" spc="-124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4" dirty="0">
                <a:solidFill>
                  <a:srgbClr val="001F5F"/>
                </a:solidFill>
                <a:latin typeface="UWTVVI+Calibri-Bold"/>
                <a:cs typeface="UWTVVI+Calibri-Bold"/>
              </a:rPr>
              <a:t>other</a:t>
            </a:r>
            <a:r>
              <a:rPr sz="3250" spc="-120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classifiers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57037"/>
            <a:ext cx="7079822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Advantages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decision trees</a:t>
            </a:r>
            <a:r>
              <a:rPr sz="2400" spc="-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over</a:t>
            </a:r>
            <a:r>
              <a:rPr sz="2400" spc="-3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KNNs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 neural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nets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5475" y="1471940"/>
            <a:ext cx="9916413" cy="112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Simple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deal</a:t>
            </a:r>
            <a:r>
              <a:rPr sz="2400" spc="-3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with discrete features,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missing</a:t>
            </a:r>
            <a:r>
              <a:rPr sz="2400" spc="-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values,</a:t>
            </a:r>
            <a:r>
              <a:rPr sz="2400" spc="6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 poorly</a:t>
            </a:r>
            <a:r>
              <a:rPr sz="2400" spc="-4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scaled data</a:t>
            </a:r>
          </a:p>
          <a:p>
            <a:pPr marL="0" marR="0">
              <a:lnSpc>
                <a:spcPts val="2686"/>
              </a:lnSpc>
              <a:spcBef>
                <a:spcPts val="2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Fast</a:t>
            </a:r>
            <a:r>
              <a:rPr sz="2400" spc="-7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50" dirty="0">
                <a:solidFill>
                  <a:srgbClr val="000000"/>
                </a:solidFill>
                <a:latin typeface="DHSVHP+Calibri"/>
                <a:cs typeface="DHSVHP+Calibri"/>
              </a:rPr>
              <a:t>at</a:t>
            </a:r>
            <a:r>
              <a:rPr sz="2400" spc="-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test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time</a:t>
            </a:r>
          </a:p>
          <a:p>
            <a:pPr marL="0" marR="0">
              <a:lnSpc>
                <a:spcPts val="2684"/>
              </a:lnSpc>
              <a:spcBef>
                <a:spcPts val="15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More</a:t>
            </a:r>
            <a:r>
              <a:rPr sz="2400" spc="7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interpretable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2890282"/>
            <a:ext cx="5077336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Advantages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KNNs</a:t>
            </a:r>
            <a:r>
              <a:rPr sz="2400" spc="-5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over</a:t>
            </a:r>
            <a:r>
              <a:rPr sz="2400" spc="-3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decision trees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5475" y="3472538"/>
            <a:ext cx="8906847" cy="753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Few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hyperparameters</a:t>
            </a:r>
          </a:p>
          <a:p>
            <a:pPr marL="0" marR="0">
              <a:lnSpc>
                <a:spcPts val="2684"/>
              </a:lnSpc>
              <a:spcBef>
                <a:spcPts val="2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Can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incorporate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interesting</a:t>
            </a:r>
            <a:r>
              <a:rPr sz="2400" spc="5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distance measures</a:t>
            </a:r>
            <a:r>
              <a:rPr sz="2400" spc="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(e.g.</a:t>
            </a:r>
            <a:r>
              <a:rPr sz="2400" spc="6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shape contexts)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4007" y="4520327"/>
            <a:ext cx="5802294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Advantages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neural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nets</a:t>
            </a:r>
            <a:r>
              <a:rPr sz="2400" spc="-6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over</a:t>
            </a:r>
            <a:r>
              <a:rPr sz="2400" spc="-3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decision trees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25475" y="5103251"/>
            <a:ext cx="10548991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Able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handle attributes/features</a:t>
            </a:r>
            <a:r>
              <a:rPr sz="2400" spc="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that</a:t>
            </a:r>
            <a:r>
              <a:rPr sz="2400" spc="-7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interact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very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complex 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ways</a:t>
            </a:r>
            <a:r>
              <a:rPr sz="2400" spc="3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(e.g.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pixels)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6389202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Comparison</a:t>
            </a:r>
            <a:r>
              <a:rPr sz="3250" spc="-1269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to</a:t>
            </a:r>
            <a:r>
              <a:rPr sz="3250" spc="-1210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some</a:t>
            </a:r>
            <a:r>
              <a:rPr sz="3250" spc="-124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4" dirty="0">
                <a:solidFill>
                  <a:srgbClr val="001F5F"/>
                </a:solidFill>
                <a:latin typeface="UWTVVI+Calibri-Bold"/>
                <a:cs typeface="UWTVVI+Calibri-Bold"/>
              </a:rPr>
              <a:t>other</a:t>
            </a:r>
            <a:r>
              <a:rPr sz="3250" spc="-120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UWTVVI+Calibri-Bold"/>
                <a:cs typeface="UWTVVI+Calibri-Bold"/>
              </a:rPr>
              <a:t>classifiers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56702"/>
            <a:ext cx="10594629" cy="767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We’ve</a:t>
            </a:r>
            <a:r>
              <a:rPr sz="2400" spc="-15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VCNWLL+Calibri"/>
                <a:cs typeface="VCNWLL+Calibri"/>
              </a:rPr>
              <a:t>seen</a:t>
            </a:r>
            <a:r>
              <a:rPr sz="2400" spc="-1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VCNWLL+Calibri"/>
                <a:cs typeface="VCNWLL+Calibri"/>
              </a:rPr>
              <a:t>many</a:t>
            </a:r>
            <a:r>
              <a:rPr sz="2400" spc="3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classification algorithms.</a:t>
            </a:r>
          </a:p>
          <a:p>
            <a:pPr marL="0" marR="0">
              <a:lnSpc>
                <a:spcPts val="2684"/>
              </a:lnSpc>
              <a:spcBef>
                <a:spcPts val="8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can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combine</a:t>
            </a:r>
            <a:r>
              <a:rPr sz="2400" spc="7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multiple</a:t>
            </a:r>
            <a:r>
              <a:rPr sz="2400" spc="7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classifiers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into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an</a:t>
            </a:r>
            <a:r>
              <a:rPr sz="2400" spc="9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ensemble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which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-3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set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62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spc="6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predictors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225" y="1753378"/>
            <a:ext cx="9952200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whose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individual</a:t>
            </a:r>
            <a:r>
              <a:rPr sz="2400" spc="3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decisions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are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combined </a:t>
            </a:r>
            <a:r>
              <a:rPr sz="2400" spc="47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some</a:t>
            </a:r>
            <a:r>
              <a:rPr sz="2400" spc="8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way</a:t>
            </a:r>
            <a:r>
              <a:rPr sz="2400" spc="-4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classify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new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8975" y="2164471"/>
            <a:ext cx="5213536" cy="3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E.g.,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(possibly</a:t>
            </a:r>
            <a:r>
              <a:rPr sz="2400" spc="-5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weighted) majority</a:t>
            </a:r>
            <a:r>
              <a:rPr sz="2400" spc="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vote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2802232"/>
            <a:ext cx="8506699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For</a:t>
            </a:r>
            <a:r>
              <a:rPr sz="2400" spc="-4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this</a:t>
            </a:r>
            <a:r>
              <a:rPr sz="2400" spc="-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be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nontrivial,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classifiers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must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differ</a:t>
            </a:r>
            <a:r>
              <a:rPr sz="2400" spc="-3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somehow,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e.g.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8975" y="3242606"/>
            <a:ext cx="5020544" cy="1123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Different algorithm</a:t>
            </a:r>
          </a:p>
          <a:p>
            <a:pPr marL="0" marR="0">
              <a:lnSpc>
                <a:spcPts val="2666"/>
              </a:lnSpc>
              <a:spcBef>
                <a:spcPts val="44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Different choice of hyperparameters</a:t>
            </a:r>
          </a:p>
          <a:p>
            <a:pPr marL="0" marR="0">
              <a:lnSpc>
                <a:spcPts val="2666"/>
              </a:lnSpc>
              <a:spcBef>
                <a:spcPts val="167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Trained on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different data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8975" y="4339633"/>
            <a:ext cx="7571021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Trained with different weighting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training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4007" y="4996444"/>
            <a:ext cx="8518671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Next</a:t>
            </a:r>
            <a:r>
              <a:rPr sz="2400" spc="-8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lecture,</a:t>
            </a:r>
            <a:r>
              <a:rPr sz="2400" spc="-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will</a:t>
            </a:r>
            <a:r>
              <a:rPr sz="2400" spc="-5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study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some</a:t>
            </a:r>
            <a:r>
              <a:rPr sz="2400" spc="8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specific</a:t>
            </a:r>
            <a:r>
              <a:rPr sz="2400" spc="3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ensembling techniques.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3429" y="1556395"/>
            <a:ext cx="8549869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Today,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deepen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our</a:t>
            </a:r>
            <a:r>
              <a:rPr sz="2400" spc="-3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understanding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generalization through 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6710" y="1966357"/>
            <a:ext cx="3785665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bias-variance decomposition.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54810" y="2537216"/>
            <a:ext cx="6685820" cy="3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This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will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help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us</a:t>
            </a:r>
            <a:r>
              <a:rPr sz="2400" spc="-6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understand</a:t>
            </a:r>
            <a:r>
              <a:rPr sz="2400" spc="7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ensembling methods.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096440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Bias-Variance</a:t>
            </a:r>
            <a:r>
              <a:rPr sz="3250" spc="-124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5" dirty="0">
                <a:solidFill>
                  <a:srgbClr val="001F5F"/>
                </a:solidFill>
                <a:latin typeface="UWTVVI+Calibri-Bold"/>
                <a:cs typeface="UWTVVI+Calibri-Bold"/>
              </a:rPr>
              <a:t>Decomposition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71019"/>
            <a:ext cx="11162460" cy="390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Recall</a:t>
            </a:r>
            <a:r>
              <a:rPr sz="2400" spc="-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that overly</a:t>
            </a:r>
            <a:r>
              <a:rPr sz="2400" spc="-5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simple</a:t>
            </a:r>
            <a:r>
              <a:rPr sz="2400" spc="-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models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underfit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data,</a:t>
            </a:r>
            <a:r>
              <a:rPr sz="2400" spc="-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 overly</a:t>
            </a:r>
            <a:r>
              <a:rPr sz="2400" spc="-5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complex models overfit.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4633572"/>
            <a:ext cx="9452182" cy="1019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can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quantify</a:t>
            </a:r>
            <a:r>
              <a:rPr sz="2400" spc="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this</a:t>
            </a:r>
            <a:r>
              <a:rPr sz="2400" spc="-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effect</a:t>
            </a:r>
            <a:r>
              <a:rPr sz="2400" spc="-8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-5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terms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10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bias/variance</a:t>
            </a:r>
            <a:r>
              <a:rPr sz="2400" spc="63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decomposition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  <a:p>
            <a:pPr marL="393065" marR="0">
              <a:lnSpc>
                <a:spcPts val="2669"/>
              </a:lnSpc>
              <a:spcBef>
                <a:spcPts val="213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Bias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 variance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what?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723199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Bias-Variance</a:t>
            </a:r>
            <a:r>
              <a:rPr sz="3250" spc="-124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3" dirty="0">
                <a:solidFill>
                  <a:srgbClr val="001F5F"/>
                </a:solidFill>
                <a:latin typeface="UWTVVI+Calibri-Bold"/>
                <a:cs typeface="UWTVVI+Calibri-Bold"/>
              </a:rPr>
              <a:t>Decomposition:</a:t>
            </a:r>
            <a:r>
              <a:rPr sz="3250" spc="-118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UWTVVI+Calibri-Bold"/>
                <a:cs typeface="UWTVVI+Calibri-Bold"/>
              </a:rPr>
              <a:t>Basic</a:t>
            </a:r>
            <a:r>
              <a:rPr sz="3250" spc="-118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UWTVVI+Calibri-Bold"/>
                <a:cs typeface="UWTVVI+Calibri-Bold"/>
              </a:rPr>
              <a:t>Setup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47430"/>
            <a:ext cx="10103550" cy="11534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Suppose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training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set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538" dirty="0">
                <a:solidFill>
                  <a:srgbClr val="000000"/>
                </a:solidFill>
                <a:latin typeface="PLNGGG+Cambria Math"/>
                <a:cs typeface="PLNGGG+Cambria Math"/>
              </a:rPr>
              <a:t>ꢜ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consists</a:t>
            </a:r>
            <a:r>
              <a:rPr sz="2400" spc="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pairs</a:t>
            </a:r>
            <a:r>
              <a:rPr sz="2400" spc="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(ꢝ</a:t>
            </a:r>
            <a:r>
              <a:rPr sz="2650" spc="159" baseline="-20416" dirty="0">
                <a:solidFill>
                  <a:srgbClr val="000000"/>
                </a:solidFill>
                <a:latin typeface="PLNGGG+Cambria Math"/>
                <a:cs typeface="PLNGGG+Cambria Math"/>
              </a:rPr>
              <a:t>ꢞ</a:t>
            </a:r>
            <a:r>
              <a:rPr sz="2400" spc="197" dirty="0">
                <a:solidFill>
                  <a:srgbClr val="000000"/>
                </a:solidFill>
                <a:latin typeface="PLNGGG+Cambria Math"/>
                <a:cs typeface="PLNGGG+Cambria Math"/>
              </a:rPr>
              <a:t>,ꢃ</a:t>
            </a:r>
            <a:r>
              <a:rPr sz="2650" spc="158" baseline="-20416" dirty="0">
                <a:solidFill>
                  <a:srgbClr val="000000"/>
                </a:solidFill>
                <a:latin typeface="PLNGGG+Cambria Math"/>
                <a:cs typeface="PLNGGG+Cambria Math"/>
              </a:rPr>
              <a:t>ꢞ</a:t>
            </a:r>
            <a:r>
              <a:rPr sz="2400" spc="541" dirty="0">
                <a:solidFill>
                  <a:srgbClr val="000000"/>
                </a:solidFill>
                <a:latin typeface="PLNGGG+Cambria Math"/>
                <a:cs typeface="PLNGGG+Cambria Math"/>
              </a:rPr>
              <a:t>)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sampled</a:t>
            </a:r>
            <a:r>
              <a:rPr sz="2400" spc="-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independent</a:t>
            </a:r>
            <a:r>
              <a:rPr sz="2400" spc="37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and</a:t>
            </a:r>
          </a:p>
          <a:p>
            <a:pPr marL="343217" marR="0">
              <a:lnSpc>
                <a:spcPts val="2407"/>
              </a:lnSpc>
              <a:spcBef>
                <a:spcPts val="180"/>
              </a:spcBef>
              <a:spcAft>
                <a:spcPts val="0"/>
              </a:spcAft>
            </a:pP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identically</a:t>
            </a:r>
            <a:r>
              <a:rPr sz="2400" spc="-56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distributed </a:t>
            </a:r>
            <a:r>
              <a:rPr sz="2400" spc="11" dirty="0">
                <a:solidFill>
                  <a:srgbClr val="0B44E4"/>
                </a:solidFill>
                <a:latin typeface="DHSVHP+Calibri"/>
                <a:cs typeface="DHSVHP+Calibri"/>
              </a:rPr>
              <a:t>(i.i.d)</a:t>
            </a:r>
            <a:r>
              <a:rPr sz="2400" spc="-19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from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-3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single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data</a:t>
            </a:r>
            <a:r>
              <a:rPr sz="2400" spc="-44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generating</a:t>
            </a:r>
            <a:r>
              <a:rPr sz="2400" spc="-29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distribution</a:t>
            </a:r>
            <a:r>
              <a:rPr sz="2400" spc="55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spc="-75" dirty="0">
                <a:solidFill>
                  <a:srgbClr val="000000"/>
                </a:solidFill>
                <a:latin typeface="PLNGGG+Cambria Math"/>
                <a:cs typeface="PLNGGG+Cambria Math"/>
              </a:rPr>
              <a:t>ꢆ</a:t>
            </a:r>
            <a:r>
              <a:rPr sz="2550" spc="34" baseline="-20541" dirty="0">
                <a:solidFill>
                  <a:srgbClr val="000000"/>
                </a:solidFill>
                <a:latin typeface="OHIOUC+Cambria Math"/>
                <a:cs typeface="OHIOUC+Cambria Math"/>
              </a:rPr>
              <a:t>sa</a:t>
            </a:r>
            <a:r>
              <a:rPr sz="2550" spc="67" baseline="-20541" dirty="0">
                <a:solidFill>
                  <a:srgbClr val="000000"/>
                </a:solidFill>
                <a:latin typeface="PLNGGG+Cambria Math"/>
                <a:cs typeface="PLNGGG+Cambria Math"/>
              </a:rPr>
              <a:t>mp</a:t>
            </a:r>
            <a:r>
              <a:rPr sz="2550" spc="-14" baseline="-20541" dirty="0">
                <a:solidFill>
                  <a:srgbClr val="000000"/>
                </a:solidFill>
                <a:latin typeface="OHIOUC+Cambria Math"/>
                <a:cs typeface="OHIOUC+Cambria Math"/>
              </a:rPr>
              <a:t>le</a:t>
            </a:r>
          </a:p>
          <a:p>
            <a:pPr marL="0" marR="0">
              <a:lnSpc>
                <a:spcPts val="2684"/>
              </a:lnSpc>
              <a:spcBef>
                <a:spcPts val="2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Pick</a:t>
            </a:r>
            <a:r>
              <a:rPr sz="2400" spc="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fixed 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query</a:t>
            </a:r>
            <a:r>
              <a:rPr sz="2400" spc="3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point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542" dirty="0">
                <a:solidFill>
                  <a:srgbClr val="000000"/>
                </a:solidFill>
                <a:latin typeface="PLNGGG+Cambria Math"/>
                <a:cs typeface="PLNGGG+Cambria Math"/>
              </a:rPr>
              <a:t>ꢟ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(denoted with 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green 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x).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80015" y="1366298"/>
            <a:ext cx="229504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2082429"/>
            <a:ext cx="10676728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Consider</a:t>
            </a:r>
            <a:r>
              <a:rPr sz="2400" spc="5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an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experiment</a:t>
            </a:r>
            <a:r>
              <a:rPr sz="2400" spc="-7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where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sample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lots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67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spc="6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training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sets</a:t>
            </a:r>
            <a:r>
              <a:rPr sz="2400" spc="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independently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from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7225" y="2483347"/>
            <a:ext cx="1081323" cy="38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-76" dirty="0">
                <a:solidFill>
                  <a:srgbClr val="000000"/>
                </a:solidFill>
                <a:latin typeface="PLNGGG+Cambria Math"/>
                <a:cs typeface="PLNGGG+Cambria Math"/>
              </a:rPr>
              <a:t>ꢆ</a:t>
            </a:r>
            <a:r>
              <a:rPr sz="2650" spc="21" baseline="-20416" dirty="0">
                <a:solidFill>
                  <a:srgbClr val="000000"/>
                </a:solidFill>
                <a:latin typeface="OHIOUC+Cambria Math"/>
                <a:cs typeface="OHIOUC+Cambria Math"/>
              </a:rPr>
              <a:t>sa</a:t>
            </a:r>
            <a:r>
              <a:rPr sz="2650" spc="29" baseline="-20416" dirty="0">
                <a:solidFill>
                  <a:srgbClr val="000000"/>
                </a:solidFill>
                <a:latin typeface="PLNGGG+Cambria Math"/>
                <a:cs typeface="PLNGGG+Cambria Math"/>
              </a:rPr>
              <a:t>mp</a:t>
            </a:r>
            <a:r>
              <a:rPr sz="2650" spc="-29" baseline="-20416" dirty="0">
                <a:solidFill>
                  <a:srgbClr val="000000"/>
                </a:solidFill>
                <a:latin typeface="OHIOUC+Cambria Math"/>
                <a:cs typeface="OHIOUC+Cambria Math"/>
              </a:rPr>
              <a:t>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00835" y="2492137"/>
            <a:ext cx="229424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723199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Bias-Variance</a:t>
            </a:r>
            <a:r>
              <a:rPr sz="3250" spc="-124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3" dirty="0">
                <a:solidFill>
                  <a:srgbClr val="001F5F"/>
                </a:solidFill>
                <a:latin typeface="UWTVVI+Calibri-Bold"/>
                <a:cs typeface="UWTVVI+Calibri-Bold"/>
              </a:rPr>
              <a:t>Decomposition:</a:t>
            </a:r>
            <a:r>
              <a:rPr sz="3250" spc="-118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UWTVVI+Calibri-Bold"/>
                <a:cs typeface="UWTVVI+Calibri-Bold"/>
              </a:rPr>
              <a:t>Basic</a:t>
            </a:r>
            <a:r>
              <a:rPr sz="3250" spc="-118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UWTVVI+Calibri-Bold"/>
                <a:cs typeface="UWTVVI+Calibri-Bold"/>
              </a:rPr>
              <a:t>Setup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56702"/>
            <a:ext cx="11128409" cy="1139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Let’s</a:t>
            </a:r>
            <a:r>
              <a:rPr sz="2400" spc="1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run our</a:t>
            </a:r>
            <a:r>
              <a:rPr sz="2400" spc="-39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learning</a:t>
            </a:r>
            <a:r>
              <a:rPr sz="2400" spc="-24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algorithm</a:t>
            </a:r>
            <a:r>
              <a:rPr sz="2400" spc="22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on</a:t>
            </a:r>
            <a:r>
              <a:rPr sz="2400" spc="-14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each</a:t>
            </a:r>
            <a:r>
              <a:rPr sz="2400" spc="-12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training</a:t>
            </a:r>
            <a:r>
              <a:rPr sz="2400" spc="-1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19" dirty="0">
                <a:solidFill>
                  <a:srgbClr val="000000"/>
                </a:solidFill>
                <a:latin typeface="VCNWLL+Calibri"/>
                <a:cs typeface="VCNWLL+Calibri"/>
              </a:rPr>
              <a:t>set,</a:t>
            </a:r>
            <a:r>
              <a:rPr sz="2400" spc="-35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and compute its</a:t>
            </a:r>
            <a:r>
              <a:rPr sz="2400" spc="19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prediction</a:t>
            </a:r>
            <a:r>
              <a:rPr sz="2400" spc="179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574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at</a:t>
            </a:r>
          </a:p>
          <a:p>
            <a:pPr marL="343217" marR="0">
              <a:lnSpc>
                <a:spcPts val="2404"/>
              </a:lnSpc>
              <a:spcBef>
                <a:spcPts val="387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query</a:t>
            </a:r>
            <a:r>
              <a:rPr sz="2400" spc="-5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point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ꢟ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  <a:p>
            <a:pPr marL="0" marR="0">
              <a:lnSpc>
                <a:spcPts val="2684"/>
              </a:lnSpc>
              <a:spcBef>
                <a:spcPts val="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can view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574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as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random</a:t>
            </a:r>
            <a:r>
              <a:rPr sz="2400" spc="-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variable,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where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randomness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comes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from</a:t>
            </a:r>
            <a:r>
              <a:rPr sz="2400" spc="-6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choice of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225" y="2115344"/>
            <a:ext cx="1627785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training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set.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2440315"/>
            <a:ext cx="8550148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3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classification accuracy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determined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distribution of</a:t>
            </a:r>
            <a:r>
              <a:rPr sz="2400" spc="5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37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723199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Bias-Variance</a:t>
            </a:r>
            <a:r>
              <a:rPr sz="3250" spc="-124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3" dirty="0">
                <a:solidFill>
                  <a:srgbClr val="001F5F"/>
                </a:solidFill>
                <a:latin typeface="UWTVVI+Calibri-Bold"/>
                <a:cs typeface="UWTVVI+Calibri-Bold"/>
              </a:rPr>
              <a:t>Decomposition:</a:t>
            </a:r>
            <a:r>
              <a:rPr sz="3250" spc="-118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UWTVVI+Calibri-Bold"/>
                <a:cs typeface="UWTVVI+Calibri-Bold"/>
              </a:rPr>
              <a:t>Basic</a:t>
            </a:r>
            <a:r>
              <a:rPr sz="3250" spc="-118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UWTVVI+Calibri-Bold"/>
                <a:cs typeface="UWTVVI+Calibri-Bold"/>
              </a:rPr>
              <a:t>Setup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3575" y="1044337"/>
            <a:ext cx="5450026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Here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-10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analogous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setup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for</a:t>
            </a:r>
            <a:r>
              <a:rPr sz="2400" spc="-4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regression: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3575" y="6020367"/>
            <a:ext cx="9663787" cy="35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Since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575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random</a:t>
            </a:r>
            <a:r>
              <a:rPr sz="2400" spc="-5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variable,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can talk</a:t>
            </a:r>
            <a:r>
              <a:rPr sz="2400" spc="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about its</a:t>
            </a:r>
            <a:r>
              <a:rPr sz="2400" spc="-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expectation,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variance,</a:t>
            </a:r>
            <a:r>
              <a:rPr sz="2400" spc="6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etc.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723199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Bias-Variance</a:t>
            </a:r>
            <a:r>
              <a:rPr sz="3250" spc="-1248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3" dirty="0">
                <a:solidFill>
                  <a:srgbClr val="001F5F"/>
                </a:solidFill>
                <a:latin typeface="UWTVVI+Calibri-Bold"/>
                <a:cs typeface="UWTVVI+Calibri-Bold"/>
              </a:rPr>
              <a:t>Decomposition:</a:t>
            </a:r>
            <a:r>
              <a:rPr sz="3250" spc="-118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UWTVVI+Calibri-Bold"/>
                <a:cs typeface="UWTVVI+Calibri-Bold"/>
              </a:rPr>
              <a:t>Basic</a:t>
            </a:r>
            <a:r>
              <a:rPr sz="3250" spc="-1182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UWTVVI+Calibri-Bold"/>
                <a:cs typeface="UWTVVI+Calibri-Bold"/>
              </a:rPr>
              <a:t>Setup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96960"/>
            <a:ext cx="3109124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Recap of basic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setup: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1675" y="1482132"/>
            <a:ext cx="2864928" cy="7510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Fix 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query</a:t>
            </a:r>
            <a:r>
              <a:rPr sz="2400" spc="3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point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ꢟ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  <a:p>
            <a:pPr marL="0" marR="0">
              <a:lnSpc>
                <a:spcPts val="2669"/>
              </a:lnSpc>
              <a:spcBef>
                <a:spcPts val="4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Repeat: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57592" y="2314363"/>
            <a:ext cx="10278200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Sample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-3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random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training</a:t>
            </a:r>
            <a:r>
              <a:rPr sz="2400" spc="-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dataset </a:t>
            </a:r>
            <a:r>
              <a:rPr sz="2400" spc="588" dirty="0">
                <a:solidFill>
                  <a:srgbClr val="000000"/>
                </a:solidFill>
                <a:latin typeface="PLNGGG+Cambria Math"/>
                <a:cs typeface="PLNGGG+Cambria Math"/>
              </a:rPr>
              <a:t>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i.i.d.</a:t>
            </a:r>
            <a:r>
              <a:rPr sz="2400" spc="-4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from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data</a:t>
            </a:r>
            <a:r>
              <a:rPr sz="2400" spc="3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generating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distribution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0429" y="2722495"/>
            <a:ext cx="1082483" cy="386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spc="-75" dirty="0">
                <a:solidFill>
                  <a:srgbClr val="000000"/>
                </a:solidFill>
                <a:latin typeface="PLNGGG+Cambria Math"/>
                <a:cs typeface="PLNGGG+Cambria Math"/>
              </a:rPr>
              <a:t>ꢆ</a:t>
            </a:r>
            <a:r>
              <a:rPr sz="2650" spc="22" baseline="-20416" dirty="0">
                <a:solidFill>
                  <a:srgbClr val="000000"/>
                </a:solidFill>
                <a:latin typeface="OHIOUC+Cambria Math"/>
                <a:cs typeface="OHIOUC+Cambria Math"/>
              </a:rPr>
              <a:t>sa</a:t>
            </a:r>
            <a:r>
              <a:rPr sz="2650" spc="30" baseline="-20416" dirty="0">
                <a:solidFill>
                  <a:srgbClr val="000000"/>
                </a:solidFill>
                <a:latin typeface="PLNGGG+Cambria Math"/>
                <a:cs typeface="PLNGGG+Cambria Math"/>
              </a:rPr>
              <a:t>mp</a:t>
            </a:r>
            <a:r>
              <a:rPr sz="2650" spc="-28" baseline="-20416" dirty="0">
                <a:solidFill>
                  <a:srgbClr val="000000"/>
                </a:solidFill>
                <a:latin typeface="OHIOUC+Cambria Math"/>
                <a:cs typeface="OHIOUC+Cambria Math"/>
              </a:rPr>
              <a:t>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344166" y="2731294"/>
            <a:ext cx="229504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57592" y="3077252"/>
            <a:ext cx="8563736" cy="1123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Run 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learning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algorithm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on</a:t>
            </a:r>
            <a:r>
              <a:rPr sz="2400" spc="-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588" dirty="0">
                <a:solidFill>
                  <a:srgbClr val="000000"/>
                </a:solidFill>
                <a:latin typeface="PLNGGG+Cambria Math"/>
                <a:cs typeface="PLNGGG+Cambria Math"/>
              </a:rPr>
              <a:t>ꢢ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get 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prediction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575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at</a:t>
            </a:r>
            <a:r>
              <a:rPr sz="2400" spc="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ꢟ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  <a:p>
            <a:pPr marL="0" marR="0">
              <a:lnSpc>
                <a:spcPts val="2666"/>
              </a:lnSpc>
              <a:spcBef>
                <a:spcPts val="119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Sample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8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(true)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target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from</a:t>
            </a:r>
            <a:r>
              <a:rPr sz="2400" spc="-6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conditional</a:t>
            </a:r>
            <a:r>
              <a:rPr sz="2400" spc="3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distribution</a:t>
            </a:r>
            <a:r>
              <a:rPr sz="2400" spc="-4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PLNGGG+Cambria Math"/>
                <a:cs typeface="PLNGGG+Cambria Math"/>
              </a:rPr>
              <a:t>ꢆ(ꢃ|ꢟ)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  <a:p>
            <a:pPr marL="0" marR="0">
              <a:lnSpc>
                <a:spcPts val="2666"/>
              </a:lnSpc>
              <a:spcBef>
                <a:spcPts val="92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Compute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8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loss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ꢡ</a:t>
            </a:r>
            <a:r>
              <a:rPr sz="2400" spc="-39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4" dirty="0">
                <a:solidFill>
                  <a:srgbClr val="000000"/>
                </a:solidFill>
                <a:latin typeface="PLNGGG+Cambria Math"/>
                <a:cs typeface="PLNGGG+Cambria Math"/>
              </a:rPr>
              <a:t>ꢅ,ꢃ</a:t>
            </a:r>
            <a:r>
              <a:rPr sz="2400" spc="-5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4007" y="4658972"/>
            <a:ext cx="11109227" cy="112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Notice: </a:t>
            </a:r>
            <a:r>
              <a:rPr sz="2400" spc="574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independent of </a:t>
            </a:r>
            <a:r>
              <a:rPr sz="2400" spc="63" dirty="0">
                <a:solidFill>
                  <a:srgbClr val="000000"/>
                </a:solidFill>
                <a:latin typeface="PLNGGG+Cambria Math"/>
                <a:cs typeface="PLNGGG+Cambria Math"/>
              </a:rPr>
              <a:t>ꢃ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  <a:p>
            <a:pPr marL="0" marR="0">
              <a:lnSpc>
                <a:spcPts val="2684"/>
              </a:lnSpc>
              <a:spcBef>
                <a:spcPts val="7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DHSVHP+Calibri"/>
                <a:cs typeface="DHSVHP+Calibri"/>
              </a:rPr>
              <a:t>gives</a:t>
            </a:r>
            <a:r>
              <a:rPr sz="2400" spc="3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distribution over</a:t>
            </a:r>
            <a:r>
              <a:rPr sz="2400" spc="5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loss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at</a:t>
            </a:r>
            <a:r>
              <a:rPr sz="2400" spc="6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ꢟ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with expectation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839" dirty="0">
                <a:solidFill>
                  <a:srgbClr val="000000"/>
                </a:solidFill>
                <a:latin typeface="PLNGGG+Cambria Math"/>
                <a:cs typeface="PLNGGG+Cambria Math"/>
              </a:rPr>
              <a:t>ꢠꢡ</a:t>
            </a:r>
            <a:r>
              <a:rPr sz="2400" spc="-123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5" dirty="0">
                <a:solidFill>
                  <a:srgbClr val="000000"/>
                </a:solidFill>
                <a:latin typeface="PLNGGG+Cambria Math"/>
                <a:cs typeface="PLNGGG+Cambria Math"/>
              </a:rPr>
              <a:t>ꢅ,ꢃ</a:t>
            </a:r>
            <a:r>
              <a:rPr sz="2400" spc="-5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|ꢟ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  <a:p>
            <a:pPr marL="0" marR="0">
              <a:lnSpc>
                <a:spcPts val="2684"/>
              </a:lnSpc>
              <a:spcBef>
                <a:spcPts val="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For</a:t>
            </a:r>
            <a:r>
              <a:rPr sz="2400" spc="-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each query</a:t>
            </a:r>
            <a:r>
              <a:rPr sz="2400" spc="-5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point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ꢟ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expected 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loss</a:t>
            </a:r>
            <a:r>
              <a:rPr sz="2400" spc="3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different.</a:t>
            </a:r>
            <a:r>
              <a:rPr sz="2400" spc="-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35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are</a:t>
            </a:r>
            <a:r>
              <a:rPr sz="2400" spc="-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interested </a:t>
            </a:r>
            <a:r>
              <a:rPr sz="2400" spc="47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minimizing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7225" y="5804150"/>
            <a:ext cx="6257071" cy="387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expectation of </a:t>
            </a:r>
            <a:r>
              <a:rPr sz="2400" spc="-23" dirty="0">
                <a:solidFill>
                  <a:srgbClr val="000000"/>
                </a:solidFill>
                <a:latin typeface="DHSVHP+Calibri"/>
                <a:cs typeface="DHSVHP+Calibri"/>
              </a:rPr>
              <a:t>this</a:t>
            </a:r>
            <a:r>
              <a:rPr sz="2400" spc="3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with respect </a:t>
            </a:r>
            <a:r>
              <a:rPr sz="2400" spc="-54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14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PLNGGG+Cambria Math"/>
                <a:cs typeface="PLNGGG+Cambria Math"/>
              </a:rPr>
              <a:t>ꢟ~ꢆ</a:t>
            </a:r>
            <a:r>
              <a:rPr sz="2550" spc="34" baseline="-20520" dirty="0">
                <a:solidFill>
                  <a:srgbClr val="000000"/>
                </a:solidFill>
                <a:latin typeface="OHIOUC+Cambria Math"/>
                <a:cs typeface="OHIOUC+Cambria Math"/>
              </a:rPr>
              <a:t>sa</a:t>
            </a:r>
            <a:r>
              <a:rPr sz="2550" spc="66" baseline="-20520" dirty="0">
                <a:solidFill>
                  <a:srgbClr val="000000"/>
                </a:solidFill>
                <a:latin typeface="PLNGGG+Cambria Math"/>
                <a:cs typeface="PLNGGG+Cambria Math"/>
              </a:rPr>
              <a:t>mp</a:t>
            </a:r>
            <a:r>
              <a:rPr sz="2550" spc="-14" baseline="-20520" dirty="0">
                <a:solidFill>
                  <a:srgbClr val="000000"/>
                </a:solidFill>
                <a:latin typeface="OHIOUC+Cambria Math"/>
                <a:cs typeface="OHIOUC+Cambria Math"/>
              </a:rPr>
              <a:t>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76719" y="5812949"/>
            <a:ext cx="229504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03438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Bayes</a:t>
            </a:r>
            <a:r>
              <a:rPr sz="3250" spc="-1274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Optimality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57644" y="948640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FSSNHE+Cambria Math"/>
                <a:cs typeface="FSSNHE+Cambria Math"/>
              </a:rPr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1015950"/>
            <a:ext cx="7714106" cy="397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For</a:t>
            </a:r>
            <a:r>
              <a:rPr sz="2400" spc="-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now,</a:t>
            </a:r>
            <a:r>
              <a:rPr sz="2400" spc="6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focus</a:t>
            </a:r>
            <a:r>
              <a:rPr sz="2400" spc="-5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on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squared error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loss,</a:t>
            </a:r>
            <a:r>
              <a:rPr sz="2400" spc="8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ꢡ</a:t>
            </a:r>
            <a:r>
              <a:rPr sz="2400" spc="-39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4" dirty="0">
                <a:solidFill>
                  <a:srgbClr val="000000"/>
                </a:solidFill>
                <a:latin typeface="PLNGGG+Cambria Math"/>
                <a:cs typeface="PLNGGG+Cambria Math"/>
              </a:rPr>
              <a:t>ꢅ,ꢃ</a:t>
            </a:r>
            <a:r>
              <a:rPr sz="2400" spc="1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=</a:t>
            </a:r>
            <a:r>
              <a:rPr sz="2400" spc="6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(ꢅ</a:t>
            </a:r>
            <a:r>
              <a:rPr sz="2400" spc="-8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400" spc="-9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2" dirty="0">
                <a:solidFill>
                  <a:srgbClr val="000000"/>
                </a:solidFill>
                <a:latin typeface="PLNGGG+Cambria Math"/>
                <a:cs typeface="PLNGGG+Cambria Math"/>
              </a:rPr>
              <a:t>ꢃ)</a:t>
            </a:r>
            <a:r>
              <a:rPr sz="2650" spc="99" baseline="36666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57644" y="1281126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1461145"/>
            <a:ext cx="11220377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first</a:t>
            </a:r>
            <a:r>
              <a:rPr sz="2400" spc="-7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step: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suppose</a:t>
            </a:r>
            <a:r>
              <a:rPr sz="2400" spc="6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63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1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knew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conditional</a:t>
            </a:r>
            <a:r>
              <a:rPr sz="2400" spc="-3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distribution</a:t>
            </a:r>
            <a:r>
              <a:rPr sz="2400" spc="6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PLNGGG+Cambria Math"/>
                <a:cs typeface="PLNGGG+Cambria Math"/>
              </a:rPr>
              <a:t>ꢆ(ꢃ|ꢟ)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What value </a:t>
            </a:r>
            <a:r>
              <a:rPr sz="2400" spc="575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should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7225" y="1880139"/>
            <a:ext cx="1607302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predict?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1675" y="2270421"/>
            <a:ext cx="8010715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Here,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are</a:t>
            </a:r>
            <a:r>
              <a:rPr sz="2400" spc="-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treating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01" dirty="0">
                <a:solidFill>
                  <a:srgbClr val="000000"/>
                </a:solidFill>
                <a:latin typeface="PLNGGG+Cambria Math"/>
                <a:cs typeface="PLNGGG+Cambria Math"/>
              </a:rPr>
              <a:t>ꢃ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as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random</a:t>
            </a:r>
            <a:r>
              <a:rPr sz="2400" spc="-5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variable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 choosing</a:t>
            </a:r>
            <a:r>
              <a:rPr sz="2400" spc="4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35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4007" y="2929900"/>
            <a:ext cx="6646424" cy="753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UWTVVI+Calibri-Bold"/>
                <a:cs typeface="UWTVVI+Calibri-Bold"/>
              </a:rPr>
              <a:t>Claim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: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6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650" baseline="-20416" dirty="0">
                <a:solidFill>
                  <a:srgbClr val="000000"/>
                </a:solidFill>
                <a:latin typeface="PLNGGG+Cambria Math"/>
                <a:cs typeface="PLNGGG+Cambria Math"/>
              </a:rPr>
              <a:t>∗</a:t>
            </a:r>
            <a:r>
              <a:rPr sz="2650" spc="-817" baseline="-204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31" dirty="0">
                <a:solidFill>
                  <a:srgbClr val="000000"/>
                </a:solidFill>
                <a:latin typeface="PLNGGG+Cambria Math"/>
                <a:cs typeface="PLNGGG+Cambria Math"/>
              </a:rPr>
              <a:t>=ꢠ</a:t>
            </a:r>
            <a:r>
              <a:rPr sz="2400" spc="-6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2" dirty="0">
                <a:solidFill>
                  <a:srgbClr val="000000"/>
                </a:solidFill>
                <a:latin typeface="PLNGGG+Cambria Math"/>
                <a:cs typeface="PLNGGG+Cambria Math"/>
              </a:rPr>
              <a:t>ꢃ|ꢟ</a:t>
            </a:r>
            <a:r>
              <a:rPr sz="2400" spc="-8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best possible prediction.</a:t>
            </a:r>
          </a:p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UWTVVI+Calibri-Bold"/>
                <a:cs typeface="UWTVVI+Calibri-Bold"/>
              </a:rPr>
              <a:t>Proof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04309" y="3755975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93690" y="3755975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64985" y="3755975"/>
            <a:ext cx="283628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ꢣ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783205" y="3801353"/>
            <a:ext cx="4637310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ꢠ</a:t>
            </a:r>
            <a:r>
              <a:rPr sz="2400" spc="-60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33" dirty="0">
                <a:solidFill>
                  <a:srgbClr val="000000"/>
                </a:solidFill>
                <a:latin typeface="PLNGGG+Cambria Math"/>
                <a:cs typeface="PLNGGG+Cambria Math"/>
              </a:rPr>
              <a:t>(ꢅ−ꢃ)</a:t>
            </a:r>
            <a:r>
              <a:rPr sz="2400" spc="-5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|ꢟ</a:t>
            </a:r>
            <a:r>
              <a:rPr sz="24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05" dirty="0">
                <a:solidFill>
                  <a:srgbClr val="000000"/>
                </a:solidFill>
                <a:latin typeface="PLNGGG+Cambria Math"/>
                <a:cs typeface="PLNGGG+Cambria Math"/>
              </a:rPr>
              <a:t>=ꢠꢅ</a:t>
            </a:r>
            <a:r>
              <a:rPr sz="2400" spc="-18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30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400" spc="19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400" spc="275" dirty="0">
                <a:solidFill>
                  <a:srgbClr val="000000"/>
                </a:solidFill>
                <a:latin typeface="PLNGGG+Cambria Math"/>
                <a:cs typeface="PLNGGG+Cambria Math"/>
              </a:rPr>
              <a:t>ꢅꢃ+ꢃ</a:t>
            </a:r>
            <a:r>
              <a:rPr sz="2400" spc="-4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|ꢟ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095621" y="4211651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518400" y="4211651"/>
            <a:ext cx="283628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ꢣ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599305" y="4256274"/>
            <a:ext cx="3474918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60" dirty="0">
                <a:solidFill>
                  <a:srgbClr val="000000"/>
                </a:solidFill>
                <a:latin typeface="PLNGGG+Cambria Math"/>
                <a:cs typeface="PLNGGG+Cambria Math"/>
              </a:rPr>
              <a:t>=ꢅ</a:t>
            </a:r>
            <a:r>
              <a:rPr sz="2400" spc="-3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29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400" spc="24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400" spc="-10" dirty="0">
                <a:solidFill>
                  <a:srgbClr val="000000"/>
                </a:solidFill>
                <a:latin typeface="PLNGGG+Cambria Math"/>
                <a:cs typeface="PLNGGG+Cambria Math"/>
              </a:rPr>
              <a:t>yꢠ</a:t>
            </a:r>
            <a:r>
              <a:rPr sz="2400" spc="-6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2" dirty="0">
                <a:solidFill>
                  <a:srgbClr val="000000"/>
                </a:solidFill>
                <a:latin typeface="PLNGGG+Cambria Math"/>
                <a:cs typeface="PLNGGG+Cambria Math"/>
              </a:rPr>
              <a:t>ꢃ|ꢟ</a:t>
            </a:r>
            <a:r>
              <a:rPr sz="2400" spc="-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461" dirty="0">
                <a:solidFill>
                  <a:srgbClr val="000000"/>
                </a:solidFill>
                <a:latin typeface="PLNGGG+Cambria Math"/>
                <a:cs typeface="PLNGGG+Cambria Math"/>
              </a:rPr>
              <a:t>+ꢠꢃ</a:t>
            </a:r>
            <a:r>
              <a:rPr sz="2400" spc="-61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|ꢟ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095621" y="4718889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870825" y="4718889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599305" y="4763766"/>
            <a:ext cx="4879410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60" dirty="0">
                <a:solidFill>
                  <a:srgbClr val="000000"/>
                </a:solidFill>
                <a:latin typeface="PLNGGG+Cambria Math"/>
                <a:cs typeface="PLNGGG+Cambria Math"/>
              </a:rPr>
              <a:t>=ꢅ</a:t>
            </a:r>
            <a:r>
              <a:rPr sz="2400" spc="-3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29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400" spc="24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400" spc="-10" dirty="0">
                <a:solidFill>
                  <a:srgbClr val="000000"/>
                </a:solidFill>
                <a:latin typeface="PLNGGG+Cambria Math"/>
                <a:cs typeface="PLNGGG+Cambria Math"/>
              </a:rPr>
              <a:t>yꢠ</a:t>
            </a:r>
            <a:r>
              <a:rPr sz="2400" spc="-6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2" dirty="0">
                <a:solidFill>
                  <a:srgbClr val="000000"/>
                </a:solidFill>
                <a:latin typeface="PLNGGG+Cambria Math"/>
                <a:cs typeface="PLNGGG+Cambria Math"/>
              </a:rPr>
              <a:t>ꢃ|ꢟ</a:t>
            </a:r>
            <a:r>
              <a:rPr sz="2400" spc="-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65" dirty="0">
                <a:solidFill>
                  <a:srgbClr val="000000"/>
                </a:solidFill>
                <a:latin typeface="PLNGGG+Cambria Math"/>
                <a:cs typeface="PLNGGG+Cambria Math"/>
              </a:rPr>
              <a:t>+ꢠ</a:t>
            </a:r>
            <a:r>
              <a:rPr sz="2400" spc="-6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2" dirty="0">
                <a:solidFill>
                  <a:srgbClr val="000000"/>
                </a:solidFill>
                <a:latin typeface="PLNGGG+Cambria Math"/>
                <a:cs typeface="PLNGGG+Cambria Math"/>
              </a:rPr>
              <a:t>ꢃ|ꢟ</a:t>
            </a:r>
            <a:r>
              <a:rPr sz="2400" spc="10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35" dirty="0">
                <a:solidFill>
                  <a:srgbClr val="000000"/>
                </a:solidFill>
                <a:latin typeface="PLNGGG+Cambria Math"/>
                <a:cs typeface="PLNGGG+Cambria Math"/>
              </a:rPr>
              <a:t>+Var</a:t>
            </a:r>
            <a:r>
              <a:rPr sz="2400" spc="-6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PLNGGG+Cambria Math"/>
                <a:cs typeface="PLNGGG+Cambria Math"/>
              </a:rPr>
              <a:t>ꢃ|ꢟ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095621" y="5198060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754876" y="5198060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599305" y="5243057"/>
            <a:ext cx="3763677" cy="386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660" dirty="0">
                <a:solidFill>
                  <a:srgbClr val="000000"/>
                </a:solidFill>
                <a:latin typeface="PLNGGG+Cambria Math"/>
                <a:cs typeface="PLNGGG+Cambria Math"/>
              </a:rPr>
              <a:t>=ꢅ</a:t>
            </a:r>
            <a:r>
              <a:rPr sz="2400" spc="-3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29" dirty="0">
                <a:solidFill>
                  <a:srgbClr val="000000"/>
                </a:solidFill>
                <a:latin typeface="PLNGGG+Cambria Math"/>
                <a:cs typeface="PLNGGG+Cambria Math"/>
              </a:rPr>
              <a:t>−</a:t>
            </a:r>
            <a:r>
              <a:rPr sz="2400" spc="23" dirty="0">
                <a:solidFill>
                  <a:srgbClr val="000000"/>
                </a:solidFill>
                <a:latin typeface="OHIOUC+Cambria Math"/>
                <a:cs typeface="OHIOUC+Cambria Math"/>
              </a:rPr>
              <a:t>2</a:t>
            </a:r>
            <a:r>
              <a:rPr sz="2400" spc="11" dirty="0">
                <a:solidFill>
                  <a:srgbClr val="000000"/>
                </a:solidFill>
                <a:latin typeface="PLNGGG+Cambria Math"/>
                <a:cs typeface="PLNGGG+Cambria Math"/>
              </a:rPr>
              <a:t>ꢅꢅ</a:t>
            </a:r>
            <a:r>
              <a:rPr sz="2400" spc="-18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30" dirty="0">
                <a:solidFill>
                  <a:srgbClr val="000000"/>
                </a:solidFill>
                <a:latin typeface="PLNGGG+Cambria Math"/>
                <a:cs typeface="PLNGGG+Cambria Math"/>
              </a:rPr>
              <a:t>+ꢅ</a:t>
            </a:r>
            <a:r>
              <a:rPr sz="2400" spc="-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35" dirty="0">
                <a:solidFill>
                  <a:srgbClr val="000000"/>
                </a:solidFill>
                <a:latin typeface="PLNGGG+Cambria Math"/>
                <a:cs typeface="PLNGGG+Cambria Math"/>
              </a:rPr>
              <a:t>+Var</a:t>
            </a:r>
            <a:r>
              <a:rPr sz="2400" spc="-6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2" dirty="0">
                <a:solidFill>
                  <a:srgbClr val="000000"/>
                </a:solidFill>
                <a:latin typeface="PLNGGG+Cambria Math"/>
                <a:cs typeface="PLNGGG+Cambria Math"/>
              </a:rPr>
              <a:t>ꢃ|ꢟ</a:t>
            </a:r>
          </a:p>
          <a:p>
            <a:pPr marL="148717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∗</a:t>
            </a:r>
            <a:r>
              <a:rPr sz="1750" spc="30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∗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966841" y="5659000"/>
            <a:ext cx="279159" cy="257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599305" y="5703749"/>
            <a:ext cx="2839751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417" dirty="0">
                <a:solidFill>
                  <a:srgbClr val="000000"/>
                </a:solidFill>
                <a:latin typeface="PLNGGG+Cambria Math"/>
                <a:cs typeface="PLNGGG+Cambria Math"/>
              </a:rPr>
              <a:t>=(ꢅ−ꢅ)</a:t>
            </a:r>
            <a:r>
              <a:rPr sz="2400" spc="-7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+Var</a:t>
            </a:r>
            <a:r>
              <a:rPr sz="2400" spc="-59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2" dirty="0">
                <a:solidFill>
                  <a:srgbClr val="000000"/>
                </a:solidFill>
                <a:latin typeface="PLNGGG+Cambria Math"/>
                <a:cs typeface="PLNGGG+Cambria Math"/>
              </a:rPr>
              <a:t>ꢃ|ꢟ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719064" y="5832743"/>
            <a:ext cx="258346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∗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03438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Bayes</a:t>
            </a:r>
            <a:r>
              <a:rPr sz="3250" spc="-1274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Optimality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30801" y="1322909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88760" y="1322909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10965" y="1367906"/>
            <a:ext cx="4650010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ꢠ</a:t>
            </a:r>
            <a:r>
              <a:rPr sz="2400" spc="39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49" dirty="0">
                <a:solidFill>
                  <a:srgbClr val="000000"/>
                </a:solidFill>
                <a:latin typeface="PLNGGG+Cambria Math"/>
                <a:cs typeface="PLNGGG+Cambria Math"/>
              </a:rPr>
              <a:t>ꢅ−ꢃ</a:t>
            </a:r>
            <a:r>
              <a:rPr sz="2400" spc="9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ꢟ</a:t>
            </a:r>
            <a:r>
              <a:rPr sz="24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417" dirty="0">
                <a:solidFill>
                  <a:srgbClr val="000000"/>
                </a:solidFill>
                <a:latin typeface="PLNGGG+Cambria Math"/>
                <a:cs typeface="PLNGGG+Cambria Math"/>
              </a:rPr>
              <a:t>=(ꢅ−ꢅ)</a:t>
            </a:r>
            <a:r>
              <a:rPr sz="2400" spc="-73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LNGGG+Cambria Math"/>
                <a:cs typeface="PLNGGG+Cambria Math"/>
              </a:rPr>
              <a:t>+Var</a:t>
            </a:r>
            <a:r>
              <a:rPr sz="2400" spc="-6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2" dirty="0">
                <a:solidFill>
                  <a:srgbClr val="000000"/>
                </a:solidFill>
                <a:latin typeface="PLNGGG+Cambria Math"/>
                <a:cs typeface="PLNGGG+Cambria Math"/>
              </a:rPr>
              <a:t>ꢃ|ꢟ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40729" y="1497026"/>
            <a:ext cx="258346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PLNGGG+Cambria Math"/>
                <a:cs typeface="PLNGGG+Cambria Math"/>
              </a:rPr>
              <a:t>∗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4007" y="2077443"/>
            <a:ext cx="11195696" cy="1125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3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first</a:t>
            </a:r>
            <a:r>
              <a:rPr sz="2400" spc="-7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term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nonnegative,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 can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be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made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0</a:t>
            </a:r>
            <a:r>
              <a:rPr sz="2400" spc="-3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by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setting</a:t>
            </a:r>
            <a:r>
              <a:rPr sz="2400" spc="8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456" dirty="0">
                <a:solidFill>
                  <a:srgbClr val="000000"/>
                </a:solidFill>
                <a:latin typeface="PLNGGG+Cambria Math"/>
                <a:cs typeface="PLNGGG+Cambria Math"/>
              </a:rPr>
              <a:t>ꢅ=ꢅ</a:t>
            </a:r>
            <a:r>
              <a:rPr sz="2550" spc="129" baseline="-20499" dirty="0">
                <a:solidFill>
                  <a:srgbClr val="000000"/>
                </a:solidFill>
                <a:latin typeface="PLNGGG+Cambria Math"/>
                <a:cs typeface="PLNGGG+Cambria Math"/>
              </a:rPr>
              <a:t>∗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3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second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term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corresponds</a:t>
            </a:r>
            <a:r>
              <a:rPr sz="2400" spc="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inherent unpredictability,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or</a:t>
            </a:r>
            <a:r>
              <a:rPr sz="2400" spc="6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noise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,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targets,</a:t>
            </a:r>
          </a:p>
          <a:p>
            <a:pPr marL="343217" marR="0">
              <a:lnSpc>
                <a:spcPts val="2405"/>
              </a:lnSpc>
              <a:spcBef>
                <a:spcPts val="52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and </a:t>
            </a:r>
            <a:r>
              <a:rPr sz="2400" spc="46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-10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called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6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Bayes</a:t>
            </a:r>
            <a:r>
              <a:rPr sz="2400" spc="21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error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8175" y="3373765"/>
            <a:ext cx="10554139" cy="1129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This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best</a:t>
            </a:r>
            <a:r>
              <a:rPr sz="2400" spc="-8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can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ever</a:t>
            </a:r>
            <a:r>
              <a:rPr sz="2400" spc="-3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hope</a:t>
            </a:r>
            <a:r>
              <a:rPr sz="2400" spc="-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51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4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do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with any</a:t>
            </a:r>
            <a:r>
              <a:rPr sz="2400" spc="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learning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algorithm.</a:t>
            </a:r>
            <a:r>
              <a:rPr sz="2400" spc="-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37" dirty="0">
                <a:solidFill>
                  <a:srgbClr val="000000"/>
                </a:solidFill>
                <a:latin typeface="DHSVHP+Calibri"/>
                <a:cs typeface="DHSVHP+Calibri"/>
              </a:rPr>
              <a:t>An</a:t>
            </a:r>
            <a:r>
              <a:rPr sz="2400" spc="-3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algorithm</a:t>
            </a:r>
          </a:p>
          <a:p>
            <a:pPr marL="342900" marR="0">
              <a:lnSpc>
                <a:spcPts val="2402"/>
              </a:lnSpc>
              <a:spcBef>
                <a:spcPts val="4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that achieves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it</a:t>
            </a:r>
            <a:r>
              <a:rPr sz="2400" spc="2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Bayes</a:t>
            </a:r>
            <a:r>
              <a:rPr sz="2400" spc="25" dirty="0">
                <a:solidFill>
                  <a:srgbClr val="0B44E4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optimal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  <a:p>
            <a:pPr marL="0" marR="0">
              <a:lnSpc>
                <a:spcPts val="2927"/>
              </a:lnSpc>
              <a:spcBef>
                <a:spcPts val="86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Notice that this</a:t>
            </a:r>
            <a:r>
              <a:rPr sz="2400" spc="-57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term doesn’t depend on</a:t>
            </a:r>
            <a:r>
              <a:rPr sz="2400" spc="-25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35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4007" y="4643097"/>
            <a:ext cx="10811776" cy="425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This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process</a:t>
            </a:r>
            <a:r>
              <a:rPr sz="2400" spc="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choosing</a:t>
            </a:r>
            <a:r>
              <a:rPr sz="2400" spc="-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single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value</a:t>
            </a:r>
            <a:r>
              <a:rPr sz="2400" spc="10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6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650" baseline="-20541" dirty="0">
                <a:solidFill>
                  <a:srgbClr val="000000"/>
                </a:solidFill>
                <a:latin typeface="PLNGGG+Cambria Math"/>
                <a:cs typeface="PLNGGG+Cambria Math"/>
              </a:rPr>
              <a:t>∗</a:t>
            </a:r>
            <a:r>
              <a:rPr sz="2650" spc="-947" baseline="-205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based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on</a:t>
            </a:r>
            <a:r>
              <a:rPr sz="2400" spc="-2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PLNGGG+Cambria Math"/>
                <a:cs typeface="PLNGGG+Cambria Math"/>
              </a:rPr>
              <a:t>ꢆ(ꢃ|ꢟ)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an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example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spc="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decision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7225" y="5053473"/>
            <a:ext cx="1049209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theory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03438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Bayes</a:t>
            </a:r>
            <a:r>
              <a:rPr sz="3250" spc="-1274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Optimality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123960"/>
            <a:ext cx="11461533" cy="1125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Now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DHSVHP+Calibri"/>
                <a:cs typeface="DHSVHP+Calibri"/>
              </a:rPr>
              <a:t>return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treating</a:t>
            </a:r>
            <a:r>
              <a:rPr sz="2400" spc="2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575" dirty="0">
                <a:solidFill>
                  <a:srgbClr val="000000"/>
                </a:solidFill>
                <a:latin typeface="PLNGGG+Cambria Math"/>
                <a:cs typeface="PLNGGG+Cambria Math"/>
              </a:rPr>
              <a:t>ꢅ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as</a:t>
            </a:r>
            <a:r>
              <a:rPr sz="2400" spc="4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random</a:t>
            </a:r>
            <a:r>
              <a:rPr sz="2400" spc="-5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variable</a:t>
            </a:r>
            <a:r>
              <a:rPr sz="2400" spc="-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(where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randomness</a:t>
            </a:r>
            <a:r>
              <a:rPr sz="2400" spc="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comes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9" dirty="0">
                <a:solidFill>
                  <a:srgbClr val="000000"/>
                </a:solidFill>
                <a:latin typeface="DHSVHP+Calibri"/>
                <a:cs typeface="DHSVHP+Calibri"/>
              </a:rPr>
              <a:t>fr</a:t>
            </a:r>
            <a:r>
              <a:rPr sz="2400" spc="-48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33" dirty="0">
                <a:solidFill>
                  <a:srgbClr val="000000"/>
                </a:solidFill>
                <a:latin typeface="DHSVHP+Calibri"/>
                <a:cs typeface="DHSVHP+Calibri"/>
              </a:rPr>
              <a:t>om</a:t>
            </a:r>
            <a:r>
              <a:rPr sz="2400" spc="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</a:p>
          <a:p>
            <a:pPr marL="343217" marR="0">
              <a:lnSpc>
                <a:spcPts val="2402"/>
              </a:lnSpc>
              <a:spcBef>
                <a:spcPts val="4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choice of dataset).</a:t>
            </a:r>
          </a:p>
          <a:p>
            <a:pPr marL="0" marR="0">
              <a:lnSpc>
                <a:spcPts val="2686"/>
              </a:lnSpc>
              <a:spcBef>
                <a:spcPts val="15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can</a:t>
            </a:r>
            <a:r>
              <a:rPr sz="2400" spc="-1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decompose</a:t>
            </a:r>
            <a:r>
              <a:rPr sz="2400" spc="6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out</a:t>
            </a:r>
            <a:r>
              <a:rPr sz="2400" spc="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expected </a:t>
            </a:r>
            <a:r>
              <a:rPr sz="2400" spc="-20" dirty="0">
                <a:solidFill>
                  <a:srgbClr val="000000"/>
                </a:solidFill>
                <a:latin typeface="DHSVHP+Calibri"/>
                <a:cs typeface="DHSVHP+Calibri"/>
              </a:rPr>
              <a:t>loss</a:t>
            </a:r>
            <a:r>
              <a:rPr sz="2400" spc="3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(suppressing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conditioning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on</a:t>
            </a:r>
            <a:r>
              <a:rPr sz="2400" spc="24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651" dirty="0">
                <a:solidFill>
                  <a:srgbClr val="000000"/>
                </a:solidFill>
                <a:latin typeface="PLNGGG+Cambria Math"/>
                <a:cs typeface="PLNGGG+Cambria Math"/>
              </a:rPr>
              <a:t>ꢟ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for</a:t>
            </a:r>
            <a:r>
              <a:rPr sz="2400" spc="-4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clarity):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03438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Bayes</a:t>
            </a:r>
            <a:r>
              <a:rPr sz="3250" spc="-1274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UWTVVI+Calibri-Bold"/>
                <a:cs typeface="UWTVVI+Calibri-Bold"/>
              </a:rPr>
              <a:t>Optimality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757" y="3095381"/>
            <a:ext cx="6430330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just split</a:t>
            </a:r>
            <a:r>
              <a:rPr sz="2400" spc="-7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expected loss</a:t>
            </a:r>
            <a:r>
              <a:rPr sz="2400" spc="-6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into</a:t>
            </a:r>
            <a:r>
              <a:rPr sz="2400" spc="-1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three</a:t>
            </a:r>
            <a:r>
              <a:rPr sz="2400" spc="-1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terms: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1375" y="3681740"/>
            <a:ext cx="10490791" cy="1123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bias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:</a:t>
            </a:r>
            <a:r>
              <a:rPr sz="2400" spc="1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how</a:t>
            </a:r>
            <a:r>
              <a:rPr sz="2400" spc="1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wrong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expected prediction </a:t>
            </a:r>
            <a:r>
              <a:rPr sz="2400" spc="46" dirty="0">
                <a:solidFill>
                  <a:srgbClr val="000000"/>
                </a:solidFill>
                <a:latin typeface="DHSVHP+Calibri"/>
                <a:cs typeface="DHSVHP+Calibri"/>
              </a:rPr>
              <a:t>is</a:t>
            </a:r>
            <a:r>
              <a:rPr sz="2400" spc="-10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(corresponds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3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underfitting)</a:t>
            </a:r>
          </a:p>
          <a:p>
            <a:pPr marL="0" marR="0">
              <a:lnSpc>
                <a:spcPts val="2666"/>
              </a:lnSpc>
              <a:spcBef>
                <a:spcPts val="44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B44E4"/>
                </a:solidFill>
                <a:latin typeface="DHSVHP+Calibri"/>
                <a:cs typeface="DHSVHP+Calibri"/>
              </a:rPr>
              <a:t>variance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: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DHSVHP+Calibri"/>
                <a:cs typeface="DHSVHP+Calibri"/>
              </a:rPr>
              <a:t>amount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62" dirty="0">
                <a:solidFill>
                  <a:srgbClr val="000000"/>
                </a:solidFill>
                <a:latin typeface="DHSVHP+Calibri"/>
                <a:cs typeface="DHSVHP+Calibri"/>
              </a:rPr>
              <a:t>of</a:t>
            </a:r>
            <a:r>
              <a:rPr sz="2400" spc="6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variability</a:t>
            </a:r>
            <a:r>
              <a:rPr sz="2400" spc="-5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50" dirty="0">
                <a:solidFill>
                  <a:srgbClr val="000000"/>
                </a:solidFill>
                <a:latin typeface="DHSVHP+Calibri"/>
                <a:cs typeface="DHSVHP+Calibri"/>
              </a:rPr>
              <a:t>in</a:t>
            </a:r>
            <a:r>
              <a:rPr sz="2400" spc="-4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1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predictions</a:t>
            </a:r>
            <a:r>
              <a:rPr sz="2400" spc="-5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(corresponds</a:t>
            </a:r>
            <a:r>
              <a:rPr sz="2400" spc="2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DHSVHP+Calibri"/>
                <a:cs typeface="DHSVHP+Calibri"/>
              </a:rPr>
              <a:t>to</a:t>
            </a:r>
            <a:r>
              <a:rPr sz="2400" spc="-24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overfitting)</a:t>
            </a:r>
          </a:p>
          <a:p>
            <a:pPr marL="0" marR="0">
              <a:lnSpc>
                <a:spcPts val="2669"/>
              </a:lnSpc>
              <a:spcBef>
                <a:spcPts val="165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Bayes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error:</a:t>
            </a:r>
            <a:r>
              <a:rPr sz="2400" spc="1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spc="8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inherent</a:t>
            </a:r>
            <a:r>
              <a:rPr sz="2400" spc="-73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unpredictability</a:t>
            </a:r>
            <a:r>
              <a:rPr sz="2400" spc="1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targets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2757" y="4912292"/>
            <a:ext cx="10748625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Even though this</a:t>
            </a:r>
            <a:r>
              <a:rPr sz="2400" spc="1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analysis</a:t>
            </a:r>
            <a:r>
              <a:rPr sz="2400" spc="20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only</a:t>
            </a:r>
            <a:r>
              <a:rPr sz="2400" spc="-51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applies</a:t>
            </a:r>
            <a:r>
              <a:rPr sz="2400" spc="17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VCNWLL+Calibri"/>
                <a:cs typeface="VCNWLL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squared error,</a:t>
            </a:r>
            <a:r>
              <a:rPr sz="2400" spc="60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63" dirty="0">
                <a:solidFill>
                  <a:srgbClr val="000000"/>
                </a:solidFill>
                <a:latin typeface="VCNWLL+Calibri"/>
                <a:cs typeface="VCNWLL+Calibri"/>
              </a:rPr>
              <a:t>we</a:t>
            </a:r>
            <a:r>
              <a:rPr sz="2400" spc="123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often loosely</a:t>
            </a:r>
            <a:r>
              <a:rPr sz="2400" spc="-54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23" dirty="0">
                <a:solidFill>
                  <a:srgbClr val="000000"/>
                </a:solidFill>
                <a:latin typeface="VCNWLL+Calibri"/>
                <a:cs typeface="VCNWLL+Calibri"/>
              </a:rPr>
              <a:t>use</a:t>
            </a:r>
            <a:r>
              <a:rPr sz="2400" spc="-35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“bias”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5975" y="5274320"/>
            <a:ext cx="8077962" cy="410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and “variance”</a:t>
            </a:r>
            <a:r>
              <a:rPr sz="2400" spc="-51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VCNWLL+Calibri"/>
                <a:cs typeface="VCNWLL+Calibri"/>
              </a:rPr>
              <a:t>as</a:t>
            </a:r>
            <a:r>
              <a:rPr sz="2400" spc="39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synonyms</a:t>
            </a:r>
            <a:r>
              <a:rPr sz="2400" spc="-61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VCNWLL+Calibri"/>
                <a:cs typeface="VCNWLL+Calibri"/>
              </a:rPr>
              <a:t>for</a:t>
            </a:r>
            <a:r>
              <a:rPr sz="2400" spc="-41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“underfitting”</a:t>
            </a:r>
            <a:r>
              <a:rPr sz="2400" spc="-49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spc="30" dirty="0">
                <a:solidFill>
                  <a:srgbClr val="000000"/>
                </a:solidFill>
                <a:latin typeface="VCNWLL+Calibri"/>
                <a:cs typeface="VCNWLL+Calibri"/>
              </a:rPr>
              <a:t>and</a:t>
            </a:r>
            <a:r>
              <a:rPr sz="2400" spc="-37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“overfitting”.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143002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dirty="0">
                <a:solidFill>
                  <a:srgbClr val="001F5F"/>
                </a:solidFill>
                <a:latin typeface="UWTVVI+Calibri-Bold"/>
                <a:cs typeface="UWTVVI+Calibri-Bold"/>
              </a:rPr>
              <a:t>Bias</a:t>
            </a:r>
            <a:r>
              <a:rPr sz="3250" spc="-1284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UWTVVI+Calibri-Bold"/>
                <a:cs typeface="UWTVVI+Calibri-Bold"/>
              </a:rPr>
              <a:t>and</a:t>
            </a:r>
            <a:r>
              <a:rPr sz="3250" spc="-1207" dirty="0">
                <a:solidFill>
                  <a:srgbClr val="001F5F"/>
                </a:solidFill>
                <a:latin typeface="UWTVVI+Calibri-Bold"/>
                <a:cs typeface="UWTVVI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UWTVVI+Calibri-Bold"/>
                <a:cs typeface="UWTVVI+Calibri-Bold"/>
              </a:rPr>
              <a:t>Variance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5692" y="1022360"/>
            <a:ext cx="7353732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Throwing</a:t>
            </a:r>
            <a:r>
              <a:rPr sz="2400" spc="-2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darts</a:t>
            </a:r>
            <a:r>
              <a:rPr sz="2400" spc="-5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=</a:t>
            </a:r>
            <a:r>
              <a:rPr sz="2400" spc="5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predictions</a:t>
            </a:r>
            <a:r>
              <a:rPr sz="2400" spc="21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for</a:t>
            </a:r>
            <a:r>
              <a:rPr sz="2400" spc="6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DHSVHP+Calibri"/>
                <a:cs typeface="DHSVHP+Calibri"/>
              </a:rPr>
              <a:t>each</a:t>
            </a:r>
            <a:r>
              <a:rPr sz="2400" spc="1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DHSVHP+Calibri"/>
                <a:cs typeface="DHSVHP+Calibri"/>
              </a:rPr>
              <a:t>draw</a:t>
            </a:r>
            <a:r>
              <a:rPr sz="2400" spc="-25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of a</a:t>
            </a:r>
            <a:r>
              <a:rPr sz="2400" spc="-42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dataset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5692" y="5767081"/>
            <a:ext cx="5183853" cy="410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CQREI+Arial"/>
                <a:cs typeface="DCQR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31" dirty="0">
                <a:solidFill>
                  <a:srgbClr val="000000"/>
                </a:solidFill>
                <a:latin typeface="VCNWLL+Calibri"/>
                <a:cs typeface="VCNWLL+Calibri"/>
              </a:rPr>
              <a:t>Be</a:t>
            </a:r>
            <a:r>
              <a:rPr sz="2400" spc="91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careful,</a:t>
            </a:r>
            <a:r>
              <a:rPr sz="2400" spc="-16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what doesn’t</a:t>
            </a:r>
            <a:r>
              <a:rPr sz="2400" spc="-74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this</a:t>
            </a:r>
            <a:r>
              <a:rPr sz="2400" spc="14" dirty="0">
                <a:solidFill>
                  <a:srgbClr val="000000"/>
                </a:solidFill>
                <a:latin typeface="VCNWLL+Calibri"/>
                <a:cs typeface="VCNWL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CNWLL+Calibri"/>
                <a:cs typeface="VCNWLL+Calibri"/>
              </a:rPr>
              <a:t>capture?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40180" y="6244950"/>
            <a:ext cx="6995734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BUHCII+Wingdings"/>
                <a:cs typeface="BUHCII+Wingdings"/>
              </a:rPr>
              <a:t>➢</a:t>
            </a:r>
            <a:r>
              <a:rPr sz="2400" spc="37" dirty="0">
                <a:solidFill>
                  <a:srgbClr val="000000"/>
                </a:solidFill>
                <a:latin typeface="DHSVHP+Calibri"/>
                <a:cs typeface="DHSVHP+Calibri"/>
              </a:rPr>
              <a:t>We</a:t>
            </a:r>
            <a:r>
              <a:rPr sz="2400" spc="-48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average</a:t>
            </a:r>
            <a:r>
              <a:rPr sz="2400" spc="-16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DHSVHP+Calibri"/>
                <a:cs typeface="DHSVHP+Calibri"/>
              </a:rPr>
              <a:t>over</a:t>
            </a:r>
            <a:r>
              <a:rPr sz="2400" spc="-40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points</a:t>
            </a:r>
            <a:r>
              <a:rPr sz="2400" spc="27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x from </a:t>
            </a:r>
            <a:r>
              <a:rPr sz="2400" spc="-21" dirty="0">
                <a:solidFill>
                  <a:srgbClr val="000000"/>
                </a:solidFill>
                <a:latin typeface="DHSVHP+Calibri"/>
                <a:cs typeface="DHSVHP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 data</a:t>
            </a:r>
            <a:r>
              <a:rPr sz="2400" spc="29" dirty="0">
                <a:solidFill>
                  <a:srgbClr val="000000"/>
                </a:solidFill>
                <a:latin typeface="DHSVHP+Calibri"/>
                <a:cs typeface="DHSVH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HSVHP+Calibri"/>
                <a:cs typeface="DHSVHP+Calibri"/>
              </a:rPr>
              <a:t>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3908</Words>
  <Application>Microsoft Office PowerPoint</Application>
  <PresentationFormat>宽屏</PresentationFormat>
  <Paragraphs>622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71" baseType="lpstr">
      <vt:lpstr>BCHHUO+PingFangSC-Semibold</vt:lpstr>
      <vt:lpstr>EMCSPQ+TimesNewRomanPSMT</vt:lpstr>
      <vt:lpstr>AQTIUB+Calibri-Italic</vt:lpstr>
      <vt:lpstr>OHIOUC+Cambria Math</vt:lpstr>
      <vt:lpstr>Liberation Mono</vt:lpstr>
      <vt:lpstr>PLNGGG+Cambria Math</vt:lpstr>
      <vt:lpstr>TWPBED+STIXTwoMath-Regular</vt:lpstr>
      <vt:lpstr>DHSVHP+Calibri</vt:lpstr>
      <vt:lpstr>DDLMID+ArialMT</vt:lpstr>
      <vt:lpstr>CFIBUC+ZapfDingbatsITC</vt:lpstr>
      <vt:lpstr>EQAMVT+Calibri Bold</vt:lpstr>
      <vt:lpstr>BUHCII+Wingdings</vt:lpstr>
      <vt:lpstr>FSSNHE+Cambria Math</vt:lpstr>
      <vt:lpstr>JSVSMR+PingFangSC-Regular</vt:lpstr>
      <vt:lpstr>UWTVVI+Calibri-Bold</vt:lpstr>
      <vt:lpstr>DCQREI+Arial</vt:lpstr>
      <vt:lpstr>VCNWLL+Calibri</vt:lpstr>
      <vt:lpstr>Calibri</vt:lpstr>
      <vt:lpstr>NOJCOO+TimesNewRomanPS-BoldMT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bae</dc:creator>
  <cp:lastModifiedBy>Huang Junhao</cp:lastModifiedBy>
  <cp:revision>3</cp:revision>
  <cp:lastPrinted>2025-12-21T11:38:52Z</cp:lastPrinted>
  <dcterms:modified xsi:type="dcterms:W3CDTF">2025-12-21T11:39:53Z</dcterms:modified>
</cp:coreProperties>
</file>