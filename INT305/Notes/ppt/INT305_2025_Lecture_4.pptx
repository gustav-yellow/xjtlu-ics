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0693400" cy="7556500"/>
  <p:notesSz cx="10693400" cy="7556500"/>
  <p:embeddedFontLst>
    <p:embeddedFont>
      <p:font typeface="AHFHDK+Arial-BoldMT" panose="02010600030101010101"/>
      <p:regular r:id="rId46"/>
    </p:embeddedFont>
    <p:embeddedFont>
      <p:font typeface="ANILNA+Arial-BoldMT" panose="02010600030101010101"/>
      <p:regular r:id="rId47"/>
    </p:embeddedFont>
    <p:embeddedFont>
      <p:font typeface="CERFWG+CambriaMath" panose="02010600030101010101"/>
      <p:regular r:id="rId48"/>
    </p:embeddedFont>
    <p:embeddedFont>
      <p:font typeface="DMSAQJ+Wingdings-Regular" panose="02010600030101010101"/>
      <p:regular r:id="rId49"/>
    </p:embeddedFont>
    <p:embeddedFont>
      <p:font typeface="DTHPWB+ArialMT" panose="02010600030101010101"/>
      <p:regular r:id="rId50"/>
    </p:embeddedFont>
    <p:embeddedFont>
      <p:font typeface="EQCBNE+CambriaMath" panose="02010600030101010101"/>
      <p:regular r:id="rId51"/>
    </p:embeddedFont>
    <p:embeddedFont>
      <p:font typeface="FNVHEI+CambriaMath" panose="02010600030101010101"/>
      <p:regular r:id="rId52"/>
    </p:embeddedFont>
    <p:embeddedFont>
      <p:font typeface="GRFUIK+CambriaMath" panose="02010600030101010101"/>
      <p:regular r:id="rId53"/>
    </p:embeddedFont>
    <p:embeddedFont>
      <p:font typeface="HUPJPL+Calibri" panose="02010600030101010101"/>
      <p:regular r:id="rId54"/>
    </p:embeddedFont>
    <p:embeddedFont>
      <p:font typeface="INVMFN+Calibri-Bold" panose="02010600030101010101"/>
      <p:regular r:id="rId55"/>
    </p:embeddedFont>
    <p:embeddedFont>
      <p:font typeface="ISSUEC+CambriaMath" panose="02010600030101010101"/>
      <p:regular r:id="rId56"/>
    </p:embeddedFont>
    <p:embeddedFont>
      <p:font typeface="JNHPGS+CambriaMath" panose="02010600030101010101"/>
      <p:regular r:id="rId57"/>
    </p:embeddedFont>
    <p:embeddedFont>
      <p:font typeface="JPMJFC+CambriaMath" panose="02010600030101010101"/>
      <p:regular r:id="rId58"/>
    </p:embeddedFont>
    <p:embeddedFont>
      <p:font typeface="KEFDLT+CambriaMath" panose="02010600030101010101"/>
      <p:regular r:id="rId59"/>
    </p:embeddedFont>
    <p:embeddedFont>
      <p:font typeface="KIMNGM+CambriaMath" panose="02010600030101010101"/>
      <p:regular r:id="rId60"/>
    </p:embeddedFont>
    <p:embeddedFont>
      <p:font typeface="KMSMAF+Calibri" panose="02010600030101010101"/>
      <p:regular r:id="rId61"/>
    </p:embeddedFont>
    <p:embeddedFont>
      <p:font typeface="KQAJPA+MicrosoftYaHei" panose="02010600030101010101"/>
      <p:regular r:id="rId62"/>
    </p:embeddedFont>
    <p:embeddedFont>
      <p:font typeface="Liberation Mono" panose="02010600030101010101" charset="0"/>
      <p:regular r:id="rId63"/>
    </p:embeddedFont>
    <p:embeddedFont>
      <p:font typeface="MCQHDK+Calibri-Bold" panose="02010600030101010101"/>
      <p:regular r:id="rId64"/>
    </p:embeddedFont>
    <p:embeddedFont>
      <p:font typeface="OMEKND+ArialMT" panose="02010600030101010101"/>
      <p:regular r:id="rId65"/>
    </p:embeddedFont>
    <p:embeddedFont>
      <p:font typeface="QHFJQJ+ArialMT" panose="02010600030101010101"/>
      <p:regular r:id="rId66"/>
    </p:embeddedFont>
    <p:embeddedFont>
      <p:font typeface="SLFULE+Wingdings-Regular" panose="02010600030101010101"/>
      <p:regular r:id="rId67"/>
    </p:embeddedFont>
    <p:embeddedFont>
      <p:font typeface="STPCDR+Calibri-Bold" panose="02010600030101010101"/>
      <p:regular r:id="rId68"/>
    </p:embeddedFont>
    <p:embeddedFont>
      <p:font typeface="TMTHJR+Calibri-Bold" panose="02010600030101010101"/>
      <p:regular r:id="rId69"/>
    </p:embeddedFont>
    <p:embeddedFont>
      <p:font typeface="TNRPRU+Calibri" panose="02010600030101010101"/>
      <p:regular r:id="rId70"/>
    </p:embeddedFont>
    <p:embeddedFont>
      <p:font typeface="UGGSCC+Calibri" panose="02010600030101010101"/>
      <p:regular r:id="rId71"/>
    </p:embeddedFont>
    <p:embeddedFont>
      <p:font typeface="WNLJRU+Calibri" panose="02010600030101010101"/>
      <p:regular r:id="rId7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892" y="6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63" Type="http://schemas.openxmlformats.org/officeDocument/2006/relationships/font" Target="fonts/font18.fntdata"/><Relationship Id="rId68" Type="http://schemas.openxmlformats.org/officeDocument/2006/relationships/font" Target="fonts/font2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66" Type="http://schemas.openxmlformats.org/officeDocument/2006/relationships/font" Target="fonts/font21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font" Target="fonts/font19.fntdata"/><Relationship Id="rId69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72" Type="http://schemas.openxmlformats.org/officeDocument/2006/relationships/font" Target="fonts/font2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67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font" Target="fonts/font17.fntdata"/><Relationship Id="rId70" Type="http://schemas.openxmlformats.org/officeDocument/2006/relationships/font" Target="fonts/font25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font" Target="fonts/font20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2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26" Type="http://schemas.openxmlformats.org/officeDocument/2006/relationships/image" Target="../media/image80.png"/><Relationship Id="rId3" Type="http://schemas.openxmlformats.org/officeDocument/2006/relationships/image" Target="../media/image57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Relationship Id="rId27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26" Type="http://schemas.openxmlformats.org/officeDocument/2006/relationships/image" Target="../media/image106.png"/><Relationship Id="rId3" Type="http://schemas.openxmlformats.org/officeDocument/2006/relationships/image" Target="../media/image83.png"/><Relationship Id="rId21" Type="http://schemas.openxmlformats.org/officeDocument/2006/relationships/image" Target="../media/image101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105.png"/><Relationship Id="rId2" Type="http://schemas.openxmlformats.org/officeDocument/2006/relationships/image" Target="../media/image82.png"/><Relationship Id="rId16" Type="http://schemas.openxmlformats.org/officeDocument/2006/relationships/image" Target="../media/image96.pn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24" Type="http://schemas.openxmlformats.org/officeDocument/2006/relationships/image" Target="../media/image104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23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10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" Type="http://schemas.openxmlformats.org/officeDocument/2006/relationships/image" Target="../media/image108.png"/><Relationship Id="rId16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18" Type="http://schemas.openxmlformats.org/officeDocument/2006/relationships/image" Target="../media/image164.png"/><Relationship Id="rId26" Type="http://schemas.openxmlformats.org/officeDocument/2006/relationships/image" Target="../media/image172.png"/><Relationship Id="rId3" Type="http://schemas.openxmlformats.org/officeDocument/2006/relationships/image" Target="../media/image149.png"/><Relationship Id="rId21" Type="http://schemas.openxmlformats.org/officeDocument/2006/relationships/image" Target="../media/image167.png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17" Type="http://schemas.openxmlformats.org/officeDocument/2006/relationships/image" Target="../media/image163.png"/><Relationship Id="rId25" Type="http://schemas.openxmlformats.org/officeDocument/2006/relationships/image" Target="../media/image171.png"/><Relationship Id="rId2" Type="http://schemas.openxmlformats.org/officeDocument/2006/relationships/image" Target="../media/image148.png"/><Relationship Id="rId16" Type="http://schemas.openxmlformats.org/officeDocument/2006/relationships/image" Target="../media/image162.png"/><Relationship Id="rId20" Type="http://schemas.openxmlformats.org/officeDocument/2006/relationships/image" Target="../media/image1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24" Type="http://schemas.openxmlformats.org/officeDocument/2006/relationships/image" Target="../media/image170.png"/><Relationship Id="rId5" Type="http://schemas.openxmlformats.org/officeDocument/2006/relationships/image" Target="../media/image151.png"/><Relationship Id="rId15" Type="http://schemas.openxmlformats.org/officeDocument/2006/relationships/image" Target="../media/image161.png"/><Relationship Id="rId23" Type="http://schemas.openxmlformats.org/officeDocument/2006/relationships/image" Target="../media/image169.png"/><Relationship Id="rId10" Type="http://schemas.openxmlformats.org/officeDocument/2006/relationships/image" Target="../media/image156.png"/><Relationship Id="rId19" Type="http://schemas.openxmlformats.org/officeDocument/2006/relationships/image" Target="../media/image165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Relationship Id="rId22" Type="http://schemas.openxmlformats.org/officeDocument/2006/relationships/image" Target="../media/image168.png"/><Relationship Id="rId27" Type="http://schemas.openxmlformats.org/officeDocument/2006/relationships/image" Target="../media/image17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7" Type="http://schemas.openxmlformats.org/officeDocument/2006/relationships/image" Target="../media/image179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37538" y="2644423"/>
            <a:ext cx="7222468" cy="1315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9695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F243E"/>
                </a:solidFill>
                <a:latin typeface="TMTHJR+Calibri-Bold"/>
                <a:cs typeface="TMTHJR+Calibri-Bold"/>
              </a:rPr>
              <a:t>INT305</a:t>
            </a:r>
            <a:r>
              <a:rPr sz="2500" spc="-354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F243E"/>
                </a:solidFill>
                <a:latin typeface="TMTHJR+Calibri-Bold"/>
                <a:cs typeface="TMTHJR+Calibri-Bold"/>
              </a:rPr>
              <a:t>Machine</a:t>
            </a:r>
            <a:r>
              <a:rPr sz="2500" spc="-926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spc="13" dirty="0">
                <a:solidFill>
                  <a:srgbClr val="0F243E"/>
                </a:solidFill>
                <a:latin typeface="TMTHJR+Calibri-Bold"/>
                <a:cs typeface="TMTHJR+Calibri-Bold"/>
              </a:rPr>
              <a:t>Learning</a:t>
            </a:r>
          </a:p>
          <a:p>
            <a:pPr marL="2921388" marR="0">
              <a:lnSpc>
                <a:spcPts val="3053"/>
              </a:lnSpc>
              <a:spcBef>
                <a:spcPts val="400"/>
              </a:spcBef>
              <a:spcAft>
                <a:spcPts val="0"/>
              </a:spcAft>
            </a:pPr>
            <a:r>
              <a:rPr sz="2500" spc="14" dirty="0">
                <a:solidFill>
                  <a:srgbClr val="0F243E"/>
                </a:solidFill>
                <a:latin typeface="TMTHJR+Calibri-Bold"/>
                <a:cs typeface="TMTHJR+Calibri-Bold"/>
              </a:rPr>
              <a:t>Lecture</a:t>
            </a:r>
            <a:r>
              <a:rPr sz="2500" spc="-923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dirty="0">
                <a:solidFill>
                  <a:srgbClr val="0F243E"/>
                </a:solidFill>
                <a:latin typeface="TMTHJR+Calibri-Bold"/>
                <a:cs typeface="TMTHJR+Calibri-Bold"/>
              </a:rPr>
              <a:t>4</a:t>
            </a:r>
          </a:p>
          <a:p>
            <a:pPr marL="0" marR="0">
              <a:lnSpc>
                <a:spcPts val="3053"/>
              </a:lnSpc>
              <a:spcBef>
                <a:spcPts val="400"/>
              </a:spcBef>
              <a:spcAft>
                <a:spcPts val="0"/>
              </a:spcAft>
            </a:pPr>
            <a:r>
              <a:rPr sz="2500" spc="15" dirty="0">
                <a:solidFill>
                  <a:srgbClr val="0F243E"/>
                </a:solidFill>
                <a:latin typeface="TMTHJR+Calibri-Bold"/>
                <a:cs typeface="TMTHJR+Calibri-Bold"/>
              </a:rPr>
              <a:t>Support</a:t>
            </a:r>
            <a:r>
              <a:rPr sz="2500" spc="-927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F243E"/>
                </a:solidFill>
                <a:latin typeface="TMTHJR+Calibri-Bold"/>
                <a:cs typeface="TMTHJR+Calibri-Bold"/>
              </a:rPr>
              <a:t>Vector</a:t>
            </a:r>
            <a:r>
              <a:rPr sz="2500" spc="-930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F243E"/>
                </a:solidFill>
                <a:latin typeface="TMTHJR+Calibri-Bold"/>
                <a:cs typeface="TMTHJR+Calibri-Bold"/>
              </a:rPr>
              <a:t>Machine,</a:t>
            </a:r>
            <a:r>
              <a:rPr sz="2500" spc="-933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F243E"/>
                </a:solidFill>
                <a:latin typeface="TMTHJR+Calibri-Bold"/>
                <a:cs typeface="TMTHJR+Calibri-Bold"/>
              </a:rPr>
              <a:t>SVM</a:t>
            </a:r>
            <a:r>
              <a:rPr sz="2500" spc="-909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spc="15" dirty="0">
                <a:solidFill>
                  <a:srgbClr val="0F243E"/>
                </a:solidFill>
                <a:latin typeface="TMTHJR+Calibri-Bold"/>
                <a:cs typeface="TMTHJR+Calibri-Bold"/>
              </a:rPr>
              <a:t>Loss</a:t>
            </a:r>
            <a:r>
              <a:rPr sz="2500" spc="-927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spc="13" dirty="0">
                <a:solidFill>
                  <a:srgbClr val="0F243E"/>
                </a:solidFill>
                <a:latin typeface="TMTHJR+Calibri-Bold"/>
                <a:cs typeface="TMTHJR+Calibri-Bold"/>
              </a:rPr>
              <a:t>and</a:t>
            </a:r>
            <a:r>
              <a:rPr sz="2500" spc="-925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F243E"/>
                </a:solidFill>
                <a:latin typeface="TMTHJR+Calibri-Bold"/>
                <a:cs typeface="TMTHJR+Calibri-Bold"/>
              </a:rPr>
              <a:t>Softmax</a:t>
            </a:r>
            <a:r>
              <a:rPr sz="2500" spc="-923" dirty="0">
                <a:solidFill>
                  <a:srgbClr val="0F243E"/>
                </a:solidFill>
                <a:latin typeface="TMTHJR+Calibri-Bold"/>
                <a:cs typeface="TMTHJR+Calibri-Bold"/>
              </a:rPr>
              <a:t> </a:t>
            </a:r>
            <a:r>
              <a:rPr sz="2500" spc="15" dirty="0">
                <a:solidFill>
                  <a:srgbClr val="0F243E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46117" y="4497236"/>
            <a:ext cx="3747627" cy="1128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3599" marR="0">
              <a:lnSpc>
                <a:spcPts val="2564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F243E"/>
                </a:solidFill>
                <a:latin typeface="STPCDR+Calibri-Bold"/>
                <a:cs typeface="STPCDR+Calibri-Bold"/>
              </a:rPr>
              <a:t>Sichen</a:t>
            </a:r>
            <a:r>
              <a:rPr sz="2100" spc="-786" dirty="0">
                <a:solidFill>
                  <a:srgbClr val="0F243E"/>
                </a:solidFill>
                <a:latin typeface="STPCDR+Calibri-Bold"/>
                <a:cs typeface="STPCDR+Calibri-Bold"/>
              </a:rPr>
              <a:t> </a:t>
            </a:r>
            <a:r>
              <a:rPr sz="2100" dirty="0">
                <a:solidFill>
                  <a:srgbClr val="0F243E"/>
                </a:solidFill>
                <a:latin typeface="STPCDR+Calibri-Bold"/>
                <a:cs typeface="STPCDR+Calibri-Bold"/>
              </a:rPr>
              <a:t>Liu</a:t>
            </a:r>
          </a:p>
          <a:p>
            <a:pPr marL="0" marR="0">
              <a:lnSpc>
                <a:spcPts val="2564"/>
              </a:lnSpc>
              <a:spcBef>
                <a:spcPts val="409"/>
              </a:spcBef>
              <a:spcAft>
                <a:spcPts val="0"/>
              </a:spcAft>
            </a:pPr>
            <a:r>
              <a:rPr sz="2100" dirty="0">
                <a:solidFill>
                  <a:srgbClr val="0F243E"/>
                </a:solidFill>
                <a:latin typeface="STPCDR+Calibri-Bold"/>
                <a:cs typeface="STPCDR+Calibri-Bold"/>
              </a:rPr>
              <a:t>Department</a:t>
            </a:r>
            <a:r>
              <a:rPr sz="2100" spc="-785" dirty="0">
                <a:solidFill>
                  <a:srgbClr val="0F243E"/>
                </a:solidFill>
                <a:latin typeface="STPCDR+Calibri-Bold"/>
                <a:cs typeface="STPCDR+Calibri-Bold"/>
              </a:rPr>
              <a:t> </a:t>
            </a:r>
            <a:r>
              <a:rPr sz="2100" dirty="0">
                <a:solidFill>
                  <a:srgbClr val="0F243E"/>
                </a:solidFill>
                <a:latin typeface="STPCDR+Calibri-Bold"/>
                <a:cs typeface="STPCDR+Calibri-Bold"/>
              </a:rPr>
              <a:t>Intelligence</a:t>
            </a:r>
            <a:r>
              <a:rPr sz="2100" spc="-784" dirty="0">
                <a:solidFill>
                  <a:srgbClr val="0F243E"/>
                </a:solidFill>
                <a:latin typeface="STPCDR+Calibri-Bold"/>
                <a:cs typeface="STPCDR+Calibri-Bold"/>
              </a:rPr>
              <a:t> </a:t>
            </a:r>
            <a:r>
              <a:rPr sz="2100" dirty="0">
                <a:solidFill>
                  <a:srgbClr val="0F243E"/>
                </a:solidFill>
                <a:latin typeface="STPCDR+Calibri-Bold"/>
                <a:cs typeface="STPCDR+Calibri-Bold"/>
              </a:rPr>
              <a:t>Science</a:t>
            </a:r>
          </a:p>
          <a:p>
            <a:pPr marL="491397" marR="0">
              <a:lnSpc>
                <a:spcPts val="2564"/>
              </a:lnSpc>
              <a:spcBef>
                <a:spcPts val="435"/>
              </a:spcBef>
              <a:spcAft>
                <a:spcPts val="0"/>
              </a:spcAft>
            </a:pPr>
            <a:r>
              <a:rPr sz="2100" dirty="0">
                <a:solidFill>
                  <a:srgbClr val="0F243E"/>
                </a:solidFill>
                <a:latin typeface="STPCDR+Calibri-Bold"/>
                <a:cs typeface="STPCDR+Calibri-Bold"/>
              </a:rPr>
              <a:t>Sichen.Liu@xjtlu.edu.cn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0" y="1196622"/>
            <a:ext cx="5445282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5" dirty="0">
                <a:solidFill>
                  <a:srgbClr val="002060"/>
                </a:solidFill>
                <a:latin typeface="WNLJRU+Calibri"/>
                <a:cs typeface="WNLJRU+Calibri"/>
              </a:rPr>
              <a:t>Binary</a:t>
            </a:r>
            <a:r>
              <a:rPr sz="2500" dirty="0">
                <a:solidFill>
                  <a:srgbClr val="002060"/>
                </a:solidFill>
                <a:latin typeface="WNLJRU+Calibri"/>
                <a:cs typeface="WNLJRU+Calibri"/>
              </a:rPr>
              <a:t> </a:t>
            </a:r>
            <a:r>
              <a:rPr sz="2500" spc="13" dirty="0">
                <a:solidFill>
                  <a:srgbClr val="002060"/>
                </a:solidFill>
                <a:latin typeface="WNLJRU+Calibri"/>
                <a:cs typeface="WNLJRU+Calibri"/>
              </a:rPr>
              <a:t>Classification</a:t>
            </a:r>
            <a:r>
              <a:rPr sz="2500" spc="16" dirty="0">
                <a:solidFill>
                  <a:srgbClr val="002060"/>
                </a:solidFill>
                <a:latin typeface="WNLJRU+Calibri"/>
                <a:cs typeface="WNLJRU+Calibri"/>
              </a:rPr>
              <a:t> </a:t>
            </a:r>
            <a:r>
              <a:rPr sz="2500" spc="15" dirty="0">
                <a:solidFill>
                  <a:srgbClr val="002060"/>
                </a:solidFill>
                <a:latin typeface="WNLJRU+Calibri"/>
                <a:cs typeface="WNLJRU+Calibri"/>
              </a:rPr>
              <a:t>with </a:t>
            </a:r>
            <a:r>
              <a:rPr sz="2500" dirty="0">
                <a:solidFill>
                  <a:srgbClr val="002060"/>
                </a:solidFill>
                <a:latin typeface="WNLJRU+Calibri"/>
                <a:cs typeface="WNLJRU+Calibri"/>
              </a:rPr>
              <a:t>a</a:t>
            </a:r>
            <a:r>
              <a:rPr sz="2500" spc="28" dirty="0">
                <a:solidFill>
                  <a:srgbClr val="002060"/>
                </a:solidFill>
                <a:latin typeface="WNLJRU+Calibri"/>
                <a:cs typeface="WNLJRU+Calibri"/>
              </a:rPr>
              <a:t> </a:t>
            </a:r>
            <a:r>
              <a:rPr sz="2500" spc="16" dirty="0">
                <a:solidFill>
                  <a:srgbClr val="002060"/>
                </a:solidFill>
                <a:latin typeface="WNLJRU+Calibri"/>
                <a:cs typeface="WNLJRU+Calibri"/>
              </a:rPr>
              <a:t>Linear</a:t>
            </a:r>
            <a:r>
              <a:rPr sz="2500" dirty="0">
                <a:solidFill>
                  <a:srgbClr val="002060"/>
                </a:solidFill>
                <a:latin typeface="WNLJRU+Calibri"/>
                <a:cs typeface="WNLJRU+Calibri"/>
              </a:rPr>
              <a:t> </a:t>
            </a:r>
            <a:r>
              <a:rPr sz="2500" spc="20" dirty="0">
                <a:solidFill>
                  <a:srgbClr val="002060"/>
                </a:solidFill>
                <a:latin typeface="WNLJRU+Calibri"/>
                <a:cs typeface="WNLJRU+Calibri"/>
              </a:rPr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875771"/>
            <a:ext cx="4900943" cy="905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Classification: Predict a discrete-valued target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Binary classification: Targets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-5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∈</a:t>
            </a:r>
            <a:r>
              <a:rPr sz="1900" spc="-6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2" dirty="0">
                <a:solidFill>
                  <a:srgbClr val="000000"/>
                </a:solidFill>
                <a:latin typeface="JPMJFC+CambriaMath"/>
                <a:cs typeface="JPMJFC+CambriaMath"/>
              </a:rPr>
              <a:t>{−1,+1}</a:t>
            </a:r>
          </a:p>
          <a:p>
            <a:pPr marL="0" marR="0"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Linear model: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62503" y="2875399"/>
            <a:ext cx="1351670" cy="766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362" dirty="0">
                <a:solidFill>
                  <a:srgbClr val="000000"/>
                </a:solidFill>
                <a:latin typeface="JPMJFC+CambriaMath"/>
                <a:cs typeface="JPMJFC+CambriaMath"/>
              </a:rPr>
              <a:t>ꢃ=ꢁ</a:t>
            </a:r>
            <a:r>
              <a:rPr sz="2100" spc="498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</a:p>
          <a:p>
            <a:pPr marL="452" marR="0">
              <a:lnSpc>
                <a:spcPts val="2228"/>
              </a:lnSpc>
              <a:spcBef>
                <a:spcPts val="1059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ꢄ</a:t>
            </a:r>
            <a:r>
              <a:rPr sz="1900" spc="-5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sign(ꢃ)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9156" y="4189203"/>
            <a:ext cx="4659550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Question: How should we choose </a:t>
            </a:r>
            <a:r>
              <a:rPr sz="1900" spc="423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and </a:t>
            </a:r>
            <a:r>
              <a:rPr sz="1900" spc="47" dirty="0">
                <a:solidFill>
                  <a:srgbClr val="000000"/>
                </a:solidFill>
                <a:latin typeface="JPMJFC+CambriaMath"/>
                <a:cs typeface="JPMJFC+CambriaMath"/>
              </a:rPr>
              <a:t>ꢂ?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101727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0" y="1196622"/>
            <a:ext cx="201343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LJRU+Calibri"/>
                <a:cs typeface="WNLJRU+Calibri"/>
              </a:rPr>
              <a:t>Zero-One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LJRU+Calibri"/>
                <a:cs typeface="WNLJRU+Calibri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845291"/>
            <a:ext cx="8974857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We can use the 0-1 loss function, and find the weights that minimize it over data points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76702" y="2458410"/>
            <a:ext cx="1344208" cy="619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0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1" dirty="0">
                <a:solidFill>
                  <a:srgbClr val="000000"/>
                </a:solidFill>
                <a:latin typeface="JPMJFC+CambriaMath"/>
                <a:cs typeface="JPMJFC+CambriaMath"/>
              </a:rPr>
              <a:t>ꢆꢇꢄ=ꢀ</a:t>
            </a:r>
          </a:p>
          <a:p>
            <a:pPr marL="0" marR="0">
              <a:lnSpc>
                <a:spcPts val="2228"/>
              </a:lnSpc>
              <a:spcBef>
                <a:spcPts val="17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1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1" dirty="0">
                <a:solidFill>
                  <a:srgbClr val="000000"/>
                </a:solidFill>
                <a:latin typeface="JPMJFC+CambriaMath"/>
                <a:cs typeface="JPMJFC+CambriaMath"/>
              </a:rPr>
              <a:t>ꢆꢇꢄ≠ꢀ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18144" y="2619954"/>
            <a:ext cx="1610938" cy="355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ꢅ</a:t>
            </a:r>
            <a:r>
              <a:rPr sz="210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$%&amp;</a:t>
            </a:r>
            <a:r>
              <a:rPr sz="2100" spc="27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14" dirty="0">
                <a:solidFill>
                  <a:srgbClr val="000000"/>
                </a:solidFill>
                <a:latin typeface="JPMJFC+CambriaMath"/>
                <a:cs typeface="JPMJFC+CambriaMath"/>
              </a:rPr>
              <a:t>ꢄ,ꢀ</a:t>
            </a:r>
            <a:r>
              <a:rPr sz="1900" spc="1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JPMJFC+CambriaMath"/>
                <a:cs typeface="JPMJFC+CambriaMath"/>
              </a:rPr>
              <a:t>=7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16578" y="3229554"/>
            <a:ext cx="1308609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23" dirty="0">
                <a:solidFill>
                  <a:srgbClr val="000000"/>
                </a:solidFill>
                <a:latin typeface="JPMJFC+CambriaMath"/>
                <a:cs typeface="JPMJFC+CambriaMath"/>
              </a:rPr>
              <a:t>=ꢈ</a:t>
            </a:r>
            <a:r>
              <a:rPr sz="1900" spc="-93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40" dirty="0">
                <a:solidFill>
                  <a:srgbClr val="000000"/>
                </a:solidFill>
                <a:latin typeface="JPMJFC+CambriaMath"/>
                <a:cs typeface="JPMJFC+CambriaMath"/>
              </a:rPr>
              <a:t>ꢄ≠ꢀ</a:t>
            </a:r>
            <a:r>
              <a:rPr sz="1900" spc="-89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9156" y="3588747"/>
            <a:ext cx="8619119" cy="1488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But minimizing this loss is computationally difficult, and it can’t distinguish different</a:t>
            </a:r>
          </a:p>
          <a:p>
            <a:pPr marL="271462" marR="0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hypotheses that achieve the same accuracy.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We investigated some other loss functions that are easier to minimize, e.g., logistic</a:t>
            </a:r>
          </a:p>
          <a:p>
            <a:pPr marL="271462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regression with the cross-entropy loss </a:t>
            </a:r>
            <a:r>
              <a:rPr sz="1900" spc="41" dirty="0">
                <a:solidFill>
                  <a:srgbClr val="000000"/>
                </a:solidFill>
                <a:latin typeface="JPMJFC+CambriaMath"/>
                <a:cs typeface="JPMJFC+CambriaMath"/>
              </a:rPr>
              <a:t>ℒ</a:t>
            </a:r>
            <a:r>
              <a:rPr sz="2100" spc="31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"#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</a:t>
            </a:r>
          </a:p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Let’s consider a different approach, starting from geometry of binary classifiers.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0" y="1196622"/>
            <a:ext cx="3267144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LJRU+Calibri"/>
                <a:cs typeface="WNLJRU+Calibri"/>
              </a:rPr>
              <a:t>Separating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Hyperplanes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7" y="2116563"/>
            <a:ext cx="8494805" cy="62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 we are given these data points from two different classes and want to find</a:t>
            </a:r>
            <a:r>
              <a:rPr sz="1900" spc="-16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</a:t>
            </a:r>
          </a:p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linear classifier that separates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0" y="1196622"/>
            <a:ext cx="3267144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LJRU+Calibri"/>
                <a:cs typeface="WNLJRU+Calibri"/>
              </a:rPr>
              <a:t>Separating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Hyperplanes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73203" y="4442071"/>
            <a:ext cx="1433039" cy="349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96" dirty="0">
                <a:solidFill>
                  <a:srgbClr val="000000"/>
                </a:solidFill>
                <a:latin typeface="JPMJFC+CambriaMath"/>
                <a:cs typeface="JPMJFC+CambriaMath"/>
              </a:rPr>
              <a:t>ꢂ+ꢍ</a:t>
            </a:r>
            <a:r>
              <a:rPr sz="2100" spc="77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900" spc="553" dirty="0">
                <a:solidFill>
                  <a:srgbClr val="000000"/>
                </a:solidFill>
                <a:latin typeface="JPMJFC+CambriaMath"/>
                <a:cs typeface="JPMJFC+CambriaMath"/>
              </a:rPr>
              <a:t>ꢌ=0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56" y="4917559"/>
            <a:ext cx="8704615" cy="3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decision boundary looks like a line because </a:t>
            </a:r>
            <a:r>
              <a:rPr sz="1900" spc="353" dirty="0">
                <a:solidFill>
                  <a:srgbClr val="000000"/>
                </a:solidFill>
                <a:latin typeface="JPMJFC+CambriaMath"/>
                <a:cs typeface="JPMJFC+CambriaMath"/>
              </a:rPr>
              <a:t>ꢉ∈ℝ</a:t>
            </a:r>
            <a:r>
              <a:rPr sz="2100" spc="7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  <a:r>
              <a:rPr sz="1900" spc="421" dirty="0">
                <a:solidFill>
                  <a:srgbClr val="000000"/>
                </a:solidFill>
                <a:latin typeface="JPMJFC+CambriaMath"/>
                <a:cs typeface="JPMJFC+CambriaMath"/>
              </a:rPr>
              <a:t>,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but think about it as a </a:t>
            </a:r>
            <a:r>
              <a:rPr sz="1900" spc="448" dirty="0">
                <a:solidFill>
                  <a:srgbClr val="000000"/>
                </a:solidFill>
                <a:latin typeface="JPMJFC+CambriaMath"/>
                <a:cs typeface="JPMJFC+CambriaMath"/>
              </a:rPr>
              <a:t>ꢊ−1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9156" y="5237715"/>
            <a:ext cx="8916501" cy="62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462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dimensional hyperplane.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Recall that a hyperplane is described by points </a:t>
            </a:r>
            <a:r>
              <a:rPr sz="1900" spc="530" dirty="0">
                <a:solidFill>
                  <a:srgbClr val="000000"/>
                </a:solidFill>
                <a:latin typeface="JPMJFC+CambriaMath"/>
                <a:cs typeface="JPMJFC+CambriaMath"/>
              </a:rPr>
              <a:t>ꢉ∈ℝ</a:t>
            </a:r>
            <a:r>
              <a:rPr sz="1900" spc="-1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such that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ꢋ</a:t>
            </a:r>
            <a:r>
              <a:rPr sz="1900" spc="17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JPMJFC+CambriaMath"/>
                <a:cs typeface="JPMJFC+CambriaMath"/>
              </a:rPr>
              <a:t>=ꢁ</a:t>
            </a:r>
            <a:r>
              <a:rPr sz="1900" spc="-9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99" dirty="0">
                <a:solidFill>
                  <a:srgbClr val="000000"/>
                </a:solidFill>
                <a:latin typeface="JPMJFC+CambriaMath"/>
                <a:cs typeface="JPMJFC+CambriaMath"/>
              </a:rPr>
              <a:t>ꢌ+ꢂ=0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30630" y="5499727"/>
            <a:ext cx="2796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(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85288" y="5499727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0" y="1196622"/>
            <a:ext cx="3267144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LJRU+Calibri"/>
                <a:cs typeface="WNLJRU+Calibri"/>
              </a:rPr>
              <a:t>Separating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Hyperplanes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71671" y="4024495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6618" y="4055563"/>
            <a:ext cx="153936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ꢂ</a:t>
            </a:r>
            <a:r>
              <a:rPr sz="1900" spc="1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+ꢍ</a:t>
            </a:r>
            <a:r>
              <a:rPr sz="1900" spc="-7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53" dirty="0">
                <a:solidFill>
                  <a:srgbClr val="000000"/>
                </a:solidFill>
                <a:latin typeface="JPMJFC+CambriaMath"/>
                <a:cs typeface="JPMJFC+CambriaMath"/>
              </a:rPr>
              <a:t>ꢌ=0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79681" y="4167751"/>
            <a:ext cx="824545" cy="249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  <a:r>
              <a:rPr sz="1400" spc="28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47975" y="4737727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38502" y="4768795"/>
            <a:ext cx="152820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ꢂ</a:t>
            </a:r>
            <a:r>
              <a:rPr sz="1900" spc="6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+ꢍ</a:t>
            </a:r>
            <a:r>
              <a:rPr sz="1900" spc="-78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53" dirty="0">
                <a:solidFill>
                  <a:srgbClr val="000000"/>
                </a:solidFill>
                <a:latin typeface="JPMJFC+CambriaMath"/>
                <a:cs typeface="JPMJFC+CambriaMath"/>
              </a:rPr>
              <a:t>ꢌ=0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55986" y="4877935"/>
            <a:ext cx="818963" cy="25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&amp;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&amp;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9157" y="5326107"/>
            <a:ext cx="8759610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There are multiple separating hyperplanes, described by different parameters (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, </a:t>
            </a:r>
            <a:r>
              <a:rPr sz="1900" spc="47" dirty="0">
                <a:solidFill>
                  <a:srgbClr val="000000"/>
                </a:solidFill>
                <a:latin typeface="JPMJFC+CambriaMath"/>
                <a:cs typeface="JPMJFC+CambriaMath"/>
              </a:rPr>
              <a:t>ꢂ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3267144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LJRU+Calibri"/>
                <a:cs typeface="WNLJRU+Calibri"/>
              </a:rPr>
              <a:t>Separating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Hyperplanes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4265855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21" dirty="0">
                <a:solidFill>
                  <a:srgbClr val="001F5F"/>
                </a:solidFill>
                <a:latin typeface="WNLJRU+Calibri"/>
                <a:cs typeface="WNLJRU+Calibri"/>
              </a:rPr>
              <a:t>Optimal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LJRU+Calibri"/>
                <a:cs typeface="WNLJRU+Calibri"/>
              </a:rPr>
              <a:t>Separating</a:t>
            </a:r>
            <a:r>
              <a:rPr sz="2500" spc="14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Hyperplane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881867"/>
            <a:ext cx="8868071" cy="905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Optimal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Separating</a:t>
            </a:r>
            <a:r>
              <a:rPr sz="1900" spc="-715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Hyperplane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: A hyperplane that separates two classes and maximizes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distance to the closest point from either class, i.e., maximize the</a:t>
            </a:r>
            <a:r>
              <a:rPr sz="1900" spc="-10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margin</a:t>
            </a:r>
            <a:r>
              <a:rPr sz="1900" spc="-715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of the</a:t>
            </a:r>
          </a:p>
          <a:p>
            <a:pPr marL="0" marR="0"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classifier.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15034" y="5371827"/>
            <a:ext cx="8482707" cy="62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Intuitively, ensuring that a classifier is not too close to any data points leads to better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generalization on the test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698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4181321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Geometry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of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Points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2" dirty="0">
                <a:solidFill>
                  <a:srgbClr val="001F5F"/>
                </a:solidFill>
                <a:latin typeface="WNLJRU+Calibri"/>
                <a:cs typeface="WNLJRU+Calibri"/>
              </a:rPr>
              <a:t>and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LJRU+Calibri"/>
                <a:cs typeface="WNLJRU+Calibri"/>
              </a:rPr>
              <a:t>Planes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4812" y="4935963"/>
            <a:ext cx="7345371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Recall that the decision hyperplane is orthogonal (perpendicular) to</a:t>
            </a:r>
            <a:r>
              <a:rPr sz="1900" spc="-12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60987" y="5173591"/>
            <a:ext cx="29608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ꢀ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4812" y="5228455"/>
            <a:ext cx="2069172" cy="3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vector </a:t>
            </a:r>
            <a:r>
              <a:rPr sz="1900" spc="82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21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∗</a:t>
            </a:r>
            <a:r>
              <a:rPr sz="2100" spc="-657" baseline="366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97199" y="5256003"/>
            <a:ext cx="5148535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is a unit vector pointing in the same direction as</a:t>
            </a:r>
            <a:r>
              <a:rPr sz="1900" spc="-10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3984" y="5438767"/>
            <a:ext cx="29608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ꢀ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49151" y="5511567"/>
            <a:ext cx="235483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99034" y="5621647"/>
            <a:ext cx="23826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∗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4812" y="5649195"/>
            <a:ext cx="7023001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same hyperplane could equivalently be defined in terms of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599217" y="7206303"/>
            <a:ext cx="694941" cy="2638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9099837" y="6944718"/>
            <a:ext cx="29676" cy="2020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641" y="6987072"/>
            <a:ext cx="147304" cy="109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42182" y="6985937"/>
            <a:ext cx="146648" cy="1262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78715" y="6963893"/>
            <a:ext cx="35048" cy="1621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81058" y="7001568"/>
            <a:ext cx="252860" cy="2701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0700" y="1054099"/>
            <a:ext cx="10116328" cy="58370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9144" y="1221007"/>
            <a:ext cx="4181321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Geometry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of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Points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2" dirty="0">
                <a:solidFill>
                  <a:srgbClr val="001F5F"/>
                </a:solidFill>
                <a:latin typeface="WNLJRU+Calibri"/>
                <a:cs typeface="WNLJRU+Calibri"/>
              </a:rPr>
              <a:t>and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LJRU+Calibri"/>
                <a:cs typeface="WNLJRU+Calibri"/>
              </a:rPr>
              <a:t>Planes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97126" y="4728583"/>
            <a:ext cx="5504602" cy="3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(signed) distance of a point </a:t>
            </a:r>
            <a:r>
              <a:rPr sz="1900" spc="76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2100" spc="5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+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to the hyperplane is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92416" y="5204071"/>
            <a:ext cx="433799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3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+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887009" y="5232090"/>
            <a:ext cx="1065746" cy="668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-4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-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</a:p>
          <a:p>
            <a:pPr marL="306299" marR="0">
              <a:lnSpc>
                <a:spcPts val="2228"/>
              </a:lnSpc>
              <a:spcBef>
                <a:spcPts val="55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696" y="568870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10020779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6519740" cy="1564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Maximizing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Margin</a:t>
            </a:r>
            <a:r>
              <a:rPr sz="2500" spc="13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WNLJRU+Calibri"/>
                <a:cs typeface="WNLJRU+Calibri"/>
              </a:rPr>
              <a:t>as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WNLJRU+Calibri"/>
                <a:cs typeface="WNLJRU+Calibri"/>
              </a:rPr>
              <a:t>an</a:t>
            </a:r>
            <a:r>
              <a:rPr sz="2500" spc="11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Optimization</a:t>
            </a:r>
            <a:r>
              <a:rPr sz="2500" spc="14" dirty="0">
                <a:solidFill>
                  <a:srgbClr val="001F5F"/>
                </a:solidFill>
                <a:latin typeface="WNLJRU+Calibri"/>
                <a:cs typeface="WNLJRU+Calibri"/>
              </a:rPr>
              <a:t> Problem</a:t>
            </a:r>
          </a:p>
          <a:p>
            <a:pPr marL="11" marR="0">
              <a:lnSpc>
                <a:spcPts val="2320"/>
              </a:lnSpc>
              <a:spcBef>
                <a:spcPts val="203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Recall: the classification for the </a:t>
            </a:r>
            <a:r>
              <a:rPr sz="1900" spc="62" dirty="0">
                <a:solidFill>
                  <a:srgbClr val="000000"/>
                </a:solidFill>
                <a:latin typeface="JPMJFC+CambriaMath"/>
                <a:cs typeface="JPMJFC+CambriaMath"/>
              </a:rPr>
              <a:t>ꢆ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-th data point is correct when</a:t>
            </a:r>
          </a:p>
          <a:p>
            <a:pPr marL="3504007" marR="0">
              <a:lnSpc>
                <a:spcPts val="2228"/>
              </a:lnSpc>
              <a:spcBef>
                <a:spcPts val="2192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sign</a:t>
            </a:r>
            <a:r>
              <a:rPr sz="1900" spc="-2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82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2100" spc="77" baseline="37894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900" spc="651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2100" baseline="37894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-142" baseline="378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  <a:r>
              <a:rPr sz="1900" spc="-1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JPMJFC+CambriaMath"/>
                <a:cs typeface="JPMJFC+CambriaMath"/>
              </a:rPr>
              <a:t>=ꢀ</a:t>
            </a:r>
            <a:r>
              <a:rPr sz="2100" baseline="37894" dirty="0">
                <a:solidFill>
                  <a:srgbClr val="000000"/>
                </a:solidFill>
                <a:latin typeface="KIMNGM+CambriaMath"/>
                <a:cs typeface="KIMNGM+CambriaMath"/>
              </a:rPr>
              <a:t>(</a:t>
            </a:r>
            <a:r>
              <a:rPr sz="2100" spc="42" baseline="37894" dirty="0">
                <a:solidFill>
                  <a:srgbClr val="000000"/>
                </a:solidFill>
                <a:latin typeface="KEFDLT+CambriaMath"/>
                <a:cs typeface="KEFDLT+CambriaMath"/>
              </a:rPr>
              <a:t>,)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3314427"/>
            <a:ext cx="2761845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This can be rewritten 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18299" y="3634351"/>
            <a:ext cx="2220432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037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IMNGM+CambriaMath"/>
                <a:cs typeface="KIMNGM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KEFDLT+CambriaMath"/>
                <a:cs typeface="KEFDLT+CambriaMath"/>
              </a:rPr>
              <a:t>,)</a:t>
            </a:r>
            <a:r>
              <a:rPr sz="1400" spc="16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  <a:p>
            <a:pPr marL="0" marR="0">
              <a:lnSpc>
                <a:spcPts val="720"/>
              </a:lnSpc>
              <a:spcBef>
                <a:spcPts val="5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158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-4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  <a:r>
              <a:rPr sz="1900" spc="-1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JPMJFC+CambriaMath"/>
                <a:cs typeface="JPMJFC+CambriaMath"/>
              </a:rPr>
              <a:t>&gt;0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9156" y="4765275"/>
            <a:ext cx="279138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Enforcing a margin of </a:t>
            </a:r>
            <a:r>
              <a:rPr sz="1900" spc="88" dirty="0">
                <a:solidFill>
                  <a:srgbClr val="000000"/>
                </a:solidFill>
                <a:latin typeface="JPMJFC+CambriaMath"/>
                <a:cs typeface="JPMJFC+CambriaMath"/>
              </a:rPr>
              <a:t>ꢎ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32579" y="5039479"/>
            <a:ext cx="58472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3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IMNGM+CambriaMath"/>
                <a:cs typeface="KIMNGM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KEFDLT+CambriaMath"/>
                <a:cs typeface="KEFDLT+CambriaMath"/>
              </a:rPr>
              <a:t>,)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26631" y="5070546"/>
            <a:ext cx="1422905" cy="665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(ꢁ</a:t>
            </a:r>
            <a:r>
              <a:rPr sz="1900" spc="-4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5" dirty="0">
                <a:solidFill>
                  <a:srgbClr val="000000"/>
                </a:solidFill>
                <a:latin typeface="JPMJFC+CambriaMath"/>
                <a:cs typeface="JPMJFC+CambriaMath"/>
              </a:rPr>
              <a:t>+ꢂ)</a:t>
            </a:r>
          </a:p>
          <a:p>
            <a:pPr marL="482148" marR="0">
              <a:lnSpc>
                <a:spcPts val="2228"/>
              </a:lnSpc>
              <a:spcBef>
                <a:spcPts val="48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19046" y="5225407"/>
            <a:ext cx="606581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038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IMNGM+CambriaMath"/>
                <a:cs typeface="KIMNGM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KEFDLT+CambriaMath"/>
                <a:cs typeface="KEFDLT+CambriaMath"/>
              </a:rPr>
              <a:t>,)</a:t>
            </a:r>
          </a:p>
          <a:p>
            <a:pPr marL="0" marR="0">
              <a:lnSpc>
                <a:spcPts val="696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11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F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64539" y="5253427"/>
            <a:ext cx="54436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30" dirty="0">
                <a:solidFill>
                  <a:srgbClr val="000000"/>
                </a:solidFill>
                <a:latin typeface="JPMJFC+CambriaMath"/>
                <a:cs typeface="JPMJFC+CambriaMath"/>
              </a:rPr>
              <a:t>≥ꢎ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31166" y="552411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97100" y="5990571"/>
            <a:ext cx="1664617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signed distance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10153797" cy="58572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636191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Maximizing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Margin</a:t>
            </a:r>
            <a:r>
              <a:rPr sz="2500" spc="13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WNLJRU+Calibri"/>
                <a:cs typeface="WNLJRU+Calibri"/>
              </a:rPr>
              <a:t>as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WNLJRU+Calibri"/>
                <a:cs typeface="WNLJRU+Calibri"/>
              </a:rPr>
              <a:t>an</a:t>
            </a:r>
            <a:r>
              <a:rPr sz="2500" spc="11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Optimization</a:t>
            </a:r>
            <a:r>
              <a:rPr sz="2500" spc="14" dirty="0">
                <a:solidFill>
                  <a:srgbClr val="001F5F"/>
                </a:solidFill>
                <a:latin typeface="WNLJRU+Calibri"/>
                <a:cs typeface="WNLJRU+Calibri"/>
              </a:rPr>
              <a:t> 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881867"/>
            <a:ext cx="2358483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Max-margin objective: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64907" y="2083506"/>
            <a:ext cx="7852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max</a:t>
            </a:r>
            <a:r>
              <a:rPr sz="1900" spc="-7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ꢎ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12937" y="2290418"/>
            <a:ext cx="534656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6" dirty="0">
                <a:solidFill>
                  <a:srgbClr val="000000"/>
                </a:solidFill>
                <a:latin typeface="CERFWG+CambriaMath"/>
                <a:cs typeface="CERFWG+CambriaMath"/>
              </a:rPr>
              <a:t>ꢀ</a:t>
            </a:r>
            <a:r>
              <a:rPr sz="1600" dirty="0">
                <a:solidFill>
                  <a:srgbClr val="000000"/>
                </a:solidFill>
                <a:latin typeface="OMEKND+ArialMT"/>
                <a:cs typeface="OMEKND+ArialMT"/>
              </a:rPr>
              <a:t>,</a:t>
            </a:r>
            <a:r>
              <a:rPr sz="1600" spc="-18" dirty="0">
                <a:solidFill>
                  <a:srgbClr val="000000"/>
                </a:solidFill>
                <a:latin typeface="OMEKND+ArialMT"/>
                <a:cs typeface="OMEKND+ArialMT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ꢁ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73688" y="2747383"/>
            <a:ext cx="96251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26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691556" y="2775402"/>
            <a:ext cx="1756150" cy="66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7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(ꢁ</a:t>
            </a:r>
            <a:r>
              <a:rPr sz="1900" spc="-4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5" dirty="0">
                <a:solidFill>
                  <a:srgbClr val="000000"/>
                </a:solidFill>
                <a:latin typeface="JPMJFC+CambriaMath"/>
                <a:cs typeface="JPMJFC+CambriaMath"/>
              </a:rPr>
              <a:t>+ꢂ)</a:t>
            </a:r>
          </a:p>
          <a:p>
            <a:pPr marL="648745" marR="0">
              <a:lnSpc>
                <a:spcPts val="2228"/>
              </a:lnSpc>
              <a:spcBef>
                <a:spcPts val="48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42191" y="2924754"/>
            <a:ext cx="128518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ꢆ</a:t>
            </a:r>
            <a:r>
              <a:rPr sz="1900" spc="-5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43" dirty="0">
                <a:solidFill>
                  <a:srgbClr val="000000"/>
                </a:solidFill>
                <a:latin typeface="JPMJFC+CambriaMath"/>
                <a:cs typeface="JPMJFC+CambriaMath"/>
              </a:rPr>
              <a:t>=1,⋯,ꢏ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74307" y="2958283"/>
            <a:ext cx="47711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s.</a:t>
            </a:r>
            <a:r>
              <a:rPr sz="1900" spc="-8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62709" y="2958283"/>
            <a:ext cx="54436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29" dirty="0">
                <a:solidFill>
                  <a:srgbClr val="000000"/>
                </a:solidFill>
                <a:latin typeface="JPMJFC+CambriaMath"/>
                <a:cs typeface="JPMJFC+CambriaMath"/>
              </a:rPr>
              <a:t>≥ꢎ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62688" y="322896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53361" y="3503875"/>
            <a:ext cx="3465141" cy="36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Plug in </a:t>
            </a:r>
            <a:r>
              <a:rPr sz="1900" spc="284" dirty="0">
                <a:solidFill>
                  <a:srgbClr val="000000"/>
                </a:solidFill>
                <a:latin typeface="JPMJFC+CambriaMath"/>
                <a:cs typeface="JPMJFC+CambriaMath"/>
              </a:rPr>
              <a:t>ꢎ=1⁄</a:t>
            </a:r>
            <a:r>
              <a:rPr sz="1900" spc="-4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-1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100" spc="496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and simplify: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59194" y="3862951"/>
            <a:ext cx="96251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26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77062" y="3890971"/>
            <a:ext cx="241940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7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(ꢁ</a:t>
            </a:r>
            <a:r>
              <a:rPr sz="1900" spc="-4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5" dirty="0">
                <a:solidFill>
                  <a:srgbClr val="000000"/>
                </a:solidFill>
                <a:latin typeface="JPMJFC+CambriaMath"/>
                <a:cs typeface="JPMJFC+CambriaMath"/>
              </a:rPr>
              <a:t>+ꢂ)</a:t>
            </a:r>
            <a:r>
              <a:rPr sz="1900" spc="28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997834" y="4003159"/>
            <a:ext cx="2205150" cy="349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2132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26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  <a:p>
            <a:pPr marL="0" marR="0">
              <a:lnSpc>
                <a:spcPts val="69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7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(ꢁ</a:t>
            </a:r>
            <a:r>
              <a:rPr sz="1900" spc="-4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05" dirty="0">
                <a:solidFill>
                  <a:srgbClr val="000000"/>
                </a:solidFill>
                <a:latin typeface="JPMJFC+CambriaMath"/>
                <a:cs typeface="JPMJFC+CambriaMath"/>
              </a:rPr>
              <a:t>+ꢂ)≥1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848215" y="4073851"/>
            <a:ext cx="333139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≥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825807" y="4235395"/>
            <a:ext cx="34739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223788" y="4235395"/>
            <a:ext cx="577664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</a:p>
          <a:p>
            <a:pPr marL="322387" marR="0">
              <a:lnSpc>
                <a:spcPts val="1642"/>
              </a:lnSpc>
              <a:spcBef>
                <a:spcPts val="5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148194" y="4344535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152780" y="4838149"/>
            <a:ext cx="2481144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geometric margin constraint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806997" y="4838149"/>
            <a:ext cx="239047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algebraic margin</a:t>
            </a:r>
            <a:r>
              <a:rPr sz="1600" spc="-10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constraint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53361" y="5137131"/>
            <a:ext cx="349763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Equivalent optimization objective: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255207" y="548448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403067" y="5518603"/>
            <a:ext cx="877149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min</a:t>
            </a:r>
            <a:r>
              <a:rPr sz="1900" spc="-1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255207" y="563079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429642" y="5856343"/>
            <a:ext cx="2622396" cy="349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9378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26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  <a:p>
            <a:pPr marL="0" marR="0">
              <a:lnSpc>
                <a:spcPts val="69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s.</a:t>
            </a:r>
            <a:r>
              <a:rPr sz="1900" spc="-8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t.</a:t>
            </a:r>
            <a:r>
              <a:rPr sz="1900" spc="-41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7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(ꢁ</a:t>
            </a:r>
            <a:r>
              <a:rPr sz="1900" spc="-4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05" dirty="0">
                <a:solidFill>
                  <a:srgbClr val="000000"/>
                </a:solidFill>
                <a:latin typeface="JPMJFC+CambriaMath"/>
                <a:cs typeface="JPMJFC+CambriaMath"/>
              </a:rPr>
              <a:t>+ꢂ)≥1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243593" y="5869123"/>
            <a:ext cx="128518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ꢆ</a:t>
            </a:r>
            <a:r>
              <a:rPr sz="1900" spc="-5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43" dirty="0">
                <a:solidFill>
                  <a:srgbClr val="000000"/>
                </a:solidFill>
                <a:latin typeface="JPMJFC+CambriaMath"/>
                <a:cs typeface="JPMJFC+CambriaMath"/>
              </a:rPr>
              <a:t>=1,⋯,ꢏ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10031979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636191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Maximizing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Margin</a:t>
            </a:r>
            <a:r>
              <a:rPr sz="2500" spc="13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WNLJRU+Calibri"/>
                <a:cs typeface="WNLJRU+Calibri"/>
              </a:rPr>
              <a:t>as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WNLJRU+Calibri"/>
                <a:cs typeface="WNLJRU+Calibri"/>
              </a:rPr>
              <a:t>an</a:t>
            </a:r>
            <a:r>
              <a:rPr sz="2500" spc="11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Optimization</a:t>
            </a:r>
            <a:r>
              <a:rPr sz="2500" spc="14" dirty="0">
                <a:solidFill>
                  <a:srgbClr val="001F5F"/>
                </a:solidFill>
                <a:latin typeface="WNLJRU+Calibri"/>
                <a:cs typeface="WNLJRU+Calibri"/>
              </a:rPr>
              <a:t> Problem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6667782" y="6950055"/>
            <a:ext cx="16174" cy="16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599464" y="6670932"/>
            <a:ext cx="985582" cy="3295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41761" y="6737847"/>
            <a:ext cx="205493" cy="2414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00868" y="6916193"/>
            <a:ext cx="51068" cy="361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08885" y="6918602"/>
            <a:ext cx="58125" cy="151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15167" y="6675502"/>
            <a:ext cx="361105" cy="3246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94526" y="6679398"/>
            <a:ext cx="104559" cy="1903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15167" y="6675502"/>
            <a:ext cx="314393" cy="3246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8300" y="6798720"/>
            <a:ext cx="53011" cy="775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22586" y="6706943"/>
            <a:ext cx="758653" cy="28015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15477" y="6910138"/>
            <a:ext cx="30873" cy="5704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35268" y="6709009"/>
            <a:ext cx="176084" cy="2736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69078" y="6746276"/>
            <a:ext cx="609704" cy="2997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81181" y="6775291"/>
            <a:ext cx="164682" cy="23790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91992" y="6712796"/>
            <a:ext cx="449934" cy="33159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89010" y="6761244"/>
            <a:ext cx="434436" cy="28154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30924" y="6822540"/>
            <a:ext cx="183465" cy="18399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2610" y="6796928"/>
            <a:ext cx="234002" cy="28185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9783" y="6818878"/>
            <a:ext cx="550938" cy="26237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9783" y="6832680"/>
            <a:ext cx="399909" cy="22506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428" y="1054099"/>
            <a:ext cx="10479051" cy="55354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69144" y="1221007"/>
            <a:ext cx="636191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Maximizing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Margin</a:t>
            </a:r>
            <a:r>
              <a:rPr sz="2500" spc="13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WNLJRU+Calibri"/>
                <a:cs typeface="WNLJRU+Calibri"/>
              </a:rPr>
              <a:t>as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WNLJRU+Calibri"/>
                <a:cs typeface="WNLJRU+Calibri"/>
              </a:rPr>
              <a:t>an</a:t>
            </a:r>
            <a:r>
              <a:rPr sz="2500" spc="11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Optimization</a:t>
            </a:r>
            <a:r>
              <a:rPr sz="2500" spc="14" dirty="0">
                <a:solidFill>
                  <a:srgbClr val="001F5F"/>
                </a:solidFill>
                <a:latin typeface="WNLJRU+Calibri"/>
                <a:cs typeface="WNLJRU+Calibri"/>
              </a:rPr>
              <a:t> Problem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69156" y="1762995"/>
            <a:ext cx="3311115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Algebraic max-margin objective: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651108" y="2159119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98967" y="2193235"/>
            <a:ext cx="877150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min</a:t>
            </a:r>
            <a:r>
              <a:rPr sz="1900" spc="-1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651108" y="230542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25542" y="2530975"/>
            <a:ext cx="2622397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9378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26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  <a:p>
            <a:pPr marL="0" marR="0">
              <a:lnSpc>
                <a:spcPts val="696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s.</a:t>
            </a:r>
            <a:r>
              <a:rPr sz="1900" spc="-8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t.</a:t>
            </a:r>
            <a:r>
              <a:rPr sz="1900" spc="-41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7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(ꢁ</a:t>
            </a:r>
            <a:r>
              <a:rPr sz="1900" spc="-4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05" dirty="0">
                <a:solidFill>
                  <a:srgbClr val="000000"/>
                </a:solidFill>
                <a:latin typeface="JPMJFC+CambriaMath"/>
                <a:cs typeface="JPMJFC+CambriaMath"/>
              </a:rPr>
              <a:t>+ꢂ)≥1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639493" y="2543754"/>
            <a:ext cx="128518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ꢆ</a:t>
            </a:r>
            <a:r>
              <a:rPr sz="1900" spc="-5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43" dirty="0">
                <a:solidFill>
                  <a:srgbClr val="000000"/>
                </a:solidFill>
                <a:latin typeface="JPMJFC+CambriaMath"/>
                <a:cs typeface="JPMJFC+CambriaMath"/>
              </a:rPr>
              <a:t>=1,⋯,ꢏ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69156" y="3914767"/>
            <a:ext cx="8745668" cy="2103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Observe: if the margin constraint is not tight for</a:t>
            </a:r>
            <a:r>
              <a:rPr sz="1900" spc="-13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spc="651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21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-564" baseline="366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, we could remove it from the</a:t>
            </a:r>
          </a:p>
          <a:p>
            <a:pPr marL="271462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training set and the optimal </a:t>
            </a:r>
            <a:r>
              <a:rPr sz="1900" spc="423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would be the same.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important training examples are the ones with algebraic margin 1, and are called</a:t>
            </a:r>
          </a:p>
          <a:p>
            <a:pPr marL="271462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support</a:t>
            </a:r>
            <a:r>
              <a:rPr sz="1900" spc="-709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vectors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Hence, this algorithm is called the (hard)</a:t>
            </a:r>
            <a:r>
              <a:rPr sz="1900" spc="-12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Support</a:t>
            </a:r>
            <a:r>
              <a:rPr sz="1900" spc="-708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Vector</a:t>
            </a:r>
            <a:r>
              <a:rPr sz="1900" spc="-718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Machine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(SVM)</a:t>
            </a:r>
            <a:r>
              <a:rPr sz="1900" spc="-710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(or Support</a:t>
            </a:r>
          </a:p>
          <a:p>
            <a:pPr marL="271462" marR="0"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Vector Classifier).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SVM-like algorithms are often called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max-margin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or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large-margin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367148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Non-Separable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9" dirty="0">
                <a:solidFill>
                  <a:srgbClr val="001F5F"/>
                </a:solidFill>
                <a:latin typeface="WNLJRU+Calibri"/>
                <a:cs typeface="WNLJRU+Calibri"/>
              </a:rPr>
              <a:t>Data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Points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2089131"/>
            <a:ext cx="81854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How can we apply the max-margin principle if the data are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not</a:t>
            </a:r>
            <a:r>
              <a:rPr sz="1900" spc="-709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linearly separable?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5916447" y="690488"/>
            <a:ext cx="17521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422577" y="499147"/>
            <a:ext cx="409252" cy="2011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22225" y="447392"/>
            <a:ext cx="726279" cy="3286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22225" y="447392"/>
            <a:ext cx="463029" cy="2662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25408" y="427332"/>
            <a:ext cx="555247" cy="3319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62205" y="479072"/>
            <a:ext cx="550218" cy="2939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78088" y="753049"/>
            <a:ext cx="27937" cy="298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65240" y="582668"/>
            <a:ext cx="279812" cy="2361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98407" y="493096"/>
            <a:ext cx="233721" cy="3288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32188" y="514954"/>
            <a:ext cx="425296" cy="3306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67355" y="470803"/>
            <a:ext cx="197956" cy="38455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6061" y="509742"/>
            <a:ext cx="1076485" cy="32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0700" y="1054099"/>
            <a:ext cx="10038996" cy="54356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9144" y="1221007"/>
            <a:ext cx="6705332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Maximizing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Margin</a:t>
            </a:r>
            <a:r>
              <a:rPr sz="2500" spc="13" dirty="0">
                <a:solidFill>
                  <a:srgbClr val="001F5F"/>
                </a:solidFill>
                <a:latin typeface="WNLJRU+Calibri"/>
                <a:cs typeface="WNLJRU+Calibri"/>
              </a:rPr>
              <a:t> for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Non-Separable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9" dirty="0">
                <a:solidFill>
                  <a:srgbClr val="001F5F"/>
                </a:solidFill>
                <a:latin typeface="WNLJRU+Calibri"/>
                <a:cs typeface="WNLJRU+Calibri"/>
              </a:rPr>
              <a:t>Data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Points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72085" y="4884147"/>
            <a:ext cx="1193700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Main idea: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72085" y="5176755"/>
            <a:ext cx="8808338" cy="905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Allow some points to be within the margin or even be misclassified; we represent this</a:t>
            </a:r>
          </a:p>
          <a:p>
            <a:pPr marL="271462" marR="0"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slack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variables</a:t>
            </a:r>
            <a:r>
              <a:rPr sz="1900" spc="-712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spc="-58" dirty="0">
                <a:solidFill>
                  <a:srgbClr val="000000"/>
                </a:solidFill>
                <a:latin typeface="JPMJFC+CambriaMath"/>
                <a:cs typeface="JPMJFC+CambriaMath"/>
              </a:rPr>
              <a:t>ꢐ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But constrain or penalize the total amount of slack.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101727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6705332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Maximizing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Margin</a:t>
            </a:r>
            <a:r>
              <a:rPr sz="2500" spc="13" dirty="0">
                <a:solidFill>
                  <a:srgbClr val="001F5F"/>
                </a:solidFill>
                <a:latin typeface="WNLJRU+Calibri"/>
                <a:cs typeface="WNLJRU+Calibri"/>
              </a:rPr>
              <a:t> for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Non-Separable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9" dirty="0">
                <a:solidFill>
                  <a:srgbClr val="001F5F"/>
                </a:solidFill>
                <a:latin typeface="WNLJRU+Calibri"/>
                <a:cs typeface="WNLJRU+Calibri"/>
              </a:rPr>
              <a:t>Data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Points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4295883"/>
            <a:ext cx="2722967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</a:t>
            </a:r>
            <a:r>
              <a:rPr sz="1900" spc="-710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margin</a:t>
            </a:r>
            <a:r>
              <a:rPr sz="1900" spc="-713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constraint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5416" y="4789191"/>
            <a:ext cx="775229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  <a:r>
              <a:rPr sz="1100" spc="163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⊺</a:t>
            </a:r>
            <a:r>
              <a:rPr sz="1100" spc="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57117" y="4816975"/>
            <a:ext cx="13047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/</a:t>
            </a:r>
            <a:r>
              <a:rPr sz="1400" spc="6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IMNGM+CambriaMath"/>
                <a:cs typeface="KIMNGM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ꢀ</a:t>
            </a:r>
            <a:r>
              <a:rPr sz="1400" spc="-2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ꢁ</a:t>
            </a:r>
            <a:r>
              <a:rPr sz="1400" spc="6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spc="11" dirty="0">
                <a:solidFill>
                  <a:srgbClr val="000000"/>
                </a:solidFill>
                <a:latin typeface="KEFDLT+CambriaMath"/>
                <a:cs typeface="KEFDLT+CambriaMath"/>
              </a:rPr>
              <a:t>12)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75582" y="4899859"/>
            <a:ext cx="1430364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≥</a:t>
            </a:r>
            <a:r>
              <a:rPr sz="1900" spc="-6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86" dirty="0">
                <a:solidFill>
                  <a:srgbClr val="000000"/>
                </a:solidFill>
                <a:latin typeface="JPMJFC+CambriaMath"/>
                <a:cs typeface="JPMJFC+CambriaMath"/>
              </a:rPr>
              <a:t>ꢎ(1−ꢐ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14833" y="5082151"/>
            <a:ext cx="29608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ꢀ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50000" y="5151903"/>
            <a:ext cx="235483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05909" y="5377923"/>
            <a:ext cx="1481759" cy="991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for </a:t>
            </a:r>
            <a:r>
              <a:rPr sz="1900" spc="-58" dirty="0">
                <a:solidFill>
                  <a:srgbClr val="000000"/>
                </a:solidFill>
                <a:latin typeface="JPMJFC+CambriaMath"/>
                <a:cs typeface="JPMJFC+CambriaMath"/>
              </a:rPr>
              <a:t>ꢐ</a:t>
            </a:r>
            <a:r>
              <a:rPr sz="210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-612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5" dirty="0">
                <a:solidFill>
                  <a:srgbClr val="000000"/>
                </a:solidFill>
                <a:latin typeface="JPMJFC+CambriaMath"/>
                <a:cs typeface="JPMJFC+CambriaMath"/>
              </a:rPr>
              <a:t>≥0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</a:t>
            </a:r>
          </a:p>
          <a:p>
            <a:pPr marL="803137" marR="0">
              <a:lnSpc>
                <a:spcPts val="2320"/>
              </a:lnSpc>
              <a:spcBef>
                <a:spcPts val="266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900" spc="-2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53" dirty="0">
                <a:solidFill>
                  <a:srgbClr val="000000"/>
                </a:solidFill>
                <a:latin typeface="JPMJFC+CambriaMath"/>
                <a:cs typeface="JPMJFC+CambriaMath"/>
              </a:rPr>
              <a:t>ꢐ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 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9156" y="6036291"/>
            <a:ext cx="123770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Penalize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80018" y="6145903"/>
            <a:ext cx="431451" cy="258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3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"/>
          <p:cNvSpPr/>
          <p:nvPr/>
        </p:nvSpPr>
        <p:spPr>
          <a:xfrm>
            <a:off x="10203085" y="6959164"/>
            <a:ext cx="19128" cy="266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9851179" y="6699748"/>
            <a:ext cx="252627" cy="3222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629363" y="6709231"/>
            <a:ext cx="191858" cy="2444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630569" y="6814412"/>
            <a:ext cx="15582" cy="1158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629363" y="6755437"/>
            <a:ext cx="31634" cy="249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31571" y="6706741"/>
            <a:ext cx="256988" cy="3115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02131" y="6615790"/>
            <a:ext cx="685371" cy="4526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02131" y="6615790"/>
            <a:ext cx="469962" cy="38678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96495" y="6955981"/>
            <a:ext cx="55773" cy="172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89907" y="6684167"/>
            <a:ext cx="15075" cy="326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91430" y="6754060"/>
            <a:ext cx="525336" cy="26802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12008" y="6718202"/>
            <a:ext cx="245174" cy="3000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23512" y="6769958"/>
            <a:ext cx="235208" cy="26668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97396" y="6757785"/>
            <a:ext cx="205324" cy="2718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70875" y="6777488"/>
            <a:ext cx="182440" cy="24867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13212" y="6715001"/>
            <a:ext cx="734742" cy="30663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08911" y="6696360"/>
            <a:ext cx="3969985" cy="77030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44614" y="6772954"/>
            <a:ext cx="461745" cy="31870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33735" y="6710513"/>
            <a:ext cx="770056" cy="36652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13616" y="6947076"/>
            <a:ext cx="13765" cy="1300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97452" y="6864426"/>
            <a:ext cx="18784" cy="1794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71039" y="6666995"/>
            <a:ext cx="458133" cy="33841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71039" y="6666995"/>
            <a:ext cx="385946" cy="33841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8363" y="6746031"/>
            <a:ext cx="641679" cy="29423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2323" y="6904140"/>
            <a:ext cx="43171" cy="5092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0700" y="1054099"/>
            <a:ext cx="9901011" cy="548015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9144" y="1221007"/>
            <a:ext cx="6705332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Maximizing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Margin</a:t>
            </a:r>
            <a:r>
              <a:rPr sz="2500" spc="13" dirty="0">
                <a:solidFill>
                  <a:srgbClr val="001F5F"/>
                </a:solidFill>
                <a:latin typeface="WNLJRU+Calibri"/>
                <a:cs typeface="WNLJRU+Calibri"/>
              </a:rPr>
              <a:t> for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WNLJRU+Calibri"/>
                <a:cs typeface="WNLJRU+Calibri"/>
              </a:rPr>
              <a:t>Non-Separable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9" dirty="0">
                <a:solidFill>
                  <a:srgbClr val="001F5F"/>
                </a:solidFill>
                <a:latin typeface="WNLJRU+Calibri"/>
                <a:cs typeface="WNLJRU+Calibri"/>
              </a:rPr>
              <a:t>Data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Points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69156" y="1848339"/>
            <a:ext cx="2876253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Soft-margin</a:t>
            </a:r>
            <a:r>
              <a:rPr sz="1900" spc="-714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objective: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846436" y="2076823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4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559353" y="2193235"/>
            <a:ext cx="286010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1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182760" y="2341999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116968" y="2376114"/>
            <a:ext cx="226700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min</a:t>
            </a:r>
            <a:r>
              <a:rPr sz="1900" spc="15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11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68" dirty="0">
                <a:solidFill>
                  <a:srgbClr val="000000"/>
                </a:solidFill>
                <a:latin typeface="JPMJFC+CambriaMath"/>
                <a:cs typeface="JPMJFC+CambriaMath"/>
              </a:rPr>
              <a:t>+ꢑSꢐ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182760" y="248830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5224172" y="2485255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559353" y="2537793"/>
            <a:ext cx="286010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2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073283" y="2594866"/>
            <a:ext cx="638268" cy="23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1300" spc="-31" dirty="0">
                <a:solidFill>
                  <a:srgbClr val="000000"/>
                </a:solidFill>
                <a:latin typeface="EQCBNE+CambriaMath"/>
                <a:cs typeface="EQCBNE+CambriaMath"/>
              </a:rPr>
              <a:t>!</a:t>
            </a:r>
            <a:r>
              <a:rPr sz="1300" dirty="0">
                <a:solidFill>
                  <a:srgbClr val="000000"/>
                </a:solidFill>
                <a:latin typeface="DTHPWB+ArialMT"/>
                <a:cs typeface="DTHPWB+ArialMT"/>
              </a:rPr>
              <a:t>,</a:t>
            </a:r>
            <a:r>
              <a:rPr sz="1300" spc="-10" dirty="0">
                <a:solidFill>
                  <a:srgbClr val="000000"/>
                </a:solidFill>
                <a:latin typeface="DTHPWB+ArialMT"/>
                <a:cs typeface="DTHPWB+ArialMT"/>
              </a:rPr>
              <a:t> </a:t>
            </a:r>
            <a:r>
              <a:rPr sz="1300" spc="10" dirty="0">
                <a:solidFill>
                  <a:srgbClr val="000000"/>
                </a:solidFill>
                <a:latin typeface="EQCBNE+CambriaMath"/>
                <a:cs typeface="EQCBNE+CambriaMath"/>
              </a:rPr>
              <a:t>"</a:t>
            </a:r>
            <a:r>
              <a:rPr sz="1300" dirty="0">
                <a:solidFill>
                  <a:srgbClr val="000000"/>
                </a:solidFill>
                <a:latin typeface="ANILNA+Arial-BoldMT"/>
                <a:cs typeface="ANILNA+Arial-BoldMT"/>
              </a:rPr>
              <a:t>,</a:t>
            </a:r>
            <a:r>
              <a:rPr sz="1300" spc="-428" dirty="0">
                <a:solidFill>
                  <a:srgbClr val="000000"/>
                </a:solidFill>
                <a:latin typeface="ANILNA+Arial-BoldMT"/>
                <a:cs typeface="ANILNA+Arial-BoldMT"/>
              </a:rPr>
              <a:t> </a:t>
            </a:r>
            <a:r>
              <a:rPr sz="1300" dirty="0">
                <a:solidFill>
                  <a:srgbClr val="000000"/>
                </a:solidFill>
                <a:latin typeface="EQCBNE+CambriaMath"/>
                <a:cs typeface="EQCBNE+CambriaMath"/>
              </a:rPr>
              <a:t>#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766305" y="2744335"/>
            <a:ext cx="45108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EFDLT+CambriaMath"/>
                <a:cs typeface="KEFDLT+CambriaMath"/>
              </a:rPr>
              <a:t>,3&amp;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644988" y="2936359"/>
            <a:ext cx="970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3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098393" y="2961330"/>
            <a:ext cx="4519865" cy="324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26" dirty="0">
                <a:solidFill>
                  <a:srgbClr val="000000"/>
                </a:solidFill>
                <a:latin typeface="JPMJFC+CambriaMath"/>
                <a:cs typeface="JPMJFC+CambriaMath"/>
              </a:rPr>
              <a:t>s.t.ꢀ</a:t>
            </a:r>
            <a:r>
              <a:rPr sz="1900" spc="14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-4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  <a:r>
              <a:rPr sz="1900" spc="-1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≥</a:t>
            </a:r>
            <a:r>
              <a:rPr sz="1900" spc="-6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79" dirty="0">
                <a:solidFill>
                  <a:srgbClr val="000000"/>
                </a:solidFill>
                <a:latin typeface="JPMJFC+CambriaMath"/>
                <a:cs typeface="JPMJFC+CambriaMath"/>
              </a:rPr>
              <a:t>1−ꢐ</a:t>
            </a:r>
            <a:r>
              <a:rPr sz="1900" spc="1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ꢆ</a:t>
            </a:r>
            <a:r>
              <a:rPr sz="1900" spc="-5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43" dirty="0">
                <a:solidFill>
                  <a:srgbClr val="000000"/>
                </a:solidFill>
                <a:latin typeface="JPMJFC+CambriaMath"/>
                <a:cs typeface="JPMJFC+CambriaMath"/>
              </a:rPr>
              <a:t>=1,⋯,ꢏ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926781" y="307351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6333074" y="3333186"/>
            <a:ext cx="128518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ꢆ</a:t>
            </a:r>
            <a:r>
              <a:rPr sz="1900" spc="-5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43" dirty="0">
                <a:solidFill>
                  <a:srgbClr val="000000"/>
                </a:solidFill>
                <a:latin typeface="JPMJFC+CambriaMath"/>
                <a:cs typeface="JPMJFC+CambriaMath"/>
              </a:rPr>
              <a:t>=1,⋯,ꢏ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3461895" y="3354170"/>
            <a:ext cx="682413" cy="307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-62" dirty="0">
                <a:solidFill>
                  <a:srgbClr val="000000"/>
                </a:solidFill>
                <a:latin typeface="CERFWG+CambriaMath"/>
                <a:cs typeface="CERFWG+CambriaMath"/>
              </a:rPr>
              <a:t>ꢂ</a:t>
            </a:r>
            <a:r>
              <a:rPr sz="1800" baseline="-209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800" spc="-190" baseline="-209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29" dirty="0">
                <a:solidFill>
                  <a:srgbClr val="000000"/>
                </a:solidFill>
                <a:latin typeface="CERFWG+CambriaMath"/>
                <a:cs typeface="CERFWG+CambriaMath"/>
              </a:rPr>
              <a:t>≥0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769156" y="3869163"/>
            <a:ext cx="7721573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78" dirty="0">
                <a:solidFill>
                  <a:srgbClr val="000000"/>
                </a:solidFill>
                <a:latin typeface="JPMJFC+CambriaMath"/>
                <a:cs typeface="JPMJFC+CambriaMath"/>
              </a:rPr>
              <a:t>ꢑ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is a hyperparameter that trades off the margin with the amount of slack.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997185" y="4283691"/>
            <a:ext cx="4827904" cy="62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DMSAQJ+Wingdings-Regular"/>
                <a:cs typeface="DMSAQJ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For </a:t>
            </a:r>
            <a:r>
              <a:rPr sz="1900" spc="368" dirty="0">
                <a:solidFill>
                  <a:srgbClr val="000000"/>
                </a:solidFill>
                <a:latin typeface="JPMJFC+CambriaMath"/>
                <a:cs typeface="JPMJFC+CambriaMath"/>
              </a:rPr>
              <a:t>ꢑ=0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, we’ll get </a:t>
            </a:r>
            <a:r>
              <a:rPr sz="1900" spc="350" dirty="0">
                <a:solidFill>
                  <a:srgbClr val="000000"/>
                </a:solidFill>
                <a:latin typeface="JPMJFC+CambriaMath"/>
                <a:cs typeface="JPMJFC+CambriaMath"/>
              </a:rPr>
              <a:t>ꢁ=0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 (why?)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DMSAQJ+Wingdings-Regular"/>
                <a:cs typeface="DMSAQJ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As </a:t>
            </a:r>
            <a:r>
              <a:rPr sz="1900" spc="370" dirty="0">
                <a:solidFill>
                  <a:srgbClr val="000000"/>
                </a:solidFill>
                <a:latin typeface="JPMJFC+CambriaMath"/>
                <a:cs typeface="JPMJFC+CambriaMath"/>
              </a:rPr>
              <a:t>ꢑ→∞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, we get the hard-margin objective.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69156" y="5018731"/>
            <a:ext cx="6739333" cy="34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Note: it is also possible to constrain </a:t>
            </a:r>
            <a:r>
              <a:rPr sz="2850" baseline="3789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400" spc="358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850" spc="-58" baseline="3789" dirty="0">
                <a:solidFill>
                  <a:srgbClr val="000000"/>
                </a:solidFill>
                <a:latin typeface="JPMJFC+CambriaMath"/>
                <a:cs typeface="JPMJFC+CambriaMath"/>
              </a:rPr>
              <a:t>ꢐ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-2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850" baseline="3789" dirty="0">
                <a:solidFill>
                  <a:srgbClr val="000000"/>
                </a:solidFill>
                <a:latin typeface="TNRPRU+Calibri"/>
                <a:cs typeface="TNRPRU+Calibri"/>
              </a:rPr>
              <a:t>instead of penalizing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1"/>
          <p:cNvSpPr/>
          <p:nvPr/>
        </p:nvSpPr>
        <p:spPr>
          <a:xfrm>
            <a:off x="10211226" y="710903"/>
            <a:ext cx="14225" cy="14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9910086" y="326308"/>
            <a:ext cx="236084" cy="289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42884" y="327487"/>
            <a:ext cx="1025365" cy="2973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42884" y="327487"/>
            <a:ext cx="756213" cy="2973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04057" y="252938"/>
            <a:ext cx="902314" cy="3437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76087" y="313501"/>
            <a:ext cx="313424" cy="2589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56468" y="263461"/>
            <a:ext cx="482884" cy="31336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68717" y="311321"/>
            <a:ext cx="433349" cy="2857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84914" y="534513"/>
            <a:ext cx="40477" cy="4305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67317" y="330438"/>
            <a:ext cx="253555" cy="28817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72309" y="315993"/>
            <a:ext cx="641160" cy="3648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50040" y="349100"/>
            <a:ext cx="187819" cy="27700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13631" y="531965"/>
            <a:ext cx="96177" cy="201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58411" y="337206"/>
            <a:ext cx="826332" cy="34018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58411" y="596940"/>
            <a:ext cx="33695" cy="5042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15084" y="391373"/>
            <a:ext cx="500743" cy="2949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17692" y="419430"/>
            <a:ext cx="13769" cy="1373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14045" y="432516"/>
            <a:ext cx="471488" cy="23393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14045" y="462750"/>
            <a:ext cx="234955" cy="20370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96067" y="382173"/>
            <a:ext cx="258683" cy="33971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74848" y="402222"/>
            <a:ext cx="489300" cy="2745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63834" y="372818"/>
            <a:ext cx="463354" cy="32565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1792" y="392710"/>
            <a:ext cx="674080" cy="35304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61792" y="392710"/>
            <a:ext cx="445262" cy="35304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0700" y="1054099"/>
            <a:ext cx="10093791" cy="638315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69144" y="1221007"/>
            <a:ext cx="490554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From</a:t>
            </a:r>
            <a:r>
              <a:rPr sz="2500" spc="23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Margin</a:t>
            </a:r>
            <a:r>
              <a:rPr sz="2500" spc="11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WNLJRU+Calibri"/>
                <a:cs typeface="WNLJRU+Calibri"/>
              </a:rPr>
              <a:t>Violation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WNLJRU+Calibri"/>
                <a:cs typeface="WNLJRU+Calibri"/>
              </a:rPr>
              <a:t>to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9" dirty="0">
                <a:solidFill>
                  <a:srgbClr val="001F5F"/>
                </a:solidFill>
                <a:latin typeface="WNLJRU+Calibri"/>
                <a:cs typeface="WNLJRU+Calibri"/>
              </a:rPr>
              <a:t>Hinge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Loss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69156" y="1848339"/>
            <a:ext cx="6467391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Let’s simplify the soft margin constraint by eliminating</a:t>
            </a:r>
            <a:r>
              <a:rPr sz="1900" spc="-12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spc="-58" dirty="0">
                <a:solidFill>
                  <a:srgbClr val="000000"/>
                </a:solidFill>
                <a:latin typeface="JPMJFC+CambriaMath"/>
                <a:cs typeface="JPMJFC+CambriaMath"/>
              </a:rPr>
              <a:t>ꢐ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 Recall: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037469" y="2162167"/>
            <a:ext cx="97035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3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855337" y="2187139"/>
            <a:ext cx="4521725" cy="324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15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-4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  <a:r>
              <a:rPr sz="1900" spc="-1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≥</a:t>
            </a:r>
            <a:r>
              <a:rPr sz="1900" spc="-6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79" dirty="0">
                <a:solidFill>
                  <a:srgbClr val="000000"/>
                </a:solidFill>
                <a:latin typeface="JPMJFC+CambriaMath"/>
                <a:cs typeface="JPMJFC+CambriaMath"/>
              </a:rPr>
              <a:t>1−ꢐ</a:t>
            </a:r>
            <a:r>
              <a:rPr sz="1900" spc="46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ꢆ</a:t>
            </a:r>
            <a:r>
              <a:rPr sz="1900" spc="-5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43" dirty="0">
                <a:solidFill>
                  <a:srgbClr val="000000"/>
                </a:solidFill>
                <a:latin typeface="JPMJFC+CambriaMath"/>
                <a:cs typeface="JPMJFC+CambriaMath"/>
              </a:rPr>
              <a:t>=1,⋯,ꢏ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319262" y="2299327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091879" y="2558995"/>
            <a:ext cx="128518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ꢆ</a:t>
            </a:r>
            <a:r>
              <a:rPr sz="1900" spc="-5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43" dirty="0">
                <a:solidFill>
                  <a:srgbClr val="000000"/>
                </a:solidFill>
                <a:latin typeface="JPMJFC+CambriaMath"/>
                <a:cs typeface="JPMJFC+CambriaMath"/>
              </a:rPr>
              <a:t>=1,⋯,ꢏ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850332" y="2579978"/>
            <a:ext cx="682412" cy="307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-62" dirty="0">
                <a:solidFill>
                  <a:srgbClr val="000000"/>
                </a:solidFill>
                <a:latin typeface="CERFWG+CambriaMath"/>
                <a:cs typeface="CERFWG+CambriaMath"/>
              </a:rPr>
              <a:t>ꢂ</a:t>
            </a:r>
            <a:r>
              <a:rPr sz="1800" baseline="-209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800" spc="-550" baseline="-209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29" dirty="0">
                <a:solidFill>
                  <a:srgbClr val="000000"/>
                </a:solidFill>
                <a:latin typeface="CERFWG+CambriaMath"/>
                <a:cs typeface="CERFWG+CambriaMath"/>
              </a:rPr>
              <a:t>≥0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242777" y="2896735"/>
            <a:ext cx="970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3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785388" y="2924283"/>
            <a:ext cx="410839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Rewrite as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ꢐ</a:t>
            </a:r>
            <a:r>
              <a:rPr sz="1900" spc="-6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≥</a:t>
            </a:r>
            <a:r>
              <a:rPr sz="1900" spc="-6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79" dirty="0">
                <a:solidFill>
                  <a:srgbClr val="000000"/>
                </a:solidFill>
                <a:latin typeface="JPMJFC+CambriaMath"/>
                <a:cs typeface="JPMJFC+CambriaMath"/>
              </a:rPr>
              <a:t>1−ꢀ</a:t>
            </a:r>
            <a:r>
              <a:rPr sz="1900" spc="130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-4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  <a:r>
              <a:rPr sz="1900" spc="-6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247817" y="3036943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785388" y="3228967"/>
            <a:ext cx="3672856" cy="3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Case</a:t>
            </a:r>
            <a:r>
              <a:rPr sz="1900" spc="-714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1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: </a:t>
            </a:r>
            <a:r>
              <a:rPr sz="1900" spc="419" dirty="0">
                <a:solidFill>
                  <a:srgbClr val="000000"/>
                </a:solidFill>
                <a:latin typeface="JPMJFC+CambriaMath"/>
                <a:cs typeface="JPMJFC+CambriaMath"/>
              </a:rPr>
              <a:t>1−ꢀ</a:t>
            </a:r>
            <a:r>
              <a:rPr sz="1900" spc="-8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1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288" baseline="366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82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2100" spc="77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900" spc="651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21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-142" baseline="366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  <a:r>
              <a:rPr sz="1900" spc="-1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JPMJFC+CambriaMath"/>
                <a:cs typeface="JPMJFC+CambriaMath"/>
              </a:rPr>
              <a:t>≤0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1064466" y="3588469"/>
            <a:ext cx="5854791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LFULE+Wingdings-Regular"/>
                <a:cs typeface="SLFULE+Wingdings-Regular"/>
              </a:rPr>
              <a:t>Ø</a:t>
            </a:r>
            <a:r>
              <a:rPr sz="1600" spc="-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smallest non-negative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ꢂ</a:t>
            </a:r>
            <a:r>
              <a:rPr sz="1600" spc="-1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that satisfies the constraint is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ꢂ</a:t>
            </a:r>
            <a:r>
              <a:rPr sz="1600" spc="-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216" dirty="0">
                <a:solidFill>
                  <a:srgbClr val="000000"/>
                </a:solidFill>
                <a:latin typeface="CERFWG+CambriaMath"/>
                <a:cs typeface="CERFWG+CambriaMath"/>
              </a:rPr>
              <a:t>=0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.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624106" y="3679836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6276295" y="3679836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785388" y="3850759"/>
            <a:ext cx="3672856" cy="3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Case</a:t>
            </a:r>
            <a:r>
              <a:rPr sz="1900" spc="-714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2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: </a:t>
            </a:r>
            <a:r>
              <a:rPr sz="1900" spc="419" dirty="0">
                <a:solidFill>
                  <a:srgbClr val="000000"/>
                </a:solidFill>
                <a:latin typeface="JPMJFC+CambriaMath"/>
                <a:cs typeface="JPMJFC+CambriaMath"/>
              </a:rPr>
              <a:t>1−ꢀ</a:t>
            </a:r>
            <a:r>
              <a:rPr sz="1900" spc="-8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1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288" baseline="366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82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2100" spc="77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900" spc="651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21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-142" baseline="366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  <a:r>
              <a:rPr sz="1900" spc="-1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JPMJFC+CambriaMath"/>
                <a:cs typeface="JPMJFC+CambriaMath"/>
              </a:rPr>
              <a:t>&gt;0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5981104" y="4182756"/>
            <a:ext cx="834716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200" spc="19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⊺</a:t>
            </a:r>
            <a:r>
              <a:rPr sz="1200" spc="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064465" y="4207213"/>
            <a:ext cx="6318086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LFULE+Wingdings-Regular"/>
                <a:cs typeface="SLFULE+Wingdings-Regular"/>
              </a:rPr>
              <a:t>Ø</a:t>
            </a:r>
            <a:r>
              <a:rPr sz="1600" spc="-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smallest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ꢂ</a:t>
            </a:r>
            <a:r>
              <a:rPr sz="1600" spc="-1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that satisfies the constraint is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ꢂ</a:t>
            </a:r>
            <a:r>
              <a:rPr sz="1600" spc="-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74" dirty="0">
                <a:solidFill>
                  <a:srgbClr val="000000"/>
                </a:solidFill>
                <a:latin typeface="CERFWG+CambriaMath"/>
                <a:cs typeface="CERFWG+CambriaMath"/>
              </a:rPr>
              <a:t>=1−ꢃ</a:t>
            </a:r>
            <a:r>
              <a:rPr sz="1600" spc="9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ꢀ</a:t>
            </a:r>
            <a:r>
              <a:rPr sz="1600" spc="-3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ꢄ</a:t>
            </a:r>
            <a:r>
              <a:rPr sz="1600" spc="9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+ꢁ</a:t>
            </a:r>
            <a:r>
              <a:rPr sz="1600" spc="-5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.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498039" y="4298581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5150227" y="4298581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605983" y="4475599"/>
            <a:ext cx="97035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3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785388" y="4503147"/>
            <a:ext cx="456460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Hence,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ꢐ</a:t>
            </a:r>
            <a:r>
              <a:rPr sz="1900" spc="-6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max{0,1</a:t>
            </a:r>
            <a:r>
              <a:rPr sz="1900" spc="-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15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-4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  <a:r>
              <a:rPr sz="1900" spc="-6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}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.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900948" y="461275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785388" y="4807947"/>
            <a:ext cx="4901210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Therefore, the slack penalty can be written as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3501814" y="5280271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4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4362149" y="5280271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4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944674" y="5551543"/>
            <a:ext cx="97035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23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  <a:r>
              <a:rPr sz="1400" spc="8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3410572" y="5579563"/>
            <a:ext cx="421763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317" dirty="0">
                <a:solidFill>
                  <a:srgbClr val="000000"/>
                </a:solidFill>
                <a:latin typeface="JPMJFC+CambriaMath"/>
                <a:cs typeface="JPMJFC+CambriaMath"/>
              </a:rPr>
              <a:t>Sꢐ</a:t>
            </a:r>
            <a:r>
              <a:rPr sz="1900" spc="-3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9" dirty="0">
                <a:solidFill>
                  <a:srgbClr val="000000"/>
                </a:solidFill>
                <a:latin typeface="JPMJFC+CambriaMath"/>
                <a:cs typeface="JPMJFC+CambriaMath"/>
              </a:rPr>
              <a:t>Smax{0,1</a:t>
            </a:r>
            <a:r>
              <a:rPr sz="1900" spc="-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15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  <a:r>
              <a:rPr sz="1900" spc="-4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ꢉ</a:t>
            </a:r>
            <a:r>
              <a:rPr sz="1900" spc="1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+ꢂ</a:t>
            </a:r>
            <a:r>
              <a:rPr sz="1900" spc="-6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}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3879548" y="5688703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3421682" y="5947783"/>
            <a:ext cx="45108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EFDLT+CambriaMath"/>
                <a:cs typeface="KEFDLT+CambriaMath"/>
              </a:rPr>
              <a:t>,3&amp;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282017" y="5947783"/>
            <a:ext cx="45108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EFDLT+CambriaMath"/>
                <a:cs typeface="KEFDLT+CambriaMath"/>
              </a:rPr>
              <a:t>,3&amp;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844444"/>
            <a:ext cx="10160922" cy="56452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490554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From</a:t>
            </a:r>
            <a:r>
              <a:rPr sz="2500" spc="23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LJRU+Calibri"/>
                <a:cs typeface="WNLJRU+Calibri"/>
              </a:rPr>
              <a:t>Margin</a:t>
            </a:r>
            <a:r>
              <a:rPr sz="2500" spc="11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WNLJRU+Calibri"/>
                <a:cs typeface="WNLJRU+Calibri"/>
              </a:rPr>
              <a:t>Violation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WNLJRU+Calibri"/>
                <a:cs typeface="WNLJRU+Calibri"/>
              </a:rPr>
              <a:t>to</a:t>
            </a:r>
            <a:r>
              <a:rPr sz="2500" spc="12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9" dirty="0">
                <a:solidFill>
                  <a:srgbClr val="001F5F"/>
                </a:solidFill>
                <a:latin typeface="WNLJRU+Calibri"/>
                <a:cs typeface="WNLJRU+Calibri"/>
              </a:rPr>
              <a:t>Hinge</a:t>
            </a:r>
            <a:r>
              <a:rPr sz="2500" dirty="0">
                <a:solidFill>
                  <a:srgbClr val="001F5F"/>
                </a:solidFill>
                <a:latin typeface="WNLJRU+Calibri"/>
                <a:cs typeface="WNLJR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LJRU+Calibri"/>
                <a:cs typeface="WNLJRU+Calibri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90676" y="1817743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80826" y="1817743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⊺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9156" y="1845291"/>
            <a:ext cx="826508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If we write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ꢄ</a:t>
            </a:r>
            <a:r>
              <a:rPr sz="1900" spc="14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4" dirty="0">
                <a:solidFill>
                  <a:srgbClr val="000000"/>
                </a:solidFill>
                <a:latin typeface="JPMJFC+CambriaMath"/>
                <a:cs typeface="JPMJFC+CambriaMath"/>
              </a:rPr>
              <a:t>ꢁ,ꢂ</a:t>
            </a:r>
            <a:r>
              <a:rPr sz="1900" spc="1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JPMJFC+CambriaMath"/>
                <a:cs typeface="JPMJFC+CambriaMath"/>
              </a:rPr>
              <a:t>=ꢁ</a:t>
            </a:r>
            <a:r>
              <a:rPr sz="1900" spc="-9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81" dirty="0">
                <a:solidFill>
                  <a:srgbClr val="000000"/>
                </a:solidFill>
                <a:latin typeface="JPMJFC+CambriaMath"/>
                <a:cs typeface="JPMJFC+CambriaMath"/>
              </a:rPr>
              <a:t>ꢉ+ꢂ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, then the optimization problem can be written as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24110" y="2284087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94390" y="2400498"/>
            <a:ext cx="286010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06637" y="2555359"/>
            <a:ext cx="5847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400" spc="158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84509" y="254926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990485" y="2583378"/>
            <a:ext cx="441903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min</a:t>
            </a:r>
            <a:r>
              <a:rPr sz="1900" spc="-8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S</a:t>
            </a:r>
            <a:r>
              <a:rPr sz="1900" spc="-8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max{0,1</a:t>
            </a:r>
            <a:r>
              <a:rPr sz="1900" spc="-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ꢀ</a:t>
            </a:r>
            <a:r>
              <a:rPr sz="1900" spc="7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ꢄ</a:t>
            </a:r>
            <a:r>
              <a:rPr sz="1900" spc="14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4" dirty="0">
                <a:solidFill>
                  <a:srgbClr val="000000"/>
                </a:solidFill>
                <a:latin typeface="JPMJFC+CambriaMath"/>
                <a:cs typeface="JPMJFC+CambriaMath"/>
              </a:rPr>
              <a:t>ꢁ,ꢂ</a:t>
            </a:r>
            <a:r>
              <a:rPr sz="1900" spc="-4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9" dirty="0">
                <a:solidFill>
                  <a:srgbClr val="000000"/>
                </a:solidFill>
                <a:latin typeface="JPMJFC+CambriaMath"/>
                <a:cs typeface="JPMJFC+CambriaMath"/>
              </a:rPr>
              <a:t>}+</a:t>
            </a:r>
            <a:r>
              <a:rPr sz="1900" spc="2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ꢁ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384509" y="2698615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27681" y="2745057"/>
            <a:ext cx="41278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2ꢑ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5338" y="2802130"/>
            <a:ext cx="638269" cy="23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1300" spc="-31" dirty="0">
                <a:solidFill>
                  <a:srgbClr val="000000"/>
                </a:solidFill>
                <a:latin typeface="EQCBNE+CambriaMath"/>
                <a:cs typeface="EQCBNE+CambriaMath"/>
              </a:rPr>
              <a:t>!</a:t>
            </a:r>
            <a:r>
              <a:rPr sz="1300" dirty="0">
                <a:solidFill>
                  <a:srgbClr val="000000"/>
                </a:solidFill>
                <a:latin typeface="DTHPWB+ArialMT"/>
                <a:cs typeface="DTHPWB+ArialMT"/>
              </a:rPr>
              <a:t>,</a:t>
            </a:r>
            <a:r>
              <a:rPr sz="1300" spc="-10" dirty="0">
                <a:solidFill>
                  <a:srgbClr val="000000"/>
                </a:solidFill>
                <a:latin typeface="DTHPWB+ArialMT"/>
                <a:cs typeface="DTHPWB+ArialMT"/>
              </a:rPr>
              <a:t> </a:t>
            </a:r>
            <a:r>
              <a:rPr sz="1300" spc="10" dirty="0">
                <a:solidFill>
                  <a:srgbClr val="000000"/>
                </a:solidFill>
                <a:latin typeface="EQCBNE+CambriaMath"/>
                <a:cs typeface="EQCBNE+CambriaMath"/>
              </a:rPr>
              <a:t>"</a:t>
            </a:r>
            <a:r>
              <a:rPr sz="1300" dirty="0">
                <a:solidFill>
                  <a:srgbClr val="000000"/>
                </a:solidFill>
                <a:latin typeface="ANILNA+Arial-BoldMT"/>
                <a:cs typeface="ANILNA+Arial-BoldMT"/>
              </a:rPr>
              <a:t>,</a:t>
            </a:r>
            <a:r>
              <a:rPr sz="1300" spc="-428" dirty="0">
                <a:solidFill>
                  <a:srgbClr val="000000"/>
                </a:solidFill>
                <a:latin typeface="ANILNA+Arial-BoldMT"/>
                <a:cs typeface="ANILNA+Arial-BoldMT"/>
              </a:rPr>
              <a:t> </a:t>
            </a:r>
            <a:r>
              <a:rPr sz="1300" dirty="0">
                <a:solidFill>
                  <a:srgbClr val="000000"/>
                </a:solidFill>
                <a:latin typeface="EQCBNE+CambriaMath"/>
                <a:cs typeface="EQCBNE+CambriaMath"/>
              </a:rPr>
              <a:t>#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443978" y="2951599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EFDLT+CambriaMath"/>
                <a:cs typeface="KEFDLT+CambriaMath"/>
              </a:rPr>
              <a:t>,3&amp;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9156" y="3326619"/>
            <a:ext cx="7043805" cy="92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loss function </a:t>
            </a:r>
            <a:r>
              <a:rPr sz="1900" spc="41" dirty="0">
                <a:solidFill>
                  <a:srgbClr val="000000"/>
                </a:solidFill>
                <a:latin typeface="JPMJFC+CambriaMath"/>
                <a:cs typeface="JPMJFC+CambriaMath"/>
              </a:rPr>
              <a:t>ℒ</a:t>
            </a:r>
            <a:r>
              <a:rPr sz="210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5</a:t>
            </a:r>
            <a:r>
              <a:rPr sz="2100" spc="-407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14" dirty="0">
                <a:solidFill>
                  <a:srgbClr val="000000"/>
                </a:solidFill>
                <a:latin typeface="JPMJFC+CambriaMath"/>
                <a:cs typeface="JPMJFC+CambriaMath"/>
              </a:rPr>
              <a:t>ꢄ,ꢀ</a:t>
            </a:r>
            <a:r>
              <a:rPr sz="1900" spc="1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max{0,1</a:t>
            </a:r>
            <a:r>
              <a:rPr sz="1900" spc="-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" dirty="0">
                <a:solidFill>
                  <a:srgbClr val="000000"/>
                </a:solidFill>
                <a:latin typeface="JPMJFC+CambriaMath"/>
                <a:cs typeface="JPMJFC+CambriaMath"/>
              </a:rPr>
              <a:t>ꢀꢄ}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is called the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hinge</a:t>
            </a:r>
            <a:r>
              <a:rPr sz="1900" spc="-713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loss.</a:t>
            </a:r>
          </a:p>
          <a:p>
            <a:pPr marL="0" marR="0">
              <a:lnSpc>
                <a:spcPts val="2320"/>
              </a:lnSpc>
              <a:spcBef>
                <a:spcPts val="1982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second term is the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2100" spc="70" baseline="-21473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-norm of the weights.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9156" y="4481811"/>
            <a:ext cx="8869184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•</a:t>
            </a:r>
            <a:r>
              <a:rPr sz="1900" spc="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Hence, the soft-margin SVM can be seen as a linear classifier with hinge loss and an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210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'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40619" y="4774419"/>
            <a:ext cx="1268760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regularizer.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10496190" y="851321"/>
            <a:ext cx="197209" cy="479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818178" y="461160"/>
            <a:ext cx="464969" cy="283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77732" y="445558"/>
            <a:ext cx="2020834" cy="3040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59367" y="72275"/>
            <a:ext cx="1534032" cy="333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30097" y="73318"/>
            <a:ext cx="216574" cy="3113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04508" y="84712"/>
            <a:ext cx="892461" cy="3192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7699" y="87193"/>
            <a:ext cx="911432" cy="3167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44137" y="92457"/>
            <a:ext cx="542977" cy="3053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82409" y="98735"/>
            <a:ext cx="1129700" cy="3064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82409" y="98735"/>
            <a:ext cx="847514" cy="3064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74095" y="257137"/>
            <a:ext cx="26975" cy="2365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79763" y="207936"/>
            <a:ext cx="14891" cy="2168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87874" y="194736"/>
            <a:ext cx="538973" cy="2490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87874" y="194736"/>
            <a:ext cx="221147" cy="2031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5310" y="144137"/>
            <a:ext cx="133277" cy="1976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0700" y="846384"/>
            <a:ext cx="9929495" cy="659734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00116" y="2585955"/>
            <a:ext cx="2746911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Given an example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(ꢋ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spc="156" dirty="0">
                <a:solidFill>
                  <a:srgbClr val="000000"/>
                </a:solidFill>
                <a:latin typeface="JPMJFC+CambriaMath"/>
                <a:cs typeface="JPMJFC+CambriaMath"/>
              </a:rPr>
              <a:t>,ꢔ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,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00116" y="2878563"/>
            <a:ext cx="3188281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where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ꢋ</a:t>
            </a:r>
            <a:r>
              <a:rPr sz="1900" spc="-1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is the image and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ꢔ</a:t>
            </a:r>
            <a:r>
              <a:rPr sz="1900" spc="-1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is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118274" y="2988175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054657" y="2988175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300116" y="3158979"/>
            <a:ext cx="197094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(integer) label.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296053" y="3552171"/>
            <a:ext cx="3259030" cy="648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and using the shorthand for the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scores vector:</a:t>
            </a:r>
            <a:r>
              <a:rPr sz="1900" spc="-11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ꢕ</a:t>
            </a:r>
            <a:r>
              <a:rPr sz="1900" spc="-5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1" dirty="0">
                <a:solidFill>
                  <a:srgbClr val="000000"/>
                </a:solidFill>
                <a:latin typeface="JPMJFC+CambriaMath"/>
                <a:cs typeface="JPMJFC+CambriaMath"/>
              </a:rPr>
              <a:t>ꢇ(ꢋ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spc="128" dirty="0">
                <a:solidFill>
                  <a:srgbClr val="000000"/>
                </a:solidFill>
                <a:latin typeface="JPMJFC+CambriaMath"/>
                <a:cs typeface="JPMJFC+CambriaMath"/>
              </a:rPr>
              <a:t>,ꢓ)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296053" y="4244067"/>
            <a:ext cx="2820110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SVM loss has the form: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272928" y="4759651"/>
            <a:ext cx="34441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JPMJFC+CambriaMath"/>
                <a:cs typeface="JPMJFC+CambriaMath"/>
              </a:rPr>
              <a:t>=S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max(0,</a:t>
            </a:r>
            <a:r>
              <a:rPr sz="1900" spc="-8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ꢕ</a:t>
            </a:r>
            <a:r>
              <a:rPr sz="1900" spc="-1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JPMJFC+CambriaMath"/>
                <a:cs typeface="JPMJFC+CambriaMath"/>
              </a:rPr>
              <a:t>−ꢕ</a:t>
            </a:r>
            <a:r>
              <a:rPr sz="19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38" dirty="0">
                <a:solidFill>
                  <a:srgbClr val="000000"/>
                </a:solidFill>
                <a:latin typeface="JPMJFC+CambriaMath"/>
                <a:cs typeface="JPMJFC+CambriaMath"/>
              </a:rPr>
              <a:t>+1)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401118" y="4868791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380231" y="4868791"/>
            <a:ext cx="797649" cy="277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  <a:r>
              <a:rPr sz="1400" spc="23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ꢂ</a:t>
            </a:r>
          </a:p>
          <a:p>
            <a:pPr marL="592794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112350" y="5021191"/>
            <a:ext cx="527594" cy="274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000000"/>
                </a:solidFill>
                <a:latin typeface="KEFDLT+CambriaMath"/>
                <a:cs typeface="KEFDLT+CambriaMath"/>
              </a:rPr>
              <a:t>67ꢂ</a:t>
            </a:r>
            <a:r>
              <a:rPr sz="1650" baseline="-20571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10161904" cy="62425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00116" y="2585677"/>
            <a:ext cx="2315682" cy="30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Given an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example </a:t>
            </a:r>
            <a:r>
              <a:rPr sz="1600" spc="-12" dirty="0">
                <a:solidFill>
                  <a:srgbClr val="000000"/>
                </a:solidFill>
                <a:latin typeface="CERFWG+CambriaMath"/>
                <a:cs typeface="CERFWG+CambriaMath"/>
              </a:rPr>
              <a:t>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31" dirty="0">
                <a:solidFill>
                  <a:srgbClr val="000000"/>
                </a:solidFill>
                <a:latin typeface="CERFWG+CambriaMath"/>
                <a:cs typeface="CERFWG+CambriaMath"/>
              </a:rPr>
              <a:t>,ꢆ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-11" dirty="0">
                <a:solidFill>
                  <a:srgbClr val="000000"/>
                </a:solidFill>
                <a:latin typeface="CERFWG+CambriaMath"/>
                <a:cs typeface="CERFWG+CambriaMath"/>
              </a:rPr>
              <a:t>)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00116" y="2826469"/>
            <a:ext cx="300499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where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ꢅ</a:t>
            </a:r>
            <a:r>
              <a:rPr sz="1600" spc="-1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 image and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ꢆ</a:t>
            </a:r>
            <a:r>
              <a:rPr sz="1600" spc="-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81285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8298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00116" y="3067261"/>
            <a:ext cx="135390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(integer) label.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96053" y="3332437"/>
            <a:ext cx="3309622" cy="545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using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shorthand for the scores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vector: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ꢈ(ꢅ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03" dirty="0">
                <a:solidFill>
                  <a:srgbClr val="000000"/>
                </a:solidFill>
                <a:latin typeface="CERFWG+CambriaMath"/>
                <a:cs typeface="CERFWG+CambriaMath"/>
              </a:rPr>
              <a:t>,ꢉ)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96053" y="3905461"/>
            <a:ext cx="23801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SVM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has the form: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64483" y="4241139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71309" y="432906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21047" y="4329060"/>
            <a:ext cx="694901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4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65309" y="4454029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234257" y="4508657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99090" y="4753202"/>
            <a:ext cx="2081049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max</a:t>
            </a:r>
            <a:r>
              <a:rPr sz="1600" spc="-307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0,</a:t>
            </a:r>
            <a:r>
              <a:rPr sz="1600" dirty="0">
                <a:solidFill>
                  <a:srgbClr val="FF0000"/>
                </a:solidFill>
                <a:latin typeface="GRFUIK+CambriaMath"/>
                <a:cs typeface="GRFUIK+CambriaMath"/>
              </a:rPr>
              <a:t>5</a:t>
            </a:r>
            <a:r>
              <a:rPr sz="1600" spc="172" dirty="0">
                <a:solidFill>
                  <a:srgbClr val="FF0000"/>
                </a:solidFill>
                <a:latin typeface="CERFWG+CambriaMath"/>
                <a:cs typeface="CERFWG+CambriaMath"/>
              </a:rPr>
              <a:t>.1−3.2+1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717466" y="4993995"/>
            <a:ext cx="229271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+max(0,</a:t>
            </a:r>
            <a:r>
              <a:rPr sz="1600" spc="-69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−1.7</a:t>
            </a:r>
            <a:r>
              <a:rPr sz="1600" spc="-613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3.2</a:t>
            </a:r>
            <a:r>
              <a:rPr sz="1600" spc="-613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1)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504389" y="5283554"/>
            <a:ext cx="2678691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max</a:t>
            </a:r>
            <a:r>
              <a:rPr sz="1600" spc="-307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0,2.9</a:t>
            </a:r>
            <a:r>
              <a:rPr sz="1600" spc="47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−3.9)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10919" y="5573114"/>
            <a:ext cx="978759" cy="5599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spc="137" dirty="0">
                <a:solidFill>
                  <a:srgbClr val="FF0000"/>
                </a:solidFill>
                <a:latin typeface="CERFWG+CambriaMath"/>
                <a:cs typeface="CERFWG+CambriaMath"/>
              </a:rPr>
              <a:t>2.9+0</a:t>
            </a:r>
          </a:p>
          <a:p>
            <a:pPr marL="0" marR="0">
              <a:lnSpc>
                <a:spcPts val="1876"/>
              </a:lnSpc>
              <a:spcBef>
                <a:spcPts val="305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2.9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65587" y="1054099"/>
            <a:ext cx="10320328" cy="61261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00116" y="2585677"/>
            <a:ext cx="2315682" cy="30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Given an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example </a:t>
            </a:r>
            <a:r>
              <a:rPr sz="1600" spc="-12" dirty="0">
                <a:solidFill>
                  <a:srgbClr val="000000"/>
                </a:solidFill>
                <a:latin typeface="CERFWG+CambriaMath"/>
                <a:cs typeface="CERFWG+CambriaMath"/>
              </a:rPr>
              <a:t>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31" dirty="0">
                <a:solidFill>
                  <a:srgbClr val="000000"/>
                </a:solidFill>
                <a:latin typeface="CERFWG+CambriaMath"/>
                <a:cs typeface="CERFWG+CambriaMath"/>
              </a:rPr>
              <a:t>,ꢆ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-11" dirty="0">
                <a:solidFill>
                  <a:srgbClr val="000000"/>
                </a:solidFill>
                <a:latin typeface="CERFWG+CambriaMath"/>
                <a:cs typeface="CERFWG+CambriaMath"/>
              </a:rPr>
              <a:t>)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00116" y="2826469"/>
            <a:ext cx="300499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where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ꢅ</a:t>
            </a:r>
            <a:r>
              <a:rPr sz="1600" spc="-1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 image and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ꢆ</a:t>
            </a:r>
            <a:r>
              <a:rPr sz="1600" spc="-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81285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8298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00116" y="3067261"/>
            <a:ext cx="135390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(integer) label.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96053" y="3332437"/>
            <a:ext cx="3309622" cy="545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using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shorthand for the scores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vector: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ꢈ(ꢅ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03" dirty="0">
                <a:solidFill>
                  <a:srgbClr val="000000"/>
                </a:solidFill>
                <a:latin typeface="CERFWG+CambriaMath"/>
                <a:cs typeface="CERFWG+CambriaMath"/>
              </a:rPr>
              <a:t>,ꢉ)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96053" y="3905461"/>
            <a:ext cx="23801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SVM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has the form: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64483" y="4241139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71309" y="432906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21047" y="4329060"/>
            <a:ext cx="694901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4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65309" y="4454029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234257" y="4508657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99090" y="4753202"/>
            <a:ext cx="2326746" cy="517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max</a:t>
            </a:r>
            <a:r>
              <a:rPr sz="1600" spc="-307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0,1.3</a:t>
            </a:r>
            <a:r>
              <a:rPr sz="1600" spc="-613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4.9</a:t>
            </a:r>
            <a:r>
              <a:rPr sz="1600" spc="-613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1</a:t>
            </a:r>
          </a:p>
          <a:p>
            <a:pPr marL="218376" marR="0">
              <a:lnSpc>
                <a:spcPts val="1876"/>
              </a:lnSpc>
              <a:spcBef>
                <a:spcPts val="19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+max(0,2.0</a:t>
            </a:r>
            <a:r>
              <a:rPr sz="1600" spc="-613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4.9</a:t>
            </a:r>
            <a:r>
              <a:rPr sz="1600" spc="-613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1)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05243" y="5283554"/>
            <a:ext cx="2863035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max</a:t>
            </a:r>
            <a:r>
              <a:rPr sz="1600" spc="-307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0,</a:t>
            </a:r>
            <a:r>
              <a:rPr sz="1600" spc="-69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−2.6</a:t>
            </a:r>
            <a:r>
              <a:rPr sz="1600" spc="47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−1.9)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510316" y="5573114"/>
            <a:ext cx="825434" cy="5599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374" dirty="0">
                <a:solidFill>
                  <a:srgbClr val="FF0000"/>
                </a:solidFill>
                <a:latin typeface="CERFWG+CambriaMath"/>
                <a:cs typeface="CERFWG+CambriaMath"/>
              </a:rPr>
              <a:t>=0+0</a:t>
            </a:r>
          </a:p>
          <a:p>
            <a:pPr marL="0" marR="0">
              <a:lnSpc>
                <a:spcPts val="1876"/>
              </a:lnSpc>
              <a:spcBef>
                <a:spcPts val="305"/>
              </a:spcBef>
              <a:spcAft>
                <a:spcPts val="0"/>
              </a:spcAft>
            </a:pPr>
            <a:r>
              <a:rPr sz="1600" spc="432" dirty="0">
                <a:solidFill>
                  <a:srgbClr val="FF0000"/>
                </a:solidFill>
                <a:latin typeface="CERFWG+CambriaMath"/>
                <a:cs typeface="CERFWG+CambriaMath"/>
              </a:rPr>
              <a:t>=0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00116" y="2585677"/>
            <a:ext cx="2315682" cy="30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Given an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example </a:t>
            </a:r>
            <a:r>
              <a:rPr sz="1600" spc="-12" dirty="0">
                <a:solidFill>
                  <a:srgbClr val="000000"/>
                </a:solidFill>
                <a:latin typeface="CERFWG+CambriaMath"/>
                <a:cs typeface="CERFWG+CambriaMath"/>
              </a:rPr>
              <a:t>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31" dirty="0">
                <a:solidFill>
                  <a:srgbClr val="000000"/>
                </a:solidFill>
                <a:latin typeface="CERFWG+CambriaMath"/>
                <a:cs typeface="CERFWG+CambriaMath"/>
              </a:rPr>
              <a:t>,ꢆ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-11" dirty="0">
                <a:solidFill>
                  <a:srgbClr val="000000"/>
                </a:solidFill>
                <a:latin typeface="CERFWG+CambriaMath"/>
                <a:cs typeface="CERFWG+CambriaMath"/>
              </a:rPr>
              <a:t>)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00116" y="2826469"/>
            <a:ext cx="300499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where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ꢅ</a:t>
            </a:r>
            <a:r>
              <a:rPr sz="1600" spc="-1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 image and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ꢆ</a:t>
            </a:r>
            <a:r>
              <a:rPr sz="1600" spc="-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81285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8298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00116" y="3067261"/>
            <a:ext cx="135390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(integer) label.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96053" y="3332437"/>
            <a:ext cx="3309622" cy="545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using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shorthand for the scores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vector: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ꢈ(ꢅ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03" dirty="0">
                <a:solidFill>
                  <a:srgbClr val="000000"/>
                </a:solidFill>
                <a:latin typeface="CERFWG+CambriaMath"/>
                <a:cs typeface="CERFWG+CambriaMath"/>
              </a:rPr>
              <a:t>,ꢉ)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96053" y="3905461"/>
            <a:ext cx="23801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SVM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has the form: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64483" y="4241139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71309" y="432906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21047" y="4329060"/>
            <a:ext cx="694901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4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65309" y="4454029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234257" y="4508657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99159" y="4746502"/>
            <a:ext cx="3076636" cy="547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max</a:t>
            </a:r>
            <a:r>
              <a:rPr sz="1600" spc="-307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0,2.2</a:t>
            </a:r>
            <a:r>
              <a:rPr sz="1600" spc="-613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</a:t>
            </a:r>
            <a:r>
              <a:rPr sz="1600" spc="335" dirty="0">
                <a:solidFill>
                  <a:srgbClr val="FF0000"/>
                </a:solidFill>
                <a:latin typeface="KQAJPA+MicrosoftYaHei"/>
                <a:cs typeface="KQAJPA+MicrosoftYaHei"/>
              </a:rPr>
              <a:t>（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3.1</a:t>
            </a:r>
            <a:r>
              <a:rPr sz="1600" spc="335" dirty="0">
                <a:solidFill>
                  <a:srgbClr val="FF0000"/>
                </a:solidFill>
                <a:latin typeface="KQAJPA+MicrosoftYaHei"/>
                <a:cs typeface="KQAJPA+MicrosoftYaHei"/>
              </a:rPr>
              <a:t>）</a:t>
            </a:r>
            <a:r>
              <a:rPr sz="1600" spc="344" dirty="0">
                <a:solidFill>
                  <a:srgbClr val="FF0000"/>
                </a:solidFill>
                <a:latin typeface="CERFWG+CambriaMath"/>
                <a:cs typeface="CERFWG+CambriaMath"/>
              </a:rPr>
              <a:t>+1</a:t>
            </a:r>
          </a:p>
          <a:p>
            <a:pPr marL="325905" marR="0">
              <a:lnSpc>
                <a:spcPts val="189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+max(0,2.</a:t>
            </a:r>
            <a:r>
              <a:rPr sz="1600" spc="347" dirty="0">
                <a:solidFill>
                  <a:srgbClr val="FF0000"/>
                </a:solidFill>
                <a:latin typeface="GRFUIK+CambriaMath"/>
                <a:cs typeface="GRFUIK+CambriaMath"/>
              </a:rPr>
              <a:t>5</a:t>
            </a:r>
            <a:r>
              <a:rPr sz="1600" spc="344" dirty="0">
                <a:solidFill>
                  <a:srgbClr val="FF0000"/>
                </a:solidFill>
                <a:latin typeface="CERFWG+CambriaMath"/>
                <a:cs typeface="CERFWG+CambriaMath"/>
              </a:rPr>
              <a:t>−</a:t>
            </a:r>
            <a:r>
              <a:rPr sz="1600" spc="335" dirty="0">
                <a:solidFill>
                  <a:srgbClr val="FF0000"/>
                </a:solidFill>
                <a:latin typeface="KQAJPA+MicrosoftYaHei"/>
                <a:cs typeface="KQAJPA+MicrosoftYaHei"/>
              </a:rPr>
              <a:t>（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−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3.1</a:t>
            </a:r>
            <a:r>
              <a:rPr sz="1600" spc="335" dirty="0">
                <a:solidFill>
                  <a:srgbClr val="FF0000"/>
                </a:solidFill>
                <a:latin typeface="KQAJPA+MicrosoftYaHei"/>
                <a:cs typeface="KQAJPA+MicrosoftYaHei"/>
              </a:rPr>
              <a:t>）</a:t>
            </a:r>
            <a:r>
              <a:rPr sz="1600" spc="113" dirty="0">
                <a:solidFill>
                  <a:srgbClr val="FF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02932" y="5283554"/>
            <a:ext cx="2494347" cy="566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max</a:t>
            </a:r>
            <a:r>
              <a:rPr sz="1600" spc="-307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0,6.3</a:t>
            </a:r>
            <a:r>
              <a:rPr sz="1600" spc="47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max(0,6.6)</a:t>
            </a:r>
          </a:p>
          <a:p>
            <a:pPr marL="10449" marR="0">
              <a:lnSpc>
                <a:spcPts val="1876"/>
              </a:lnSpc>
              <a:spcBef>
                <a:spcPts val="403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spc="97" dirty="0">
                <a:solidFill>
                  <a:srgbClr val="FF0000"/>
                </a:solidFill>
                <a:latin typeface="CERFWG+CambriaMath"/>
                <a:cs typeface="CERFWG+CambriaMath"/>
              </a:rPr>
              <a:t>6.3+6.6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902849" y="5334376"/>
            <a:ext cx="622223" cy="30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4FE"/>
                </a:solidFill>
                <a:latin typeface="QHFJQJ+ArialMT"/>
                <a:cs typeface="QHFJQJ+ArialMT"/>
              </a:rPr>
              <a:t>12.9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11572" y="5856578"/>
            <a:ext cx="736755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12.9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5608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00116" y="2585677"/>
            <a:ext cx="2315682" cy="30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Given an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example </a:t>
            </a:r>
            <a:r>
              <a:rPr sz="1600" spc="-12" dirty="0">
                <a:solidFill>
                  <a:srgbClr val="000000"/>
                </a:solidFill>
                <a:latin typeface="CERFWG+CambriaMath"/>
                <a:cs typeface="CERFWG+CambriaMath"/>
              </a:rPr>
              <a:t>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31" dirty="0">
                <a:solidFill>
                  <a:srgbClr val="000000"/>
                </a:solidFill>
                <a:latin typeface="CERFWG+CambriaMath"/>
                <a:cs typeface="CERFWG+CambriaMath"/>
              </a:rPr>
              <a:t>,ꢆ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-11" dirty="0">
                <a:solidFill>
                  <a:srgbClr val="000000"/>
                </a:solidFill>
                <a:latin typeface="CERFWG+CambriaMath"/>
                <a:cs typeface="CERFWG+CambriaMath"/>
              </a:rPr>
              <a:t>)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00116" y="2826469"/>
            <a:ext cx="300499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where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ꢅ</a:t>
            </a:r>
            <a:r>
              <a:rPr sz="1600" spc="-1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 image and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ꢆ</a:t>
            </a:r>
            <a:r>
              <a:rPr sz="1600" spc="-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81285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8298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00116" y="3067261"/>
            <a:ext cx="135390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(integer) label.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96053" y="3332437"/>
            <a:ext cx="3309622" cy="545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using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shorthand for the scores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vector: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ꢈ(ꢅ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03" dirty="0">
                <a:solidFill>
                  <a:srgbClr val="000000"/>
                </a:solidFill>
                <a:latin typeface="CERFWG+CambriaMath"/>
                <a:cs typeface="CERFWG+CambriaMath"/>
              </a:rPr>
              <a:t>,ꢉ)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96053" y="3905461"/>
            <a:ext cx="23801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SVM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has the form: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64483" y="4241139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71309" y="432906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21047" y="4329060"/>
            <a:ext cx="694901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4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65309" y="4454029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234257" y="4508657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296054" y="4816813"/>
            <a:ext cx="3530200" cy="755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the full training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is the mean over</a:t>
            </a:r>
          </a:p>
          <a:p>
            <a:pPr marL="0" marR="0">
              <a:lnSpc>
                <a:spcPts val="189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all examples in</a:t>
            </a:r>
            <a:r>
              <a:rPr sz="1600" spc="-16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training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data:</a:t>
            </a:r>
          </a:p>
          <a:p>
            <a:pPr marL="1367307" marR="0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1</a:t>
            </a:r>
            <a:r>
              <a:rPr sz="1600" spc="15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(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874258" y="5319136"/>
            <a:ext cx="2579842" cy="30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QHFJQJ+ArialMT"/>
                <a:cs typeface="QHFJQJ+ArialMT"/>
              </a:rPr>
              <a:t>2.9</a:t>
            </a:r>
            <a:r>
              <a:rPr sz="1900" spc="4911" dirty="0">
                <a:solidFill>
                  <a:srgbClr val="0033FE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33FE"/>
                </a:solidFill>
                <a:latin typeface="QHFJQJ+ArialMT"/>
                <a:cs typeface="QHFJQJ+ArialMT"/>
              </a:rPr>
              <a:t>0</a:t>
            </a:r>
            <a:r>
              <a:rPr sz="1900" spc="4527" dirty="0">
                <a:solidFill>
                  <a:srgbClr val="0033FE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33FE"/>
                </a:solidFill>
                <a:latin typeface="QHFJQJ+ArialMT"/>
                <a:cs typeface="QHFJQJ+ArialMT"/>
              </a:rPr>
              <a:t>12.9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269842" y="5448146"/>
            <a:ext cx="1334837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63" dirty="0">
                <a:solidFill>
                  <a:srgbClr val="000000"/>
                </a:solidFill>
                <a:latin typeface="CERFWG+CambriaMath"/>
                <a:cs typeface="CERFWG+CambriaMath"/>
              </a:rPr>
              <a:t>ꢊ=</a:t>
            </a:r>
            <a:r>
              <a:rPr sz="1600" spc="4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5</a:t>
            </a:r>
            <a:r>
              <a:rPr sz="1600" spc="9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451055" y="553606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643303" y="5582371"/>
            <a:ext cx="30122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ꢋ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095390" y="5661036"/>
            <a:ext cx="404886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!&amp;'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901324" y="5807810"/>
            <a:ext cx="2136748" cy="5568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ꢊ</a:t>
            </a:r>
            <a:r>
              <a:rPr sz="1600" spc="-49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(2.9</a:t>
            </a:r>
            <a:r>
              <a:rPr sz="1600" spc="-613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0</a:t>
            </a:r>
            <a:r>
              <a:rPr sz="1600" spc="-613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+</a:t>
            </a:r>
            <a:r>
              <a:rPr sz="1600" spc="-61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12.9)/3</a:t>
            </a:r>
          </a:p>
          <a:p>
            <a:pPr marL="183009" marR="0">
              <a:lnSpc>
                <a:spcPts val="1876"/>
              </a:lnSpc>
              <a:spcBef>
                <a:spcPts val="331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600" spc="62" dirty="0">
                <a:solidFill>
                  <a:srgbClr val="FF0000"/>
                </a:solidFill>
                <a:latin typeface="CERFWG+CambriaMath"/>
                <a:cs typeface="CERFWG+CambriaMath"/>
              </a:rPr>
              <a:t>ꢌ.ꢍꢎ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91172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00116" y="2585677"/>
            <a:ext cx="2315682" cy="30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Given an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example </a:t>
            </a:r>
            <a:r>
              <a:rPr sz="1600" spc="-12" dirty="0">
                <a:solidFill>
                  <a:srgbClr val="000000"/>
                </a:solidFill>
                <a:latin typeface="CERFWG+CambriaMath"/>
                <a:cs typeface="CERFWG+CambriaMath"/>
              </a:rPr>
              <a:t>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31" dirty="0">
                <a:solidFill>
                  <a:srgbClr val="000000"/>
                </a:solidFill>
                <a:latin typeface="CERFWG+CambriaMath"/>
                <a:cs typeface="CERFWG+CambriaMath"/>
              </a:rPr>
              <a:t>,ꢆ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-11" dirty="0">
                <a:solidFill>
                  <a:srgbClr val="000000"/>
                </a:solidFill>
                <a:latin typeface="CERFWG+CambriaMath"/>
                <a:cs typeface="CERFWG+CambriaMath"/>
              </a:rPr>
              <a:t>)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00116" y="2826469"/>
            <a:ext cx="300499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where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ꢅ</a:t>
            </a:r>
            <a:r>
              <a:rPr sz="1600" spc="-1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 image and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ꢆ</a:t>
            </a:r>
            <a:r>
              <a:rPr sz="1600" spc="-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81285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8298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00116" y="3067261"/>
            <a:ext cx="135390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(integer) label.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96053" y="3332437"/>
            <a:ext cx="3309622" cy="545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using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shorthand for the scores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vector: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ꢈ(ꢅ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03" dirty="0">
                <a:solidFill>
                  <a:srgbClr val="000000"/>
                </a:solidFill>
                <a:latin typeface="CERFWG+CambriaMath"/>
                <a:cs typeface="CERFWG+CambriaMath"/>
              </a:rPr>
              <a:t>,ꢉ)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96053" y="3905461"/>
            <a:ext cx="23801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SVM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has the form: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64483" y="4241139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71309" y="432906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21047" y="4329060"/>
            <a:ext cx="694901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4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65309" y="4454029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234257" y="4508657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296054" y="4694893"/>
            <a:ext cx="3323436" cy="527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Q: </a:t>
            </a:r>
            <a:r>
              <a:rPr sz="1600" spc="-10" dirty="0">
                <a:solidFill>
                  <a:srgbClr val="FF0000"/>
                </a:solidFill>
                <a:latin typeface="UGGSCC+Calibri"/>
                <a:cs typeface="UGGSCC+Calibri"/>
              </a:rPr>
              <a:t>what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 if the sum</a:t>
            </a:r>
            <a:r>
              <a:rPr sz="1600" spc="-10" dirty="0">
                <a:solidFill>
                  <a:srgbClr val="FF0000"/>
                </a:solidFill>
                <a:latin typeface="UGGSCC+Calibri"/>
                <a:cs typeface="UGGSCC+Calibri"/>
              </a:rPr>
              <a:t> was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 instead</a:t>
            </a:r>
            <a:r>
              <a:rPr sz="1600" spc="-11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over all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classes?</a:t>
            </a:r>
            <a:r>
              <a:rPr sz="1600" spc="-12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(including</a:t>
            </a:r>
            <a:r>
              <a:rPr sz="1600" spc="-12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j=y_i)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566577" y="5340473"/>
            <a:ext cx="622223" cy="30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12.9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00116" y="2585677"/>
            <a:ext cx="2315682" cy="30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Given an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example </a:t>
            </a:r>
            <a:r>
              <a:rPr sz="1600" spc="-12" dirty="0">
                <a:solidFill>
                  <a:srgbClr val="000000"/>
                </a:solidFill>
                <a:latin typeface="CERFWG+CambriaMath"/>
                <a:cs typeface="CERFWG+CambriaMath"/>
              </a:rPr>
              <a:t>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31" dirty="0">
                <a:solidFill>
                  <a:srgbClr val="000000"/>
                </a:solidFill>
                <a:latin typeface="CERFWG+CambriaMath"/>
                <a:cs typeface="CERFWG+CambriaMath"/>
              </a:rPr>
              <a:t>,ꢆ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-11" dirty="0">
                <a:solidFill>
                  <a:srgbClr val="000000"/>
                </a:solidFill>
                <a:latin typeface="CERFWG+CambriaMath"/>
                <a:cs typeface="CERFWG+CambriaMath"/>
              </a:rPr>
              <a:t>)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00116" y="2826469"/>
            <a:ext cx="300499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where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ꢅ</a:t>
            </a:r>
            <a:r>
              <a:rPr sz="1600" spc="-1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 image and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ꢆ</a:t>
            </a:r>
            <a:r>
              <a:rPr sz="1600" spc="-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81285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8298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00116" y="3067261"/>
            <a:ext cx="135390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(integer) label.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96053" y="3332437"/>
            <a:ext cx="3309622" cy="545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using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shorthand for the scores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vector: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ꢈ(ꢅ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03" dirty="0">
                <a:solidFill>
                  <a:srgbClr val="000000"/>
                </a:solidFill>
                <a:latin typeface="CERFWG+CambriaMath"/>
                <a:cs typeface="CERFWG+CambriaMath"/>
              </a:rPr>
              <a:t>,ꢉ)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96053" y="3905461"/>
            <a:ext cx="23801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SVM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has the form: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64483" y="4241139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71309" y="432906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21047" y="4329060"/>
            <a:ext cx="694901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4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65309" y="4454029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234257" y="4508657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296054" y="4694893"/>
            <a:ext cx="3434486" cy="527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Q2: </a:t>
            </a:r>
            <a:r>
              <a:rPr sz="1600" spc="-10" dirty="0">
                <a:solidFill>
                  <a:srgbClr val="FF0000"/>
                </a:solidFill>
                <a:latin typeface="UGGSCC+Calibri"/>
                <a:cs typeface="UGGSCC+Calibri"/>
              </a:rPr>
              <a:t>what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 if </a:t>
            </a:r>
            <a:r>
              <a:rPr sz="1600" spc="-16" dirty="0">
                <a:solidFill>
                  <a:srgbClr val="FF0000"/>
                </a:solidFill>
                <a:latin typeface="UGGSCC+Calibri"/>
                <a:cs typeface="UGGSCC+Calibri"/>
              </a:rPr>
              <a:t>we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 used</a:t>
            </a:r>
            <a:r>
              <a:rPr sz="1600" spc="-10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a</a:t>
            </a:r>
            <a:r>
              <a:rPr sz="1600" spc="-10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mean instead</a:t>
            </a:r>
            <a:r>
              <a:rPr sz="1600" spc="-11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spc="-13" dirty="0">
                <a:solidFill>
                  <a:srgbClr val="FF0000"/>
                </a:solidFill>
                <a:latin typeface="UGGSCC+Calibri"/>
                <a:cs typeface="UGGSCC+Calibri"/>
              </a:rPr>
              <a:t>of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 a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sum</a:t>
            </a:r>
            <a:r>
              <a:rPr sz="1600" spc="-11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here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566577" y="5340473"/>
            <a:ext cx="622223" cy="30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12.9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5508354" y="6865183"/>
            <a:ext cx="1553402" cy="6166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9918786" y="7099398"/>
            <a:ext cx="36744" cy="411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89621" y="6792493"/>
            <a:ext cx="1762742" cy="3589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611" y="6833735"/>
            <a:ext cx="446976" cy="3878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08833" y="6857996"/>
            <a:ext cx="465521" cy="3367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08833" y="6866033"/>
            <a:ext cx="258522" cy="2824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93530" y="6865183"/>
            <a:ext cx="668226" cy="2817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46365" y="6966762"/>
            <a:ext cx="43157" cy="1697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02525" y="6928013"/>
            <a:ext cx="505607" cy="2579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08354" y="6967423"/>
            <a:ext cx="159718" cy="1774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0700" y="1054099"/>
            <a:ext cx="9652000" cy="571655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00116" y="2585677"/>
            <a:ext cx="2315682" cy="30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Given an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example </a:t>
            </a:r>
            <a:r>
              <a:rPr sz="1600" spc="-12" dirty="0">
                <a:solidFill>
                  <a:srgbClr val="000000"/>
                </a:solidFill>
                <a:latin typeface="CERFWG+CambriaMath"/>
                <a:cs typeface="CERFWG+CambriaMath"/>
              </a:rPr>
              <a:t>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31" dirty="0">
                <a:solidFill>
                  <a:srgbClr val="000000"/>
                </a:solidFill>
                <a:latin typeface="CERFWG+CambriaMath"/>
                <a:cs typeface="CERFWG+CambriaMath"/>
              </a:rPr>
              <a:t>,ꢆ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-11" dirty="0">
                <a:solidFill>
                  <a:srgbClr val="000000"/>
                </a:solidFill>
                <a:latin typeface="CERFWG+CambriaMath"/>
                <a:cs typeface="CERFWG+CambriaMath"/>
              </a:rPr>
              <a:t>)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,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00116" y="2826469"/>
            <a:ext cx="300499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where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ꢅ</a:t>
            </a:r>
            <a:r>
              <a:rPr sz="1600" spc="-1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 image and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ꢆ</a:t>
            </a:r>
            <a:r>
              <a:rPr sz="1600" spc="-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81285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98298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300116" y="3067261"/>
            <a:ext cx="135390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(integer) label.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296053" y="3332437"/>
            <a:ext cx="3309622" cy="545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using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shorthand for the scores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vector: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ꢈ(ꢅ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03" dirty="0">
                <a:solidFill>
                  <a:srgbClr val="000000"/>
                </a:solidFill>
                <a:latin typeface="CERFWG+CambriaMath"/>
                <a:cs typeface="CERFWG+CambriaMath"/>
              </a:rPr>
              <a:t>,ꢉ)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296053" y="3905461"/>
            <a:ext cx="23801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SVM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has the form: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264483" y="4241139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371309" y="432906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021047" y="4329060"/>
            <a:ext cx="694901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4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965309" y="4454029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234257" y="4508657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296054" y="4694893"/>
            <a:ext cx="178254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Q3: </a:t>
            </a:r>
            <a:r>
              <a:rPr sz="1600" spc="-10" dirty="0">
                <a:solidFill>
                  <a:srgbClr val="FF0000"/>
                </a:solidFill>
                <a:latin typeface="UGGSCC+Calibri"/>
                <a:cs typeface="UGGSCC+Calibri"/>
              </a:rPr>
              <a:t>what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 if </a:t>
            </a:r>
            <a:r>
              <a:rPr sz="1600" spc="-16" dirty="0">
                <a:solidFill>
                  <a:srgbClr val="FF0000"/>
                </a:solidFill>
                <a:latin typeface="UGGSCC+Calibri"/>
                <a:cs typeface="UGGSCC+Calibri"/>
              </a:rPr>
              <a:t>we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 used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011380" y="5115444"/>
            <a:ext cx="240580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265336" y="5140298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372162" y="522822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021900" y="5228220"/>
            <a:ext cx="694903" cy="244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6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566577" y="5340473"/>
            <a:ext cx="622223" cy="30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12.9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966162" y="5356236"/>
            <a:ext cx="469035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  <a:p>
            <a:pPr marL="268948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00116" y="2585677"/>
            <a:ext cx="2315682" cy="30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Given an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example </a:t>
            </a:r>
            <a:r>
              <a:rPr sz="1600" spc="-12" dirty="0">
                <a:solidFill>
                  <a:srgbClr val="000000"/>
                </a:solidFill>
                <a:latin typeface="CERFWG+CambriaMath"/>
                <a:cs typeface="CERFWG+CambriaMath"/>
              </a:rPr>
              <a:t>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31" dirty="0">
                <a:solidFill>
                  <a:srgbClr val="000000"/>
                </a:solidFill>
                <a:latin typeface="CERFWG+CambriaMath"/>
                <a:cs typeface="CERFWG+CambriaMath"/>
              </a:rPr>
              <a:t>,ꢆ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-11" dirty="0">
                <a:solidFill>
                  <a:srgbClr val="000000"/>
                </a:solidFill>
                <a:latin typeface="CERFWG+CambriaMath"/>
                <a:cs typeface="CERFWG+CambriaMath"/>
              </a:rPr>
              <a:t>)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00116" y="2826469"/>
            <a:ext cx="300499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where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ꢅ</a:t>
            </a:r>
            <a:r>
              <a:rPr sz="1600" spc="-1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 image and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ꢆ</a:t>
            </a:r>
            <a:r>
              <a:rPr sz="1600" spc="-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81285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8298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00116" y="3067261"/>
            <a:ext cx="135390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(integer) label.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96053" y="3332437"/>
            <a:ext cx="3309622" cy="545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using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shorthand for the scores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vector: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ꢈ(ꢅ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03" dirty="0">
                <a:solidFill>
                  <a:srgbClr val="000000"/>
                </a:solidFill>
                <a:latin typeface="CERFWG+CambriaMath"/>
                <a:cs typeface="CERFWG+CambriaMath"/>
              </a:rPr>
              <a:t>,ꢉ)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96053" y="3905461"/>
            <a:ext cx="23801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SVM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has the form: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64483" y="4241139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71309" y="432906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21047" y="4329060"/>
            <a:ext cx="694901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4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65309" y="4454029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234257" y="4508657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296054" y="4694893"/>
            <a:ext cx="32434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Q4: </a:t>
            </a:r>
            <a:r>
              <a:rPr sz="1600" spc="-10" dirty="0">
                <a:solidFill>
                  <a:srgbClr val="FF0000"/>
                </a:solidFill>
                <a:latin typeface="UGGSCC+Calibri"/>
                <a:cs typeface="UGGSCC+Calibri"/>
              </a:rPr>
              <a:t>what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 is the min/max possible loss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566577" y="5340473"/>
            <a:ext cx="622223" cy="30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12.9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1720013" y="7484225"/>
            <a:ext cx="2600777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297275" y="1054099"/>
            <a:ext cx="10208320" cy="63983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4" y="1221007"/>
            <a:ext cx="283861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TMTHJR+Calibri-Bold"/>
                <a:cs typeface="TMTHJR+Calibri-Bold"/>
              </a:rPr>
              <a:t>Multiclass</a:t>
            </a:r>
            <a:r>
              <a:rPr sz="2500" spc="-928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10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Loss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1149" y="2220195"/>
            <a:ext cx="405022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Suppose: 3 training examples, 3 classes.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00116" y="2220195"/>
            <a:ext cx="219352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Multiclass</a:t>
            </a:r>
            <a:r>
              <a:rPr sz="1900" spc="-71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SVM</a:t>
            </a:r>
            <a:r>
              <a:rPr sz="1900" spc="-716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loss: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41149" y="2512803"/>
            <a:ext cx="451981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With some W the scores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ꢇ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JPMJFC+CambriaMath"/>
                <a:cs typeface="JPMJFC+CambriaMath"/>
              </a:rPr>
              <a:t>ꢌ,ꢓ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JPMJFC+CambriaMath"/>
                <a:cs typeface="JPMJFC+CambriaMath"/>
              </a:rPr>
              <a:t>=ꢓꢌ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are: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00116" y="2585677"/>
            <a:ext cx="2315682" cy="30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Given an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example </a:t>
            </a:r>
            <a:r>
              <a:rPr sz="1600" spc="-12" dirty="0">
                <a:solidFill>
                  <a:srgbClr val="000000"/>
                </a:solidFill>
                <a:latin typeface="CERFWG+CambriaMath"/>
                <a:cs typeface="CERFWG+CambriaMath"/>
              </a:rPr>
              <a:t>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31" dirty="0">
                <a:solidFill>
                  <a:srgbClr val="000000"/>
                </a:solidFill>
                <a:latin typeface="CERFWG+CambriaMath"/>
                <a:cs typeface="CERFWG+CambriaMath"/>
              </a:rPr>
              <a:t>,ꢆ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-11" dirty="0">
                <a:solidFill>
                  <a:srgbClr val="000000"/>
                </a:solidFill>
                <a:latin typeface="CERFWG+CambriaMath"/>
                <a:cs typeface="CERFWG+CambriaMath"/>
              </a:rPr>
              <a:t>)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00116" y="2826469"/>
            <a:ext cx="300499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where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ꢅ</a:t>
            </a:r>
            <a:r>
              <a:rPr sz="1600" spc="-1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 image and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ꢆ</a:t>
            </a:r>
            <a:r>
              <a:rPr sz="1600" spc="-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is the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81285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598298" y="2914788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00116" y="3067261"/>
            <a:ext cx="135390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(integer) label.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96053" y="3332437"/>
            <a:ext cx="3309622" cy="545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and using</a:t>
            </a:r>
            <a:r>
              <a:rPr sz="1600" spc="-11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shorthand for the scores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vector: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4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ꢈ(ꢅ</a:t>
            </a:r>
            <a:r>
              <a:rPr sz="1800" spc="90" baseline="-19499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  <a:r>
              <a:rPr sz="1600" spc="103" dirty="0">
                <a:solidFill>
                  <a:srgbClr val="000000"/>
                </a:solidFill>
                <a:latin typeface="CERFWG+CambriaMath"/>
                <a:cs typeface="CERFWG+CambriaMath"/>
              </a:rPr>
              <a:t>,ꢉ)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96053" y="3905461"/>
            <a:ext cx="238019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The SVM</a:t>
            </a:r>
            <a:r>
              <a:rPr sz="1600" spc="-12" dirty="0">
                <a:solidFill>
                  <a:srgbClr val="00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UGGSCC+Calibri"/>
                <a:cs typeface="UGGSCC+Calibri"/>
              </a:rPr>
              <a:t>loss has the form: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264483" y="4241139"/>
            <a:ext cx="289983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71309" y="4329060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021047" y="4329060"/>
            <a:ext cx="694901" cy="2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</a:p>
          <a:p>
            <a:pPr marL="494814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965309" y="4454029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34257" y="4508657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296054" y="4694893"/>
            <a:ext cx="3330953" cy="527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Q5: usually</a:t>
            </a:r>
            <a:r>
              <a:rPr sz="1600" spc="-12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at initialization</a:t>
            </a:r>
            <a:r>
              <a:rPr sz="1600" spc="-11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W</a:t>
            </a:r>
            <a:r>
              <a:rPr sz="1600" spc="-24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are small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numbers so</a:t>
            </a:r>
            <a:r>
              <a:rPr sz="1600" spc="-16" dirty="0">
                <a:solidFill>
                  <a:srgbClr val="FF0000"/>
                </a:solidFill>
                <a:latin typeface="UGGSCC+Calibri"/>
                <a:cs typeface="UGGSCC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all s ~=0. </a:t>
            </a:r>
            <a:r>
              <a:rPr sz="1600" spc="-10" dirty="0">
                <a:solidFill>
                  <a:srgbClr val="FF0000"/>
                </a:solidFill>
                <a:latin typeface="UGGSCC+Calibri"/>
                <a:cs typeface="UGGSCC+Calibri"/>
              </a:rPr>
              <a:t>What</a:t>
            </a:r>
            <a:r>
              <a:rPr sz="1600" dirty="0">
                <a:solidFill>
                  <a:srgbClr val="FF0000"/>
                </a:solidFill>
                <a:latin typeface="UGGSCC+Calibri"/>
                <a:cs typeface="UGGSCC+Calibri"/>
              </a:rPr>
              <a:t> is the loss?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566577" y="5340473"/>
            <a:ext cx="622223" cy="30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12.9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2173" y="2034267"/>
            <a:ext cx="524079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80797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2173" y="2034267"/>
            <a:ext cx="524079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69325" y="2966677"/>
            <a:ext cx="463484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scores</a:t>
            </a:r>
            <a:r>
              <a:rPr sz="1600" spc="-603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=</a:t>
            </a:r>
            <a:r>
              <a:rPr sz="1600" spc="-608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unnormalized</a:t>
            </a:r>
            <a:r>
              <a:rPr sz="1600" spc="-603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log</a:t>
            </a:r>
            <a:r>
              <a:rPr sz="1600" spc="-602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probabilities</a:t>
            </a:r>
            <a:r>
              <a:rPr sz="1600" spc="-601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of</a:t>
            </a:r>
            <a:r>
              <a:rPr sz="1600" spc="-595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the</a:t>
            </a:r>
            <a:r>
              <a:rPr sz="1600" spc="-598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classes.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28904" y="3525210"/>
            <a:ext cx="1483531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ꢕ</a:t>
            </a:r>
            <a:r>
              <a:rPr sz="1900" spc="-5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1" dirty="0">
                <a:solidFill>
                  <a:srgbClr val="000000"/>
                </a:solidFill>
                <a:latin typeface="JPMJFC+CambriaMath"/>
                <a:cs typeface="JPMJFC+CambriaMath"/>
              </a:rPr>
              <a:t>ꢇ(ꢋ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spc="130" dirty="0">
                <a:solidFill>
                  <a:srgbClr val="000000"/>
                </a:solidFill>
                <a:latin typeface="JPMJFC+CambriaMath"/>
                <a:cs typeface="JPMJFC+CambriaMath"/>
              </a:rPr>
              <a:t>;ꢓ)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02173" y="2034267"/>
            <a:ext cx="524079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69325" y="2966677"/>
            <a:ext cx="4634849" cy="286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scores</a:t>
            </a:r>
            <a:r>
              <a:rPr sz="1600" spc="-603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=</a:t>
            </a:r>
            <a:r>
              <a:rPr sz="1600" spc="-608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unnormalized</a:t>
            </a:r>
            <a:r>
              <a:rPr sz="1600" spc="-603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log</a:t>
            </a:r>
            <a:r>
              <a:rPr sz="1600" spc="-602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probabilities</a:t>
            </a:r>
            <a:r>
              <a:rPr sz="1600" spc="-601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of</a:t>
            </a:r>
            <a:r>
              <a:rPr sz="1600" spc="-595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the</a:t>
            </a:r>
            <a:r>
              <a:rPr sz="1600" spc="-598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classes.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1320" y="3292975"/>
            <a:ext cx="376328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43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  <a:r>
              <a:rPr sz="21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74672" y="3365775"/>
            <a:ext cx="242168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$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68459" y="3503875"/>
            <a:ext cx="2130050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ꢖ</a:t>
            </a:r>
            <a:r>
              <a:rPr sz="1900" spc="-3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76" dirty="0">
                <a:solidFill>
                  <a:srgbClr val="000000"/>
                </a:solidFill>
                <a:latin typeface="JPMJFC+CambriaMath"/>
                <a:cs typeface="JPMJFC+CambriaMath"/>
              </a:rPr>
              <a:t>ꢗ=ꢘꢙ=ꢋ</a:t>
            </a:r>
            <a:r>
              <a:rPr sz="210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175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50205" y="3524739"/>
            <a:ext cx="2262229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where</a:t>
            </a:r>
            <a:r>
              <a:rPr sz="1900" spc="786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ꢕ</a:t>
            </a:r>
            <a:r>
              <a:rPr sz="1900" spc="-5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1" dirty="0">
                <a:solidFill>
                  <a:srgbClr val="000000"/>
                </a:solidFill>
                <a:latin typeface="JPMJFC+CambriaMath"/>
                <a:cs typeface="JPMJFC+CambriaMath"/>
              </a:rPr>
              <a:t>ꢇ(ꢋ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spc="130" dirty="0">
                <a:solidFill>
                  <a:srgbClr val="000000"/>
                </a:solidFill>
                <a:latin typeface="JPMJFC+CambriaMath"/>
                <a:cs typeface="JPMJFC+CambriaMath"/>
              </a:rPr>
              <a:t>;ꢓ)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12571" y="3631402"/>
            <a:ext cx="676495" cy="408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2100" spc="360" baseline="-31578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  <a:r>
              <a:rPr sz="1900" spc="143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  <a:r>
              <a:rPr sz="2100" strike="sngStrike" baseline="35368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36091" y="3704103"/>
            <a:ext cx="220749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"/>
          <p:cNvSpPr/>
          <p:nvPr/>
        </p:nvSpPr>
        <p:spPr>
          <a:xfrm>
            <a:off x="7533950" y="7212815"/>
            <a:ext cx="244361" cy="2567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7073446" y="7303019"/>
            <a:ext cx="335310" cy="2253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31795" y="7343826"/>
            <a:ext cx="255140" cy="1277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34156" y="7326813"/>
            <a:ext cx="202626" cy="1161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47934" y="7312721"/>
            <a:ext cx="118448" cy="1474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63465" y="7350859"/>
            <a:ext cx="160378" cy="1318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08902" y="7215121"/>
            <a:ext cx="387728" cy="3067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73629" y="7376855"/>
            <a:ext cx="174269" cy="13230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73629" y="7376855"/>
            <a:ext cx="136521" cy="13230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19714" y="7391749"/>
            <a:ext cx="24240" cy="1095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08902" y="7215121"/>
            <a:ext cx="382559" cy="14295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61123" y="7353566"/>
            <a:ext cx="111450" cy="736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5545" y="7252089"/>
            <a:ext cx="531746" cy="29288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36374" y="6909928"/>
            <a:ext cx="306599" cy="2664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40412" y="7012769"/>
            <a:ext cx="195487" cy="1162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00537" y="6939978"/>
            <a:ext cx="301346" cy="21132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00537" y="7002337"/>
            <a:ext cx="106018" cy="13439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81470" y="6998066"/>
            <a:ext cx="165305" cy="1122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36171" y="6844173"/>
            <a:ext cx="410133" cy="33564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36252" y="6995335"/>
            <a:ext cx="84819" cy="2028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35049" y="6941035"/>
            <a:ext cx="89325" cy="2722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43583" y="6878964"/>
            <a:ext cx="293625" cy="16668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43583" y="6884892"/>
            <a:ext cx="216636" cy="13552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61996" y="6908864"/>
            <a:ext cx="51906" cy="12724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55583" y="6832656"/>
            <a:ext cx="77650" cy="20175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0700" y="1054099"/>
            <a:ext cx="9652000" cy="571298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502173" y="2034267"/>
            <a:ext cx="524079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469325" y="2966677"/>
            <a:ext cx="463484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scores</a:t>
            </a:r>
            <a:r>
              <a:rPr sz="1600" spc="-603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=</a:t>
            </a:r>
            <a:r>
              <a:rPr sz="1600" spc="-608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unnormalized</a:t>
            </a:r>
            <a:r>
              <a:rPr sz="1600" spc="-603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log</a:t>
            </a:r>
            <a:r>
              <a:rPr sz="1600" spc="-602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probabilities</a:t>
            </a:r>
            <a:r>
              <a:rPr sz="1600" spc="-601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of</a:t>
            </a:r>
            <a:r>
              <a:rPr sz="1600" spc="-595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the</a:t>
            </a:r>
            <a:r>
              <a:rPr sz="1600" spc="-598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classes.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851320" y="3292975"/>
            <a:ext cx="376328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43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  <a:r>
              <a:rPr sz="21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074672" y="3365775"/>
            <a:ext cx="242168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$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668459" y="3503875"/>
            <a:ext cx="2130050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ꢖ</a:t>
            </a:r>
            <a:r>
              <a:rPr sz="1900" spc="-3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76" dirty="0">
                <a:solidFill>
                  <a:srgbClr val="000000"/>
                </a:solidFill>
                <a:latin typeface="JPMJFC+CambriaMath"/>
                <a:cs typeface="JPMJFC+CambriaMath"/>
              </a:rPr>
              <a:t>ꢗ=ꢘꢙ=ꢋ</a:t>
            </a:r>
            <a:r>
              <a:rPr sz="210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175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450205" y="3524739"/>
            <a:ext cx="2262229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where</a:t>
            </a:r>
            <a:r>
              <a:rPr sz="1900" spc="786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ꢕ</a:t>
            </a:r>
            <a:r>
              <a:rPr sz="1900" spc="-5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1" dirty="0">
                <a:solidFill>
                  <a:srgbClr val="000000"/>
                </a:solidFill>
                <a:latin typeface="JPMJFC+CambriaMath"/>
                <a:cs typeface="JPMJFC+CambriaMath"/>
              </a:rPr>
              <a:t>ꢇ(ꢋ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spc="130" dirty="0">
                <a:solidFill>
                  <a:srgbClr val="000000"/>
                </a:solidFill>
                <a:latin typeface="JPMJFC+CambriaMath"/>
                <a:cs typeface="JPMJFC+CambriaMath"/>
              </a:rPr>
              <a:t>;ꢓ)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712571" y="3631402"/>
            <a:ext cx="676495" cy="408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2100" spc="360" baseline="-31578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  <a:r>
              <a:rPr sz="1900" spc="143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  <a:r>
              <a:rPr sz="2100" strike="sngStrike" baseline="35368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236091" y="3704103"/>
            <a:ext cx="220749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875329" y="4390371"/>
            <a:ext cx="1830347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TNRPRU+Calibri"/>
                <a:cs typeface="TNRPRU+Calibri"/>
              </a:rPr>
              <a:t>Softmax function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02173" y="2034267"/>
            <a:ext cx="524079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69325" y="2966677"/>
            <a:ext cx="4634849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scores</a:t>
            </a:r>
            <a:r>
              <a:rPr sz="1600" spc="-603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=</a:t>
            </a:r>
            <a:r>
              <a:rPr sz="1600" spc="-608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unnormalized</a:t>
            </a:r>
            <a:r>
              <a:rPr sz="1600" spc="-603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log</a:t>
            </a:r>
            <a:r>
              <a:rPr sz="1600" spc="-602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probabilities</a:t>
            </a:r>
            <a:r>
              <a:rPr sz="1600" spc="-601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of</a:t>
            </a:r>
            <a:r>
              <a:rPr sz="1600" spc="-595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the</a:t>
            </a:r>
            <a:r>
              <a:rPr sz="1600" spc="-598" dirty="0">
                <a:solidFill>
                  <a:srgbClr val="000000"/>
                </a:solidFill>
                <a:latin typeface="MCQHDK+Calibri-Bold"/>
                <a:cs typeface="MCQHDK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MCQHDK+Calibri-Bold"/>
                <a:cs typeface="MCQHDK+Calibri-Bold"/>
              </a:rPr>
              <a:t>classes.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1320" y="3292975"/>
            <a:ext cx="376328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43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  <a:r>
              <a:rPr sz="2100" baseline="36631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74672" y="3365775"/>
            <a:ext cx="242168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$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68459" y="3503875"/>
            <a:ext cx="2130050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ꢖ</a:t>
            </a:r>
            <a:r>
              <a:rPr sz="1900" spc="-3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76" dirty="0">
                <a:solidFill>
                  <a:srgbClr val="000000"/>
                </a:solidFill>
                <a:latin typeface="JPMJFC+CambriaMath"/>
                <a:cs typeface="JPMJFC+CambriaMath"/>
              </a:rPr>
              <a:t>ꢗ=ꢘꢙ=ꢋ</a:t>
            </a:r>
            <a:r>
              <a:rPr sz="210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175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50205" y="3524739"/>
            <a:ext cx="2262229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where</a:t>
            </a:r>
            <a:r>
              <a:rPr sz="1900" spc="786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ꢕ</a:t>
            </a:r>
            <a:r>
              <a:rPr sz="1900" spc="-5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1" dirty="0">
                <a:solidFill>
                  <a:srgbClr val="000000"/>
                </a:solidFill>
                <a:latin typeface="JPMJFC+CambriaMath"/>
                <a:cs typeface="JPMJFC+CambriaMath"/>
              </a:rPr>
              <a:t>ꢇ(ꢋ</a:t>
            </a:r>
            <a:r>
              <a:rPr sz="2100" spc="120" baseline="-2021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1900" spc="130" dirty="0">
                <a:solidFill>
                  <a:srgbClr val="000000"/>
                </a:solidFill>
                <a:latin typeface="JPMJFC+CambriaMath"/>
                <a:cs typeface="JPMJFC+CambriaMath"/>
              </a:rPr>
              <a:t>;ꢓ)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12571" y="3631402"/>
            <a:ext cx="676495" cy="408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2100" spc="360" baseline="-31578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  <a:r>
              <a:rPr sz="1900" spc="143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  <a:r>
              <a:rPr sz="2100" strike="sngStrike" baseline="35368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36091" y="3704103"/>
            <a:ext cx="220749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469325" y="4210539"/>
            <a:ext cx="5151284" cy="905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Want to maximize the log likelihood, or (for a loss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function) to minimize the negative log likelihood of</a:t>
            </a:r>
          </a:p>
          <a:p>
            <a:pPr marL="0" marR="0"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the correct class: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321520" y="5253427"/>
            <a:ext cx="2977530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71" dirty="0">
                <a:solidFill>
                  <a:srgbClr val="000000"/>
                </a:solidFill>
                <a:latin typeface="JPMJFC+CambriaMath"/>
                <a:cs typeface="JPMJFC+CambriaMath"/>
              </a:rPr>
              <a:t>=−logꢖ(ꢗ</a:t>
            </a:r>
            <a:r>
              <a:rPr sz="1900" spc="-56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JPMJFC+CambriaMath"/>
                <a:cs typeface="JPMJFC+CambriaMath"/>
              </a:rPr>
              <a:t>=ꢔ</a:t>
            </a:r>
            <a:r>
              <a:rPr sz="1900" spc="-5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|ꢙ</a:t>
            </a:r>
            <a:r>
              <a:rPr sz="1900" spc="-56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JPMJFC+CambriaMath"/>
                <a:cs typeface="JPMJFC+CambriaMath"/>
              </a:rPr>
              <a:t>=ꢋ</a:t>
            </a:r>
            <a:r>
              <a:rPr sz="1900" spc="-5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49709" y="5362567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99637" y="5362567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968882" y="5362567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5827720" y="6547228"/>
            <a:ext cx="1064422" cy="3508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827720" y="6547228"/>
            <a:ext cx="1018968" cy="350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98036" y="6600158"/>
            <a:ext cx="503351" cy="3411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05436" y="4475181"/>
            <a:ext cx="28517" cy="183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0700" y="1054099"/>
            <a:ext cx="10054798" cy="5435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02173" y="2034267"/>
            <a:ext cx="524079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54484" y="3036943"/>
            <a:ext cx="315320" cy="274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2100" spc="-52" baseline="26181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ꢀ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16592" y="3092395"/>
            <a:ext cx="27210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20628" y="3158511"/>
            <a:ext cx="204855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88977" y="3275275"/>
            <a:ext cx="197648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−log(</a:t>
            </a:r>
            <a:r>
              <a:rPr sz="1900" spc="36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17168" y="3384415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39782" y="3399754"/>
            <a:ext cx="306209" cy="27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400" strike="sngStrike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  <a:p>
            <a:pPr marL="85459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01723" y="3424760"/>
            <a:ext cx="572275" cy="333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900" spc="-1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72694" y="3564247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2173" y="2034267"/>
            <a:ext cx="524079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40525" y="2680327"/>
            <a:ext cx="315320" cy="274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2100" spc="-52" baseline="26181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ꢀ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02632" y="2735778"/>
            <a:ext cx="27210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06670" y="2801895"/>
            <a:ext cx="204855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75018" y="2918659"/>
            <a:ext cx="197648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−log(</a:t>
            </a:r>
            <a:r>
              <a:rPr sz="1900" spc="36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03209" y="302779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25823" y="3046186"/>
            <a:ext cx="306210" cy="27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400" strike="sngStrike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  <a:p>
            <a:pPr marL="8546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87763" y="3071193"/>
            <a:ext cx="572274" cy="3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900" spc="-1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58734" y="3207631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799311" y="3631048"/>
            <a:ext cx="2195724" cy="270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2"/>
              </a:lnSpc>
              <a:spcBef>
                <a:spcPts val="0"/>
              </a:spcBef>
              <a:spcAft>
                <a:spcPts val="0"/>
              </a:spcAft>
            </a:pPr>
            <a:r>
              <a:rPr sz="1500" spc="-12" dirty="0">
                <a:solidFill>
                  <a:srgbClr val="FF0000"/>
                </a:solidFill>
                <a:latin typeface="HUPJPL+Calibri"/>
                <a:cs typeface="HUPJPL+Calibri"/>
              </a:rPr>
              <a:t>unnormalized</a:t>
            </a:r>
            <a:r>
              <a:rPr sz="1500" dirty="0">
                <a:solidFill>
                  <a:srgbClr val="FF0000"/>
                </a:solidFill>
                <a:latin typeface="HUPJPL+Calibri"/>
                <a:cs typeface="HUPJPL+Calibri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HUPJPL+Calibri"/>
                <a:cs typeface="HUPJPL+Calibri"/>
              </a:rPr>
              <a:t>probabilities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32353" y="3984112"/>
            <a:ext cx="622223" cy="30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AHFHDK+Arial-BoldMT"/>
                <a:cs typeface="AHFHDK+Arial-BoldMT"/>
              </a:rPr>
              <a:t>24.5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29514" y="4231875"/>
            <a:ext cx="50406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exp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265116" y="4401688"/>
            <a:ext cx="756700" cy="725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164.0</a:t>
            </a:r>
          </a:p>
          <a:p>
            <a:pPr marL="65952" marR="0">
              <a:lnSpc>
                <a:spcPts val="2123"/>
              </a:lnSpc>
              <a:spcBef>
                <a:spcPts val="1164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QHFJQJ+ArialMT"/>
                <a:cs typeface="QHFJQJ+ArialMT"/>
              </a:rPr>
              <a:t>0.18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02173" y="2034267"/>
            <a:ext cx="6839125" cy="946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  <a:p>
            <a:pPr marL="4862638" marR="0">
              <a:lnSpc>
                <a:spcPts val="2228"/>
              </a:lnSpc>
              <a:spcBef>
                <a:spcPts val="265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−log(</a:t>
            </a:r>
            <a:r>
              <a:rPr sz="1900" spc="36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30319" y="2421247"/>
            <a:ext cx="315320" cy="274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2100" spc="-52" baseline="26181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ꢀ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92425" y="2476698"/>
            <a:ext cx="27210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96463" y="2542815"/>
            <a:ext cx="204855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93003" y="276871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915617" y="2784058"/>
            <a:ext cx="306209" cy="277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400" strike="sngStrike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  <a:p>
            <a:pPr marL="85459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77557" y="2812112"/>
            <a:ext cx="572274" cy="330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900" spc="-1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48527" y="2948551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4834" y="2220195"/>
            <a:ext cx="6347996" cy="903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  <a:p>
            <a:pPr marL="4371510" marR="0">
              <a:lnSpc>
                <a:spcPts val="2228"/>
              </a:lnSpc>
              <a:spcBef>
                <a:spcPts val="22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−log(</a:t>
            </a:r>
            <a:r>
              <a:rPr sz="1900" spc="36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71851" y="2564503"/>
            <a:ext cx="315321" cy="274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2100" spc="-52" baseline="26181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ꢀ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33958" y="2619954"/>
            <a:ext cx="27210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37996" y="2686071"/>
            <a:ext cx="204855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34534" y="2911975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57149" y="2927314"/>
            <a:ext cx="306210" cy="277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400" strike="sngStrike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  <a:p>
            <a:pPr marL="8546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19089" y="2955369"/>
            <a:ext cx="572274" cy="3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900" spc="-1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90061" y="3091807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55483" y="2116563"/>
            <a:ext cx="5240797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35259" y="2713971"/>
            <a:ext cx="2489874" cy="625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TNRPRU+Calibri"/>
                <a:cs typeface="TNRPRU+Calibri"/>
              </a:rPr>
              <a:t>Q: What is the min/max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TNRPRU+Calibri"/>
                <a:cs typeface="TNRPRU+Calibri"/>
              </a:rPr>
              <a:t>possible loss L_i?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88363" y="2762623"/>
            <a:ext cx="315320" cy="274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2100" spc="-52" baseline="26181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ꢀ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50471" y="2818075"/>
            <a:ext cx="27210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54509" y="2884191"/>
            <a:ext cx="204855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22857" y="3000954"/>
            <a:ext cx="197648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−log(</a:t>
            </a:r>
            <a:r>
              <a:rPr sz="1900" spc="36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51048" y="3110095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73663" y="3125434"/>
            <a:ext cx="306208" cy="27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400" strike="sngStrike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  <a:p>
            <a:pPr marL="85459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35603" y="3150441"/>
            <a:ext cx="572274" cy="333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900" spc="-1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306573" y="3289927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10205083" y="5608932"/>
            <a:ext cx="20641" cy="23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4" y="1221007"/>
            <a:ext cx="1257133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55483" y="2116563"/>
            <a:ext cx="7413668" cy="674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Softmax</a:t>
            </a:r>
            <a:r>
              <a:rPr sz="1900" spc="-717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INVMFN+Calibri-Bold"/>
                <a:cs typeface="INVMFN+Calibri-Bold"/>
              </a:rPr>
              <a:t>Classifier</a:t>
            </a:r>
            <a:r>
              <a:rPr sz="1900" spc="-721" dirty="0">
                <a:solidFill>
                  <a:srgbClr val="000000"/>
                </a:solidFill>
                <a:latin typeface="INVMFN+Calibri-Bold"/>
                <a:cs typeface="INVMFN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(Multinomial Logistic Regression)</a:t>
            </a:r>
          </a:p>
          <a:p>
            <a:pPr marL="4672459" marR="0">
              <a:lnSpc>
                <a:spcPts val="2320"/>
              </a:lnSpc>
              <a:spcBef>
                <a:spcPts val="367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TNRPRU+Calibri"/>
                <a:cs typeface="TNRPRU+Calibri"/>
              </a:rPr>
              <a:t>Q5: usually at initialization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93956" y="2646799"/>
            <a:ext cx="315319" cy="274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2100" spc="-52" baseline="26181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ꢀ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56064" y="2702251"/>
            <a:ext cx="27210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60102" y="2768367"/>
            <a:ext cx="204855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27942" y="2750547"/>
            <a:ext cx="2772912" cy="613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TNRPRU+Calibri"/>
                <a:cs typeface="TNRPRU+Calibri"/>
              </a:rPr>
              <a:t>W are small numbers, so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TNRPRU+Calibri"/>
                <a:cs typeface="TNRPRU+Calibri"/>
              </a:rPr>
              <a:t>all s ~= 0. What is the loss?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28450" y="2885130"/>
            <a:ext cx="197648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−log(</a:t>
            </a:r>
            <a:r>
              <a:rPr sz="1900" spc="36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56640" y="2994271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79255" y="3009610"/>
            <a:ext cx="306210" cy="277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400" strike="sngStrike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  <a:p>
            <a:pPr marL="8546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041195" y="3037665"/>
            <a:ext cx="572274" cy="3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900" spc="-1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212166" y="3174103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252495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09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TMTHJR+Calibri-Bold"/>
                <a:cs typeface="TMTHJR+Calibri-Bold"/>
              </a:rPr>
              <a:t>&amp;</a:t>
            </a:r>
            <a:r>
              <a:rPr sz="2500" spc="-909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252495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09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TMTHJR+Calibri-Bold"/>
                <a:cs typeface="TMTHJR+Calibri-Bold"/>
              </a:rPr>
              <a:t>&amp;</a:t>
            </a:r>
            <a:r>
              <a:rPr sz="2500" spc="-909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0291" y="2138177"/>
            <a:ext cx="2056586" cy="379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KMSMAF+Calibri"/>
                <a:cs typeface="KMSMAF+Calibri"/>
              </a:rPr>
              <a:t>Softmax vs. SVM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12253" y="2869303"/>
            <a:ext cx="315320" cy="271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2100" spc="-52" baseline="24000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ꢀ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74360" y="2921707"/>
            <a:ext cx="27210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78398" y="2990871"/>
            <a:ext cx="204855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46746" y="3104586"/>
            <a:ext cx="197648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−log(</a:t>
            </a:r>
            <a:r>
              <a:rPr sz="1900" spc="36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86013" y="3119474"/>
            <a:ext cx="2899833" cy="304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  <a:p>
            <a:pPr marL="106826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74938" y="3216775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97551" y="3232114"/>
            <a:ext cx="23843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400" strike="sngStrike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42577" y="3207396"/>
            <a:ext cx="694901" cy="244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spc="-24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  <a:r>
              <a:rPr sz="1500" baseline="-21999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759491" y="3257121"/>
            <a:ext cx="572274" cy="333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900" spc="-1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83012" y="3304815"/>
            <a:ext cx="220749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786840" y="3332364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30462" y="3396607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055788" y="3390042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252495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SVM</a:t>
            </a:r>
            <a:r>
              <a:rPr sz="2500" spc="-909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TMTHJR+Calibri-Bold"/>
                <a:cs typeface="TMTHJR+Calibri-Bold"/>
              </a:rPr>
              <a:t>&amp;</a:t>
            </a:r>
            <a:r>
              <a:rPr sz="2500" spc="-909" dirty="0">
                <a:solidFill>
                  <a:srgbClr val="001F5F"/>
                </a:solidFill>
                <a:latin typeface="TMTHJR+Calibri-Bold"/>
                <a:cs typeface="TMTHJ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TMTHJR+Calibri-Bold"/>
                <a:cs typeface="TMTHJR+Calibri-Bold"/>
              </a:rPr>
              <a:t>Softmax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0291" y="2138177"/>
            <a:ext cx="2056586" cy="379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KMSMAF+Calibri"/>
                <a:cs typeface="KMSMAF+Calibri"/>
              </a:rPr>
              <a:t>Softmax vs. SVM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12253" y="2869303"/>
            <a:ext cx="315320" cy="271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2100" spc="-52" baseline="24000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ꢀ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74360" y="2921707"/>
            <a:ext cx="27210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78398" y="2990871"/>
            <a:ext cx="204855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46746" y="3104586"/>
            <a:ext cx="197648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−log(</a:t>
            </a:r>
            <a:r>
              <a:rPr sz="1900" spc="36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86013" y="3119474"/>
            <a:ext cx="2899833" cy="304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ꢊ</a:t>
            </a:r>
            <a:r>
              <a:rPr sz="1600" spc="-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32" dirty="0">
                <a:solidFill>
                  <a:srgbClr val="000000"/>
                </a:solidFill>
                <a:latin typeface="CERFWG+CambriaMath"/>
                <a:cs typeface="CERFWG+CambriaMath"/>
              </a:rPr>
              <a:t>=5</a:t>
            </a:r>
            <a:r>
              <a:rPr sz="1600" spc="13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max(0,</a:t>
            </a:r>
            <a:r>
              <a:rPr sz="16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CERFWG+CambriaMath"/>
                <a:cs typeface="CERFWG+CambriaMath"/>
              </a:rPr>
              <a:t>ꢇ</a:t>
            </a:r>
            <a:r>
              <a:rPr sz="1600" spc="-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44" dirty="0">
                <a:solidFill>
                  <a:srgbClr val="000000"/>
                </a:solidFill>
                <a:latin typeface="CERFWG+CambriaMath"/>
                <a:cs typeface="CERFWG+CambriaMath"/>
              </a:rPr>
              <a:t>−ꢇ</a:t>
            </a:r>
            <a:r>
              <a:rPr sz="1600" spc="1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113" dirty="0">
                <a:solidFill>
                  <a:srgbClr val="000000"/>
                </a:solidFill>
                <a:latin typeface="CERFWG+CambriaMath"/>
                <a:cs typeface="CERFWG+CambriaMath"/>
              </a:rPr>
              <a:t>+1)</a:t>
            </a:r>
          </a:p>
          <a:p>
            <a:pPr marL="106826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74938" y="3216775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97551" y="3232114"/>
            <a:ext cx="23843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400" strike="sngStrike" dirty="0">
                <a:solidFill>
                  <a:srgbClr val="000000"/>
                </a:solidFill>
                <a:latin typeface="KEFDLT+CambriaMath"/>
                <a:cs typeface="KEFDLT+CambriaMath"/>
              </a:rPr>
              <a:t>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42577" y="3207396"/>
            <a:ext cx="694901" cy="244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</a:t>
            </a:r>
            <a:r>
              <a:rPr sz="1200" spc="19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spc="-24" dirty="0">
                <a:solidFill>
                  <a:srgbClr val="000000"/>
                </a:solidFill>
                <a:latin typeface="JNHPGS+CambriaMath"/>
                <a:cs typeface="JNHPGS+CambriaMath"/>
              </a:rPr>
              <a:t>ꢀ</a:t>
            </a:r>
            <a:r>
              <a:rPr sz="1500" baseline="-21999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759491" y="3257121"/>
            <a:ext cx="572274" cy="333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∑</a:t>
            </a:r>
            <a:r>
              <a:rPr sz="1900" spc="-1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JPMJFC+CambriaMath"/>
                <a:cs typeface="JPMJFC+CambriaMath"/>
              </a:rPr>
              <a:t>ꢚ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83012" y="3304815"/>
            <a:ext cx="220749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ISSUEC+CambriaMath"/>
                <a:cs typeface="ISSUEC+CambriaMath"/>
              </a:rPr>
              <a:t>%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786840" y="3332364"/>
            <a:ext cx="42587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JNHPGS+CambriaMath"/>
                <a:cs typeface="JNHPGS+CambriaMath"/>
              </a:rPr>
              <a:t>#$ꢀ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30462" y="3396607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EFDLT+CambriaMath"/>
                <a:cs typeface="KEFDLT+CambriaMath"/>
              </a:rPr>
              <a:t>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055788" y="3390042"/>
            <a:ext cx="200087" cy="18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FNVHEI+CambriaMath"/>
                <a:cs typeface="FNVHEI+CambriaMath"/>
              </a:rPr>
              <a:t>!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705038" y="4119099"/>
            <a:ext cx="1637499" cy="902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assume scores:</a:t>
            </a:r>
          </a:p>
          <a:p>
            <a:pPr marL="0" marR="0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[</a:t>
            </a:r>
            <a:r>
              <a:rPr sz="1900" dirty="0">
                <a:solidFill>
                  <a:srgbClr val="92D050"/>
                </a:solidFill>
                <a:latin typeface="TNRPRU+Calibri"/>
                <a:cs typeface="TNRPRU+Calibri"/>
              </a:rPr>
              <a:t>10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, -2, 3]</a:t>
            </a:r>
          </a:p>
          <a:p>
            <a:pPr marL="0" marR="0"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[</a:t>
            </a:r>
            <a:r>
              <a:rPr sz="1900" dirty="0">
                <a:solidFill>
                  <a:srgbClr val="92D04F"/>
                </a:solidFill>
                <a:latin typeface="TNRPRU+Calibri"/>
                <a:cs typeface="TNRPRU+Calibri"/>
              </a:rPr>
              <a:t>10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, 9, 9]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58722" y="4119099"/>
            <a:ext cx="4615546" cy="902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TNRPRU+Calibri"/>
                <a:cs typeface="TNRPRU+Calibri"/>
              </a:rPr>
              <a:t>Q: suppose I take a datapoint and I jiggle a bit</a:t>
            </a:r>
          </a:p>
          <a:p>
            <a:pPr marL="0" marR="0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TNRPRU+Calibri"/>
                <a:cs typeface="TNRPRU+Calibri"/>
              </a:rPr>
              <a:t>(changing its score slightly). What happens to</a:t>
            </a:r>
          </a:p>
          <a:p>
            <a:pPr marL="0" marR="0"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TNRPRU+Calibri"/>
                <a:cs typeface="TNRPRU+Calibri"/>
              </a:rPr>
              <a:t>the loss in both cases?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05038" y="4981683"/>
            <a:ext cx="1652821" cy="700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[</a:t>
            </a:r>
            <a:r>
              <a:rPr sz="1900" dirty="0">
                <a:solidFill>
                  <a:srgbClr val="92D04F"/>
                </a:solidFill>
                <a:latin typeface="TNRPRU+Calibri"/>
                <a:cs typeface="TNRPRU+Calibri"/>
              </a:rPr>
              <a:t>10</a:t>
            </a: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, -100, -100]</a:t>
            </a:r>
          </a:p>
          <a:p>
            <a:pPr marL="0" marR="0">
              <a:lnSpc>
                <a:spcPts val="2320"/>
              </a:lnSpc>
              <a:spcBef>
                <a:spcPts val="39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RPRU+Calibri"/>
                <a:cs typeface="TNRPRU+Calibri"/>
              </a:rPr>
              <a:t>and</a:t>
            </a:r>
            <a:r>
              <a:rPr sz="1900" spc="820" dirty="0">
                <a:solidFill>
                  <a:srgbClr val="000000"/>
                </a:solidFill>
                <a:latin typeface="TNRPRU+Calibri"/>
                <a:cs typeface="TNRPRU+Calibri"/>
              </a:rPr>
              <a:t> </a:t>
            </a:r>
            <a:r>
              <a:rPr sz="1900" spc="-62" dirty="0">
                <a:solidFill>
                  <a:srgbClr val="000000"/>
                </a:solidFill>
                <a:latin typeface="JPMJFC+CambriaMath"/>
                <a:cs typeface="JPMJFC+CambriaMath"/>
              </a:rPr>
              <a:t>ꢄ</a:t>
            </a:r>
            <a:r>
              <a:rPr sz="2100" baseline="-12631" dirty="0">
                <a:solidFill>
                  <a:srgbClr val="000000"/>
                </a:solidFill>
                <a:latin typeface="KEFDLT+CambriaMath"/>
                <a:cs typeface="KEFDLT+CambriaMath"/>
              </a:rPr>
              <a:t>,</a:t>
            </a:r>
            <a:r>
              <a:rPr sz="2100" spc="-612" baseline="-126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JPMJFC+CambriaMath"/>
                <a:cs typeface="JPMJFC+CambriaMath"/>
              </a:rPr>
              <a:t>=0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2988</Words>
  <Application>Microsoft Office PowerPoint</Application>
  <PresentationFormat>自定义</PresentationFormat>
  <Paragraphs>593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73" baseType="lpstr">
      <vt:lpstr>INVMFN+Calibri-Bold</vt:lpstr>
      <vt:lpstr>CERFWG+CambriaMath</vt:lpstr>
      <vt:lpstr>KIMNGM+CambriaMath</vt:lpstr>
      <vt:lpstr>UGGSCC+Calibri</vt:lpstr>
      <vt:lpstr>AHFHDK+Arial-BoldMT</vt:lpstr>
      <vt:lpstr>KQAJPA+MicrosoftYaHei</vt:lpstr>
      <vt:lpstr>KEFDLT+CambriaMath</vt:lpstr>
      <vt:lpstr>Calibri</vt:lpstr>
      <vt:lpstr>STPCDR+Calibri-Bold</vt:lpstr>
      <vt:lpstr>TNRPRU+Calibri</vt:lpstr>
      <vt:lpstr>SLFULE+Wingdings-Regular</vt:lpstr>
      <vt:lpstr>EQCBNE+CambriaMath</vt:lpstr>
      <vt:lpstr>DTHPWB+ArialMT</vt:lpstr>
      <vt:lpstr>JNHPGS+CambriaMath</vt:lpstr>
      <vt:lpstr>ISSUEC+CambriaMath</vt:lpstr>
      <vt:lpstr>DMSAQJ+Wingdings-Regular</vt:lpstr>
      <vt:lpstr>FNVHEI+CambriaMath</vt:lpstr>
      <vt:lpstr>JPMJFC+CambriaMath</vt:lpstr>
      <vt:lpstr>QHFJQJ+ArialMT</vt:lpstr>
      <vt:lpstr>GRFUIK+CambriaMath</vt:lpstr>
      <vt:lpstr>KMSMAF+Calibri</vt:lpstr>
      <vt:lpstr>TMTHJR+Calibri-Bold</vt:lpstr>
      <vt:lpstr>OMEKND+ArialMT</vt:lpstr>
      <vt:lpstr>WNLJRU+Calibri</vt:lpstr>
      <vt:lpstr>MCQHDK+Calibri-Bold</vt:lpstr>
      <vt:lpstr>ANILNA+Arial-BoldMT</vt:lpstr>
      <vt:lpstr>HUPJPL+Calibri</vt:lpstr>
      <vt:lpstr>Liberation Mono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bae</dc:creator>
  <cp:lastModifiedBy>Huang Junhao</cp:lastModifiedBy>
  <cp:revision>2</cp:revision>
  <cp:lastPrinted>2025-12-21T11:22:29Z</cp:lastPrinted>
  <dcterms:modified xsi:type="dcterms:W3CDTF">2025-12-21T11:27:44Z</dcterms:modified>
</cp:coreProperties>
</file>