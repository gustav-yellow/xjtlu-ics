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12192000" cy="6858000"/>
  <p:embeddedFontLst>
    <p:embeddedFont>
      <p:font typeface="ACUBAE+Calibri" panose="02010600030101010101" charset="0"/>
      <p:regular r:id="rId40"/>
    </p:embeddedFont>
    <p:embeddedFont>
      <p:font typeface="AQVBGH+Calibri" panose="02010600030101010101"/>
      <p:regular r:id="rId41"/>
    </p:embeddedFont>
    <p:embeddedFont>
      <p:font typeface="ASOKKE+Calibri" panose="02010600030101010101" charset="0"/>
      <p:regular r:id="rId42"/>
    </p:embeddedFont>
    <p:embeddedFont>
      <p:font typeface="BIFKTN+Cambria Math" panose="02010600030101010101" charset="0"/>
      <p:regular r:id="rId43"/>
    </p:embeddedFont>
    <p:embeddedFont>
      <p:font typeface="BIFUVO+Cambria Math" panose="02010600030101010101" charset="0"/>
      <p:regular r:id="rId44"/>
    </p:embeddedFont>
    <p:embeddedFont>
      <p:font typeface="BKAFEM+Calibri" panose="02010600030101010101"/>
      <p:regular r:id="rId45"/>
    </p:embeddedFont>
    <p:embeddedFont>
      <p:font typeface="CGMQSO+Arial" panose="02010600030101010101" charset="0"/>
      <p:regular r:id="rId46"/>
    </p:embeddedFont>
    <p:embeddedFont>
      <p:font typeface="DALOHM+Cambria Math" panose="02010600030101010101" charset="0"/>
      <p:regular r:id="rId47"/>
    </p:embeddedFont>
    <p:embeddedFont>
      <p:font typeface="DFMKJF+Calibri-Bold" panose="02010600030101010101"/>
      <p:regular r:id="rId48"/>
    </p:embeddedFont>
    <p:embeddedFont>
      <p:font typeface="DWIPCI+Cambria Math" panose="02010600030101010101" charset="0"/>
      <p:regular r:id="rId49"/>
    </p:embeddedFont>
    <p:embeddedFont>
      <p:font typeface="EDVLWL+Calibri" panose="02010600030101010101" charset="0"/>
      <p:regular r:id="rId50"/>
    </p:embeddedFont>
    <p:embeddedFont>
      <p:font typeface="EFEVHJ+Cambria Math" panose="02010600030101010101" charset="0"/>
      <p:regular r:id="rId51"/>
    </p:embeddedFont>
    <p:embeddedFont>
      <p:font typeface="FGDAMQ+Calibri-Bold" panose="02010600030101010101"/>
      <p:regular r:id="rId52"/>
    </p:embeddedFont>
    <p:embeddedFont>
      <p:font typeface="FRHNCM+Calibri" panose="02010600030101010101" charset="0"/>
      <p:regular r:id="rId53"/>
    </p:embeddedFont>
    <p:embeddedFont>
      <p:font typeface="FVDCCI+Calibri-Bold" panose="02010600030101010101"/>
      <p:regular r:id="rId54"/>
    </p:embeddedFont>
    <p:embeddedFont>
      <p:font typeface="FVMGJP+Calibri-Bold" panose="02010600030101010101"/>
      <p:regular r:id="rId55"/>
    </p:embeddedFont>
    <p:embeddedFont>
      <p:font typeface="GBVHFM+Calibri-Bold" panose="02010600030101010101"/>
      <p:regular r:id="rId56"/>
    </p:embeddedFont>
    <p:embeddedFont>
      <p:font typeface="GIKFBL+Arial" panose="02010600030101010101" charset="0"/>
      <p:regular r:id="rId57"/>
    </p:embeddedFont>
    <p:embeddedFont>
      <p:font typeface="HQLGEI+Arial" panose="02010600030101010101" charset="0"/>
      <p:regular r:id="rId58"/>
    </p:embeddedFont>
    <p:embeddedFont>
      <p:font typeface="IBHIQN+Cambria Math" panose="02010600030101010101" charset="0"/>
      <p:regular r:id="rId59"/>
    </p:embeddedFont>
    <p:embeddedFont>
      <p:font typeface="IELAMK+Wingdings" panose="02010600030101010101" charset="2"/>
      <p:regular r:id="rId60"/>
    </p:embeddedFont>
    <p:embeddedFont>
      <p:font typeface="IFBNQO+Calibri" panose="02010600030101010101"/>
      <p:regular r:id="rId61"/>
    </p:embeddedFont>
    <p:embeddedFont>
      <p:font typeface="IPKOUC+Calibri" panose="02010600030101010101"/>
      <p:regular r:id="rId62"/>
    </p:embeddedFont>
    <p:embeddedFont>
      <p:font typeface="JNICQD+Calibri" panose="02010600030101010101"/>
      <p:regular r:id="rId63"/>
    </p:embeddedFont>
    <p:embeddedFont>
      <p:font typeface="JVGJPR+Calibri-Bold" panose="02010600030101010101"/>
      <p:regular r:id="rId64"/>
    </p:embeddedFont>
    <p:embeddedFont>
      <p:font typeface="KTVPLB+PingFangSC-Semibold" panose="02010600030101010101"/>
      <p:regular r:id="rId65"/>
    </p:embeddedFont>
    <p:embeddedFont>
      <p:font typeface="LBNCJC+Calibri" panose="02010600030101010101"/>
      <p:regular r:id="rId66"/>
    </p:embeddedFont>
    <p:embeddedFont>
      <p:font typeface="Liberation Mono" panose="02010600030101010101" charset="0"/>
      <p:regular r:id="rId67"/>
    </p:embeddedFont>
    <p:embeddedFont>
      <p:font typeface="LJMQDU+Wingdings" panose="02010600030101010101" charset="2"/>
      <p:regular r:id="rId68"/>
    </p:embeddedFont>
    <p:embeddedFont>
      <p:font typeface="LNCHGV+Calibri" panose="02010600030101010101" charset="0"/>
      <p:regular r:id="rId69"/>
    </p:embeddedFont>
    <p:embeddedFont>
      <p:font typeface="LOQGOT+Calibri" panose="02010600030101010101"/>
      <p:regular r:id="rId70"/>
    </p:embeddedFont>
    <p:embeddedFont>
      <p:font typeface="MCNNFN+Cambria Math" panose="02010600030101010101" charset="0"/>
      <p:regular r:id="rId71"/>
    </p:embeddedFont>
    <p:embeddedFont>
      <p:font typeface="MTDNLU+Calibri-Italic" panose="02010600030101010101"/>
      <p:regular r:id="rId72"/>
    </p:embeddedFont>
    <p:embeddedFont>
      <p:font typeface="NHHMCA+Wingdings" panose="02010600030101010101" charset="2"/>
      <p:regular r:id="rId73"/>
    </p:embeddedFont>
    <p:embeddedFont>
      <p:font typeface="NSDHBC+Calibri-Bold" panose="02010600030101010101"/>
      <p:regular r:id="rId74"/>
    </p:embeddedFont>
    <p:embeddedFont>
      <p:font typeface="OEMDQO+Cambria Math" panose="02010600030101010101" charset="0"/>
      <p:regular r:id="rId75"/>
    </p:embeddedFont>
    <p:embeddedFont>
      <p:font typeface="PORVOG+Wingdings" panose="02010600030101010101" charset="2"/>
      <p:regular r:id="rId76"/>
    </p:embeddedFont>
    <p:embeddedFont>
      <p:font typeface="PQCGFU+Calibri" panose="02010600030101010101"/>
      <p:regular r:id="rId77"/>
    </p:embeddedFont>
    <p:embeddedFont>
      <p:font typeface="PTNLJM+Arial" panose="02010600030101010101" charset="0"/>
      <p:regular r:id="rId78"/>
    </p:embeddedFont>
    <p:embeddedFont>
      <p:font typeface="QDCCIB+Arial" panose="02010600030101010101" charset="0"/>
      <p:regular r:id="rId79"/>
    </p:embeddedFont>
    <p:embeddedFont>
      <p:font typeface="QUSHJR+Calibri" panose="02010600030101010101" charset="0"/>
      <p:regular r:id="rId80"/>
    </p:embeddedFont>
    <p:embeddedFont>
      <p:font typeface="SOWUMV+Calibri" panose="02010600030101010101" charset="0"/>
      <p:regular r:id="rId81"/>
    </p:embeddedFont>
    <p:embeddedFont>
      <p:font typeface="TUPAGP+Cambria Math" panose="02010600030101010101" charset="0"/>
      <p:regular r:id="rId82"/>
    </p:embeddedFont>
    <p:embeddedFont>
      <p:font typeface="TVTGKO+Calibri-Bold" panose="02010600030101010101"/>
      <p:regular r:id="rId83"/>
    </p:embeddedFont>
    <p:embeddedFont>
      <p:font typeface="UFTJUS+Arial" panose="02010600030101010101" charset="0"/>
      <p:regular r:id="rId84"/>
    </p:embeddedFont>
    <p:embeddedFont>
      <p:font typeface="UGLBHK+Wingdings" panose="02010600030101010101" charset="2"/>
      <p:regular r:id="rId85"/>
    </p:embeddedFont>
    <p:embeddedFont>
      <p:font typeface="UVMIBR+Calibri-Italic" panose="02010600030101010101"/>
      <p:regular r:id="rId86"/>
    </p:embeddedFont>
    <p:embeddedFont>
      <p:font typeface="VBEKVJ+Arial" panose="02010600030101010101" charset="0"/>
      <p:regular r:id="rId87"/>
    </p:embeddedFont>
    <p:embeddedFont>
      <p:font typeface="VLPHID+Calibri-Bold" panose="02010600030101010101"/>
      <p:regular r:id="rId88"/>
    </p:embeddedFont>
    <p:embeddedFont>
      <p:font typeface="VLTENO+PingFangSC-Regular" panose="02010600030101010101"/>
      <p:regular r:id="rId89"/>
    </p:embeddedFont>
    <p:embeddedFont>
      <p:font typeface="VLTLJD+Cambria Math" panose="02010600030101010101" charset="0"/>
      <p:regular r:id="rId90"/>
    </p:embeddedFont>
    <p:embeddedFont>
      <p:font typeface="VTQOTV+Cambria Math" panose="02010600030101010101" charset="0"/>
      <p:regular r:id="rId91"/>
    </p:embeddedFont>
    <p:embeddedFont>
      <p:font typeface="WBEEJO+TimesNewRomanPSMT" panose="02010600030101010101"/>
      <p:regular r:id="rId92"/>
    </p:embeddedFont>
    <p:embeddedFont>
      <p:font typeface="WEQRSH+Calibri" panose="02010600030101010101"/>
      <p:regular r:id="rId93"/>
    </p:embeddedFont>
    <p:embeddedFont>
      <p:font typeface="WOGTBQ+Arial" panose="02010600030101010101" charset="0"/>
      <p:regular r:id="rId94"/>
    </p:embeddedFont>
    <p:embeddedFont>
      <p:font typeface="WTHBRM+Arial" panose="02010600030101010101" charset="0"/>
      <p:regular r:id="rId9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63" Type="http://schemas.openxmlformats.org/officeDocument/2006/relationships/font" Target="fonts/font24.fntdata"/><Relationship Id="rId68" Type="http://schemas.openxmlformats.org/officeDocument/2006/relationships/font" Target="fonts/font29.fntdata"/><Relationship Id="rId84" Type="http://schemas.openxmlformats.org/officeDocument/2006/relationships/font" Target="fonts/font45.fntdata"/><Relationship Id="rId89" Type="http://schemas.openxmlformats.org/officeDocument/2006/relationships/font" Target="fonts/font5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74" Type="http://schemas.openxmlformats.org/officeDocument/2006/relationships/font" Target="fonts/font35.fntdata"/><Relationship Id="rId79" Type="http://schemas.openxmlformats.org/officeDocument/2006/relationships/font" Target="fonts/font40.fntdata"/><Relationship Id="rId5" Type="http://schemas.openxmlformats.org/officeDocument/2006/relationships/slide" Target="slides/slide4.xml"/><Relationship Id="rId90" Type="http://schemas.openxmlformats.org/officeDocument/2006/relationships/font" Target="fonts/font51.fntdata"/><Relationship Id="rId95" Type="http://schemas.openxmlformats.org/officeDocument/2006/relationships/font" Target="fonts/font5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64" Type="http://schemas.openxmlformats.org/officeDocument/2006/relationships/font" Target="fonts/font25.fntdata"/><Relationship Id="rId69" Type="http://schemas.openxmlformats.org/officeDocument/2006/relationships/font" Target="fonts/font30.fntdata"/><Relationship Id="rId80" Type="http://schemas.openxmlformats.org/officeDocument/2006/relationships/font" Target="fonts/font41.fntdata"/><Relationship Id="rId85" Type="http://schemas.openxmlformats.org/officeDocument/2006/relationships/font" Target="fonts/font4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font" Target="fonts/font28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font" Target="fonts/font23.fntdata"/><Relationship Id="rId70" Type="http://schemas.openxmlformats.org/officeDocument/2006/relationships/font" Target="fonts/font31.fntdata"/><Relationship Id="rId75" Type="http://schemas.openxmlformats.org/officeDocument/2006/relationships/font" Target="fonts/font36.fntdata"/><Relationship Id="rId83" Type="http://schemas.openxmlformats.org/officeDocument/2006/relationships/font" Target="fonts/font44.fntdata"/><Relationship Id="rId88" Type="http://schemas.openxmlformats.org/officeDocument/2006/relationships/font" Target="fonts/font49.fntdata"/><Relationship Id="rId91" Type="http://schemas.openxmlformats.org/officeDocument/2006/relationships/font" Target="fonts/font52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font" Target="fonts/font26.fntdata"/><Relationship Id="rId73" Type="http://schemas.openxmlformats.org/officeDocument/2006/relationships/font" Target="fonts/font34.fntdata"/><Relationship Id="rId78" Type="http://schemas.openxmlformats.org/officeDocument/2006/relationships/font" Target="fonts/font39.fntdata"/><Relationship Id="rId81" Type="http://schemas.openxmlformats.org/officeDocument/2006/relationships/font" Target="fonts/font42.fntdata"/><Relationship Id="rId86" Type="http://schemas.openxmlformats.org/officeDocument/2006/relationships/font" Target="fonts/font47.fntdata"/><Relationship Id="rId94" Type="http://schemas.openxmlformats.org/officeDocument/2006/relationships/font" Target="fonts/font55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6" Type="http://schemas.openxmlformats.org/officeDocument/2006/relationships/font" Target="fonts/font37.fntdata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32.fntdata"/><Relationship Id="rId92" Type="http://schemas.openxmlformats.org/officeDocument/2006/relationships/font" Target="fonts/font5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66" Type="http://schemas.openxmlformats.org/officeDocument/2006/relationships/font" Target="fonts/font27.fntdata"/><Relationship Id="rId87" Type="http://schemas.openxmlformats.org/officeDocument/2006/relationships/font" Target="fonts/font48.fntdata"/><Relationship Id="rId61" Type="http://schemas.openxmlformats.org/officeDocument/2006/relationships/font" Target="fonts/font22.fntdata"/><Relationship Id="rId82" Type="http://schemas.openxmlformats.org/officeDocument/2006/relationships/font" Target="fonts/font4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font" Target="fonts/font17.fntdata"/><Relationship Id="rId77" Type="http://schemas.openxmlformats.org/officeDocument/2006/relationships/font" Target="fonts/font38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72" Type="http://schemas.openxmlformats.org/officeDocument/2006/relationships/font" Target="fonts/font33.fntdata"/><Relationship Id="rId93" Type="http://schemas.openxmlformats.org/officeDocument/2006/relationships/font" Target="fonts/font54.fntdata"/><Relationship Id="rId9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92651" y="2076767"/>
            <a:ext cx="4535543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FVDCCI+Calibri-Bold"/>
                <a:cs typeface="FVDCCI+Calibri-Bold"/>
              </a:rPr>
              <a:t>INT305</a:t>
            </a:r>
            <a:r>
              <a:rPr sz="3250" spc="-506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3250" spc="-32" dirty="0">
                <a:solidFill>
                  <a:srgbClr val="0F243E"/>
                </a:solidFill>
                <a:latin typeface="FVDCCI+Calibri-Bold"/>
                <a:cs typeface="FVDCCI+Calibri-Bold"/>
              </a:rPr>
              <a:t>Machine</a:t>
            </a:r>
            <a:r>
              <a:rPr sz="3250" spc="-1161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3250" spc="-33" dirty="0">
                <a:solidFill>
                  <a:srgbClr val="0F243E"/>
                </a:solidFill>
                <a:latin typeface="FVDCCI+Calibri-Bold"/>
                <a:cs typeface="FVDCCI+Calibri-Bold"/>
              </a:rPr>
              <a:t>Learning</a:t>
            </a:r>
          </a:p>
          <a:p>
            <a:pPr marL="1417954" marR="0">
              <a:lnSpc>
                <a:spcPts val="3230"/>
              </a:lnSpc>
              <a:spcBef>
                <a:spcPts val="1249"/>
              </a:spcBef>
              <a:spcAft>
                <a:spcPts val="0"/>
              </a:spcAft>
            </a:pPr>
            <a:r>
              <a:rPr sz="3250" spc="-24" dirty="0">
                <a:solidFill>
                  <a:srgbClr val="0F243E"/>
                </a:solidFill>
                <a:latin typeface="FVDCCI+Calibri-Bold"/>
                <a:cs typeface="FVDCCI+Calibri-Bold"/>
              </a:rPr>
              <a:t>Lecture</a:t>
            </a:r>
            <a:r>
              <a:rPr sz="3250" spc="-1239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3250" dirty="0">
                <a:solidFill>
                  <a:srgbClr val="0F243E"/>
                </a:solidFill>
                <a:latin typeface="FVDCCI+Calibri-Bold"/>
                <a:cs typeface="FVDCCI+Calibri-Bold"/>
              </a:rPr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66996" y="3202241"/>
            <a:ext cx="359074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3" dirty="0">
                <a:solidFill>
                  <a:srgbClr val="0F243E"/>
                </a:solidFill>
                <a:latin typeface="FVDCCI+Calibri-Bold"/>
                <a:cs typeface="FVDCCI+Calibri-Bold"/>
              </a:rPr>
              <a:t>Probabilistic</a:t>
            </a:r>
            <a:r>
              <a:rPr sz="3250" spc="-1191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3250" spc="-29" dirty="0">
                <a:solidFill>
                  <a:srgbClr val="0F243E"/>
                </a:solidFill>
                <a:latin typeface="FVDCCI+Calibri-Bold"/>
                <a:cs typeface="FVDCCI+Calibri-Bold"/>
              </a:rPr>
              <a:t>Models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55005" y="4403233"/>
            <a:ext cx="1348414" cy="381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22" dirty="0">
                <a:solidFill>
                  <a:srgbClr val="0F243E"/>
                </a:solidFill>
                <a:latin typeface="FVDCCI+Calibri-Bold"/>
                <a:cs typeface="FVDCCI+Calibri-Bold"/>
              </a:rPr>
              <a:t>Siyue</a:t>
            </a:r>
            <a:r>
              <a:rPr sz="2700" spc="-991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2700" spc="21" dirty="0">
                <a:solidFill>
                  <a:srgbClr val="0F243E"/>
                </a:solidFill>
                <a:latin typeface="FVDCCI+Calibri-Bold"/>
                <a:cs typeface="FVDCCI+Calibri-Bold"/>
              </a:rPr>
              <a:t>Yu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77334" y="4889516"/>
            <a:ext cx="4697432" cy="867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700" spc="-16" dirty="0">
                <a:solidFill>
                  <a:srgbClr val="0F243E"/>
                </a:solidFill>
                <a:latin typeface="FVDCCI+Calibri-Bold"/>
                <a:cs typeface="FVDCCI+Calibri-Bold"/>
              </a:rPr>
              <a:t>Department</a:t>
            </a:r>
            <a:r>
              <a:rPr sz="2700" spc="-1040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2700" spc="-18" dirty="0">
                <a:solidFill>
                  <a:srgbClr val="0F243E"/>
                </a:solidFill>
                <a:latin typeface="FVDCCI+Calibri-Bold"/>
                <a:cs typeface="FVDCCI+Calibri-Bold"/>
              </a:rPr>
              <a:t>Intelligence</a:t>
            </a:r>
            <a:r>
              <a:rPr sz="2700" spc="-1015" dirty="0">
                <a:solidFill>
                  <a:srgbClr val="0F243E"/>
                </a:solidFill>
                <a:latin typeface="FVDCCI+Calibri-Bold"/>
                <a:cs typeface="FVDCCI+Calibri-Bold"/>
              </a:rPr>
              <a:t> </a:t>
            </a:r>
            <a:r>
              <a:rPr sz="2700" spc="-17" dirty="0">
                <a:solidFill>
                  <a:srgbClr val="0F243E"/>
                </a:solidFill>
                <a:latin typeface="FVDCCI+Calibri-Bold"/>
                <a:cs typeface="FVDCCI+Calibri-Bold"/>
              </a:rPr>
              <a:t>Science</a:t>
            </a:r>
          </a:p>
          <a:p>
            <a:pPr marL="575945" marR="0">
              <a:lnSpc>
                <a:spcPts val="2702"/>
              </a:lnSpc>
              <a:spcBef>
                <a:spcPts val="1127"/>
              </a:spcBef>
              <a:spcAft>
                <a:spcPts val="0"/>
              </a:spcAft>
            </a:pPr>
            <a:r>
              <a:rPr sz="2700" spc="-17" dirty="0">
                <a:solidFill>
                  <a:srgbClr val="0F243E"/>
                </a:solidFill>
                <a:latin typeface="FVDCCI+Calibri-Bold"/>
                <a:cs typeface="FVDCCI+Calibri-Bold"/>
              </a:rPr>
              <a:t>siyue.yu02@xjtlu.edu.cn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192947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2060"/>
                </a:solidFill>
                <a:latin typeface="FVDCCI+Calibri-Bold"/>
                <a:cs typeface="FVDCCI+Calibri-Bold"/>
              </a:rPr>
              <a:t>Today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11895"/>
            <a:ext cx="11078848" cy="1865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PQCGFU+Calibri"/>
                <a:cs typeface="PQCGFU+Calibri"/>
              </a:rPr>
              <a:t>So</a:t>
            </a:r>
            <a:r>
              <a:rPr sz="2400" spc="-2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far</a:t>
            </a:r>
            <a:r>
              <a:rPr sz="2400" spc="-2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PQCGFU+Calibri"/>
                <a:cs typeface="PQCGFU+Calibri"/>
              </a:rPr>
              <a:t>in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course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have</a:t>
            </a:r>
            <a:r>
              <a:rPr sz="2400" spc="-2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adopted a</a:t>
            </a:r>
            <a:r>
              <a:rPr sz="2400" spc="-4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modular</a:t>
            </a:r>
            <a:r>
              <a:rPr sz="2400" spc="-3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perspective,</a:t>
            </a:r>
            <a:r>
              <a:rPr sz="2400" spc="6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in</a:t>
            </a:r>
            <a:r>
              <a:rPr sz="2400" spc="10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which</a:t>
            </a:r>
            <a:r>
              <a:rPr sz="2400" spc="-1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1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model,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loss</a:t>
            </a:r>
          </a:p>
          <a:p>
            <a:pPr marL="343217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function,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optimizer,</a:t>
            </a:r>
            <a:r>
              <a:rPr sz="2400" spc="-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PQCGFU+Calibri"/>
                <a:cs typeface="PQCGFU+Calibri"/>
              </a:rPr>
              <a:t>and</a:t>
            </a:r>
            <a:r>
              <a:rPr sz="2400" spc="-3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regularizer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are</a:t>
            </a:r>
            <a:r>
              <a:rPr sz="2400" spc="-5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specified separately.</a:t>
            </a:r>
          </a:p>
          <a:p>
            <a:pPr marL="0" marR="0">
              <a:lnSpc>
                <a:spcPts val="2686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Today</a:t>
            </a:r>
            <a:r>
              <a:rPr sz="2400" spc="-5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will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begin</a:t>
            </a:r>
            <a:r>
              <a:rPr sz="2400" spc="-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putting</a:t>
            </a:r>
            <a:r>
              <a:rPr sz="2400" spc="-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together</a:t>
            </a:r>
            <a:r>
              <a:rPr sz="2400" spc="-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8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C44E5"/>
                </a:solidFill>
                <a:latin typeface="PQCGFU+Calibri"/>
                <a:cs typeface="PQCGFU+Calibri"/>
              </a:rPr>
              <a:t>probabilistic</a:t>
            </a:r>
            <a:r>
              <a:rPr sz="2400" spc="20" dirty="0">
                <a:solidFill>
                  <a:srgbClr val="0C44E5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C44E5"/>
                </a:solidFill>
                <a:latin typeface="PQCGFU+Calibri"/>
                <a:cs typeface="PQCGFU+Calibri"/>
              </a:rPr>
              <a:t>interpretation</a:t>
            </a:r>
            <a:r>
              <a:rPr sz="2400" spc="43" dirty="0">
                <a:solidFill>
                  <a:srgbClr val="0C44E5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of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8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choice of</a:t>
            </a:r>
          </a:p>
          <a:p>
            <a:pPr marL="343217" marR="0">
              <a:lnSpc>
                <a:spcPts val="2402"/>
              </a:lnSpc>
              <a:spcBef>
                <a:spcPts val="40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</a:t>
            </a:r>
            <a:r>
              <a:rPr sz="2400" spc="3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and loss,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and introduce</a:t>
            </a:r>
            <a:r>
              <a:rPr sz="2400" spc="6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concept </a:t>
            </a:r>
            <a:r>
              <a:rPr sz="2400" spc="-67" dirty="0">
                <a:solidFill>
                  <a:srgbClr val="000000"/>
                </a:solidFill>
                <a:latin typeface="PQCGFU+Calibri"/>
                <a:cs typeface="PQCGFU+Calibri"/>
              </a:rPr>
              <a:t>of</a:t>
            </a:r>
            <a:r>
              <a:rPr sz="2400" spc="16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C44E5"/>
                </a:solidFill>
                <a:latin typeface="PQCGFU+Calibri"/>
                <a:cs typeface="PQCGFU+Calibri"/>
              </a:rPr>
              <a:t>maximum</a:t>
            </a:r>
            <a:r>
              <a:rPr sz="2400" spc="22" dirty="0">
                <a:solidFill>
                  <a:srgbClr val="0C44E5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C44E5"/>
                </a:solidFill>
                <a:latin typeface="PQCGFU+Calibri"/>
                <a:cs typeface="PQCGFU+Calibri"/>
              </a:rPr>
              <a:t>likelihood estimation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.</a:t>
            </a:r>
          </a:p>
          <a:p>
            <a:pPr marL="0" marR="0">
              <a:lnSpc>
                <a:spcPts val="2930"/>
              </a:lnSpc>
              <a:spcBef>
                <a:spcPts val="9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Let’s</a:t>
            </a:r>
            <a:r>
              <a:rPr sz="2400" spc="20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start</a:t>
            </a:r>
            <a:r>
              <a:rPr sz="2400" spc="-75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with a</a:t>
            </a:r>
            <a:r>
              <a:rPr sz="2400" spc="30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simple biased coin example.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000" y="3161707"/>
            <a:ext cx="9710403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You</a:t>
            </a:r>
            <a:r>
              <a:rPr sz="2400" spc="-2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flip</a:t>
            </a:r>
            <a:r>
              <a:rPr sz="2400" spc="1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3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PQCGFU+Calibri"/>
                <a:cs typeface="PQCGFU+Calibri"/>
              </a:rPr>
              <a:t>coin</a:t>
            </a:r>
            <a:r>
              <a:rPr sz="2400" spc="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ꢀ</a:t>
            </a:r>
            <a:r>
              <a:rPr sz="2400" spc="-1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=</a:t>
            </a:r>
            <a:r>
              <a:rPr sz="2400" spc="-2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DALOHM+Cambria Math"/>
                <a:cs typeface="DALOHM+Cambria Math"/>
              </a:rPr>
              <a:t>100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times</a:t>
            </a:r>
            <a:r>
              <a:rPr sz="2400" spc="-5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and get outcomes</a:t>
            </a:r>
            <a:r>
              <a:rPr sz="2400" spc="6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{ꢁ</a:t>
            </a:r>
            <a:r>
              <a:rPr sz="2400" spc="-4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6" dirty="0">
                <a:solidFill>
                  <a:srgbClr val="000000"/>
                </a:solidFill>
                <a:latin typeface="DALOHM+Cambria Math"/>
                <a:cs typeface="DALOHM+Cambria Math"/>
              </a:rPr>
              <a:t>,...,ꢁ</a:t>
            </a:r>
            <a:r>
              <a:rPr sz="2400" spc="1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3" dirty="0">
                <a:solidFill>
                  <a:srgbClr val="000000"/>
                </a:solidFill>
                <a:latin typeface="DALOHM+Cambria Math"/>
                <a:cs typeface="DALOHM+Cambria Math"/>
              </a:rPr>
              <a:t>}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where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ꢁ</a:t>
            </a:r>
            <a:r>
              <a:rPr sz="2400" spc="5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∈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34580" y="3327350"/>
            <a:ext cx="118246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LTLJD+Cambria Math"/>
                <a:cs typeface="VLTLJD+Cambria Math"/>
              </a:rPr>
              <a:t>1</a:t>
            </a:r>
            <a:r>
              <a:rPr sz="1750" spc="47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DALOHM+Cambria Math"/>
                <a:cs typeface="DALOHM+Cambria Math"/>
              </a:rPr>
              <a:t>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53346" y="3327350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DALOHM+Cambria Math"/>
                <a:cs typeface="DALOHM+Cambria Math"/>
              </a:rPr>
              <a:t>ꢃ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5000" y="3560942"/>
            <a:ext cx="7018702" cy="723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9892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spc="77" dirty="0">
                <a:solidFill>
                  <a:srgbClr val="000000"/>
                </a:solidFill>
                <a:latin typeface="DALOHM+Cambria Math"/>
                <a:cs typeface="DALOHM+Cambria Math"/>
              </a:rPr>
              <a:t>{0,1}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and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DALOHM+Cambria Math"/>
                <a:cs typeface="DALOHM+Cambria Math"/>
              </a:rPr>
              <a:t>ꢁ</a:t>
            </a:r>
            <a:r>
              <a:rPr sz="2650" baseline="-20416" dirty="0">
                <a:solidFill>
                  <a:srgbClr val="000000"/>
                </a:solidFill>
                <a:latin typeface="DALOHM+Cambria Math"/>
                <a:cs typeface="DALOHM+Cambria Math"/>
              </a:rPr>
              <a:t>ꢃ</a:t>
            </a:r>
            <a:r>
              <a:rPr sz="2650" spc="301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=</a:t>
            </a:r>
            <a:r>
              <a:rPr sz="2400" spc="-2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3" dirty="0">
                <a:solidFill>
                  <a:srgbClr val="000000"/>
                </a:solidFill>
                <a:latin typeface="DALOHM+Cambria Math"/>
                <a:cs typeface="DALOHM+Cambria Math"/>
              </a:rPr>
              <a:t>1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interpreted 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heads </a:t>
            </a:r>
            <a:r>
              <a:rPr sz="2400" spc="73" dirty="0">
                <a:solidFill>
                  <a:srgbClr val="000000"/>
                </a:solidFill>
                <a:latin typeface="DALOHM+Cambria Math"/>
                <a:cs typeface="DALOHM+Cambria Math"/>
              </a:rPr>
              <a:t>ꢄ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.</a:t>
            </a:r>
          </a:p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Suppose</a:t>
            </a:r>
            <a:r>
              <a:rPr sz="2400" spc="-1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you</a:t>
            </a:r>
            <a:r>
              <a:rPr sz="2400" spc="1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had</a:t>
            </a:r>
            <a:r>
              <a:rPr sz="2400" spc="1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ꢀ</a:t>
            </a:r>
            <a:r>
              <a:rPr sz="2400" spc="4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=</a:t>
            </a:r>
            <a:r>
              <a:rPr sz="2400" spc="-2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ALOHM+Cambria Math"/>
                <a:cs typeface="DALOHM+Cambria Math"/>
              </a:rPr>
              <a:t>55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heads</a:t>
            </a:r>
            <a:r>
              <a:rPr sz="2400" spc="1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and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ꢀ</a:t>
            </a:r>
            <a:r>
              <a:rPr sz="2400" spc="3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=</a:t>
            </a:r>
            <a:r>
              <a:rPr sz="2400" spc="-2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DALOHM+Cambria Math"/>
                <a:cs typeface="DALOHM+Cambria Math"/>
              </a:rPr>
              <a:t>45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tails.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61309" y="4062293"/>
            <a:ext cx="317027" cy="2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DALOHM+Cambria Math"/>
                <a:cs typeface="DALOHM+Cambria Math"/>
              </a:rPr>
              <a:t>ꢅ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97245" y="4062293"/>
            <a:ext cx="286968" cy="2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DALOHM+Cambria Math"/>
                <a:cs typeface="DALOHM+Cambria Math"/>
              </a:rPr>
              <a:t>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000" y="4242367"/>
            <a:ext cx="10608733" cy="1139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spc="11" dirty="0">
                <a:solidFill>
                  <a:srgbClr val="000000"/>
                </a:solidFill>
                <a:latin typeface="LNCHGV+Calibri"/>
                <a:cs typeface="LNCHGV+Calibri"/>
              </a:rPr>
              <a:t>What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LNCHGV+Calibri"/>
                <a:cs typeface="LNCHGV+Calibri"/>
              </a:rPr>
              <a:t>is</a:t>
            </a:r>
            <a:r>
              <a:rPr sz="2400" spc="45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LNCHGV+Calibri"/>
                <a:cs typeface="LNCHGV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probability</a:t>
            </a:r>
            <a:r>
              <a:rPr sz="2400" spc="-52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LNCHGV+Calibri"/>
                <a:cs typeface="LNCHGV+Calibri"/>
              </a:rPr>
              <a:t>it</a:t>
            </a:r>
            <a:r>
              <a:rPr sz="2400" spc="-44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LNCHGV+Calibri"/>
                <a:cs typeface="LNCHGV+Calibri"/>
              </a:rPr>
              <a:t>will</a:t>
            </a:r>
            <a:r>
              <a:rPr sz="2400" spc="4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LNCHGV+Calibri"/>
                <a:cs typeface="LNCHGV+Calibri"/>
              </a:rPr>
              <a:t>come</a:t>
            </a:r>
            <a:r>
              <a:rPr sz="2400" spc="8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57" dirty="0">
                <a:solidFill>
                  <a:srgbClr val="000000"/>
                </a:solidFill>
                <a:latin typeface="LNCHGV+Calibri"/>
                <a:cs typeface="LNCHGV+Calibri"/>
              </a:rPr>
              <a:t>up</a:t>
            </a:r>
            <a:r>
              <a:rPr sz="2400" spc="5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heads</a:t>
            </a:r>
            <a:r>
              <a:rPr sz="2400" spc="19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LNCHGV+Calibri"/>
                <a:cs typeface="LNCHGV+Calibri"/>
              </a:rPr>
              <a:t>if</a:t>
            </a:r>
            <a:r>
              <a:rPr sz="2400" spc="25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LNCHGV+Calibri"/>
                <a:cs typeface="LNCHGV+Calibri"/>
              </a:rPr>
              <a:t>flip</a:t>
            </a:r>
            <a:r>
              <a:rPr sz="2400" spc="-14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again? Let’s</a:t>
            </a:r>
            <a:r>
              <a:rPr sz="2400" spc="-87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design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-3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</a:t>
            </a:r>
          </a:p>
          <a:p>
            <a:pPr marL="342900" marR="0">
              <a:lnSpc>
                <a:spcPts val="2405"/>
              </a:lnSpc>
              <a:spcBef>
                <a:spcPts val="479"/>
              </a:spcBef>
              <a:spcAft>
                <a:spcPts val="0"/>
              </a:spcAft>
            </a:pPr>
            <a:r>
              <a:rPr sz="2400" spc="13" dirty="0">
                <a:solidFill>
                  <a:srgbClr val="000000"/>
                </a:solidFill>
                <a:latin typeface="PQCGFU+Calibri"/>
                <a:cs typeface="PQCGFU+Calibri"/>
              </a:rPr>
              <a:t>for</a:t>
            </a:r>
            <a:r>
              <a:rPr sz="2400" spc="-3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this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scenario, fit </a:t>
            </a:r>
            <a:r>
              <a:rPr sz="2400" spc="17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model.</a:t>
            </a:r>
            <a:r>
              <a:rPr sz="2400" spc="6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33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can 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use</a:t>
            </a:r>
            <a:r>
              <a:rPr sz="2400" spc="7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fit</a:t>
            </a:r>
            <a:r>
              <a:rPr sz="2400" spc="-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</a:t>
            </a:r>
            <a:r>
              <a:rPr sz="2400" spc="4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51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4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predict 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8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PQCGFU+Calibri"/>
                <a:cs typeface="PQCGFU+Calibri"/>
              </a:rPr>
              <a:t>next</a:t>
            </a:r>
          </a:p>
          <a:p>
            <a:pPr marL="342900" marR="0">
              <a:lnSpc>
                <a:spcPts val="2402"/>
              </a:lnSpc>
              <a:spcBef>
                <a:spcPts val="45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outcome.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44892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DCCI+Calibri-Bold"/>
                <a:cs typeface="FVDCCI+Calibri-Bold"/>
              </a:rPr>
              <a:t>Model?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42723"/>
            <a:ext cx="10316173" cy="753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PQCGFU+Calibri"/>
                <a:cs typeface="PQCGFU+Calibri"/>
              </a:rPr>
              <a:t>coin</a:t>
            </a:r>
            <a:r>
              <a:rPr sz="2400" spc="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PQCGFU+Calibri"/>
                <a:cs typeface="PQCGFU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possibly</a:t>
            </a:r>
            <a:r>
              <a:rPr sz="2400" spc="-6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loaded.</a:t>
            </a:r>
            <a:r>
              <a:rPr sz="2400" spc="5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PQCGFU+Calibri"/>
                <a:cs typeface="PQCGFU+Calibri"/>
              </a:rPr>
              <a:t>So,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we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can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assume</a:t>
            </a:r>
            <a:r>
              <a:rPr sz="2400" spc="-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that 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one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coin</a:t>
            </a:r>
            <a:r>
              <a:rPr sz="2400" spc="-1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PQCGFU+Calibri"/>
                <a:cs typeface="PQCGFU+Calibri"/>
              </a:rPr>
              <a:t>flip</a:t>
            </a:r>
            <a:r>
              <a:rPr sz="2400" spc="7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outcome</a:t>
            </a:r>
            <a:r>
              <a:rPr sz="2400" spc="1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610" dirty="0">
                <a:solidFill>
                  <a:srgbClr val="000000"/>
                </a:solidFill>
                <a:latin typeface="DALOHM+Cambria Math"/>
                <a:cs typeface="DALOHM+Cambria Math"/>
              </a:rPr>
              <a:t>ꢁ</a:t>
            </a:r>
            <a:r>
              <a:rPr sz="2400" spc="-26" dirty="0">
                <a:solidFill>
                  <a:srgbClr val="000000"/>
                </a:solidFill>
                <a:latin typeface="PQCGFU+Calibri"/>
                <a:cs typeface="PQCGFU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</a:p>
          <a:p>
            <a:pPr marL="343217" marR="0">
              <a:lnSpc>
                <a:spcPts val="2404"/>
              </a:lnSpc>
              <a:spcBef>
                <a:spcPts val="382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Bernoulli</a:t>
            </a:r>
            <a:r>
              <a:rPr sz="2400" spc="-43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random</a:t>
            </a:r>
            <a:r>
              <a:rPr sz="2400" spc="19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variable</a:t>
            </a:r>
            <a:r>
              <a:rPr sz="2400" spc="17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PQCGFU+Calibri"/>
                <a:cs typeface="PQCGFU+Calibri"/>
              </a:rPr>
              <a:t>for</a:t>
            </a:r>
            <a:r>
              <a:rPr sz="2400" spc="-3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MTDNLU+Calibri-Italic"/>
                <a:cs typeface="MTDNLU+Calibri-Italic"/>
              </a:rPr>
              <a:t>some</a:t>
            </a:r>
            <a:r>
              <a:rPr sz="2400" spc="-858" dirty="0">
                <a:solidFill>
                  <a:srgbClr val="000000"/>
                </a:solidFill>
                <a:latin typeface="MTDNLU+Calibri-Italic"/>
                <a:cs typeface="MTDNLU+Calibri-Italic"/>
              </a:rPr>
              <a:t> </a:t>
            </a:r>
            <a:r>
              <a:rPr sz="2400" dirty="0">
                <a:solidFill>
                  <a:srgbClr val="000000"/>
                </a:solidFill>
                <a:latin typeface="MTDNLU+Calibri-Italic"/>
                <a:cs typeface="MTDNLU+Calibri-Italic"/>
              </a:rPr>
              <a:t>currently</a:t>
            </a:r>
            <a:r>
              <a:rPr sz="2400" spc="-921" dirty="0">
                <a:solidFill>
                  <a:srgbClr val="000000"/>
                </a:solidFill>
                <a:latin typeface="MTDNLU+Calibri-Italic"/>
                <a:cs typeface="MTDNLU+Calibri-Italic"/>
              </a:rPr>
              <a:t> </a:t>
            </a:r>
            <a:r>
              <a:rPr sz="2400" dirty="0">
                <a:solidFill>
                  <a:srgbClr val="000000"/>
                </a:solidFill>
                <a:latin typeface="MTDNLU+Calibri-Italic"/>
                <a:cs typeface="MTDNLU+Calibri-Italic"/>
              </a:rPr>
              <a:t>unknown</a:t>
            </a:r>
            <a:r>
              <a:rPr sz="2400" spc="-870" dirty="0">
                <a:solidFill>
                  <a:srgbClr val="000000"/>
                </a:solidFill>
                <a:latin typeface="MTDNLU+Calibri-Italic"/>
                <a:cs typeface="MTDNLU+Calibri-Italic"/>
              </a:rPr>
              <a:t> </a:t>
            </a:r>
            <a:r>
              <a:rPr sz="2400" dirty="0">
                <a:solidFill>
                  <a:srgbClr val="000000"/>
                </a:solidFill>
                <a:latin typeface="MTDNLU+Calibri-Italic"/>
                <a:cs typeface="MTDNLU+Calibri-Italic"/>
              </a:rPr>
              <a:t>parameter</a:t>
            </a:r>
            <a:r>
              <a:rPr sz="2400" spc="-864" dirty="0">
                <a:solidFill>
                  <a:srgbClr val="000000"/>
                </a:solidFill>
                <a:latin typeface="MTDNLU+Calibri-Italic"/>
                <a:cs typeface="MTDNLU+Calibri-Italic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ꢇ</a:t>
            </a:r>
            <a:r>
              <a:rPr sz="2400" spc="-1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∈</a:t>
            </a:r>
            <a:r>
              <a:rPr sz="2400" spc="-2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[0,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1].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3322633"/>
            <a:ext cx="10727960" cy="117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It’s</a:t>
            </a:r>
            <a:r>
              <a:rPr sz="2400" spc="-62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sensible</a:t>
            </a:r>
            <a:r>
              <a:rPr sz="2400" spc="-1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LNCHGV+Calibri"/>
                <a:cs typeface="LNCHGV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LNCHGV+Calibri"/>
                <a:cs typeface="LNCHGV+Calibri"/>
              </a:rPr>
              <a:t>assume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LNCHGV+Calibri"/>
                <a:cs typeface="LNCHGV+Calibri"/>
              </a:rPr>
              <a:t>that</a:t>
            </a:r>
            <a:r>
              <a:rPr sz="2400" spc="-42" dirty="0">
                <a:solidFill>
                  <a:srgbClr val="000000"/>
                </a:solidFill>
                <a:latin typeface="DALOHM+Cambria Math"/>
                <a:cs typeface="DALOHM+Cambria Math"/>
              </a:rPr>
              <a:t>{ꢁ</a:t>
            </a:r>
            <a:r>
              <a:rPr sz="2650" spc="99" baseline="-20416" dirty="0">
                <a:solidFill>
                  <a:srgbClr val="000000"/>
                </a:solidFill>
                <a:latin typeface="VLTLJD+Cambria Math"/>
                <a:cs typeface="VLTLJD+Cambria Math"/>
              </a:rPr>
              <a:t>1</a:t>
            </a:r>
            <a:r>
              <a:rPr sz="2400" spc="330" dirty="0">
                <a:solidFill>
                  <a:srgbClr val="000000"/>
                </a:solidFill>
                <a:latin typeface="DALOHM+Cambria Math"/>
                <a:cs typeface="DALOHM+Cambria Math"/>
              </a:rPr>
              <a:t>,...,ꢁ</a:t>
            </a:r>
            <a:r>
              <a:rPr sz="2650" baseline="-20416" dirty="0">
                <a:solidFill>
                  <a:srgbClr val="000000"/>
                </a:solidFill>
                <a:latin typeface="DALOHM+Cambria Math"/>
                <a:cs typeface="DALOHM+Cambria Math"/>
              </a:rPr>
              <a:t>ꢂ</a:t>
            </a:r>
            <a:r>
              <a:rPr sz="2650" spc="-921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DALOHM+Cambria Math"/>
                <a:cs typeface="DALOHM+Cambria Math"/>
              </a:rPr>
              <a:t>}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are</a:t>
            </a:r>
            <a:r>
              <a:rPr sz="2400" spc="-5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independent and</a:t>
            </a:r>
            <a:r>
              <a:rPr sz="2400" spc="55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identically</a:t>
            </a:r>
            <a:r>
              <a:rPr sz="2400" spc="-55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distributed</a:t>
            </a:r>
          </a:p>
          <a:p>
            <a:pPr marL="343217" marR="0">
              <a:lnSpc>
                <a:spcPts val="2405"/>
              </a:lnSpc>
              <a:spcBef>
                <a:spcPts val="299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(i.i.d.)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Bernoullis.</a:t>
            </a:r>
          </a:p>
          <a:p>
            <a:pPr marL="0" marR="0">
              <a:lnSpc>
                <a:spcPts val="2684"/>
              </a:lnSpc>
              <a:spcBef>
                <a:spcPts val="7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Thus</a:t>
            </a:r>
            <a:r>
              <a:rPr sz="2400" spc="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PQCGFU+Calibri"/>
                <a:cs typeface="PQCGFU+Calibri"/>
              </a:rPr>
              <a:t>joint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probability</a:t>
            </a:r>
            <a:r>
              <a:rPr sz="2400" spc="-5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of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outcome</a:t>
            </a:r>
            <a:r>
              <a:rPr sz="2400" spc="8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42" dirty="0">
                <a:solidFill>
                  <a:srgbClr val="000000"/>
                </a:solidFill>
                <a:latin typeface="DALOHM+Cambria Math"/>
                <a:cs typeface="DALOHM+Cambria Math"/>
              </a:rPr>
              <a:t>{ꢁ</a:t>
            </a:r>
            <a:r>
              <a:rPr sz="2650" spc="99" baseline="-20458" dirty="0">
                <a:solidFill>
                  <a:srgbClr val="000000"/>
                </a:solidFill>
                <a:latin typeface="VLTLJD+Cambria Math"/>
                <a:cs typeface="VLTLJD+Cambria Math"/>
              </a:rPr>
              <a:t>1</a:t>
            </a:r>
            <a:r>
              <a:rPr sz="2400" spc="330" dirty="0">
                <a:solidFill>
                  <a:srgbClr val="000000"/>
                </a:solidFill>
                <a:latin typeface="DALOHM+Cambria Math"/>
                <a:cs typeface="DALOHM+Cambria Math"/>
              </a:rPr>
              <a:t>,...,ꢁ</a:t>
            </a:r>
            <a:r>
              <a:rPr sz="2650" baseline="-20458" dirty="0">
                <a:solidFill>
                  <a:srgbClr val="000000"/>
                </a:solidFill>
                <a:latin typeface="DALOHM+Cambria Math"/>
                <a:cs typeface="DALOHM+Cambria Math"/>
              </a:rPr>
              <a:t>ꢂ</a:t>
            </a:r>
            <a:r>
              <a:rPr sz="2650" spc="-921" baseline="-204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1" dirty="0">
                <a:solidFill>
                  <a:srgbClr val="000000"/>
                </a:solidFill>
                <a:latin typeface="DALOHM+Cambria Math"/>
                <a:cs typeface="DALOHM+Cambria Math"/>
              </a:rPr>
              <a:t>}</a:t>
            </a:r>
            <a:r>
              <a:rPr sz="2400" spc="-23" dirty="0">
                <a:solidFill>
                  <a:srgbClr val="000000"/>
                </a:solidFill>
                <a:latin typeface="PQCGFU+Calibri"/>
                <a:cs typeface="PQCGFU+Calibri"/>
              </a:rPr>
              <a:t>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18408" y="4504710"/>
            <a:ext cx="3344175" cy="525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3"/>
              </a:lnSpc>
              <a:spcBef>
                <a:spcPts val="0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基于</a:t>
            </a:r>
            <a:r>
              <a:rPr sz="14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 i.i.d. </a:t>
            </a:r>
            <a:r>
              <a:rPr sz="1450" spc="22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假设，观察到整个序列x的联</a:t>
            </a:r>
          </a:p>
          <a:p>
            <a:pPr marL="0" marR="0">
              <a:lnSpc>
                <a:spcPts val="1773"/>
              </a:lnSpc>
              <a:spcBef>
                <a:spcPts val="238"/>
              </a:spcBef>
              <a:spcAft>
                <a:spcPts val="0"/>
              </a:spcAft>
            </a:pPr>
            <a:r>
              <a:rPr sz="1450" spc="23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合概率是每次</a:t>
            </a:r>
            <a:r>
              <a:rPr sz="1450" spc="23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伯努利试验概率的乘积</a:t>
            </a:r>
            <a:r>
              <a:rPr sz="14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106375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9" dirty="0">
                <a:solidFill>
                  <a:srgbClr val="001F5F"/>
                </a:solidFill>
                <a:latin typeface="FVDCCI+Calibri-Bold"/>
                <a:cs typeface="FVDCCI+Calibri-Bold"/>
              </a:rPr>
              <a:t>Loss?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00084"/>
            <a:ext cx="10492223" cy="753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call</a:t>
            </a:r>
            <a:r>
              <a:rPr sz="2400" spc="-3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probability</a:t>
            </a:r>
            <a:r>
              <a:rPr sz="2400" spc="-5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PQCGFU+Calibri"/>
                <a:cs typeface="PQCGFU+Calibri"/>
              </a:rPr>
              <a:t>mass</a:t>
            </a:r>
            <a:r>
              <a:rPr sz="2400" spc="-6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PQCGFU+Calibri"/>
                <a:cs typeface="PQCGFU+Calibri"/>
              </a:rPr>
              <a:t>(or</a:t>
            </a:r>
            <a:r>
              <a:rPr sz="2400" spc="-4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density</a:t>
            </a:r>
            <a:r>
              <a:rPr sz="2400" spc="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PQCGFU+Calibri"/>
                <a:cs typeface="PQCGFU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continuous) of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1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observed data</a:t>
            </a:r>
            <a:r>
              <a:rPr sz="2400" spc="-4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</a:p>
          <a:p>
            <a:pPr marL="343217" marR="0">
              <a:lnSpc>
                <a:spcPts val="2404"/>
              </a:lnSpc>
              <a:spcBef>
                <a:spcPts val="383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likelihood function</a:t>
            </a:r>
            <a:r>
              <a:rPr sz="2400" spc="42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(as</a:t>
            </a: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function of </a:t>
            </a:r>
            <a:r>
              <a:rPr sz="2400" spc="-22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8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parameters</a:t>
            </a:r>
            <a:r>
              <a:rPr sz="2400" spc="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70" dirty="0">
                <a:solidFill>
                  <a:srgbClr val="000000"/>
                </a:solidFill>
                <a:latin typeface="DALOHM+Cambria Math"/>
                <a:cs typeface="DALOHM+Cambria Math"/>
              </a:rPr>
              <a:t>ꢇ</a:t>
            </a:r>
            <a:r>
              <a:rPr sz="2400" spc="25" dirty="0">
                <a:solidFill>
                  <a:srgbClr val="000000"/>
                </a:solidFill>
                <a:latin typeface="PQCGFU+Calibri"/>
                <a:cs typeface="PQCGFU+Calibri"/>
              </a:rPr>
              <a:t>):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2931551"/>
            <a:ext cx="511081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usually</a:t>
            </a:r>
            <a:r>
              <a:rPr sz="2400" spc="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PQCGFU+Calibri"/>
                <a:cs typeface="PQCGFU+Calibri"/>
              </a:rPr>
              <a:t>work</a:t>
            </a:r>
            <a:r>
              <a:rPr sz="2400" spc="3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with log-likelihoods: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4399892"/>
            <a:ext cx="11284470" cy="1115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How</a:t>
            </a:r>
            <a:r>
              <a:rPr sz="2400" spc="-1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PQCGFU+Calibri"/>
                <a:cs typeface="PQCGFU+Calibri"/>
              </a:rPr>
              <a:t>choose</a:t>
            </a:r>
            <a:r>
              <a:rPr sz="2400" spc="5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73" dirty="0">
                <a:solidFill>
                  <a:srgbClr val="000000"/>
                </a:solidFill>
                <a:latin typeface="DALOHM+Cambria Math"/>
                <a:cs typeface="DALOHM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? Good values</a:t>
            </a:r>
            <a:r>
              <a:rPr sz="2400" spc="2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PQCGFU+Calibri"/>
                <a:cs typeface="PQCGFU+Calibri"/>
              </a:rPr>
              <a:t>of</a:t>
            </a:r>
            <a:r>
              <a:rPr sz="2400" spc="8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610" dirty="0">
                <a:solidFill>
                  <a:srgbClr val="000000"/>
                </a:solidFill>
                <a:latin typeface="DALOHM+Cambria Math"/>
                <a:cs typeface="DALOHM+Cambria Math"/>
              </a:rPr>
              <a:t>ꢇ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should assign high</a:t>
            </a:r>
            <a:r>
              <a:rPr sz="2400" spc="5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probability</a:t>
            </a:r>
            <a:r>
              <a:rPr sz="2400" spc="-5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-2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8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observed</a:t>
            </a:r>
          </a:p>
          <a:p>
            <a:pPr marL="343217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data.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motivates</a:t>
            </a:r>
            <a:r>
              <a:rPr sz="2400" spc="-5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1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maximum</a:t>
            </a:r>
            <a:r>
              <a:rPr sz="2400" spc="19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likelihood criterion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that we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should pick 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</a:p>
          <a:p>
            <a:pPr marL="343217" marR="0">
              <a:lnSpc>
                <a:spcPts val="2405"/>
              </a:lnSpc>
              <a:spcBef>
                <a:spcPts val="49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parameters</a:t>
            </a:r>
            <a:r>
              <a:rPr sz="2400" spc="1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that</a:t>
            </a:r>
            <a:r>
              <a:rPr sz="2400" spc="-2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maximize</a:t>
            </a:r>
            <a:r>
              <a:rPr sz="2400" spc="-1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likelihood: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9232568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DCCI+Calibri-Bold"/>
                <a:cs typeface="FVDCCI+Calibri-Bold"/>
              </a:rPr>
              <a:t>Maximum</a:t>
            </a:r>
            <a:r>
              <a:rPr sz="3250" spc="-1271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14" dirty="0">
                <a:solidFill>
                  <a:srgbClr val="001F5F"/>
                </a:solidFill>
                <a:latin typeface="FVDCCI+Calibri-Bold"/>
                <a:cs typeface="FVDCCI+Calibri-Bold"/>
              </a:rPr>
              <a:t>Likelihood</a:t>
            </a:r>
            <a:r>
              <a:rPr sz="3250" spc="-1277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FVDCCI+Calibri-Bold"/>
                <a:cs typeface="FVDCCI+Calibri-Bold"/>
              </a:rPr>
              <a:t>Estimation</a:t>
            </a:r>
            <a:r>
              <a:rPr sz="3250" spc="-1199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34" dirty="0">
                <a:solidFill>
                  <a:srgbClr val="001F5F"/>
                </a:solidFill>
                <a:latin typeface="FVDCCI+Calibri-Bold"/>
                <a:cs typeface="FVDCCI+Calibri-Bold"/>
              </a:rPr>
              <a:t>for</a:t>
            </a:r>
            <a:r>
              <a:rPr sz="3250" spc="-1197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dirty="0">
                <a:solidFill>
                  <a:srgbClr val="001F5F"/>
                </a:solidFill>
                <a:latin typeface="FVDCCI+Calibri-Bold"/>
                <a:cs typeface="FVDCCI+Calibri-Bold"/>
              </a:rPr>
              <a:t>the</a:t>
            </a:r>
            <a:r>
              <a:rPr sz="3250" spc="-1256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FVDCCI+Calibri-Bold"/>
                <a:cs typeface="FVDCCI+Calibri-Bold"/>
              </a:rPr>
              <a:t>Coin</a:t>
            </a:r>
            <a:r>
              <a:rPr sz="3250" spc="-1198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31" dirty="0">
                <a:solidFill>
                  <a:srgbClr val="001F5F"/>
                </a:solidFill>
                <a:latin typeface="FVDCCI+Calibri-Bold"/>
                <a:cs typeface="FVDCCI+Calibri-Bold"/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28659"/>
            <a:ext cx="1004536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Remember</a:t>
            </a:r>
            <a:r>
              <a:rPr sz="2400" spc="4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how</a:t>
            </a:r>
            <a:r>
              <a:rPr sz="2400" spc="2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PQCGFU+Calibri"/>
                <a:cs typeface="PQCGFU+Calibri"/>
              </a:rPr>
              <a:t>found</a:t>
            </a:r>
            <a:r>
              <a:rPr sz="2400" spc="-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optimal</a:t>
            </a:r>
            <a:r>
              <a:rPr sz="2400" spc="-4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solution</a:t>
            </a:r>
            <a:r>
              <a:rPr sz="2400" spc="-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linear</a:t>
            </a:r>
            <a:r>
              <a:rPr sz="2400" spc="-3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regression</a:t>
            </a:r>
            <a:r>
              <a:rPr sz="2400" spc="6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setting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538621"/>
            <a:ext cx="7988421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derivatives</a:t>
            </a:r>
            <a:r>
              <a:rPr sz="2400" spc="-5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zero?</a:t>
            </a:r>
            <a:r>
              <a:rPr sz="2400" spc="-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33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PQCGFU+Calibri"/>
                <a:cs typeface="PQCGFU+Calibri"/>
              </a:rPr>
              <a:t>do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that again </a:t>
            </a:r>
            <a:r>
              <a:rPr sz="2400" spc="-26" dirty="0">
                <a:solidFill>
                  <a:srgbClr val="000000"/>
                </a:solidFill>
                <a:latin typeface="PQCGFU+Calibri"/>
                <a:cs typeface="PQCGFU+Calibri"/>
              </a:rPr>
              <a:t>for</a:t>
            </a:r>
            <a:r>
              <a:rPr sz="2400" spc="7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coin</a:t>
            </a:r>
            <a:r>
              <a:rPr sz="2400" spc="7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example.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4791466"/>
            <a:ext cx="781037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Setting</a:t>
            </a:r>
            <a:r>
              <a:rPr sz="2400" spc="-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this</a:t>
            </a:r>
            <a:r>
              <a:rPr sz="2400" spc="1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PQCGFU+Calibri"/>
                <a:cs typeface="PQCGFU+Calibri"/>
              </a:rPr>
              <a:t>zero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gives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maximum</a:t>
            </a: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likelihood estimate: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61501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DCCI+Calibri-Bold"/>
                <a:cs typeface="FVDCCI+Calibri-Bold"/>
              </a:rPr>
              <a:t>Maximum</a:t>
            </a:r>
            <a:r>
              <a:rPr sz="3250" spc="-1271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14" dirty="0">
                <a:solidFill>
                  <a:srgbClr val="001F5F"/>
                </a:solidFill>
                <a:latin typeface="FVDCCI+Calibri-Bold"/>
                <a:cs typeface="FVDCCI+Calibri-Bold"/>
              </a:rPr>
              <a:t>Likelihood</a:t>
            </a:r>
            <a:r>
              <a:rPr sz="3250" spc="-1277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FVDCCI+Calibri-Bold"/>
                <a:cs typeface="FVDCCI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71509"/>
            <a:ext cx="931444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Notice,</a:t>
            </a:r>
            <a:r>
              <a:rPr sz="2400" spc="-1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PQCGFU+Calibri"/>
                <a:cs typeface="PQCGFU+Calibri"/>
              </a:rPr>
              <a:t>in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coin example</a:t>
            </a:r>
            <a:r>
              <a:rPr sz="2400" spc="-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are</a:t>
            </a:r>
            <a:r>
              <a:rPr sz="2400" spc="7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actually</a:t>
            </a:r>
            <a:r>
              <a:rPr sz="2400" spc="2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minimizing</a:t>
            </a:r>
            <a:r>
              <a:rPr sz="2400" spc="8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cross-entropies!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3206" y="1886177"/>
            <a:ext cx="1814945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最⼤似然估计的通⽤框架：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3206" y="2163269"/>
            <a:ext cx="2646218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步骤⼀：定义⼀个能够为数据集分配概率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9515" y="2357232"/>
            <a:ext cx="1953490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（或概率密度）的概率模型。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18868" y="2372590"/>
            <a:ext cx="4142510" cy="47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结论：这表明我们过去在神经⽹络中最⼩化的交叉熵损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失，从概率⻆度来看，就是在进⾏最⼤似然估计。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3206" y="2634323"/>
            <a:ext cx="2646218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步骤⼆：通过最⼤化似然（或最⼩化负对</a:t>
            </a:r>
          </a:p>
          <a:p>
            <a:pPr marL="256308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数似然）来确定模型的参数。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2058" y="3296380"/>
            <a:ext cx="3111847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WBEEJO+TimesNewRomanPSMT"/>
                <a:cs typeface="WBEEJO+TimesNewRomanPSMT"/>
              </a:rPr>
              <a:t>MLE 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提供了⼀个统⼀的、坚实的概率基础，来解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释许多机器学习算法的⽬标函数。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4007" y="3999875"/>
            <a:ext cx="713092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an</a:t>
            </a: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example</a:t>
            </a:r>
            <a:r>
              <a:rPr sz="2400" spc="-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of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maximum</a:t>
            </a:r>
            <a:r>
              <a:rPr sz="2400" spc="24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likelihood estimation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5487" y="4576487"/>
            <a:ext cx="9970652" cy="1122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define</a:t>
            </a:r>
            <a:r>
              <a:rPr sz="2400" spc="-1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</a:t>
            </a:r>
            <a:r>
              <a:rPr sz="2400" spc="-3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that assigns</a:t>
            </a:r>
            <a:r>
              <a:rPr sz="2400" spc="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probability</a:t>
            </a:r>
            <a:r>
              <a:rPr sz="2400" spc="2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PQCGFU+Calibri"/>
                <a:cs typeface="PQCGFU+Calibri"/>
              </a:rPr>
              <a:t>(or</a:t>
            </a:r>
            <a:r>
              <a:rPr sz="2400" spc="6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has</a:t>
            </a:r>
            <a:r>
              <a:rPr sz="2400" spc="-4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probability</a:t>
            </a:r>
            <a:r>
              <a:rPr sz="2400" spc="1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density</a:t>
            </a:r>
            <a:r>
              <a:rPr sz="2400" spc="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at) 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</a:p>
          <a:p>
            <a:pPr marL="343217" marR="0">
              <a:lnSpc>
                <a:spcPts val="2405"/>
              </a:lnSpc>
              <a:spcBef>
                <a:spcPts val="44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dataset</a:t>
            </a:r>
          </a:p>
          <a:p>
            <a:pPr marL="0" marR="0">
              <a:lnSpc>
                <a:spcPts val="2666"/>
              </a:lnSpc>
              <a:spcBef>
                <a:spcPts val="168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maximize</a:t>
            </a:r>
            <a:r>
              <a:rPr sz="2400" spc="-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likelihood </a:t>
            </a:r>
            <a:r>
              <a:rPr sz="2400" spc="-22" dirty="0">
                <a:solidFill>
                  <a:srgbClr val="000000"/>
                </a:solidFill>
                <a:latin typeface="PQCGFU+Calibri"/>
                <a:cs typeface="PQCGFU+Calibri"/>
              </a:rPr>
              <a:t>(or</a:t>
            </a:r>
            <a:r>
              <a:rPr sz="2400" spc="6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minimize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neg.</a:t>
            </a:r>
            <a:r>
              <a:rPr sz="2400" spc="-3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log-likelihood).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5816913"/>
            <a:ext cx="10914616" cy="4105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LNCHGV+Calibri"/>
                <a:cs typeface="LNCHGV+Calibri"/>
              </a:rPr>
              <a:t>Many</a:t>
            </a:r>
            <a:r>
              <a:rPr sz="2400" spc="-65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examples</a:t>
            </a:r>
            <a:r>
              <a:rPr sz="2400" spc="1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we’ve considered </a:t>
            </a:r>
            <a:r>
              <a:rPr sz="2400" spc="12" dirty="0">
                <a:solidFill>
                  <a:srgbClr val="000000"/>
                </a:solidFill>
                <a:latin typeface="LNCHGV+Calibri"/>
                <a:cs typeface="LNCHGV+Calibri"/>
              </a:rPr>
              <a:t>fall</a:t>
            </a:r>
            <a:r>
              <a:rPr sz="2400" spc="-52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LNCHGV+Calibri"/>
                <a:cs typeface="LNCHGV+Calibri"/>
              </a:rPr>
              <a:t>in</a:t>
            </a:r>
            <a:r>
              <a:rPr sz="2400" spc="-54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LNCHGV+Calibri"/>
                <a:cs typeface="LNCHGV+Calibri"/>
              </a:rPr>
              <a:t>this</a:t>
            </a:r>
            <a:r>
              <a:rPr sz="2400" spc="40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framework!</a:t>
            </a:r>
            <a:r>
              <a:rPr sz="2400" spc="26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Let’s</a:t>
            </a:r>
            <a:r>
              <a:rPr sz="2400" spc="75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consider</a:t>
            </a:r>
            <a:r>
              <a:rPr sz="2400" spc="-2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classification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7225" y="6250385"/>
            <a:ext cx="89580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again.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25146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2" dirty="0">
                <a:solidFill>
                  <a:srgbClr val="001F5F"/>
                </a:solidFill>
                <a:latin typeface="FVDCCI+Calibri-Bold"/>
                <a:cs typeface="FVDCCI+Calibri-Bold"/>
              </a:rPr>
              <a:t>Discriminative</a:t>
            </a:r>
            <a:r>
              <a:rPr sz="3250" spc="-1167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45" dirty="0">
                <a:solidFill>
                  <a:srgbClr val="001F5F"/>
                </a:solidFill>
                <a:latin typeface="FVDCCI+Calibri-Bold"/>
                <a:cs typeface="FVDCCI+Calibri-Bold"/>
              </a:rPr>
              <a:t>VS</a:t>
            </a:r>
            <a:r>
              <a:rPr sz="3250" spc="-1193" dirty="0">
                <a:solidFill>
                  <a:srgbClr val="001F5F"/>
                </a:solidFill>
                <a:latin typeface="FVDCCI+Calibri-Bold"/>
                <a:cs typeface="FVDCCI+Calibri-Bold"/>
              </a:rPr>
              <a:t> </a:t>
            </a:r>
            <a:r>
              <a:rPr sz="3250" spc="-23" dirty="0">
                <a:solidFill>
                  <a:srgbClr val="001F5F"/>
                </a:solidFill>
                <a:latin typeface="FVDCCI+Calibri-Bold"/>
                <a:cs typeface="FVDCCI+Calibri-Bold"/>
              </a:rPr>
              <a:t>Generative?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75509" y="314541"/>
            <a:ext cx="1607127" cy="288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4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判别式和⽣成式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047512"/>
            <a:ext cx="4257627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PQCGFU+Calibri"/>
                <a:cs typeface="PQCGFU+Calibri"/>
              </a:rPr>
              <a:t>Two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approaches</a:t>
            </a:r>
            <a:r>
              <a:rPr sz="2400" spc="2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classification: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1536075"/>
            <a:ext cx="10876883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Discriminative</a:t>
            </a:r>
            <a:r>
              <a:rPr sz="2400" spc="-10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approach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:</a:t>
            </a:r>
            <a:r>
              <a:rPr sz="2400" spc="1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estimate parameters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PQCGFU+Calibri"/>
                <a:cs typeface="PQCGFU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decision</a:t>
            </a:r>
            <a:r>
              <a:rPr sz="2400" spc="-6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boundary/class</a:t>
            </a:r>
            <a:r>
              <a:rPr sz="2400" spc="2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separator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7225" y="1945656"/>
            <a:ext cx="404675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directly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29" dirty="0">
                <a:solidFill>
                  <a:srgbClr val="000000"/>
                </a:solidFill>
                <a:latin typeface="PQCGFU+Calibri"/>
                <a:cs typeface="PQCGFU+Calibri"/>
              </a:rPr>
              <a:t>fr</a:t>
            </a:r>
            <a:r>
              <a:rPr sz="2400" spc="-48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33" dirty="0">
                <a:solidFill>
                  <a:srgbClr val="000000"/>
                </a:solidFill>
                <a:latin typeface="PQCGFU+Calibri"/>
                <a:cs typeface="PQCGFU+Calibri"/>
              </a:rPr>
              <a:t>om</a:t>
            </a:r>
            <a:r>
              <a:rPr sz="2400" spc="5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labeled examples.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2625" y="2389801"/>
            <a:ext cx="10841545" cy="1123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 </a:t>
            </a:r>
            <a:r>
              <a:rPr sz="2400" spc="17" dirty="0">
                <a:solidFill>
                  <a:srgbClr val="000000"/>
                </a:solidFill>
                <a:latin typeface="DALOHM+Cambria Math"/>
                <a:cs typeface="DALOHM+Cambria Math"/>
              </a:rPr>
              <a:t>ꢈ(ꢉ|ꢊ)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directly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(logistic</a:t>
            </a:r>
            <a:r>
              <a:rPr sz="2400" spc="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regression models)</a:t>
            </a:r>
          </a:p>
          <a:p>
            <a:pPr marL="0" marR="0">
              <a:lnSpc>
                <a:spcPts val="2666"/>
              </a:lnSpc>
              <a:spcBef>
                <a:spcPts val="42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Learn mappings</a:t>
            </a:r>
            <a:r>
              <a:rPr sz="2400" spc="-6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from</a:t>
            </a:r>
            <a:r>
              <a:rPr sz="2400" spc="1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inputs</a:t>
            </a:r>
            <a:r>
              <a:rPr sz="2400" spc="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classes</a:t>
            </a:r>
            <a:r>
              <a:rPr sz="2400" spc="2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(linear/logistic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regression,</a:t>
            </a:r>
            <a:r>
              <a:rPr sz="2400" spc="-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decision trees</a:t>
            </a:r>
            <a:r>
              <a:rPr sz="2400" spc="9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etc)</a:t>
            </a:r>
          </a:p>
          <a:p>
            <a:pPr marL="0" marR="0">
              <a:lnSpc>
                <a:spcPts val="2666"/>
              </a:lnSpc>
              <a:spcBef>
                <a:spcPts val="16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Tries</a:t>
            </a:r>
            <a:r>
              <a:rPr sz="2400" spc="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solve:</a:t>
            </a:r>
            <a:r>
              <a:rPr sz="2400" spc="-5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How</a:t>
            </a:r>
            <a:r>
              <a:rPr sz="2400" spc="-1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PQCGFU+Calibri"/>
                <a:cs typeface="PQCGFU+Calibri"/>
              </a:rPr>
              <a:t>do</a:t>
            </a:r>
            <a:r>
              <a:rPr sz="2400" spc="-2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I</a:t>
            </a:r>
            <a:r>
              <a:rPr sz="2400" spc="-2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separate</a:t>
            </a:r>
            <a:r>
              <a:rPr sz="2400" spc="-1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classes?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3729619"/>
            <a:ext cx="1127669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Generative</a:t>
            </a:r>
            <a:r>
              <a:rPr sz="2400" spc="-12" dirty="0">
                <a:solidFill>
                  <a:srgbClr val="0B44E4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PQCGFU+Calibri"/>
                <a:cs typeface="PQCGFU+Calibri"/>
              </a:rPr>
              <a:t>approach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:</a:t>
            </a:r>
            <a:r>
              <a:rPr sz="2400" spc="19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</a:t>
            </a:r>
            <a:r>
              <a:rPr sz="2400" spc="-2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-2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distribution </a:t>
            </a:r>
            <a:r>
              <a:rPr sz="2400" spc="10" dirty="0">
                <a:solidFill>
                  <a:srgbClr val="000000"/>
                </a:solidFill>
                <a:latin typeface="PQCGFU+Calibri"/>
                <a:cs typeface="PQCGFU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inputs</a:t>
            </a:r>
            <a:r>
              <a:rPr sz="2400" spc="-6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characteristic</a:t>
            </a:r>
            <a:r>
              <a:rPr sz="2400" spc="2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PQCGFU+Calibri"/>
                <a:cs typeface="PQCGFU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PQCGFU+Calibri"/>
                <a:cs typeface="PQCGFU+Calibri"/>
              </a:rPr>
              <a:t>the</a:t>
            </a:r>
            <a:r>
              <a:rPr sz="2400" spc="84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PQCGFU+Calibri"/>
                <a:cs typeface="PQCGFU+Calibri"/>
              </a:rPr>
              <a:t>class</a:t>
            </a:r>
            <a:r>
              <a:rPr sz="2400" spc="3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(Bayes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4149106"/>
            <a:ext cx="139985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classifier).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2625" y="4581027"/>
            <a:ext cx="6413793" cy="11292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Model </a:t>
            </a:r>
            <a:r>
              <a:rPr sz="2400" spc="20" dirty="0">
                <a:solidFill>
                  <a:srgbClr val="000000"/>
                </a:solidFill>
                <a:latin typeface="DALOHM+Cambria Math"/>
                <a:cs typeface="DALOHM+Cambria Math"/>
              </a:rPr>
              <a:t>ꢈ(ꢊ|ꢉ)</a:t>
            </a:r>
          </a:p>
          <a:p>
            <a:pPr marL="0" marR="0">
              <a:lnSpc>
                <a:spcPts val="2666"/>
              </a:lnSpc>
              <a:spcBef>
                <a:spcPts val="43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Apply</a:t>
            </a:r>
            <a:r>
              <a:rPr sz="2400" spc="-61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Bayes</a:t>
            </a:r>
            <a:r>
              <a:rPr sz="2400" spc="25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PQCGFU+Calibri"/>
                <a:cs typeface="PQCGFU+Calibri"/>
              </a:rPr>
              <a:t>Rule</a:t>
            </a:r>
            <a:r>
              <a:rPr sz="2400" spc="-23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PQCGFU+Calibri"/>
                <a:cs typeface="PQCGFU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derive</a:t>
            </a:r>
            <a:r>
              <a:rPr sz="2400" spc="4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DALOHM+Cambria Math"/>
                <a:cs typeface="DALOHM+Cambria Math"/>
              </a:rPr>
              <a:t>ꢈ(ꢉ|ꢊ)</a:t>
            </a:r>
          </a:p>
          <a:p>
            <a:pPr marL="0" marR="0">
              <a:lnSpc>
                <a:spcPts val="2930"/>
              </a:lnSpc>
              <a:spcBef>
                <a:spcPts val="92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IELAMK+Wingdings"/>
                <a:cs typeface="IELAM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Tries</a:t>
            </a:r>
            <a:r>
              <a:rPr sz="2400" spc="22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LNCHGV+Calibri"/>
                <a:cs typeface="LNCHGV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solve:</a:t>
            </a:r>
            <a:r>
              <a:rPr sz="2400" spc="-52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What does</a:t>
            </a:r>
            <a:r>
              <a:rPr sz="2400" spc="-5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each class</a:t>
            </a:r>
            <a:r>
              <a:rPr sz="2400" spc="-5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”look”</a:t>
            </a:r>
            <a:r>
              <a:rPr sz="2400" spc="28" dirty="0">
                <a:solidFill>
                  <a:srgbClr val="000000"/>
                </a:solidFill>
                <a:latin typeface="LNCHGV+Calibri"/>
                <a:cs typeface="LNCHG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NCHGV+Calibri"/>
                <a:cs typeface="LNCHGV+Calibri"/>
              </a:rPr>
              <a:t>like?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4007" y="5933133"/>
            <a:ext cx="841261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HQLGEI+Arial"/>
                <a:cs typeface="HQLGEI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PQCGFU+Calibri"/>
                <a:cs typeface="PQCGFU+Calibri"/>
              </a:rPr>
              <a:t>Key</a:t>
            </a:r>
            <a:r>
              <a:rPr sz="2400" spc="-6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difference:</a:t>
            </a:r>
            <a:r>
              <a:rPr sz="2400" spc="-6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PQCGFU+Calibri"/>
                <a:cs typeface="PQCGFU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there</a:t>
            </a:r>
            <a:r>
              <a:rPr sz="2400" spc="-18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distributional</a:t>
            </a:r>
            <a:r>
              <a:rPr sz="2400" spc="3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assumption over</a:t>
            </a:r>
            <a:r>
              <a:rPr sz="2400" spc="56" dirty="0">
                <a:solidFill>
                  <a:srgbClr val="000000"/>
                </a:solidFill>
                <a:latin typeface="PQCGFU+Calibri"/>
                <a:cs typeface="PQCGFU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PQCGFU+Calibri"/>
                <a:cs typeface="PQCGFU+Calibri"/>
              </a:rPr>
              <a:t>inputs?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69623"/>
            <a:ext cx="11738311" cy="4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dirty="0">
                <a:solidFill>
                  <a:srgbClr val="001F5F"/>
                </a:solidFill>
                <a:latin typeface="TVTGKO+Calibri-Bold"/>
                <a:cs typeface="TVTGKO+Calibri-Bold"/>
              </a:rPr>
              <a:t>A</a:t>
            </a:r>
            <a:r>
              <a:rPr sz="3250" spc="-1219" dirty="0">
                <a:solidFill>
                  <a:srgbClr val="001F5F"/>
                </a:solidFill>
                <a:latin typeface="TVTGKO+Calibri-Bold"/>
                <a:cs typeface="TVTGKO+Calibri-Bold"/>
              </a:rPr>
              <a:t> </a:t>
            </a:r>
            <a:r>
              <a:rPr sz="3250" spc="-27" dirty="0">
                <a:solidFill>
                  <a:srgbClr val="001F5F"/>
                </a:solidFill>
                <a:latin typeface="TVTGKO+Calibri-Bold"/>
                <a:cs typeface="TVTGKO+Calibri-Bold"/>
              </a:rPr>
              <a:t>Generative</a:t>
            </a:r>
            <a:r>
              <a:rPr sz="3250" spc="-1233" dirty="0">
                <a:solidFill>
                  <a:srgbClr val="001F5F"/>
                </a:solidFill>
                <a:latin typeface="TVTGKO+Calibri-Bold"/>
                <a:cs typeface="TVTGKO+Calibri-Bold"/>
              </a:rPr>
              <a:t> </a:t>
            </a:r>
            <a:r>
              <a:rPr sz="3250" spc="-13" dirty="0">
                <a:solidFill>
                  <a:srgbClr val="001F5F"/>
                </a:solidFill>
                <a:latin typeface="TVTGKO+Calibri-Bold"/>
                <a:cs typeface="TVTGKO+Calibri-Bold"/>
              </a:rPr>
              <a:t>Model:</a:t>
            </a:r>
            <a:r>
              <a:rPr sz="3250" spc="-1264" dirty="0">
                <a:solidFill>
                  <a:srgbClr val="001F5F"/>
                </a:solidFill>
                <a:latin typeface="TVTGKO+Calibri-Bold"/>
                <a:cs typeface="TVTGKO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TVTGKO+Calibri-Bold"/>
                <a:cs typeface="TVTGKO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TVTGKO+Calibri-Bold"/>
                <a:cs typeface="TVTGKO+Calibri-Bold"/>
              </a:rPr>
              <a:t> </a:t>
            </a:r>
            <a:r>
              <a:rPr sz="3250" spc="-11" dirty="0">
                <a:solidFill>
                  <a:srgbClr val="001F5F"/>
                </a:solidFill>
                <a:latin typeface="TVTGKO+Calibri-Bold"/>
                <a:cs typeface="TVTGKO+Calibri-Bold"/>
              </a:rPr>
              <a:t>Classifier</a:t>
            </a:r>
            <a:r>
              <a:rPr sz="3250" spc="-815" dirty="0">
                <a:solidFill>
                  <a:srgbClr val="001F5F"/>
                </a:solidFill>
                <a:latin typeface="TVTGKO+Calibri-Bold"/>
                <a:cs typeface="TVTGKO+Calibri-Bold"/>
              </a:rPr>
              <a:t> </a:t>
            </a:r>
            <a:r>
              <a:rPr sz="1650" spc="-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⽣成式模型示例</a:t>
            </a:r>
            <a:r>
              <a:rPr sz="16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 (A Generative Model: Bayes Classiﬁer)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71509"/>
            <a:ext cx="10837904" cy="1859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DCCIB+Arial"/>
                <a:cs typeface="QDCCI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Aim </a:t>
            </a:r>
            <a:r>
              <a:rPr sz="2400" spc="-54" dirty="0">
                <a:solidFill>
                  <a:srgbClr val="000000"/>
                </a:solidFill>
                <a:latin typeface="JNICQD+Calibri"/>
                <a:cs typeface="JNICQD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classify</a:t>
            </a:r>
            <a:r>
              <a:rPr sz="2400" spc="-58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JNICQD+Calibri"/>
                <a:cs typeface="JNICQD+Calibri"/>
              </a:rPr>
              <a:t>text</a:t>
            </a:r>
            <a:r>
              <a:rPr sz="2400" spc="-10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JNICQD+Calibri"/>
                <a:cs typeface="JNICQD+Calibri"/>
              </a:rPr>
              <a:t>into</a:t>
            </a:r>
            <a:r>
              <a:rPr sz="2400" spc="13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spam/not-spam</a:t>
            </a:r>
            <a:r>
              <a:rPr sz="2400" spc="-62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JNICQD+Calibri"/>
                <a:cs typeface="JNICQD+Calibri"/>
              </a:rPr>
              <a:t>(yes</a:t>
            </a:r>
            <a:r>
              <a:rPr sz="2400" spc="-65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c=1; </a:t>
            </a:r>
            <a:r>
              <a:rPr sz="2400" spc="-57" dirty="0">
                <a:solidFill>
                  <a:srgbClr val="000000"/>
                </a:solidFill>
                <a:latin typeface="JNICQD+Calibri"/>
                <a:cs typeface="JNICQD+Calibri"/>
              </a:rPr>
              <a:t>no</a:t>
            </a:r>
            <a:r>
              <a:rPr sz="2400" spc="52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c=0)</a:t>
            </a:r>
          </a:p>
          <a:p>
            <a:pPr marL="0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DCCIB+Arial"/>
                <a:cs typeface="QDCCI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Example:</a:t>
            </a:r>
            <a:r>
              <a:rPr sz="2400" spc="-64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“You </a:t>
            </a:r>
            <a:r>
              <a:rPr sz="2400" spc="18" dirty="0">
                <a:solidFill>
                  <a:srgbClr val="000000"/>
                </a:solidFill>
                <a:latin typeface="ACUBAE+Calibri"/>
                <a:cs typeface="ACUBAE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ACUBAE+Calibri"/>
                <a:cs typeface="ACUBAE+Calibri"/>
              </a:rPr>
              <a:t>one</a:t>
            </a:r>
            <a:r>
              <a:rPr sz="2400" spc="87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ACUBAE+Calibri"/>
                <a:cs typeface="ACUBAE+Calibri"/>
              </a:rPr>
              <a:t>of</a:t>
            </a:r>
            <a:r>
              <a:rPr sz="2400" spc="63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ACUBAE+Calibri"/>
                <a:cs typeface="ACUBAE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ACUBAE+Calibri"/>
                <a:cs typeface="ACUBAE+Calibri"/>
              </a:rPr>
              <a:t>very</a:t>
            </a:r>
            <a:r>
              <a:rPr sz="2400" spc="-65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ACUBAE+Calibri"/>
                <a:cs typeface="ACUBAE+Calibri"/>
              </a:rPr>
              <a:t>few</a:t>
            </a:r>
            <a:r>
              <a:rPr sz="2400" spc="-17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ACUBAE+Calibri"/>
                <a:cs typeface="ACUBAE+Calibri"/>
              </a:rPr>
              <a:t>who</a:t>
            </a:r>
            <a:r>
              <a:rPr sz="2400" spc="-22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have</a:t>
            </a:r>
            <a:r>
              <a:rPr sz="2400" spc="-21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been selected </a:t>
            </a:r>
            <a:r>
              <a:rPr sz="2400" spc="-24" dirty="0">
                <a:solidFill>
                  <a:srgbClr val="000000"/>
                </a:solidFill>
                <a:latin typeface="ACUBAE+Calibri"/>
                <a:cs typeface="ACUBAE+Calibri"/>
              </a:rPr>
              <a:t>as</a:t>
            </a:r>
            <a:r>
              <a:rPr sz="2400" spc="119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winners</a:t>
            </a:r>
            <a:r>
              <a:rPr sz="2400" spc="-57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JNICQD+Calibri"/>
                <a:cs typeface="JNICQD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JNICQD+Calibri"/>
                <a:cs typeface="JNICQD+Calibri"/>
              </a:rPr>
              <a:t>the</a:t>
            </a:r>
          </a:p>
          <a:p>
            <a:pPr marL="343217" marR="0">
              <a:lnSpc>
                <a:spcPts val="2930"/>
              </a:lnSpc>
              <a:spcBef>
                <a:spcPts val="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free</a:t>
            </a:r>
            <a:r>
              <a:rPr sz="2400" spc="-11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$1000</a:t>
            </a:r>
            <a:r>
              <a:rPr sz="2400" spc="-35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ACUBAE+Calibri"/>
                <a:cs typeface="ACUBAE+Calibri"/>
              </a:rPr>
              <a:t>Gift</a:t>
            </a:r>
            <a:r>
              <a:rPr sz="2400" spc="-87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Card.”</a:t>
            </a:r>
          </a:p>
          <a:p>
            <a:pPr marL="0" marR="0">
              <a:lnSpc>
                <a:spcPts val="2684"/>
              </a:lnSpc>
              <a:spcBef>
                <a:spcPts val="3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DCCIB+Arial"/>
                <a:cs typeface="QDCCI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Use</a:t>
            </a:r>
            <a:r>
              <a:rPr sz="2400" spc="-11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bag-of-words</a:t>
            </a:r>
            <a:r>
              <a:rPr sz="2400" spc="-58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features,</a:t>
            </a:r>
            <a:r>
              <a:rPr sz="2400" spc="-24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get binary</a:t>
            </a:r>
            <a:r>
              <a:rPr sz="2400" spc="27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vector</a:t>
            </a:r>
            <a:r>
              <a:rPr sz="2400" spc="84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spc="539" dirty="0">
                <a:solidFill>
                  <a:srgbClr val="000000"/>
                </a:solidFill>
                <a:latin typeface="BIFKTN+Cambria Math"/>
                <a:cs typeface="BIFKTN+Cambria Math"/>
              </a:rPr>
              <a:t>ꢀ</a:t>
            </a:r>
            <a:r>
              <a:rPr sz="2400" spc="12" dirty="0">
                <a:solidFill>
                  <a:srgbClr val="000000"/>
                </a:solidFill>
                <a:latin typeface="JNICQD+Calibri"/>
                <a:cs typeface="JNICQD+Calibri"/>
              </a:rPr>
              <a:t>for</a:t>
            </a:r>
            <a:r>
              <a:rPr sz="2400" spc="-42" dirty="0">
                <a:solidFill>
                  <a:srgbClr val="000000"/>
                </a:solidFill>
                <a:latin typeface="JNICQD+Calibri"/>
                <a:cs typeface="JNICQD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each email</a:t>
            </a:r>
          </a:p>
          <a:p>
            <a:pPr marL="0" marR="0">
              <a:lnSpc>
                <a:spcPts val="2686"/>
              </a:lnSpc>
              <a:spcBef>
                <a:spcPts val="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DCCIB+Arial"/>
                <a:cs typeface="QDCCIB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Vocabulary: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7971" y="2994592"/>
            <a:ext cx="1203732" cy="767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“a”:</a:t>
            </a:r>
            <a:r>
              <a:rPr sz="2400" spc="19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1</a:t>
            </a:r>
          </a:p>
          <a:p>
            <a:pPr marL="0" marR="0">
              <a:lnSpc>
                <a:spcPts val="2666"/>
              </a:lnSpc>
              <a:spcBef>
                <a:spcPts val="48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...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07971" y="3729033"/>
            <a:ext cx="1919233" cy="2598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“car”:</a:t>
            </a:r>
            <a:r>
              <a:rPr sz="2400" spc="-57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0</a:t>
            </a:r>
          </a:p>
          <a:p>
            <a:pPr marL="0" marR="0">
              <a:lnSpc>
                <a:spcPts val="2853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“card”:</a:t>
            </a:r>
            <a:r>
              <a:rPr sz="2400" spc="-61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1</a:t>
            </a:r>
          </a:p>
          <a:p>
            <a:pPr marL="0" marR="0">
              <a:lnSpc>
                <a:spcPts val="2666"/>
              </a:lnSpc>
              <a:spcBef>
                <a:spcPts val="124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...</a:t>
            </a:r>
          </a:p>
          <a:p>
            <a:pPr marL="0" marR="0">
              <a:lnSpc>
                <a:spcPts val="285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“win”:</a:t>
            </a:r>
            <a:r>
              <a:rPr sz="2400" spc="-58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0</a:t>
            </a:r>
          </a:p>
          <a:p>
            <a:pPr marL="0" marR="0">
              <a:lnSpc>
                <a:spcPts val="2854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“winner”:</a:t>
            </a:r>
            <a:r>
              <a:rPr sz="2400" spc="-58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1</a:t>
            </a:r>
          </a:p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“winter”:</a:t>
            </a:r>
            <a:r>
              <a:rPr sz="2400" spc="-58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0</a:t>
            </a:r>
          </a:p>
          <a:p>
            <a:pPr marL="0" marR="0">
              <a:lnSpc>
                <a:spcPts val="2669"/>
              </a:lnSpc>
              <a:spcBef>
                <a:spcPts val="45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JNICQD+Calibri"/>
                <a:cs typeface="JNICQD+Calibri"/>
              </a:rPr>
              <a:t>...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07971" y="6294750"/>
            <a:ext cx="1518004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UGLBHK+Wingdings"/>
                <a:cs typeface="UGLBHK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“you”:</a:t>
            </a:r>
            <a:r>
              <a:rPr sz="2400" spc="17" dirty="0">
                <a:solidFill>
                  <a:srgbClr val="000000"/>
                </a:solidFill>
                <a:latin typeface="ACUBAE+Calibri"/>
                <a:cs typeface="ACUBA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CUBAE+Calibri"/>
                <a:cs typeface="ACUBAE+Calibri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757426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VLPHID+Calibri-Bold"/>
                <a:cs typeface="VLPHID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VLPHID+Calibri-Bold"/>
                <a:cs typeface="VLPHID+Calibri-Bold"/>
              </a:rPr>
              <a:t> </a:t>
            </a:r>
            <a:r>
              <a:rPr sz="3250" spc="-11" dirty="0">
                <a:solidFill>
                  <a:srgbClr val="001F5F"/>
                </a:solidFill>
                <a:latin typeface="VLPHID+Calibri-Bold"/>
                <a:cs typeface="VLPHID+Calibri-Bold"/>
              </a:rPr>
              <a:t>Classifier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93344"/>
            <a:ext cx="10674147" cy="432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FTJUS+Arial"/>
                <a:cs typeface="UFTJUS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Given features </a:t>
            </a:r>
            <a:r>
              <a:rPr sz="2400" dirty="0">
                <a:solidFill>
                  <a:srgbClr val="000000"/>
                </a:solidFill>
                <a:latin typeface="IBHIQN+Cambria Math"/>
                <a:cs typeface="IBHIQN+Cambria Math"/>
              </a:rPr>
              <a:t>ꢀ</a:t>
            </a:r>
            <a:r>
              <a:rPr sz="2400" spc="-2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BHIQN+Cambria Math"/>
                <a:cs typeface="IBHIQN+Cambria Math"/>
              </a:rPr>
              <a:t>=</a:t>
            </a:r>
            <a:r>
              <a:rPr sz="2400" spc="-2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41" dirty="0">
                <a:solidFill>
                  <a:srgbClr val="000000"/>
                </a:solidFill>
                <a:latin typeface="IBHIQN+Cambria Math"/>
                <a:cs typeface="IBHIQN+Cambria Math"/>
              </a:rPr>
              <a:t>[ꢁ</a:t>
            </a:r>
            <a:r>
              <a:rPr sz="2650" spc="99" baseline="-20500" dirty="0">
                <a:solidFill>
                  <a:srgbClr val="000000"/>
                </a:solidFill>
                <a:latin typeface="IBHIQN+Cambria Math"/>
                <a:cs typeface="IBHIQN+Cambria Math"/>
              </a:rPr>
              <a:t>1</a:t>
            </a:r>
            <a:r>
              <a:rPr sz="2400" spc="198" dirty="0">
                <a:solidFill>
                  <a:srgbClr val="000000"/>
                </a:solidFill>
                <a:latin typeface="IBHIQN+Cambria Math"/>
                <a:cs typeface="IBHIQN+Cambria Math"/>
              </a:rPr>
              <a:t>,ꢁ</a:t>
            </a:r>
            <a:r>
              <a:rPr sz="2650" spc="100" baseline="-20500" dirty="0">
                <a:solidFill>
                  <a:srgbClr val="000000"/>
                </a:solidFill>
                <a:latin typeface="IBHIQN+Cambria Math"/>
                <a:cs typeface="IBHIQN+Cambria Math"/>
              </a:rPr>
              <a:t>2</a:t>
            </a:r>
            <a:r>
              <a:rPr sz="2400" spc="327" dirty="0">
                <a:solidFill>
                  <a:srgbClr val="000000"/>
                </a:solidFill>
                <a:latin typeface="IBHIQN+Cambria Math"/>
                <a:cs typeface="IBHIQN+Cambria Math"/>
              </a:rPr>
              <a:t>,···,ꢁ</a:t>
            </a:r>
            <a:r>
              <a:rPr sz="2650" spc="140" baseline="-20500" dirty="0">
                <a:solidFill>
                  <a:srgbClr val="000000"/>
                </a:solidFill>
                <a:latin typeface="IBHIQN+Cambria Math"/>
                <a:cs typeface="IBHIQN+Cambria Math"/>
              </a:rPr>
              <a:t>ꢂ</a:t>
            </a:r>
            <a:r>
              <a:rPr sz="2400" dirty="0">
                <a:solidFill>
                  <a:srgbClr val="000000"/>
                </a:solidFill>
                <a:latin typeface="IBHIQN+Cambria Math"/>
                <a:cs typeface="IBHIQN+Cambria Math"/>
              </a:rPr>
              <a:t>]</a:t>
            </a:r>
            <a:r>
              <a:rPr sz="2650" spc="152" baseline="36791" dirty="0">
                <a:solidFill>
                  <a:srgbClr val="000000"/>
                </a:solidFill>
                <a:latin typeface="IBHIQN+Cambria Math"/>
                <a:cs typeface="IBHIQN+Cambria Math"/>
              </a:rPr>
              <a:t>ꢃ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want </a:t>
            </a:r>
            <a:r>
              <a:rPr sz="2400" spc="20" dirty="0">
                <a:solidFill>
                  <a:srgbClr val="000000"/>
                </a:solidFill>
                <a:latin typeface="LBNCJC+Calibri"/>
                <a:cs typeface="LBNCJC+Calibri"/>
              </a:rPr>
              <a:t>to</a:t>
            </a:r>
            <a:r>
              <a:rPr sz="2400" spc="-24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compute class</a:t>
            </a:r>
            <a:r>
              <a:rPr sz="2400" spc="-58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probabilities</a:t>
            </a:r>
            <a:r>
              <a:rPr sz="2400" spc="25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using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409716"/>
            <a:ext cx="1566491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Bayes</a:t>
            </a:r>
            <a:r>
              <a:rPr sz="2400" spc="25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Rule: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3193806"/>
            <a:ext cx="227129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FTJUS+Arial"/>
                <a:cs typeface="UFTJUS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LBNCJC+Calibri"/>
                <a:cs typeface="LBNCJC+Calibri"/>
              </a:rPr>
              <a:t>More</a:t>
            </a:r>
            <a:r>
              <a:rPr sz="2400" spc="70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formally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4662147"/>
            <a:ext cx="8927916" cy="1860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FTJUS+Arial"/>
                <a:cs typeface="UFTJUS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How</a:t>
            </a:r>
            <a:r>
              <a:rPr sz="2400" spc="-17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compute</a:t>
            </a:r>
            <a:r>
              <a:rPr sz="2400" spc="28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BHIQN+Cambria Math"/>
                <a:cs typeface="IBHIQN+Cambria Math"/>
              </a:rPr>
              <a:t>ꢄ(ꢀ)</a:t>
            </a:r>
            <a:r>
              <a:rPr sz="2400" spc="12" dirty="0">
                <a:solidFill>
                  <a:srgbClr val="000000"/>
                </a:solidFill>
                <a:latin typeface="LBNCJC+Calibri"/>
                <a:cs typeface="LBNCJC+Calibri"/>
              </a:rPr>
              <a:t>for</a:t>
            </a:r>
            <a:r>
              <a:rPr sz="2400" spc="-42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LBNCJC+Calibri"/>
                <a:cs typeface="LBNCJC+Calibri"/>
              </a:rPr>
              <a:t>the</a:t>
            </a:r>
            <a:r>
              <a:rPr sz="2400" spc="-26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two-class</a:t>
            </a:r>
            <a:r>
              <a:rPr sz="2400" spc="-57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LBNCJC+Calibri"/>
                <a:cs typeface="LBNCJC+Calibri"/>
              </a:rPr>
              <a:t>case?</a:t>
            </a:r>
            <a:r>
              <a:rPr sz="2400" spc="-16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LBNCJC+Calibri"/>
                <a:cs typeface="LBNCJC+Calibri"/>
              </a:rPr>
              <a:t>(Do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 we</a:t>
            </a:r>
            <a:r>
              <a:rPr sz="2400" spc="-14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need </a:t>
            </a:r>
            <a:r>
              <a:rPr sz="2400" spc="-12" dirty="0">
                <a:solidFill>
                  <a:srgbClr val="000000"/>
                </a:solidFill>
                <a:latin typeface="LBNCJC+Calibri"/>
                <a:cs typeface="LBNCJC+Calibri"/>
              </a:rPr>
              <a:t>to?)</a:t>
            </a:r>
          </a:p>
          <a:p>
            <a:pPr marL="0" marR="0">
              <a:lnSpc>
                <a:spcPts val="2684"/>
              </a:lnSpc>
              <a:spcBef>
                <a:spcPts val="879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UFTJUS+Arial"/>
                <a:cs typeface="UFTJUS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LBNCJC+Calibri"/>
                <a:cs typeface="LBNCJC+Calibri"/>
              </a:rPr>
              <a:t>To</a:t>
            </a:r>
            <a:r>
              <a:rPr sz="2400" spc="-36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compute </a:t>
            </a:r>
            <a:r>
              <a:rPr sz="2400" spc="19" dirty="0">
                <a:solidFill>
                  <a:srgbClr val="000000"/>
                </a:solidFill>
                <a:latin typeface="IBHIQN+Cambria Math"/>
                <a:cs typeface="IBHIQN+Cambria Math"/>
              </a:rPr>
              <a:t>ꢄ(ꢅ|ꢀ)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LBNCJC+Calibri"/>
                <a:cs typeface="LBNCJC+Calibri"/>
              </a:rPr>
              <a:t>need:</a:t>
            </a:r>
            <a:r>
              <a:rPr sz="2400" spc="-44" dirty="0">
                <a:solidFill>
                  <a:srgbClr val="000000"/>
                </a:solidFill>
                <a:latin typeface="LBNCJC+Calibri"/>
                <a:cs typeface="LBNCJC+Calibri"/>
              </a:rPr>
              <a:t> </a:t>
            </a:r>
            <a:r>
              <a:rPr sz="2400" spc="19" dirty="0">
                <a:solidFill>
                  <a:srgbClr val="000000"/>
                </a:solidFill>
                <a:latin typeface="IBHIQN+Cambria Math"/>
                <a:cs typeface="IBHIQN+Cambria Math"/>
              </a:rPr>
              <a:t>ꢄ(ꢀ|ꢅ)</a:t>
            </a:r>
            <a:r>
              <a:rPr sz="2400" dirty="0">
                <a:solidFill>
                  <a:srgbClr val="000000"/>
                </a:solidFill>
                <a:latin typeface="LBNCJC+Calibri"/>
                <a:cs typeface="LBNCJC+Calibri"/>
              </a:rPr>
              <a:t>and </a:t>
            </a:r>
            <a:r>
              <a:rPr sz="2400" spc="36" dirty="0">
                <a:solidFill>
                  <a:srgbClr val="000000"/>
                </a:solidFill>
                <a:latin typeface="IBHIQN+Cambria Math"/>
                <a:cs typeface="IBHIQN+Cambria Math"/>
              </a:rPr>
              <a:t>ꢄ(ꢅ)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20259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NSDHBC+Calibri-Bold"/>
                <a:cs typeface="NSDHBC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NSDHBC+Calibri-Bold"/>
                <a:cs typeface="NSDHBC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NSDHBC+Calibri-Bold"/>
                <a:cs typeface="NSDHBC+Calibri-Bold"/>
              </a:rPr>
              <a:t>Bayes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85784"/>
            <a:ext cx="10984002" cy="112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GMQSO+Arial"/>
                <a:cs typeface="CGMQS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Assume</a:t>
            </a:r>
            <a:r>
              <a:rPr sz="2400" spc="-1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have</a:t>
            </a:r>
            <a:r>
              <a:rPr sz="2400" spc="-2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FBNQO+Calibri"/>
                <a:cs typeface="IFBNQO+Calibri"/>
              </a:rPr>
              <a:t>two</a:t>
            </a:r>
            <a:r>
              <a:rPr sz="2400" spc="1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classes:</a:t>
            </a:r>
            <a:r>
              <a:rPr sz="2400" spc="11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IFBNQO+Calibri"/>
                <a:cs typeface="IFBNQO+Calibri"/>
              </a:rPr>
              <a:t>spam</a:t>
            </a:r>
            <a:r>
              <a:rPr sz="2400" spc="3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and non-spam.</a:t>
            </a:r>
            <a:r>
              <a:rPr sz="2400" spc="-2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IFBNQO+Calibri"/>
                <a:cs typeface="IFBNQO+Calibri"/>
              </a:rPr>
              <a:t>We</a:t>
            </a:r>
            <a:r>
              <a:rPr sz="2400" spc="-4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FBNQO+Calibri"/>
                <a:cs typeface="IFBNQO+Calibri"/>
              </a:rPr>
              <a:t>have</a:t>
            </a:r>
            <a:r>
              <a:rPr sz="2400" spc="-1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</a:t>
            </a:r>
            <a:r>
              <a:rPr sz="2400" spc="-2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dictionary</a:t>
            </a:r>
            <a:r>
              <a:rPr sz="2400" spc="2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IFBNQO+Calibri"/>
                <a:cs typeface="IFBNQO+Calibri"/>
              </a:rPr>
              <a:t>of</a:t>
            </a:r>
            <a:r>
              <a:rPr sz="2400" spc="11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610" dirty="0">
                <a:solidFill>
                  <a:srgbClr val="000000"/>
                </a:solidFill>
                <a:latin typeface="TUPAGP+Cambria Math"/>
                <a:cs typeface="TUPAGP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words,</a:t>
            </a:r>
          </a:p>
          <a:p>
            <a:pPr marL="343217" marR="0">
              <a:lnSpc>
                <a:spcPts val="2404"/>
              </a:lnSpc>
              <a:spcBef>
                <a:spcPts val="38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and binary</a:t>
            </a:r>
            <a:r>
              <a:rPr sz="2400" spc="-6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features</a:t>
            </a:r>
            <a:r>
              <a:rPr sz="2400" spc="39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ꢁ</a:t>
            </a:r>
            <a:r>
              <a:rPr sz="2400" spc="-7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21" dirty="0">
                <a:solidFill>
                  <a:srgbClr val="000000"/>
                </a:solidFill>
                <a:latin typeface="TUPAGP+Cambria Math"/>
                <a:cs typeface="TUPAGP+Cambria Math"/>
              </a:rPr>
              <a:t>=[ꢂ</a:t>
            </a:r>
            <a:r>
              <a:rPr sz="2650" spc="100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1</a:t>
            </a:r>
            <a:r>
              <a:rPr sz="2400" spc="197" dirty="0">
                <a:solidFill>
                  <a:srgbClr val="000000"/>
                </a:solidFill>
                <a:latin typeface="TUPAGP+Cambria Math"/>
                <a:cs typeface="TUPAGP+Cambria Math"/>
              </a:rPr>
              <a:t>,ꢂ</a:t>
            </a:r>
            <a:r>
              <a:rPr sz="2650" spc="100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2</a:t>
            </a:r>
            <a:r>
              <a:rPr sz="2400" spc="327" dirty="0">
                <a:solidFill>
                  <a:srgbClr val="000000"/>
                </a:solidFill>
                <a:latin typeface="TUPAGP+Cambria Math"/>
                <a:cs typeface="TUPAGP+Cambria Math"/>
              </a:rPr>
              <a:t>,···,ꢂ</a:t>
            </a:r>
            <a:r>
              <a:rPr sz="2650" spc="140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ꢃ</a:t>
            </a:r>
            <a:r>
              <a:rPr sz="2400" spc="522" dirty="0">
                <a:solidFill>
                  <a:srgbClr val="000000"/>
                </a:solidFill>
                <a:latin typeface="TUPAGP+Cambria Math"/>
                <a:cs typeface="TUPAGP+Cambria Math"/>
              </a:rPr>
              <a:t>]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saying</a:t>
            </a:r>
            <a:r>
              <a:rPr sz="2400" spc="-5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whether</a:t>
            </a:r>
            <a:r>
              <a:rPr sz="2400" spc="5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IFBNQO+Calibri"/>
                <a:cs typeface="IFBNQO+Calibri"/>
              </a:rPr>
              <a:t>each</a:t>
            </a:r>
            <a:r>
              <a:rPr sz="2400" spc="1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word </a:t>
            </a:r>
            <a:r>
              <a:rPr sz="2400" spc="10" dirty="0">
                <a:solidFill>
                  <a:srgbClr val="000000"/>
                </a:solidFill>
                <a:latin typeface="IFBNQO+Calibri"/>
                <a:cs typeface="IFBNQO+Calibri"/>
              </a:rPr>
              <a:t>appears</a:t>
            </a:r>
            <a:r>
              <a:rPr sz="2400" spc="-5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IFBNQO+Calibri"/>
                <a:cs typeface="IFBNQO+Calibri"/>
              </a:rPr>
              <a:t>in</a:t>
            </a:r>
            <a:r>
              <a:rPr sz="2400" spc="-49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FBNQO+Calibri"/>
                <a:cs typeface="IFBNQO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e-</a:t>
            </a:r>
          </a:p>
          <a:p>
            <a:pPr marL="343217" marR="0">
              <a:lnSpc>
                <a:spcPts val="2402"/>
              </a:lnSpc>
              <a:spcBef>
                <a:spcPts val="2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mail.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2454539"/>
            <a:ext cx="10482513" cy="75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GMQSO+Arial"/>
                <a:cs typeface="CGMQS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If we</a:t>
            </a:r>
            <a:r>
              <a:rPr sz="2400" spc="-21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define</a:t>
            </a:r>
            <a:r>
              <a:rPr sz="2400" spc="-1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IFBNQO+Calibri"/>
                <a:cs typeface="IFBNQO+Calibri"/>
              </a:rPr>
              <a:t>joint</a:t>
            </a:r>
            <a:r>
              <a:rPr sz="2400" spc="1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distribution</a:t>
            </a:r>
            <a:r>
              <a:rPr sz="2400" spc="71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TUPAGP+Cambria Math"/>
                <a:cs typeface="TUPAGP+Cambria Math"/>
              </a:rPr>
              <a:t>ꢄ(ꢅ,</a:t>
            </a:r>
            <a:r>
              <a:rPr sz="2400" spc="-1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ꢂ</a:t>
            </a:r>
            <a:r>
              <a:rPr sz="2650" spc="99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1</a:t>
            </a:r>
            <a:r>
              <a:rPr sz="2400" spc="327" dirty="0">
                <a:solidFill>
                  <a:srgbClr val="000000"/>
                </a:solidFill>
                <a:latin typeface="TUPAGP+Cambria Math"/>
                <a:cs typeface="TUPAGP+Cambria Math"/>
              </a:rPr>
              <a:t>,···,ꢂ</a:t>
            </a:r>
            <a:r>
              <a:rPr sz="2650" spc="141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ꢃ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),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this</a:t>
            </a:r>
            <a:r>
              <a:rPr sz="2400" spc="1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IFBNQO+Calibri"/>
                <a:cs typeface="IFBNQO+Calibri"/>
              </a:rPr>
              <a:t>gives</a:t>
            </a:r>
            <a:r>
              <a:rPr sz="2400" spc="41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FBNQO+Calibri"/>
                <a:cs typeface="IFBNQO+Calibri"/>
              </a:rPr>
              <a:t>enough</a:t>
            </a:r>
            <a:r>
              <a:rPr sz="2400" spc="-6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information </a:t>
            </a:r>
            <a:r>
              <a:rPr sz="2400" spc="-54" dirty="0">
                <a:solidFill>
                  <a:srgbClr val="000000"/>
                </a:solidFill>
                <a:latin typeface="IFBNQO+Calibri"/>
                <a:cs typeface="IFBNQO+Calibri"/>
              </a:rPr>
              <a:t>to</a:t>
            </a:r>
          </a:p>
          <a:p>
            <a:pPr marL="343217" marR="0">
              <a:lnSpc>
                <a:spcPts val="2407"/>
              </a:lnSpc>
              <a:spcBef>
                <a:spcPts val="10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determine</a:t>
            </a:r>
            <a:r>
              <a:rPr sz="2400" spc="4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TUPAGP+Cambria Math"/>
                <a:cs typeface="TUPAGP+Cambria Math"/>
              </a:rPr>
              <a:t>ꢄ(ꢅ)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and</a:t>
            </a:r>
            <a:r>
              <a:rPr sz="2400" spc="1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TUPAGP+Cambria Math"/>
                <a:cs typeface="TUPAGP+Cambria Math"/>
              </a:rPr>
              <a:t>ꢄ(ꢁ|ꢅ).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3545155"/>
            <a:ext cx="11068300" cy="1131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GMQSO+Arial"/>
                <a:cs typeface="CGMQS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Problem:</a:t>
            </a:r>
            <a:r>
              <a:rPr sz="2400" spc="17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specifying</a:t>
            </a:r>
            <a:r>
              <a:rPr sz="2400" spc="-2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joint distribution over</a:t>
            </a:r>
            <a:r>
              <a:rPr sz="2400" spc="9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ꢀ</a:t>
            </a:r>
            <a:r>
              <a:rPr sz="2400" spc="-3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+</a:t>
            </a:r>
            <a:r>
              <a:rPr sz="2400" spc="-3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4" dirty="0">
                <a:solidFill>
                  <a:srgbClr val="000000"/>
                </a:solidFill>
                <a:latin typeface="BIFUVO+Cambria Math"/>
                <a:cs typeface="BIFUVO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binary</a:t>
            </a:r>
            <a:r>
              <a:rPr sz="2400" spc="-4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variables</a:t>
            </a:r>
            <a:r>
              <a:rPr sz="2400" spc="19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requires</a:t>
            </a:r>
            <a:r>
              <a:rPr sz="2400" spc="17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IFUVO+Cambria Math"/>
                <a:cs typeface="BIFUVO+Cambria Math"/>
              </a:rPr>
              <a:t>2</a:t>
            </a:r>
            <a:r>
              <a:rPr sz="2650" spc="40" baseline="36666" dirty="0">
                <a:solidFill>
                  <a:srgbClr val="000000"/>
                </a:solidFill>
                <a:latin typeface="TUPAGP+Cambria Math"/>
                <a:cs typeface="TUPAGP+Cambria Math"/>
              </a:rPr>
              <a:t>ꢃ</a:t>
            </a:r>
            <a:r>
              <a:rPr sz="2650" baseline="36666" dirty="0">
                <a:solidFill>
                  <a:srgbClr val="000000"/>
                </a:solidFill>
                <a:latin typeface="BIFUVO+Cambria Math"/>
                <a:cs typeface="BIFUVO+Cambria Math"/>
              </a:rPr>
              <a:t>+</a:t>
            </a:r>
            <a:r>
              <a:rPr sz="2650" baseline="36666" dirty="0">
                <a:solidFill>
                  <a:srgbClr val="000000"/>
                </a:solidFill>
                <a:latin typeface="TUPAGP+Cambria Math"/>
                <a:cs typeface="TUPAGP+Cambria Math"/>
              </a:rPr>
              <a:t>1</a:t>
            </a:r>
            <a:r>
              <a:rPr sz="2650" spc="-955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−</a:t>
            </a:r>
          </a:p>
          <a:p>
            <a:pPr marL="409892" marR="0">
              <a:lnSpc>
                <a:spcPts val="2407"/>
              </a:lnSpc>
              <a:spcBef>
                <a:spcPts val="378"/>
              </a:spcBef>
              <a:spcAft>
                <a:spcPts val="0"/>
              </a:spcAft>
            </a:pPr>
            <a:r>
              <a:rPr sz="2400" spc="524" dirty="0">
                <a:solidFill>
                  <a:srgbClr val="000000"/>
                </a:solidFill>
                <a:latin typeface="BIFUVO+Cambria Math"/>
                <a:cs typeface="BIFUVO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entries.</a:t>
            </a:r>
            <a:r>
              <a:rPr sz="2400" spc="-2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This</a:t>
            </a:r>
            <a:r>
              <a:rPr sz="2400" spc="-6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IFBNQO+Calibri"/>
                <a:cs typeface="IFBNQO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computationally</a:t>
            </a:r>
            <a:r>
              <a:rPr sz="2400" spc="8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prohibitive</a:t>
            </a:r>
            <a:r>
              <a:rPr sz="2400" spc="-1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and would require </a:t>
            </a:r>
            <a:r>
              <a:rPr sz="2400" spc="50" dirty="0">
                <a:solidFill>
                  <a:srgbClr val="000000"/>
                </a:solidFill>
                <a:latin typeface="IFBNQO+Calibri"/>
                <a:cs typeface="IFBNQO+Calibri"/>
              </a:rPr>
              <a:t>an</a:t>
            </a:r>
            <a:r>
              <a:rPr sz="2400" spc="-5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absurd </a:t>
            </a:r>
            <a:r>
              <a:rPr sz="2400" spc="10" dirty="0">
                <a:solidFill>
                  <a:srgbClr val="000000"/>
                </a:solidFill>
                <a:latin typeface="IFBNQO+Calibri"/>
                <a:cs typeface="IFBNQO+Calibri"/>
              </a:rPr>
              <a:t>amount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63" dirty="0">
                <a:solidFill>
                  <a:srgbClr val="000000"/>
                </a:solidFill>
                <a:latin typeface="IFBNQO+Calibri"/>
                <a:cs typeface="IFBNQO+Calibri"/>
              </a:rPr>
              <a:t>of</a:t>
            </a:r>
          </a:p>
          <a:p>
            <a:pPr marL="343217" marR="0">
              <a:lnSpc>
                <a:spcPts val="2402"/>
              </a:lnSpc>
              <a:spcBef>
                <a:spcPts val="52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data</a:t>
            </a:r>
            <a:r>
              <a:rPr sz="2400" spc="-4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FBNQO+Calibri"/>
                <a:cs typeface="IFBNQO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fit.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4996493"/>
            <a:ext cx="7840528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GMQSO+Arial"/>
                <a:cs typeface="CGMQS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QUSHJR+Calibri"/>
                <a:cs typeface="QUSHJR+Calibri"/>
              </a:rPr>
              <a:t>We’d</a:t>
            </a:r>
            <a:r>
              <a:rPr sz="2400" spc="-16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like </a:t>
            </a:r>
            <a:r>
              <a:rPr sz="2400" spc="18" dirty="0">
                <a:solidFill>
                  <a:srgbClr val="000000"/>
                </a:solidFill>
                <a:latin typeface="QUSHJR+Calibri"/>
                <a:cs typeface="QUSHJR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impose 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structure</a:t>
            </a:r>
            <a:r>
              <a:rPr sz="2400" spc="38" dirty="0">
                <a:solidFill>
                  <a:srgbClr val="0B44E4"/>
                </a:solidFill>
                <a:latin typeface="IFBNQO+Calibri"/>
                <a:cs typeface="IFBNQO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FBNQO+Calibri"/>
                <a:cs typeface="IFBNQO+Calibri"/>
              </a:rPr>
              <a:t>on</a:t>
            </a:r>
            <a:r>
              <a:rPr sz="2400" spc="-1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IFBNQO+Calibri"/>
                <a:cs typeface="IFBNQO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distribution such </a:t>
            </a:r>
            <a:r>
              <a:rPr sz="2400" spc="-11" dirty="0">
                <a:solidFill>
                  <a:srgbClr val="000000"/>
                </a:solidFill>
                <a:latin typeface="IFBNQO+Calibri"/>
                <a:cs typeface="IFBNQO+Calibri"/>
              </a:rPr>
              <a:t>that: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9917" y="5579152"/>
            <a:ext cx="5589096" cy="751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spc="-25" dirty="0">
                <a:solidFill>
                  <a:srgbClr val="000000"/>
                </a:solidFill>
                <a:latin typeface="IFBNQO+Calibri"/>
                <a:cs typeface="IFBNQO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IFBNQO+Calibri"/>
                <a:cs typeface="IFBNQO+Calibri"/>
              </a:rPr>
              <a:t>be</a:t>
            </a:r>
            <a:r>
              <a:rPr sz="2400" spc="-1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compactly</a:t>
            </a:r>
            <a:r>
              <a:rPr sz="2400" spc="-23" dirty="0">
                <a:solidFill>
                  <a:srgbClr val="0B44E4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represented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learning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and</a:t>
            </a:r>
            <a:r>
              <a:rPr sz="2400" spc="19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inference</a:t>
            </a:r>
            <a:r>
              <a:rPr sz="2400" spc="-25" dirty="0">
                <a:solidFill>
                  <a:srgbClr val="0B44E4"/>
                </a:solidFill>
                <a:latin typeface="IFBNQO+Calibri"/>
                <a:cs typeface="IFBNQO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FBNQO+Calibri"/>
                <a:cs typeface="IFBNQO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IFBNQO+Calibri"/>
                <a:cs typeface="IFBNQO+Calibri"/>
              </a:rPr>
              <a:t>both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 tractable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20259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NSDHBC+Calibri-Bold"/>
                <a:cs typeface="NSDHBC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NSDHBC+Calibri-Bold"/>
                <a:cs typeface="NSDHBC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NSDHBC+Calibri-Bold"/>
                <a:cs typeface="NSDHBC+Calibri-Bold"/>
              </a:rPr>
              <a:t>Bayes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00135"/>
            <a:ext cx="10816248" cy="752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GMQSO+Arial"/>
                <a:cs typeface="CGMQS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Naive</a:t>
            </a:r>
            <a:r>
              <a:rPr sz="2400" spc="-1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assumption:</a:t>
            </a:r>
            <a:r>
              <a:rPr sz="2400" spc="3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Naive</a:t>
            </a:r>
            <a:r>
              <a:rPr sz="2400" spc="-15" dirty="0">
                <a:solidFill>
                  <a:srgbClr val="0B44E4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Bayes</a:t>
            </a:r>
            <a:r>
              <a:rPr sz="2400" spc="30" dirty="0">
                <a:solidFill>
                  <a:srgbClr val="0B44E4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assumes</a:t>
            </a:r>
            <a:r>
              <a:rPr sz="2400" spc="-5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that </a:t>
            </a:r>
            <a:r>
              <a:rPr sz="2400" spc="15" dirty="0">
                <a:solidFill>
                  <a:srgbClr val="000000"/>
                </a:solidFill>
                <a:latin typeface="IFBNQO+Calibri"/>
                <a:cs typeface="IFBNQO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IFBNQO+Calibri"/>
                <a:cs typeface="IFBNQO+Calibri"/>
              </a:rPr>
              <a:t>wor</a:t>
            </a:r>
            <a:r>
              <a:rPr sz="2400" spc="-481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 features</a:t>
            </a:r>
            <a:r>
              <a:rPr sz="2400" spc="8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TUPAGP+Cambria Math"/>
                <a:cs typeface="TUPAGP+Cambria Math"/>
              </a:rPr>
              <a:t>ꢂ</a:t>
            </a:r>
            <a:r>
              <a:rPr sz="2650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ꢆ</a:t>
            </a:r>
            <a:r>
              <a:rPr sz="2650" spc="-894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IFBNQO+Calibri"/>
                <a:cs typeface="IFBNQO+Calibri"/>
              </a:rPr>
              <a:t>are</a:t>
            </a:r>
            <a:r>
              <a:rPr sz="2400" spc="-5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conditionally</a:t>
            </a:r>
          </a:p>
          <a:p>
            <a:pPr marL="343217" marR="0">
              <a:lnSpc>
                <a:spcPts val="2404"/>
              </a:lnSpc>
              <a:spcBef>
                <a:spcPts val="107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IFBNQO+Calibri"/>
                <a:cs typeface="IFBNQO+Calibri"/>
              </a:rPr>
              <a:t>independent</a:t>
            </a:r>
            <a:r>
              <a:rPr sz="2400" spc="36" dirty="0">
                <a:solidFill>
                  <a:srgbClr val="0B44E4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given </a:t>
            </a:r>
            <a:r>
              <a:rPr sz="2400" spc="-22" dirty="0">
                <a:solidFill>
                  <a:srgbClr val="000000"/>
                </a:solidFill>
                <a:latin typeface="IFBNQO+Calibri"/>
                <a:cs typeface="IFBNQO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IFBNQO+Calibri"/>
                <a:cs typeface="IFBNQO+Calibri"/>
              </a:rPr>
              <a:t>class</a:t>
            </a:r>
            <a:r>
              <a:rPr sz="2400" spc="4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70" dirty="0">
                <a:solidFill>
                  <a:srgbClr val="000000"/>
                </a:solidFill>
                <a:latin typeface="TUPAGP+Cambria Math"/>
                <a:cs typeface="TUPAGP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7535" y="1817412"/>
            <a:ext cx="10427297" cy="1151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IFBNQO+Calibri"/>
                <a:cs typeface="IFBNQO+Calibri"/>
              </a:rPr>
              <a:t>means</a:t>
            </a:r>
            <a:r>
              <a:rPr sz="2400" spc="3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TUPAGP+Cambria Math"/>
                <a:cs typeface="TUPAGP+Cambria Math"/>
              </a:rPr>
              <a:t>ꢂ</a:t>
            </a:r>
            <a:r>
              <a:rPr sz="2650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ꢆ</a:t>
            </a:r>
            <a:r>
              <a:rPr sz="2650" spc="-891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and</a:t>
            </a:r>
            <a:r>
              <a:rPr sz="2400" spc="2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40" dirty="0">
                <a:solidFill>
                  <a:srgbClr val="000000"/>
                </a:solidFill>
                <a:latin typeface="TUPAGP+Cambria Math"/>
                <a:cs typeface="TUPAGP+Cambria Math"/>
              </a:rPr>
              <a:t>ꢂ</a:t>
            </a:r>
            <a:r>
              <a:rPr sz="2650" baseline="-20416" dirty="0">
                <a:solidFill>
                  <a:srgbClr val="000000"/>
                </a:solidFill>
                <a:latin typeface="TUPAGP+Cambria Math"/>
                <a:cs typeface="TUPAGP+Cambria Math"/>
              </a:rPr>
              <a:t>ꢇ</a:t>
            </a:r>
            <a:r>
              <a:rPr sz="2650" spc="-886" baseline="-204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FBNQO+Calibri"/>
                <a:cs typeface="IFBNQO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independent under</a:t>
            </a:r>
            <a:r>
              <a:rPr sz="2400" spc="57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IFBNQO+Calibri"/>
                <a:cs typeface="IFBNQO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 conditional</a:t>
            </a:r>
            <a:r>
              <a:rPr sz="2400" spc="-43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distribution</a:t>
            </a:r>
            <a:r>
              <a:rPr sz="2400" spc="4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TUPAGP+Cambria Math"/>
                <a:cs typeface="TUPAGP+Cambria Math"/>
              </a:rPr>
              <a:t>ꢄ(ꢁ|ꢅ).</a:t>
            </a:r>
          </a:p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Note:</a:t>
            </a:r>
            <a:r>
              <a:rPr sz="2400" spc="21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this</a:t>
            </a:r>
            <a:r>
              <a:rPr sz="2400" spc="-55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doesn’t mean they’re</a:t>
            </a:r>
            <a:r>
              <a:rPr sz="2400" spc="-10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independent.</a:t>
            </a:r>
          </a:p>
          <a:p>
            <a:pPr marL="0" marR="0">
              <a:lnSpc>
                <a:spcPts val="2669"/>
              </a:lnSpc>
              <a:spcBef>
                <a:spcPts val="12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Mathematically,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3927833"/>
            <a:ext cx="6457824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GMQSO+Arial"/>
                <a:cs typeface="CGMQSO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Compact representation of </a:t>
            </a:r>
            <a:r>
              <a:rPr sz="2400" spc="15" dirty="0">
                <a:solidFill>
                  <a:srgbClr val="000000"/>
                </a:solidFill>
                <a:latin typeface="IFBNQO+Calibri"/>
                <a:cs typeface="IFBNQO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IFBNQO+Calibri"/>
                <a:cs typeface="IFBNQO+Calibri"/>
              </a:rPr>
              <a:t>joint</a:t>
            </a:r>
            <a:r>
              <a:rPr sz="2400" spc="1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distribution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7535" y="4433231"/>
            <a:ext cx="7809043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Prior</a:t>
            </a:r>
            <a:r>
              <a:rPr sz="2400" spc="-3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probability</a:t>
            </a:r>
            <a:r>
              <a:rPr sz="2400" spc="-5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of class:</a:t>
            </a:r>
            <a:r>
              <a:rPr sz="2400" spc="5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TUPAGP+Cambria Math"/>
                <a:cs typeface="TUPAGP+Cambria Math"/>
              </a:rPr>
              <a:t>ꢄ(ꢅ</a:t>
            </a:r>
            <a:r>
              <a:rPr sz="2400" spc="-1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=</a:t>
            </a:r>
            <a:r>
              <a:rPr sz="2400" spc="-2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BIFUVO+Cambria Math"/>
                <a:cs typeface="BIFUVO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)</a:t>
            </a:r>
            <a:r>
              <a:rPr sz="2400" spc="-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=</a:t>
            </a:r>
            <a:r>
              <a:rPr sz="2400" spc="-2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82" dirty="0">
                <a:solidFill>
                  <a:srgbClr val="000000"/>
                </a:solidFill>
                <a:latin typeface="TUPAGP+Cambria Math"/>
                <a:cs typeface="TUPAGP+Cambria Math"/>
              </a:rPr>
              <a:t>ꢈ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(e.g.</a:t>
            </a:r>
            <a:r>
              <a:rPr sz="2400" spc="-22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spam email)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7535" y="4805341"/>
            <a:ext cx="9954960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Conditional</a:t>
            </a:r>
            <a:r>
              <a:rPr sz="2400" spc="-40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probability</a:t>
            </a:r>
            <a:r>
              <a:rPr sz="2400" spc="17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IFBNQO+Calibri"/>
                <a:cs typeface="IFBNQO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word feature</a:t>
            </a:r>
            <a:r>
              <a:rPr sz="2400" spc="-14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given class:</a:t>
            </a:r>
            <a:r>
              <a:rPr sz="2400" spc="89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TUPAGP+Cambria Math"/>
                <a:cs typeface="TUPAGP+Cambria Math"/>
              </a:rPr>
              <a:t>ꢄ(ꢂ</a:t>
            </a:r>
            <a:r>
              <a:rPr sz="2400" spc="-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=</a:t>
            </a:r>
            <a:r>
              <a:rPr sz="2400" spc="-2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BIFUVO+Cambria Math"/>
                <a:cs typeface="BIFUVO+Cambria Math"/>
              </a:rPr>
              <a:t>1</a:t>
            </a:r>
            <a:r>
              <a:rPr sz="2400" spc="38" dirty="0">
                <a:solidFill>
                  <a:srgbClr val="000000"/>
                </a:solidFill>
                <a:latin typeface="TUPAGP+Cambria Math"/>
                <a:cs typeface="TUPAGP+Cambria Math"/>
              </a:rPr>
              <a:t>|ꢅ)</a:t>
            </a:r>
            <a:r>
              <a:rPr sz="2400" spc="-28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=</a:t>
            </a:r>
            <a:r>
              <a:rPr sz="2400" spc="-2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ꢉ</a:t>
            </a:r>
            <a:r>
              <a:rPr sz="2400" spc="6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(e.g.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58430" y="4970984"/>
            <a:ext cx="25534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TUPAGP+Cambria Math"/>
                <a:cs typeface="TUPAGP+Cambria Math"/>
              </a:rPr>
              <a:t>ꢇ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52559" y="4970984"/>
            <a:ext cx="36794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TUPAGP+Cambria Math"/>
                <a:cs typeface="TUPAGP+Cambria Math"/>
              </a:rPr>
              <a:t>ꢇꢊ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40752" y="5179706"/>
            <a:ext cx="4173824" cy="4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word ”price”</a:t>
            </a:r>
            <a:r>
              <a:rPr sz="2400" spc="30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appearing</a:t>
            </a:r>
            <a:r>
              <a:rPr sz="2400" spc="-17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QUSHJR+Calibri"/>
                <a:cs typeface="QUSHJR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QUSHJR+Calibri"/>
                <a:cs typeface="QUSHJR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QUSHJR+Calibri"/>
                <a:cs typeface="QUSHJR+Calibri"/>
              </a:rPr>
              <a:t>spam)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7535" y="5560010"/>
            <a:ext cx="6146608" cy="39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NHHMCA+Wingdings"/>
                <a:cs typeface="NHHMCA+Wingdings"/>
              </a:rPr>
              <a:t>➢</a:t>
            </a:r>
            <a:r>
              <a:rPr sz="2400" spc="21" dirty="0">
                <a:solidFill>
                  <a:srgbClr val="000000"/>
                </a:solidFill>
                <a:latin typeface="BIFUVO+Cambria Math"/>
                <a:cs typeface="BIFUVO+Cambria Math"/>
              </a:rPr>
              <a:t>2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ꢀ</a:t>
            </a:r>
            <a:r>
              <a:rPr sz="2400" spc="-3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+</a:t>
            </a:r>
            <a:r>
              <a:rPr sz="2400" spc="-38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3" dirty="0">
                <a:solidFill>
                  <a:srgbClr val="000000"/>
                </a:solidFill>
                <a:latin typeface="BIFUVO+Cambria Math"/>
                <a:cs typeface="BIFUVO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parameters</a:t>
            </a:r>
            <a:r>
              <a:rPr sz="2400" spc="18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IFBNQO+Calibri"/>
                <a:cs typeface="IFBNQO+Calibri"/>
              </a:rPr>
              <a:t>total</a:t>
            </a:r>
            <a:r>
              <a:rPr sz="2400" spc="45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(before</a:t>
            </a:r>
            <a:r>
              <a:rPr sz="2400" spc="46" dirty="0">
                <a:solidFill>
                  <a:srgbClr val="000000"/>
                </a:solidFill>
                <a:latin typeface="IFBNQO+Calibri"/>
                <a:cs typeface="IFBNQO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IFUVO+Cambria Math"/>
                <a:cs typeface="BIFUVO+Cambria Math"/>
              </a:rPr>
              <a:t>2</a:t>
            </a:r>
            <a:r>
              <a:rPr sz="2650" spc="39" baseline="36666" dirty="0">
                <a:solidFill>
                  <a:srgbClr val="000000"/>
                </a:solidFill>
                <a:latin typeface="TUPAGP+Cambria Math"/>
                <a:cs typeface="TUPAGP+Cambria Math"/>
              </a:rPr>
              <a:t>ꢃ</a:t>
            </a:r>
            <a:r>
              <a:rPr sz="2650" baseline="36666" dirty="0">
                <a:solidFill>
                  <a:srgbClr val="000000"/>
                </a:solidFill>
                <a:latin typeface="BIFUVO+Cambria Math"/>
                <a:cs typeface="BIFUVO+Cambria Math"/>
              </a:rPr>
              <a:t>+</a:t>
            </a:r>
            <a:r>
              <a:rPr sz="2650" baseline="36666" dirty="0">
                <a:solidFill>
                  <a:srgbClr val="000000"/>
                </a:solidFill>
                <a:latin typeface="TUPAGP+Cambria Math"/>
                <a:cs typeface="TUPAGP+Cambria Math"/>
              </a:rPr>
              <a:t>1</a:t>
            </a:r>
            <a:r>
              <a:rPr sz="2650" spc="-956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TUPAGP+Cambria Math"/>
                <a:cs typeface="TUPAGP+Cambria Math"/>
              </a:rPr>
              <a:t>−</a:t>
            </a:r>
            <a:r>
              <a:rPr sz="2400" spc="-3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24" dirty="0">
                <a:solidFill>
                  <a:srgbClr val="000000"/>
                </a:solidFill>
                <a:latin typeface="BIFUVO+Cambria Math"/>
                <a:cs typeface="BIFUVO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IFBNQO+Calibri"/>
                <a:cs typeface="IFBNQO+Calibri"/>
              </a:rPr>
              <a:t> 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012261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18" dirty="0">
                <a:solidFill>
                  <a:srgbClr val="001F5F"/>
                </a:solidFill>
                <a:latin typeface="GBVHFM+Calibri-Bold"/>
                <a:cs typeface="GBVHFM+Calibri-Bold"/>
              </a:rPr>
              <a:t>Bayes</a:t>
            </a:r>
            <a:r>
              <a:rPr sz="3250" spc="-1274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11" dirty="0">
                <a:solidFill>
                  <a:srgbClr val="001F5F"/>
                </a:solidFill>
                <a:latin typeface="GBVHFM+Calibri-Bold"/>
                <a:cs typeface="GBVHFM+Calibri-Bold"/>
              </a:rPr>
              <a:t>Nets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14359"/>
            <a:ext cx="1109476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WEQRSH+Calibri"/>
                <a:cs typeface="WEQRSH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represent this</a:t>
            </a:r>
            <a:r>
              <a:rPr sz="2400" spc="-5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WEQRSH+Calibri"/>
                <a:cs typeface="WEQRSH+Calibri"/>
              </a:rPr>
              <a:t>model</a:t>
            </a:r>
            <a:r>
              <a:rPr sz="2400" spc="-5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using</a:t>
            </a:r>
            <a:r>
              <a:rPr sz="2400" spc="-3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EQRSH+Calibri"/>
                <a:cs typeface="WEQRSH+Calibri"/>
              </a:rPr>
              <a:t>an</a:t>
            </a:r>
            <a:r>
              <a:rPr sz="2400" spc="78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WEQRSH+Calibri"/>
                <a:cs typeface="WEQRSH+Calibri"/>
              </a:rPr>
              <a:t>directed graphical</a:t>
            </a:r>
            <a:r>
              <a:rPr sz="2400" spc="-37" dirty="0">
                <a:solidFill>
                  <a:srgbClr val="0B44E4"/>
                </a:solidFill>
                <a:latin typeface="WEQRSH+Calibri"/>
                <a:cs typeface="WEQRSH+Calibri"/>
              </a:rPr>
              <a:t> </a:t>
            </a:r>
            <a:r>
              <a:rPr sz="2400" spc="10" dirty="0">
                <a:solidFill>
                  <a:srgbClr val="0B44E4"/>
                </a:solidFill>
                <a:latin typeface="WEQRSH+Calibri"/>
                <a:cs typeface="WEQRSH+Calibri"/>
              </a:rPr>
              <a:t>model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,</a:t>
            </a:r>
            <a:r>
              <a:rPr sz="2400" spc="-1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or </a:t>
            </a:r>
            <a:r>
              <a:rPr sz="2400" dirty="0">
                <a:solidFill>
                  <a:srgbClr val="0B44E4"/>
                </a:solidFill>
                <a:latin typeface="WEQRSH+Calibri"/>
                <a:cs typeface="WEQRSH+Calibri"/>
              </a:rPr>
              <a:t>Bayesian network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36252" y="1420940"/>
            <a:ext cx="6369490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我们可以使⽤有向图模型 (directed graphical model) 或⻉叶斯⽹络来直观地表示模型中的变量关系。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49371" y="1795175"/>
            <a:ext cx="4308764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⼀般规则：任何⻉叶斯⽹络图结构都意味着其联合分布可以分解为所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有变量的条件概率的乘积，条件是该变量的⽗节点。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3580140"/>
            <a:ext cx="1112728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graph structure means</a:t>
            </a: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joint distribution factorizes</a:t>
            </a:r>
            <a:r>
              <a:rPr sz="2400" spc="-5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WEQRSH+Calibri"/>
                <a:cs typeface="WEQRSH+Calibri"/>
              </a:rPr>
              <a:t>as</a:t>
            </a:r>
            <a:r>
              <a:rPr sz="2400" spc="-10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product </a:t>
            </a:r>
            <a:r>
              <a:rPr sz="2400" spc="-67" dirty="0">
                <a:solidFill>
                  <a:srgbClr val="000000"/>
                </a:solidFill>
                <a:latin typeface="WEQRSH+Calibri"/>
                <a:cs typeface="WEQRSH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conditional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7225" y="3989483"/>
            <a:ext cx="6212363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distributions</a:t>
            </a:r>
            <a:r>
              <a:rPr sz="2400" spc="18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each</a:t>
            </a:r>
            <a:r>
              <a:rPr sz="2400" spc="-1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variable</a:t>
            </a:r>
            <a:r>
              <a:rPr sz="2400" spc="-1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given its</a:t>
            </a:r>
            <a:r>
              <a:rPr sz="2400" spc="-5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parent(s).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4677166"/>
            <a:ext cx="954264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Intuitively,</a:t>
            </a:r>
            <a:r>
              <a:rPr sz="2400" spc="-1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WEQRSH+Calibri"/>
                <a:cs typeface="WEQRSH+Calibri"/>
              </a:rPr>
              <a:t>you</a:t>
            </a:r>
            <a:r>
              <a:rPr sz="2400" spc="-28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32" dirty="0">
                <a:solidFill>
                  <a:srgbClr val="000000"/>
                </a:solidFill>
                <a:latin typeface="WEQRSH+Calibri"/>
                <a:cs typeface="WEQRSH+Calibri"/>
              </a:rPr>
              <a:t>can</a:t>
            </a:r>
            <a:r>
              <a:rPr sz="2400" spc="28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think</a:t>
            </a:r>
            <a:r>
              <a:rPr sz="2400" spc="1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of 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edges</a:t>
            </a:r>
            <a:r>
              <a:rPr sz="2400" spc="1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EQRSH+Calibri"/>
                <a:cs typeface="WEQRSH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reflecting</a:t>
            </a:r>
            <a:r>
              <a:rPr sz="2400" spc="5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causal</a:t>
            </a:r>
            <a:r>
              <a:rPr sz="2400" spc="-4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structure.</a:t>
            </a:r>
            <a:r>
              <a:rPr sz="2400" spc="5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But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7225" y="5025068"/>
            <a:ext cx="8328160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mathematically,</a:t>
            </a:r>
            <a:r>
              <a:rPr sz="2400" spc="-14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this</a:t>
            </a:r>
            <a:r>
              <a:rPr sz="2400" spc="16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doesn’t hold without additional</a:t>
            </a:r>
            <a:r>
              <a:rPr sz="2400" spc="35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assumptions.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7997" y="5537346"/>
            <a:ext cx="8067143" cy="45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直觉 (Intuition)：从直觉上，你可以将这些箭头理解为⼀种因果结构。例如，类别 c（“这是垃圾邮件”）是导致特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征</a:t>
            </a:r>
            <a:r>
              <a:rPr sz="1250" spc="423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 </a:t>
            </a:r>
            <a:r>
              <a:rPr sz="12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f{x}（“出现 free 这个词”）出现的原因。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7997" y="6066590"/>
            <a:ext cx="8118770" cy="45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数学严谨性：然⽽，从数学上讲，⻉叶斯⽹络仅依赖于条件独⽴性假设来简化联合分布。模型并不需要严格的因果</a:t>
            </a:r>
          </a:p>
          <a:p>
            <a:pPr marL="0" marR="0">
              <a:lnSpc>
                <a:spcPts val="1510"/>
              </a:lnSpc>
              <a:spcBef>
                <a:spcPts val="295"/>
              </a:spcBef>
              <a:spcAft>
                <a:spcPts val="0"/>
              </a:spcAft>
            </a:pPr>
            <a:r>
              <a:rPr sz="12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关系来成⽴。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5582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GBVHFM+Calibri-Bold"/>
                <a:cs typeface="GBVHFM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GBVHFM+Calibri-Bold"/>
                <a:cs typeface="GBVHFM+Calibri-Bold"/>
              </a:rPr>
              <a:t>Bayes:</a:t>
            </a:r>
            <a:r>
              <a:rPr sz="3250" spc="-1253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BVHFM+Calibri-Bold"/>
                <a:cs typeface="GBVHFM+Calibri-Bold"/>
              </a:rPr>
              <a:t>Learning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28710"/>
            <a:ext cx="11165584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WEQRSH+Calibri"/>
                <a:cs typeface="WEQRSH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parameters</a:t>
            </a:r>
            <a:r>
              <a:rPr sz="2400" spc="-5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WEQRSH+Calibri"/>
                <a:cs typeface="WEQRSH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learned efficiently</a:t>
            </a:r>
            <a:r>
              <a:rPr sz="2400" spc="-5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because</a:t>
            </a:r>
            <a:r>
              <a:rPr sz="2400" spc="-1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WEQRSH+Calibri"/>
                <a:cs typeface="WEQRS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log-likelihood decomposes</a:t>
            </a:r>
            <a:r>
              <a:rPr sz="2400" spc="2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into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438053"/>
            <a:ext cx="4672361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independent </a:t>
            </a:r>
            <a:r>
              <a:rPr sz="2400" spc="12" dirty="0">
                <a:solidFill>
                  <a:srgbClr val="000000"/>
                </a:solidFill>
                <a:latin typeface="WEQRSH+Calibri"/>
                <a:cs typeface="WEQRSH+Calibri"/>
              </a:rPr>
              <a:t>terms</a:t>
            </a:r>
            <a:r>
              <a:rPr sz="2400" spc="-6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each</a:t>
            </a:r>
            <a:r>
              <a:rPr sz="2400" spc="-1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feature.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5425768"/>
            <a:ext cx="11326440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Each</a:t>
            </a:r>
            <a:r>
              <a:rPr sz="2400" spc="-1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67" dirty="0">
                <a:solidFill>
                  <a:srgbClr val="000000"/>
                </a:solidFill>
                <a:latin typeface="WEQRSH+Calibri"/>
                <a:cs typeface="WEQRSH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these</a:t>
            </a:r>
            <a:r>
              <a:rPr sz="2400" spc="6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log-likelihood 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terms</a:t>
            </a:r>
            <a:r>
              <a:rPr sz="2400" spc="-6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WEQRSH+Calibri"/>
                <a:cs typeface="WEQRSH+Calibri"/>
              </a:rPr>
              <a:t>depends</a:t>
            </a:r>
            <a:r>
              <a:rPr sz="2400" spc="-6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WEQRSH+Calibri"/>
                <a:cs typeface="WEQRSH+Calibri"/>
              </a:rPr>
              <a:t>on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different sets</a:t>
            </a:r>
            <a:r>
              <a:rPr sz="2400" spc="2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WEQRSH+Calibri"/>
                <a:cs typeface="WEQRSH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parameters,</a:t>
            </a:r>
            <a:r>
              <a:rPr sz="2400" spc="-1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WEQRSH+Calibri"/>
                <a:cs typeface="WEQRSH+Calibri"/>
              </a:rPr>
              <a:t>so</a:t>
            </a:r>
            <a:r>
              <a:rPr sz="2400" spc="-4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WEQRSH+Calibri"/>
                <a:cs typeface="WEQRSH+Calibri"/>
              </a:rPr>
              <a:t>they</a:t>
            </a:r>
            <a:r>
              <a:rPr sz="2400" spc="4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7225" y="5835174"/>
            <a:ext cx="3711158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optimized independently.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5582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GBVHFM+Calibri-Bold"/>
                <a:cs typeface="GBVHFM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GBVHFM+Calibri-Bold"/>
                <a:cs typeface="GBVHFM+Calibri-Bold"/>
              </a:rPr>
              <a:t>Bayes:</a:t>
            </a:r>
            <a:r>
              <a:rPr sz="3250" spc="-1253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BVHFM+Calibri-Bold"/>
                <a:cs typeface="GBVHFM+Calibri-Bold"/>
              </a:rPr>
              <a:t>Learning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67055"/>
            <a:ext cx="10742884" cy="409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WEQRSH+Calibri"/>
                <a:cs typeface="WEQRSH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handle these</a:t>
            </a:r>
            <a:r>
              <a:rPr sz="2400" spc="-1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terms</a:t>
            </a:r>
            <a:r>
              <a:rPr sz="2400" spc="2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separately.</a:t>
            </a:r>
            <a:r>
              <a:rPr sz="2400" spc="-2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WEQRSH+Calibri"/>
                <a:cs typeface="WEQRSH+Calibri"/>
              </a:rPr>
              <a:t>For</a:t>
            </a:r>
            <a:r>
              <a:rPr sz="2400" spc="6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WEQRSH+Calibri"/>
                <a:cs typeface="WEQRSH+Calibri"/>
              </a:rPr>
              <a:t>prior</a:t>
            </a:r>
            <a:r>
              <a:rPr sz="2400" spc="-4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we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maximize:</a:t>
            </a:r>
            <a:r>
              <a:rPr sz="2400" spc="183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650" baseline="55828" dirty="0">
                <a:solidFill>
                  <a:srgbClr val="000000"/>
                </a:solidFill>
                <a:latin typeface="VTQOTV+Cambria Math"/>
                <a:cs typeface="VTQOTV+Cambria Math"/>
              </a:rPr>
              <a:t>ꢁ</a:t>
            </a:r>
            <a:r>
              <a:rPr sz="2650" spc="449" baseline="558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log</a:t>
            </a:r>
            <a:r>
              <a:rPr sz="2400" spc="-10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VTQOTV+Cambria Math"/>
                <a:cs typeface="VTQOTV+Cambria Math"/>
              </a:rPr>
              <a:t>ꢂ(ꢃ</a:t>
            </a:r>
            <a:r>
              <a:rPr sz="2650" spc="52" baseline="36750" dirty="0">
                <a:solidFill>
                  <a:srgbClr val="000000"/>
                </a:solidFill>
                <a:latin typeface="VTQOTV+Cambria Math"/>
                <a:cs typeface="VTQOTV+Cambria Math"/>
              </a:rPr>
              <a:t>(ꢀ)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50325" y="1011671"/>
            <a:ext cx="36857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σ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6479" y="1165556"/>
            <a:ext cx="52673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31" dirty="0">
                <a:solidFill>
                  <a:srgbClr val="000000"/>
                </a:solidFill>
                <a:latin typeface="VTQOTV+Cambria Math"/>
                <a:cs typeface="VTQOTV+Cambria Math"/>
              </a:rPr>
              <a:t>ꢀ=1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1723340"/>
            <a:ext cx="10884579" cy="39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EQRSH+Calibri"/>
                <a:cs typeface="WEQRSH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minor</a:t>
            </a:r>
            <a:r>
              <a:rPr sz="2400" spc="-3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variant of </a:t>
            </a:r>
            <a:r>
              <a:rPr sz="2400" spc="10" dirty="0">
                <a:solidFill>
                  <a:srgbClr val="000000"/>
                </a:solidFill>
                <a:latin typeface="WEQRSH+Calibri"/>
                <a:cs typeface="WEQRSH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coin </a:t>
            </a:r>
            <a:r>
              <a:rPr sz="2400" spc="-12" dirty="0">
                <a:solidFill>
                  <a:srgbClr val="000000"/>
                </a:solidFill>
                <a:latin typeface="WEQRSH+Calibri"/>
                <a:cs typeface="WEQRSH+Calibri"/>
              </a:rPr>
              <a:t>flip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example.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WEQRSH+Calibri"/>
                <a:cs typeface="WEQRSH+Calibri"/>
              </a:rPr>
              <a:t>Let</a:t>
            </a:r>
            <a:r>
              <a:rPr sz="2400" spc="1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50" dirty="0">
                <a:solidFill>
                  <a:srgbClr val="000000"/>
                </a:solidFill>
                <a:latin typeface="VTQOTV+Cambria Math"/>
                <a:cs typeface="VTQOTV+Cambria Math"/>
              </a:rPr>
              <a:t>ꢂ(ꢃ</a:t>
            </a:r>
            <a:r>
              <a:rPr sz="2650" spc="29" baseline="36666" dirty="0">
                <a:solidFill>
                  <a:srgbClr val="000000"/>
                </a:solidFill>
                <a:latin typeface="VTQOTV+Cambria Math"/>
                <a:cs typeface="VTQOTV+Cambria Math"/>
              </a:rPr>
              <a:t>(ꢀ)</a:t>
            </a:r>
            <a:r>
              <a:rPr sz="2650" spc="-852" baseline="366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CNNFN+Cambria Math"/>
                <a:cs typeface="MCNNFN+Cambria Math"/>
              </a:rPr>
              <a:t>=</a:t>
            </a:r>
            <a:r>
              <a:rPr sz="2400" spc="-2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MCNNFN+Cambria Math"/>
                <a:cs typeface="MCNNFN+Cambria Math"/>
              </a:rPr>
              <a:t>1</a:t>
            </a:r>
            <a:r>
              <a:rPr sz="2400" spc="672" dirty="0">
                <a:solidFill>
                  <a:srgbClr val="000000"/>
                </a:solidFill>
                <a:latin typeface="VTQOTV+Cambria Math"/>
                <a:cs typeface="VTQOTV+Cambria Math"/>
              </a:rPr>
              <a:t>)</a:t>
            </a:r>
            <a:r>
              <a:rPr sz="2400" spc="664" dirty="0">
                <a:solidFill>
                  <a:srgbClr val="000000"/>
                </a:solidFill>
                <a:latin typeface="MCNNFN+Cambria Math"/>
                <a:cs typeface="MCNNFN+Cambria Math"/>
              </a:rPr>
              <a:t>=</a:t>
            </a:r>
            <a:r>
              <a:rPr sz="2400" spc="55" dirty="0">
                <a:solidFill>
                  <a:srgbClr val="000000"/>
                </a:solidFill>
                <a:latin typeface="VTQOTV+Cambria Math"/>
                <a:cs typeface="VTQOTV+Cambria Math"/>
              </a:rPr>
              <a:t>ꢄ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.</a:t>
            </a:r>
            <a:r>
              <a:rPr sz="2400" spc="-1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Note</a:t>
            </a:r>
            <a:r>
              <a:rPr sz="2400" spc="2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49" dirty="0">
                <a:solidFill>
                  <a:srgbClr val="000000"/>
                </a:solidFill>
                <a:latin typeface="VTQOTV+Cambria Math"/>
                <a:cs typeface="VTQOTV+Cambria Math"/>
              </a:rPr>
              <a:t>ꢂ(ꢃ</a:t>
            </a:r>
            <a:r>
              <a:rPr sz="2650" spc="52" baseline="36666" dirty="0">
                <a:solidFill>
                  <a:srgbClr val="000000"/>
                </a:solidFill>
                <a:latin typeface="VTQOTV+Cambria Math"/>
                <a:cs typeface="VTQOTV+Cambria Math"/>
              </a:rPr>
              <a:t>(ꢀ)</a:t>
            </a:r>
            <a:r>
              <a:rPr sz="2400" spc="672" dirty="0">
                <a:solidFill>
                  <a:srgbClr val="000000"/>
                </a:solidFill>
                <a:latin typeface="VTQOTV+Cambria Math"/>
                <a:cs typeface="VTQOTV+Cambria Math"/>
              </a:rPr>
              <a:t>)</a:t>
            </a:r>
            <a:r>
              <a:rPr sz="2400" dirty="0">
                <a:solidFill>
                  <a:srgbClr val="000000"/>
                </a:solidFill>
                <a:latin typeface="MCNNFN+Cambria Math"/>
                <a:cs typeface="MCNNFN+Cambria Math"/>
              </a:rPr>
              <a:t> =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80439" y="2110137"/>
            <a:ext cx="372423" cy="2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TQOTV+Cambria Math"/>
                <a:cs typeface="VTQOTV+Cambria Math"/>
              </a:rPr>
              <a:t>(ꢆ)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89734" y="2110137"/>
            <a:ext cx="788475" cy="309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2650" baseline="-44344" dirty="0">
                <a:solidFill>
                  <a:srgbClr val="000000"/>
                </a:solidFill>
                <a:latin typeface="VTQOTV+Cambria Math"/>
                <a:cs typeface="VTQOTV+Cambria Math"/>
              </a:rPr>
              <a:t>1</a:t>
            </a:r>
            <a:r>
              <a:rPr sz="2650" baseline="-44344" dirty="0">
                <a:solidFill>
                  <a:srgbClr val="000000"/>
                </a:solidFill>
                <a:latin typeface="MCNNFN+Cambria Math"/>
                <a:cs typeface="MCNNFN+Cambria Math"/>
              </a:rPr>
              <a:t>−</a:t>
            </a:r>
            <a:r>
              <a:rPr sz="2650" spc="101" baseline="-44344" dirty="0">
                <a:solidFill>
                  <a:srgbClr val="000000"/>
                </a:solidFill>
                <a:latin typeface="VTQOTV+Cambria Math"/>
                <a:cs typeface="VTQOTV+Cambria Math"/>
              </a:rPr>
              <a:t>ꢅ</a:t>
            </a:r>
            <a:r>
              <a:rPr sz="1450" dirty="0">
                <a:solidFill>
                  <a:srgbClr val="000000"/>
                </a:solidFill>
                <a:latin typeface="VTQOTV+Cambria Math"/>
                <a:cs typeface="VTQOTV+Cambria Math"/>
              </a:rPr>
              <a:t>(ꢆ)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5345" y="2162125"/>
            <a:ext cx="26316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ꢅ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7225" y="2207122"/>
            <a:ext cx="1691021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ꢄ</a:t>
            </a:r>
            <a:r>
              <a:rPr sz="2400" spc="15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(</a:t>
            </a:r>
            <a:r>
              <a:rPr sz="2400" spc="531" dirty="0">
                <a:solidFill>
                  <a:srgbClr val="000000"/>
                </a:solidFill>
                <a:latin typeface="MCNNFN+Cambria Math"/>
                <a:cs typeface="MCNNFN+Cambria Math"/>
              </a:rPr>
              <a:t>1</a:t>
            </a:r>
            <a:r>
              <a:rPr sz="2400" spc="195" dirty="0">
                <a:solidFill>
                  <a:srgbClr val="000000"/>
                </a:solidFill>
                <a:latin typeface="VTQOTV+Cambria Math"/>
                <a:cs typeface="VTQOTV+Cambria Math"/>
              </a:rPr>
              <a:t>−ꢄ)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4007" y="2893451"/>
            <a:ext cx="231496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Log-likelihood: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007" y="4724664"/>
            <a:ext cx="5783785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Obtain 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MLEs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WEQRSH+Calibri"/>
                <a:cs typeface="WEQRSH+Calibri"/>
              </a:rPr>
              <a:t>by</a:t>
            </a:r>
            <a:r>
              <a:rPr sz="2400" spc="8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setting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derivatives</a:t>
            </a:r>
            <a:r>
              <a:rPr sz="2400" spc="1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WEQRSH+Calibri"/>
                <a:cs typeface="WEQRSH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zero: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385582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GBVHFM+Calibri-Bold"/>
                <a:cs typeface="GBVHFM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GBVHFM+Calibri-Bold"/>
                <a:cs typeface="GBVHFM+Calibri-Bold"/>
              </a:rPr>
              <a:t>Bayes:</a:t>
            </a:r>
            <a:r>
              <a:rPr sz="3250" spc="-1253" dirty="0">
                <a:solidFill>
                  <a:srgbClr val="001F5F"/>
                </a:solidFill>
                <a:latin typeface="GBVHFM+Calibri-Bold"/>
                <a:cs typeface="GBVHFM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GBVHFM+Calibri-Bold"/>
                <a:cs typeface="GBVHFM+Calibri-Bold"/>
              </a:rPr>
              <a:t>Learning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18475" y="999440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ꢀ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1029031"/>
            <a:ext cx="8808038" cy="4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Each</a:t>
            </a:r>
            <a:r>
              <a:rPr sz="2400" spc="-3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ꢇ</a:t>
            </a:r>
            <a:r>
              <a:rPr sz="2400" spc="1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’s</a:t>
            </a:r>
            <a:r>
              <a:rPr sz="2400" spc="23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can </a:t>
            </a:r>
            <a:r>
              <a:rPr sz="2400" spc="-57" dirty="0">
                <a:solidFill>
                  <a:srgbClr val="000000"/>
                </a:solidFill>
                <a:latin typeface="SOWUMV+Calibri"/>
                <a:cs typeface="SOWUMV+Calibri"/>
              </a:rPr>
              <a:t>be</a:t>
            </a:r>
            <a:r>
              <a:rPr sz="2400" spc="122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treated</a:t>
            </a:r>
            <a:r>
              <a:rPr sz="2400" spc="14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separately:</a:t>
            </a:r>
            <a:r>
              <a:rPr sz="2400" spc="14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SOWUMV+Calibri"/>
                <a:cs typeface="SOWUMV+Calibri"/>
              </a:rPr>
              <a:t>maximize</a:t>
            </a:r>
            <a:r>
              <a:rPr sz="2400" spc="1687" dirty="0">
                <a:solidFill>
                  <a:srgbClr val="000000"/>
                </a:solidFill>
                <a:latin typeface="SOWUMV+Calibri"/>
                <a:cs typeface="SOWUMV+Calibri"/>
              </a:rPr>
              <a:t> </a:t>
            </a:r>
            <a:r>
              <a:rPr sz="2650" baseline="55828" dirty="0">
                <a:solidFill>
                  <a:srgbClr val="000000"/>
                </a:solidFill>
                <a:latin typeface="VTQOTV+Cambria Math"/>
                <a:cs typeface="VTQOTV+Cambria Math"/>
              </a:rPr>
              <a:t>ꢁ</a:t>
            </a:r>
            <a:r>
              <a:rPr sz="2650" spc="449" baseline="558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logꢂ(ꢉ</a:t>
            </a:r>
            <a:r>
              <a:rPr sz="2400" spc="9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|ꢃ</a:t>
            </a:r>
            <a:r>
              <a:rPr sz="2650" spc="52" baseline="36666" dirty="0">
                <a:solidFill>
                  <a:srgbClr val="000000"/>
                </a:solidFill>
                <a:latin typeface="VTQOTV+Cambria Math"/>
                <a:cs typeface="VTQOTV+Cambria Math"/>
              </a:rPr>
              <a:t>(ꢀ)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07734" y="1073647"/>
            <a:ext cx="368574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σ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3990" y="1215340"/>
            <a:ext cx="36794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ꢈꢅ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24015" y="1227906"/>
            <a:ext cx="526428" cy="25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700" spc="57" dirty="0">
                <a:solidFill>
                  <a:srgbClr val="000000"/>
                </a:solidFill>
                <a:latin typeface="VTQOTV+Cambria Math"/>
                <a:cs typeface="VTQOTV+Cambria Math"/>
              </a:rPr>
              <a:t>ꢀ=1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79410" y="1247344"/>
            <a:ext cx="25534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20835" y="1504900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ꢀ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4007" y="1553220"/>
            <a:ext cx="10939628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WEQRSH+Calibri"/>
                <a:cs typeface="WEQRSH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(again)</a:t>
            </a:r>
            <a:r>
              <a:rPr sz="2400" spc="1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minor</a:t>
            </a:r>
            <a:r>
              <a:rPr sz="2400" spc="-36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variant </a:t>
            </a:r>
            <a:r>
              <a:rPr sz="2400" spc="-67" dirty="0">
                <a:solidFill>
                  <a:srgbClr val="000000"/>
                </a:solidFill>
                <a:latin typeface="WEQRSH+Calibri"/>
                <a:cs typeface="WEQRSH+Calibri"/>
              </a:rPr>
              <a:t>of</a:t>
            </a:r>
            <a:r>
              <a:rPr sz="2400" spc="65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WEQRSH+Calibri"/>
                <a:cs typeface="WEQRSH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coin 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flip</a:t>
            </a:r>
            <a:r>
              <a:rPr sz="2400" spc="-1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example.</a:t>
            </a:r>
            <a:r>
              <a:rPr sz="2400" spc="107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WEQRSH+Calibri"/>
                <a:cs typeface="WEQRSH+Calibri"/>
              </a:rPr>
              <a:t>Let</a:t>
            </a:r>
            <a:r>
              <a:rPr sz="2400" spc="-6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ꢇ</a:t>
            </a:r>
            <a:r>
              <a:rPr sz="2400" spc="7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MCNNFN+Cambria Math"/>
                <a:cs typeface="MCNNFN+Cambria Math"/>
              </a:rPr>
              <a:t>=</a:t>
            </a:r>
            <a:r>
              <a:rPr sz="2400" spc="18" dirty="0">
                <a:solidFill>
                  <a:srgbClr val="000000"/>
                </a:solidFill>
                <a:latin typeface="VTQOTV+Cambria Math"/>
                <a:cs typeface="VTQOTV+Cambria Math"/>
              </a:rPr>
              <a:t>ꢂ(ꢉ</a:t>
            </a:r>
            <a:r>
              <a:rPr sz="2400" spc="15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31" dirty="0">
                <a:solidFill>
                  <a:srgbClr val="000000"/>
                </a:solidFill>
                <a:latin typeface="MCNNFN+Cambria Math"/>
                <a:cs typeface="MCNNFN+Cambria Math"/>
              </a:rPr>
              <a:t>=1</a:t>
            </a:r>
            <a:r>
              <a:rPr sz="2400" spc="28" dirty="0">
                <a:solidFill>
                  <a:srgbClr val="000000"/>
                </a:solidFill>
                <a:latin typeface="VTQOTV+Cambria Math"/>
                <a:cs typeface="VTQOTV+Cambria Math"/>
              </a:rPr>
              <a:t>|ꢃ)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.</a:t>
            </a:r>
            <a:r>
              <a:rPr sz="2400" spc="-2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Note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014969" y="1720800"/>
            <a:ext cx="36794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ꢈꢅ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081389" y="1752804"/>
            <a:ext cx="25534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11755" y="2006632"/>
            <a:ext cx="306833" cy="416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36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TQOTV+Cambria Math"/>
                <a:cs typeface="VTQOTV+Cambria Math"/>
              </a:rPr>
              <a:t>ꢆ</a:t>
            </a:r>
          </a:p>
          <a:p>
            <a:pPr marL="0" marR="0">
              <a:lnSpc>
                <a:spcPts val="1428"/>
              </a:lnSpc>
              <a:spcBef>
                <a:spcPts val="169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TQOTV+Cambria Math"/>
                <a:cs typeface="VTQOTV+Cambria Math"/>
              </a:rPr>
              <a:t>ꢋ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504944" y="2073053"/>
            <a:ext cx="382583" cy="428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40" marR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TQOTV+Cambria Math"/>
                <a:cs typeface="VTQOTV+Cambria Math"/>
              </a:rPr>
              <a:t>(ꢆ)</a:t>
            </a:r>
          </a:p>
          <a:p>
            <a:pPr marL="0" marR="0">
              <a:lnSpc>
                <a:spcPts val="1428"/>
              </a:lnSpc>
              <a:spcBef>
                <a:spcPts val="263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TQOTV+Cambria Math"/>
                <a:cs typeface="VTQOTV+Cambria Math"/>
              </a:rPr>
              <a:t>ꢋ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79929" y="2092656"/>
            <a:ext cx="282021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ꢊ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02385" y="2172539"/>
            <a:ext cx="22931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82415" y="2167205"/>
            <a:ext cx="572851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1</a:t>
            </a:r>
            <a:r>
              <a:rPr sz="1750" dirty="0">
                <a:solidFill>
                  <a:srgbClr val="000000"/>
                </a:solidFill>
                <a:latin typeface="MCNNFN+Cambria Math"/>
                <a:cs typeface="MCNNFN+Cambria Math"/>
              </a:rPr>
              <a:t>−</a:t>
            </a: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ꢊ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7225" y="2259446"/>
            <a:ext cx="3515376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ꢂ</a:t>
            </a:r>
            <a:r>
              <a:rPr sz="2400" spc="1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ꢉ</a:t>
            </a:r>
            <a:r>
              <a:rPr sz="2400" spc="168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ꢃ</a:t>
            </a:r>
            <a:r>
              <a:rPr sz="2400" spc="4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662" dirty="0">
                <a:solidFill>
                  <a:srgbClr val="000000"/>
                </a:solidFill>
                <a:latin typeface="MCNNFN+Cambria Math"/>
                <a:cs typeface="MCNNFN+Cambria Math"/>
              </a:rPr>
              <a:t>=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ꢇ</a:t>
            </a:r>
            <a:r>
              <a:rPr sz="2400" spc="17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(</a:t>
            </a:r>
            <a:r>
              <a:rPr sz="2400" spc="531" dirty="0">
                <a:solidFill>
                  <a:srgbClr val="000000"/>
                </a:solidFill>
                <a:latin typeface="MCNNFN+Cambria Math"/>
                <a:cs typeface="MCNNFN+Cambria Math"/>
              </a:rPr>
              <a:t>1</a:t>
            </a:r>
            <a:r>
              <a:rPr sz="2400" spc="530" dirty="0">
                <a:solidFill>
                  <a:srgbClr val="000000"/>
                </a:solidFill>
                <a:latin typeface="VTQOTV+Cambria Math"/>
                <a:cs typeface="VTQOTV+Cambria Math"/>
              </a:rPr>
              <a:t>−ꢇ</a:t>
            </a:r>
            <a:r>
              <a:rPr sz="2400" spc="-4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VTQOTV+Cambria Math"/>
                <a:cs typeface="VTQOTV+Cambria Math"/>
              </a:rPr>
              <a:t>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58055" y="2268236"/>
            <a:ext cx="229424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56330" y="2388439"/>
            <a:ext cx="36794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ꢈꢅ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63320" y="2420570"/>
            <a:ext cx="255347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413000" y="2438985"/>
            <a:ext cx="367949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VTQOTV+Cambria Math"/>
                <a:cs typeface="VTQOTV+Cambria Math"/>
              </a:rPr>
              <a:t>ꢈꢅ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14007" y="2669169"/>
            <a:ext cx="231496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Log-likelihood: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14007" y="4872078"/>
            <a:ext cx="5781345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OGTBQ+Arial"/>
                <a:cs typeface="WOGTBQ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Obtain </a:t>
            </a:r>
            <a:r>
              <a:rPr sz="2400" spc="13" dirty="0">
                <a:solidFill>
                  <a:srgbClr val="000000"/>
                </a:solidFill>
                <a:latin typeface="WEQRSH+Calibri"/>
                <a:cs typeface="WEQRSH+Calibri"/>
              </a:rPr>
              <a:t>MLEs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61" dirty="0">
                <a:solidFill>
                  <a:srgbClr val="000000"/>
                </a:solidFill>
                <a:latin typeface="WEQRSH+Calibri"/>
                <a:cs typeface="WEQRSH+Calibri"/>
              </a:rPr>
              <a:t>by</a:t>
            </a:r>
            <a:r>
              <a:rPr sz="2400" spc="79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setting</a:t>
            </a:r>
            <a:r>
              <a:rPr sz="2400" spc="-21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derivatives</a:t>
            </a:r>
            <a:r>
              <a:rPr sz="2400" spc="14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WEQRSH+Calibri"/>
                <a:cs typeface="WEQRSH+Calibri"/>
              </a:rPr>
              <a:t>to</a:t>
            </a:r>
            <a:r>
              <a:rPr sz="2400" spc="42" dirty="0">
                <a:solidFill>
                  <a:srgbClr val="000000"/>
                </a:solidFill>
                <a:latin typeface="WEQRSH+Calibri"/>
                <a:cs typeface="WEQRS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WEQRSH+Calibri"/>
                <a:cs typeface="WEQRSH+Calibri"/>
              </a:rPr>
              <a:t>zero: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7556500" cy="1068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00977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JVGJPR+Calibri-Bold"/>
                <a:cs typeface="JVGJPR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JVGJPR+Calibri-Bold"/>
                <a:cs typeface="JVGJPR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JVGJPR+Calibri-Bold"/>
                <a:cs typeface="JVGJPR+Calibri-Bold"/>
              </a:rPr>
              <a:t>Bayes:</a:t>
            </a:r>
            <a:r>
              <a:rPr sz="3250" spc="-1253" dirty="0">
                <a:solidFill>
                  <a:srgbClr val="001F5F"/>
                </a:solidFill>
                <a:latin typeface="JVGJPR+Calibri-Bold"/>
                <a:cs typeface="JVGJPR+Calibri-Bold"/>
              </a:rPr>
              <a:t> </a:t>
            </a:r>
            <a:r>
              <a:rPr sz="3250" spc="-17" dirty="0">
                <a:solidFill>
                  <a:srgbClr val="001F5F"/>
                </a:solidFill>
                <a:latin typeface="JVGJPR+Calibri-Bold"/>
                <a:cs typeface="JVGJPR+Calibri-Bold"/>
              </a:rPr>
              <a:t>Inference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56668"/>
            <a:ext cx="8289154" cy="759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TNLJM+Arial"/>
                <a:cs typeface="PTNLJ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BKAFEM+Calibri"/>
                <a:cs typeface="BKAFEM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predict </a:t>
            </a:r>
            <a:r>
              <a:rPr sz="2400" spc="15" dirty="0">
                <a:solidFill>
                  <a:srgbClr val="000000"/>
                </a:solidFill>
                <a:latin typeface="BKAFEM+Calibri"/>
                <a:cs typeface="BKAFEM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category</a:t>
            </a:r>
            <a:r>
              <a:rPr sz="2400" spc="25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BKAFEM+Calibri"/>
                <a:cs typeface="BKAFEM+Calibri"/>
              </a:rPr>
              <a:t>by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 performing</a:t>
            </a:r>
            <a:r>
              <a:rPr sz="2400" spc="60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BKAFEM+Calibri"/>
                <a:cs typeface="BKAFEM+Calibri"/>
              </a:rPr>
              <a:t>inference</a:t>
            </a:r>
            <a:r>
              <a:rPr sz="2400" spc="-25" dirty="0">
                <a:solidFill>
                  <a:srgbClr val="0B44E4"/>
                </a:solidFill>
                <a:latin typeface="BKAFEM+Calibri"/>
                <a:cs typeface="BKAFEM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BKAFEM+Calibri"/>
                <a:cs typeface="BKAFEM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BKAFEM+Calibri"/>
                <a:cs typeface="BKAFEM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model.</a:t>
            </a:r>
          </a:p>
          <a:p>
            <a:pPr marL="0" marR="0">
              <a:lnSpc>
                <a:spcPts val="285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TNLJM+Arial"/>
                <a:cs typeface="PTNLJ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Apply</a:t>
            </a:r>
            <a:r>
              <a:rPr sz="2400" spc="-39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ASOKKE+Calibri"/>
                <a:cs typeface="ASOKKE+Calibri"/>
              </a:rPr>
              <a:t>Bayes’</a:t>
            </a:r>
            <a:r>
              <a:rPr sz="2400" spc="-21" dirty="0">
                <a:solidFill>
                  <a:srgbClr val="0B44E4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ASOKKE+Calibri"/>
                <a:cs typeface="ASOKKE+Calibri"/>
              </a:rPr>
              <a:t>Rule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3508688"/>
            <a:ext cx="10973037" cy="1139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TNLJM+Arial"/>
                <a:cs typeface="PTNLJ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ASOKKE+Calibri"/>
                <a:cs typeface="ASOKKE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need </a:t>
            </a:r>
            <a:r>
              <a:rPr sz="2400" spc="-27" dirty="0">
                <a:solidFill>
                  <a:srgbClr val="000000"/>
                </a:solidFill>
                <a:latin typeface="ASOKKE+Calibri"/>
                <a:cs typeface="ASOKKE+Calibri"/>
              </a:rPr>
              <a:t>not</a:t>
            </a:r>
            <a:r>
              <a:rPr sz="2400" spc="29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compute </a:t>
            </a:r>
            <a:r>
              <a:rPr sz="2400" spc="15" dirty="0">
                <a:solidFill>
                  <a:srgbClr val="000000"/>
                </a:solidFill>
                <a:latin typeface="ASOKKE+Calibri"/>
                <a:cs typeface="ASOKKE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denominator</a:t>
            </a:r>
            <a:r>
              <a:rPr sz="2400" spc="-28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ASOKKE+Calibri"/>
                <a:cs typeface="ASOKKE+Calibri"/>
              </a:rPr>
              <a:t>if</a:t>
            </a:r>
            <a:r>
              <a:rPr sz="2400" spc="-49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we’re</a:t>
            </a:r>
            <a:r>
              <a:rPr sz="2400" spc="-13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simply</a:t>
            </a:r>
            <a:r>
              <a:rPr sz="2400" spc="28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trying</a:t>
            </a:r>
            <a:r>
              <a:rPr sz="2400" spc="-27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ASOKKE+Calibri"/>
                <a:cs typeface="ASOKKE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SOKKE+Calibri"/>
                <a:cs typeface="ASOKKE+Calibri"/>
              </a:rPr>
              <a:t>determine</a:t>
            </a:r>
            <a:r>
              <a:rPr sz="2400" spc="-18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ASOKKE+Calibri"/>
                <a:cs typeface="ASOKKE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ASOKKE+Calibri"/>
                <a:cs typeface="ASOKKE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ASOKKE+Calibri"/>
                <a:cs typeface="ASOKKE+Calibri"/>
              </a:rPr>
              <a:t>most</a:t>
            </a:r>
          </a:p>
          <a:p>
            <a:pPr marL="343217" marR="0">
              <a:lnSpc>
                <a:spcPts val="2404"/>
              </a:lnSpc>
              <a:spcBef>
                <a:spcPts val="38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likely</a:t>
            </a:r>
            <a:r>
              <a:rPr sz="2400" spc="-39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spc="73" dirty="0">
                <a:solidFill>
                  <a:srgbClr val="000000"/>
                </a:solidFill>
                <a:latin typeface="DWIPCI+Cambria Math"/>
                <a:cs typeface="DWIPCI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.</a:t>
            </a:r>
          </a:p>
          <a:p>
            <a:pPr marL="0" marR="0">
              <a:lnSpc>
                <a:spcPts val="2684"/>
              </a:lnSpc>
              <a:spcBef>
                <a:spcPts val="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TNLJM+Arial"/>
                <a:cs typeface="PTNLJ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Shorthand notation: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5726698"/>
            <a:ext cx="11037832" cy="409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PTNLJM+Arial"/>
                <a:cs typeface="PTNLJ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BKAFEM+Calibri"/>
                <a:cs typeface="BKAFEM+Calibri"/>
              </a:rPr>
              <a:t>For</a:t>
            </a:r>
            <a:r>
              <a:rPr sz="2400" spc="-44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input</a:t>
            </a:r>
            <a:r>
              <a:rPr sz="2400" spc="-14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DWIPCI+Cambria Math"/>
                <a:cs typeface="DWIPCI+Cambria Math"/>
              </a:rPr>
              <a:t>ꢁ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,</a:t>
            </a:r>
            <a:r>
              <a:rPr sz="2400" spc="-11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predict </a:t>
            </a:r>
            <a:r>
              <a:rPr sz="2400" spc="14" dirty="0">
                <a:solidFill>
                  <a:srgbClr val="000000"/>
                </a:solidFill>
                <a:latin typeface="BKAFEM+Calibri"/>
                <a:cs typeface="BKAFEM+Calibri"/>
              </a:rPr>
              <a:t>by</a:t>
            </a:r>
            <a:r>
              <a:rPr sz="2400" spc="-63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comparing</a:t>
            </a:r>
            <a:r>
              <a:rPr sz="2400" spc="-24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BKAFEM+Calibri"/>
                <a:cs typeface="BKAFEM+Calibri"/>
              </a:rPr>
              <a:t>the</a:t>
            </a:r>
            <a:r>
              <a:rPr sz="2400" spc="11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values</a:t>
            </a:r>
            <a:r>
              <a:rPr sz="2400" spc="21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of</a:t>
            </a:r>
            <a:r>
              <a:rPr sz="2400" spc="-45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DWIPCI+Cambria Math"/>
                <a:cs typeface="DWIPCI+Cambria Math"/>
              </a:rPr>
              <a:t>ꢂ(ꢀ)</a:t>
            </a:r>
            <a:r>
              <a:rPr sz="2400" spc="8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DWIPCI+Cambria Math"/>
                <a:cs typeface="DWIPCI+Cambria Math"/>
              </a:rPr>
              <a:t>ꢄ</a:t>
            </a:r>
            <a:r>
              <a:rPr sz="1750" spc="12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DWIPCI+Cambria Math"/>
                <a:cs typeface="DWIPCI+Cambria Math"/>
              </a:rPr>
              <a:t>ꢂ(ꢅ</a:t>
            </a:r>
            <a:r>
              <a:rPr sz="2400" spc="-6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5" dirty="0">
                <a:solidFill>
                  <a:srgbClr val="000000"/>
                </a:solidFill>
                <a:latin typeface="DWIPCI+Cambria Math"/>
                <a:cs typeface="DWIPCI+Cambria Math"/>
              </a:rPr>
              <a:t>|ꢀ)</a:t>
            </a:r>
            <a:r>
              <a:rPr sz="2400" spc="11" dirty="0">
                <a:solidFill>
                  <a:srgbClr val="000000"/>
                </a:solidFill>
                <a:latin typeface="BKAFEM+Calibri"/>
                <a:cs typeface="BKAFEM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different </a:t>
            </a:r>
            <a:r>
              <a:rPr sz="2400" spc="611" dirty="0">
                <a:solidFill>
                  <a:srgbClr val="000000"/>
                </a:solidFill>
                <a:latin typeface="DWIPCI+Cambria Math"/>
                <a:cs typeface="DWIPCI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(e.g.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49465" y="5771377"/>
            <a:ext cx="400158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WIPCI+Cambria Math"/>
                <a:cs typeface="DWIPCI+Cambria Math"/>
              </a:rPr>
              <a:t>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97115" y="5912753"/>
            <a:ext cx="1142061" cy="27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34" dirty="0">
                <a:solidFill>
                  <a:srgbClr val="000000"/>
                </a:solidFill>
                <a:latin typeface="DWIPCI+Cambria Math"/>
                <a:cs typeface="DWIPCI+Cambria Math"/>
              </a:rPr>
              <a:t>ꢃ=1</a:t>
            </a:r>
            <a:r>
              <a:rPr sz="1750" spc="2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750" dirty="0">
                <a:solidFill>
                  <a:srgbClr val="000000"/>
                </a:solidFill>
                <a:latin typeface="DWIPCI+Cambria Math"/>
                <a:cs typeface="DWIPCI+Cambria Math"/>
              </a:rPr>
              <a:t>ꢃ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7225" y="6193235"/>
            <a:ext cx="2589203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choose</a:t>
            </a:r>
            <a:r>
              <a:rPr sz="2400" spc="-16" dirty="0">
                <a:solidFill>
                  <a:srgbClr val="000000"/>
                </a:solidFill>
                <a:latin typeface="BKAFEM+Calibri"/>
                <a:cs typeface="BKAFEM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BKAFEM+Calibri"/>
                <a:cs typeface="BKAFEM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BKAFEM+Calibri"/>
                <a:cs typeface="BKAFEM+Calibri"/>
              </a:rPr>
              <a:t> largest).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2202599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0" dirty="0">
                <a:solidFill>
                  <a:srgbClr val="001F5F"/>
                </a:solidFill>
                <a:latin typeface="FGDAMQ+Calibri-Bold"/>
                <a:cs typeface="FGDAMQ+Calibri-Bold"/>
              </a:rPr>
              <a:t>Naive</a:t>
            </a:r>
            <a:r>
              <a:rPr sz="3250" spc="-1244" dirty="0">
                <a:solidFill>
                  <a:srgbClr val="001F5F"/>
                </a:solidFill>
                <a:latin typeface="FGDAMQ+Calibri-Bold"/>
                <a:cs typeface="FGDAMQ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FGDAMQ+Calibri-Bold"/>
                <a:cs typeface="FGDAMQ+Calibri-Bold"/>
              </a:rPr>
              <a:t>Bayes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42934"/>
            <a:ext cx="8178767" cy="75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THBRM+Arial"/>
                <a:cs typeface="WTHBR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Naive</a:t>
            </a:r>
            <a:r>
              <a:rPr sz="2400" spc="-1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Bayes</a:t>
            </a:r>
            <a:r>
              <a:rPr sz="2400" spc="2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AQVBGH+Calibri"/>
                <a:cs typeface="AQVBGH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AQVBGH+Calibri"/>
                <a:cs typeface="AQVBGH+Calibri"/>
              </a:rPr>
              <a:t>an</a:t>
            </a:r>
            <a:r>
              <a:rPr sz="2400" spc="21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amazingly</a:t>
            </a:r>
            <a:r>
              <a:rPr sz="2400" spc="-57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cheap</a:t>
            </a:r>
            <a:r>
              <a:rPr sz="2400" spc="-11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learning</a:t>
            </a:r>
            <a:r>
              <a:rPr sz="2400" spc="-24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algorithm!</a:t>
            </a:r>
          </a:p>
          <a:p>
            <a:pPr marL="0" marR="0">
              <a:lnSpc>
                <a:spcPts val="2686"/>
              </a:lnSpc>
              <a:spcBef>
                <a:spcPts val="2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THBRM+Arial"/>
                <a:cs typeface="WTHBR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AQVBGH+Calibri"/>
                <a:cs typeface="AQVBGH+Calibri"/>
              </a:rPr>
              <a:t>Training</a:t>
            </a:r>
            <a:r>
              <a:rPr sz="2400" spc="-27" dirty="0">
                <a:solidFill>
                  <a:srgbClr val="0B44E4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AQVBGH+Calibri"/>
                <a:cs typeface="AQVBGH+Calibri"/>
              </a:rPr>
              <a:t>time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:</a:t>
            </a:r>
            <a:r>
              <a:rPr sz="2400" spc="13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estimate</a:t>
            </a:r>
            <a:r>
              <a:rPr sz="2400" spc="-1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parameters</a:t>
            </a:r>
            <a:r>
              <a:rPr sz="2400" spc="14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AQVBGH+Calibri"/>
                <a:cs typeface="AQVBGH+Calibri"/>
              </a:rPr>
              <a:t>using</a:t>
            </a:r>
            <a:r>
              <a:rPr sz="2400" spc="-1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maximum</a:t>
            </a:r>
            <a:r>
              <a:rPr sz="2400" spc="-63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likelihood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2625" y="1902852"/>
            <a:ext cx="8296874" cy="75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JMQDU+Wingdings"/>
                <a:cs typeface="LJMQDU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Compute</a:t>
            </a:r>
            <a:r>
              <a:rPr sz="2400" spc="-13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co-occurrence</a:t>
            </a:r>
            <a:r>
              <a:rPr sz="2400" spc="68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AQVBGH+Calibri"/>
                <a:cs typeface="AQVBGH+Calibri"/>
              </a:rPr>
              <a:t>counts</a:t>
            </a:r>
            <a:r>
              <a:rPr sz="2400" spc="3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of each feature</a:t>
            </a:r>
            <a:r>
              <a:rPr sz="2400" spc="74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32" dirty="0">
                <a:solidFill>
                  <a:srgbClr val="000000"/>
                </a:solidFill>
                <a:latin typeface="AQVBGH+Calibri"/>
                <a:cs typeface="AQVBGH+Calibri"/>
              </a:rPr>
              <a:t>wi</a:t>
            </a:r>
            <a:r>
              <a:rPr sz="2400" spc="-49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AQVBGH+Calibri"/>
                <a:cs typeface="AQVBGH+Calibri"/>
              </a:rPr>
              <a:t>th</a:t>
            </a:r>
            <a:r>
              <a:rPr sz="2400" spc="23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AQVBGH+Calibri"/>
                <a:cs typeface="AQVBGH+Calibri"/>
              </a:rPr>
              <a:t>the</a:t>
            </a:r>
            <a:r>
              <a:rPr sz="2400" spc="-2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labels.</a:t>
            </a:r>
          </a:p>
          <a:p>
            <a:pPr marL="0" marR="0">
              <a:lnSpc>
                <a:spcPts val="2666"/>
              </a:lnSpc>
              <a:spcBef>
                <a:spcPts val="4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JMQDU+Wingdings"/>
                <a:cs typeface="LJMQDU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Requires</a:t>
            </a:r>
            <a:r>
              <a:rPr sz="2400" spc="-58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only</a:t>
            </a:r>
            <a:r>
              <a:rPr sz="2400" spc="21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AQVBGH+Calibri"/>
                <a:cs typeface="AQVBGH+Calibri"/>
              </a:rPr>
              <a:t>one</a:t>
            </a:r>
            <a:r>
              <a:rPr sz="2400" spc="-2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AQVBGH+Calibri"/>
                <a:cs typeface="AQVBGH+Calibri"/>
              </a:rPr>
              <a:t>pass</a:t>
            </a:r>
            <a:r>
              <a:rPr sz="2400" spc="3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through </a:t>
            </a:r>
            <a:r>
              <a:rPr sz="2400" spc="15" dirty="0">
                <a:solidFill>
                  <a:srgbClr val="000000"/>
                </a:solidFill>
                <a:latin typeface="AQVBGH+Calibri"/>
                <a:cs typeface="AQVBG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data!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860099"/>
            <a:ext cx="3956750" cy="4105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THBRM+Arial"/>
                <a:cs typeface="WTHBR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B44E4"/>
                </a:solidFill>
                <a:latin typeface="AQVBGH+Calibri"/>
                <a:cs typeface="AQVBGH+Calibri"/>
              </a:rPr>
              <a:t>Test time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:</a:t>
            </a:r>
            <a:r>
              <a:rPr sz="2400" spc="14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apply</a:t>
            </a:r>
            <a:r>
              <a:rPr sz="2400" spc="25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EDVLWL+Calibri"/>
                <a:cs typeface="EDVLWL+Calibri"/>
              </a:rPr>
              <a:t>Bayes’</a:t>
            </a:r>
            <a:r>
              <a:rPr sz="2400" spc="66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EDVLWL+Calibri"/>
                <a:cs typeface="EDVLWL+Calibri"/>
              </a:rPr>
              <a:t>Rule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2625" y="3291247"/>
            <a:ext cx="9810976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LJMQDU+Wingdings"/>
                <a:cs typeface="LJMQDU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Cheap because</a:t>
            </a:r>
            <a:r>
              <a:rPr sz="2400" spc="-1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of </a:t>
            </a:r>
            <a:r>
              <a:rPr sz="2400" spc="15" dirty="0">
                <a:solidFill>
                  <a:srgbClr val="000000"/>
                </a:solidFill>
                <a:latin typeface="AQVBGH+Calibri"/>
                <a:cs typeface="AQVBGH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model</a:t>
            </a:r>
            <a:r>
              <a:rPr sz="2400" spc="39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structure.</a:t>
            </a:r>
            <a:r>
              <a:rPr sz="2400" spc="-1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(For</a:t>
            </a:r>
            <a:r>
              <a:rPr sz="2400" spc="5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AQVBGH+Calibri"/>
                <a:cs typeface="AQVBGH+Calibri"/>
              </a:rPr>
              <a:t>more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 general</a:t>
            </a:r>
            <a:r>
              <a:rPr sz="2400" spc="-5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models,</a:t>
            </a:r>
            <a:r>
              <a:rPr sz="2400" spc="-16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Bayesian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25842" y="3698891"/>
            <a:ext cx="6793045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inference</a:t>
            </a:r>
            <a:r>
              <a:rPr sz="2400" spc="-18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can</a:t>
            </a:r>
            <a:r>
              <a:rPr sz="2400" spc="-1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AQVBGH+Calibri"/>
                <a:cs typeface="AQVBGH+Calibri"/>
              </a:rPr>
              <a:t>be</a:t>
            </a:r>
            <a:r>
              <a:rPr sz="2400" spc="12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AQVBGH+Calibri"/>
                <a:cs typeface="AQVBGH+Calibri"/>
              </a:rPr>
              <a:t>very</a:t>
            </a:r>
            <a:r>
              <a:rPr sz="2400" spc="32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expensive</a:t>
            </a:r>
            <a:r>
              <a:rPr sz="2400" spc="-14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and/or</a:t>
            </a:r>
            <a:r>
              <a:rPr sz="2400" spc="-2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complicated.)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4343029"/>
            <a:ext cx="11137313" cy="1493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THBRM+Arial"/>
                <a:cs typeface="WTHBR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AQVBGH+Calibri"/>
                <a:cs typeface="AQVBGH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covered </a:t>
            </a:r>
            <a:r>
              <a:rPr sz="2400" spc="-21" dirty="0">
                <a:solidFill>
                  <a:srgbClr val="000000"/>
                </a:solidFill>
                <a:latin typeface="AQVBGH+Calibri"/>
                <a:cs typeface="AQVBGH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 Bernoulli</a:t>
            </a:r>
            <a:r>
              <a:rPr sz="2400" spc="29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AQVBGH+Calibri"/>
                <a:cs typeface="AQVBGH+Calibri"/>
              </a:rPr>
              <a:t>case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AQVBGH+Calibri"/>
                <a:cs typeface="AQVBGH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simplicity.</a:t>
            </a:r>
            <a:r>
              <a:rPr sz="2400" spc="-23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But</a:t>
            </a:r>
            <a:r>
              <a:rPr sz="2400" spc="10" dirty="0">
                <a:solidFill>
                  <a:srgbClr val="000000"/>
                </a:solidFill>
                <a:latin typeface="AQVBGH+Calibri"/>
                <a:cs typeface="AQVBGH+Calibri"/>
              </a:rPr>
              <a:t> our</a:t>
            </a:r>
            <a:r>
              <a:rPr sz="2400" spc="-39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analysis</a:t>
            </a:r>
            <a:r>
              <a:rPr sz="2400" spc="2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easily</a:t>
            </a:r>
            <a:r>
              <a:rPr sz="2400" spc="26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extends</a:t>
            </a:r>
            <a:r>
              <a:rPr sz="2400" spc="20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AQVBGH+Calibri"/>
                <a:cs typeface="AQVBGH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other</a:t>
            </a:r>
          </a:p>
          <a:p>
            <a:pPr marL="343217" marR="0">
              <a:lnSpc>
                <a:spcPts val="2402"/>
              </a:lnSpc>
              <a:spcBef>
                <a:spcPts val="4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probability</a:t>
            </a:r>
            <a:r>
              <a:rPr sz="2400" spc="-55" dirty="0">
                <a:solidFill>
                  <a:srgbClr val="000000"/>
                </a:solidFill>
                <a:latin typeface="AQVBGH+Calibri"/>
                <a:cs typeface="AQVBGH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AQVBGH+Calibri"/>
                <a:cs typeface="AQVBGH+Calibri"/>
              </a:rPr>
              <a:t>distributions.</a:t>
            </a:r>
          </a:p>
          <a:p>
            <a:pPr marL="0" marR="0">
              <a:lnSpc>
                <a:spcPts val="285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THBRM+Arial"/>
                <a:cs typeface="WTHBRM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Unfortunately,</a:t>
            </a:r>
            <a:r>
              <a:rPr sz="2400" spc="58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it’s</a:t>
            </a:r>
            <a:r>
              <a:rPr sz="2400" spc="-56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usually</a:t>
            </a:r>
            <a:r>
              <a:rPr sz="2400" spc="22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less</a:t>
            </a:r>
            <a:r>
              <a:rPr sz="2400" spc="11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accurate </a:t>
            </a:r>
            <a:r>
              <a:rPr sz="2400" spc="-26" dirty="0">
                <a:solidFill>
                  <a:srgbClr val="000000"/>
                </a:solidFill>
                <a:latin typeface="EDVLWL+Calibri"/>
                <a:cs typeface="EDVLWL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practice</a:t>
            </a:r>
            <a:r>
              <a:rPr sz="2400" spc="-17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compared </a:t>
            </a:r>
            <a:r>
              <a:rPr sz="2400" spc="19" dirty="0">
                <a:solidFill>
                  <a:srgbClr val="000000"/>
                </a:solidFill>
                <a:latin typeface="EDVLWL+Calibri"/>
                <a:cs typeface="EDVLWL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discriminative</a:t>
            </a:r>
            <a:r>
              <a:rPr sz="2400" spc="-10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models</a:t>
            </a:r>
          </a:p>
          <a:p>
            <a:pPr marL="343217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EDVLWL+Calibri"/>
                <a:cs typeface="EDVLWL+Calibri"/>
              </a:rPr>
              <a:t>due</a:t>
            </a:r>
            <a:r>
              <a:rPr sz="2400" spc="-24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EDVLWL+Calibri"/>
                <a:cs typeface="EDVLWL+Calibri"/>
              </a:rPr>
              <a:t>to</a:t>
            </a:r>
            <a:r>
              <a:rPr sz="2400" spc="-29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its</a:t>
            </a:r>
            <a:r>
              <a:rPr sz="2400" spc="-51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“naive”</a:t>
            </a:r>
            <a:r>
              <a:rPr sz="2400" spc="-50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independence</a:t>
            </a:r>
            <a:r>
              <a:rPr sz="2400" spc="-14" dirty="0">
                <a:solidFill>
                  <a:srgbClr val="000000"/>
                </a:solidFill>
                <a:latin typeface="EDVLWL+Calibri"/>
                <a:cs typeface="EDVLWL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DVLWL+Calibri"/>
                <a:cs typeface="EDVLWL+Calibri"/>
              </a:rPr>
              <a:t>assumption.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0680700" cy="755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0019" y="390325"/>
            <a:ext cx="4308763" cy="89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朴素⻉叶斯算法在计算效率和实际准确性⽅⾯的特点。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⾼效性</a:t>
            </a:r>
            <a:r>
              <a:rPr sz="1350" spc="-355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(An</a:t>
            </a:r>
            <a:r>
              <a:rPr sz="1350" spc="-354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amazingly</a:t>
            </a:r>
            <a:r>
              <a:rPr sz="1350" spc="-356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cheap</a:t>
            </a:r>
            <a:r>
              <a:rPr sz="1350" spc="-355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learning</a:t>
            </a:r>
            <a:r>
              <a:rPr sz="1350" spc="-353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algorithm!)：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训练时间：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0019" y="1367071"/>
            <a:ext cx="8151149" cy="572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算法只需通过计算每个特征与标签的共现次数（即计算频率）。</a:t>
            </a:r>
          </a:p>
          <a:p>
            <a:pPr marL="0" marR="0">
              <a:lnSpc>
                <a:spcPts val="1641"/>
              </a:lnSpc>
              <a:spcBef>
                <a:spcPts val="971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学习过程只需遍历数据⼀次</a:t>
            </a:r>
            <a:r>
              <a:rPr sz="13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 (one </a:t>
            </a:r>
            <a:r>
              <a:rPr sz="1350" spc="13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pass)，没有复杂的迭代优化过程（如梯度下降），因此训练速度极快。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0019" y="2260689"/>
            <a:ext cx="1018309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测试时间：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0019" y="2586271"/>
            <a:ext cx="6560127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由于模型结构简单（只有简单的乘法和求和），应⽤⻉叶斯法则进⾏推断也⾮常快。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019" y="3154307"/>
            <a:ext cx="1936519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局限性</a:t>
            </a:r>
            <a:r>
              <a:rPr sz="1350" spc="-355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35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(Limitations)：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0019" y="3479890"/>
            <a:ext cx="7510203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3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准确性：朴素⻉叶斯在实践中的准确性通常不如判别式模型（如逻辑回归、SVM</a:t>
            </a:r>
            <a:r>
              <a:rPr sz="135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 </a:t>
            </a: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或神经⽹络）。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0019" y="4047926"/>
            <a:ext cx="9024158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原因：这是由于它的</a:t>
            </a:r>
            <a:r>
              <a:rPr sz="1350" spc="12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“朴素”假设</a:t>
            </a: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（特征在给定类别下是条件独⽴的）导致的。这个假设在真实世界的复杂数据（如语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⾔）中经常被违反，这限制了模型的表达能⼒。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0019" y="4858417"/>
            <a:ext cx="845127" cy="246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泛化性：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0019" y="5183999"/>
            <a:ext cx="9331037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尽管我们⽤⼆元伯努利分布进⾏了分析，但朴素⻉叶斯的分析框架可以轻松扩展到其他概率分布（例如⾼斯分布、多项式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分布），⽤于处理连续特征或计数特征。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40019" y="5994490"/>
            <a:ext cx="9331038" cy="48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总结：朴素⻉叶斯是⼀种计算</a:t>
            </a:r>
            <a:r>
              <a:rPr sz="1350" spc="14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极其⾼效</a:t>
            </a:r>
            <a:r>
              <a:rPr sz="1350" spc="14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的算法，它通过将复杂问题简化为简单的频率计数来实现快速训练。然⽽，它的准</a:t>
            </a:r>
          </a:p>
          <a:p>
            <a:pPr marL="0" marR="0">
              <a:lnSpc>
                <a:spcPts val="1641"/>
              </a:lnSpc>
              <a:spcBef>
                <a:spcPts val="317"/>
              </a:spcBef>
              <a:spcAft>
                <a:spcPts val="0"/>
              </a:spcAft>
            </a:pPr>
            <a:r>
              <a:rPr sz="1350" spc="12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确性受限于“朴素”假设。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4265015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42" dirty="0">
                <a:solidFill>
                  <a:srgbClr val="001F5F"/>
                </a:solidFill>
                <a:latin typeface="DFMKJF+Calibri-Bold"/>
                <a:cs typeface="DFMKJF+Calibri-Bold"/>
              </a:rPr>
              <a:t>MLE</a:t>
            </a:r>
            <a:r>
              <a:rPr sz="3250" spc="-1168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DFMKJF+Calibri-Bold"/>
                <a:cs typeface="DFMKJF+Calibri-Bold"/>
              </a:rPr>
              <a:t>issue:</a:t>
            </a:r>
            <a:r>
              <a:rPr sz="3250" spc="-1252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18" dirty="0">
                <a:solidFill>
                  <a:srgbClr val="001F5F"/>
                </a:solidFill>
                <a:latin typeface="DFMKJF+Calibri-Bold"/>
                <a:cs typeface="DFMKJF+Calibri-Bold"/>
              </a:rPr>
              <a:t>Data</a:t>
            </a:r>
            <a:r>
              <a:rPr sz="3250" spc="-1207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5" dirty="0">
                <a:solidFill>
                  <a:srgbClr val="001F5F"/>
                </a:solidFill>
                <a:latin typeface="DFMKJF+Calibri-Bold"/>
                <a:cs typeface="DFMKJF+Calibri-Bold"/>
              </a:rPr>
              <a:t>Sparsity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659" y="947107"/>
            <a:ext cx="6386947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核⼼问题：最⼤似然估计有⼀个缺陷——当训练数据量不⾜（数据稀疏）时，它会导致模型过度拟合。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8944" y="1228989"/>
            <a:ext cx="9546455" cy="752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Maximum</a:t>
            </a:r>
            <a:r>
              <a:rPr sz="2400" spc="2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likelihood has</a:t>
            </a:r>
            <a:r>
              <a:rPr sz="2400" spc="2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pitfall: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if</a:t>
            </a:r>
            <a:r>
              <a:rPr sz="2400" spc="2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you</a:t>
            </a:r>
            <a:r>
              <a:rPr sz="2400" spc="-2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IPKOUC+Calibri"/>
                <a:cs typeface="IPKOUC+Calibri"/>
              </a:rPr>
              <a:t>have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too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little 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data,</a:t>
            </a:r>
            <a:r>
              <a:rPr sz="2400" spc="-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can overfit.</a:t>
            </a:r>
          </a:p>
          <a:p>
            <a:pPr marL="0" marR="0">
              <a:lnSpc>
                <a:spcPts val="2684"/>
              </a:lnSpc>
              <a:spcBef>
                <a:spcPts val="2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E.g.,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what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if</a:t>
            </a:r>
            <a:r>
              <a:rPr sz="2400" spc="2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IPKOUC+Calibri"/>
                <a:cs typeface="IPKOUC+Calibri"/>
              </a:rPr>
              <a:t>you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flip</a:t>
            </a:r>
            <a:r>
              <a:rPr sz="2400" spc="-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PKOUC+Calibri"/>
                <a:cs typeface="IPKOUC+Calibri"/>
              </a:rPr>
              <a:t>coin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twice</a:t>
            </a:r>
            <a:r>
              <a:rPr sz="2400" spc="-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and get H</a:t>
            </a:r>
            <a:r>
              <a:rPr sz="2400" spc="-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IPKOUC+Calibri"/>
                <a:cs typeface="IPKOUC+Calibri"/>
              </a:rPr>
              <a:t>both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times?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8944" y="3422660"/>
            <a:ext cx="1057124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Because</a:t>
            </a:r>
            <a:r>
              <a:rPr sz="2400" spc="-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it</a:t>
            </a:r>
            <a:r>
              <a:rPr sz="2400" spc="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never</a:t>
            </a:r>
            <a:r>
              <a:rPr sz="2400" spc="5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observed </a:t>
            </a:r>
            <a:r>
              <a:rPr sz="2400" spc="27" dirty="0">
                <a:solidFill>
                  <a:srgbClr val="000000"/>
                </a:solidFill>
                <a:latin typeface="IPKOUC+Calibri"/>
                <a:cs typeface="IPKOUC+Calibri"/>
              </a:rPr>
              <a:t>T,</a:t>
            </a:r>
            <a:r>
              <a:rPr sz="2400" spc="-4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IPKOUC+Calibri"/>
                <a:cs typeface="IPKOUC+Calibri"/>
              </a:rPr>
              <a:t>it</a:t>
            </a:r>
            <a:r>
              <a:rPr sz="2400" spc="-1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assigns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this</a:t>
            </a:r>
            <a:r>
              <a:rPr sz="2400" spc="4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outcome probability</a:t>
            </a:r>
            <a:r>
              <a:rPr sz="2400" spc="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IPKOUC+Calibri"/>
                <a:cs typeface="IPKOUC+Calibri"/>
              </a:rPr>
              <a:t>0.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This</a:t>
            </a:r>
            <a:r>
              <a:rPr sz="2400" spc="-5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problem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2162" y="3842147"/>
            <a:ext cx="3052697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known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6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data</a:t>
            </a:r>
            <a:r>
              <a:rPr sz="2400" spc="-43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sparsity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75315" y="4258430"/>
            <a:ext cx="5856179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数据稀疏性的后果</a:t>
            </a:r>
            <a:r>
              <a:rPr sz="1100" spc="-296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(The</a:t>
            </a:r>
            <a:r>
              <a:rPr sz="1100" spc="-297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Consequence)：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问题：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因为模型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从未观察到反⾯</a:t>
            </a:r>
            <a:r>
              <a:rPr sz="1100" spc="-296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(Tails,</a:t>
            </a:r>
            <a:r>
              <a:rPr sz="1100" spc="-295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 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T)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，它根据 MLE 规则，将出现反⾯的概率估计为 0。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75315" y="4729484"/>
            <a:ext cx="4862946" cy="481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含义：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模型从数据中得出了⼀个过于极端的结论：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反⾯是绝对不可能发⽣的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。</a:t>
            </a:r>
          </a:p>
          <a:p>
            <a:pPr marL="0" marR="0">
              <a:lnSpc>
                <a:spcPts val="1313"/>
              </a:lnSpc>
              <a:spcBef>
                <a:spcPts val="86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影响：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75315" y="5283666"/>
            <a:ext cx="4862946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过度拟合：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这是⼀种极端的过度拟合，模型完全信任了它观察到的有限数据。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75315" y="5560757"/>
            <a:ext cx="8086345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实际危害：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如果我们在下⼀次测试中</a:t>
            </a:r>
            <a:r>
              <a:rPr sz="1100" dirty="0">
                <a:solidFill>
                  <a:srgbClr val="000000"/>
                </a:solidFill>
                <a:latin typeface="KTVPLB+PingFangSC-Semibold"/>
                <a:cs typeface="KTVPLB+PingFangSC-Semibold"/>
              </a:rPr>
              <a:t>真的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抛到了反⾯，模型给这个真实事件分配了 0 的概率，这会在后续的概率计算中（尤其是朴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素⻉叶斯中的概率乘法）导致严重错误（任何数乘以 0 都得 0），使得整个模型不可⽤。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4436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FMKJF+Calibri-Bold"/>
                <a:cs typeface="DFMKJF+Calibri-Bold"/>
              </a:rPr>
              <a:t>Bayesian</a:t>
            </a:r>
            <a:r>
              <a:rPr sz="3250" spc="-1196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DFMKJF+Calibri-Bold"/>
                <a:cs typeface="DFMKJF+Calibri-Bold"/>
              </a:rPr>
              <a:t>Parameter</a:t>
            </a:r>
            <a:r>
              <a:rPr sz="3250" spc="-1203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FMKJF+Calibri-Bold"/>
                <a:cs typeface="DFMKJF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28710"/>
            <a:ext cx="10593045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In</a:t>
            </a:r>
            <a:r>
              <a:rPr sz="2400" spc="-1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maximum</a:t>
            </a:r>
            <a:r>
              <a:rPr sz="2400" spc="2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likelihood,</a:t>
            </a:r>
            <a:r>
              <a:rPr sz="2400" spc="-1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observations</a:t>
            </a:r>
            <a:r>
              <a:rPr sz="2400" spc="1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PKOUC+Calibri"/>
                <a:cs typeface="IPKOUC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treated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random</a:t>
            </a:r>
            <a:r>
              <a:rPr sz="2400" spc="1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variables,</a:t>
            </a:r>
            <a:r>
              <a:rPr sz="2400" spc="-1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but</a:t>
            </a:r>
            <a:r>
              <a:rPr sz="2400" spc="-1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225" y="1438053"/>
            <a:ext cx="262778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parameters</a:t>
            </a:r>
            <a:r>
              <a:rPr sz="2400" spc="1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IPKOUC+Calibri"/>
                <a:cs typeface="IPKOUC+Calibri"/>
              </a:rPr>
              <a:t>are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not.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2860050"/>
            <a:ext cx="11059148" cy="75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4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Bayesian</a:t>
            </a:r>
            <a:r>
              <a:rPr sz="2400" spc="17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approach treats</a:t>
            </a:r>
            <a:r>
              <a:rPr sz="2400" spc="-5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parameters</a:t>
            </a:r>
            <a:r>
              <a:rPr sz="2400" spc="1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random</a:t>
            </a:r>
            <a:r>
              <a:rPr sz="2400" spc="-5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variables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well.</a:t>
            </a:r>
            <a:r>
              <a:rPr sz="2400" spc="596" dirty="0">
                <a:solidFill>
                  <a:srgbClr val="000000"/>
                </a:solidFill>
                <a:latin typeface="EFEVHJ+Cambria Math"/>
                <a:cs typeface="EFEVHJ+Cambria Math"/>
              </a:rPr>
              <a:t>ꢀ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IPKOUC+Calibri"/>
                <a:cs typeface="IPKOUC+Calibri"/>
              </a:rPr>
              <a:t>set</a:t>
            </a:r>
          </a:p>
          <a:p>
            <a:pPr marL="343217" marR="0">
              <a:lnSpc>
                <a:spcPts val="2407"/>
              </a:lnSpc>
              <a:spcBef>
                <a:spcPts val="37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of parameters</a:t>
            </a:r>
            <a:r>
              <a:rPr sz="2400" spc="1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8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prior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 of</a:t>
            </a:r>
            <a:r>
              <a:rPr sz="2400" spc="9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72" dirty="0">
                <a:solidFill>
                  <a:srgbClr val="000000"/>
                </a:solidFill>
                <a:latin typeface="EFEVHJ+Cambria Math"/>
                <a:cs typeface="EFEVHJ+Cambria Math"/>
              </a:rPr>
              <a:t>ꢁ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5053307"/>
            <a:ext cx="8616089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8" dirty="0">
                <a:solidFill>
                  <a:srgbClr val="000000"/>
                </a:solidFill>
                <a:latin typeface="IPKOUC+Calibri"/>
                <a:cs typeface="IPKOUC+Calibri"/>
              </a:rPr>
              <a:t>To</a:t>
            </a:r>
            <a:r>
              <a:rPr sz="2400" spc="-4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define</a:t>
            </a:r>
            <a:r>
              <a:rPr sz="2400" spc="-1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Bayesian</a:t>
            </a:r>
            <a:r>
              <a:rPr sz="2400" spc="-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model, we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need </a:t>
            </a:r>
            <a:r>
              <a:rPr sz="2400" spc="19" dirty="0">
                <a:solidFill>
                  <a:srgbClr val="000000"/>
                </a:solidFill>
                <a:latin typeface="IPKOUC+Calibri"/>
                <a:cs typeface="IPKOUC+Calibri"/>
              </a:rPr>
              <a:t>to</a:t>
            </a:r>
            <a:r>
              <a:rPr sz="2400" spc="-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specify</a:t>
            </a:r>
            <a:r>
              <a:rPr sz="2400" spc="-5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IPKOUC+Calibri"/>
                <a:cs typeface="IPKOUC+Calibri"/>
              </a:rPr>
              <a:t>two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2625" y="5519462"/>
            <a:ext cx="10831839" cy="1123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4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prior</a:t>
            </a:r>
            <a:r>
              <a:rPr sz="2400" spc="47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distribution</a:t>
            </a:r>
            <a:r>
              <a:rPr sz="2400" spc="19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ꢂ(ꢃ),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which</a:t>
            </a:r>
            <a:r>
              <a:rPr sz="2400" spc="-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encodes</a:t>
            </a:r>
            <a:r>
              <a:rPr sz="2400" spc="-5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PKOUC+Calibri"/>
                <a:cs typeface="IPKOUC+Calibri"/>
              </a:rPr>
              <a:t>our</a:t>
            </a:r>
            <a:r>
              <a:rPr sz="2400" spc="-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IPKOUC+Calibri"/>
                <a:cs typeface="IPKOUC+Calibri"/>
              </a:rPr>
              <a:t>beliefs</a:t>
            </a:r>
            <a:r>
              <a:rPr sz="2400" spc="-6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about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parameters</a:t>
            </a:r>
            <a:r>
              <a:rPr sz="2400" spc="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UVMIBR+Calibri-Italic"/>
                <a:cs typeface="UVMIBR+Calibri-Italic"/>
              </a:rPr>
              <a:t>before</a:t>
            </a:r>
          </a:p>
          <a:p>
            <a:pPr marL="343217" marR="0">
              <a:lnSpc>
                <a:spcPts val="2402"/>
              </a:lnSpc>
              <a:spcBef>
                <a:spcPts val="4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we</a:t>
            </a:r>
            <a:r>
              <a:rPr sz="2400" spc="-1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observe</a:t>
            </a:r>
            <a:r>
              <a:rPr sz="2400" spc="-1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data</a:t>
            </a:r>
          </a:p>
          <a:p>
            <a:pPr marL="0" marR="0">
              <a:lnSpc>
                <a:spcPts val="2669"/>
              </a:lnSpc>
              <a:spcBef>
                <a:spcPts val="164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4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likelihood</a:t>
            </a:r>
            <a:r>
              <a:rPr sz="2400" spc="47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EFEVHJ+Cambria Math"/>
                <a:cs typeface="EFEVHJ+Cambria Math"/>
              </a:rPr>
              <a:t>ꢂ(ꢄ|ꢃ),</a:t>
            </a:r>
            <a:r>
              <a:rPr sz="2400" spc="-11" dirty="0">
                <a:solidFill>
                  <a:srgbClr val="000000"/>
                </a:solidFill>
                <a:latin typeface="IPKOUC+Calibri"/>
                <a:cs typeface="IPKOUC+Calibri"/>
              </a:rPr>
              <a:t>same</a:t>
            </a:r>
            <a:r>
              <a:rPr sz="2400" spc="7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4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in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maximum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likelihood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4436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FMKJF+Calibri-Bold"/>
                <a:cs typeface="DFMKJF+Calibri-Bold"/>
              </a:rPr>
              <a:t>Bayesian</a:t>
            </a:r>
            <a:r>
              <a:rPr sz="3250" spc="-1196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DFMKJF+Calibri-Bold"/>
                <a:cs typeface="DFMKJF+Calibri-Bold"/>
              </a:rPr>
              <a:t>Parameter</a:t>
            </a:r>
            <a:r>
              <a:rPr sz="3250" spc="-1203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FMKJF+Calibri-Bold"/>
                <a:cs typeface="DFMKJF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00135"/>
            <a:ext cx="10730119" cy="758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When we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update</a:t>
            </a:r>
            <a:r>
              <a:rPr sz="2400" spc="-29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our</a:t>
            </a:r>
            <a:r>
              <a:rPr sz="2400" spc="-3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beliefs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based </a:t>
            </a:r>
            <a:r>
              <a:rPr sz="2400" spc="10" dirty="0">
                <a:solidFill>
                  <a:srgbClr val="000000"/>
                </a:solidFill>
                <a:latin typeface="IPKOUC+Calibri"/>
                <a:cs typeface="IPKOUC+Calibri"/>
              </a:rPr>
              <a:t>on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observations,</a:t>
            </a:r>
            <a:r>
              <a:rPr sz="2400" spc="-1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we</a:t>
            </a:r>
            <a:r>
              <a:rPr sz="2400" spc="-1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compute </a:t>
            </a:r>
            <a:r>
              <a:rPr sz="2400" spc="17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9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posterior</a:t>
            </a:r>
          </a:p>
          <a:p>
            <a:pPr marL="343217" marR="0">
              <a:lnSpc>
                <a:spcPts val="285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distribution</a:t>
            </a:r>
            <a:r>
              <a:rPr sz="2400" spc="45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using</a:t>
            </a:r>
            <a:r>
              <a:rPr sz="2400" spc="-30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FRHNCM+Calibri"/>
                <a:cs typeface="FRHNCM+Calibri"/>
              </a:rPr>
              <a:t>Bayes’</a:t>
            </a:r>
            <a:r>
              <a:rPr sz="2400" spc="66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Rule: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3565789"/>
            <a:ext cx="1086462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9" dirty="0">
                <a:solidFill>
                  <a:srgbClr val="000000"/>
                </a:solidFill>
                <a:latin typeface="IPKOUC+Calibri"/>
                <a:cs typeface="IPKOUC+Calibri"/>
              </a:rPr>
              <a:t>We</a:t>
            </a:r>
            <a:r>
              <a:rPr sz="2400" spc="-5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rarely</a:t>
            </a:r>
            <a:r>
              <a:rPr sz="2400" spc="-5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IPKOUC+Calibri"/>
                <a:cs typeface="IPKOUC+Calibri"/>
              </a:rPr>
              <a:t>ever</a:t>
            </a:r>
            <a:r>
              <a:rPr sz="2400" spc="-4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compute</a:t>
            </a:r>
            <a:r>
              <a:rPr sz="2400" spc="6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denominator</a:t>
            </a:r>
            <a:r>
              <a:rPr sz="2400" spc="4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explicitly.</a:t>
            </a:r>
            <a:r>
              <a:rPr sz="2400" spc="-1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In</a:t>
            </a:r>
            <a:r>
              <a:rPr sz="2400" spc="-1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general,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IPKOUC+Calibri"/>
                <a:cs typeface="IPKOUC+Calibri"/>
              </a:rPr>
              <a:t>it</a:t>
            </a:r>
            <a:r>
              <a:rPr sz="2400" spc="-1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-10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computationally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225" y="3975259"/>
            <a:ext cx="1575476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intractable.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4436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FMKJF+Calibri-Bold"/>
                <a:cs typeface="DFMKJF+Calibri-Bold"/>
              </a:rPr>
              <a:t>Bayesian</a:t>
            </a:r>
            <a:r>
              <a:rPr sz="3250" spc="-1196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DFMKJF+Calibri-Bold"/>
                <a:cs typeface="DFMKJF+Calibri-Bold"/>
              </a:rPr>
              <a:t>Parameter</a:t>
            </a:r>
            <a:r>
              <a:rPr sz="3250" spc="-1203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FMKJF+Calibri-Bold"/>
                <a:cs typeface="DFMKJF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28632"/>
            <a:ext cx="8230523" cy="410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Let’s</a:t>
            </a:r>
            <a:r>
              <a:rPr sz="2400" spc="20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revisit </a:t>
            </a:r>
            <a:r>
              <a:rPr sz="2400" spc="-21" dirty="0">
                <a:solidFill>
                  <a:srgbClr val="000000"/>
                </a:solidFill>
                <a:latin typeface="FRHNCM+Calibri"/>
                <a:cs typeface="FRHNCM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 coin example.</a:t>
            </a:r>
            <a:r>
              <a:rPr sz="2400" spc="-21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spc="-33" dirty="0">
                <a:solidFill>
                  <a:srgbClr val="000000"/>
                </a:solidFill>
                <a:latin typeface="FRHNCM+Calibri"/>
                <a:cs typeface="FRHNCM+Calibri"/>
              </a:rPr>
              <a:t>We</a:t>
            </a:r>
            <a:r>
              <a:rPr sz="2400" spc="93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already</a:t>
            </a:r>
            <a:r>
              <a:rPr sz="2400" spc="-52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know </a:t>
            </a:r>
            <a:r>
              <a:rPr sz="2400" spc="15" dirty="0">
                <a:solidFill>
                  <a:srgbClr val="000000"/>
                </a:solidFill>
                <a:latin typeface="FRHNCM+Calibri"/>
                <a:cs typeface="FRHNCM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likelihood: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2139960"/>
            <a:ext cx="4910072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It remains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IPKOUC+Calibri"/>
                <a:cs typeface="IPKOUC+Calibri"/>
              </a:rPr>
              <a:t>to</a:t>
            </a:r>
            <a:r>
              <a:rPr sz="2400" spc="4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specify</a:t>
            </a:r>
            <a:r>
              <a:rPr sz="2400" spc="1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prior</a:t>
            </a:r>
            <a:r>
              <a:rPr sz="2400" spc="3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28" dirty="0">
                <a:solidFill>
                  <a:srgbClr val="000000"/>
                </a:solidFill>
                <a:latin typeface="EFEVHJ+Cambria Math"/>
                <a:cs typeface="EFEVHJ+Cambria Math"/>
              </a:rPr>
              <a:t>ꢂ(ꢁ)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4360" y="2616210"/>
            <a:ext cx="10786817" cy="1123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9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37" dirty="0">
                <a:solidFill>
                  <a:srgbClr val="000000"/>
                </a:solidFill>
                <a:latin typeface="IPKOUC+Calibri"/>
                <a:cs typeface="IPKOUC+Calibri"/>
              </a:rPr>
              <a:t>We</a:t>
            </a:r>
            <a:r>
              <a:rPr sz="2400" spc="-4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can</a:t>
            </a:r>
            <a:r>
              <a:rPr sz="2400" spc="-11" dirty="0">
                <a:solidFill>
                  <a:srgbClr val="000000"/>
                </a:solidFill>
                <a:latin typeface="IPKOUC+Calibri"/>
                <a:cs typeface="IPKOUC+Calibri"/>
              </a:rPr>
              <a:t> choose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48" dirty="0">
                <a:solidFill>
                  <a:srgbClr val="000000"/>
                </a:solidFill>
                <a:latin typeface="IPKOUC+Calibri"/>
                <a:cs typeface="IPKOUC+Calibri"/>
              </a:rPr>
              <a:t>an</a:t>
            </a:r>
            <a:r>
              <a:rPr sz="2400" spc="-5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uninformative prior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,</a:t>
            </a:r>
            <a:r>
              <a:rPr sz="2400" spc="-1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which</a:t>
            </a:r>
            <a:r>
              <a:rPr sz="2400" spc="-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assumes</a:t>
            </a:r>
            <a:r>
              <a:rPr sz="2400" spc="2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little</a:t>
            </a:r>
            <a:r>
              <a:rPr sz="2400" spc="7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possible.</a:t>
            </a:r>
            <a:r>
              <a:rPr sz="2400" spc="-1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</a:t>
            </a:r>
          </a:p>
          <a:p>
            <a:pPr marL="343217" marR="0">
              <a:lnSpc>
                <a:spcPts val="2402"/>
              </a:lnSpc>
              <a:spcBef>
                <a:spcPts val="401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reasonable</a:t>
            </a:r>
            <a:r>
              <a:rPr sz="2400" spc="-1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choice</a:t>
            </a:r>
            <a:r>
              <a:rPr sz="2400" spc="6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uniform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prior.</a:t>
            </a:r>
          </a:p>
          <a:p>
            <a:pPr marL="0" marR="0">
              <a:lnSpc>
                <a:spcPts val="2666"/>
              </a:lnSpc>
              <a:spcBef>
                <a:spcPts val="17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But</a:t>
            </a:r>
            <a:r>
              <a:rPr sz="2400" spc="10" dirty="0">
                <a:solidFill>
                  <a:srgbClr val="000000"/>
                </a:solidFill>
                <a:latin typeface="IPKOUC+Calibri"/>
                <a:cs typeface="IPKOUC+Calibri"/>
              </a:rPr>
              <a:t> our</a:t>
            </a:r>
            <a:r>
              <a:rPr sz="2400" spc="-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experience</a:t>
            </a:r>
            <a:r>
              <a:rPr sz="2400" spc="-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tells</a:t>
            </a:r>
            <a:r>
              <a:rPr sz="2400" spc="2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us</a:t>
            </a:r>
            <a:r>
              <a:rPr sz="2400" spc="-6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0.5</a:t>
            </a:r>
            <a:r>
              <a:rPr sz="2400" spc="4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IPKOUC+Calibri"/>
                <a:cs typeface="IPKOUC+Calibri"/>
              </a:rPr>
              <a:t>more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likely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than</a:t>
            </a:r>
            <a:r>
              <a:rPr sz="2400" spc="1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0.99.</a:t>
            </a:r>
            <a:r>
              <a:rPr sz="2400" spc="-2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One</a:t>
            </a:r>
            <a:r>
              <a:rPr sz="2400" spc="-1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particularly</a:t>
            </a:r>
            <a:r>
              <a:rPr sz="2400" spc="1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useful</a:t>
            </a:r>
            <a:r>
              <a:rPr sz="2400" spc="-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prior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7577" y="3758962"/>
            <a:ext cx="593285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that lets</a:t>
            </a:r>
            <a:r>
              <a:rPr sz="2400" spc="-5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us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specify</a:t>
            </a:r>
            <a:r>
              <a:rPr sz="2400" spc="1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this</a:t>
            </a:r>
            <a:r>
              <a:rPr sz="2400" spc="4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B44E4"/>
                </a:solidFill>
                <a:latin typeface="IPKOUC+Calibri"/>
                <a:cs typeface="IPKOUC+Calibri"/>
              </a:rPr>
              <a:t>beta</a:t>
            </a:r>
            <a:r>
              <a:rPr sz="2400" spc="-54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distribution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4360" y="5182531"/>
            <a:ext cx="9692648" cy="388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notation </a:t>
            </a:r>
            <a:r>
              <a:rPr sz="2400" spc="11" dirty="0">
                <a:solidFill>
                  <a:srgbClr val="000000"/>
                </a:solidFill>
                <a:latin typeface="IPKOUC+Calibri"/>
                <a:cs typeface="IPKOUC+Calibri"/>
              </a:rPr>
              <a:t>for</a:t>
            </a:r>
            <a:r>
              <a:rPr sz="2400" spc="-4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proportionality</a:t>
            </a:r>
            <a:r>
              <a:rPr sz="2400" spc="2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lets</a:t>
            </a:r>
            <a:r>
              <a:rPr sz="2400" spc="-5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us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ignore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normalization constant: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4436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FMKJF+Calibri-Bold"/>
                <a:cs typeface="DFMKJF+Calibri-Bold"/>
              </a:rPr>
              <a:t>Bayesian</a:t>
            </a:r>
            <a:r>
              <a:rPr sz="3250" spc="-1196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DFMKJF+Calibri-Bold"/>
                <a:cs typeface="DFMKJF+Calibri-Bold"/>
              </a:rPr>
              <a:t>Parameter</a:t>
            </a:r>
            <a:r>
              <a:rPr sz="3250" spc="-1203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FMKJF+Calibri-Bold"/>
                <a:cs typeface="DFMKJF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942444"/>
            <a:ext cx="5758055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Beta</a:t>
            </a:r>
            <a:r>
              <a:rPr sz="2400" spc="3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 </a:t>
            </a:r>
            <a:r>
              <a:rPr sz="2400" spc="11" dirty="0">
                <a:solidFill>
                  <a:srgbClr val="000000"/>
                </a:solidFill>
                <a:latin typeface="IPKOUC+Calibri"/>
                <a:cs typeface="IPKOUC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various</a:t>
            </a:r>
            <a:r>
              <a:rPr sz="2400" spc="1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values</a:t>
            </a:r>
            <a:r>
              <a:rPr sz="2400" spc="-5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of</a:t>
            </a:r>
            <a:r>
              <a:rPr sz="2400" spc="7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29" dirty="0">
                <a:solidFill>
                  <a:srgbClr val="000000"/>
                </a:solidFill>
                <a:latin typeface="EFEVHJ+Cambria Math"/>
                <a:cs typeface="EFEVHJ+Cambria Math"/>
              </a:rPr>
              <a:t>ꢅ,</a:t>
            </a:r>
            <a:r>
              <a:rPr sz="2400" spc="-10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ꢆ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4604997"/>
            <a:ext cx="2936830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Some observations: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9287" y="5136938"/>
            <a:ext cx="8381237" cy="1122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23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expectation</a:t>
            </a:r>
            <a:r>
              <a:rPr sz="2400" spc="-3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23" dirty="0">
                <a:solidFill>
                  <a:srgbClr val="000000"/>
                </a:solidFill>
                <a:latin typeface="EFEVHJ+Cambria Math"/>
                <a:cs typeface="EFEVHJ+Cambria Math"/>
              </a:rPr>
              <a:t>ꢇ[ꢁ]</a:t>
            </a:r>
            <a:r>
              <a:rPr sz="2400" spc="-2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=</a:t>
            </a:r>
            <a:r>
              <a:rPr sz="2400" spc="-2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1" dirty="0">
                <a:solidFill>
                  <a:srgbClr val="000000"/>
                </a:solidFill>
                <a:latin typeface="EFEVHJ+Cambria Math"/>
                <a:cs typeface="EFEVHJ+Cambria Math"/>
              </a:rPr>
              <a:t>ꢅ/(ꢅ</a:t>
            </a:r>
            <a:r>
              <a:rPr sz="2400" spc="-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+</a:t>
            </a:r>
            <a:r>
              <a:rPr sz="2400" spc="-3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EFEVHJ+Cambria Math"/>
                <a:cs typeface="EFEVHJ+Cambria Math"/>
              </a:rPr>
              <a:t>ꢆ)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(easy</a:t>
            </a:r>
            <a:r>
              <a:rPr sz="2400" spc="-6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IPKOUC+Calibri"/>
                <a:cs typeface="IPKOUC+Calibri"/>
              </a:rPr>
              <a:t>to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derive).</a:t>
            </a:r>
          </a:p>
          <a:p>
            <a:pPr marL="0" marR="0">
              <a:lnSpc>
                <a:spcPts val="2669"/>
              </a:lnSpc>
              <a:spcBef>
                <a:spcPts val="39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22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 gets</a:t>
            </a:r>
            <a:r>
              <a:rPr sz="2400" spc="-6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PKOUC+Calibri"/>
                <a:cs typeface="IPKOUC+Calibri"/>
              </a:rPr>
              <a:t>more</a:t>
            </a:r>
            <a:r>
              <a:rPr sz="2400" spc="-1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peaked </a:t>
            </a:r>
            <a:r>
              <a:rPr sz="2400" spc="-15" dirty="0">
                <a:solidFill>
                  <a:srgbClr val="000000"/>
                </a:solidFill>
                <a:latin typeface="IPKOUC+Calibri"/>
                <a:cs typeface="IPKOUC+Calibri"/>
              </a:rPr>
              <a:t>when</a:t>
            </a:r>
            <a:r>
              <a:rPr sz="2400" spc="2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598" dirty="0">
                <a:solidFill>
                  <a:srgbClr val="000000"/>
                </a:solidFill>
                <a:latin typeface="EFEVHJ+Cambria Math"/>
                <a:cs typeface="EFEVHJ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and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599" dirty="0">
                <a:solidFill>
                  <a:srgbClr val="000000"/>
                </a:solidFill>
                <a:latin typeface="EFEVHJ+Cambria Math"/>
                <a:cs typeface="EFEVHJ+Cambria Math"/>
              </a:rPr>
              <a:t>ꢆ</a:t>
            </a:r>
            <a:r>
              <a:rPr sz="2400" spc="18" dirty="0">
                <a:solidFill>
                  <a:srgbClr val="000000"/>
                </a:solidFill>
                <a:latin typeface="IPKOUC+Calibri"/>
                <a:cs typeface="IPKOUC+Calibri"/>
              </a:rPr>
              <a:t>are</a:t>
            </a:r>
            <a:r>
              <a:rPr sz="2400" spc="-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large.</a:t>
            </a:r>
          </a:p>
          <a:p>
            <a:pPr marL="0" marR="0">
              <a:lnSpc>
                <a:spcPts val="2666"/>
              </a:lnSpc>
              <a:spcBef>
                <a:spcPts val="169"/>
              </a:spcBef>
              <a:spcAft>
                <a:spcPts val="0"/>
              </a:spcAft>
            </a:pPr>
            <a:r>
              <a:rPr sz="2400" spc="793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23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uniform</a:t>
            </a:r>
            <a:r>
              <a:rPr sz="2400" spc="-5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special</a:t>
            </a:r>
            <a:r>
              <a:rPr sz="2400" spc="-4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IPKOUC+Calibri"/>
                <a:cs typeface="IPKOUC+Calibri"/>
              </a:rPr>
              <a:t>case</a:t>
            </a:r>
            <a:r>
              <a:rPr sz="2400" spc="-2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where</a:t>
            </a:r>
            <a:r>
              <a:rPr sz="2400" spc="-89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ꢅ</a:t>
            </a:r>
            <a:r>
              <a:rPr sz="2400" spc="-18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=</a:t>
            </a:r>
            <a:r>
              <a:rPr sz="2400" spc="-2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ꢆ</a:t>
            </a:r>
            <a:r>
              <a:rPr sz="2400" spc="-18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=</a:t>
            </a:r>
            <a:r>
              <a:rPr sz="2400" spc="-2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4007" y="6436400"/>
            <a:ext cx="9578170" cy="39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IPKOUC+Calibri"/>
                <a:cs typeface="IPKOUC+Calibri"/>
              </a:rPr>
              <a:t>beta</a:t>
            </a:r>
            <a:r>
              <a:rPr sz="2400" spc="4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 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used </a:t>
            </a:r>
            <a:r>
              <a:rPr sz="2400" spc="11" dirty="0">
                <a:solidFill>
                  <a:srgbClr val="000000"/>
                </a:solidFill>
                <a:latin typeface="IPKOUC+Calibri"/>
                <a:cs typeface="IPKOUC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-10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48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-10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prior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IPKOUC+Calibri"/>
                <a:cs typeface="IPKOUC+Calibri"/>
              </a:rPr>
              <a:t>for</a:t>
            </a:r>
            <a:r>
              <a:rPr sz="2400" spc="-4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Bernoulli</a:t>
            </a:r>
            <a:r>
              <a:rPr sz="2400" spc="-4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4436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FMKJF+Calibri-Bold"/>
                <a:cs typeface="DFMKJF+Calibri-Bold"/>
              </a:rPr>
              <a:t>Bayesian</a:t>
            </a:r>
            <a:r>
              <a:rPr sz="3250" spc="-1196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DFMKJF+Calibri-Bold"/>
                <a:cs typeface="DFMKJF+Calibri-Bold"/>
              </a:rPr>
              <a:t>Parameter</a:t>
            </a:r>
            <a:r>
              <a:rPr sz="3250" spc="-1203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FMKJF+Calibri-Bold"/>
                <a:cs typeface="DFMKJF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00135"/>
            <a:ext cx="512625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Computing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posterior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007" y="3193806"/>
            <a:ext cx="8820656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This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just</a:t>
            </a:r>
            <a:r>
              <a:rPr sz="2400" spc="-7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IPKOUC+Calibri"/>
                <a:cs typeface="IPKOUC+Calibri"/>
              </a:rPr>
              <a:t>beta</a:t>
            </a:r>
            <a:r>
              <a:rPr sz="2400" spc="4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distribution with parameters</a:t>
            </a:r>
            <a:r>
              <a:rPr sz="2400" spc="6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ꢈ</a:t>
            </a:r>
            <a:r>
              <a:rPr sz="2400" spc="3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557" dirty="0">
                <a:solidFill>
                  <a:srgbClr val="000000"/>
                </a:solidFill>
                <a:latin typeface="EFEVHJ+Cambria Math"/>
                <a:cs typeface="EFEVHJ+Cambria Math"/>
              </a:rPr>
              <a:t>+ꢅ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and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EFEVHJ+Cambria Math"/>
                <a:cs typeface="EFEVHJ+Cambria Math"/>
              </a:rPr>
              <a:t>ꢈ</a:t>
            </a:r>
            <a:r>
              <a:rPr sz="2400" spc="2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65" dirty="0">
                <a:solidFill>
                  <a:srgbClr val="000000"/>
                </a:solidFill>
                <a:latin typeface="EFEVHJ+Cambria Math"/>
                <a:cs typeface="EFEVHJ+Cambria Math"/>
              </a:rPr>
              <a:t>+ꢆ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7025" y="3361259"/>
            <a:ext cx="317265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EFEVHJ+Cambria Math"/>
                <a:cs typeface="EFEVHJ+Cambria Math"/>
              </a:rPr>
              <a:t>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14360" y="3361259"/>
            <a:ext cx="287163" cy="257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0000"/>
                </a:solidFill>
                <a:latin typeface="EFEVHJ+Cambria Math"/>
                <a:cs typeface="EFEVHJ+Cambria Math"/>
              </a:rPr>
              <a:t>ꢊ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007" y="3565789"/>
            <a:ext cx="4610419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posterior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expectation of</a:t>
            </a:r>
            <a:r>
              <a:rPr sz="2400" spc="4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611" dirty="0">
                <a:solidFill>
                  <a:srgbClr val="000000"/>
                </a:solidFill>
                <a:latin typeface="EFEVHJ+Cambria Math"/>
                <a:cs typeface="EFEVHJ+Cambria Math"/>
              </a:rPr>
              <a:t>ꢁ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is: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007" y="5025019"/>
            <a:ext cx="9540747" cy="390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BEKVJ+Arial"/>
                <a:cs typeface="VBEKVJ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parameters </a:t>
            </a:r>
            <a:r>
              <a:rPr sz="2400" spc="598" dirty="0">
                <a:solidFill>
                  <a:srgbClr val="000000"/>
                </a:solidFill>
                <a:latin typeface="EFEVHJ+Cambria Math"/>
                <a:cs typeface="EFEVHJ+Cambria Math"/>
              </a:rPr>
              <a:t>ꢅ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and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598" dirty="0">
                <a:solidFill>
                  <a:srgbClr val="000000"/>
                </a:solidFill>
                <a:latin typeface="EFEVHJ+Cambria Math"/>
                <a:cs typeface="EFEVHJ+Cambria Math"/>
              </a:rPr>
              <a:t>ꢆ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of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8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prior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can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be</a:t>
            </a:r>
            <a:r>
              <a:rPr sz="2400" spc="-2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thought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of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6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pseudo-counts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2150" y="5558833"/>
            <a:ext cx="10203776" cy="1123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400" spc="796" dirty="0">
                <a:solidFill>
                  <a:srgbClr val="000000"/>
                </a:solidFill>
                <a:latin typeface="PORVOG+Wingdings"/>
                <a:cs typeface="PORVOG+Wingdings"/>
              </a:rPr>
              <a:t>➢</a:t>
            </a:r>
            <a:r>
              <a:rPr sz="2400" spc="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3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reason </a:t>
            </a:r>
            <a:r>
              <a:rPr sz="2400" spc="-22" dirty="0">
                <a:solidFill>
                  <a:srgbClr val="000000"/>
                </a:solidFill>
                <a:latin typeface="IPKOUC+Calibri"/>
                <a:cs typeface="IPKOUC+Calibri"/>
              </a:rPr>
              <a:t>this</a:t>
            </a:r>
            <a:r>
              <a:rPr sz="2400" spc="4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IPKOUC+Calibri"/>
                <a:cs typeface="IPKOUC+Calibri"/>
              </a:rPr>
              <a:t>works</a:t>
            </a:r>
            <a:r>
              <a:rPr sz="2400" spc="2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that </a:t>
            </a:r>
            <a:r>
              <a:rPr sz="2400" spc="-21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IPKOUC+Calibri"/>
                <a:cs typeface="IPKOUC+Calibri"/>
              </a:rPr>
              <a:t>prior</a:t>
            </a:r>
            <a:r>
              <a:rPr sz="2400" spc="-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and likelihood have</a:t>
            </a:r>
            <a:r>
              <a:rPr sz="2400" spc="-2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IPKOUC+Calibri"/>
                <a:cs typeface="IPKOUC+Calibri"/>
              </a:rPr>
              <a:t>same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 functional</a:t>
            </a:r>
          </a:p>
          <a:p>
            <a:pPr marL="343217" marR="0">
              <a:lnSpc>
                <a:spcPts val="285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form.</a:t>
            </a:r>
            <a:r>
              <a:rPr sz="2400" spc="5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9" dirty="0">
                <a:solidFill>
                  <a:srgbClr val="000000"/>
                </a:solidFill>
                <a:latin typeface="IPKOUC+Calibri"/>
                <a:cs typeface="IPKOUC+Calibri"/>
              </a:rPr>
              <a:t>This</a:t>
            </a:r>
            <a:r>
              <a:rPr sz="2400" spc="3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phenomenon</a:t>
            </a:r>
            <a:r>
              <a:rPr sz="2400" spc="-10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is</a:t>
            </a:r>
            <a:r>
              <a:rPr sz="2400" spc="43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known </a:t>
            </a:r>
            <a:r>
              <a:rPr sz="2400" spc="-25" dirty="0">
                <a:solidFill>
                  <a:srgbClr val="000000"/>
                </a:solidFill>
                <a:latin typeface="IPKOUC+Calibri"/>
                <a:cs typeface="IPKOUC+Calibri"/>
              </a:rPr>
              <a:t>as</a:t>
            </a:r>
            <a:r>
              <a:rPr sz="2400" spc="71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conjugacy</a:t>
            </a:r>
            <a:r>
              <a:rPr sz="2400" spc="-25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(conjugate</a:t>
            </a:r>
            <a:r>
              <a:rPr sz="2400" spc="66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priors),</a:t>
            </a:r>
            <a:r>
              <a:rPr sz="2400" spc="-10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FRHNCM+Calibri"/>
                <a:cs typeface="FRHNCM+Calibri"/>
              </a:rPr>
              <a:t>and it’s</a:t>
            </a:r>
            <a:r>
              <a:rPr sz="2400" spc="20" dirty="0">
                <a:solidFill>
                  <a:srgbClr val="000000"/>
                </a:solidFill>
                <a:latin typeface="FRHNCM+Calibri"/>
                <a:cs typeface="FRHNCM+Calibri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FRHNCM+Calibri"/>
                <a:cs typeface="FRHNCM+Calibri"/>
              </a:rPr>
              <a:t>very</a:t>
            </a:r>
          </a:p>
          <a:p>
            <a:pPr marL="343217" marR="0">
              <a:lnSpc>
                <a:spcPts val="2402"/>
              </a:lnSpc>
              <a:spcBef>
                <a:spcPts val="48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useful.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444363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4" dirty="0">
                <a:solidFill>
                  <a:srgbClr val="001F5F"/>
                </a:solidFill>
                <a:latin typeface="DFMKJF+Calibri-Bold"/>
                <a:cs typeface="DFMKJF+Calibri-Bold"/>
              </a:rPr>
              <a:t>Bayesian</a:t>
            </a:r>
            <a:r>
              <a:rPr sz="3250" spc="-1196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8" dirty="0">
                <a:solidFill>
                  <a:srgbClr val="001F5F"/>
                </a:solidFill>
                <a:latin typeface="DFMKJF+Calibri-Bold"/>
                <a:cs typeface="DFMKJF+Calibri-Bold"/>
              </a:rPr>
              <a:t>Parameter</a:t>
            </a:r>
            <a:r>
              <a:rPr sz="3250" spc="-1203" dirty="0">
                <a:solidFill>
                  <a:srgbClr val="001F5F"/>
                </a:solidFill>
                <a:latin typeface="DFMKJF+Calibri-Bold"/>
                <a:cs typeface="DFMKJF+Calibri-Bold"/>
              </a:rPr>
              <a:t> </a:t>
            </a:r>
            <a:r>
              <a:rPr sz="3250" spc="-21" dirty="0">
                <a:solidFill>
                  <a:srgbClr val="001F5F"/>
                </a:solidFill>
                <a:latin typeface="DFMKJF+Calibri-Bold"/>
                <a:cs typeface="DFMKJF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807" y="1104662"/>
            <a:ext cx="566666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Bayesian inference</a:t>
            </a:r>
            <a:r>
              <a:rPr sz="2400" spc="-1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IPKOUC+Calibri"/>
                <a:cs typeface="IPKOUC+Calibri"/>
              </a:rPr>
              <a:t>for</a:t>
            </a:r>
            <a:r>
              <a:rPr sz="2400" spc="-42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6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IPKOUC+Calibri"/>
                <a:cs typeface="IPKOUC+Calibri"/>
              </a:rPr>
              <a:t>coin</a:t>
            </a:r>
            <a:r>
              <a:rPr sz="2400" spc="1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13" dirty="0">
                <a:solidFill>
                  <a:srgbClr val="000000"/>
                </a:solidFill>
                <a:latin typeface="IPKOUC+Calibri"/>
                <a:cs typeface="IPKOUC+Calibri"/>
              </a:rPr>
              <a:t>flip</a:t>
            </a:r>
            <a:r>
              <a:rPr sz="2400" spc="-14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1807" y="5361385"/>
            <a:ext cx="8643492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When </a:t>
            </a:r>
            <a:r>
              <a:rPr sz="2400" spc="24" dirty="0">
                <a:solidFill>
                  <a:srgbClr val="000000"/>
                </a:solidFill>
                <a:latin typeface="IPKOUC+Calibri"/>
                <a:cs typeface="IPKOUC+Calibri"/>
              </a:rPr>
              <a:t>you</a:t>
            </a:r>
            <a:r>
              <a:rPr sz="2400" spc="-2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13" dirty="0">
                <a:solidFill>
                  <a:srgbClr val="000000"/>
                </a:solidFill>
                <a:latin typeface="IPKOUC+Calibri"/>
                <a:cs typeface="IPKOUC+Calibri"/>
              </a:rPr>
              <a:t>have</a:t>
            </a:r>
            <a:r>
              <a:rPr sz="2400" spc="76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enough observations,</a:t>
            </a:r>
            <a:r>
              <a:rPr sz="2400" spc="57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IPKOUC+Calibri"/>
                <a:cs typeface="IPKOUC+Calibri"/>
              </a:rPr>
              <a:t>the</a:t>
            </a:r>
            <a:r>
              <a:rPr sz="2400" spc="28" dirty="0">
                <a:solidFill>
                  <a:srgbClr val="000000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data</a:t>
            </a:r>
            <a:r>
              <a:rPr sz="2400" spc="-43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overwhelm </a:t>
            </a:r>
            <a:r>
              <a:rPr sz="2400" spc="-21" dirty="0">
                <a:solidFill>
                  <a:srgbClr val="0B44E4"/>
                </a:solidFill>
                <a:latin typeface="IPKOUC+Calibri"/>
                <a:cs typeface="IPKOUC+Calibri"/>
              </a:rPr>
              <a:t>the</a:t>
            </a:r>
            <a:r>
              <a:rPr sz="2400" dirty="0">
                <a:solidFill>
                  <a:srgbClr val="0B44E4"/>
                </a:solidFill>
                <a:latin typeface="IPKOUC+Calibri"/>
                <a:cs typeface="IPKOUC+Calibri"/>
              </a:rPr>
              <a:t> </a:t>
            </a:r>
            <a:r>
              <a:rPr sz="2400" spc="10" dirty="0">
                <a:solidFill>
                  <a:srgbClr val="0B44E4"/>
                </a:solidFill>
                <a:latin typeface="IPKOUC+Calibri"/>
                <a:cs typeface="IPKOUC+Calibri"/>
              </a:rPr>
              <a:t>prior</a:t>
            </a:r>
            <a:r>
              <a:rPr sz="2400" dirty="0">
                <a:solidFill>
                  <a:srgbClr val="000000"/>
                </a:solidFill>
                <a:latin typeface="IPKOUC+Calibri"/>
                <a:cs typeface="IPKOUC+Calibri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7556500" cy="1068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3152" y="196195"/>
            <a:ext cx="3061854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如何避免在数据太少时，做出极端的错误判断。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3152" y="473285"/>
            <a:ext cx="2255243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1. 问题的根源：“菜⻦法官” (MLE)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3152" y="764231"/>
            <a:ext cx="6688974" cy="75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传统做法 (MLE)：我们之前学到的最⼤似然估计，可以看作是⼀个“菜⻦法官”。他只相信眼前看到的证据。</a:t>
            </a:r>
          </a:p>
          <a:p>
            <a:pPr marL="0" marR="0">
              <a:lnSpc>
                <a:spcPts val="1313"/>
              </a:lnSpc>
              <a:spcBef>
                <a:spcPts val="86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示例：你只抛了两次硬币，两次都是正⾯（2个正⾯，0个反⾯）。</a:t>
            </a:r>
          </a:p>
          <a:p>
            <a:pPr marL="0" marR="0">
              <a:lnSpc>
                <a:spcPts val="1313"/>
              </a:lnSpc>
              <a:spcBef>
                <a:spcPts val="86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判决：菜⻦法官会宣布：“根据我看到的证据，反⾯出现的概率是 0%！反⾯是不可能存在的！”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3152" y="1595504"/>
            <a:ext cx="6835140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后果 (数据稀疏性)：这种极端的 0% 判决就是过度拟合，它把⼀个⼩概率事件当作了不可能事件，如果下次真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的出现反⾯，整个模型的判断就会崩溃。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3152" y="2260522"/>
            <a:ext cx="2545218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2. ⻉叶斯⽅法的解决之道：“经验法官”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3152" y="2551468"/>
            <a:ext cx="6897484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⻉叶斯⽅法：可以看作是⼀个“经验丰富的⽼法官”。他相信证据，但他更相信他多年积累的“经验”（或称作“常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识”）。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3152" y="3022522"/>
            <a:ext cx="6839436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⽼法官的逻辑：他知道世界上⼏乎不存在完美的硬币，所以即使你只给他 2 个正⾯，他也不会⽴即宣布反⾯概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率为 0。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3152" y="3770668"/>
            <a:ext cx="1991037" cy="204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3. 核⼼机制：添加“经验保险”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3152" y="4061613"/>
            <a:ext cx="6908708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经验 (Prior)：在⻉叶斯⽅法中，这种“经验”被称为先验分布。通过使⽤Beta 分布作为先验，我们可以轻松地将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“经验”转化为数据。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3152" y="4532668"/>
            <a:ext cx="6601553" cy="481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伪计数 (Pseudo-Counts)：这种经验被量化为“伪计数”（⽐如 a 和</a:t>
            </a:r>
            <a:r>
              <a:rPr sz="1100" spc="-12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 </a:t>
            </a: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b）。你可以把它视为⼀个保险策略。</a:t>
            </a:r>
          </a:p>
          <a:p>
            <a:pPr marL="0" marR="0">
              <a:lnSpc>
                <a:spcPts val="1313"/>
              </a:lnSpc>
              <a:spcBef>
                <a:spcPts val="86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策略：在看你的真实数据之前，我先在账本上偷偷记上“我预计会有 a 次正⾯，和 b 次反⾯”。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3152" y="5086850"/>
            <a:ext cx="6910647" cy="39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⽼法官的最终判决：他会将你的真实观测数据 (N_H, N_T) 和他的经验伪计数 (a, b) 加在⼀起，然后做出最终判</a:t>
            </a:r>
          </a:p>
          <a:p>
            <a:pPr marL="0" marR="0">
              <a:lnSpc>
                <a:spcPts val="1313"/>
              </a:lnSpc>
              <a:spcBef>
                <a:spcPts val="21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LTENO+PingFangSC-Regular"/>
                <a:cs typeface="VLTENO+PingFangSC-Regular"/>
              </a:rPr>
              <a:t>决。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7556500" cy="1068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89610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MGJP+Calibri-Bold"/>
                <a:cs typeface="FVMGJP+Calibri-Bold"/>
              </a:rPr>
              <a:t>Maximum</a:t>
            </a:r>
            <a:r>
              <a:rPr sz="3250" spc="-127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15" dirty="0">
                <a:solidFill>
                  <a:srgbClr val="001F5F"/>
                </a:solidFill>
                <a:latin typeface="FVMGJP+Calibri-Bold"/>
                <a:cs typeface="FVMGJP+Calibri-Bold"/>
              </a:rPr>
              <a:t>A-Posteriori</a:t>
            </a:r>
            <a:r>
              <a:rPr sz="3250" spc="-123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FVMGJP+Calibri-Bold"/>
                <a:cs typeface="FVMGJP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090311"/>
            <a:ext cx="10917651" cy="705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B44E4"/>
                </a:solidFill>
                <a:latin typeface="LOQGOT+Calibri"/>
                <a:cs typeface="LOQGOT+Calibri"/>
              </a:rPr>
              <a:t>Maximum</a:t>
            </a:r>
            <a:r>
              <a:rPr sz="2400" spc="19" dirty="0">
                <a:solidFill>
                  <a:srgbClr val="0B44E4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LOQGOT+Calibri"/>
                <a:cs typeface="LOQGOT+Calibri"/>
              </a:rPr>
              <a:t>a-posteriori</a:t>
            </a:r>
            <a:r>
              <a:rPr sz="2400" spc="35" dirty="0">
                <a:solidFill>
                  <a:srgbClr val="0B44E4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B44E4"/>
                </a:solidFill>
                <a:latin typeface="LOQGOT+Calibri"/>
                <a:cs typeface="LOQGOT+Calibri"/>
              </a:rPr>
              <a:t>(MAP) estimation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:</a:t>
            </a:r>
            <a:r>
              <a:rPr sz="2400" spc="19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find </a:t>
            </a:r>
            <a:r>
              <a:rPr sz="2400" spc="-19" dirty="0">
                <a:solidFill>
                  <a:srgbClr val="000000"/>
                </a:solidFill>
                <a:latin typeface="LOQGOT+Calibri"/>
                <a:cs typeface="LOQGOT+Calibri"/>
              </a:rPr>
              <a:t>the</a:t>
            </a:r>
            <a:r>
              <a:rPr sz="2400" spc="12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most likely</a:t>
            </a:r>
            <a:r>
              <a:rPr sz="2400" spc="-57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parameter</a:t>
            </a:r>
            <a:r>
              <a:rPr sz="2400" spc="-2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settings</a:t>
            </a:r>
            <a:r>
              <a:rPr sz="2400" spc="17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LOQGOT+Calibri"/>
                <a:cs typeface="LOQGOT+Calibri"/>
              </a:rPr>
              <a:t>under</a:t>
            </a:r>
          </a:p>
          <a:p>
            <a:pPr marL="0" marR="0">
              <a:lnSpc>
                <a:spcPts val="2405"/>
              </a:lnSpc>
              <a:spcBef>
                <a:spcPts val="498"/>
              </a:spcBef>
              <a:spcAft>
                <a:spcPts val="0"/>
              </a:spcAft>
            </a:pPr>
            <a:r>
              <a:rPr sz="2400" spc="17" dirty="0">
                <a:solidFill>
                  <a:srgbClr val="000000"/>
                </a:solidFill>
                <a:latin typeface="LOQGOT+Calibri"/>
                <a:cs typeface="LOQGOT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posterior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89610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MGJP+Calibri-Bold"/>
                <a:cs typeface="FVMGJP+Calibri-Bold"/>
              </a:rPr>
              <a:t>Maximum</a:t>
            </a:r>
            <a:r>
              <a:rPr sz="3250" spc="-127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15" dirty="0">
                <a:solidFill>
                  <a:srgbClr val="001F5F"/>
                </a:solidFill>
                <a:latin typeface="FVMGJP+Calibri-Bold"/>
                <a:cs typeface="FVMGJP+Calibri-Bold"/>
              </a:rPr>
              <a:t>A-Posteriori</a:t>
            </a:r>
            <a:r>
              <a:rPr sz="3250" spc="-123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FVMGJP+Calibri-Bold"/>
                <a:cs typeface="FVMGJP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156947"/>
            <a:ext cx="11290863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IKFBL+Arial"/>
                <a:cs typeface="GIKFBL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This</a:t>
            </a:r>
            <a:r>
              <a:rPr sz="2400" spc="1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converts</a:t>
            </a:r>
            <a:r>
              <a:rPr sz="2400" spc="21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LOQGOT+Calibri"/>
                <a:cs typeface="LOQGOT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 Bayesian</a:t>
            </a:r>
            <a:r>
              <a:rPr sz="2400" spc="-13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parameter</a:t>
            </a:r>
            <a:r>
              <a:rPr sz="2400" spc="-29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estimation problem</a:t>
            </a:r>
            <a:r>
              <a:rPr sz="2400" spc="18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into</a:t>
            </a:r>
            <a:r>
              <a:rPr sz="2400" spc="-13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a</a:t>
            </a:r>
            <a:r>
              <a:rPr sz="2400" spc="-42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maximization problem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89610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MGJP+Calibri-Bold"/>
                <a:cs typeface="FVMGJP+Calibri-Bold"/>
              </a:rPr>
              <a:t>Maximum</a:t>
            </a:r>
            <a:r>
              <a:rPr sz="3250" spc="-127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15" dirty="0">
                <a:solidFill>
                  <a:srgbClr val="001F5F"/>
                </a:solidFill>
                <a:latin typeface="FVMGJP+Calibri-Bold"/>
                <a:cs typeface="FVMGJP+Calibri-Bold"/>
              </a:rPr>
              <a:t>A-Posteriori</a:t>
            </a:r>
            <a:r>
              <a:rPr sz="3250" spc="-123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FVMGJP+Calibri-Bold"/>
                <a:cs typeface="FVMGJP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7519" y="1171298"/>
            <a:ext cx="5522947" cy="390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IKFBL+Arial"/>
                <a:cs typeface="GIKFBL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Joint probability</a:t>
            </a:r>
            <a:r>
              <a:rPr sz="2400" spc="-55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46" dirty="0">
                <a:solidFill>
                  <a:srgbClr val="000000"/>
                </a:solidFill>
                <a:latin typeface="LOQGOT+Calibri"/>
                <a:cs typeface="LOQGOT+Calibri"/>
              </a:rPr>
              <a:t>in</a:t>
            </a:r>
            <a:r>
              <a:rPr sz="2400" spc="-52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-21" dirty="0">
                <a:solidFill>
                  <a:srgbClr val="000000"/>
                </a:solidFill>
                <a:latin typeface="LOQGOT+Calibri"/>
                <a:cs typeface="LOQGOT+Calibri"/>
              </a:rPr>
              <a:t>the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 coin</a:t>
            </a:r>
            <a:r>
              <a:rPr sz="2400" spc="-12" dirty="0">
                <a:solidFill>
                  <a:srgbClr val="000000"/>
                </a:solidFill>
                <a:latin typeface="LOQGOT+Calibri"/>
                <a:cs typeface="LOQGOT+Calibri"/>
              </a:rPr>
              <a:t> flip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 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7519" y="3365510"/>
            <a:ext cx="4804779" cy="1859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IKFBL+Arial"/>
                <a:cs typeface="GIKFBL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Maximize</a:t>
            </a:r>
            <a:r>
              <a:rPr sz="2400" spc="65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-62" dirty="0">
                <a:solidFill>
                  <a:srgbClr val="000000"/>
                </a:solidFill>
                <a:latin typeface="LOQGOT+Calibri"/>
                <a:cs typeface="LOQGOT+Calibri"/>
              </a:rPr>
              <a:t>by</a:t>
            </a:r>
            <a:r>
              <a:rPr sz="2400" spc="81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finding</a:t>
            </a:r>
            <a:r>
              <a:rPr sz="2400" spc="-22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a</a:t>
            </a:r>
            <a:r>
              <a:rPr sz="2400" spc="3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critical</a:t>
            </a:r>
            <a:r>
              <a:rPr sz="2400" spc="-4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point</a:t>
            </a:r>
          </a:p>
          <a:p>
            <a:pPr marL="0" marR="0">
              <a:lnSpc>
                <a:spcPts val="2686"/>
              </a:lnSpc>
              <a:spcBef>
                <a:spcPts val="878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GIKFBL+Arial"/>
                <a:cs typeface="GIKFBL+Arial"/>
              </a:rPr>
              <a:t>•</a:t>
            </a:r>
            <a:r>
              <a:rPr sz="2400" spc="4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Solving</a:t>
            </a:r>
            <a:r>
              <a:rPr sz="2400" spc="-27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LOQGOT+Calibri"/>
                <a:cs typeface="LOQGOT+Calibri"/>
              </a:rPr>
              <a:t>for</a:t>
            </a:r>
            <a:r>
              <a:rPr sz="2400" spc="66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73" dirty="0">
                <a:solidFill>
                  <a:srgbClr val="000000"/>
                </a:solidFill>
                <a:latin typeface="OEMDQO+Cambria Math"/>
                <a:cs typeface="OEMDQO+Cambria Math"/>
              </a:rPr>
              <a:t>ꢀ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007" y="278702"/>
            <a:ext cx="5896100" cy="44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3250" spc="-27" dirty="0">
                <a:solidFill>
                  <a:srgbClr val="001F5F"/>
                </a:solidFill>
                <a:latin typeface="FVMGJP+Calibri-Bold"/>
                <a:cs typeface="FVMGJP+Calibri-Bold"/>
              </a:rPr>
              <a:t>Maximum</a:t>
            </a:r>
            <a:r>
              <a:rPr sz="3250" spc="-127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15" dirty="0">
                <a:solidFill>
                  <a:srgbClr val="001F5F"/>
                </a:solidFill>
                <a:latin typeface="FVMGJP+Calibri-Bold"/>
                <a:cs typeface="FVMGJP+Calibri-Bold"/>
              </a:rPr>
              <a:t>A-Posteriori</a:t>
            </a:r>
            <a:r>
              <a:rPr sz="3250" spc="-1231" dirty="0">
                <a:solidFill>
                  <a:srgbClr val="001F5F"/>
                </a:solidFill>
                <a:latin typeface="FVMGJP+Calibri-Bold"/>
                <a:cs typeface="FVMGJP+Calibri-Bold"/>
              </a:rPr>
              <a:t> </a:t>
            </a:r>
            <a:r>
              <a:rPr sz="3250" spc="-20" dirty="0">
                <a:solidFill>
                  <a:srgbClr val="001F5F"/>
                </a:solidFill>
                <a:latin typeface="FVMGJP+Calibri-Bold"/>
                <a:cs typeface="FVMGJP+Calibri-Bold"/>
              </a:rPr>
              <a:t>Estimation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07" y="1319292"/>
            <a:ext cx="6277810" cy="343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Comparison </a:t>
            </a:r>
            <a:r>
              <a:rPr sz="2400" spc="10" dirty="0">
                <a:solidFill>
                  <a:srgbClr val="000000"/>
                </a:solidFill>
                <a:latin typeface="LOQGOT+Calibri"/>
                <a:cs typeface="LOQGOT+Calibri"/>
              </a:rPr>
              <a:t>of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 estimates</a:t>
            </a:r>
            <a:r>
              <a:rPr sz="2400" spc="25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LOQGOT+Calibri"/>
                <a:cs typeface="LOQGOT+Calibri"/>
              </a:rPr>
              <a:t>in</a:t>
            </a:r>
            <a:r>
              <a:rPr sz="2400" spc="23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17" dirty="0">
                <a:solidFill>
                  <a:srgbClr val="000000"/>
                </a:solidFill>
                <a:latin typeface="LOQGOT+Calibri"/>
                <a:cs typeface="LOQGOT+Calibri"/>
              </a:rPr>
              <a:t>the</a:t>
            </a:r>
            <a:r>
              <a:rPr sz="2400" spc="-27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coin </a:t>
            </a:r>
            <a:r>
              <a:rPr sz="2400" spc="-12" dirty="0">
                <a:solidFill>
                  <a:srgbClr val="000000"/>
                </a:solidFill>
                <a:latin typeface="LOQGOT+Calibri"/>
                <a:cs typeface="LOQGOT+Calibri"/>
              </a:rPr>
              <a:t>flip</a:t>
            </a:r>
            <a:r>
              <a:rPr sz="2400" spc="1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example: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1950" y="5462449"/>
            <a:ext cx="276205" cy="34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EMDQO+Cambria Math"/>
                <a:cs typeface="OEMDQO+Cambria Math"/>
              </a:rPr>
              <a:t>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007" y="5525949"/>
            <a:ext cx="7050911" cy="38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OEMDQO+Cambria Math"/>
                <a:cs typeface="OEMDQO+Cambria Math"/>
              </a:rPr>
              <a:t>ꢀ</a:t>
            </a:r>
            <a:r>
              <a:rPr sz="2400" spc="303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assigns</a:t>
            </a:r>
            <a:r>
              <a:rPr sz="2400" spc="-5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nonzero</a:t>
            </a:r>
            <a:r>
              <a:rPr sz="2400" spc="-2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probabilities</a:t>
            </a:r>
            <a:r>
              <a:rPr sz="2400" spc="27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LOQGOT+Calibri"/>
                <a:cs typeface="LOQGOT+Calibri"/>
              </a:rPr>
              <a:t>as</a:t>
            </a:r>
            <a:r>
              <a:rPr sz="2400" spc="43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long</a:t>
            </a:r>
            <a:r>
              <a:rPr sz="2400" spc="-20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LOQGOT+Calibri"/>
                <a:cs typeface="LOQGOT+Calibri"/>
              </a:rPr>
              <a:t>as</a:t>
            </a:r>
            <a:r>
              <a:rPr sz="2400" spc="-29" dirty="0">
                <a:solidFill>
                  <a:srgbClr val="000000"/>
                </a:solidFill>
                <a:latin typeface="LOQGOT+Calibri"/>
                <a:cs typeface="LOQGOT+Calibri"/>
              </a:rPr>
              <a:t> </a:t>
            </a:r>
            <a:r>
              <a:rPr sz="2400" spc="152" dirty="0">
                <a:solidFill>
                  <a:srgbClr val="000000"/>
                </a:solidFill>
                <a:latin typeface="OEMDQO+Cambria Math"/>
                <a:cs typeface="OEMDQO+Cambria Math"/>
              </a:rPr>
              <a:t>ꢁ,ꢂ</a:t>
            </a:r>
            <a:r>
              <a:rPr sz="2400" spc="-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EMDQO+Cambria Math"/>
                <a:cs typeface="OEMDQO+Cambria Math"/>
              </a:rPr>
              <a:t>&gt;</a:t>
            </a:r>
            <a:r>
              <a:rPr sz="2400" spc="-24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400" dirty="0">
                <a:solidFill>
                  <a:srgbClr val="000000"/>
                </a:solidFill>
                <a:latin typeface="OEMDQO+Cambria Math"/>
                <a:cs typeface="OEMDQO+Cambria Math"/>
              </a:rPr>
              <a:t>1</a:t>
            </a:r>
            <a:r>
              <a:rPr sz="2400" dirty="0">
                <a:solidFill>
                  <a:srgbClr val="000000"/>
                </a:solidFill>
                <a:latin typeface="LOQGOT+Calibri"/>
                <a:cs typeface="LOQGOT+Calibri"/>
              </a:rPr>
              <a:t>.</a:t>
            </a:r>
          </a:p>
          <a:p>
            <a:pPr marL="160972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750" spc="-11" dirty="0">
                <a:solidFill>
                  <a:srgbClr val="000000"/>
                </a:solidFill>
                <a:latin typeface="OEMDQO+Cambria Math"/>
                <a:cs typeface="OEMDQO+Cambria Math"/>
              </a:rPr>
              <a:t>MAP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7556500" cy="1068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2702</Words>
  <Application>Microsoft Office PowerPoint</Application>
  <PresentationFormat>宽屏</PresentationFormat>
  <Paragraphs>299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96" baseType="lpstr">
      <vt:lpstr>HQLGEI+Arial</vt:lpstr>
      <vt:lpstr>JVGJPR+Calibri-Bold</vt:lpstr>
      <vt:lpstr>EDVLWL+Calibri</vt:lpstr>
      <vt:lpstr>LJMQDU+Wingdings</vt:lpstr>
      <vt:lpstr>UGLBHK+Wingdings</vt:lpstr>
      <vt:lpstr>VLTENO+PingFangSC-Regular</vt:lpstr>
      <vt:lpstr>AQVBGH+Calibri</vt:lpstr>
      <vt:lpstr>VLTLJD+Cambria Math</vt:lpstr>
      <vt:lpstr>WOGTBQ+Arial</vt:lpstr>
      <vt:lpstr>PORVOG+Wingdings</vt:lpstr>
      <vt:lpstr>EFEVHJ+Cambria Math</vt:lpstr>
      <vt:lpstr>TVTGKO+Calibri-Bold</vt:lpstr>
      <vt:lpstr>DWIPCI+Cambria Math</vt:lpstr>
      <vt:lpstr>BKAFEM+Calibri</vt:lpstr>
      <vt:lpstr>LNCHGV+Calibri</vt:lpstr>
      <vt:lpstr>Liberation Mono</vt:lpstr>
      <vt:lpstr>Calibri</vt:lpstr>
      <vt:lpstr>NHHMCA+Wingdings</vt:lpstr>
      <vt:lpstr>NSDHBC+Calibri-Bold</vt:lpstr>
      <vt:lpstr>KTVPLB+PingFangSC-Semibold</vt:lpstr>
      <vt:lpstr>VTQOTV+Cambria Math</vt:lpstr>
      <vt:lpstr>SOWUMV+Calibri</vt:lpstr>
      <vt:lpstr>MCNNFN+Cambria Math</vt:lpstr>
      <vt:lpstr>FVDCCI+Calibri-Bold</vt:lpstr>
      <vt:lpstr>CGMQSO+Arial</vt:lpstr>
      <vt:lpstr>FRHNCM+Calibri</vt:lpstr>
      <vt:lpstr>DALOHM+Cambria Math</vt:lpstr>
      <vt:lpstr>LOQGOT+Calibri</vt:lpstr>
      <vt:lpstr>UFTJUS+Arial</vt:lpstr>
      <vt:lpstr>WBEEJO+TimesNewRomanPSMT</vt:lpstr>
      <vt:lpstr>GBVHFM+Calibri-Bold</vt:lpstr>
      <vt:lpstr>QDCCIB+Arial</vt:lpstr>
      <vt:lpstr>IBHIQN+Cambria Math</vt:lpstr>
      <vt:lpstr>OEMDQO+Cambria Math</vt:lpstr>
      <vt:lpstr>IPKOUC+Calibri</vt:lpstr>
      <vt:lpstr>WTHBRM+Arial</vt:lpstr>
      <vt:lpstr>ASOKKE+Calibri</vt:lpstr>
      <vt:lpstr>BIFKTN+Cambria Math</vt:lpstr>
      <vt:lpstr>UVMIBR+Calibri-Italic</vt:lpstr>
      <vt:lpstr>FGDAMQ+Calibri-Bold</vt:lpstr>
      <vt:lpstr>MTDNLU+Calibri-Italic</vt:lpstr>
      <vt:lpstr>ACUBAE+Calibri</vt:lpstr>
      <vt:lpstr>PTNLJM+Arial</vt:lpstr>
      <vt:lpstr>QUSHJR+Calibri</vt:lpstr>
      <vt:lpstr>DFMKJF+Calibri-Bold</vt:lpstr>
      <vt:lpstr>WEQRSH+Calibri</vt:lpstr>
      <vt:lpstr>IELAMK+Wingdings</vt:lpstr>
      <vt:lpstr>PQCGFU+Calibri</vt:lpstr>
      <vt:lpstr>TUPAGP+Cambria Math</vt:lpstr>
      <vt:lpstr>IFBNQO+Calibri</vt:lpstr>
      <vt:lpstr>BIFUVO+Cambria Math</vt:lpstr>
      <vt:lpstr>LBNCJC+Calibri</vt:lpstr>
      <vt:lpstr>VLPHID+Calibri-Bold</vt:lpstr>
      <vt:lpstr>FVMGJP+Calibri-Bold</vt:lpstr>
      <vt:lpstr>VBEKVJ+Arial</vt:lpstr>
      <vt:lpstr>GIKFBL+Arial</vt:lpstr>
      <vt:lpstr>JNICQD+Calibri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2</cp:revision>
  <cp:lastPrinted>2025-12-21T11:40:27Z</cp:lastPrinted>
  <dcterms:modified xsi:type="dcterms:W3CDTF">2025-12-21T11:40:40Z</dcterms:modified>
</cp:coreProperties>
</file>