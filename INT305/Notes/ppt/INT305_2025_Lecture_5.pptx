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10693400" cy="7556500"/>
  <p:notesSz cx="10693400" cy="7556500"/>
  <p:embeddedFontLst>
    <p:embeddedFont>
      <p:font typeface="BBGVVQ+CambriaMath" panose="02010600030101010101"/>
      <p:regular r:id="rId70"/>
    </p:embeddedFont>
    <p:embeddedFont>
      <p:font typeface="BIAUIP+Calibri-Bold" panose="02010600030101010101"/>
      <p:regular r:id="rId71"/>
    </p:embeddedFont>
    <p:embeddedFont>
      <p:font typeface="BNPJHD+Calibri" panose="02010600030101010101"/>
      <p:regular r:id="rId72"/>
    </p:embeddedFont>
    <p:embeddedFont>
      <p:font typeface="CPLGWV+HelveticaNeue" panose="02010600030101010101"/>
      <p:regular r:id="rId73"/>
    </p:embeddedFont>
    <p:embeddedFont>
      <p:font typeface="DQSQGC+ArialMT" panose="02010600030101010101"/>
      <p:regular r:id="rId74"/>
    </p:embeddedFont>
    <p:embeddedFont>
      <p:font typeface="EUVVUG+Calibri-Italic" panose="02010600030101010101"/>
      <p:regular r:id="rId75"/>
    </p:embeddedFont>
    <p:embeddedFont>
      <p:font typeface="FVRRNH+CambriaMath" panose="02010600030101010101"/>
      <p:regular r:id="rId76"/>
    </p:embeddedFont>
    <p:embeddedFont>
      <p:font typeface="GAIMVB+CambriaMath" panose="02010600030101010101"/>
      <p:regular r:id="rId77"/>
    </p:embeddedFont>
    <p:embeddedFont>
      <p:font typeface="GKNMVV+CambriaMath" panose="02010600030101010101"/>
      <p:regular r:id="rId78"/>
    </p:embeddedFont>
    <p:embeddedFont>
      <p:font typeface="HBJISH+Calibri-Bold" panose="02010600030101010101"/>
      <p:regular r:id="rId79"/>
    </p:embeddedFont>
    <p:embeddedFont>
      <p:font typeface="HSAIAI+HelveticaNeue" panose="02010600030101010101"/>
      <p:regular r:id="rId80"/>
    </p:embeddedFont>
    <p:embeddedFont>
      <p:font typeface="JAPCVK+Calibri-Bold" panose="02010600030101010101"/>
      <p:regular r:id="rId81"/>
    </p:embeddedFont>
    <p:embeddedFont>
      <p:font typeface="JNNGHE+CambriaMath" panose="02010600030101010101"/>
      <p:regular r:id="rId82"/>
    </p:embeddedFont>
    <p:embeddedFont>
      <p:font typeface="KITELS+CambriaMath" panose="02010600030101010101"/>
      <p:regular r:id="rId83"/>
    </p:embeddedFont>
    <p:embeddedFont>
      <p:font typeface="KMKCPU+CambriaMath" panose="02010600030101010101"/>
      <p:regular r:id="rId84"/>
    </p:embeddedFont>
    <p:embeddedFont>
      <p:font typeface="Liberation Mono" panose="02010600030101010101" charset="0"/>
      <p:regular r:id="rId85"/>
    </p:embeddedFont>
    <p:embeddedFont>
      <p:font typeface="NDTEMH+CambriaMath" panose="02010600030101010101"/>
      <p:regular r:id="rId86"/>
    </p:embeddedFont>
    <p:embeddedFont>
      <p:font typeface="OWEFSO+Calibri" panose="02010600030101010101"/>
      <p:regular r:id="rId87"/>
    </p:embeddedFont>
    <p:embeddedFont>
      <p:font typeface="RDBKDK+CambriaMath" panose="02010600030101010101"/>
      <p:regular r:id="rId88"/>
    </p:embeddedFont>
    <p:embeddedFont>
      <p:font typeface="RELFTG+CambriaMath" panose="02010600030101010101"/>
      <p:regular r:id="rId89"/>
    </p:embeddedFont>
    <p:embeddedFont>
      <p:font typeface="RLIGSI+PingFangSC-Regular" panose="02010600030101010101"/>
      <p:regular r:id="rId90"/>
    </p:embeddedFont>
    <p:embeddedFont>
      <p:font typeface="TADNHU+Calibri" panose="02010600030101010101"/>
      <p:regular r:id="rId91"/>
    </p:embeddedFont>
    <p:embeddedFont>
      <p:font typeface="TMJLKS+Calibri" panose="02010600030101010101"/>
      <p:regular r:id="rId92"/>
    </p:embeddedFont>
    <p:embeddedFont>
      <p:font typeface="TNCUHI+ArialMT" panose="02010600030101010101"/>
      <p:regular r:id="rId93"/>
    </p:embeddedFont>
    <p:embeddedFont>
      <p:font typeface="TQWVES+ArialMT" panose="02010600030101010101"/>
      <p:regular r:id="rId94"/>
    </p:embeddedFont>
    <p:embeddedFont>
      <p:font typeface="VDJLRJ+CambriaMath" panose="02010600030101010101"/>
      <p:regular r:id="rId95"/>
    </p:embeddedFont>
    <p:embeddedFont>
      <p:font typeface="WNNLQR+Calibri-Bold" panose="02010600030101010101"/>
      <p:regular r:id="rId9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892" y="6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5.fntdata"/><Relationship Id="rId89" Type="http://schemas.openxmlformats.org/officeDocument/2006/relationships/font" Target="fonts/font20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5.fntdata"/><Relationship Id="rId79" Type="http://schemas.openxmlformats.org/officeDocument/2006/relationships/font" Target="fonts/font10.fntdata"/><Relationship Id="rId5" Type="http://schemas.openxmlformats.org/officeDocument/2006/relationships/slide" Target="slides/slide4.xml"/><Relationship Id="rId90" Type="http://schemas.openxmlformats.org/officeDocument/2006/relationships/font" Target="fonts/font21.fntdata"/><Relationship Id="rId95" Type="http://schemas.openxmlformats.org/officeDocument/2006/relationships/font" Target="fonts/font26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font" Target="fonts/font11.fntdata"/><Relationship Id="rId85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1.fntdata"/><Relationship Id="rId75" Type="http://schemas.openxmlformats.org/officeDocument/2006/relationships/font" Target="fonts/font6.fntdata"/><Relationship Id="rId83" Type="http://schemas.openxmlformats.org/officeDocument/2006/relationships/font" Target="fonts/font14.fntdata"/><Relationship Id="rId88" Type="http://schemas.openxmlformats.org/officeDocument/2006/relationships/font" Target="fonts/font19.fntdata"/><Relationship Id="rId91" Type="http://schemas.openxmlformats.org/officeDocument/2006/relationships/font" Target="fonts/font22.fntdata"/><Relationship Id="rId96" Type="http://schemas.openxmlformats.org/officeDocument/2006/relationships/font" Target="fonts/font2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4.fntdata"/><Relationship Id="rId78" Type="http://schemas.openxmlformats.org/officeDocument/2006/relationships/font" Target="fonts/font9.fntdata"/><Relationship Id="rId81" Type="http://schemas.openxmlformats.org/officeDocument/2006/relationships/font" Target="fonts/font12.fntdata"/><Relationship Id="rId86" Type="http://schemas.openxmlformats.org/officeDocument/2006/relationships/font" Target="fonts/font17.fntdata"/><Relationship Id="rId94" Type="http://schemas.openxmlformats.org/officeDocument/2006/relationships/font" Target="fonts/font25.fntdata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7.fntdata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font" Target="fonts/font2.fntdata"/><Relationship Id="rId92" Type="http://schemas.openxmlformats.org/officeDocument/2006/relationships/font" Target="fonts/font2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8.fntdata"/><Relationship Id="rId61" Type="http://schemas.openxmlformats.org/officeDocument/2006/relationships/slide" Target="slides/slide60.xml"/><Relationship Id="rId82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8.fntdata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3.fntdata"/><Relationship Id="rId93" Type="http://schemas.openxmlformats.org/officeDocument/2006/relationships/font" Target="fonts/font24.fntdata"/><Relationship Id="rId9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67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10278" y="2644423"/>
            <a:ext cx="5276731" cy="1315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6955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F243E"/>
                </a:solidFill>
                <a:latin typeface="WNNLQR+Calibri-Bold"/>
                <a:cs typeface="WNNLQR+Calibri-Bold"/>
              </a:rPr>
              <a:t>INT305</a:t>
            </a:r>
            <a:r>
              <a:rPr sz="2500" spc="-354" dirty="0">
                <a:solidFill>
                  <a:srgbClr val="0F243E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F243E"/>
                </a:solidFill>
                <a:latin typeface="WNNLQR+Calibri-Bold"/>
                <a:cs typeface="WNNLQR+Calibri-Bold"/>
              </a:rPr>
              <a:t>Machine</a:t>
            </a:r>
            <a:r>
              <a:rPr sz="2500" spc="-926" dirty="0">
                <a:solidFill>
                  <a:srgbClr val="0F243E"/>
                </a:solidFill>
                <a:latin typeface="WNNLQR+Calibri-Bold"/>
                <a:cs typeface="WNNLQR+Calibri-Bold"/>
              </a:rPr>
              <a:t> </a:t>
            </a:r>
            <a:r>
              <a:rPr sz="2500" spc="13" dirty="0">
                <a:solidFill>
                  <a:srgbClr val="0F243E"/>
                </a:solidFill>
                <a:latin typeface="WNNLQR+Calibri-Bold"/>
                <a:cs typeface="WNNLQR+Calibri-Bold"/>
              </a:rPr>
              <a:t>Learning</a:t>
            </a:r>
          </a:p>
          <a:p>
            <a:pPr marL="1948648" marR="0">
              <a:lnSpc>
                <a:spcPts val="3053"/>
              </a:lnSpc>
              <a:spcBef>
                <a:spcPts val="400"/>
              </a:spcBef>
              <a:spcAft>
                <a:spcPts val="0"/>
              </a:spcAft>
            </a:pPr>
            <a:r>
              <a:rPr sz="2500" spc="14" dirty="0">
                <a:solidFill>
                  <a:srgbClr val="0F243E"/>
                </a:solidFill>
                <a:latin typeface="WNNLQR+Calibri-Bold"/>
                <a:cs typeface="WNNLQR+Calibri-Bold"/>
              </a:rPr>
              <a:t>Lecture</a:t>
            </a:r>
            <a:r>
              <a:rPr sz="2500" spc="-923" dirty="0">
                <a:solidFill>
                  <a:srgbClr val="0F243E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F243E"/>
                </a:solidFill>
                <a:latin typeface="WNNLQR+Calibri-Bold"/>
                <a:cs typeface="WNNLQR+Calibri-Bold"/>
              </a:rPr>
              <a:t>5</a:t>
            </a:r>
          </a:p>
          <a:p>
            <a:pPr marL="0" marR="0">
              <a:lnSpc>
                <a:spcPts val="3053"/>
              </a:lnSpc>
              <a:spcBef>
                <a:spcPts val="400"/>
              </a:spcBef>
              <a:spcAft>
                <a:spcPts val="0"/>
              </a:spcAft>
            </a:pPr>
            <a:r>
              <a:rPr sz="2500" spc="17" dirty="0">
                <a:solidFill>
                  <a:srgbClr val="0F243E"/>
                </a:solidFill>
                <a:latin typeface="WNNLQR+Calibri-Bold"/>
                <a:cs typeface="WNNLQR+Calibri-Bold"/>
              </a:rPr>
              <a:t>Neural</a:t>
            </a:r>
            <a:r>
              <a:rPr sz="2500" spc="-933" dirty="0">
                <a:solidFill>
                  <a:srgbClr val="0F243E"/>
                </a:solidFill>
                <a:latin typeface="WNNLQR+Calibri-Bold"/>
                <a:cs typeface="WNNLQR+Calibri-Bold"/>
              </a:rPr>
              <a:t> </a:t>
            </a:r>
            <a:r>
              <a:rPr sz="2500" spc="20" dirty="0">
                <a:solidFill>
                  <a:srgbClr val="0F243E"/>
                </a:solidFill>
                <a:latin typeface="WNNLQR+Calibri-Bold"/>
                <a:cs typeface="WNNLQR+Calibri-Bold"/>
              </a:rPr>
              <a:t>Network</a:t>
            </a:r>
            <a:r>
              <a:rPr sz="2500" spc="-927" dirty="0">
                <a:solidFill>
                  <a:srgbClr val="0F243E"/>
                </a:solidFill>
                <a:latin typeface="WNNLQR+Calibri-Bold"/>
                <a:cs typeface="WNNLQR+Calibri-Bold"/>
              </a:rPr>
              <a:t> </a:t>
            </a:r>
            <a:r>
              <a:rPr sz="2500" spc="13" dirty="0">
                <a:solidFill>
                  <a:srgbClr val="0F243E"/>
                </a:solidFill>
                <a:latin typeface="WNNLQR+Calibri-Bold"/>
                <a:cs typeface="WNNLQR+Calibri-Bold"/>
              </a:rPr>
              <a:t>and</a:t>
            </a:r>
            <a:r>
              <a:rPr sz="2500" spc="-925" dirty="0">
                <a:solidFill>
                  <a:srgbClr val="0F243E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F243E"/>
                </a:solidFill>
                <a:latin typeface="WNNLQR+Calibri-Bold"/>
                <a:cs typeface="WNNLQR+Calibri-Bold"/>
              </a:rPr>
              <a:t>Back</a:t>
            </a:r>
            <a:r>
              <a:rPr sz="2500" spc="-924" dirty="0">
                <a:solidFill>
                  <a:srgbClr val="0F243E"/>
                </a:solidFill>
                <a:latin typeface="WNNLQR+Calibri-Bold"/>
                <a:cs typeface="WNNLQR+Calibri-Bold"/>
              </a:rPr>
              <a:t> </a:t>
            </a:r>
            <a:r>
              <a:rPr sz="2500" spc="14" dirty="0">
                <a:solidFill>
                  <a:srgbClr val="0F243E"/>
                </a:solidFill>
                <a:latin typeface="WNNLQR+Calibri-Bold"/>
                <a:cs typeface="WNNLQR+Calibri-Bold"/>
              </a:rPr>
              <a:t>Propagation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46117" y="4497236"/>
            <a:ext cx="3747627" cy="1128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3599" marR="0">
              <a:lnSpc>
                <a:spcPts val="2564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F243E"/>
                </a:solidFill>
                <a:latin typeface="JAPCVK+Calibri-Bold"/>
                <a:cs typeface="JAPCVK+Calibri-Bold"/>
              </a:rPr>
              <a:t>Sichen</a:t>
            </a:r>
            <a:r>
              <a:rPr sz="2100" spc="-786" dirty="0">
                <a:solidFill>
                  <a:srgbClr val="0F243E"/>
                </a:solidFill>
                <a:latin typeface="JAPCVK+Calibri-Bold"/>
                <a:cs typeface="JAPCVK+Calibri-Bold"/>
              </a:rPr>
              <a:t> </a:t>
            </a:r>
            <a:r>
              <a:rPr sz="2100" dirty="0">
                <a:solidFill>
                  <a:srgbClr val="0F243E"/>
                </a:solidFill>
                <a:latin typeface="JAPCVK+Calibri-Bold"/>
                <a:cs typeface="JAPCVK+Calibri-Bold"/>
              </a:rPr>
              <a:t>Liu</a:t>
            </a:r>
          </a:p>
          <a:p>
            <a:pPr marL="0" marR="0">
              <a:lnSpc>
                <a:spcPts val="2564"/>
              </a:lnSpc>
              <a:spcBef>
                <a:spcPts val="409"/>
              </a:spcBef>
              <a:spcAft>
                <a:spcPts val="0"/>
              </a:spcAft>
            </a:pPr>
            <a:r>
              <a:rPr sz="2100" dirty="0">
                <a:solidFill>
                  <a:srgbClr val="0F243E"/>
                </a:solidFill>
                <a:latin typeface="JAPCVK+Calibri-Bold"/>
                <a:cs typeface="JAPCVK+Calibri-Bold"/>
              </a:rPr>
              <a:t>Department</a:t>
            </a:r>
            <a:r>
              <a:rPr sz="2100" spc="-785" dirty="0">
                <a:solidFill>
                  <a:srgbClr val="0F243E"/>
                </a:solidFill>
                <a:latin typeface="JAPCVK+Calibri-Bold"/>
                <a:cs typeface="JAPCVK+Calibri-Bold"/>
              </a:rPr>
              <a:t> </a:t>
            </a:r>
            <a:r>
              <a:rPr sz="2100" dirty="0">
                <a:solidFill>
                  <a:srgbClr val="0F243E"/>
                </a:solidFill>
                <a:latin typeface="JAPCVK+Calibri-Bold"/>
                <a:cs typeface="JAPCVK+Calibri-Bold"/>
              </a:rPr>
              <a:t>Intelligence</a:t>
            </a:r>
            <a:r>
              <a:rPr sz="2100" spc="-784" dirty="0">
                <a:solidFill>
                  <a:srgbClr val="0F243E"/>
                </a:solidFill>
                <a:latin typeface="JAPCVK+Calibri-Bold"/>
                <a:cs typeface="JAPCVK+Calibri-Bold"/>
              </a:rPr>
              <a:t> </a:t>
            </a:r>
            <a:r>
              <a:rPr sz="2100" dirty="0">
                <a:solidFill>
                  <a:srgbClr val="0F243E"/>
                </a:solidFill>
                <a:latin typeface="JAPCVK+Calibri-Bold"/>
                <a:cs typeface="JAPCVK+Calibri-Bold"/>
              </a:rPr>
              <a:t>Science</a:t>
            </a:r>
          </a:p>
          <a:p>
            <a:pPr marL="491397" marR="0">
              <a:lnSpc>
                <a:spcPts val="2564"/>
              </a:lnSpc>
              <a:spcBef>
                <a:spcPts val="435"/>
              </a:spcBef>
              <a:spcAft>
                <a:spcPts val="0"/>
              </a:spcAft>
            </a:pPr>
            <a:r>
              <a:rPr sz="2100" dirty="0">
                <a:solidFill>
                  <a:srgbClr val="0F243E"/>
                </a:solidFill>
                <a:latin typeface="JAPCVK+Calibri-Bold"/>
                <a:cs typeface="JAPCVK+Calibri-Bold"/>
              </a:rPr>
              <a:t>Sichen.Liu@xjtlu.edu.cn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25011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2060"/>
                </a:solidFill>
                <a:latin typeface="WNNLQR+Calibri-Bold"/>
                <a:cs typeface="WNNLQR+Calibri-Bold"/>
              </a:rPr>
              <a:t>Neural</a:t>
            </a:r>
            <a:r>
              <a:rPr sz="2500" spc="-933" dirty="0">
                <a:solidFill>
                  <a:srgbClr val="002060"/>
                </a:solidFill>
                <a:latin typeface="WNNLQR+Calibri-Bold"/>
                <a:cs typeface="WNNLQR+Calibri-Bold"/>
              </a:rPr>
              <a:t> </a:t>
            </a:r>
            <a:r>
              <a:rPr sz="2500" spc="18" dirty="0">
                <a:solidFill>
                  <a:srgbClr val="002060"/>
                </a:solidFill>
                <a:latin typeface="WNNLQR+Calibri-Bold"/>
                <a:cs typeface="WNNLQR+Calibri-Bold"/>
              </a:rPr>
              <a:t>network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48906" y="2369825"/>
            <a:ext cx="4311268" cy="3793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7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TADNHU+Calibri"/>
                <a:cs typeface="TADNHU+Calibri"/>
              </a:rPr>
              <a:t>Neural Network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: without the brain stuff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48906" y="3076683"/>
            <a:ext cx="4098535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(</a:t>
            </a:r>
            <a:r>
              <a:rPr sz="1900" dirty="0">
                <a:solidFill>
                  <a:srgbClr val="000000"/>
                </a:solidFill>
                <a:latin typeface="BIAUIP+Calibri-Bold"/>
                <a:cs typeface="BIAUIP+Calibri-Bold"/>
              </a:rPr>
              <a:t>Before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) Linear score function:</a:t>
            </a:r>
            <a:r>
              <a:rPr sz="1900" spc="669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ꢀ=ꢁꢂ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25011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WNNLQR+Calibri-Bold"/>
                <a:cs typeface="WNNLQR+Calibri-Bold"/>
              </a:rPr>
              <a:t>Neural</a:t>
            </a:r>
            <a:r>
              <a:rPr sz="2500" spc="-933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NLQR+Calibri-Bold"/>
                <a:cs typeface="WNNLQR+Calibri-Bold"/>
              </a:rPr>
              <a:t>network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48906" y="2369825"/>
            <a:ext cx="4311268" cy="3793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7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TADNHU+Calibri"/>
                <a:cs typeface="TADNHU+Calibri"/>
              </a:rPr>
              <a:t>Neural Network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: without the brain stuff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48906" y="3076683"/>
            <a:ext cx="5505518" cy="76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(</a:t>
            </a:r>
            <a:r>
              <a:rPr sz="1900" dirty="0">
                <a:solidFill>
                  <a:srgbClr val="000000"/>
                </a:solidFill>
                <a:latin typeface="BIAUIP+Calibri-Bold"/>
                <a:cs typeface="BIAUIP+Calibri-Bold"/>
              </a:rPr>
              <a:t>Before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) Linear score function:</a:t>
            </a:r>
            <a:r>
              <a:rPr sz="1900" spc="186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ꢀ=ꢁꢂ</a:t>
            </a:r>
          </a:p>
          <a:p>
            <a:pPr marL="3292909" marR="0">
              <a:lnSpc>
                <a:spcPts val="2228"/>
              </a:lnSpc>
              <a:spcBef>
                <a:spcPts val="1189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55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-5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6" dirty="0">
                <a:solidFill>
                  <a:srgbClr val="000000"/>
                </a:solidFill>
                <a:latin typeface="RELFTG+CambriaMath"/>
                <a:cs typeface="RELFTG+CambriaMath"/>
              </a:rPr>
              <a:t>max(0,ꢁ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8" dirty="0">
                <a:solidFill>
                  <a:srgbClr val="000000"/>
                </a:solidFill>
                <a:latin typeface="RELFTG+CambriaMath"/>
                <a:cs typeface="RELFTG+CambriaMath"/>
              </a:rPr>
              <a:t>ꢂ)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48906" y="3549123"/>
            <a:ext cx="3182090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(</a:t>
            </a:r>
            <a:r>
              <a:rPr sz="1900" dirty="0">
                <a:solidFill>
                  <a:srgbClr val="000000"/>
                </a:solidFill>
                <a:latin typeface="BIAUIP+Calibri-Bold"/>
                <a:cs typeface="BIAUIP+Calibri-Bold"/>
              </a:rPr>
              <a:t>Now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) 2-layer Neural Network: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92572" y="362520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54593" y="362520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"/>
          <p:cNvSpPr/>
          <p:nvPr/>
        </p:nvSpPr>
        <p:spPr>
          <a:xfrm>
            <a:off x="3838641" y="139341"/>
            <a:ext cx="348278" cy="2288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3838641" y="139341"/>
            <a:ext cx="219113" cy="2288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0700" y="1054099"/>
            <a:ext cx="9774703" cy="55308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97668" y="154484"/>
            <a:ext cx="817418" cy="23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第⼀步：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97668" y="387240"/>
            <a:ext cx="5755844" cy="1169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第⼀部分和先前的线性函数⼀模⼀样！这⾥的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W</a:t>
            </a:r>
            <a:r>
              <a:rPr sz="1300" spc="367" dirty="0">
                <a:solidFill>
                  <a:srgbClr val="000000"/>
                </a:solidFill>
                <a:latin typeface="HSAIAI+HelveticaNeue"/>
                <a:cs typeface="HSAIAI+HelveticaNeue"/>
              </a:rPr>
              <a:t>₁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是第⼀个权重矩阵。它把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输⼊的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x (3072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个像素值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)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转换成⼀个中间结果。根据图示，这个中间结果是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⼀个有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100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个数值的向量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h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。我们可以把这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100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个数值看作是⽹络从原始像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素中学到的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特征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或者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模式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。它们不再是原始的像素了，⽽是更⾼层次的组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合，⽐如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可能存在曲线的边缘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、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可能有⼀块蓝⾊的区域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等等。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9144" y="1221007"/>
            <a:ext cx="225011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WNNLQR+Calibri-Bold"/>
                <a:cs typeface="WNNLQR+Calibri-Bold"/>
              </a:rPr>
              <a:t>Neural</a:t>
            </a:r>
            <a:r>
              <a:rPr sz="2500" spc="-933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NLQR+Calibri-Bold"/>
                <a:cs typeface="WNNLQR+Calibri-Bold"/>
              </a:rPr>
              <a:t>network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48906" y="2369825"/>
            <a:ext cx="4311268" cy="3793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7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TADNHU+Calibri"/>
                <a:cs typeface="TADNHU+Calibri"/>
              </a:rPr>
              <a:t>Neural Network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: without the brain stuff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48906" y="3046675"/>
            <a:ext cx="3989828" cy="362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(</a:t>
            </a:r>
            <a:r>
              <a:rPr sz="1900" dirty="0">
                <a:solidFill>
                  <a:srgbClr val="000000"/>
                </a:solidFill>
                <a:latin typeface="BIAUIP+Calibri-Bold"/>
                <a:cs typeface="BIAUIP+Calibri-Bold"/>
              </a:rPr>
              <a:t>Before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) Linear score function:</a:t>
            </a:r>
            <a:r>
              <a:rPr sz="2850" spc="277" baseline="12631" dirty="0">
                <a:solidFill>
                  <a:srgbClr val="000000"/>
                </a:solidFill>
                <a:latin typeface="RELFTG+CambriaMath"/>
                <a:cs typeface="RELFTG+CambriaMath"/>
              </a:rPr>
              <a:t>ꢀ=ꢁꢂ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448906" y="3531307"/>
            <a:ext cx="5245422" cy="350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(</a:t>
            </a:r>
            <a:r>
              <a:rPr sz="1900" dirty="0">
                <a:solidFill>
                  <a:srgbClr val="000000"/>
                </a:solidFill>
                <a:latin typeface="BIAUIP+Calibri-Bold"/>
                <a:cs typeface="BIAUIP+Calibri-Bold"/>
              </a:rPr>
              <a:t>Now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) 2-layer Neural Network: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55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-5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6" dirty="0">
                <a:solidFill>
                  <a:srgbClr val="000000"/>
                </a:solidFill>
                <a:latin typeface="RELFTG+CambriaMath"/>
                <a:cs typeface="RELFTG+CambriaMath"/>
              </a:rPr>
              <a:t>max(0,ꢁ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8" dirty="0">
                <a:solidFill>
                  <a:srgbClr val="000000"/>
                </a:solidFill>
                <a:latin typeface="RELFTG+CambriaMath"/>
                <a:cs typeface="RELFTG+CambriaMath"/>
              </a:rPr>
              <a:t>ꢂ)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132475" y="364044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94498" y="364044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12792" y="3868341"/>
            <a:ext cx="817418" cy="23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第⼆步：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77771" y="4115686"/>
            <a:ext cx="817418" cy="23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第三步：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12792" y="4101097"/>
            <a:ext cx="3723878" cy="3264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这是它与线性函数最根本的区别！这个函数叫做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激活函数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(Activation Function)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，⽽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max(0, z)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是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其中最常⽤的⼀种，它的名字叫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ReLU (Rectiﬁed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Linear Unit)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，中⽂叫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修正线性单元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。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它的⼯作原理超级简单：如果⼀个数是正数，就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保持不变；如果⼀个数是负数，就把它变成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0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。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这是为了引⼊⾮线性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(non-linearity)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。这就好⽐我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们给了模型⼀个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开关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，让它能够学会更复杂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的、弯弯曲曲的决策边界。没有这个激活函数，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⽆论我们叠加多少层线性函数，最终结果都等价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于⼀个线性函数，就像把⼏个直尺⾸尾相连，得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到的还是⼀根更⻓的直尺。但有了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ReLU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这个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关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节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，我们就可以把直尺折叠，去拟合更复杂的形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状！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77771" y="4348443"/>
            <a:ext cx="2757276" cy="2798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经过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ReLU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激活函数处理后，我们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得到了⼀个包含了⾮负特征的向量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h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。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现在，我们再⽤第⼆个权重矩阵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W</a:t>
            </a:r>
            <a:r>
              <a:rPr sz="1300" dirty="0">
                <a:solidFill>
                  <a:srgbClr val="000000"/>
                </a:solidFill>
                <a:latin typeface="HSAIAI+HelveticaNeue"/>
                <a:cs typeface="HSAIAI+HelveticaNeue"/>
              </a:rPr>
              <a:t>₂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对这个特征向量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h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（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100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个值）进⾏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⼀次线性变换，最终得到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10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个类别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的分数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s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。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这⼀步就相当于，模型根据前⾯学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到的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曲线边缘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、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蓝⾊区域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等特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征，来做最终的判断：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嗯，根据这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些特征来看，这张图有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90%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的可能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是猫，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10%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的可能是狗。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5210421" y="7076866"/>
            <a:ext cx="4933518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9144" y="764654"/>
            <a:ext cx="8862928" cy="882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3162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最内层：max(0, W₁x)</a:t>
            </a:r>
          </a:p>
          <a:p>
            <a:pPr marL="2403162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和之前⼀样，这是我们的第⼀个隐藏层。它接收原始的图⽚像素 x，通过 W₁ 计算，再</a:t>
            </a:r>
          </a:p>
          <a:p>
            <a:pPr marL="0" marR="0">
              <a:lnSpc>
                <a:spcPts val="2869"/>
              </a:lnSpc>
              <a:spcBef>
                <a:spcPts val="184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WNNLQR+Calibri-Bold"/>
                <a:cs typeface="WNNLQR+Calibri-Bold"/>
              </a:rPr>
              <a:t>Neural</a:t>
            </a:r>
            <a:r>
              <a:rPr sz="2500" spc="-933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NLQR+Calibri-Bold"/>
                <a:cs typeface="WNNLQR+Calibri-Bold"/>
              </a:rPr>
              <a:t>network</a:t>
            </a:r>
            <a:r>
              <a:rPr sz="2500" spc="886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经过 ReLU 激活，输出了第⼀组⽐较初级的特征（⽐如⼀些边缘、颜⾊块等）。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48906" y="2369825"/>
            <a:ext cx="4311268" cy="3793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7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TADNHU+Calibri"/>
                <a:cs typeface="TADNHU+Calibri"/>
              </a:rPr>
              <a:t>Neural Network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: without the brain stuff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83840" y="3031435"/>
            <a:ext cx="96360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ꢀ=ꢁꢂ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48906" y="3076683"/>
            <a:ext cx="3147875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(</a:t>
            </a:r>
            <a:r>
              <a:rPr sz="1900" dirty="0">
                <a:solidFill>
                  <a:srgbClr val="000000"/>
                </a:solidFill>
                <a:latin typeface="BIAUIP+Calibri-Bold"/>
                <a:cs typeface="BIAUIP+Calibri-Bold"/>
              </a:rPr>
              <a:t>Before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) Linear score function: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90427" y="3506922"/>
            <a:ext cx="221260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55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-5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6" dirty="0">
                <a:solidFill>
                  <a:srgbClr val="000000"/>
                </a:solidFill>
                <a:latin typeface="RELFTG+CambriaMath"/>
                <a:cs typeface="RELFTG+CambriaMath"/>
              </a:rPr>
              <a:t>max(0,ꢁ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8" dirty="0">
                <a:solidFill>
                  <a:srgbClr val="000000"/>
                </a:solidFill>
                <a:latin typeface="RELFTG+CambriaMath"/>
                <a:cs typeface="RELFTG+CambriaMath"/>
              </a:rPr>
              <a:t>ꢂ)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48906" y="3549123"/>
            <a:ext cx="3182090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(</a:t>
            </a:r>
            <a:r>
              <a:rPr sz="1900" dirty="0">
                <a:solidFill>
                  <a:srgbClr val="000000"/>
                </a:solidFill>
                <a:latin typeface="BIAUIP+Calibri-Bold"/>
                <a:cs typeface="BIAUIP+Calibri-Bold"/>
              </a:rPr>
              <a:t>Now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) 2-layer Neural Network: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241182" y="361606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303204" y="361606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08444" y="3917931"/>
            <a:ext cx="2779923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or 3-layer Neural Network: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904690" y="4244539"/>
            <a:ext cx="338075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55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-5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6" dirty="0">
                <a:solidFill>
                  <a:srgbClr val="000000"/>
                </a:solidFill>
                <a:latin typeface="RELFTG+CambriaMath"/>
                <a:cs typeface="RELFTG+CambriaMath"/>
              </a:rPr>
              <a:t>max(0,ꢁ</a:t>
            </a:r>
            <a:r>
              <a:rPr sz="1900" spc="-5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6" dirty="0">
                <a:solidFill>
                  <a:srgbClr val="000000"/>
                </a:solidFill>
                <a:latin typeface="RELFTG+CambriaMath"/>
                <a:cs typeface="RELFTG+CambriaMath"/>
              </a:rPr>
              <a:t>max(0,ꢁ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0" dirty="0">
                <a:solidFill>
                  <a:srgbClr val="000000"/>
                </a:solidFill>
                <a:latin typeface="RELFTG+CambriaMath"/>
                <a:cs typeface="RELFTG+CambriaMath"/>
              </a:rPr>
              <a:t>ꢂ))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555446" y="4356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#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23047" y="4356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685069" y="4356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184377" y="4753469"/>
            <a:ext cx="1257660" cy="23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最外层：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W</a:t>
            </a:r>
            <a:r>
              <a:rPr sz="1300" dirty="0">
                <a:solidFill>
                  <a:srgbClr val="000000"/>
                </a:solidFill>
                <a:latin typeface="HSAIAI+HelveticaNeue"/>
                <a:cs typeface="HSAIAI+HelveticaNeue"/>
              </a:rPr>
              <a:t>₃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(...)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71631" y="4796908"/>
            <a:ext cx="1759748" cy="23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中间层：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max(0, W</a:t>
            </a:r>
            <a:r>
              <a:rPr sz="1300" dirty="0">
                <a:solidFill>
                  <a:srgbClr val="000000"/>
                </a:solidFill>
                <a:latin typeface="HSAIAI+HelveticaNeue"/>
                <a:cs typeface="HSAIAI+HelveticaNeue"/>
              </a:rPr>
              <a:t>₂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...)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184377" y="4986225"/>
            <a:ext cx="3477491" cy="703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这是我们的输出层。它接收第⼆个隐藏层输出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的那些复杂的组合特征，然后乘以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W</a:t>
            </a:r>
            <a:r>
              <a:rPr sz="1300" dirty="0">
                <a:solidFill>
                  <a:srgbClr val="000000"/>
                </a:solidFill>
                <a:latin typeface="HSAIAI+HelveticaNeue"/>
                <a:cs typeface="HSAIAI+HelveticaNeue"/>
              </a:rPr>
              <a:t>₃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，最终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计算出每个类别的最终分数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f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。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71631" y="5029664"/>
            <a:ext cx="3905430" cy="936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现在是关键的⼀步！它不再直接把这些初级特征⽤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于最终分类，⽽是把它们作为输⼊，再进⾏⼀次相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同的操作：乘以第⼆个权重矩阵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W</a:t>
            </a:r>
            <a:r>
              <a:rPr sz="1300" dirty="0">
                <a:solidFill>
                  <a:srgbClr val="000000"/>
                </a:solidFill>
                <a:latin typeface="HSAIAI+HelveticaNeue"/>
                <a:cs typeface="HSAIAI+HelveticaNeue"/>
              </a:rPr>
              <a:t>₂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，然后再次通过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ReLU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激活函数。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71631" y="5960690"/>
            <a:ext cx="3810000" cy="936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这⼀层就是第⼆个隐藏层。它的作⽤是把第⼀层学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到的简单特征（边缘、⾊块）进⾏组合，从⽽学习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到更复杂、更有意义的特征（⽐如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眼睛的轮廓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、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⻦的喙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）。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288641" y="6162458"/>
            <a:ext cx="4952333" cy="703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每增加⼀个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隐藏层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，⽹络就获得了从上⼀层特征中学习更⾼级、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更抽象特征的能⼒。这就是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深度学习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中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深度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(Deep)”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的来源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——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我们通过堆叠更多的层来构建⼀个更深的⽹络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193682" y="1054099"/>
            <a:ext cx="9979017" cy="543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2720" y="443181"/>
            <a:ext cx="4973782" cy="936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可以把</a:t>
            </a:r>
            <a:r>
              <a:rPr sz="1300" u="sng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激活函数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想象成每个神经元的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性格开关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或者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决策模型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。</a:t>
            </a:r>
          </a:p>
          <a:p>
            <a:pPr marL="0" marR="0">
              <a:lnSpc>
                <a:spcPts val="1576"/>
              </a:lnSpc>
              <a:spcBef>
                <a:spcPts val="247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它决定了接收到信号后，这个神经元应该被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激活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到什么程度，以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及应该向下⼀层传递什么样的信息。它的核⼼使命，我们再强调⼀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遍，就是引⼊⾮线性，让⽹络能够学习复杂的数据模式。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144" y="1221007"/>
            <a:ext cx="283699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Activation</a:t>
            </a:r>
            <a:r>
              <a:rPr sz="2500" spc="-926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functions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55260" y="1503852"/>
            <a:ext cx="3816316" cy="703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当输⼊是负数时，它不再输出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0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，⽽是输出⼀个很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⼩的值（⽐如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0.1x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）。这就好⽐给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死掉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的神经元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做了⼀点⼼肺复苏，让它还有机会被重新激活。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69637" y="1622209"/>
            <a:ext cx="4605142" cy="790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7937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它能把任何输⼊的数值都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压缩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</a:p>
          <a:p>
            <a:pPr marL="2087937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到</a:t>
            </a:r>
            <a:r>
              <a:rPr sz="1300" spc="-6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0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和</a:t>
            </a:r>
            <a:r>
              <a:rPr sz="1300" spc="-6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1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之间。这⾮常有⽤，⽐</a:t>
            </a:r>
          </a:p>
          <a:p>
            <a:pPr marL="0" marR="0">
              <a:lnSpc>
                <a:spcPts val="2309"/>
              </a:lnSpc>
              <a:spcBef>
                <a:spcPts val="19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Activation Functions</a:t>
            </a:r>
            <a:r>
              <a:rPr sz="1900" spc="297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50" baseline="25094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如在需要输出⼀个概率值（概率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57575" y="2320478"/>
            <a:ext cx="2332330" cy="23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总是在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0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到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1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之间）的场景下。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044277" y="2652733"/>
            <a:ext cx="1109416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HBJISH+Calibri-Bold"/>
                <a:cs typeface="HBJISH+Calibri-Bold"/>
              </a:rPr>
              <a:t>Leaky</a:t>
            </a:r>
            <a:r>
              <a:rPr sz="1600" spc="-604" dirty="0">
                <a:solidFill>
                  <a:srgbClr val="000000"/>
                </a:solidFill>
                <a:latin typeface="HBJISH+Calibri-Bold"/>
                <a:cs typeface="HBJISH+Calibri-Bold"/>
              </a:rPr>
              <a:t> </a:t>
            </a:r>
            <a:r>
              <a:rPr sz="1600" dirty="0">
                <a:solidFill>
                  <a:srgbClr val="000000"/>
                </a:solidFill>
                <a:latin typeface="HBJISH+Calibri-Bold"/>
                <a:cs typeface="HBJISH+Calibri-Bold"/>
              </a:rPr>
              <a:t>ReLU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69637" y="2680165"/>
            <a:ext cx="828178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HBJISH+Calibri-Bold"/>
                <a:cs typeface="HBJISH+Calibri-Bold"/>
              </a:rPr>
              <a:t>Sigmoid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40479" y="2930263"/>
            <a:ext cx="2215825" cy="349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2850" baseline="-49714" dirty="0">
                <a:solidFill>
                  <a:srgbClr val="000000"/>
                </a:solidFill>
                <a:latin typeface="RELFTG+CambriaMath"/>
                <a:cs typeface="RELFTG+CambriaMath"/>
              </a:rPr>
              <a:t>ꢃ</a:t>
            </a:r>
            <a:r>
              <a:rPr sz="2850" spc="-308" baseline="-4971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850" baseline="-49714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2850" spc="-338" baseline="-4971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4300" baseline="-49714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2850" spc="-1187" baseline="-4971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4300" spc="140" baseline="-49714" dirty="0">
                <a:solidFill>
                  <a:srgbClr val="000000"/>
                </a:solidFill>
                <a:latin typeface="RELFTG+CambriaMath"/>
                <a:cs typeface="RELFTG+CambriaMath"/>
              </a:rPr>
              <a:t>1⁄(1+ꢄ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$%</a:t>
            </a:r>
            <a:r>
              <a:rPr sz="2850" baseline="-49714" dirty="0">
                <a:solidFill>
                  <a:srgbClr val="000000"/>
                </a:solidFill>
                <a:latin typeface="RELFTG+CambriaMath"/>
                <a:cs typeface="RELFTG+CambriaMath"/>
              </a:rPr>
              <a:t>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011757" y="2918659"/>
            <a:ext cx="1464830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max(0.1ꢂ,</a:t>
            </a:r>
            <a:r>
              <a:rPr sz="1900" spc="-8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8" dirty="0">
                <a:solidFill>
                  <a:srgbClr val="000000"/>
                </a:solidFill>
                <a:latin typeface="RELFTG+CambriaMath"/>
                <a:cs typeface="RELFTG+CambriaMath"/>
              </a:rPr>
              <a:t>ꢂ)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0392" y="3346092"/>
            <a:ext cx="3468513" cy="703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和</a:t>
            </a:r>
            <a:r>
              <a:rPr sz="1300" spc="-6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Sigmoid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很像，但它把数值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压缩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到</a:t>
            </a:r>
            <a:r>
              <a:rPr sz="1300" spc="-6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-1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和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1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之间。它的输出是以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0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为中⼼的，这⼀点⽐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Sigmoid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更好，通常能让模型收敛得更快。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04825" y="3369175"/>
            <a:ext cx="2242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⊺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22509" y="3369175"/>
            <a:ext cx="2242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⊺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74993" y="3400242"/>
            <a:ext cx="274648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max(ꢅ</a:t>
            </a:r>
            <a:r>
              <a:rPr sz="1900" spc="-3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ꢂ+ꢆ</a:t>
            </a:r>
            <a:r>
              <a:rPr sz="1900" spc="-8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3" dirty="0">
                <a:solidFill>
                  <a:srgbClr val="000000"/>
                </a:solidFill>
                <a:latin typeface="RELFTG+CambriaMath"/>
                <a:cs typeface="RELFTG+CambriaMath"/>
              </a:rPr>
              <a:t>,ꢅ</a:t>
            </a:r>
            <a:r>
              <a:rPr sz="1900" spc="-6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ꢂ+ꢆ</a:t>
            </a:r>
            <a:r>
              <a:rPr sz="1900" spc="-76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044277" y="3442165"/>
            <a:ext cx="812403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HBJISH+Calibri-Bold"/>
                <a:cs typeface="HBJISH+Calibri-Bold"/>
              </a:rPr>
              <a:t>Maxout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576524" y="3515479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228285" y="3509383"/>
            <a:ext cx="626778" cy="25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27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257128" y="35093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044277" y="3957277"/>
            <a:ext cx="470098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HBJISH+Calibri-Bold"/>
                <a:cs typeface="HBJISH+Calibri-Bold"/>
              </a:rPr>
              <a:t>ELU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193202" y="4049466"/>
            <a:ext cx="95608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0" dirty="0">
                <a:solidFill>
                  <a:srgbClr val="000000"/>
                </a:solidFill>
                <a:latin typeface="RELFTG+CambriaMath"/>
                <a:cs typeface="RELFTG+CambriaMath"/>
              </a:rPr>
              <a:t>tanh(ꢂ)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369636" y="4082245"/>
            <a:ext cx="541238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HBJISH+Calibri-Bold"/>
                <a:cs typeface="HBJISH+Calibri-Bold"/>
              </a:rPr>
              <a:t>tanh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932461" y="4098234"/>
            <a:ext cx="2725905" cy="632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1417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61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8" dirty="0">
                <a:solidFill>
                  <a:srgbClr val="000000"/>
                </a:solidFill>
                <a:latin typeface="RELFTG+CambriaMath"/>
                <a:cs typeface="RELFTG+CambriaMath"/>
              </a:rPr>
              <a:t>ꢇꢀꢂ&gt;0</a:t>
            </a:r>
          </a:p>
          <a:p>
            <a:pPr marL="0" marR="0">
              <a:lnSpc>
                <a:spcPts val="2228"/>
              </a:lnSpc>
              <a:spcBef>
                <a:spcPts val="269"/>
              </a:spcBef>
              <a:spcAft>
                <a:spcPts val="0"/>
              </a:spcAft>
            </a:pPr>
            <a:r>
              <a:rPr sz="1900" spc="16" dirty="0">
                <a:solidFill>
                  <a:srgbClr val="000000"/>
                </a:solidFill>
                <a:latin typeface="RELFTG+CambriaMath"/>
                <a:cs typeface="RELFTG+CambriaMath"/>
              </a:rPr>
              <a:t>ꢈ(exp</a:t>
            </a:r>
            <a:r>
              <a:rPr sz="1900" spc="-3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1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38" dirty="0">
                <a:solidFill>
                  <a:srgbClr val="000000"/>
                </a:solidFill>
                <a:latin typeface="RELFTG+CambriaMath"/>
                <a:cs typeface="RELFTG+CambriaMath"/>
              </a:rPr>
              <a:t>−1)</a:t>
            </a:r>
            <a:r>
              <a:rPr sz="1900" spc="6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8" dirty="0">
                <a:solidFill>
                  <a:srgbClr val="000000"/>
                </a:solidFill>
                <a:latin typeface="RELFTG+CambriaMath"/>
                <a:cs typeface="RELFTG+CambriaMath"/>
              </a:rPr>
              <a:t>ꢇꢀꢂ≤0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022458" y="4265875"/>
            <a:ext cx="106238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2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=7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194458" y="5222946"/>
            <a:ext cx="1147119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max(0,</a:t>
            </a:r>
            <a:r>
              <a:rPr sz="1900" spc="-8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8" dirty="0">
                <a:solidFill>
                  <a:srgbClr val="000000"/>
                </a:solidFill>
                <a:latin typeface="RELFTG+CambriaMath"/>
                <a:cs typeface="RELFTG+CambriaMath"/>
              </a:rPr>
              <a:t>ꢂ)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69637" y="5255725"/>
            <a:ext cx="587672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HBJISH+Calibri-Bold"/>
                <a:cs typeface="HBJISH+Calibri-Bold"/>
              </a:rPr>
              <a:t>ReLU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52916" y="5632692"/>
            <a:ext cx="2812473" cy="471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计算超级快，⽽且在正数区域不会有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梯度消失的问题，所以学习得很快。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99323" y="6199877"/>
            <a:ext cx="2812473" cy="936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218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有个叫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“Dying ReLU”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的问题。如果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⼀个神经元的输⼊总是负数，它就会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⼀直输出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0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，梯度也永远是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0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，这个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神经元就再也⽆法学习了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048639" y="6249662"/>
            <a:ext cx="2522358" cy="11692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ELU 是</a:t>
            </a:r>
            <a:r>
              <a:rPr sz="1300" spc="-6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Leaky ReLU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的⼀个更平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滑的升级版，既解决了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“Dying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ReLU”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问题，⼜具有接近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0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均值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的输出。但计算会⽐</a:t>
            </a:r>
            <a:r>
              <a:rPr sz="1300" spc="-69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ReLU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复杂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⼀点。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650002" y="6280015"/>
            <a:ext cx="2812473" cy="11692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Maxout 这是⼀个更⼴义的激活函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数，它本身是可以学习的。可以看作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是</a:t>
            </a:r>
            <a:r>
              <a:rPr sz="1300" spc="-6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ReLU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和</a:t>
            </a:r>
            <a:r>
              <a:rPr sz="1300" spc="-6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 </a:t>
            </a:r>
            <a:r>
              <a:rPr sz="1300" dirty="0">
                <a:solidFill>
                  <a:srgbClr val="000000"/>
                </a:solidFill>
                <a:latin typeface="CPLGWV+HelveticaNeue"/>
                <a:cs typeface="CPLGWV+HelveticaNeue"/>
              </a:rPr>
              <a:t>Leaky ReLU </a:t>
            </a: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的泛化版</a:t>
            </a:r>
          </a:p>
          <a:p>
            <a:pPr marL="0" marR="0">
              <a:lnSpc>
                <a:spcPts val="1576"/>
              </a:lnSpc>
              <a:spcBef>
                <a:spcPts val="25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本，效果很好，但计算开销和参数数</a:t>
            </a:r>
          </a:p>
          <a:p>
            <a:pPr marL="0" marR="0">
              <a:lnSpc>
                <a:spcPts val="1576"/>
              </a:lnSpc>
              <a:spcBef>
                <a:spcPts val="206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RLIGSI+PingFangSC-Regular"/>
                <a:cs typeface="RLIGSI+PingFangSC-Regular"/>
              </a:rPr>
              <a:t>量也更⼤了。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7061140" y="6990599"/>
            <a:ext cx="12700" cy="14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6687787" y="6676930"/>
            <a:ext cx="333088" cy="3257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41189" y="6705870"/>
            <a:ext cx="625664" cy="2659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94616" y="6682999"/>
            <a:ext cx="812557" cy="3365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55980" y="6846615"/>
            <a:ext cx="95506" cy="190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57434" y="6719469"/>
            <a:ext cx="569809" cy="28175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57434" y="6719469"/>
            <a:ext cx="243878" cy="28175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0700" y="1054099"/>
            <a:ext cx="9652000" cy="55908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9144" y="1221007"/>
            <a:ext cx="225011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WNNLQR+Calibri-Bold"/>
                <a:cs typeface="WNNLQR+Calibri-Bold"/>
              </a:rPr>
              <a:t>Neural</a:t>
            </a:r>
            <a:r>
              <a:rPr sz="2500" spc="-933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NLQR+Calibri-Bold"/>
                <a:cs typeface="WNNLQR+Calibri-Bold"/>
              </a:rPr>
              <a:t>network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59245" y="2366499"/>
            <a:ext cx="3245410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Neural Networks: Architectures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25011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WNNLQR+Calibri-Bold"/>
                <a:cs typeface="WNNLQR+Calibri-Bold"/>
              </a:rPr>
              <a:t>Neural</a:t>
            </a:r>
            <a:r>
              <a:rPr sz="2500" spc="-933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WNNLQR+Calibri-Bold"/>
                <a:cs typeface="WNNLQR+Calibri-Bold"/>
              </a:rPr>
              <a:t>network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03460" y="2284203"/>
            <a:ext cx="5733265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Example Feed-forward computation of a Neural 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420002" y="724433"/>
            <a:ext cx="10273397" cy="62389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471319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Descent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30394" y="2125707"/>
            <a:ext cx="170768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Where we are…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19090" y="2543283"/>
            <a:ext cx="1648071" cy="918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4FE"/>
                </a:solidFill>
                <a:latin typeface="OWEFSO+Calibri"/>
                <a:cs typeface="OWEFSO+Calibri"/>
              </a:rPr>
              <a:t>scores function</a:t>
            </a:r>
          </a:p>
          <a:p>
            <a:pPr marL="0" marR="0">
              <a:lnSpc>
                <a:spcPts val="2320"/>
              </a:lnSpc>
              <a:spcBef>
                <a:spcPts val="2287"/>
              </a:spcBef>
              <a:spcAft>
                <a:spcPts val="0"/>
              </a:spcAft>
            </a:pPr>
            <a:r>
              <a:rPr sz="1900" dirty="0">
                <a:solidFill>
                  <a:srgbClr val="0034FE"/>
                </a:solidFill>
                <a:latin typeface="OWEFSO+Calibri"/>
                <a:cs typeface="OWEFSO+Calibri"/>
              </a:rPr>
              <a:t>SVM loss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00534" y="2574235"/>
            <a:ext cx="207237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46" dirty="0">
                <a:solidFill>
                  <a:srgbClr val="000000"/>
                </a:solidFill>
                <a:latin typeface="RELFTG+CambriaMath"/>
                <a:cs typeface="RELFTG+CambriaMath"/>
              </a:rPr>
              <a:t>ꢉ=ꢀ</a:t>
            </a:r>
            <a:r>
              <a:rPr sz="1900" spc="-83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5" dirty="0">
                <a:solidFill>
                  <a:srgbClr val="000000"/>
                </a:solidFill>
                <a:latin typeface="RELFTG+CambriaMath"/>
                <a:cs typeface="RELFTG+CambriaMath"/>
              </a:rPr>
              <a:t>ꢂ;ꢁ</a:t>
            </a:r>
            <a:r>
              <a:rPr sz="1900" spc="1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=ꢁꢂ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07270" y="3089347"/>
            <a:ext cx="345676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ꢊ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=B</a:t>
            </a:r>
            <a:r>
              <a:rPr sz="1900" spc="17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max(0,</a:t>
            </a:r>
            <a:r>
              <a:rPr sz="1900" spc="-8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ꢉ</a:t>
            </a:r>
            <a:r>
              <a:rPr sz="1900" spc="-1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RELFTG+CambriaMath"/>
                <a:cs typeface="RELFTG+CambriaMath"/>
              </a:rPr>
              <a:t>−ꢉ</a:t>
            </a:r>
            <a:r>
              <a:rPr sz="1900" spc="2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38" dirty="0">
                <a:solidFill>
                  <a:srgbClr val="000000"/>
                </a:solidFill>
                <a:latin typeface="RELFTG+CambriaMath"/>
                <a:cs typeface="RELFTG+CambriaMath"/>
              </a:rPr>
              <a:t>+1)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35462" y="3198487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20857" y="3198487"/>
            <a:ext cx="803932" cy="2778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(</a:t>
            </a:r>
            <a:r>
              <a:rPr sz="1400" spc="23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*</a:t>
            </a:r>
          </a:p>
          <a:p>
            <a:pPr marL="599077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DJLRJ+CambriaMath"/>
                <a:cs typeface="VDJLRJ+CambriaMath"/>
              </a:rPr>
              <a:t>!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46692" y="3347839"/>
            <a:ext cx="48217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7" dirty="0">
                <a:solidFill>
                  <a:srgbClr val="000000"/>
                </a:solidFill>
                <a:latin typeface="KMKCPU+CambriaMath"/>
                <a:cs typeface="KMKCPU+CambriaMath"/>
              </a:rPr>
              <a:t>()*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75715" y="3423687"/>
            <a:ext cx="204855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DJLRJ+CambriaMath"/>
                <a:cs typeface="VDJLRJ+CambriaMath"/>
              </a:rPr>
              <a:t>!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75443" y="3661783"/>
            <a:ext cx="805033" cy="324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1</a:t>
            </a:r>
            <a:r>
              <a:rPr sz="1900" spc="188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,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19090" y="3765531"/>
            <a:ext cx="260048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4FE"/>
                </a:solidFill>
                <a:latin typeface="OWEFSO+Calibri"/>
                <a:cs typeface="OWEFSO+Calibri"/>
              </a:rPr>
              <a:t>data loss + regularization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759833" y="3811135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03651" y="3848298"/>
            <a:ext cx="259388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66" dirty="0">
                <a:solidFill>
                  <a:srgbClr val="000000"/>
                </a:solidFill>
                <a:latin typeface="RELFTG+CambriaMath"/>
                <a:cs typeface="RELFTG+CambriaMath"/>
              </a:rPr>
              <a:t>ꢊ=</a:t>
            </a:r>
            <a:r>
              <a:rPr sz="1900" spc="5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B</a:t>
            </a:r>
            <a:r>
              <a:rPr sz="1900" spc="12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ꢊ</a:t>
            </a:r>
            <a:r>
              <a:rPr sz="1900" spc="-10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RELFTG+CambriaMath"/>
                <a:cs typeface="RELFTG+CambriaMath"/>
              </a:rPr>
              <a:t>+B</a:t>
            </a:r>
            <a:r>
              <a:rPr sz="1900" spc="-6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719479" y="395743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712680" y="3966583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-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750508" y="4009977"/>
            <a:ext cx="32913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ꢋ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293684" y="4106791"/>
            <a:ext cx="45108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403967" y="4106791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-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30394" y="4548867"/>
            <a:ext cx="1369031" cy="374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want</a:t>
            </a:r>
            <a:r>
              <a:rPr sz="1900" spc="1646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∇</a:t>
            </a:r>
            <a:r>
              <a:rPr sz="2100" spc="89" baseline="-27789" dirty="0">
                <a:solidFill>
                  <a:srgbClr val="000000"/>
                </a:solidFill>
                <a:latin typeface="KMKCPU+CambriaMath"/>
                <a:cs typeface="KMKCPU+CambriaMath"/>
              </a:rPr>
              <a:t>.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39394" y="1054099"/>
            <a:ext cx="9833306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3039435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Computational</a:t>
            </a:r>
            <a:r>
              <a:rPr sz="2500" spc="-93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Graph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27737" y="2192763"/>
            <a:ext cx="2270384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Computational Graph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43492" y="3011273"/>
            <a:ext cx="1373245" cy="470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01"/>
              </a:lnSpc>
              <a:spcBef>
                <a:spcPts val="0"/>
              </a:spcBef>
              <a:spcAft>
                <a:spcPts val="0"/>
              </a:spcAft>
            </a:pPr>
            <a:r>
              <a:rPr sz="2900" spc="389" dirty="0">
                <a:solidFill>
                  <a:srgbClr val="000000"/>
                </a:solidFill>
                <a:latin typeface="KITELS+CambriaMath"/>
                <a:cs typeface="KITELS+CambriaMath"/>
              </a:rPr>
              <a:t>ꢀ=ꢁꢂ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67389" y="3062267"/>
            <a:ext cx="4003385" cy="365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8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FVRRNH+CambriaMath"/>
                <a:cs typeface="FVRRNH+CambriaMath"/>
              </a:rPr>
              <a:t>ꢀ</a:t>
            </a:r>
            <a:r>
              <a:rPr sz="2200" spc="1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200" spc="625" dirty="0">
                <a:solidFill>
                  <a:srgbClr val="000000"/>
                </a:solidFill>
                <a:latin typeface="FVRRNH+CambriaMath"/>
                <a:cs typeface="FVRRNH+CambriaMath"/>
              </a:rPr>
              <a:t>=#</a:t>
            </a:r>
            <a:r>
              <a:rPr sz="2200" spc="20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200" dirty="0">
                <a:solidFill>
                  <a:srgbClr val="000000"/>
                </a:solidFill>
                <a:latin typeface="FVRRNH+CambriaMath"/>
                <a:cs typeface="FVRRNH+CambriaMath"/>
              </a:rPr>
              <a:t>max(0,</a:t>
            </a:r>
            <a:r>
              <a:rPr sz="2200" spc="-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200" dirty="0">
                <a:solidFill>
                  <a:srgbClr val="000000"/>
                </a:solidFill>
                <a:latin typeface="FVRRNH+CambriaMath"/>
                <a:cs typeface="FVRRNH+CambriaMath"/>
              </a:rPr>
              <a:t>ꢁ</a:t>
            </a:r>
            <a:r>
              <a:rPr sz="2200" spc="-16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200" spc="501" dirty="0">
                <a:solidFill>
                  <a:srgbClr val="000000"/>
                </a:solidFill>
                <a:latin typeface="FVRRNH+CambriaMath"/>
                <a:cs typeface="FVRRNH+CambriaMath"/>
              </a:rPr>
              <a:t>−ꢁ</a:t>
            </a:r>
            <a:r>
              <a:rPr sz="2200" spc="2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2200" spc="170" dirty="0">
                <a:solidFill>
                  <a:srgbClr val="000000"/>
                </a:solidFill>
                <a:latin typeface="FVRRNH+CambriaMath"/>
                <a:cs typeface="FVRRNH+CambriaMath"/>
              </a:rPr>
              <a:t>+1)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16945" y="3192626"/>
            <a:ext cx="223639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!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30459" y="3192626"/>
            <a:ext cx="912554" cy="313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"</a:t>
            </a:r>
            <a:r>
              <a:rPr sz="1600" spc="27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$</a:t>
            </a:r>
          </a:p>
          <a:p>
            <a:pPr marL="698161" marR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/>
                </a:solidFill>
                <a:latin typeface="JNNGHE+CambriaMath"/>
                <a:cs typeface="JNNGHE+CambriaMath"/>
              </a:rPr>
              <a:t>!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46766" y="3369410"/>
            <a:ext cx="598411" cy="310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32" dirty="0">
                <a:solidFill>
                  <a:srgbClr val="000000"/>
                </a:solidFill>
                <a:latin typeface="GAIMVB+CambriaMath"/>
                <a:cs typeface="GAIMVB+CambriaMath"/>
              </a:rPr>
              <a:t>"#$</a:t>
            </a:r>
            <a:r>
              <a:rPr sz="1950" baseline="-21000" dirty="0">
                <a:solidFill>
                  <a:srgbClr val="000000"/>
                </a:solidFill>
                <a:latin typeface="JNNGHE+CambriaMath"/>
                <a:cs typeface="JNNGHE+CambriaMath"/>
              </a:rPr>
              <a:t>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3039435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Computational</a:t>
            </a:r>
            <a:r>
              <a:rPr sz="2500" spc="-93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Graph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1842243"/>
            <a:ext cx="2417865" cy="625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Convolutional Network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(AlexNet)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3039435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Computational</a:t>
            </a:r>
            <a:r>
              <a:rPr sz="2500" spc="-93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Graph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5158" y="2012931"/>
            <a:ext cx="2396383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Neural Turing Machine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99698" y="3628371"/>
            <a:ext cx="1433241" cy="1384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FF0000"/>
                </a:solidFill>
                <a:latin typeface="OWEFSO+Calibri"/>
                <a:cs typeface="OWEFSO+Calibri"/>
              </a:rPr>
              <a:t>input tape</a:t>
            </a:r>
          </a:p>
          <a:p>
            <a:pPr marL="910032" marR="0">
              <a:lnSpc>
                <a:spcPts val="2320"/>
              </a:lnSpc>
              <a:spcBef>
                <a:spcPts val="5959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OWEFSO+Calibri"/>
                <a:cs typeface="OWEFSO+Calibri"/>
              </a:rPr>
              <a:t>loss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2502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Example</a:t>
            </a:r>
            <a:r>
              <a:rPr sz="2500" spc="-92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9400" y="2498035"/>
            <a:ext cx="2328463" cy="871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2" dirty="0">
                <a:solidFill>
                  <a:srgbClr val="000000"/>
                </a:solidFill>
                <a:latin typeface="RELFTG+CambriaMath"/>
                <a:cs typeface="RELFTG+CambriaMath"/>
              </a:rPr>
              <a:t>ꢂ,ꢌ,ꢍ</a:t>
            </a:r>
            <a:r>
              <a:rPr sz="19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1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ꢂ+ꢌ</a:t>
            </a:r>
            <a:r>
              <a:rPr sz="1900" spc="-7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ꢍ</a:t>
            </a:r>
          </a:p>
          <a:p>
            <a:pPr marL="29107" marR="0">
              <a:lnSpc>
                <a:spcPts val="2320"/>
              </a:lnSpc>
              <a:spcBef>
                <a:spcPts val="2065"/>
              </a:spcBef>
              <a:spcAft>
                <a:spcPts val="0"/>
              </a:spcAft>
            </a:pPr>
            <a:r>
              <a:rPr sz="1900" dirty="0">
                <a:solidFill>
                  <a:srgbClr val="92D050"/>
                </a:solidFill>
                <a:latin typeface="OWEFSO+Calibri"/>
                <a:cs typeface="OWEFSO+Calibri"/>
              </a:rPr>
              <a:t>e.g. x = -2, y = 5, z = -4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2502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Example</a:t>
            </a:r>
            <a:r>
              <a:rPr sz="2500" spc="-92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9400" y="2498035"/>
            <a:ext cx="2615756" cy="1519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2" dirty="0">
                <a:solidFill>
                  <a:srgbClr val="000000"/>
                </a:solidFill>
                <a:latin typeface="RELFTG+CambriaMath"/>
                <a:cs typeface="RELFTG+CambriaMath"/>
              </a:rPr>
              <a:t>ꢂ,ꢌ,ꢍ</a:t>
            </a:r>
            <a:r>
              <a:rPr sz="19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1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ꢂ+ꢌ</a:t>
            </a:r>
            <a:r>
              <a:rPr sz="1900" spc="-7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ꢍ</a:t>
            </a:r>
          </a:p>
          <a:p>
            <a:pPr marL="29107" marR="0">
              <a:lnSpc>
                <a:spcPts val="2320"/>
              </a:lnSpc>
              <a:spcBef>
                <a:spcPts val="2065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OWEFSO+Calibri"/>
                <a:cs typeface="OWEFSO+Calibri"/>
              </a:rPr>
              <a:t>e.g. x = -2, y = 5, z = -4</a:t>
            </a:r>
          </a:p>
          <a:p>
            <a:pPr marL="1390618" marR="0">
              <a:lnSpc>
                <a:spcPts val="2228"/>
              </a:lnSpc>
              <a:spcBef>
                <a:spcPts val="286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64523" y="3878778"/>
            <a:ext cx="3075716" cy="32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5" dirty="0">
                <a:solidFill>
                  <a:srgbClr val="000000"/>
                </a:solidFill>
                <a:latin typeface="RELFTG+CambriaMath"/>
                <a:cs typeface="RELFTG+CambriaMath"/>
              </a:rPr>
              <a:t>=ꢂ+ꢌ</a:t>
            </a:r>
            <a:r>
              <a:rPr sz="1900" spc="42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=1,</a:t>
            </a:r>
            <a:r>
              <a:rPr sz="1900" spc="1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60621" y="4040456"/>
            <a:ext cx="12286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ꢏꢂ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60470" y="4506667"/>
            <a:ext cx="12182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3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62813" y="4692595"/>
            <a:ext cx="85254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ꢀ=ꢎꢍ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02261" y="4689546"/>
            <a:ext cx="132784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86" dirty="0">
                <a:solidFill>
                  <a:srgbClr val="000000"/>
                </a:solidFill>
                <a:latin typeface="RELFTG+CambriaMath"/>
                <a:cs typeface="RELFTG+CambriaMath"/>
              </a:rPr>
              <a:t>=ꢍ,</a:t>
            </a:r>
            <a:r>
              <a:rPr sz="1900" spc="1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62230" y="4851225"/>
            <a:ext cx="121016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ꢏꢍ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82946" y="5301607"/>
            <a:ext cx="10573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2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1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72870" y="5384019"/>
            <a:ext cx="149722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Want:</a:t>
            </a:r>
            <a:r>
              <a:rPr sz="1900" spc="2463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,</a:t>
            </a:r>
            <a:r>
              <a:rPr sz="1900" spc="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383550" y="5563735"/>
            <a:ext cx="105084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400" spc="2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  <a:r>
              <a:rPr sz="1400" spc="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2502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Example</a:t>
            </a:r>
            <a:r>
              <a:rPr sz="2500" spc="-92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9400" y="2498035"/>
            <a:ext cx="2615756" cy="1519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2" dirty="0">
                <a:solidFill>
                  <a:srgbClr val="000000"/>
                </a:solidFill>
                <a:latin typeface="RELFTG+CambriaMath"/>
                <a:cs typeface="RELFTG+CambriaMath"/>
              </a:rPr>
              <a:t>ꢂ,ꢌ,ꢍ</a:t>
            </a:r>
            <a:r>
              <a:rPr sz="19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1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ꢂ+ꢌ</a:t>
            </a:r>
            <a:r>
              <a:rPr sz="1900" spc="-7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ꢍ</a:t>
            </a:r>
          </a:p>
          <a:p>
            <a:pPr marL="29107" marR="0">
              <a:lnSpc>
                <a:spcPts val="2320"/>
              </a:lnSpc>
              <a:spcBef>
                <a:spcPts val="2065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OWEFSO+Calibri"/>
                <a:cs typeface="OWEFSO+Calibri"/>
              </a:rPr>
              <a:t>e.g. x = -2, y = 5, z = -4</a:t>
            </a:r>
          </a:p>
          <a:p>
            <a:pPr marL="1390618" marR="0">
              <a:lnSpc>
                <a:spcPts val="2228"/>
              </a:lnSpc>
              <a:spcBef>
                <a:spcPts val="286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64523" y="3878778"/>
            <a:ext cx="3075716" cy="32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5" dirty="0">
                <a:solidFill>
                  <a:srgbClr val="000000"/>
                </a:solidFill>
                <a:latin typeface="RELFTG+CambriaMath"/>
                <a:cs typeface="RELFTG+CambriaMath"/>
              </a:rPr>
              <a:t>=ꢂ+ꢌ</a:t>
            </a:r>
            <a:r>
              <a:rPr sz="1900" spc="42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=1,</a:t>
            </a:r>
            <a:r>
              <a:rPr sz="1900" spc="1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60621" y="4040456"/>
            <a:ext cx="12286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ꢏꢂ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01285" y="4152511"/>
            <a:ext cx="369006" cy="50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60470" y="4506667"/>
            <a:ext cx="12182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3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62813" y="4692595"/>
            <a:ext cx="85254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ꢀ=ꢎꢍ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02261" y="4689546"/>
            <a:ext cx="132784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86" dirty="0">
                <a:solidFill>
                  <a:srgbClr val="000000"/>
                </a:solidFill>
                <a:latin typeface="RELFTG+CambriaMath"/>
                <a:cs typeface="RELFTG+CambriaMath"/>
              </a:rPr>
              <a:t>=ꢍ,</a:t>
            </a:r>
            <a:r>
              <a:rPr sz="1900" spc="1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962230" y="4851225"/>
            <a:ext cx="121016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ꢏꢍ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382946" y="5301607"/>
            <a:ext cx="10573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2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1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72870" y="5384019"/>
            <a:ext cx="149722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Want:</a:t>
            </a:r>
            <a:r>
              <a:rPr sz="1900" spc="2463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,</a:t>
            </a:r>
            <a:r>
              <a:rPr sz="1900" spc="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83550" y="5563735"/>
            <a:ext cx="105084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400" spc="2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  <a:r>
              <a:rPr sz="1400" spc="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2502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Example</a:t>
            </a:r>
            <a:r>
              <a:rPr sz="2500" spc="-92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9400" y="2498035"/>
            <a:ext cx="2615756" cy="1519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2" dirty="0">
                <a:solidFill>
                  <a:srgbClr val="000000"/>
                </a:solidFill>
                <a:latin typeface="RELFTG+CambriaMath"/>
                <a:cs typeface="RELFTG+CambriaMath"/>
              </a:rPr>
              <a:t>ꢂ,ꢌ,ꢍ</a:t>
            </a:r>
            <a:r>
              <a:rPr sz="19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1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ꢂ+ꢌ</a:t>
            </a:r>
            <a:r>
              <a:rPr sz="1900" spc="-7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ꢍ</a:t>
            </a:r>
          </a:p>
          <a:p>
            <a:pPr marL="29107" marR="0">
              <a:lnSpc>
                <a:spcPts val="2320"/>
              </a:lnSpc>
              <a:spcBef>
                <a:spcPts val="2065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OWEFSO+Calibri"/>
                <a:cs typeface="OWEFSO+Calibri"/>
              </a:rPr>
              <a:t>e.g. x = -2, y = 5, z = -4</a:t>
            </a:r>
          </a:p>
          <a:p>
            <a:pPr marL="1390618" marR="0">
              <a:lnSpc>
                <a:spcPts val="2228"/>
              </a:lnSpc>
              <a:spcBef>
                <a:spcPts val="286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88066" y="322862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576"/>
                </a:solidFill>
                <a:latin typeface="TMJLKS+Calibri"/>
                <a:cs typeface="TMJLKS+Calibri"/>
              </a:rPr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64523" y="3878778"/>
            <a:ext cx="3075716" cy="32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5" dirty="0">
                <a:solidFill>
                  <a:srgbClr val="000000"/>
                </a:solidFill>
                <a:latin typeface="RELFTG+CambriaMath"/>
                <a:cs typeface="RELFTG+CambriaMath"/>
              </a:rPr>
              <a:t>=ꢂ+ꢌ</a:t>
            </a:r>
            <a:r>
              <a:rPr sz="1900" spc="42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=1,</a:t>
            </a:r>
            <a:r>
              <a:rPr sz="1900" spc="1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60621" y="4040456"/>
            <a:ext cx="12286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ꢏꢂ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01285" y="4152511"/>
            <a:ext cx="369006" cy="50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60470" y="4506667"/>
            <a:ext cx="12182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3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62813" y="4692595"/>
            <a:ext cx="85254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ꢀ=ꢎꢍ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02261" y="4689546"/>
            <a:ext cx="132784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86" dirty="0">
                <a:solidFill>
                  <a:srgbClr val="000000"/>
                </a:solidFill>
                <a:latin typeface="RELFTG+CambriaMath"/>
                <a:cs typeface="RELFTG+CambriaMath"/>
              </a:rPr>
              <a:t>=ꢍ,</a:t>
            </a:r>
            <a:r>
              <a:rPr sz="1900" spc="1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62230" y="4851225"/>
            <a:ext cx="121016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ꢏꢍ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382946" y="5301607"/>
            <a:ext cx="10573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2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1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72870" y="5384019"/>
            <a:ext cx="149722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Want:</a:t>
            </a:r>
            <a:r>
              <a:rPr sz="1900" spc="2463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,</a:t>
            </a:r>
            <a:r>
              <a:rPr sz="1900" spc="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383550" y="5563735"/>
            <a:ext cx="105084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400" spc="2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  <a:r>
              <a:rPr sz="1400" spc="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2502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Example</a:t>
            </a:r>
            <a:r>
              <a:rPr sz="2500" spc="-92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9400" y="2498035"/>
            <a:ext cx="2615756" cy="1519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2" dirty="0">
                <a:solidFill>
                  <a:srgbClr val="000000"/>
                </a:solidFill>
                <a:latin typeface="RELFTG+CambriaMath"/>
                <a:cs typeface="RELFTG+CambriaMath"/>
              </a:rPr>
              <a:t>ꢂ,ꢌ,ꢍ</a:t>
            </a:r>
            <a:r>
              <a:rPr sz="19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1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ꢂ+ꢌ</a:t>
            </a:r>
            <a:r>
              <a:rPr sz="1900" spc="-7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ꢍ</a:t>
            </a:r>
          </a:p>
          <a:p>
            <a:pPr marL="29107" marR="0">
              <a:lnSpc>
                <a:spcPts val="2320"/>
              </a:lnSpc>
              <a:spcBef>
                <a:spcPts val="2065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OWEFSO+Calibri"/>
                <a:cs typeface="OWEFSO+Calibri"/>
              </a:rPr>
              <a:t>e.g. x = -2, y = 5, z = -4</a:t>
            </a:r>
          </a:p>
          <a:p>
            <a:pPr marL="1390618" marR="0">
              <a:lnSpc>
                <a:spcPts val="2228"/>
              </a:lnSpc>
              <a:spcBef>
                <a:spcPts val="286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88066" y="322862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64523" y="3878778"/>
            <a:ext cx="3075716" cy="32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5" dirty="0">
                <a:solidFill>
                  <a:srgbClr val="000000"/>
                </a:solidFill>
                <a:latin typeface="RELFTG+CambriaMath"/>
                <a:cs typeface="RELFTG+CambriaMath"/>
              </a:rPr>
              <a:t>=ꢂ+ꢌ</a:t>
            </a:r>
            <a:r>
              <a:rPr sz="1900" spc="42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=1,</a:t>
            </a:r>
            <a:r>
              <a:rPr sz="1900" spc="1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60621" y="4040456"/>
            <a:ext cx="12286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ꢏꢂ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01285" y="4152511"/>
            <a:ext cx="369006" cy="50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  <a:p>
            <a:pPr marL="6687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60470" y="4506667"/>
            <a:ext cx="12182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3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62813" y="4692595"/>
            <a:ext cx="85254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ꢀ=ꢎꢍ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02261" y="4689546"/>
            <a:ext cx="132784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86" dirty="0">
                <a:solidFill>
                  <a:srgbClr val="000000"/>
                </a:solidFill>
                <a:latin typeface="RELFTG+CambriaMath"/>
                <a:cs typeface="RELFTG+CambriaMath"/>
              </a:rPr>
              <a:t>=ꢍ,</a:t>
            </a:r>
            <a:r>
              <a:rPr sz="1900" spc="1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62230" y="4851225"/>
            <a:ext cx="121016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ꢏꢍ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382946" y="5301607"/>
            <a:ext cx="10573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2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1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72870" y="5384019"/>
            <a:ext cx="149722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Want:</a:t>
            </a:r>
            <a:r>
              <a:rPr sz="1900" spc="2463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,</a:t>
            </a:r>
            <a:r>
              <a:rPr sz="1900" spc="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383550" y="5563735"/>
            <a:ext cx="105084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400" spc="2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  <a:r>
              <a:rPr sz="1400" spc="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2502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Example</a:t>
            </a:r>
            <a:r>
              <a:rPr sz="2500" spc="-92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9400" y="2498035"/>
            <a:ext cx="2615756" cy="1519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2" dirty="0">
                <a:solidFill>
                  <a:srgbClr val="000000"/>
                </a:solidFill>
                <a:latin typeface="RELFTG+CambriaMath"/>
                <a:cs typeface="RELFTG+CambriaMath"/>
              </a:rPr>
              <a:t>ꢂ,ꢌ,ꢍ</a:t>
            </a:r>
            <a:r>
              <a:rPr sz="19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1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ꢂ+ꢌ</a:t>
            </a:r>
            <a:r>
              <a:rPr sz="1900" spc="-7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ꢍ</a:t>
            </a:r>
          </a:p>
          <a:p>
            <a:pPr marL="29107" marR="0">
              <a:lnSpc>
                <a:spcPts val="2320"/>
              </a:lnSpc>
              <a:spcBef>
                <a:spcPts val="2065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OWEFSO+Calibri"/>
                <a:cs typeface="OWEFSO+Calibri"/>
              </a:rPr>
              <a:t>e.g. x = -2, y = 5, z = -4</a:t>
            </a:r>
          </a:p>
          <a:p>
            <a:pPr marL="1390618" marR="0">
              <a:lnSpc>
                <a:spcPts val="2228"/>
              </a:lnSpc>
              <a:spcBef>
                <a:spcPts val="286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88066" y="322862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26803" y="371630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3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64523" y="3878778"/>
            <a:ext cx="3075716" cy="32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5" dirty="0">
                <a:solidFill>
                  <a:srgbClr val="000000"/>
                </a:solidFill>
                <a:latin typeface="RELFTG+CambriaMath"/>
                <a:cs typeface="RELFTG+CambriaMath"/>
              </a:rPr>
              <a:t>=ꢂ+ꢌ</a:t>
            </a:r>
            <a:r>
              <a:rPr sz="1900" spc="42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=1,</a:t>
            </a:r>
            <a:r>
              <a:rPr sz="1900" spc="1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60621" y="4040456"/>
            <a:ext cx="12286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ꢏꢂ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01285" y="4152511"/>
            <a:ext cx="369006" cy="50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  <a:p>
            <a:pPr marL="6687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60470" y="4506667"/>
            <a:ext cx="12182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3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62813" y="4692595"/>
            <a:ext cx="85254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ꢀ=ꢎꢍ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02261" y="4689546"/>
            <a:ext cx="132784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86" dirty="0">
                <a:solidFill>
                  <a:srgbClr val="000000"/>
                </a:solidFill>
                <a:latin typeface="RELFTG+CambriaMath"/>
                <a:cs typeface="RELFTG+CambriaMath"/>
              </a:rPr>
              <a:t>=ꢍ,</a:t>
            </a:r>
            <a:r>
              <a:rPr sz="1900" spc="1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62230" y="4851225"/>
            <a:ext cx="121016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ꢏꢍ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82946" y="5301607"/>
            <a:ext cx="10573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2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1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72870" y="5384019"/>
            <a:ext cx="149722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Want:</a:t>
            </a:r>
            <a:r>
              <a:rPr sz="1900" spc="2463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,</a:t>
            </a:r>
            <a:r>
              <a:rPr sz="1900" spc="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383550" y="5563735"/>
            <a:ext cx="105084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400" spc="2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  <a:r>
              <a:rPr sz="1400" spc="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2502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Example</a:t>
            </a:r>
            <a:r>
              <a:rPr sz="2500" spc="-92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9400" y="2498035"/>
            <a:ext cx="2615756" cy="1519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2" dirty="0">
                <a:solidFill>
                  <a:srgbClr val="000000"/>
                </a:solidFill>
                <a:latin typeface="RELFTG+CambriaMath"/>
                <a:cs typeface="RELFTG+CambriaMath"/>
              </a:rPr>
              <a:t>ꢂ,ꢌ,ꢍ</a:t>
            </a:r>
            <a:r>
              <a:rPr sz="19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1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ꢂ+ꢌ</a:t>
            </a:r>
            <a:r>
              <a:rPr sz="1900" spc="-7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ꢍ</a:t>
            </a:r>
          </a:p>
          <a:p>
            <a:pPr marL="29107" marR="0">
              <a:lnSpc>
                <a:spcPts val="2320"/>
              </a:lnSpc>
              <a:spcBef>
                <a:spcPts val="2065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OWEFSO+Calibri"/>
                <a:cs typeface="OWEFSO+Calibri"/>
              </a:rPr>
              <a:t>e.g. x = -2, y = 5, z = -4</a:t>
            </a:r>
          </a:p>
          <a:p>
            <a:pPr marL="1390618" marR="0">
              <a:lnSpc>
                <a:spcPts val="2228"/>
              </a:lnSpc>
              <a:spcBef>
                <a:spcPts val="286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88066" y="322862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26803" y="371630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3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64523" y="3878778"/>
            <a:ext cx="3075716" cy="32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5" dirty="0">
                <a:solidFill>
                  <a:srgbClr val="000000"/>
                </a:solidFill>
                <a:latin typeface="RELFTG+CambriaMath"/>
                <a:cs typeface="RELFTG+CambriaMath"/>
              </a:rPr>
              <a:t>=ꢂ+ꢌ</a:t>
            </a:r>
            <a:r>
              <a:rPr sz="1900" spc="42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=1,</a:t>
            </a:r>
            <a:r>
              <a:rPr sz="1900" spc="1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60621" y="4040456"/>
            <a:ext cx="12286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ꢏꢂ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01285" y="4152511"/>
            <a:ext cx="369006" cy="50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1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60470" y="4506667"/>
            <a:ext cx="12182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3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62813" y="4692595"/>
            <a:ext cx="85254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ꢀ=ꢎꢍ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02261" y="4689546"/>
            <a:ext cx="132784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86" dirty="0">
                <a:solidFill>
                  <a:srgbClr val="000000"/>
                </a:solidFill>
                <a:latin typeface="RELFTG+CambriaMath"/>
                <a:cs typeface="RELFTG+CambriaMath"/>
              </a:rPr>
              <a:t>=ꢍ,</a:t>
            </a:r>
            <a:r>
              <a:rPr sz="1900" spc="1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62230" y="4851225"/>
            <a:ext cx="121016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ꢏꢍ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82946" y="5301607"/>
            <a:ext cx="10573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2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1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72870" y="5384019"/>
            <a:ext cx="149722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Want:</a:t>
            </a:r>
            <a:r>
              <a:rPr sz="1900" spc="2463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,</a:t>
            </a:r>
            <a:r>
              <a:rPr sz="1900" spc="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383550" y="5563735"/>
            <a:ext cx="105084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400" spc="2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  <a:r>
              <a:rPr sz="1400" spc="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2502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Example</a:t>
            </a:r>
            <a:r>
              <a:rPr sz="2500" spc="-92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9400" y="2498035"/>
            <a:ext cx="2615756" cy="1519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2" dirty="0">
                <a:solidFill>
                  <a:srgbClr val="000000"/>
                </a:solidFill>
                <a:latin typeface="RELFTG+CambriaMath"/>
                <a:cs typeface="RELFTG+CambriaMath"/>
              </a:rPr>
              <a:t>ꢂ,ꢌ,ꢍ</a:t>
            </a:r>
            <a:r>
              <a:rPr sz="19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1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ꢂ+ꢌ</a:t>
            </a:r>
            <a:r>
              <a:rPr sz="1900" spc="-7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ꢍ</a:t>
            </a:r>
          </a:p>
          <a:p>
            <a:pPr marL="29107" marR="0">
              <a:lnSpc>
                <a:spcPts val="2320"/>
              </a:lnSpc>
              <a:spcBef>
                <a:spcPts val="2065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OWEFSO+Calibri"/>
                <a:cs typeface="OWEFSO+Calibri"/>
              </a:rPr>
              <a:t>e.g. x = -2, y = 5, z = -4</a:t>
            </a:r>
          </a:p>
          <a:p>
            <a:pPr marL="1390618" marR="0">
              <a:lnSpc>
                <a:spcPts val="2228"/>
              </a:lnSpc>
              <a:spcBef>
                <a:spcPts val="286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11665" y="2698268"/>
            <a:ext cx="297813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-4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88066" y="322862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26803" y="371630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64523" y="3878778"/>
            <a:ext cx="3075716" cy="32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5" dirty="0">
                <a:solidFill>
                  <a:srgbClr val="000000"/>
                </a:solidFill>
                <a:latin typeface="RELFTG+CambriaMath"/>
                <a:cs typeface="RELFTG+CambriaMath"/>
              </a:rPr>
              <a:t>=ꢂ+ꢌ</a:t>
            </a:r>
            <a:r>
              <a:rPr sz="1900" spc="42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=1,</a:t>
            </a:r>
            <a:r>
              <a:rPr sz="1900" spc="1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60621" y="4040456"/>
            <a:ext cx="12286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ꢏꢂ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01285" y="4152511"/>
            <a:ext cx="369006" cy="50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1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960470" y="4506667"/>
            <a:ext cx="12182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3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62813" y="4692595"/>
            <a:ext cx="85254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ꢀ=ꢎꢍ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302261" y="4689546"/>
            <a:ext cx="132784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86" dirty="0">
                <a:solidFill>
                  <a:srgbClr val="000000"/>
                </a:solidFill>
                <a:latin typeface="RELFTG+CambriaMath"/>
                <a:cs typeface="RELFTG+CambriaMath"/>
              </a:rPr>
              <a:t>=ꢍ,</a:t>
            </a:r>
            <a:r>
              <a:rPr sz="1900" spc="1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62230" y="4851225"/>
            <a:ext cx="121016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ꢏꢍ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382946" y="5301607"/>
            <a:ext cx="10573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2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1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72870" y="5384019"/>
            <a:ext cx="149722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Want:</a:t>
            </a:r>
            <a:r>
              <a:rPr sz="1900" spc="2463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,</a:t>
            </a:r>
            <a:r>
              <a:rPr sz="1900" spc="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383550" y="5563735"/>
            <a:ext cx="105084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400" spc="2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  <a:r>
              <a:rPr sz="1400" spc="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2502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Example</a:t>
            </a:r>
            <a:r>
              <a:rPr sz="2500" spc="-92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9400" y="2498035"/>
            <a:ext cx="2615756" cy="1519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2" dirty="0">
                <a:solidFill>
                  <a:srgbClr val="000000"/>
                </a:solidFill>
                <a:latin typeface="RELFTG+CambriaMath"/>
                <a:cs typeface="RELFTG+CambriaMath"/>
              </a:rPr>
              <a:t>ꢂ,ꢌ,ꢍ</a:t>
            </a:r>
            <a:r>
              <a:rPr sz="19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1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ꢂ+ꢌ</a:t>
            </a:r>
            <a:r>
              <a:rPr sz="1900" spc="-7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ꢍ</a:t>
            </a:r>
          </a:p>
          <a:p>
            <a:pPr marL="29107" marR="0">
              <a:lnSpc>
                <a:spcPts val="2320"/>
              </a:lnSpc>
              <a:spcBef>
                <a:spcPts val="2065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OWEFSO+Calibri"/>
                <a:cs typeface="OWEFSO+Calibri"/>
              </a:rPr>
              <a:t>e.g. x = -2, y = 5, z = -4</a:t>
            </a:r>
          </a:p>
          <a:p>
            <a:pPr marL="1390618" marR="0">
              <a:lnSpc>
                <a:spcPts val="2228"/>
              </a:lnSpc>
              <a:spcBef>
                <a:spcPts val="286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11665" y="2698268"/>
            <a:ext cx="297813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-4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88066" y="322862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26803" y="371630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64523" y="3878778"/>
            <a:ext cx="3075716" cy="32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5" dirty="0">
                <a:solidFill>
                  <a:srgbClr val="000000"/>
                </a:solidFill>
                <a:latin typeface="RELFTG+CambriaMath"/>
                <a:cs typeface="RELFTG+CambriaMath"/>
              </a:rPr>
              <a:t>=ꢂ+ꢌ</a:t>
            </a:r>
            <a:r>
              <a:rPr sz="1900" spc="42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=1,</a:t>
            </a:r>
            <a:r>
              <a:rPr sz="1900" spc="1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60621" y="4040456"/>
            <a:ext cx="12286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ꢏꢂ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01285" y="4152511"/>
            <a:ext cx="374910" cy="50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16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960470" y="4506667"/>
            <a:ext cx="12182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3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62813" y="4692595"/>
            <a:ext cx="85254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ꢀ=ꢎꢍ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302261" y="4689546"/>
            <a:ext cx="132784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86" dirty="0">
                <a:solidFill>
                  <a:srgbClr val="000000"/>
                </a:solidFill>
                <a:latin typeface="RELFTG+CambriaMath"/>
                <a:cs typeface="RELFTG+CambriaMath"/>
              </a:rPr>
              <a:t>=ꢍ,</a:t>
            </a:r>
            <a:r>
              <a:rPr sz="1900" spc="1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62230" y="4851225"/>
            <a:ext cx="121016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ꢏꢍ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382946" y="5301607"/>
            <a:ext cx="10573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2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1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72870" y="5384019"/>
            <a:ext cx="149722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Want:</a:t>
            </a:r>
            <a:r>
              <a:rPr sz="1900" spc="2463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,</a:t>
            </a:r>
            <a:r>
              <a:rPr sz="1900" spc="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383550" y="5563735"/>
            <a:ext cx="105084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400" spc="2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  <a:r>
              <a:rPr sz="1400" spc="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2502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Example</a:t>
            </a:r>
            <a:r>
              <a:rPr sz="2500" spc="-92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9400" y="2498035"/>
            <a:ext cx="2258260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2" dirty="0">
                <a:solidFill>
                  <a:srgbClr val="000000"/>
                </a:solidFill>
                <a:latin typeface="RELFTG+CambriaMath"/>
                <a:cs typeface="RELFTG+CambriaMath"/>
              </a:rPr>
              <a:t>ꢂ,ꢌ,ꢍ</a:t>
            </a:r>
            <a:r>
              <a:rPr sz="19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1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ꢂ+ꢌ</a:t>
            </a:r>
            <a:r>
              <a:rPr sz="1900" spc="-7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ꢍ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11665" y="2718799"/>
            <a:ext cx="311608" cy="236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QWVES+ArialMT"/>
                <a:cs typeface="TQWVES+ArialMT"/>
              </a:rPr>
              <a:t>-4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98507" y="3048377"/>
            <a:ext cx="2635503" cy="307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TNCUHI+ArialMT"/>
                <a:cs typeface="TNCUHI+ArialMT"/>
              </a:rPr>
              <a:t>e.g. x = -2, y = 5, z = -4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87114" y="3057127"/>
            <a:ext cx="311608" cy="236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QWVES+ArialMT"/>
                <a:cs typeface="TQWVES+ArialMT"/>
              </a:rPr>
              <a:t>-4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88066" y="3249151"/>
            <a:ext cx="251283" cy="236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QWVES+ArialMT"/>
                <a:cs typeface="TQWVES+ArialMT"/>
              </a:rPr>
              <a:t>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60018" y="3695898"/>
            <a:ext cx="122513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26803" y="3739879"/>
            <a:ext cx="251283" cy="236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QWVES+ArialMT"/>
                <a:cs typeface="TQWVES+ArialMT"/>
              </a:rPr>
              <a:t>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64523" y="3878778"/>
            <a:ext cx="3075716" cy="32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5" dirty="0">
                <a:solidFill>
                  <a:srgbClr val="000000"/>
                </a:solidFill>
                <a:latin typeface="RELFTG+CambriaMath"/>
                <a:cs typeface="RELFTG+CambriaMath"/>
              </a:rPr>
              <a:t>=ꢂ+ꢌ</a:t>
            </a:r>
            <a:r>
              <a:rPr sz="1900" spc="42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=1,</a:t>
            </a:r>
            <a:r>
              <a:rPr sz="1900" spc="1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60621" y="4040456"/>
            <a:ext cx="12286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ꢏꢂ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301285" y="4152511"/>
            <a:ext cx="374910" cy="50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16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60470" y="4506667"/>
            <a:ext cx="12182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3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085064" y="4573251"/>
            <a:ext cx="12111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8AAA41"/>
                </a:solidFill>
                <a:latin typeface="OWEFSO+Calibri"/>
                <a:cs typeface="OWEFSO+Calibri"/>
              </a:rPr>
              <a:t>Chain rule: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62813" y="4692595"/>
            <a:ext cx="85254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ꢀ=ꢎꢍ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302261" y="4689546"/>
            <a:ext cx="132784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86" dirty="0">
                <a:solidFill>
                  <a:srgbClr val="000000"/>
                </a:solidFill>
                <a:latin typeface="RELFTG+CambriaMath"/>
                <a:cs typeface="RELFTG+CambriaMath"/>
              </a:rPr>
              <a:t>=ꢍ,</a:t>
            </a:r>
            <a:r>
              <a:rPr sz="1900" spc="1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962230" y="4851225"/>
            <a:ext cx="121016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ꢏꢍ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051482" y="4899859"/>
            <a:ext cx="132125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1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-7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393274" y="5085787"/>
            <a:ext cx="33266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052337" y="5247465"/>
            <a:ext cx="132456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  <a:r>
              <a:rPr sz="1900" spc="13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-7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35730" y="5301607"/>
            <a:ext cx="107620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2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26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72870" y="5384490"/>
            <a:ext cx="155684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NCUHI+ArialMT"/>
                <a:cs typeface="TNCUHI+ArialMT"/>
              </a:rPr>
              <a:t>Want:</a:t>
            </a:r>
            <a:r>
              <a:rPr sz="1900" spc="2563" dirty="0">
                <a:solidFill>
                  <a:srgbClr val="000000"/>
                </a:solidFill>
                <a:latin typeface="TNCUHI+ArialMT"/>
                <a:cs typeface="TNCUHI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,</a:t>
            </a:r>
            <a:r>
              <a:rPr sz="1900" spc="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NCUHI+ArialMT"/>
                <a:cs typeface="TNCUHI+ArialMT"/>
              </a:rPr>
              <a:t>,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36333" y="5563735"/>
            <a:ext cx="106969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400" spc="2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  <a:r>
              <a:rPr sz="1400" spc="2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2502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Example</a:t>
            </a:r>
            <a:r>
              <a:rPr sz="2500" spc="-92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9400" y="2498035"/>
            <a:ext cx="2615756" cy="1519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2" dirty="0">
                <a:solidFill>
                  <a:srgbClr val="000000"/>
                </a:solidFill>
                <a:latin typeface="RELFTG+CambriaMath"/>
                <a:cs typeface="RELFTG+CambriaMath"/>
              </a:rPr>
              <a:t>ꢂ,ꢌ,ꢍ</a:t>
            </a:r>
            <a:r>
              <a:rPr sz="19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1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ꢂ+ꢌ</a:t>
            </a:r>
            <a:r>
              <a:rPr sz="1900" spc="-7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ꢍ</a:t>
            </a:r>
          </a:p>
          <a:p>
            <a:pPr marL="29107" marR="0">
              <a:lnSpc>
                <a:spcPts val="2320"/>
              </a:lnSpc>
              <a:spcBef>
                <a:spcPts val="2065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OWEFSO+Calibri"/>
                <a:cs typeface="OWEFSO+Calibri"/>
              </a:rPr>
              <a:t>e.g. x = -2, y = 5, z = -4</a:t>
            </a:r>
          </a:p>
          <a:p>
            <a:pPr marL="1390618" marR="0">
              <a:lnSpc>
                <a:spcPts val="2228"/>
              </a:lnSpc>
              <a:spcBef>
                <a:spcPts val="286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11665" y="2698268"/>
            <a:ext cx="297813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-4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87114" y="3033548"/>
            <a:ext cx="297812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-4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88066" y="322862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26803" y="371630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64523" y="3878778"/>
            <a:ext cx="3075716" cy="32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5" dirty="0">
                <a:solidFill>
                  <a:srgbClr val="000000"/>
                </a:solidFill>
                <a:latin typeface="RELFTG+CambriaMath"/>
                <a:cs typeface="RELFTG+CambriaMath"/>
              </a:rPr>
              <a:t>=ꢂ+ꢌ</a:t>
            </a:r>
            <a:r>
              <a:rPr sz="1900" spc="42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=1,</a:t>
            </a:r>
            <a:r>
              <a:rPr sz="1900" spc="1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60621" y="4040456"/>
            <a:ext cx="12286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ꢏꢂ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01285" y="4152511"/>
            <a:ext cx="369006" cy="50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  <a:p>
            <a:pPr marL="603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60470" y="4506667"/>
            <a:ext cx="12182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3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62813" y="4692595"/>
            <a:ext cx="85254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ꢀ=ꢎꢍ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302261" y="4689546"/>
            <a:ext cx="132784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86" dirty="0">
                <a:solidFill>
                  <a:srgbClr val="000000"/>
                </a:solidFill>
                <a:latin typeface="RELFTG+CambriaMath"/>
                <a:cs typeface="RELFTG+CambriaMath"/>
              </a:rPr>
              <a:t>=ꢍ,</a:t>
            </a:r>
            <a:r>
              <a:rPr sz="1900" spc="1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62230" y="4851225"/>
            <a:ext cx="121016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ꢏꢍ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382946" y="5301607"/>
            <a:ext cx="10573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2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1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672870" y="5384019"/>
            <a:ext cx="149722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Want:</a:t>
            </a:r>
            <a:r>
              <a:rPr sz="1900" spc="2463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,</a:t>
            </a:r>
            <a:r>
              <a:rPr sz="1900" spc="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383550" y="5563735"/>
            <a:ext cx="105084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400" spc="2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  <a:r>
              <a:rPr sz="1400" spc="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5541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25027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Example</a:t>
            </a:r>
            <a:r>
              <a:rPr sz="2500" spc="-924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54183" y="2405660"/>
            <a:ext cx="330743" cy="883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-4</a:t>
            </a:r>
          </a:p>
          <a:p>
            <a:pPr marL="32930" marR="0">
              <a:lnSpc>
                <a:spcPts val="1709"/>
              </a:lnSpc>
              <a:spcBef>
                <a:spcPts val="3284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-4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69400" y="2498035"/>
            <a:ext cx="2615756" cy="1519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2" dirty="0">
                <a:solidFill>
                  <a:srgbClr val="000000"/>
                </a:solidFill>
                <a:latin typeface="RELFTG+CambriaMath"/>
                <a:cs typeface="RELFTG+CambriaMath"/>
              </a:rPr>
              <a:t>ꢂ,ꢌ,ꢍ</a:t>
            </a:r>
            <a:r>
              <a:rPr sz="1900" spc="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1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48" dirty="0">
                <a:solidFill>
                  <a:srgbClr val="000000"/>
                </a:solidFill>
                <a:latin typeface="RELFTG+CambriaMath"/>
                <a:cs typeface="RELFTG+CambriaMath"/>
              </a:rPr>
              <a:t>ꢂ+ꢌ</a:t>
            </a:r>
            <a:r>
              <a:rPr sz="1900" spc="-7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ꢍ</a:t>
            </a:r>
          </a:p>
          <a:p>
            <a:pPr marL="29107" marR="0">
              <a:lnSpc>
                <a:spcPts val="2320"/>
              </a:lnSpc>
              <a:spcBef>
                <a:spcPts val="2065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OWEFSO+Calibri"/>
                <a:cs typeface="OWEFSO+Calibri"/>
              </a:rPr>
              <a:t>e.g. x = -2, y = 5, z = -4</a:t>
            </a:r>
          </a:p>
          <a:p>
            <a:pPr marL="1390618" marR="0">
              <a:lnSpc>
                <a:spcPts val="2228"/>
              </a:lnSpc>
              <a:spcBef>
                <a:spcPts val="286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11665" y="2698268"/>
            <a:ext cx="297813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-4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88066" y="322862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26803" y="3716300"/>
            <a:ext cx="242515" cy="25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D07476"/>
                </a:solidFill>
                <a:latin typeface="TMJLKS+Calibri"/>
                <a:cs typeface="TMJLKS+Calibri"/>
              </a:rPr>
              <a:t>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64523" y="3878778"/>
            <a:ext cx="3075716" cy="32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5" dirty="0">
                <a:solidFill>
                  <a:srgbClr val="000000"/>
                </a:solidFill>
                <a:latin typeface="RELFTG+CambriaMath"/>
                <a:cs typeface="RELFTG+CambriaMath"/>
              </a:rPr>
              <a:t>=ꢂ+ꢌ</a:t>
            </a:r>
            <a:r>
              <a:rPr sz="1900" spc="42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=1,</a:t>
            </a:r>
            <a:r>
              <a:rPr sz="1900" spc="16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60621" y="4040456"/>
            <a:ext cx="12286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ꢏꢂ</a:t>
            </a:r>
            <a:r>
              <a:rPr sz="1900" spc="31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01285" y="4152511"/>
            <a:ext cx="369006" cy="50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  <a:p>
            <a:pPr marL="603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60470" y="4506667"/>
            <a:ext cx="121829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30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051482" y="4573251"/>
            <a:ext cx="1321257" cy="647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581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8AAA41"/>
                </a:solidFill>
                <a:latin typeface="OWEFSO+Calibri"/>
                <a:cs typeface="OWEFSO+Calibri"/>
              </a:rPr>
              <a:t>Chain rule:</a:t>
            </a:r>
          </a:p>
          <a:p>
            <a:pPr marL="0" marR="0">
              <a:lnSpc>
                <a:spcPts val="2228"/>
              </a:lnSpc>
              <a:spcBef>
                <a:spcPts val="251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1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  <a:r>
              <a:rPr sz="1900" spc="-7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62813" y="4692595"/>
            <a:ext cx="85254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ꢀ=ꢎꢍ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302261" y="4689546"/>
            <a:ext cx="1327841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86" dirty="0">
                <a:solidFill>
                  <a:srgbClr val="000000"/>
                </a:solidFill>
                <a:latin typeface="RELFTG+CambriaMath"/>
                <a:cs typeface="RELFTG+CambriaMath"/>
              </a:rPr>
              <a:t>=ꢍ,</a:t>
            </a:r>
            <a:r>
              <a:rPr sz="1900" spc="1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62230" y="4851225"/>
            <a:ext cx="1210165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31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ꢏꢍ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93274" y="5085787"/>
            <a:ext cx="332668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052337" y="5247465"/>
            <a:ext cx="132456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  <a:r>
              <a:rPr sz="1900" spc="13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1900" spc="-7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ꢏꢌ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382946" y="5301607"/>
            <a:ext cx="10573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2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  <a:r>
              <a:rPr sz="1400" spc="11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/0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672870" y="5384019"/>
            <a:ext cx="149722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Want:</a:t>
            </a:r>
            <a:r>
              <a:rPr sz="1900" spc="2463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,</a:t>
            </a:r>
            <a:r>
              <a:rPr sz="1900" spc="9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383550" y="5563735"/>
            <a:ext cx="105084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400" spc="2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  <a:r>
              <a:rPr sz="1400" spc="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07466" y="2156306"/>
            <a:ext cx="26054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ꢁ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98145" y="3482186"/>
            <a:ext cx="250626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ꢀ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0992" y="4607251"/>
            <a:ext cx="28742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07466" y="2156306"/>
            <a:ext cx="26054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ꢁ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40328" y="2750269"/>
            <a:ext cx="143488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“local gradient”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06429" y="3235063"/>
            <a:ext cx="367357" cy="508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83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98145" y="3482186"/>
            <a:ext cx="250626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ꢀ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06429" y="4213471"/>
            <a:ext cx="374910" cy="508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02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90992" y="4607251"/>
            <a:ext cx="28742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07466" y="2156306"/>
            <a:ext cx="26054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ꢁ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40328" y="2750269"/>
            <a:ext cx="143488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“local gradient”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06429" y="3235063"/>
            <a:ext cx="367357" cy="508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83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98145" y="3482186"/>
            <a:ext cx="250626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ꢀ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06429" y="4213471"/>
            <a:ext cx="374910" cy="508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02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20122" y="4213471"/>
            <a:ext cx="359543" cy="508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/3</a:t>
            </a:r>
          </a:p>
          <a:p>
            <a:pPr marL="2312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90992" y="4607251"/>
            <a:ext cx="28742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ꢌ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61051" y="4880821"/>
            <a:ext cx="925016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gradients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07466" y="2156306"/>
            <a:ext cx="26054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ꢁ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40328" y="2750269"/>
            <a:ext cx="143488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“local gradient”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06429" y="3235063"/>
            <a:ext cx="367357" cy="508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83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98145" y="3482186"/>
            <a:ext cx="250626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ꢀ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06429" y="4213471"/>
            <a:ext cx="374910" cy="508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02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20122" y="4213471"/>
            <a:ext cx="359543" cy="508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/3</a:t>
            </a:r>
          </a:p>
          <a:p>
            <a:pPr marL="2312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90992" y="4607251"/>
            <a:ext cx="28742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ꢌ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61051" y="4883869"/>
            <a:ext cx="925016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gradients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07466" y="2156306"/>
            <a:ext cx="26054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ꢁ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40328" y="2750269"/>
            <a:ext cx="1434887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“local gradient”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06429" y="3235063"/>
            <a:ext cx="367357" cy="508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83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98145" y="3482186"/>
            <a:ext cx="250626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ꢀ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06429" y="4213471"/>
            <a:ext cx="374910" cy="508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02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  <a:p>
            <a:pPr marL="0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20122" y="4213471"/>
            <a:ext cx="359543" cy="508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/3</a:t>
            </a:r>
          </a:p>
          <a:p>
            <a:pPr marL="2312" marR="0">
              <a:lnSpc>
                <a:spcPts val="1642"/>
              </a:lnSpc>
              <a:spcBef>
                <a:spcPts val="47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90992" y="4607251"/>
            <a:ext cx="28742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ꢌ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61051" y="4893013"/>
            <a:ext cx="925016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gradients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314683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116563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131803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076939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076939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055603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147043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043411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049507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192763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162283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019027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503400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Chain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2" dirty="0">
                <a:solidFill>
                  <a:srgbClr val="001F5F"/>
                </a:solidFill>
                <a:latin typeface="WNNLQR+Calibri-Bold"/>
                <a:cs typeface="WNNLQR+Calibri-Bold"/>
              </a:rPr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9590" y="2177523"/>
            <a:ext cx="191282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Another example: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219715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Sigmoid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1219715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Sigmoid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3518858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Pattern</a:t>
            </a:r>
            <a:r>
              <a:rPr sz="2500" spc="-927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in</a:t>
            </a:r>
            <a:r>
              <a:rPr sz="2500" spc="-922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backward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flow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50490" y="2110467"/>
            <a:ext cx="2705798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Patterns in backward flow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4823" y="2784075"/>
            <a:ext cx="3052415" cy="704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BIAUIP+Calibri-Bold"/>
                <a:cs typeface="BIAUIP+Calibri-Bold"/>
              </a:rPr>
              <a:t>add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gate: gradient distributor</a:t>
            </a:r>
          </a:p>
          <a:p>
            <a:pPr marL="0" marR="0">
              <a:lnSpc>
                <a:spcPts val="2320"/>
              </a:lnSpc>
              <a:spcBef>
                <a:spcPts val="60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BIAUIP+Calibri-Bold"/>
                <a:cs typeface="BIAUIP+Calibri-Bold"/>
              </a:rPr>
              <a:t>max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gate: gradient router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4822" y="3521691"/>
            <a:ext cx="3332754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BIAUIP+Calibri-Bold"/>
                <a:cs typeface="BIAUIP+Calibri-Bold"/>
              </a:rPr>
              <a:t>mul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gate: gradient… “switcher”?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495143" y="1054099"/>
            <a:ext cx="9982997" cy="64096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10444780" y="4520008"/>
            <a:ext cx="20615" cy="245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3586" y="5052829"/>
            <a:ext cx="17993" cy="160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8183" y="4893264"/>
            <a:ext cx="72300" cy="1956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23" y="4902206"/>
            <a:ext cx="44061" cy="1242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840" y="4847447"/>
            <a:ext cx="22990" cy="1682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7017" y="7049878"/>
            <a:ext cx="238602" cy="2934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5760" y="6489876"/>
            <a:ext cx="216018" cy="2551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0786" y="5889531"/>
            <a:ext cx="186117" cy="24016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4218" y="5265797"/>
            <a:ext cx="165282" cy="24886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5143" y="1054099"/>
            <a:ext cx="9915552" cy="64096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69144" y="1221007"/>
            <a:ext cx="1472259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Exercise</a:t>
            </a:r>
            <a:r>
              <a:rPr sz="2500" spc="-922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dirty="0">
                <a:solidFill>
                  <a:srgbClr val="001F5F"/>
                </a:solidFill>
                <a:latin typeface="WNNLQR+Calibri-Bold"/>
                <a:cs typeface="WNNLQR+Calibri-Bold"/>
              </a:rPr>
              <a:t>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01215" y="2360403"/>
            <a:ext cx="6521958" cy="35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Pooling</a:t>
            </a:r>
            <a:r>
              <a:rPr sz="1900" spc="275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units</a:t>
            </a:r>
            <a:r>
              <a:rPr sz="1900" spc="27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spc="-30" dirty="0">
                <a:solidFill>
                  <a:srgbClr val="000000"/>
                </a:solidFill>
                <a:latin typeface="OWEFSO+Calibri"/>
                <a:cs typeface="OWEFSO+Calibri"/>
              </a:rPr>
              <a:t>take</a:t>
            </a:r>
            <a:r>
              <a:rPr sz="1900" spc="305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EUVVUG+Calibri-Italic"/>
                <a:cs typeface="EUVVUG+Calibri-Italic"/>
              </a:rPr>
              <a:t>n</a:t>
            </a:r>
            <a:r>
              <a:rPr sz="1900" spc="-43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values</a:t>
            </a:r>
            <a:r>
              <a:rPr sz="1900" spc="269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spc="-2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2100" spc="120" baseline="-2021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  <a:r>
              <a:rPr sz="1900" spc="27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i</a:t>
            </a:r>
            <a:r>
              <a:rPr sz="1900" spc="-2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∈</a:t>
            </a:r>
            <a:r>
              <a:rPr sz="1900" spc="-6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61" dirty="0">
                <a:solidFill>
                  <a:srgbClr val="000000"/>
                </a:solidFill>
                <a:latin typeface="RELFTG+CambriaMath"/>
                <a:cs typeface="RELFTG+CambriaMath"/>
              </a:rPr>
              <a:t>[1,n]</a:t>
            </a:r>
            <a:r>
              <a:rPr sz="1900" spc="-5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and</a:t>
            </a:r>
            <a:r>
              <a:rPr sz="1900" spc="270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compute</a:t>
            </a:r>
            <a:r>
              <a:rPr sz="1900" spc="280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</a:t>
            </a:r>
            <a:r>
              <a:rPr sz="1900" spc="27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scalar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101215" y="2653011"/>
            <a:ext cx="6213591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output whose value is invariant </a:t>
            </a:r>
            <a:r>
              <a:rPr sz="1900" spc="-22" dirty="0">
                <a:solidFill>
                  <a:srgbClr val="000000"/>
                </a:solidFill>
                <a:latin typeface="OWEFSO+Calibri"/>
                <a:cs typeface="OWEFSO+Calibri"/>
              </a:rPr>
              <a:t>to</a:t>
            </a:r>
            <a:r>
              <a:rPr sz="1900" spc="15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permutations of the inputs.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101215" y="2930379"/>
            <a:ext cx="6522183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1.</a:t>
            </a:r>
            <a:r>
              <a:rPr sz="1900" spc="272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The</a:t>
            </a:r>
            <a:r>
              <a:rPr sz="1900" spc="39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Lp-pooling</a:t>
            </a:r>
            <a:r>
              <a:rPr sz="1900" spc="385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module</a:t>
            </a:r>
            <a:r>
              <a:rPr sz="1900" spc="395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spc="-21" dirty="0">
                <a:solidFill>
                  <a:srgbClr val="000000"/>
                </a:solidFill>
                <a:latin typeface="OWEFSO+Calibri"/>
                <a:cs typeface="OWEFSO+Calibri"/>
              </a:rPr>
              <a:t>takes</a:t>
            </a:r>
            <a:r>
              <a:rPr sz="1900" spc="408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positive</a:t>
            </a:r>
            <a:r>
              <a:rPr sz="1900" spc="397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inputs</a:t>
            </a:r>
            <a:r>
              <a:rPr sz="1900" spc="386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and</a:t>
            </a:r>
            <a:r>
              <a:rPr sz="1900" spc="388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computes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605117" y="3173751"/>
            <a:ext cx="247761" cy="39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84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DJLRJ+CambriaMath"/>
                <a:cs typeface="VDJLRJ+CambriaMath"/>
              </a:rPr>
              <a:t>"</a:t>
            </a:r>
          </a:p>
          <a:p>
            <a:pPr marL="0" marR="0">
              <a:lnSpc>
                <a:spcPts val="1290"/>
              </a:lnSpc>
              <a:spcBef>
                <a:spcPts val="221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VDJLRJ+CambriaMath"/>
                <a:cs typeface="VDJLRJ+CambriaMath"/>
              </a:rPr>
              <a:t>#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132621" y="3262495"/>
            <a:ext cx="513499" cy="447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9193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5</a:t>
            </a:r>
          </a:p>
          <a:p>
            <a:pPr marL="0" marR="0">
              <a:lnSpc>
                <a:spcPts val="1439"/>
              </a:lnSpc>
              <a:spcBef>
                <a:spcPts val="5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  <a:r>
              <a:rPr sz="1400" spc="5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58193" y="3244207"/>
            <a:ext cx="35954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/3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11536" y="3299071"/>
            <a:ext cx="21577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6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150957" y="3289927"/>
            <a:ext cx="21577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6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372677" y="3314898"/>
            <a:ext cx="4511380" cy="344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530" dirty="0">
                <a:solidFill>
                  <a:srgbClr val="000000"/>
                </a:solidFill>
                <a:latin typeface="RELFTG+CambriaMath"/>
                <a:cs typeface="RELFTG+CambriaMath"/>
              </a:rPr>
              <a:t>y=</a:t>
            </a:r>
            <a:r>
              <a:rPr sz="1900" spc="-7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(∑</a:t>
            </a:r>
            <a:r>
              <a:rPr sz="1900" spc="-2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-7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)</a:t>
            </a:r>
            <a:r>
              <a:rPr sz="19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  <a:r>
              <a:rPr sz="1900" spc="25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assuming</a:t>
            </a:r>
            <a:r>
              <a:rPr sz="1900" spc="2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spc="-19" dirty="0">
                <a:solidFill>
                  <a:srgbClr val="000000"/>
                </a:solidFill>
                <a:latin typeface="OWEFSO+Calibri"/>
                <a:cs typeface="OWEFSO+Calibri"/>
              </a:rPr>
              <a:t>we</a:t>
            </a:r>
            <a:r>
              <a:rPr sz="1900" spc="48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know</a:t>
            </a:r>
            <a:r>
              <a:rPr sz="1900" spc="25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that</a:t>
            </a:r>
            <a:r>
              <a:rPr sz="1900" spc="26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ꢌ</a:t>
            </a:r>
            <a:r>
              <a:rPr sz="1900" spc="4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133978" y="3326619"/>
            <a:ext cx="1489501" cy="3654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  <a:r>
              <a:rPr sz="1900" spc="25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what</a:t>
            </a:r>
            <a:r>
              <a:rPr sz="1900" spc="27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is</a:t>
            </a:r>
            <a:r>
              <a:rPr sz="1900" spc="24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6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  <a:p>
            <a:pPr marL="1001445" marR="0">
              <a:lnSpc>
                <a:spcPts val="1642"/>
              </a:lnSpc>
              <a:spcBef>
                <a:spcPts val="5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850904" y="3509383"/>
            <a:ext cx="37491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479252" y="3677023"/>
            <a:ext cx="35954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/3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797918" y="3759435"/>
            <a:ext cx="264213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?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425461" y="3939151"/>
            <a:ext cx="422981" cy="2778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2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650" baseline="-22285" dirty="0">
                <a:solidFill>
                  <a:srgbClr val="000000"/>
                </a:solidFill>
                <a:latin typeface="VDJLRJ+CambriaMath"/>
                <a:cs typeface="VDJLRJ+CambriaMath"/>
              </a:rPr>
              <a:t>!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389870" y="4134223"/>
            <a:ext cx="71756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9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101215" y="4204915"/>
            <a:ext cx="6521596" cy="344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2.</a:t>
            </a:r>
            <a:r>
              <a:rPr sz="1900" spc="272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The</a:t>
            </a:r>
            <a:r>
              <a:rPr sz="1900" spc="270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spc="-10" dirty="0">
                <a:solidFill>
                  <a:srgbClr val="000000"/>
                </a:solidFill>
                <a:latin typeface="OWEFSO+Calibri"/>
                <a:cs typeface="OWEFSO+Calibri"/>
              </a:rPr>
              <a:t>log-average</a:t>
            </a:r>
            <a:r>
              <a:rPr sz="1900" spc="280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module</a:t>
            </a:r>
            <a:r>
              <a:rPr sz="1900" spc="274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computes</a:t>
            </a:r>
            <a:r>
              <a:rPr sz="1900" spc="269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spc="530" dirty="0">
                <a:solidFill>
                  <a:srgbClr val="000000"/>
                </a:solidFill>
                <a:latin typeface="RELFTG+CambriaMath"/>
                <a:cs typeface="RELFTG+CambriaMath"/>
              </a:rPr>
              <a:t>y=</a:t>
            </a:r>
            <a:r>
              <a:rPr sz="1900" spc="16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ln(</a:t>
            </a:r>
            <a:r>
              <a:rPr sz="1900" spc="1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1900" spc="-29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exp(ꢐꢂ</a:t>
            </a:r>
            <a:r>
              <a:rPr sz="1900" spc="-1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))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172938" y="4335391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025934" y="4326247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377805" y="4399399"/>
            <a:ext cx="734428" cy="4844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7</a:t>
            </a:r>
            <a:r>
              <a:rPr sz="1400" spc="18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  <a:p>
            <a:pPr marL="227425" marR="0">
              <a:lnSpc>
                <a:spcPts val="1642"/>
              </a:lnSpc>
              <a:spcBef>
                <a:spcPts val="27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6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5319453" y="4591423"/>
            <a:ext cx="374910" cy="511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88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/3</a:t>
            </a:r>
          </a:p>
          <a:p>
            <a:pPr marL="0" marR="0">
              <a:lnSpc>
                <a:spcPts val="1642"/>
              </a:lnSpc>
              <a:spcBef>
                <a:spcPts val="49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/*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044597" y="4591423"/>
            <a:ext cx="422981" cy="53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78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/3</a:t>
            </a:r>
          </a:p>
          <a:p>
            <a:pPr marL="0" marR="0">
              <a:lnSpc>
                <a:spcPts val="1642"/>
              </a:lnSpc>
              <a:spcBef>
                <a:spcPts val="495"/>
              </a:spcBef>
              <a:spcAft>
                <a:spcPts val="0"/>
              </a:spcAft>
            </a:pPr>
            <a:r>
              <a:rPr sz="1400" spc="12" dirty="0">
                <a:solidFill>
                  <a:srgbClr val="000000"/>
                </a:solidFill>
                <a:latin typeface="KMKCPU+CambriaMath"/>
                <a:cs typeface="KMKCPU+CambriaMath"/>
              </a:rPr>
              <a:t>/%</a:t>
            </a:r>
            <a:r>
              <a:rPr sz="1650" baseline="-20571" dirty="0">
                <a:solidFill>
                  <a:srgbClr val="000000"/>
                </a:solidFill>
                <a:latin typeface="VDJLRJ+CambriaMath"/>
                <a:cs typeface="VDJLRJ+CambriaMath"/>
              </a:rPr>
              <a:t>!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372677" y="4646287"/>
            <a:ext cx="2979930" cy="3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assuming </a:t>
            </a:r>
            <a:r>
              <a:rPr sz="1900" spc="-19" dirty="0">
                <a:solidFill>
                  <a:srgbClr val="000000"/>
                </a:solidFill>
                <a:latin typeface="OWEFSO+Calibri"/>
                <a:cs typeface="OWEFSO+Calibri"/>
              </a:rPr>
              <a:t>we</a:t>
            </a:r>
            <a:r>
              <a:rPr sz="1900" spc="20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know that </a:t>
            </a:r>
            <a:r>
              <a:rPr sz="1900" spc="88" dirty="0">
                <a:solidFill>
                  <a:srgbClr val="000000"/>
                </a:solidFill>
                <a:latin typeface="RELFTG+CambriaMath"/>
                <a:cs typeface="RELFTG+CambriaMath"/>
              </a:rPr>
              <a:t>ꢌ</a:t>
            </a:r>
            <a:r>
              <a:rPr sz="2100" baseline="36631" dirty="0">
                <a:solidFill>
                  <a:srgbClr val="000000"/>
                </a:solidFill>
                <a:latin typeface="KMKCPU+CambriaMath"/>
                <a:cs typeface="KMKCPU+CambriaMath"/>
              </a:rPr>
              <a:t>6</a:t>
            </a:r>
            <a:r>
              <a:rPr sz="2100" spc="-238" baseline="366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5598959" y="4673835"/>
            <a:ext cx="1478793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, what is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6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7417054" y="4673835"/>
            <a:ext cx="264213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?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6589696" y="4792591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"/>
          <p:cNvSpPr/>
          <p:nvPr/>
        </p:nvSpPr>
        <p:spPr>
          <a:xfrm>
            <a:off x="9708163" y="70108"/>
            <a:ext cx="148498" cy="1341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9433279" y="31143"/>
            <a:ext cx="247522" cy="3344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60481" y="279093"/>
            <a:ext cx="22389" cy="213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70963" y="177519"/>
            <a:ext cx="106353" cy="2499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18953" y="247328"/>
            <a:ext cx="18476" cy="290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00471" y="83099"/>
            <a:ext cx="140130" cy="3174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99279" y="253711"/>
            <a:ext cx="32504" cy="3472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64473" y="91844"/>
            <a:ext cx="190840" cy="3632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99777" y="247823"/>
            <a:ext cx="30460" cy="4384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259733" y="316641"/>
            <a:ext cx="105793" cy="16941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231087" y="118350"/>
            <a:ext cx="155392" cy="15451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69864" y="294121"/>
            <a:ext cx="28538" cy="3909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90433" y="138276"/>
            <a:ext cx="61685" cy="8181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02260" y="194295"/>
            <a:ext cx="144854" cy="24566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13336" y="329414"/>
            <a:ext cx="139489" cy="206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28268" y="235371"/>
            <a:ext cx="101711" cy="1770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0700" y="535954"/>
            <a:ext cx="9652000" cy="595374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942296" y="1881589"/>
            <a:ext cx="2140351" cy="10086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This is </a:t>
            </a:r>
            <a:r>
              <a:rPr sz="1600" spc="-11" dirty="0">
                <a:solidFill>
                  <a:srgbClr val="0033FE"/>
                </a:solidFill>
                <a:latin typeface="BNPJHD+Calibri"/>
                <a:cs typeface="BNPJHD+Calibri"/>
              </a:rPr>
              <a:t>now</a:t>
            </a:r>
            <a:r>
              <a:rPr sz="1600" spc="-10" dirty="0">
                <a:solidFill>
                  <a:srgbClr val="0033FE"/>
                </a:solidFill>
                <a:latin typeface="BNPJHD+Calibri"/>
                <a:cs typeface="BNPJHD+Calibri"/>
              </a:rPr>
              <a:t> 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the </a:t>
            </a:r>
            <a:r>
              <a:rPr sz="1600" dirty="0">
                <a:solidFill>
                  <a:srgbClr val="0033FE"/>
                </a:solidFill>
                <a:latin typeface="HBJISH+Calibri-Bold"/>
                <a:cs typeface="HBJISH+Calibri-Bold"/>
              </a:rPr>
              <a:t>Jacobian</a:t>
            </a:r>
          </a:p>
          <a:p>
            <a:pPr marL="0" marR="0">
              <a:lnSpc>
                <a:spcPts val="189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33FE"/>
                </a:solidFill>
                <a:latin typeface="HBJISH+Calibri-Bold"/>
                <a:cs typeface="HBJISH+Calibri-Bold"/>
              </a:rPr>
              <a:t>matrix</a:t>
            </a:r>
            <a:r>
              <a:rPr sz="1600" spc="-598" dirty="0">
                <a:solidFill>
                  <a:srgbClr val="0033FE"/>
                </a:solidFill>
                <a:latin typeface="HBJISH+Calibri-Bold"/>
                <a:cs typeface="HBJISH+Calibri-Bold"/>
              </a:rPr>
              <a:t> 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(derivative </a:t>
            </a:r>
            <a:r>
              <a:rPr sz="1600" spc="-13" dirty="0">
                <a:solidFill>
                  <a:srgbClr val="0033FE"/>
                </a:solidFill>
                <a:latin typeface="BNPJHD+Calibri"/>
                <a:cs typeface="BNPJHD+Calibri"/>
              </a:rPr>
              <a:t>of</a:t>
            </a:r>
          </a:p>
          <a:p>
            <a:pPr marL="0" marR="0">
              <a:lnSpc>
                <a:spcPts val="18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each</a:t>
            </a:r>
            <a:r>
              <a:rPr sz="1600" spc="-10" dirty="0">
                <a:solidFill>
                  <a:srgbClr val="0033FE"/>
                </a:solidFill>
                <a:latin typeface="BNPJHD+Calibri"/>
                <a:cs typeface="BNPJHD+Calibri"/>
              </a:rPr>
              <a:t> 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element </a:t>
            </a:r>
            <a:r>
              <a:rPr sz="1600" spc="-12" dirty="0">
                <a:solidFill>
                  <a:srgbClr val="0033FE"/>
                </a:solidFill>
                <a:latin typeface="BNPJHD+Calibri"/>
                <a:cs typeface="BNPJHD+Calibri"/>
              </a:rPr>
              <a:t>of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 z</a:t>
            </a:r>
            <a:r>
              <a:rPr sz="1600" spc="-15" dirty="0">
                <a:solidFill>
                  <a:srgbClr val="0033FE"/>
                </a:solidFill>
                <a:latin typeface="BNPJHD+Calibri"/>
                <a:cs typeface="BNPJHD+Calibri"/>
              </a:rPr>
              <a:t> 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w.r.t.</a:t>
            </a:r>
          </a:p>
          <a:p>
            <a:pPr marL="0" marR="0">
              <a:lnSpc>
                <a:spcPts val="189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each</a:t>
            </a:r>
            <a:r>
              <a:rPr sz="1600" spc="-10" dirty="0">
                <a:solidFill>
                  <a:srgbClr val="0033FE"/>
                </a:solidFill>
                <a:latin typeface="BNPJHD+Calibri"/>
                <a:cs typeface="BNPJHD+Calibri"/>
              </a:rPr>
              <a:t> 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element </a:t>
            </a:r>
            <a:r>
              <a:rPr sz="1600" spc="-12" dirty="0">
                <a:solidFill>
                  <a:srgbClr val="0033FE"/>
                </a:solidFill>
                <a:latin typeface="BNPJHD+Calibri"/>
                <a:cs typeface="BNPJHD+Calibri"/>
              </a:rPr>
              <a:t>of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 </a:t>
            </a:r>
            <a:r>
              <a:rPr sz="1600" spc="-10" dirty="0">
                <a:solidFill>
                  <a:srgbClr val="0033FE"/>
                </a:solidFill>
                <a:latin typeface="BNPJHD+Calibri"/>
                <a:cs typeface="BNPJHD+Calibri"/>
              </a:rPr>
              <a:t>x)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678940" y="1997691"/>
            <a:ext cx="4558068" cy="625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Gradients for vectorized code</a:t>
            </a:r>
            <a:r>
              <a:rPr sz="1900" spc="1405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33FE"/>
                </a:solidFill>
                <a:latin typeface="OWEFSO+Calibri"/>
                <a:cs typeface="OWEFSO+Calibri"/>
              </a:rPr>
              <a:t>(x, y, z are</a:t>
            </a:r>
          </a:p>
          <a:p>
            <a:pPr marL="3134446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OWEFSO+Calibri"/>
                <a:cs typeface="OWEFSO+Calibri"/>
              </a:rPr>
              <a:t>now vectors)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6133" y="2043411"/>
            <a:ext cx="2219469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Vectorized operation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6133" y="2043411"/>
            <a:ext cx="2219469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Vectorized operation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38916" y="2698453"/>
            <a:ext cx="1434125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Jacobian matrix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35321" y="4442187"/>
            <a:ext cx="1932411" cy="905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OWEFSO+Calibri"/>
                <a:cs typeface="OWEFSO+Calibri"/>
              </a:rPr>
              <a:t>Q: what is the size</a:t>
            </a:r>
          </a:p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OWEFSO+Calibri"/>
                <a:cs typeface="OWEFSO+Calibri"/>
              </a:rPr>
              <a:t>of the Jacobian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OWEFSO+Calibri"/>
                <a:cs typeface="OWEFSO+Calibri"/>
              </a:rPr>
              <a:t>matrix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6133" y="2043411"/>
            <a:ext cx="2219469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Vectorized operation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38916" y="2698453"/>
            <a:ext cx="1434125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Jacobian matrix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35321" y="4442187"/>
            <a:ext cx="1932411" cy="905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OWEFSO+Calibri"/>
                <a:cs typeface="OWEFSO+Calibri"/>
              </a:rPr>
              <a:t>Q: what is the size</a:t>
            </a:r>
          </a:p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OWEFSO+Calibri"/>
                <a:cs typeface="OWEFSO+Calibri"/>
              </a:rPr>
              <a:t>of the Jacobian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OWEFSO+Calibri"/>
                <a:cs typeface="OWEFSO+Calibri"/>
              </a:rPr>
              <a:t>matrix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24360" y="4579456"/>
            <a:ext cx="2029154" cy="506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8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3" dirty="0">
                <a:solidFill>
                  <a:srgbClr val="0033FE"/>
                </a:solidFill>
                <a:latin typeface="DQSQGC+ArialMT"/>
                <a:cs typeface="DQSQGC+ArialMT"/>
              </a:rPr>
              <a:t>Q2:</a:t>
            </a:r>
            <a:r>
              <a:rPr sz="1600" dirty="0">
                <a:solidFill>
                  <a:srgbClr val="0033FE"/>
                </a:solidFill>
                <a:latin typeface="DQSQGC+ArialMT"/>
                <a:cs typeface="DQSQGC+ArialMT"/>
              </a:rPr>
              <a:t> what</a:t>
            </a:r>
            <a:r>
              <a:rPr sz="1600" spc="-11" dirty="0">
                <a:solidFill>
                  <a:srgbClr val="0033FE"/>
                </a:solidFill>
                <a:latin typeface="DQSQGC+ArialMT"/>
                <a:cs typeface="DQSQGC+ArialMT"/>
              </a:rPr>
              <a:t> </a:t>
            </a:r>
            <a:r>
              <a:rPr sz="1600" dirty="0">
                <a:solidFill>
                  <a:srgbClr val="0033FE"/>
                </a:solidFill>
                <a:latin typeface="DQSQGC+ArialMT"/>
                <a:cs typeface="DQSQGC+ArialMT"/>
              </a:rPr>
              <a:t>does it</a:t>
            </a:r>
            <a:r>
              <a:rPr sz="1600" spc="-20" dirty="0">
                <a:solidFill>
                  <a:srgbClr val="0033FE"/>
                </a:solidFill>
                <a:latin typeface="DQSQGC+ArialMT"/>
                <a:cs typeface="DQSQGC+ArialMT"/>
              </a:rPr>
              <a:t> </a:t>
            </a:r>
            <a:r>
              <a:rPr sz="1600" dirty="0">
                <a:solidFill>
                  <a:srgbClr val="0033FE"/>
                </a:solidFill>
                <a:latin typeface="DQSQGC+ArialMT"/>
                <a:cs typeface="DQSQGC+ArialMT"/>
              </a:rPr>
              <a:t>look</a:t>
            </a:r>
          </a:p>
          <a:p>
            <a:pPr marL="0" marR="0">
              <a:lnSpc>
                <a:spcPts val="1788"/>
              </a:lnSpc>
              <a:spcBef>
                <a:spcPts val="107"/>
              </a:spcBef>
              <a:spcAft>
                <a:spcPts val="0"/>
              </a:spcAft>
            </a:pPr>
            <a:r>
              <a:rPr sz="1600" dirty="0">
                <a:solidFill>
                  <a:srgbClr val="0033FE"/>
                </a:solidFill>
                <a:latin typeface="DQSQGC+ArialMT"/>
                <a:cs typeface="DQSQGC+ArialMT"/>
              </a:rPr>
              <a:t>like?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35321" y="5307819"/>
            <a:ext cx="1567755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33FE"/>
                </a:solidFill>
                <a:latin typeface="OWEFSO+Calibri"/>
                <a:cs typeface="OWEFSO+Calibri"/>
              </a:rPr>
              <a:t>[4096 x 4096!]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6133" y="2043411"/>
            <a:ext cx="2219469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Vectorized operation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99590" y="2924005"/>
            <a:ext cx="2324409" cy="770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in</a:t>
            </a:r>
            <a:r>
              <a:rPr sz="1600" spc="-13" dirty="0">
                <a:solidFill>
                  <a:srgbClr val="0033FE"/>
                </a:solidFill>
                <a:latin typeface="BNPJHD+Calibri"/>
                <a:cs typeface="BNPJHD+Calibri"/>
              </a:rPr>
              <a:t> 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practice </a:t>
            </a:r>
            <a:r>
              <a:rPr sz="1600" spc="-16" dirty="0">
                <a:solidFill>
                  <a:srgbClr val="0033FE"/>
                </a:solidFill>
                <a:latin typeface="BNPJHD+Calibri"/>
                <a:cs typeface="BNPJHD+Calibri"/>
              </a:rPr>
              <a:t>we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 process an</a:t>
            </a:r>
          </a:p>
          <a:p>
            <a:pPr marL="0" marR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entire minibatch (e.g. </a:t>
            </a:r>
            <a:r>
              <a:rPr sz="1600" spc="-10" dirty="0">
                <a:solidFill>
                  <a:srgbClr val="0033FE"/>
                </a:solidFill>
                <a:latin typeface="BNPJHD+Calibri"/>
                <a:cs typeface="BNPJHD+Calibri"/>
              </a:rPr>
              <a:t>100)</a:t>
            </a:r>
          </a:p>
          <a:p>
            <a:pPr marL="0" marR="0">
              <a:lnSpc>
                <a:spcPts val="18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3" dirty="0">
                <a:solidFill>
                  <a:srgbClr val="0033FE"/>
                </a:solidFill>
                <a:latin typeface="BNPJHD+Calibri"/>
                <a:cs typeface="BNPJHD+Calibri"/>
              </a:rPr>
              <a:t>of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 examples at </a:t>
            </a:r>
            <a:r>
              <a:rPr sz="1600" spc="-11" dirty="0">
                <a:solidFill>
                  <a:srgbClr val="0033FE"/>
                </a:solidFill>
                <a:latin typeface="BNPJHD+Calibri"/>
                <a:cs typeface="BNPJHD+Calibri"/>
              </a:rPr>
              <a:t>one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 time: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92177" y="4774141"/>
            <a:ext cx="3020161" cy="527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i.e. Jacobian </a:t>
            </a:r>
            <a:r>
              <a:rPr sz="1600" spc="-10" dirty="0">
                <a:solidFill>
                  <a:srgbClr val="0033FE"/>
                </a:solidFill>
                <a:latin typeface="BNPJHD+Calibri"/>
                <a:cs typeface="BNPJHD+Calibri"/>
              </a:rPr>
              <a:t>would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 technically</a:t>
            </a:r>
            <a:r>
              <a:rPr sz="1600" spc="-14" dirty="0">
                <a:solidFill>
                  <a:srgbClr val="0033FE"/>
                </a:solidFill>
                <a:latin typeface="BNPJHD+Calibri"/>
                <a:cs typeface="BNPJHD+Calibri"/>
              </a:rPr>
              <a:t> 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be a</a:t>
            </a:r>
          </a:p>
          <a:p>
            <a:pPr marL="0" marR="0">
              <a:lnSpc>
                <a:spcPts val="189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[409,600 x</a:t>
            </a:r>
            <a:r>
              <a:rPr sz="1600" spc="-14" dirty="0">
                <a:solidFill>
                  <a:srgbClr val="0033FE"/>
                </a:solidFill>
                <a:latin typeface="BNPJHD+Calibri"/>
                <a:cs typeface="BNPJHD+Calibri"/>
              </a:rPr>
              <a:t> 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409,600] matrix</a:t>
            </a:r>
            <a:r>
              <a:rPr sz="1600" spc="-10" dirty="0">
                <a:solidFill>
                  <a:srgbClr val="0033FE"/>
                </a:solidFill>
                <a:latin typeface="BNPJHD+Calibri"/>
                <a:cs typeface="BNPJHD+Calibri"/>
              </a:rPr>
              <a:t> </a:t>
            </a:r>
            <a:r>
              <a:rPr sz="1600" dirty="0">
                <a:solidFill>
                  <a:srgbClr val="0033FE"/>
                </a:solidFill>
                <a:latin typeface="BNPJHD+Calibri"/>
                <a:cs typeface="BNPJHD+Calibri"/>
              </a:rPr>
              <a:t>:\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6029" y="2406123"/>
            <a:ext cx="594044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6029" y="2406123"/>
            <a:ext cx="594044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921336" y="3064023"/>
            <a:ext cx="1195224" cy="2986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59"/>
              </a:lnSpc>
              <a:spcBef>
                <a:spcPts val="0"/>
              </a:spcBef>
              <a:spcAft>
                <a:spcPts val="0"/>
              </a:spcAft>
            </a:pPr>
            <a:r>
              <a:rPr sz="2250" spc="198" baseline="-44756" dirty="0">
                <a:solidFill>
                  <a:srgbClr val="000000"/>
                </a:solidFill>
                <a:latin typeface="GKNMVV+CambriaMath"/>
                <a:cs typeface="GKNMVV+CambriaMath"/>
              </a:rPr>
              <a:t>∈ℝ</a:t>
            </a:r>
            <a:r>
              <a:rPr sz="1100" dirty="0">
                <a:solidFill>
                  <a:srgbClr val="000000"/>
                </a:solidFill>
                <a:latin typeface="VDJLRJ+CambriaMath"/>
                <a:cs typeface="VDJLRJ+CambriaMath"/>
              </a:rPr>
              <a:t>$</a:t>
            </a:r>
            <a:r>
              <a:rPr sz="1100" spc="-2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500" spc="198" dirty="0">
                <a:solidFill>
                  <a:srgbClr val="000000"/>
                </a:solidFill>
                <a:latin typeface="GKNMVV+CambriaMath"/>
                <a:cs typeface="GKNMVV+CambriaMath"/>
              </a:rPr>
              <a:t>∈ℝ</a:t>
            </a:r>
            <a:r>
              <a:rPr sz="1100" dirty="0">
                <a:solidFill>
                  <a:srgbClr val="000000"/>
                </a:solidFill>
                <a:latin typeface="VDJLRJ+CambriaMath"/>
                <a:cs typeface="VDJLRJ+CambriaMath"/>
              </a:rPr>
              <a:t>$×$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6029" y="2406123"/>
            <a:ext cx="5940442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6029" y="2406123"/>
            <a:ext cx="5940441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144980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55147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56380" y="3839154"/>
            <a:ext cx="46910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35372" y="4844995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26501" y="495413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466409" y="495413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46601" y="516198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872609" y="5149795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824111" y="5433259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525051" y="5542399"/>
            <a:ext cx="1136926" cy="5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462086" y="554239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102549" y="5880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42077" y="5908746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069734" y="60239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090534" y="601788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6029" y="2406123"/>
            <a:ext cx="5940441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144980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55147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37850" y="3494730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52517" y="3793434"/>
            <a:ext cx="736327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0.116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56380" y="3839154"/>
            <a:ext cx="46910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835372" y="4844995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026501" y="495413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466409" y="495413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6601" y="516198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872609" y="5149795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824111" y="5433259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525051" y="5542399"/>
            <a:ext cx="1136926" cy="5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462086" y="554239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102549" y="5880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42077" y="5908746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069734" y="60239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090534" y="601788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10505198" y="1940325"/>
            <a:ext cx="127302" cy="743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376136" y="51699"/>
            <a:ext cx="10090124" cy="643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76029" y="2406123"/>
            <a:ext cx="5940441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144980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55147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37850" y="3494730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52517" y="3793434"/>
            <a:ext cx="736327" cy="641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0.116</a:t>
            </a:r>
          </a:p>
          <a:p>
            <a:pPr marL="80303" marR="0">
              <a:lnSpc>
                <a:spcPts val="2228"/>
              </a:lnSpc>
              <a:spcBef>
                <a:spcPts val="291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1.00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56380" y="3839154"/>
            <a:ext cx="46910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835372" y="4844995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26501" y="495413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466409" y="495413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46601" y="516198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872609" y="5149795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824111" y="5433259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525051" y="5542399"/>
            <a:ext cx="1136926" cy="5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462086" y="554239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102549" y="5880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342077" y="5908746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069734" y="60239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090534" y="601788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6029" y="2406123"/>
            <a:ext cx="5940441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144980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55147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37850" y="3494730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52517" y="3793434"/>
            <a:ext cx="736327" cy="641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0.116</a:t>
            </a:r>
          </a:p>
          <a:p>
            <a:pPr marL="80303" marR="0">
              <a:lnSpc>
                <a:spcPts val="2228"/>
              </a:lnSpc>
              <a:spcBef>
                <a:spcPts val="291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1.00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56380" y="3839154"/>
            <a:ext cx="46910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88159" y="4817563"/>
            <a:ext cx="41954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835372" y="4844995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26501" y="495413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466409" y="495413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64033" y="5000443"/>
            <a:ext cx="719403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2ꢎ</a:t>
            </a:r>
            <a:r>
              <a:rPr sz="2100" baseline="-2021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46601" y="516198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872609" y="5149795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054075" y="5161987"/>
            <a:ext cx="480063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2100" baseline="-2021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824111" y="5433259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525051" y="5542399"/>
            <a:ext cx="1136926" cy="5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462086" y="554239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58542" y="5570419"/>
            <a:ext cx="1135801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∇</a:t>
            </a:r>
            <a:r>
              <a:rPr sz="2100" spc="114" baseline="-20210" dirty="0">
                <a:solidFill>
                  <a:srgbClr val="000000"/>
                </a:solidFill>
                <a:latin typeface="KMKCPU+CambriaMath"/>
                <a:cs typeface="KMKCPU+CambriaMath"/>
              </a:rPr>
              <a:t>2</a:t>
            </a: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ꢀ=2q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102549" y="5880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342077" y="5908746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069734" y="60239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090534" y="601788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6029" y="2406123"/>
            <a:ext cx="5940441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144980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55147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37850" y="3494730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52517" y="3793434"/>
            <a:ext cx="736327" cy="641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0.116</a:t>
            </a:r>
          </a:p>
          <a:p>
            <a:pPr marL="80303" marR="0">
              <a:lnSpc>
                <a:spcPts val="2228"/>
              </a:lnSpc>
              <a:spcBef>
                <a:spcPts val="291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1.00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56380" y="3839154"/>
            <a:ext cx="46910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66636" y="4143954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0.44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0.52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88159" y="4817563"/>
            <a:ext cx="41954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ꢏꢀ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835372" y="4844995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26501" y="495413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466409" y="495413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464033" y="5000443"/>
            <a:ext cx="719403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2ꢎ</a:t>
            </a:r>
            <a:r>
              <a:rPr sz="2100" baseline="-2021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46601" y="516198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872609" y="5149795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054075" y="5161987"/>
            <a:ext cx="480063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2100" baseline="-2021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824111" y="5433259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525051" y="5542399"/>
            <a:ext cx="1136926" cy="5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462086" y="554239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058542" y="5570419"/>
            <a:ext cx="1135801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∇</a:t>
            </a:r>
            <a:r>
              <a:rPr sz="2100" spc="114" baseline="-20210" dirty="0">
                <a:solidFill>
                  <a:srgbClr val="000000"/>
                </a:solidFill>
                <a:latin typeface="KMKCPU+CambriaMath"/>
                <a:cs typeface="KMKCPU+CambriaMath"/>
              </a:rPr>
              <a:t>2</a:t>
            </a:r>
            <a:r>
              <a:rPr sz="1900" spc="277" dirty="0">
                <a:solidFill>
                  <a:srgbClr val="000000"/>
                </a:solidFill>
                <a:latin typeface="RELFTG+CambriaMath"/>
                <a:cs typeface="RELFTG+CambriaMath"/>
              </a:rPr>
              <a:t>ꢀ=2q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102549" y="5880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342077" y="5908746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069734" y="60239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090534" y="601788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6029" y="2406123"/>
            <a:ext cx="5940441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144980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55147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37850" y="3494730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52517" y="3793434"/>
            <a:ext cx="736327" cy="641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0.116</a:t>
            </a:r>
          </a:p>
          <a:p>
            <a:pPr marL="80303" marR="0">
              <a:lnSpc>
                <a:spcPts val="2228"/>
              </a:lnSpc>
              <a:spcBef>
                <a:spcPts val="291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1.00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56380" y="3839154"/>
            <a:ext cx="46910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66636" y="4143954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0.44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0.52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204436" y="4680403"/>
            <a:ext cx="677208" cy="700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512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ꢏꢎ</a:t>
            </a:r>
            <a:r>
              <a:rPr sz="2100" baseline="-20210" dirty="0">
                <a:solidFill>
                  <a:srgbClr val="000000"/>
                </a:solidFill>
                <a:latin typeface="KMKCPU+CambriaMath"/>
                <a:cs typeface="KMKCPU+CambriaMath"/>
              </a:rPr>
              <a:t>-</a:t>
            </a:r>
          </a:p>
          <a:p>
            <a:pPr marL="0" marR="0">
              <a:lnSpc>
                <a:spcPts val="2228"/>
              </a:lnSpc>
              <a:spcBef>
                <a:spcPts val="260"/>
              </a:spcBef>
              <a:spcAft>
                <a:spcPts val="0"/>
              </a:spcAft>
            </a:pPr>
            <a:r>
              <a:rPr sz="1900" spc="25" dirty="0">
                <a:solidFill>
                  <a:srgbClr val="000000"/>
                </a:solidFill>
                <a:latin typeface="RELFTG+CambriaMath"/>
                <a:cs typeface="RELFTG+CambriaMath"/>
              </a:rPr>
              <a:t>ꢏꢁ</a:t>
            </a:r>
            <a:r>
              <a:rPr sz="2100" spc="42" baseline="-2021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  <a:r>
              <a:rPr sz="2100" baseline="-2021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2100" baseline="-20210" dirty="0">
                <a:solidFill>
                  <a:srgbClr val="000000"/>
                </a:solidFill>
                <a:latin typeface="KMKCPU+CambriaMath"/>
                <a:cs typeface="KMKCPU+CambriaMath"/>
              </a:rPr>
              <a:t>(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835372" y="4844995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11809" y="4863283"/>
            <a:ext cx="1049263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=ꢑ</a:t>
            </a:r>
            <a:r>
              <a:rPr sz="1900" spc="8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  <a:p>
            <a:pPr marL="391257" marR="0">
              <a:lnSpc>
                <a:spcPts val="1642"/>
              </a:lnSpc>
              <a:spcBef>
                <a:spcPts val="50"/>
              </a:spcBef>
              <a:spcAft>
                <a:spcPts val="0"/>
              </a:spcAft>
            </a:pPr>
            <a:r>
              <a:rPr sz="1400" spc="13" dirty="0">
                <a:solidFill>
                  <a:srgbClr val="000000"/>
                </a:solidFill>
                <a:latin typeface="KMKCPU+CambriaMath"/>
                <a:cs typeface="KMKCPU+CambriaMath"/>
              </a:rPr>
              <a:t>-+'</a:t>
            </a:r>
            <a:r>
              <a:rPr sz="1400" spc="8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(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026501" y="495413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466409" y="495413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46601" y="516198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872609" y="5149795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824111" y="5433259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525051" y="5542399"/>
            <a:ext cx="1136926" cy="5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462086" y="554239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102549" y="5880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42077" y="5908746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069734" y="60239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090534" y="601788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6029" y="2406123"/>
            <a:ext cx="5940441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144980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55147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37850" y="3494730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52517" y="3793434"/>
            <a:ext cx="736327" cy="641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0.116</a:t>
            </a:r>
          </a:p>
          <a:p>
            <a:pPr marL="80303" marR="0">
              <a:lnSpc>
                <a:spcPts val="2228"/>
              </a:lnSpc>
              <a:spcBef>
                <a:spcPts val="291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1.00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56380" y="3839154"/>
            <a:ext cx="46910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66636" y="4143954"/>
            <a:ext cx="6027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0.44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366636" y="4427419"/>
            <a:ext cx="135843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0.52</a:t>
            </a:r>
            <a:r>
              <a:rPr sz="1900" spc="2356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800" baseline="-80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01967" y="4591658"/>
            <a:ext cx="853140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432" dirty="0">
                <a:solidFill>
                  <a:srgbClr val="000000"/>
                </a:solidFill>
                <a:latin typeface="GAIMVB+CambriaMath"/>
                <a:cs typeface="GAIMVB+CambriaMath"/>
              </a:rPr>
              <a:t>=ꢅ</a:t>
            </a:r>
            <a:r>
              <a:rPr sz="1600" spc="6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ꢁ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029279" y="4682629"/>
            <a:ext cx="57615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000000"/>
                </a:solidFill>
                <a:latin typeface="BBGVVQ+CambriaMath"/>
                <a:cs typeface="BBGVVQ+CambriaMath"/>
              </a:rPr>
              <a:t>!%"</a:t>
            </a:r>
            <a:r>
              <a:rPr sz="1200" spc="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$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195588" y="4725770"/>
            <a:ext cx="591945" cy="307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16" dirty="0">
                <a:solidFill>
                  <a:srgbClr val="000000"/>
                </a:solidFill>
                <a:latin typeface="GAIMVB+CambriaMath"/>
                <a:cs typeface="GAIMVB+CambriaMath"/>
              </a:rPr>
              <a:t>ꢂꢄ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",$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835372" y="4844995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026501" y="495413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466409" y="495413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199056" y="4997042"/>
            <a:ext cx="591945" cy="594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099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ꢂꢆ</a:t>
            </a:r>
          </a:p>
          <a:p>
            <a:pPr marL="0" marR="0">
              <a:lnSpc>
                <a:spcPts val="1876"/>
              </a:lnSpc>
              <a:spcBef>
                <a:spcPts val="329"/>
              </a:spcBef>
              <a:spcAft>
                <a:spcPts val="0"/>
              </a:spcAft>
            </a:pPr>
            <a:r>
              <a:rPr sz="1600" spc="16" dirty="0">
                <a:solidFill>
                  <a:srgbClr val="000000"/>
                </a:solidFill>
                <a:latin typeface="GAIMVB+CambriaMath"/>
                <a:cs typeface="GAIMVB+CambriaMath"/>
              </a:rPr>
              <a:t>ꢂꢄ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",$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178685" y="4997042"/>
            <a:ext cx="1075601" cy="594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4439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ꢂꢆ</a:t>
            </a:r>
            <a:r>
              <a:rPr sz="1600" spc="2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800" baseline="-19499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  <a:p>
            <a:pPr marL="127083" marR="0">
              <a:lnSpc>
                <a:spcPts val="1876"/>
              </a:lnSpc>
              <a:spcBef>
                <a:spcPts val="106"/>
              </a:spcBef>
              <a:spcAft>
                <a:spcPts val="0"/>
              </a:spcAft>
            </a:pP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600" spc="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ꢂꢄ</a:t>
            </a:r>
          </a:p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2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83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",$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346601" y="516198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872609" y="5149795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705435" y="5149442"/>
            <a:ext cx="62844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432" dirty="0">
                <a:solidFill>
                  <a:srgbClr val="000000"/>
                </a:solidFill>
                <a:latin typeface="GAIMVB+CambriaMath"/>
                <a:cs typeface="GAIMVB+CambriaMath"/>
              </a:rPr>
              <a:t>=-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824111" y="5433259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525051" y="5542399"/>
            <a:ext cx="1136926" cy="5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462086" y="554239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712393" y="5691986"/>
            <a:ext cx="1832131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-10" dirty="0">
                <a:solidFill>
                  <a:srgbClr val="000000"/>
                </a:solidFill>
                <a:latin typeface="GAIMVB+CambriaMath"/>
                <a:cs typeface="GAIMVB+CambriaMath"/>
              </a:rPr>
              <a:t>-(2ꢃ</a:t>
            </a:r>
            <a:r>
              <a:rPr sz="1600" spc="-1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-11" dirty="0">
                <a:solidFill>
                  <a:srgbClr val="000000"/>
                </a:solidFill>
                <a:latin typeface="GAIMVB+CambriaMath"/>
                <a:cs typeface="GAIMVB+CambriaMath"/>
              </a:rPr>
              <a:t>)(ꢅ</a:t>
            </a:r>
            <a:r>
              <a:rPr sz="1600" spc="11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83" dirty="0">
                <a:solidFill>
                  <a:srgbClr val="000000"/>
                </a:solidFill>
                <a:latin typeface="GAIMVB+CambriaMath"/>
                <a:cs typeface="GAIMVB+CambriaMath"/>
              </a:rPr>
              <a:t>ꢁ)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484604" y="5782956"/>
            <a:ext cx="964602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61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spc="-11" dirty="0">
                <a:solidFill>
                  <a:srgbClr val="000000"/>
                </a:solidFill>
                <a:latin typeface="BBGVVQ+CambriaMath"/>
                <a:cs typeface="BBGVVQ+CambriaMath"/>
              </a:rPr>
              <a:t>!%"</a:t>
            </a:r>
            <a:r>
              <a:rPr sz="1200" spc="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$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102549" y="5880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342077" y="5908746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090534" y="601788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005572" y="5999365"/>
            <a:ext cx="24459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069734" y="60239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709806" y="6109562"/>
            <a:ext cx="748124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224" dirty="0">
                <a:solidFill>
                  <a:srgbClr val="000000"/>
                </a:solidFill>
                <a:latin typeface="GAIMVB+CambriaMath"/>
                <a:cs typeface="GAIMVB+CambriaMath"/>
              </a:rPr>
              <a:t>=2ꢃꢁ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7132482" y="6200532"/>
            <a:ext cx="375780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"</a:t>
            </a:r>
            <a:r>
              <a:rPr sz="1200" spc="5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$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17534" y="2406123"/>
            <a:ext cx="6098936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494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89833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0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62842" y="3290514"/>
            <a:ext cx="1557871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0.088</a:t>
            </a:r>
            <a:r>
              <a:rPr sz="1900" spc="760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0.1</a:t>
            </a:r>
            <a:r>
              <a:rPr sz="1900" dirty="0">
                <a:solidFill>
                  <a:srgbClr val="C00000"/>
                </a:solidFill>
                <a:latin typeface="RDBKDK+CambriaMath"/>
                <a:cs typeface="RDBKDK+CambriaMath"/>
              </a:rPr>
              <a:t>7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6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0.104</a:t>
            </a:r>
            <a:r>
              <a:rPr sz="1900" spc="760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0.208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37850" y="3494730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52517" y="3793434"/>
            <a:ext cx="736327" cy="641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0.116</a:t>
            </a:r>
          </a:p>
          <a:p>
            <a:pPr marL="80303" marR="0">
              <a:lnSpc>
                <a:spcPts val="2228"/>
              </a:lnSpc>
              <a:spcBef>
                <a:spcPts val="291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1.00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57423" y="3894019"/>
            <a:ext cx="46910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366636" y="4143954"/>
            <a:ext cx="135843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0.44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0.52</a:t>
            </a:r>
            <a:r>
              <a:rPr sz="1900" spc="2356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800" baseline="-80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01967" y="4591658"/>
            <a:ext cx="853140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432" dirty="0">
                <a:solidFill>
                  <a:srgbClr val="000000"/>
                </a:solidFill>
                <a:latin typeface="GAIMVB+CambriaMath"/>
                <a:cs typeface="GAIMVB+CambriaMath"/>
              </a:rPr>
              <a:t>=ꢅ</a:t>
            </a:r>
            <a:r>
              <a:rPr sz="1600" spc="6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ꢁ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029279" y="4682629"/>
            <a:ext cx="57615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000000"/>
                </a:solidFill>
                <a:latin typeface="BBGVVQ+CambriaMath"/>
                <a:cs typeface="BBGVVQ+CambriaMath"/>
              </a:rPr>
              <a:t>!%"</a:t>
            </a:r>
            <a:r>
              <a:rPr sz="1200" spc="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$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195588" y="4725770"/>
            <a:ext cx="595413" cy="865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16" dirty="0">
                <a:solidFill>
                  <a:srgbClr val="000000"/>
                </a:solidFill>
                <a:latin typeface="GAIMVB+CambriaMath"/>
                <a:cs typeface="GAIMVB+CambriaMath"/>
              </a:rPr>
              <a:t>ꢂꢄ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",$</a:t>
            </a:r>
          </a:p>
          <a:p>
            <a:pPr marL="114567" marR="0">
              <a:lnSpc>
                <a:spcPts val="1876"/>
              </a:lnSpc>
              <a:spcBef>
                <a:spcPts val="1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ꢂꢆ</a:t>
            </a:r>
          </a:p>
          <a:p>
            <a:pPr marL="3468" marR="0">
              <a:lnSpc>
                <a:spcPts val="1876"/>
              </a:lnSpc>
              <a:spcBef>
                <a:spcPts val="329"/>
              </a:spcBef>
              <a:spcAft>
                <a:spcPts val="0"/>
              </a:spcAft>
            </a:pPr>
            <a:r>
              <a:rPr sz="1600" spc="16" dirty="0">
                <a:solidFill>
                  <a:srgbClr val="000000"/>
                </a:solidFill>
                <a:latin typeface="GAIMVB+CambriaMath"/>
                <a:cs typeface="GAIMVB+CambriaMath"/>
              </a:rPr>
              <a:t>ꢂꢄ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",$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835372" y="4844995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026501" y="495413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466409" y="495413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178685" y="4997042"/>
            <a:ext cx="1075601" cy="594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4439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ꢂꢆ</a:t>
            </a:r>
            <a:r>
              <a:rPr sz="1600" spc="2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800" baseline="-19499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  <a:p>
            <a:pPr marL="127083" marR="0">
              <a:lnSpc>
                <a:spcPts val="1876"/>
              </a:lnSpc>
              <a:spcBef>
                <a:spcPts val="106"/>
              </a:spcBef>
              <a:spcAft>
                <a:spcPts val="0"/>
              </a:spcAft>
            </a:pP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600" spc="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ꢂꢄ</a:t>
            </a:r>
          </a:p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2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83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",$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46601" y="516198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872609" y="5149795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705435" y="5149442"/>
            <a:ext cx="62844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432" dirty="0">
                <a:solidFill>
                  <a:srgbClr val="000000"/>
                </a:solidFill>
                <a:latin typeface="GAIMVB+CambriaMath"/>
                <a:cs typeface="GAIMVB+CambriaMath"/>
              </a:rPr>
              <a:t>=-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824111" y="5433259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525051" y="5542399"/>
            <a:ext cx="1136926" cy="5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462086" y="554239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712393" y="5691986"/>
            <a:ext cx="1832131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-10" dirty="0">
                <a:solidFill>
                  <a:srgbClr val="000000"/>
                </a:solidFill>
                <a:latin typeface="GAIMVB+CambriaMath"/>
                <a:cs typeface="GAIMVB+CambriaMath"/>
              </a:rPr>
              <a:t>-(2ꢃ</a:t>
            </a:r>
            <a:r>
              <a:rPr sz="1600" spc="-1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-11" dirty="0">
                <a:solidFill>
                  <a:srgbClr val="000000"/>
                </a:solidFill>
                <a:latin typeface="GAIMVB+CambriaMath"/>
                <a:cs typeface="GAIMVB+CambriaMath"/>
              </a:rPr>
              <a:t>)(ꢅ</a:t>
            </a:r>
            <a:r>
              <a:rPr sz="1600" spc="11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83" dirty="0">
                <a:solidFill>
                  <a:srgbClr val="000000"/>
                </a:solidFill>
                <a:latin typeface="GAIMVB+CambriaMath"/>
                <a:cs typeface="GAIMVB+CambriaMath"/>
              </a:rPr>
              <a:t>ꢁ)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484604" y="5782956"/>
            <a:ext cx="964602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61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spc="-11" dirty="0">
                <a:solidFill>
                  <a:srgbClr val="000000"/>
                </a:solidFill>
                <a:latin typeface="BBGVVQ+CambriaMath"/>
                <a:cs typeface="BBGVVQ+CambriaMath"/>
              </a:rPr>
              <a:t>!%"</a:t>
            </a:r>
            <a:r>
              <a:rPr sz="1200" spc="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$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102549" y="5880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342077" y="5908746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069734" y="60239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090534" y="601788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005572" y="5999365"/>
            <a:ext cx="24459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6709806" y="6109562"/>
            <a:ext cx="748124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224" dirty="0">
                <a:solidFill>
                  <a:srgbClr val="000000"/>
                </a:solidFill>
                <a:latin typeface="GAIMVB+CambriaMath"/>
                <a:cs typeface="GAIMVB+CambriaMath"/>
              </a:rPr>
              <a:t>=2ꢃꢁ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7132482" y="6200532"/>
            <a:ext cx="375780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"</a:t>
            </a:r>
            <a:r>
              <a:rPr sz="1200" spc="5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$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17534" y="2406123"/>
            <a:ext cx="6098936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494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89833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0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79004" y="2966839"/>
            <a:ext cx="1593661" cy="383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∇</a:t>
            </a:r>
            <a:r>
              <a:rPr sz="2100" spc="89" baseline="-20897" dirty="0">
                <a:solidFill>
                  <a:srgbClr val="000000"/>
                </a:solidFill>
                <a:latin typeface="KMKCPU+CambriaMath"/>
                <a:cs typeface="KMKCPU+CambriaMath"/>
              </a:rPr>
              <a:t>.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55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83" dirty="0">
                <a:solidFill>
                  <a:srgbClr val="000000"/>
                </a:solidFill>
                <a:latin typeface="RELFTG+CambriaMath"/>
                <a:cs typeface="RELFTG+CambriaMath"/>
              </a:rPr>
              <a:t>=2ꢎQꢂ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⊺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62842" y="3290514"/>
            <a:ext cx="1557871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0.088</a:t>
            </a:r>
            <a:r>
              <a:rPr sz="1900" spc="760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0.1</a:t>
            </a:r>
            <a:r>
              <a:rPr sz="1900" dirty="0">
                <a:solidFill>
                  <a:srgbClr val="C00000"/>
                </a:solidFill>
                <a:latin typeface="RDBKDK+CambriaMath"/>
                <a:cs typeface="RDBKDK+CambriaMath"/>
              </a:rPr>
              <a:t>7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6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0.104</a:t>
            </a:r>
            <a:r>
              <a:rPr sz="1900" spc="760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0.208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37850" y="3494730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52517" y="3793434"/>
            <a:ext cx="736327" cy="641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0.116</a:t>
            </a:r>
          </a:p>
          <a:p>
            <a:pPr marL="80303" marR="0">
              <a:lnSpc>
                <a:spcPts val="2228"/>
              </a:lnSpc>
              <a:spcBef>
                <a:spcPts val="291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1.00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57423" y="3894019"/>
            <a:ext cx="46910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366636" y="4143954"/>
            <a:ext cx="135843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0.44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0.52</a:t>
            </a:r>
            <a:r>
              <a:rPr sz="1900" spc="2356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800" baseline="-80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701967" y="4591658"/>
            <a:ext cx="853140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432" dirty="0">
                <a:solidFill>
                  <a:srgbClr val="000000"/>
                </a:solidFill>
                <a:latin typeface="GAIMVB+CambriaMath"/>
                <a:cs typeface="GAIMVB+CambriaMath"/>
              </a:rPr>
              <a:t>=ꢅ</a:t>
            </a:r>
            <a:r>
              <a:rPr sz="1600" spc="6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ꢁ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29279" y="4682629"/>
            <a:ext cx="57615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000000"/>
                </a:solidFill>
                <a:latin typeface="BBGVVQ+CambriaMath"/>
                <a:cs typeface="BBGVVQ+CambriaMath"/>
              </a:rPr>
              <a:t>!%"</a:t>
            </a:r>
            <a:r>
              <a:rPr sz="1200" spc="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$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195588" y="4725770"/>
            <a:ext cx="595413" cy="865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16" dirty="0">
                <a:solidFill>
                  <a:srgbClr val="000000"/>
                </a:solidFill>
                <a:latin typeface="GAIMVB+CambriaMath"/>
                <a:cs typeface="GAIMVB+CambriaMath"/>
              </a:rPr>
              <a:t>ꢂꢄ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",$</a:t>
            </a:r>
          </a:p>
          <a:p>
            <a:pPr marL="114567" marR="0">
              <a:lnSpc>
                <a:spcPts val="1876"/>
              </a:lnSpc>
              <a:spcBef>
                <a:spcPts val="1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ꢂꢆ</a:t>
            </a:r>
          </a:p>
          <a:p>
            <a:pPr marL="3468" marR="0">
              <a:lnSpc>
                <a:spcPts val="1876"/>
              </a:lnSpc>
              <a:spcBef>
                <a:spcPts val="329"/>
              </a:spcBef>
              <a:spcAft>
                <a:spcPts val="0"/>
              </a:spcAft>
            </a:pPr>
            <a:r>
              <a:rPr sz="1600" spc="16" dirty="0">
                <a:solidFill>
                  <a:srgbClr val="000000"/>
                </a:solidFill>
                <a:latin typeface="GAIMVB+CambriaMath"/>
                <a:cs typeface="GAIMVB+CambriaMath"/>
              </a:rPr>
              <a:t>ꢂꢄ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",$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835372" y="4844995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026501" y="495413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466409" y="495413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178685" y="4997042"/>
            <a:ext cx="1075601" cy="594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4439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ꢂꢆ</a:t>
            </a:r>
            <a:r>
              <a:rPr sz="1600" spc="2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800" baseline="-19499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  <a:p>
            <a:pPr marL="127083" marR="0">
              <a:lnSpc>
                <a:spcPts val="1876"/>
              </a:lnSpc>
              <a:spcBef>
                <a:spcPts val="106"/>
              </a:spcBef>
              <a:spcAft>
                <a:spcPts val="0"/>
              </a:spcAft>
            </a:pP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600" spc="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ꢂꢄ</a:t>
            </a:r>
          </a:p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2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83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",$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346601" y="516198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872609" y="5149795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705435" y="5149442"/>
            <a:ext cx="62844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432" dirty="0">
                <a:solidFill>
                  <a:srgbClr val="000000"/>
                </a:solidFill>
                <a:latin typeface="GAIMVB+CambriaMath"/>
                <a:cs typeface="GAIMVB+CambriaMath"/>
              </a:rPr>
              <a:t>=-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824111" y="5433259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525051" y="5542399"/>
            <a:ext cx="1136926" cy="5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462086" y="554239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712393" y="5691986"/>
            <a:ext cx="1832131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-10" dirty="0">
                <a:solidFill>
                  <a:srgbClr val="000000"/>
                </a:solidFill>
                <a:latin typeface="GAIMVB+CambriaMath"/>
                <a:cs typeface="GAIMVB+CambriaMath"/>
              </a:rPr>
              <a:t>-(2ꢃ</a:t>
            </a:r>
            <a:r>
              <a:rPr sz="1600" spc="-1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-11" dirty="0">
                <a:solidFill>
                  <a:srgbClr val="000000"/>
                </a:solidFill>
                <a:latin typeface="GAIMVB+CambriaMath"/>
                <a:cs typeface="GAIMVB+CambriaMath"/>
              </a:rPr>
              <a:t>)(ꢅ</a:t>
            </a:r>
            <a:r>
              <a:rPr sz="1600" spc="11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83" dirty="0">
                <a:solidFill>
                  <a:srgbClr val="000000"/>
                </a:solidFill>
                <a:latin typeface="GAIMVB+CambriaMath"/>
                <a:cs typeface="GAIMVB+CambriaMath"/>
              </a:rPr>
              <a:t>ꢁ)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484604" y="5782956"/>
            <a:ext cx="964602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61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spc="-11" dirty="0">
                <a:solidFill>
                  <a:srgbClr val="000000"/>
                </a:solidFill>
                <a:latin typeface="BBGVVQ+CambriaMath"/>
                <a:cs typeface="BBGVVQ+CambriaMath"/>
              </a:rPr>
              <a:t>!%"</a:t>
            </a:r>
            <a:r>
              <a:rPr sz="1200" spc="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$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102549" y="5880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342077" y="5908746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069734" y="60239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090534" y="601788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005572" y="5999365"/>
            <a:ext cx="24459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709806" y="6109562"/>
            <a:ext cx="748124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224" dirty="0">
                <a:solidFill>
                  <a:srgbClr val="000000"/>
                </a:solidFill>
                <a:latin typeface="GAIMVB+CambriaMath"/>
                <a:cs typeface="GAIMVB+CambriaMath"/>
              </a:rPr>
              <a:t>=2ꢃꢁ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7132482" y="6200532"/>
            <a:ext cx="375780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"</a:t>
            </a:r>
            <a:r>
              <a:rPr sz="1200" spc="5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$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17534" y="2406123"/>
            <a:ext cx="6098936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494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89833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0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79004" y="2966839"/>
            <a:ext cx="1593661" cy="383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∇</a:t>
            </a:r>
            <a:r>
              <a:rPr sz="2100" spc="89" baseline="-20897" dirty="0">
                <a:solidFill>
                  <a:srgbClr val="000000"/>
                </a:solidFill>
                <a:latin typeface="KMKCPU+CambriaMath"/>
                <a:cs typeface="KMKCPU+CambriaMath"/>
              </a:rPr>
              <a:t>.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55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83" dirty="0">
                <a:solidFill>
                  <a:srgbClr val="000000"/>
                </a:solidFill>
                <a:latin typeface="RELFTG+CambriaMath"/>
                <a:cs typeface="RELFTG+CambriaMath"/>
              </a:rPr>
              <a:t>=2ꢎQꢂ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⊺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62842" y="3290514"/>
            <a:ext cx="1557871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0.088</a:t>
            </a:r>
            <a:r>
              <a:rPr sz="1900" spc="760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0.1</a:t>
            </a:r>
            <a:r>
              <a:rPr sz="1900" dirty="0">
                <a:solidFill>
                  <a:srgbClr val="C00000"/>
                </a:solidFill>
                <a:latin typeface="RDBKDK+CambriaMath"/>
                <a:cs typeface="RDBKDK+CambriaMath"/>
              </a:rPr>
              <a:t>7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6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0.104</a:t>
            </a:r>
            <a:r>
              <a:rPr sz="1900" spc="760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0.208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978552" y="3454357"/>
            <a:ext cx="1643432" cy="286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Always check: The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37850" y="3494730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0.26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978552" y="3698197"/>
            <a:ext cx="2101822" cy="10086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4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gradient with respect</a:t>
            </a:r>
          </a:p>
          <a:p>
            <a:pPr marL="0" marR="0">
              <a:lnSpc>
                <a:spcPts val="189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to</a:t>
            </a:r>
            <a:r>
              <a:rPr sz="1600" spc="-17" dirty="0">
                <a:solidFill>
                  <a:srgbClr val="FF0000"/>
                </a:solidFill>
                <a:latin typeface="BNPJHD+Calibri"/>
                <a:cs typeface="BNPJHD+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a</a:t>
            </a:r>
            <a:r>
              <a:rPr sz="1600" spc="-10" dirty="0">
                <a:solidFill>
                  <a:srgbClr val="FF0000"/>
                </a:solidFill>
                <a:latin typeface="BNPJHD+Calibri"/>
                <a:cs typeface="BNPJHD+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variable should</a:t>
            </a:r>
          </a:p>
          <a:p>
            <a:pPr marL="0" marR="0">
              <a:lnSpc>
                <a:spcPts val="189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have the same shape as</a:t>
            </a:r>
          </a:p>
          <a:p>
            <a:pPr marL="0" marR="0">
              <a:lnSpc>
                <a:spcPts val="189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BNPJHD+Calibri"/>
                <a:cs typeface="BNPJHD+Calibri"/>
              </a:rPr>
              <a:t>the variable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52517" y="3793434"/>
            <a:ext cx="736327" cy="641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0.116</a:t>
            </a:r>
          </a:p>
          <a:p>
            <a:pPr marL="80303" marR="0">
              <a:lnSpc>
                <a:spcPts val="2228"/>
              </a:lnSpc>
              <a:spcBef>
                <a:spcPts val="291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1.00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57423" y="3894019"/>
            <a:ext cx="46910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366636" y="4143954"/>
            <a:ext cx="135843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0.44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0.52</a:t>
            </a:r>
            <a:r>
              <a:rPr sz="1900" spc="2356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800" baseline="-80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01967" y="4591658"/>
            <a:ext cx="853140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432" dirty="0">
                <a:solidFill>
                  <a:srgbClr val="000000"/>
                </a:solidFill>
                <a:latin typeface="GAIMVB+CambriaMath"/>
                <a:cs typeface="GAIMVB+CambriaMath"/>
              </a:rPr>
              <a:t>=ꢅ</a:t>
            </a:r>
            <a:r>
              <a:rPr sz="1600" spc="6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ꢁ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029279" y="4682629"/>
            <a:ext cx="57615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000000"/>
                </a:solidFill>
                <a:latin typeface="BBGVVQ+CambriaMath"/>
                <a:cs typeface="BBGVVQ+CambriaMath"/>
              </a:rPr>
              <a:t>!%"</a:t>
            </a:r>
            <a:r>
              <a:rPr sz="1200" spc="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$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195588" y="4725770"/>
            <a:ext cx="595413" cy="865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16" dirty="0">
                <a:solidFill>
                  <a:srgbClr val="000000"/>
                </a:solidFill>
                <a:latin typeface="GAIMVB+CambriaMath"/>
                <a:cs typeface="GAIMVB+CambriaMath"/>
              </a:rPr>
              <a:t>ꢂꢄ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",$</a:t>
            </a:r>
          </a:p>
          <a:p>
            <a:pPr marL="114567" marR="0">
              <a:lnSpc>
                <a:spcPts val="1876"/>
              </a:lnSpc>
              <a:spcBef>
                <a:spcPts val="1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ꢂꢆ</a:t>
            </a:r>
          </a:p>
          <a:p>
            <a:pPr marL="3468" marR="0">
              <a:lnSpc>
                <a:spcPts val="1876"/>
              </a:lnSpc>
              <a:spcBef>
                <a:spcPts val="329"/>
              </a:spcBef>
              <a:spcAft>
                <a:spcPts val="0"/>
              </a:spcAft>
            </a:pPr>
            <a:r>
              <a:rPr sz="1600" spc="16" dirty="0">
                <a:solidFill>
                  <a:srgbClr val="000000"/>
                </a:solidFill>
                <a:latin typeface="GAIMVB+CambriaMath"/>
                <a:cs typeface="GAIMVB+CambriaMath"/>
              </a:rPr>
              <a:t>ꢂꢄ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",$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835372" y="4844995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026501" y="495413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466409" y="495413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353125" y="4997042"/>
            <a:ext cx="838700" cy="304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ꢂꢆ</a:t>
            </a:r>
            <a:r>
              <a:rPr sz="1600" spc="2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800" baseline="-19499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46601" y="516198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872609" y="5149795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705435" y="5149442"/>
            <a:ext cx="62844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432" dirty="0">
                <a:solidFill>
                  <a:srgbClr val="000000"/>
                </a:solidFill>
                <a:latin typeface="GAIMVB+CambriaMath"/>
                <a:cs typeface="GAIMVB+CambriaMath"/>
              </a:rPr>
              <a:t>=-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305769" y="5283554"/>
            <a:ext cx="818932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600" spc="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ꢂꢄ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178685" y="5362332"/>
            <a:ext cx="1075601" cy="22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2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83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",$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824111" y="5433259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525051" y="5542399"/>
            <a:ext cx="1136926" cy="5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462086" y="554239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712393" y="5691986"/>
            <a:ext cx="1832131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-10" dirty="0">
                <a:solidFill>
                  <a:srgbClr val="000000"/>
                </a:solidFill>
                <a:latin typeface="GAIMVB+CambriaMath"/>
                <a:cs typeface="GAIMVB+CambriaMath"/>
              </a:rPr>
              <a:t>-(2ꢃ</a:t>
            </a:r>
            <a:r>
              <a:rPr sz="1600" spc="-1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-11" dirty="0">
                <a:solidFill>
                  <a:srgbClr val="000000"/>
                </a:solidFill>
                <a:latin typeface="GAIMVB+CambriaMath"/>
                <a:cs typeface="GAIMVB+CambriaMath"/>
              </a:rPr>
              <a:t>)(ꢅ</a:t>
            </a:r>
            <a:r>
              <a:rPr sz="1600" spc="11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483" dirty="0">
                <a:solidFill>
                  <a:srgbClr val="000000"/>
                </a:solidFill>
                <a:latin typeface="GAIMVB+CambriaMath"/>
                <a:cs typeface="GAIMVB+CambriaMath"/>
              </a:rPr>
              <a:t>ꢁ)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484604" y="5782956"/>
            <a:ext cx="964602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61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spc="-11" dirty="0">
                <a:solidFill>
                  <a:srgbClr val="000000"/>
                </a:solidFill>
                <a:latin typeface="BBGVVQ+CambriaMath"/>
                <a:cs typeface="BBGVVQ+CambriaMath"/>
              </a:rPr>
              <a:t>!%"</a:t>
            </a:r>
            <a:r>
              <a:rPr sz="1200" spc="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$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102549" y="5880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342077" y="5908746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3069734" y="60239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4090534" y="601788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7005572" y="5999365"/>
            <a:ext cx="24459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709806" y="6109562"/>
            <a:ext cx="748124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224" dirty="0">
                <a:solidFill>
                  <a:srgbClr val="000000"/>
                </a:solidFill>
                <a:latin typeface="GAIMVB+CambriaMath"/>
                <a:cs typeface="GAIMVB+CambriaMath"/>
              </a:rPr>
              <a:t>=2ꢃꢁ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7132482" y="6200532"/>
            <a:ext cx="375780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"</a:t>
            </a:r>
            <a:r>
              <a:rPr sz="1200" spc="5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$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17534" y="2406123"/>
            <a:ext cx="6098936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494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89833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0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62842" y="3290514"/>
            <a:ext cx="1557871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0.088</a:t>
            </a:r>
            <a:r>
              <a:rPr sz="1900" spc="760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0.1</a:t>
            </a:r>
            <a:r>
              <a:rPr sz="1900" dirty="0">
                <a:solidFill>
                  <a:srgbClr val="C00000"/>
                </a:solidFill>
                <a:latin typeface="RDBKDK+CambriaMath"/>
                <a:cs typeface="RDBKDK+CambriaMath"/>
              </a:rPr>
              <a:t>7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6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0.104</a:t>
            </a:r>
            <a:r>
              <a:rPr sz="1900" spc="760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0.208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37850" y="3494730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52517" y="3793434"/>
            <a:ext cx="736327" cy="641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0.116</a:t>
            </a:r>
          </a:p>
          <a:p>
            <a:pPr marL="80303" marR="0">
              <a:lnSpc>
                <a:spcPts val="2228"/>
              </a:lnSpc>
              <a:spcBef>
                <a:spcPts val="291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1.00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57423" y="3894019"/>
            <a:ext cx="46910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366636" y="4143954"/>
            <a:ext cx="1293133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0.44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0.52</a:t>
            </a:r>
            <a:r>
              <a:rPr sz="1900" spc="1842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800" baseline="-80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72922" y="4591658"/>
            <a:ext cx="700544" cy="307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216" dirty="0">
                <a:solidFill>
                  <a:srgbClr val="000000"/>
                </a:solidFill>
                <a:latin typeface="GAIMVB+CambriaMath"/>
                <a:cs typeface="GAIMVB+CambriaMath"/>
              </a:rPr>
              <a:t>=ꢄ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!,"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212178" y="4725770"/>
            <a:ext cx="427674" cy="307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ꢂꢁ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"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835372" y="4844995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026501" y="495413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466409" y="495413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46601" y="516198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872609" y="5149795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824111" y="5433259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525051" y="5542399"/>
            <a:ext cx="1136926" cy="5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462086" y="554239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102549" y="5880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342077" y="5908746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069734" y="60239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090534" y="601788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17534" y="2406123"/>
            <a:ext cx="6098936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494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89833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0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62842" y="3290514"/>
            <a:ext cx="1557871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0.088</a:t>
            </a:r>
            <a:r>
              <a:rPr sz="1900" spc="760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0.1</a:t>
            </a:r>
            <a:r>
              <a:rPr sz="1900" dirty="0">
                <a:solidFill>
                  <a:srgbClr val="C00000"/>
                </a:solidFill>
                <a:latin typeface="RDBKDK+CambriaMath"/>
                <a:cs typeface="RDBKDK+CambriaMath"/>
              </a:rPr>
              <a:t>7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6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0.104</a:t>
            </a:r>
            <a:r>
              <a:rPr sz="1900" spc="760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0.208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37850" y="3494730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52517" y="3793434"/>
            <a:ext cx="736327" cy="641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0.116</a:t>
            </a:r>
          </a:p>
          <a:p>
            <a:pPr marL="80303" marR="0">
              <a:lnSpc>
                <a:spcPts val="2228"/>
              </a:lnSpc>
              <a:spcBef>
                <a:spcPts val="291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1.00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57423" y="3894019"/>
            <a:ext cx="46910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366636" y="4143954"/>
            <a:ext cx="1293133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0.44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0.52</a:t>
            </a:r>
            <a:r>
              <a:rPr sz="1900" spc="1842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800" baseline="-80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72922" y="4591658"/>
            <a:ext cx="700544" cy="307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216" dirty="0">
                <a:solidFill>
                  <a:srgbClr val="000000"/>
                </a:solidFill>
                <a:latin typeface="GAIMVB+CambriaMath"/>
                <a:cs typeface="GAIMVB+CambriaMath"/>
              </a:rPr>
              <a:t>=ꢄ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!,"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212178" y="4725770"/>
            <a:ext cx="427674" cy="307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ꢂꢁ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"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835372" y="4844995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026501" y="495413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466409" y="495413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266782" y="4984851"/>
            <a:ext cx="155555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ꢂꢆ</a:t>
            </a:r>
            <a:r>
              <a:rPr sz="1600" spc="41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ꢂꢆ</a:t>
            </a:r>
            <a:r>
              <a:rPr sz="1600" spc="-2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664662" y="5072772"/>
            <a:ext cx="24459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46601" y="516198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872609" y="5149795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580169" y="5137251"/>
            <a:ext cx="628442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432" dirty="0">
                <a:solidFill>
                  <a:srgbClr val="000000"/>
                </a:solidFill>
                <a:latin typeface="GAIMVB+CambriaMath"/>
                <a:cs typeface="GAIMVB+CambriaMath"/>
              </a:rPr>
              <a:t>=-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237574" y="5271362"/>
            <a:ext cx="1601622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ꢂꢁ</a:t>
            </a:r>
            <a:r>
              <a:rPr sz="1600" spc="39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600" spc="1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ꢂꢁ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459419" y="5359284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"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308092" y="5359284"/>
            <a:ext cx="58125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5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"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824111" y="5433259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873349" y="5441581"/>
            <a:ext cx="24459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525051" y="5542399"/>
            <a:ext cx="1136926" cy="5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4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462086" y="554239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600383" y="5725514"/>
            <a:ext cx="117007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79" dirty="0">
                <a:solidFill>
                  <a:srgbClr val="000000"/>
                </a:solidFill>
                <a:latin typeface="GAIMVB+CambriaMath"/>
                <a:cs typeface="GAIMVB+CambriaMath"/>
              </a:rPr>
              <a:t>-2ꢃ</a:t>
            </a:r>
            <a:r>
              <a:rPr sz="1600" spc="-2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ꢄ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323177" y="5813436"/>
            <a:ext cx="59577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65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!,"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102549" y="588072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342077" y="5908746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069734" y="602398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090534" y="601788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6893562" y="6029844"/>
            <a:ext cx="24459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099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4" y="1221007"/>
            <a:ext cx="2837266" cy="42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01F5F"/>
                </a:solidFill>
                <a:latin typeface="WNNLQR+Calibri-Bold"/>
                <a:cs typeface="WNNLQR+Calibri-Bold"/>
              </a:rPr>
              <a:t>Gradients</a:t>
            </a:r>
            <a:r>
              <a:rPr sz="2500" spc="-928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WNNLQR+Calibri-Bold"/>
                <a:cs typeface="WNNLQR+Calibri-Bold"/>
              </a:rPr>
              <a:t>for</a:t>
            </a:r>
            <a:r>
              <a:rPr sz="2500" spc="-931" dirty="0">
                <a:solidFill>
                  <a:srgbClr val="001F5F"/>
                </a:solidFill>
                <a:latin typeface="WNNLQR+Calibri-Bold"/>
                <a:cs typeface="WNNLQR+Calibri-Bold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WNNLQR+Calibri-Bold"/>
                <a:cs typeface="WNNLQR+Calibri-Bold"/>
              </a:rPr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0457" y="2366383"/>
            <a:ext cx="864378" cy="352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17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∑</a:t>
            </a:r>
            <a:r>
              <a:rPr sz="2100" baseline="37894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64463" y="23694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17534" y="2406123"/>
            <a:ext cx="6098936" cy="90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494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OWEFSO+Calibri"/>
                <a:cs typeface="OWEFSO+Calibri"/>
              </a:rPr>
              <a:t>A vectorized example:</a:t>
            </a:r>
            <a:r>
              <a:rPr sz="1900" spc="-11" dirty="0">
                <a:solidFill>
                  <a:srgbClr val="000000"/>
                </a:solidFill>
                <a:latin typeface="OWEFSO+Calibri"/>
                <a:cs typeface="OWEFS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23" dirty="0">
                <a:solidFill>
                  <a:srgbClr val="000000"/>
                </a:solidFill>
                <a:latin typeface="RELFTG+CambriaMath"/>
                <a:cs typeface="RELFTG+CambriaMath"/>
              </a:rPr>
              <a:t>ꢂ,ꢁ</a:t>
            </a:r>
            <a:r>
              <a:rPr sz="1900" spc="1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57" dirty="0">
                <a:solidFill>
                  <a:srgbClr val="000000"/>
                </a:solidFill>
                <a:latin typeface="RELFTG+CambriaMath"/>
                <a:cs typeface="RELFTG+CambriaMath"/>
              </a:rPr>
              <a:t>ꢁQꢂ</a:t>
            </a:r>
            <a:r>
              <a:rPr sz="1900" spc="8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0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(ꢁ</a:t>
            </a:r>
            <a:r>
              <a:rPr sz="1900" spc="-6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9" dirty="0">
                <a:solidFill>
                  <a:srgbClr val="000000"/>
                </a:solidFill>
                <a:latin typeface="RELFTG+CambriaMath"/>
                <a:cs typeface="RELFTG+CambriaMath"/>
              </a:rPr>
              <a:t>Qꢂ)</a:t>
            </a:r>
          </a:p>
          <a:p>
            <a:pPr marL="89833" marR="0">
              <a:lnSpc>
                <a:spcPts val="2228"/>
              </a:lnSpc>
              <a:spcBef>
                <a:spcPts val="61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</a:t>
            </a:r>
            <a:r>
              <a:rPr sz="1900" spc="1468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0.5</a:t>
            </a:r>
          </a:p>
          <a:p>
            <a:pPr marL="0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−0.3</a:t>
            </a:r>
            <a:r>
              <a:rPr sz="1900" spc="760" dirty="0">
                <a:solidFill>
                  <a:srgbClr val="92D04F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6969" y="2527927"/>
            <a:ext cx="4510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KMKCPU+CambriaMath"/>
                <a:cs typeface="KMKCPU+CambriaMath"/>
              </a:rPr>
              <a:t>'+"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164463" y="2524879"/>
            <a:ext cx="21473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'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79255" y="2966839"/>
            <a:ext cx="1632582" cy="383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∇</a:t>
            </a:r>
            <a:r>
              <a:rPr sz="2100" spc="110" baseline="-20897" dirty="0">
                <a:solidFill>
                  <a:srgbClr val="000000"/>
                </a:solidFill>
                <a:latin typeface="KMKCPU+CambriaMath"/>
                <a:cs typeface="KMKCPU+CambriaMath"/>
              </a:rPr>
              <a:t>%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55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RELFTG+CambriaMath"/>
                <a:cs typeface="RELFTG+CambriaMath"/>
              </a:rPr>
              <a:t>=2ꢁ</a:t>
            </a:r>
            <a:r>
              <a:rPr sz="1400" spc="498" dirty="0">
                <a:solidFill>
                  <a:srgbClr val="000000"/>
                </a:solidFill>
                <a:latin typeface="KMKCPU+CambriaMath"/>
                <a:cs typeface="KMKCPU+CambriaMath"/>
              </a:rPr>
              <a:t>⊺</a:t>
            </a:r>
            <a:r>
              <a:rPr sz="1900" spc="419" dirty="0">
                <a:solidFill>
                  <a:srgbClr val="000000"/>
                </a:solidFill>
                <a:latin typeface="RELFTG+CambriaMath"/>
                <a:cs typeface="RELFTG+CambriaMath"/>
              </a:rPr>
              <a:t>Qꢎ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62842" y="3290514"/>
            <a:ext cx="1557871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0.088</a:t>
            </a:r>
            <a:r>
              <a:rPr sz="1900" spc="760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0.1</a:t>
            </a:r>
            <a:r>
              <a:rPr sz="1900" dirty="0">
                <a:solidFill>
                  <a:srgbClr val="C00000"/>
                </a:solidFill>
                <a:latin typeface="RDBKDK+CambriaMath"/>
                <a:cs typeface="RDBKDK+CambriaMath"/>
              </a:rPr>
              <a:t>7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6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0.104</a:t>
            </a:r>
            <a:r>
              <a:rPr sz="1900" spc="760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0.208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37850" y="3494730"/>
            <a:ext cx="602716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0.22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52517" y="3793434"/>
            <a:ext cx="736327" cy="641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0.116</a:t>
            </a:r>
          </a:p>
          <a:p>
            <a:pPr marL="80303" marR="0">
              <a:lnSpc>
                <a:spcPts val="2228"/>
              </a:lnSpc>
              <a:spcBef>
                <a:spcPts val="291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1.00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509426" y="3894019"/>
            <a:ext cx="916595" cy="1168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7997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0.2</a:t>
            </a:r>
          </a:p>
          <a:p>
            <a:pPr marL="447997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92D04F"/>
                </a:solidFill>
                <a:latin typeface="RELFTG+CambriaMath"/>
                <a:cs typeface="RELFTG+CambriaMath"/>
              </a:rPr>
              <a:t>0.4</a:t>
            </a:r>
          </a:p>
          <a:p>
            <a:pPr marL="0" marR="0"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−0.112</a:t>
            </a:r>
          </a:p>
          <a:p>
            <a:pPr marL="89833" marR="0">
              <a:lnSpc>
                <a:spcPts val="2228"/>
              </a:lnSpc>
              <a:spcBef>
                <a:spcPts val="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0.636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366636" y="4143954"/>
            <a:ext cx="1293133" cy="6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0.44</a:t>
            </a:r>
          </a:p>
          <a:p>
            <a:pPr marL="0" marR="0">
              <a:lnSpc>
                <a:spcPts val="2228"/>
              </a:lnSpc>
              <a:spcBef>
                <a:spcPts val="53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RELFTG+CambriaMath"/>
                <a:cs typeface="RELFTG+CambriaMath"/>
              </a:rPr>
              <a:t>0.52</a:t>
            </a:r>
            <a:r>
              <a:rPr sz="1900" spc="1842" dirty="0">
                <a:solidFill>
                  <a:srgbClr val="C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800" baseline="-80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72922" y="4591658"/>
            <a:ext cx="700544" cy="307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216" dirty="0">
                <a:solidFill>
                  <a:srgbClr val="000000"/>
                </a:solidFill>
                <a:latin typeface="GAIMVB+CambriaMath"/>
                <a:cs typeface="GAIMVB+CambriaMath"/>
              </a:rPr>
              <a:t>=ꢄ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!,"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212178" y="4725770"/>
            <a:ext cx="427674" cy="307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ꢂꢁ</a:t>
            </a:r>
            <a:r>
              <a:rPr sz="1800" baseline="-21000" dirty="0">
                <a:solidFill>
                  <a:srgbClr val="000000"/>
                </a:solidFill>
                <a:latin typeface="BBGVVQ+CambriaMath"/>
                <a:cs typeface="BBGVVQ+CambriaMath"/>
              </a:rPr>
              <a:t>"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835372" y="4963867"/>
            <a:ext cx="21774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5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6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266782" y="4984851"/>
            <a:ext cx="1642479" cy="304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ꢂꢆ</a:t>
            </a:r>
            <a:r>
              <a:rPr sz="1600" spc="41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ꢂꢆ</a:t>
            </a:r>
            <a:r>
              <a:rPr sz="1600" spc="-2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</a:p>
          <a:p>
            <a:pPr marL="139788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026501" y="5076055"/>
            <a:ext cx="6255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466409" y="5076055"/>
            <a:ext cx="65932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237574" y="5137251"/>
            <a:ext cx="1601622" cy="41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594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spc="432" dirty="0">
                <a:solidFill>
                  <a:srgbClr val="000000"/>
                </a:solidFill>
                <a:latin typeface="GAIMVB+CambriaMath"/>
                <a:cs typeface="GAIMVB+CambriaMath"/>
              </a:rPr>
              <a:t>=-</a:t>
            </a:r>
          </a:p>
          <a:p>
            <a:pPr marL="0" marR="0">
              <a:lnSpc>
                <a:spcPts val="1055"/>
              </a:lnSpc>
              <a:spcBef>
                <a:spcPts val="0"/>
              </a:spcBef>
              <a:spcAft>
                <a:spcPts val="0"/>
              </a:spcAft>
            </a:pP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ꢂꢁ</a:t>
            </a:r>
            <a:r>
              <a:rPr sz="1600" spc="39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ꢂꢃ</a:t>
            </a:r>
            <a:r>
              <a:rPr sz="1600" spc="17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31" dirty="0">
                <a:solidFill>
                  <a:srgbClr val="000000"/>
                </a:solidFill>
                <a:latin typeface="GAIMVB+CambriaMath"/>
                <a:cs typeface="GAIMVB+CambriaMath"/>
              </a:rPr>
              <a:t>ꢂꢁ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346601" y="5283907"/>
            <a:ext cx="1398962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-5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59" dirty="0">
                <a:solidFill>
                  <a:srgbClr val="000000"/>
                </a:solidFill>
                <a:latin typeface="RELFTG+CambriaMath"/>
                <a:cs typeface="RELFTG+CambriaMath"/>
              </a:rPr>
              <a:t>=ꢁQꢂ</a:t>
            </a:r>
            <a:r>
              <a:rPr sz="1900" spc="-5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872609" y="5268667"/>
            <a:ext cx="227334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⋮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459419" y="5359284"/>
            <a:ext cx="20582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"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308092" y="5359284"/>
            <a:ext cx="581251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15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"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873349" y="5441581"/>
            <a:ext cx="24459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824111" y="5552131"/>
            <a:ext cx="2200016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ꢁ</a:t>
            </a:r>
            <a:r>
              <a:rPr sz="1900" spc="69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+⋯+ꢁ</a:t>
            </a:r>
            <a:r>
              <a:rPr sz="1900" spc="2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ꢂ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525051" y="5664319"/>
            <a:ext cx="1136926" cy="584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769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  <a:p>
            <a:pPr marL="0" marR="0">
              <a:lnSpc>
                <a:spcPts val="1642"/>
              </a:lnSpc>
              <a:spcBef>
                <a:spcPts val="102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  <a:r>
              <a:rPr sz="1400" spc="27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462086" y="5664319"/>
            <a:ext cx="6749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5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dirty="0">
                <a:solidFill>
                  <a:srgbClr val="000000"/>
                </a:solidFill>
                <a:latin typeface="NDTEMH+CambriaMath"/>
                <a:cs typeface="NDTEMH+CambriaMath"/>
              </a:rPr>
              <a:t>,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  <a:r>
              <a:rPr sz="1400" spc="24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600383" y="5725514"/>
            <a:ext cx="117007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=</a:t>
            </a:r>
            <a:r>
              <a:rPr sz="1600" spc="-5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spc="79" dirty="0">
                <a:solidFill>
                  <a:srgbClr val="000000"/>
                </a:solidFill>
                <a:latin typeface="GAIMVB+CambriaMath"/>
                <a:cs typeface="GAIMVB+CambriaMath"/>
              </a:rPr>
              <a:t>-2ꢃ</a:t>
            </a:r>
            <a:r>
              <a:rPr sz="1600" spc="-2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600" dirty="0">
                <a:solidFill>
                  <a:srgbClr val="000000"/>
                </a:solidFill>
                <a:latin typeface="GAIMVB+CambriaMath"/>
                <a:cs typeface="GAIMVB+CambriaMath"/>
              </a:rPr>
              <a:t>ꢄ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323177" y="5813436"/>
            <a:ext cx="59577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  <a:r>
              <a:rPr sz="1200" spc="65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!,"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102549" y="600264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!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342077" y="6030667"/>
            <a:ext cx="2906093" cy="32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ꢀ</a:t>
            </a:r>
            <a:r>
              <a:rPr sz="1900" spc="-2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22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=</a:t>
            </a:r>
            <a:r>
              <a:rPr sz="1900" spc="3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RELFTG+CambriaMath"/>
                <a:cs typeface="RELFTG+CambriaMath"/>
              </a:rPr>
              <a:t>ꢎ</a:t>
            </a:r>
            <a:r>
              <a:rPr sz="1900" spc="132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RELFTG+CambriaMath"/>
                <a:cs typeface="RELFTG+CambriaMath"/>
              </a:rPr>
              <a:t>=ꢎ</a:t>
            </a:r>
            <a:r>
              <a:rPr sz="1900" spc="-30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83" dirty="0">
                <a:solidFill>
                  <a:srgbClr val="000000"/>
                </a:solidFill>
                <a:latin typeface="RELFTG+CambriaMath"/>
                <a:cs typeface="RELFTG+CambriaMath"/>
              </a:rPr>
              <a:t>+⋯+ꢎ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6893562" y="6029844"/>
            <a:ext cx="244599" cy="216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BBGVVQ+CambriaMath"/>
                <a:cs typeface="BBGVVQ+CambriaMath"/>
              </a:rPr>
              <a:t>!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069734" y="614590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"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090534" y="6139807"/>
            <a:ext cx="267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KMKCPU+CambriaMath"/>
                <a:cs typeface="KMKCPU+CambriaMath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3829</Words>
  <Application>Microsoft Office PowerPoint</Application>
  <PresentationFormat>自定义</PresentationFormat>
  <Paragraphs>1021</Paragraphs>
  <Slides>68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97" baseType="lpstr">
      <vt:lpstr>TADNHU+Calibri</vt:lpstr>
      <vt:lpstr>BBGVVQ+CambriaMath</vt:lpstr>
      <vt:lpstr>RDBKDK+CambriaMath</vt:lpstr>
      <vt:lpstr>DQSQGC+ArialMT</vt:lpstr>
      <vt:lpstr>BNPJHD+Calibri</vt:lpstr>
      <vt:lpstr>Liberation Mono</vt:lpstr>
      <vt:lpstr>CPLGWV+HelveticaNeue</vt:lpstr>
      <vt:lpstr>TNCUHI+ArialMT</vt:lpstr>
      <vt:lpstr>HSAIAI+HelveticaNeue</vt:lpstr>
      <vt:lpstr>TQWVES+ArialMT</vt:lpstr>
      <vt:lpstr>GAIMVB+CambriaMath</vt:lpstr>
      <vt:lpstr>HBJISH+Calibri-Bold</vt:lpstr>
      <vt:lpstr>JNNGHE+CambriaMath</vt:lpstr>
      <vt:lpstr>RELFTG+CambriaMath</vt:lpstr>
      <vt:lpstr>TMJLKS+Calibri</vt:lpstr>
      <vt:lpstr>VDJLRJ+CambriaMath</vt:lpstr>
      <vt:lpstr>KITELS+CambriaMath</vt:lpstr>
      <vt:lpstr>KMKCPU+CambriaMath</vt:lpstr>
      <vt:lpstr>FVRRNH+CambriaMath</vt:lpstr>
      <vt:lpstr>BIAUIP+Calibri-Bold</vt:lpstr>
      <vt:lpstr>Calibri</vt:lpstr>
      <vt:lpstr>OWEFSO+Calibri</vt:lpstr>
      <vt:lpstr>RLIGSI+PingFangSC-Regular</vt:lpstr>
      <vt:lpstr>WNNLQR+Calibri-Bold</vt:lpstr>
      <vt:lpstr>EUVVUG+Calibri-Italic</vt:lpstr>
      <vt:lpstr>GKNMVV+CambriaMath</vt:lpstr>
      <vt:lpstr>JAPCVK+Calibri-Bold</vt:lpstr>
      <vt:lpstr>NDTEMH+CambriaMath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bae</dc:creator>
  <cp:lastModifiedBy>Huang Junhao</cp:lastModifiedBy>
  <cp:revision>2</cp:revision>
  <cp:lastPrinted>2025-12-21T11:37:33Z</cp:lastPrinted>
  <dcterms:modified xsi:type="dcterms:W3CDTF">2025-12-21T11:38:19Z</dcterms:modified>
</cp:coreProperties>
</file>