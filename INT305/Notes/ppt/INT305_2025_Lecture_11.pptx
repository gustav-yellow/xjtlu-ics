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2000" cy="6858000"/>
  <p:notesSz cx="12192000" cy="6858000"/>
  <p:embeddedFontLst>
    <p:embeddedFont>
      <p:font typeface="BDOTDI+TimesNewRomanPSMT" panose="02010600030101010101"/>
      <p:regular r:id="rId84"/>
    </p:embeddedFont>
    <p:embeddedFont>
      <p:font typeface="EQOBKP+TimesNewRomanPS-BoldMT" panose="02010600030101010101"/>
      <p:regular r:id="rId85"/>
    </p:embeddedFont>
    <p:embeddedFont>
      <p:font typeface="FEQEEP+Helvetica-Bold" panose="02010600030101010101"/>
      <p:regular r:id="rId86"/>
    </p:embeddedFont>
    <p:embeddedFont>
      <p:font typeface="FEVBCC+ArialMT" panose="02010600030101010101"/>
      <p:regular r:id="rId87"/>
    </p:embeddedFont>
    <p:embeddedFont>
      <p:font typeface="GNAIGT+Arial" panose="02010600030101010101" charset="0"/>
      <p:regular r:id="rId88"/>
    </p:embeddedFont>
    <p:embeddedFont>
      <p:font typeface="JNGIAF+Calibri-Bold" panose="02010600030101010101"/>
      <p:regular r:id="rId89"/>
    </p:embeddedFont>
    <p:embeddedFont>
      <p:font typeface="PGLPWF+Helvetica" panose="02010600030101010101"/>
      <p:regular r:id="rId90"/>
    </p:embeddedFont>
    <p:embeddedFont>
      <p:font typeface="QOSQRA+Calibri" panose="02010600030101010101"/>
      <p:regular r:id="rId91"/>
    </p:embeddedFont>
    <p:embeddedFont>
      <p:font typeface="SEFLMG+Arial-BoldMT" panose="02010600030101010101"/>
      <p:regular r:id="rId92"/>
    </p:embeddedFont>
    <p:embeddedFont>
      <p:font typeface="STCMJL+PingFangSC-Regular" panose="02010600030101010101"/>
      <p:regular r:id="rId93"/>
    </p:embeddedFont>
    <p:embeddedFont>
      <p:font typeface="TWDWLV+PingFangSC-Semibold" panose="02010600030101010101"/>
      <p:regular r:id="rId94"/>
    </p:embeddedFont>
    <p:embeddedFont>
      <p:font typeface="VNSSBV+Calibri" panose="02010600030101010101" charset="0"/>
      <p:regular r:id="rId9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6" y="7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7.fntdata"/><Relationship Id="rId95" Type="http://schemas.openxmlformats.org/officeDocument/2006/relationships/font" Target="fonts/font12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5.fntdata"/><Relationship Id="rId91" Type="http://schemas.openxmlformats.org/officeDocument/2006/relationships/font" Target="fonts/font8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94" Type="http://schemas.openxmlformats.org/officeDocument/2006/relationships/font" Target="fonts/font11.fntdata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0.fntdata"/><Relationship Id="rId9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2651" y="2076767"/>
            <a:ext cx="4535543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F243E"/>
                </a:solidFill>
                <a:latin typeface="JNGIAF+Calibri-Bold"/>
                <a:cs typeface="JNGIAF+Calibri-Bold"/>
              </a:rPr>
              <a:t>INT305</a:t>
            </a:r>
            <a:r>
              <a:rPr sz="3250" spc="-506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3250" spc="-32" dirty="0">
                <a:solidFill>
                  <a:srgbClr val="0F243E"/>
                </a:solidFill>
                <a:latin typeface="JNGIAF+Calibri-Bold"/>
                <a:cs typeface="JNGIAF+Calibri-Bold"/>
              </a:rPr>
              <a:t>Machine</a:t>
            </a:r>
            <a:r>
              <a:rPr sz="3250" spc="-1161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3250" spc="-33" dirty="0">
                <a:solidFill>
                  <a:srgbClr val="0F243E"/>
                </a:solidFill>
                <a:latin typeface="JNGIAF+Calibri-Bold"/>
                <a:cs typeface="JNGIAF+Calibri-Bold"/>
              </a:rPr>
              <a:t>Learning</a:t>
            </a:r>
          </a:p>
          <a:p>
            <a:pPr marL="1314703" marR="0">
              <a:lnSpc>
                <a:spcPts val="3230"/>
              </a:lnSpc>
              <a:spcBef>
                <a:spcPts val="1249"/>
              </a:spcBef>
              <a:spcAft>
                <a:spcPts val="0"/>
              </a:spcAft>
            </a:pPr>
            <a:r>
              <a:rPr sz="3250" spc="-24" dirty="0">
                <a:solidFill>
                  <a:srgbClr val="0F243E"/>
                </a:solidFill>
                <a:latin typeface="JNGIAF+Calibri-Bold"/>
                <a:cs typeface="JNGIAF+Calibri-Bold"/>
              </a:rPr>
              <a:t>Lecture</a:t>
            </a:r>
            <a:r>
              <a:rPr sz="3250" spc="-1239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3250" dirty="0">
                <a:solidFill>
                  <a:srgbClr val="0F243E"/>
                </a:solidFill>
                <a:latin typeface="JNGIAF+Calibri-Bold"/>
                <a:cs typeface="JNGIAF+Calibri-Bold"/>
              </a:rPr>
              <a:t>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1376" y="3202241"/>
            <a:ext cx="462368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F243E"/>
                </a:solidFill>
                <a:latin typeface="JNGIAF+Calibri-Bold"/>
                <a:cs typeface="JNGIAF+Calibri-Bold"/>
              </a:rPr>
              <a:t>Recurrent</a:t>
            </a:r>
            <a:r>
              <a:rPr sz="3250" spc="-1264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3250" spc="-22" dirty="0">
                <a:solidFill>
                  <a:srgbClr val="0F243E"/>
                </a:solidFill>
                <a:latin typeface="JNGIAF+Calibri-Bold"/>
                <a:cs typeface="JNGIAF+Calibri-Bold"/>
              </a:rPr>
              <a:t>Neural</a:t>
            </a:r>
            <a:r>
              <a:rPr sz="3250" spc="-1231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3250" spc="-18" dirty="0">
                <a:solidFill>
                  <a:srgbClr val="0F243E"/>
                </a:solidFill>
                <a:latin typeface="JNGIAF+Calibri-Bold"/>
                <a:cs typeface="JNGIAF+Calibri-Bold"/>
              </a:rPr>
              <a:t>Network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55005" y="4403233"/>
            <a:ext cx="1348414" cy="381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22" dirty="0">
                <a:solidFill>
                  <a:srgbClr val="0F243E"/>
                </a:solidFill>
                <a:latin typeface="JNGIAF+Calibri-Bold"/>
                <a:cs typeface="JNGIAF+Calibri-Bold"/>
              </a:rPr>
              <a:t>Siyue</a:t>
            </a:r>
            <a:r>
              <a:rPr sz="2700" spc="-991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2700" spc="21" dirty="0">
                <a:solidFill>
                  <a:srgbClr val="0F243E"/>
                </a:solidFill>
                <a:latin typeface="JNGIAF+Calibri-Bold"/>
                <a:cs typeface="JNGIAF+Calibri-Bold"/>
              </a:rPr>
              <a:t>Yu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77334" y="4889516"/>
            <a:ext cx="4697432" cy="86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16" dirty="0">
                <a:solidFill>
                  <a:srgbClr val="0F243E"/>
                </a:solidFill>
                <a:latin typeface="JNGIAF+Calibri-Bold"/>
                <a:cs typeface="JNGIAF+Calibri-Bold"/>
              </a:rPr>
              <a:t>Department</a:t>
            </a:r>
            <a:r>
              <a:rPr sz="2700" spc="-1040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2700" spc="-18" dirty="0">
                <a:solidFill>
                  <a:srgbClr val="0F243E"/>
                </a:solidFill>
                <a:latin typeface="JNGIAF+Calibri-Bold"/>
                <a:cs typeface="JNGIAF+Calibri-Bold"/>
              </a:rPr>
              <a:t>Intelligence</a:t>
            </a:r>
            <a:r>
              <a:rPr sz="2700" spc="-1015" dirty="0">
                <a:solidFill>
                  <a:srgbClr val="0F243E"/>
                </a:solidFill>
                <a:latin typeface="JNGIAF+Calibri-Bold"/>
                <a:cs typeface="JNGIAF+Calibri-Bold"/>
              </a:rPr>
              <a:t> </a:t>
            </a:r>
            <a:r>
              <a:rPr sz="2700" spc="-17" dirty="0">
                <a:solidFill>
                  <a:srgbClr val="0F243E"/>
                </a:solidFill>
                <a:latin typeface="JNGIAF+Calibri-Bold"/>
                <a:cs typeface="JNGIAF+Calibri-Bold"/>
              </a:rPr>
              <a:t>Science</a:t>
            </a:r>
          </a:p>
          <a:p>
            <a:pPr marL="575945" marR="0">
              <a:lnSpc>
                <a:spcPts val="2702"/>
              </a:lnSpc>
              <a:spcBef>
                <a:spcPts val="1127"/>
              </a:spcBef>
              <a:spcAft>
                <a:spcPts val="0"/>
              </a:spcAft>
            </a:pPr>
            <a:r>
              <a:rPr sz="2700" spc="-17" dirty="0">
                <a:solidFill>
                  <a:srgbClr val="0F243E"/>
                </a:solidFill>
                <a:latin typeface="JNGIAF+Calibri-Bold"/>
                <a:cs typeface="JNGIAF+Calibri-Bold"/>
              </a:rPr>
              <a:t>siyue.yu02@xjtlu.edu.cn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1675" y="864648"/>
            <a:ext cx="3270730" cy="495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00"/>
                </a:solidFill>
                <a:latin typeface="JNGIAF+Calibri-Bold"/>
                <a:cs typeface="JNGIAF+Calibri-Bold"/>
              </a:rPr>
              <a:t>Announcements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9775" y="1777575"/>
            <a:ext cx="2142570" cy="47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7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GNAIGT+Arial"/>
                <a:cs typeface="GNAIGT+Arial"/>
              </a:rPr>
              <a:t>●</a:t>
            </a:r>
            <a:r>
              <a:rPr sz="3000" spc="657" dirty="0">
                <a:solidFill>
                  <a:srgbClr val="000000"/>
                </a:solidFill>
                <a:latin typeface="GNAIGT+Arial"/>
                <a:cs typeface="GNAIGT+Arial"/>
              </a:rPr>
              <a:t> </a:t>
            </a:r>
            <a:r>
              <a:rPr sz="3000" dirty="0">
                <a:solidFill>
                  <a:srgbClr val="000000"/>
                </a:solidFill>
                <a:latin typeface="QOSQRA+Calibri"/>
                <a:cs typeface="QOSQRA+Calibri"/>
              </a:rPr>
              <a:t>Finish </a:t>
            </a:r>
            <a:r>
              <a:rPr sz="3000" spc="52" dirty="0">
                <a:solidFill>
                  <a:srgbClr val="000000"/>
                </a:solidFill>
                <a:latin typeface="QOSQRA+Calibri"/>
                <a:cs typeface="QOSQRA+Calibri"/>
              </a:rPr>
              <a:t>MQ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35392" y="2610114"/>
            <a:ext cx="1007553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NAIGT+Arial"/>
                <a:cs typeface="GNAIGT+Arial"/>
              </a:rPr>
              <a:t>○</a:t>
            </a:r>
            <a:r>
              <a:rPr sz="2400" spc="885" dirty="0">
                <a:solidFill>
                  <a:srgbClr val="000000"/>
                </a:solidFill>
                <a:latin typeface="GNAIGT+Arial"/>
                <a:cs typeface="GNAIGT+Arial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Please</a:t>
            </a:r>
            <a:r>
              <a:rPr sz="2400" spc="-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kindly</a:t>
            </a:r>
            <a:r>
              <a:rPr sz="2400" spc="-5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reminded that 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you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QOSQRA+Calibri"/>
                <a:cs typeface="QOSQRA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encouraged </a:t>
            </a:r>
            <a:r>
              <a:rPr sz="2400" spc="18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provide</a:t>
            </a:r>
            <a:r>
              <a:rPr sz="2400" spc="6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your</a:t>
            </a:r>
            <a:r>
              <a:rPr sz="2400" spc="-2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feedback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6710" y="3019822"/>
            <a:ext cx="858769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18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QOSQRA+Calibri"/>
                <a:cs typeface="QOSQRA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module</a:t>
            </a:r>
            <a:r>
              <a:rPr sz="2400" spc="-2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INT305 through </a:t>
            </a:r>
            <a:r>
              <a:rPr sz="2400" spc="15" dirty="0">
                <a:solidFill>
                  <a:srgbClr val="000000"/>
                </a:solidFill>
                <a:latin typeface="QOSQRA+Calibri"/>
                <a:cs typeface="QOSQRA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Module Feedback</a:t>
            </a:r>
            <a:r>
              <a:rPr sz="2400" spc="-6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Questionnaire.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35392" y="3420755"/>
            <a:ext cx="1005115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NAIGT+Arial"/>
                <a:cs typeface="GNAIGT+Arial"/>
              </a:rPr>
              <a:t>○</a:t>
            </a:r>
            <a:r>
              <a:rPr sz="2400" spc="885" dirty="0">
                <a:solidFill>
                  <a:srgbClr val="000000"/>
                </a:solidFill>
                <a:latin typeface="GNAIGT+Arial"/>
                <a:cs typeface="GNAIGT+Arial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Please</a:t>
            </a:r>
            <a:r>
              <a:rPr sz="2400" spc="-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QOSQRA+Calibri"/>
                <a:cs typeface="QOSQRA+Calibri"/>
              </a:rPr>
              <a:t>take</a:t>
            </a:r>
            <a:r>
              <a:rPr sz="2400" spc="7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your</a:t>
            </a:r>
            <a:r>
              <a:rPr sz="2400" spc="-2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time</a:t>
            </a:r>
            <a:r>
              <a:rPr sz="2400" spc="-2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QOSQRA+Calibri"/>
                <a:cs typeface="QOSQRA+Calibri"/>
              </a:rPr>
              <a:t>help</a:t>
            </a:r>
            <a:r>
              <a:rPr sz="2400" spc="-2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improving</a:t>
            </a:r>
            <a:r>
              <a:rPr sz="2400" spc="-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QOSQRA+Calibri"/>
                <a:cs typeface="QOSQRA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quality</a:t>
            </a:r>
            <a:r>
              <a:rPr sz="2400" spc="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of </a:t>
            </a:r>
            <a:r>
              <a:rPr sz="2400" spc="-22" dirty="0">
                <a:solidFill>
                  <a:srgbClr val="000000"/>
                </a:solidFill>
                <a:latin typeface="QOSQRA+Calibri"/>
                <a:cs typeface="QOSQRA+Calibri"/>
              </a:rPr>
              <a:t>this</a:t>
            </a:r>
            <a:r>
              <a:rPr sz="2400" spc="4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module</a:t>
            </a:r>
            <a:r>
              <a:rPr sz="2400" spc="6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QOSQRA+Calibri"/>
                <a:cs typeface="QOSQRA+Calibri"/>
              </a:rPr>
              <a:t>by</a:t>
            </a:r>
            <a:r>
              <a:rPr sz="2400" spc="8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sharing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6710" y="3830717"/>
            <a:ext cx="2170581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your</a:t>
            </a:r>
            <a:r>
              <a:rPr sz="2400" spc="4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comments.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30972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2060"/>
                </a:solidFill>
                <a:latin typeface="JNGIAF+Calibri-Bold"/>
                <a:cs typeface="JNGIAF+Calibri-Bold"/>
              </a:rPr>
              <a:t>Re-cap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32559" y="1487964"/>
            <a:ext cx="3763897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Last 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Time:</a:t>
            </a:r>
            <a:r>
              <a:rPr sz="2400" spc="-6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CNN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Architectures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30972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2060"/>
                </a:solidFill>
                <a:latin typeface="JNGIAF+Calibri-Bold"/>
                <a:cs typeface="JNGIAF+Calibri-Bold"/>
              </a:rPr>
              <a:t>Re-cap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85696" y="1382792"/>
            <a:ext cx="3770517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Last </a:t>
            </a: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Time:</a:t>
            </a:r>
            <a:r>
              <a:rPr sz="2400" spc="-6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CNN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Architectures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30972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2060"/>
                </a:solidFill>
                <a:latin typeface="JNGIAF+Calibri-Bold"/>
                <a:cs typeface="JNGIAF+Calibri-Bold"/>
              </a:rPr>
              <a:t>Re-cap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44370" y="1297067"/>
            <a:ext cx="376502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Last 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Time:</a:t>
            </a:r>
            <a:r>
              <a:rPr sz="2400" spc="-6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CNN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Architectures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30972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2060"/>
                </a:solidFill>
                <a:latin typeface="JNGIAF+Calibri-Bold"/>
                <a:cs typeface="JNGIAF+Calibri-Bold"/>
              </a:rPr>
              <a:t>Re-cap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44370" y="1629172"/>
            <a:ext cx="376502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Last 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Time:</a:t>
            </a:r>
            <a:r>
              <a:rPr sz="2400" spc="-6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CNN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Architectures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1147" y="4517518"/>
            <a:ext cx="2915294" cy="1791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传统的深度⽹络就像传话游戏，传了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100 个⼈后，最初的信息可能全丢了。</a:t>
            </a:r>
          </a:p>
          <a:p>
            <a:pPr marL="0" marR="0">
              <a:lnSpc>
                <a:spcPts val="1510"/>
              </a:lnSpc>
              <a:spcBef>
                <a:spcPts val="24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ResNet 的做法是：每个⼈在传话处理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（F(x)）的同时，还给下⼀个⼈递⼀张</a:t>
            </a:r>
          </a:p>
          <a:p>
            <a:pPr marL="0" marR="0">
              <a:lnSpc>
                <a:spcPts val="1510"/>
              </a:lnSpc>
              <a:spcBef>
                <a:spcPts val="24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写着原话的纸条（x）。这样即使处理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过程中出错了，原始信息也能保留下</a:t>
            </a:r>
          </a:p>
          <a:p>
            <a:pPr marL="0" marR="0">
              <a:lnSpc>
                <a:spcPts val="1510"/>
              </a:lnSpc>
              <a:spcBef>
                <a:spcPts val="24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来。这就让训练 152 层的“摩天⼤楼”成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为了可能。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5975" y="3178953"/>
            <a:ext cx="444879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Today:</a:t>
            </a:r>
            <a:r>
              <a:rPr sz="2400" spc="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</a:t>
            </a:r>
            <a:r>
              <a:rPr sz="2400" spc="-4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86585" y="1368103"/>
            <a:ext cx="3258367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NAIGT+Arial"/>
                <a:cs typeface="GNAIGT+Arial"/>
              </a:rPr>
              <a:t>“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Vanilla”</a:t>
            </a:r>
            <a:r>
              <a:rPr sz="2400" spc="-48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Neural</a:t>
            </a:r>
            <a:r>
              <a:rPr sz="2400" spc="30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Network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68310" y="2218282"/>
            <a:ext cx="3574473" cy="254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这种⽹络⾮常死板。它要求输⼊是固定⼤⼩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68310" y="2470434"/>
            <a:ext cx="3894167" cy="759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（⽐如⼀张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224x224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的图⽚），输出也是固定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⼤⼩（⽐如⼀个分类标签）。它处理不了“⻓短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不⼀”的数据，也记不住上下⽂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27301" y="1740439"/>
            <a:ext cx="5916739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</a:t>
            </a:r>
            <a:r>
              <a:rPr sz="2400" spc="-4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Networks:</a:t>
            </a:r>
            <a:r>
              <a:rPr sz="2400" spc="1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Process</a:t>
            </a:r>
            <a:r>
              <a:rPr sz="2400" spc="-6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72229" y="2485139"/>
            <a:ext cx="4652412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只有 1 个输⼊（红⾊块），但⽣成了多个输出（蓝⾊块序列）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45454" y="3306485"/>
            <a:ext cx="5002815" cy="525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19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给AI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看⼀张照⽚（固定输⼊），AI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给你讲⼀句话。这句话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可能包含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3</a:t>
            </a:r>
            <a:r>
              <a:rPr sz="1450" spc="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个单词，也可能包含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10</a:t>
            </a:r>
            <a:r>
              <a:rPr sz="14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个单词（序列输出）。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6651" y="1610122"/>
            <a:ext cx="5910137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</a:t>
            </a:r>
            <a:r>
              <a:rPr sz="2400" spc="-4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Networks:</a:t>
            </a:r>
            <a:r>
              <a:rPr sz="2400" spc="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Process</a:t>
            </a:r>
            <a:r>
              <a:rPr sz="2400" spc="-5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27058" y="2264248"/>
            <a:ext cx="4839913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有多个输⼊（红⾊块序列），最后只给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个输出（蓝⾊块）。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2012" y="3000589"/>
            <a:ext cx="4232565" cy="973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⽐如情感分析或视频分类。你给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AI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看⼀段视频（由很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多帧画⾯组成的序列），或者读⼀段影评（由很多单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词组成），AI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看完后总结出⼀个结果：这是“跳舞”视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频，或者是“好评”。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28153" y="1386864"/>
            <a:ext cx="3394365" cy="759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读⼊⼀串输⼊，然后输出⼀串结果。注意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图中是先读完所有绿⾊块（处理输⼊），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再⽣成蓝⾊块（输出）。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27301" y="1740439"/>
            <a:ext cx="5916739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</a:t>
            </a:r>
            <a:r>
              <a:rPr sz="2400" spc="-4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Networks:</a:t>
            </a:r>
            <a:r>
              <a:rPr sz="2400" spc="1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Process</a:t>
            </a:r>
            <a:r>
              <a:rPr sz="2400" spc="-6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35079" y="2562970"/>
            <a:ext cx="2583873" cy="1572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类似于机器翻译（Machine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15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Translation）。你输⼊⼀句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2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中⽂（序列），AI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等你说完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后，把它翻译成⼀句英⽂（序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列）。输⼊和输出的⻓度可以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不⼀样。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63856" y="1361675"/>
            <a:ext cx="2750127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每⼀个输⼊（红⾊块）⽴刻对应⼀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个输出（蓝⾊块）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0796" y="1499648"/>
            <a:ext cx="5915516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</a:t>
            </a:r>
            <a:r>
              <a:rPr sz="2400" spc="-4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Networks:</a:t>
            </a:r>
            <a:r>
              <a:rPr sz="2400" spc="1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Process</a:t>
            </a:r>
            <a:r>
              <a:rPr sz="2400" spc="-6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76520" y="2090309"/>
            <a:ext cx="1274618" cy="263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实时字幕或实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76520" y="2352160"/>
            <a:ext cx="1375057" cy="2358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时标注。视频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⼀边播，AI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⼀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边给每⼀帧画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⾯打标签。第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⼀秒是“没⼈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在”，第⼆秒是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19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“⼈进来了”，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第三秒是“⼈在</a:t>
            </a:r>
          </a:p>
          <a:p>
            <a:pPr marL="0" marR="0">
              <a:lnSpc>
                <a:spcPts val="1773"/>
              </a:lnSpc>
              <a:spcBef>
                <a:spcPts val="288"/>
              </a:spcBef>
              <a:spcAft>
                <a:spcPts val="0"/>
              </a:spcAft>
            </a:pPr>
            <a:r>
              <a:rPr sz="145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跑”。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3573" y="1073762"/>
            <a:ext cx="9206174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以前的神经⽹络（如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CNN）像是⼀个只会做填空题的学⽣（给⼀个空，填⼀个词）；⽽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像是⼀个能写作⽂、能翻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译、能实时对话的学⽣。RNN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的本质就是打破了固定⻓度的限制，让神经⽹络学会了处理“过程”和“时间”。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62479" y="1617361"/>
            <a:ext cx="4985272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Why</a:t>
            </a:r>
            <a:r>
              <a:rPr sz="2400" spc="2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existing</a:t>
            </a:r>
            <a:r>
              <a:rPr sz="2400" spc="-2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convnets</a:t>
            </a:r>
            <a:r>
              <a:rPr sz="2400" spc="2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QOSQRA+Calibri"/>
                <a:cs typeface="QOSQRA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insufficient?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03450" y="1678696"/>
            <a:ext cx="7815496" cy="767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Let’s</a:t>
            </a:r>
            <a:r>
              <a:rPr sz="2400" spc="16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start</a:t>
            </a:r>
            <a:r>
              <a:rPr sz="2400" spc="-76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with a</a:t>
            </a:r>
            <a:r>
              <a:rPr sz="2400" spc="30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VNSSBV+Calibri"/>
                <a:cs typeface="VNSSBV+Calibri"/>
              </a:rPr>
              <a:t>task</a:t>
            </a:r>
            <a:r>
              <a:rPr sz="2400" spc="29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that </a:t>
            </a:r>
            <a:r>
              <a:rPr sz="2400" spc="-10" dirty="0">
                <a:solidFill>
                  <a:srgbClr val="000000"/>
                </a:solidFill>
                <a:latin typeface="VNSSBV+Calibri"/>
                <a:cs typeface="VNSSBV+Calibri"/>
              </a:rPr>
              <a:t>takes</a:t>
            </a:r>
            <a:r>
              <a:rPr sz="2400" spc="28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variable</a:t>
            </a:r>
            <a:r>
              <a:rPr sz="2400" spc="-14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input and produces</a:t>
            </a:r>
          </a:p>
          <a:p>
            <a:pPr marL="0" marR="0">
              <a:lnSpc>
                <a:spcPts val="2402"/>
              </a:lnSpc>
              <a:spcBef>
                <a:spcPts val="406"/>
              </a:spcBef>
              <a:spcAft>
                <a:spcPts val="0"/>
              </a:spcAft>
            </a:pPr>
            <a:r>
              <a:rPr sz="2400" spc="-25" dirty="0">
                <a:solidFill>
                  <a:srgbClr val="000000"/>
                </a:solidFill>
                <a:latin typeface="QOSQRA+Calibri"/>
                <a:cs typeface="QOSQRA+Calibri"/>
              </a:rPr>
              <a:t>an</a:t>
            </a:r>
            <a:r>
              <a:rPr sz="2400" spc="2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output </a:t>
            </a:r>
            <a:r>
              <a:rPr sz="2400" spc="47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-1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every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step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096" y="1400318"/>
            <a:ext cx="3429541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</a:t>
            </a:r>
            <a:r>
              <a:rPr sz="2400" spc="-3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Network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49371" y="2290002"/>
            <a:ext cx="4308763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这个弯曲的箭头代表“循环”或者“递归”，意思是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处理完⼀个输⼊后，不仅输出结果，还会把⼀部分信息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“传给⾃⼰”，留给下⼀次处理使⽤。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096" y="1447308"/>
            <a:ext cx="3429541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</a:t>
            </a:r>
            <a:r>
              <a:rPr sz="2400" spc="-3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Network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980" y="2128772"/>
            <a:ext cx="3483531" cy="271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8"/>
              </a:lnSpc>
              <a:spcBef>
                <a:spcPts val="0"/>
              </a:spcBef>
              <a:spcAft>
                <a:spcPts val="0"/>
              </a:spcAft>
            </a:pPr>
            <a:r>
              <a:rPr sz="1550" spc="-23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内部状态</a:t>
            </a:r>
            <a:r>
              <a:rPr sz="1550" spc="-422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550" spc="-1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(Internal</a:t>
            </a:r>
            <a:r>
              <a:rPr sz="1550" spc="-417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550" spc="-11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State)</a:t>
            </a:r>
            <a:r>
              <a:rPr sz="15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</a:t>
            </a:r>
            <a:r>
              <a:rPr sz="1550" spc="-3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550" spc="-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这是</a:t>
            </a:r>
            <a:r>
              <a:rPr sz="15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550" spc="-16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8980" y="2400321"/>
            <a:ext cx="3536483" cy="814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8"/>
              </a:lnSpc>
              <a:spcBef>
                <a:spcPts val="0"/>
              </a:spcBef>
              <a:spcAft>
                <a:spcPts val="0"/>
              </a:spcAft>
            </a:pPr>
            <a:r>
              <a:rPr sz="1550" spc="-2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的灵魂。幻灯⽚明确指出，RNN</a:t>
            </a:r>
            <a:r>
              <a:rPr sz="15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550" spc="-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拥有⼀</a:t>
            </a:r>
          </a:p>
          <a:p>
            <a:pPr marL="0" marR="0">
              <a:lnSpc>
                <a:spcPts val="1838"/>
              </a:lnSpc>
              <a:spcBef>
                <a:spcPts val="349"/>
              </a:spcBef>
              <a:spcAft>
                <a:spcPts val="0"/>
              </a:spcAft>
            </a:pPr>
            <a:r>
              <a:rPr sz="1550" spc="-16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个“内部状态”（Internal</a:t>
            </a:r>
            <a:r>
              <a:rPr sz="15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550" spc="-16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State），这个</a:t>
            </a:r>
          </a:p>
          <a:p>
            <a:pPr marL="0" marR="0">
              <a:lnSpc>
                <a:spcPts val="1838"/>
              </a:lnSpc>
              <a:spcBef>
                <a:spcPts val="299"/>
              </a:spcBef>
              <a:spcAft>
                <a:spcPts val="0"/>
              </a:spcAft>
            </a:pPr>
            <a:r>
              <a:rPr sz="1550" spc="-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状态会随着序列的读取不断更新</a:t>
            </a:r>
            <a:r>
              <a:rPr sz="15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00543" y="3000065"/>
            <a:ext cx="3043267" cy="124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65"/>
              </a:lnSpc>
              <a:spcBef>
                <a:spcPts val="0"/>
              </a:spcBef>
              <a:spcAft>
                <a:spcPts val="0"/>
              </a:spcAft>
            </a:pPr>
            <a:r>
              <a:rPr sz="2050" spc="-14" dirty="0">
                <a:solidFill>
                  <a:srgbClr val="FF0000"/>
                </a:solidFill>
                <a:latin typeface="FEVBCC+ArialMT"/>
                <a:cs typeface="FEVBCC+ArialMT"/>
              </a:rPr>
              <a:t>Key</a:t>
            </a:r>
            <a:r>
              <a:rPr sz="2050" spc="-84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spc="-12" dirty="0">
                <a:solidFill>
                  <a:srgbClr val="FF0000"/>
                </a:solidFill>
                <a:latin typeface="FEVBCC+ArialMT"/>
                <a:cs typeface="FEVBCC+ArialMT"/>
              </a:rPr>
              <a:t>idea:</a:t>
            </a:r>
            <a:r>
              <a:rPr sz="2050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spc="-31" dirty="0">
                <a:solidFill>
                  <a:srgbClr val="FF0000"/>
                </a:solidFill>
                <a:latin typeface="FEVBCC+ArialMT"/>
                <a:cs typeface="FEVBCC+ArialMT"/>
              </a:rPr>
              <a:t>RNNs</a:t>
            </a:r>
            <a:r>
              <a:rPr sz="2050" spc="-63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spc="-26" dirty="0">
                <a:solidFill>
                  <a:srgbClr val="FF0000"/>
                </a:solidFill>
                <a:latin typeface="FEVBCC+ArialMT"/>
                <a:cs typeface="FEVBCC+ArialMT"/>
              </a:rPr>
              <a:t>have</a:t>
            </a:r>
            <a:r>
              <a:rPr sz="2050" spc="-33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spc="-13" dirty="0">
                <a:solidFill>
                  <a:srgbClr val="FF0000"/>
                </a:solidFill>
                <a:latin typeface="FEVBCC+ArialMT"/>
                <a:cs typeface="FEVBCC+ArialMT"/>
              </a:rPr>
              <a:t>an</a:t>
            </a:r>
          </a:p>
          <a:p>
            <a:pPr marL="0" marR="0">
              <a:lnSpc>
                <a:spcPts val="2265"/>
              </a:lnSpc>
              <a:spcBef>
                <a:spcPts val="136"/>
              </a:spcBef>
              <a:spcAft>
                <a:spcPts val="0"/>
              </a:spcAft>
            </a:pPr>
            <a:r>
              <a:rPr sz="2050" spc="-25" dirty="0">
                <a:solidFill>
                  <a:srgbClr val="FF0000"/>
                </a:solidFill>
                <a:latin typeface="GNAIGT+Arial"/>
                <a:cs typeface="GNAIGT+Arial"/>
              </a:rPr>
              <a:t>“internal</a:t>
            </a:r>
            <a:r>
              <a:rPr sz="2050" spc="48" dirty="0">
                <a:solidFill>
                  <a:srgbClr val="FF0000"/>
                </a:solidFill>
                <a:latin typeface="GNAIGT+Arial"/>
                <a:cs typeface="GNAIGT+Arial"/>
              </a:rPr>
              <a:t> </a:t>
            </a:r>
            <a:r>
              <a:rPr sz="2050" spc="-34" dirty="0">
                <a:solidFill>
                  <a:srgbClr val="FF0000"/>
                </a:solidFill>
                <a:latin typeface="GNAIGT+Arial"/>
                <a:cs typeface="GNAIGT+Arial"/>
              </a:rPr>
              <a:t>state”</a:t>
            </a:r>
            <a:r>
              <a:rPr sz="2050" spc="55" dirty="0">
                <a:solidFill>
                  <a:srgbClr val="FF0000"/>
                </a:solidFill>
                <a:latin typeface="GNAIGT+Arial"/>
                <a:cs typeface="GNAIGT+Arial"/>
              </a:rPr>
              <a:t> </a:t>
            </a:r>
            <a:r>
              <a:rPr sz="2050" spc="-23" dirty="0">
                <a:solidFill>
                  <a:srgbClr val="FF0000"/>
                </a:solidFill>
                <a:latin typeface="GNAIGT+Arial"/>
                <a:cs typeface="GNAIGT+Arial"/>
              </a:rPr>
              <a:t>that</a:t>
            </a:r>
            <a:r>
              <a:rPr sz="2050" spc="-70" dirty="0">
                <a:solidFill>
                  <a:srgbClr val="FF0000"/>
                </a:solidFill>
                <a:latin typeface="GNAIGT+Arial"/>
                <a:cs typeface="GNAIGT+Arial"/>
              </a:rPr>
              <a:t> </a:t>
            </a:r>
            <a:r>
              <a:rPr sz="2050" dirty="0">
                <a:solidFill>
                  <a:srgbClr val="FF0000"/>
                </a:solidFill>
                <a:latin typeface="GNAIGT+Arial"/>
                <a:cs typeface="GNAIGT+Arial"/>
              </a:rPr>
              <a:t>is</a:t>
            </a:r>
          </a:p>
          <a:p>
            <a:pPr marL="0" marR="0">
              <a:lnSpc>
                <a:spcPts val="2265"/>
              </a:lnSpc>
              <a:spcBef>
                <a:spcPts val="136"/>
              </a:spcBef>
              <a:spcAft>
                <a:spcPts val="0"/>
              </a:spcAft>
            </a:pPr>
            <a:r>
              <a:rPr sz="2050" spc="-20" dirty="0">
                <a:solidFill>
                  <a:srgbClr val="FF0000"/>
                </a:solidFill>
                <a:latin typeface="FEVBCC+ArialMT"/>
                <a:cs typeface="FEVBCC+ArialMT"/>
              </a:rPr>
              <a:t>updated</a:t>
            </a:r>
            <a:r>
              <a:rPr sz="2050" spc="-44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spc="-13" dirty="0">
                <a:solidFill>
                  <a:srgbClr val="FF0000"/>
                </a:solidFill>
                <a:latin typeface="FEVBCC+ArialMT"/>
                <a:cs typeface="FEVBCC+ArialMT"/>
              </a:rPr>
              <a:t>as</a:t>
            </a:r>
            <a:r>
              <a:rPr sz="2050" spc="-83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dirty="0">
                <a:solidFill>
                  <a:srgbClr val="FF0000"/>
                </a:solidFill>
                <a:latin typeface="FEVBCC+ArialMT"/>
                <a:cs typeface="FEVBCC+ArialMT"/>
              </a:rPr>
              <a:t>a</a:t>
            </a:r>
            <a:r>
              <a:rPr sz="2050" spc="-58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spc="-25" dirty="0">
                <a:solidFill>
                  <a:srgbClr val="FF0000"/>
                </a:solidFill>
                <a:latin typeface="FEVBCC+ArialMT"/>
                <a:cs typeface="FEVBCC+ArialMT"/>
              </a:rPr>
              <a:t>sequence</a:t>
            </a:r>
            <a:r>
              <a:rPr sz="2050" spc="-34" dirty="0">
                <a:solidFill>
                  <a:srgbClr val="FF0000"/>
                </a:solidFill>
                <a:latin typeface="FEVBCC+ArialMT"/>
                <a:cs typeface="FEVBCC+ArialMT"/>
              </a:rPr>
              <a:t> </a:t>
            </a:r>
            <a:r>
              <a:rPr sz="2050" dirty="0">
                <a:solidFill>
                  <a:srgbClr val="FF0000"/>
                </a:solidFill>
                <a:latin typeface="FEVBCC+ArialMT"/>
                <a:cs typeface="FEVBCC+ArialMT"/>
              </a:rPr>
              <a:t>is</a:t>
            </a:r>
          </a:p>
          <a:p>
            <a:pPr marL="0" marR="0">
              <a:lnSpc>
                <a:spcPts val="2265"/>
              </a:lnSpc>
              <a:spcBef>
                <a:spcPts val="139"/>
              </a:spcBef>
              <a:spcAft>
                <a:spcPts val="0"/>
              </a:spcAft>
            </a:pPr>
            <a:r>
              <a:rPr sz="2050" spc="-27" dirty="0">
                <a:solidFill>
                  <a:srgbClr val="FF0000"/>
                </a:solidFill>
                <a:latin typeface="FEVBCC+ArialMT"/>
                <a:cs typeface="FEVBCC+ArialMT"/>
              </a:rPr>
              <a:t>processed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8980" y="3924322"/>
            <a:ext cx="3528725" cy="1086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8"/>
              </a:lnSpc>
              <a:spcBef>
                <a:spcPts val="0"/>
              </a:spcBef>
              <a:spcAft>
                <a:spcPts val="0"/>
              </a:spcAft>
            </a:pPr>
            <a:r>
              <a:rPr sz="1550" spc="-23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通俗解释</a:t>
            </a:r>
            <a:r>
              <a:rPr sz="15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</a:t>
            </a:r>
            <a:r>
              <a:rPr sz="1550" spc="-3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550" spc="-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这就像你的“短期记忆”。当</a:t>
            </a:r>
          </a:p>
          <a:p>
            <a:pPr marL="0" marR="0">
              <a:lnSpc>
                <a:spcPts val="1838"/>
              </a:lnSpc>
              <a:spcBef>
                <a:spcPts val="349"/>
              </a:spcBef>
              <a:spcAft>
                <a:spcPts val="0"/>
              </a:spcAft>
            </a:pPr>
            <a:r>
              <a:rPr sz="1550" spc="-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你读到句⼦的第三个词时，你的脑海⾥</a:t>
            </a:r>
          </a:p>
          <a:p>
            <a:pPr marL="0" marR="0">
              <a:lnSpc>
                <a:spcPts val="1838"/>
              </a:lnSpc>
              <a:spcBef>
                <a:spcPts val="299"/>
              </a:spcBef>
              <a:spcAft>
                <a:spcPts val="0"/>
              </a:spcAft>
            </a:pPr>
            <a:r>
              <a:rPr sz="1550" spc="-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（内部状态）已经包含了前两个词的信</a:t>
            </a:r>
          </a:p>
          <a:p>
            <a:pPr marL="0" marR="0">
              <a:lnSpc>
                <a:spcPts val="1838"/>
              </a:lnSpc>
              <a:spcBef>
                <a:spcPts val="349"/>
              </a:spcBef>
              <a:spcAft>
                <a:spcPts val="0"/>
              </a:spcAft>
            </a:pPr>
            <a:r>
              <a:rPr sz="1550" spc="-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8070" y="1417240"/>
            <a:ext cx="2427512" cy="447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7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0000"/>
                </a:solidFill>
                <a:latin typeface="QOSQRA+Calibri"/>
                <a:cs typeface="QOSQRA+Calibri"/>
              </a:rPr>
              <a:t>Unrolled</a:t>
            </a:r>
            <a:r>
              <a:rPr sz="3250" spc="-2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19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57853" y="1505014"/>
            <a:ext cx="4341692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3250" spc="-3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25" dirty="0">
                <a:solidFill>
                  <a:srgbClr val="000000"/>
                </a:solidFill>
                <a:latin typeface="QOSQRA+Calibri"/>
                <a:cs typeface="QOSQRA+Calibri"/>
              </a:rPr>
              <a:t>hidden</a:t>
            </a:r>
            <a:r>
              <a:rPr sz="3250" spc="5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31" dirty="0">
                <a:solidFill>
                  <a:srgbClr val="000000"/>
                </a:solidFill>
                <a:latin typeface="QOSQRA+Calibri"/>
                <a:cs typeface="QOSQRA+Calibri"/>
              </a:rPr>
              <a:t>state</a:t>
            </a:r>
            <a:r>
              <a:rPr sz="3250" dirty="0">
                <a:solidFill>
                  <a:srgbClr val="000000"/>
                </a:solidFill>
                <a:latin typeface="QOSQRA+Calibri"/>
                <a:cs typeface="QOSQRA+Calibri"/>
              </a:rPr>
              <a:t> update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43818" y="1498146"/>
            <a:ext cx="2288424" cy="145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这⾥的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W（参数）在每⼀步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都是完全相同的。这意味着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⽆论句⼦多⻓，不管是处理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第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1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个词还是第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100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个词，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我们都⽤同⼀套规则（同⼀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个⼤脑）来处理。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28394" y="2039779"/>
            <a:ext cx="5631938" cy="1077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spc="39" dirty="0">
                <a:solidFill>
                  <a:srgbClr val="000000"/>
                </a:solidFill>
                <a:latin typeface="QOSQRA+Calibri"/>
                <a:cs typeface="QOSQRA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QOSQRA+Calibri"/>
                <a:cs typeface="QOSQRA+Calibri"/>
              </a:rPr>
              <a:t> process</a:t>
            </a:r>
            <a:r>
              <a:rPr sz="2400" spc="2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 of vectors</a:t>
            </a:r>
            <a:r>
              <a:rPr sz="2400" spc="3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x</a:t>
            </a:r>
            <a:r>
              <a:rPr sz="2400" spc="-902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by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applying</a:t>
            </a:r>
            <a:r>
              <a:rPr sz="2400" spc="-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recurrence</a:t>
            </a:r>
            <a:r>
              <a:rPr sz="2400" spc="-844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formula</a:t>
            </a:r>
            <a:r>
              <a:rPr sz="2400" spc="-85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2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every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QOSQRA+Calibri"/>
                <a:cs typeface="QOSQRA+Calibri"/>
              </a:rPr>
              <a:t>time</a:t>
            </a:r>
          </a:p>
          <a:p>
            <a:pPr marL="0" marR="0">
              <a:lnSpc>
                <a:spcPts val="2405"/>
              </a:lnSpc>
              <a:spcBef>
                <a:spcPts val="52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step: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7177" y="4545149"/>
            <a:ext cx="3162043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FEQEEP+Helvetica-Bold"/>
                <a:cs typeface="FEQEEP+Helvetica-Bold"/>
              </a:rPr>
              <a:t>(New</a:t>
            </a:r>
            <a:r>
              <a:rPr sz="1100" spc="-358" dirty="0">
                <a:solidFill>
                  <a:srgbClr val="000000"/>
                </a:solidFill>
                <a:latin typeface="FEQEEP+Helvetica-Bold"/>
                <a:cs typeface="FEQEEP+Helvetica-Bold"/>
              </a:rPr>
              <a:t> </a:t>
            </a:r>
            <a:r>
              <a:rPr sz="1100" dirty="0">
                <a:solidFill>
                  <a:srgbClr val="000000"/>
                </a:solidFill>
                <a:latin typeface="FEQEEP+Helvetica-Bold"/>
                <a:cs typeface="FEQEEP+Helvetica-Bold"/>
              </a:rPr>
              <a:t>State)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：</a:t>
            </a:r>
            <a:r>
              <a:rPr sz="1100" spc="-36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新状态（今天的记忆）。这是我们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要计算的⽬标。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7177" y="5016203"/>
            <a:ext cx="3246604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FEQEEP+Helvetica-Bold"/>
                <a:cs typeface="FEQEEP+Helvetica-Bold"/>
              </a:rPr>
              <a:t>(Old</a:t>
            </a:r>
            <a:r>
              <a:rPr sz="1100" spc="-358" dirty="0">
                <a:solidFill>
                  <a:srgbClr val="000000"/>
                </a:solidFill>
                <a:latin typeface="FEQEEP+Helvetica-Bold"/>
                <a:cs typeface="FEQEEP+Helvetica-Bold"/>
              </a:rPr>
              <a:t> </a:t>
            </a:r>
            <a:r>
              <a:rPr sz="1100" dirty="0">
                <a:solidFill>
                  <a:srgbClr val="000000"/>
                </a:solidFill>
                <a:latin typeface="FEQEEP+Helvetica-Bold"/>
                <a:cs typeface="FEQEEP+Helvetica-Bold"/>
              </a:rPr>
              <a:t>State)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：</a:t>
            </a:r>
            <a:r>
              <a:rPr sz="1100" spc="-36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旧状态（昨天的记忆）。这是上⼀步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传过来的信息。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7177" y="5487258"/>
            <a:ext cx="3161975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FEQEEP+Helvetica-Bold"/>
                <a:cs typeface="FEQEEP+Helvetica-Bold"/>
              </a:rPr>
              <a:t>(Input</a:t>
            </a:r>
            <a:r>
              <a:rPr sz="1100" spc="-355" dirty="0">
                <a:solidFill>
                  <a:srgbClr val="000000"/>
                </a:solidFill>
                <a:latin typeface="FEQEEP+Helvetica-Bold"/>
                <a:cs typeface="FEQEEP+Helvetica-Bold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FEQEEP+Helvetica-Bold"/>
                <a:cs typeface="FEQEEP+Helvetica-Bold"/>
              </a:rPr>
              <a:t>Vector)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：</a:t>
            </a:r>
            <a:r>
              <a:rPr sz="1100" spc="-36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当前输⼊（今天的知识）。这是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当前时刻进⼊⽹络的新数据。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71772" y="5649149"/>
            <a:ext cx="725960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每⼀次更新，RNN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都会把“过去的记忆”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(h_{t-1}) 和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“当前的新闻”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(x_t)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融合在⼀起，通过⼀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个固定的函数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f_W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进⾏“搅拌”，⽣成“新的记忆”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(h_t)。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7177" y="5958312"/>
            <a:ext cx="3253978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FEQEEP+Helvetica-Bold"/>
                <a:cs typeface="FEQEEP+Helvetica-Bold"/>
              </a:rPr>
              <a:t>(Function)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：</a:t>
            </a:r>
            <a:r>
              <a:rPr sz="1100" spc="-36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处理函数。它带有参数</a:t>
            </a:r>
            <a:r>
              <a:rPr sz="1100" spc="-356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FEQEEP+Helvetica-Bold"/>
                <a:cs typeface="FEQEEP+Helvetica-Bold"/>
              </a:rPr>
              <a:t>W</a:t>
            </a: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，就像⼤脑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7177" y="6152276"/>
            <a:ext cx="983672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的处理规则。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10634" y="1497885"/>
            <a:ext cx="4012108" cy="447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7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1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3250" spc="-4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27" dirty="0">
                <a:solidFill>
                  <a:srgbClr val="000000"/>
                </a:solidFill>
                <a:latin typeface="QOSQRA+Calibri"/>
                <a:cs typeface="QOSQRA+Calibri"/>
              </a:rPr>
              <a:t>output</a:t>
            </a:r>
            <a:r>
              <a:rPr sz="325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21" dirty="0">
                <a:solidFill>
                  <a:srgbClr val="000000"/>
                </a:solidFill>
                <a:latin typeface="QOSQRA+Calibri"/>
                <a:cs typeface="QOSQRA+Calibri"/>
              </a:rPr>
              <a:t>generation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8394" y="2192671"/>
            <a:ext cx="5632114" cy="1077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9" dirty="0">
                <a:solidFill>
                  <a:srgbClr val="000000"/>
                </a:solidFill>
                <a:latin typeface="QOSQRA+Calibri"/>
                <a:cs typeface="QOSQRA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QOSQRA+Calibri"/>
                <a:cs typeface="QOSQRA+Calibri"/>
              </a:rPr>
              <a:t>process</a:t>
            </a:r>
            <a:r>
              <a:rPr sz="2400" spc="2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 of vectors</a:t>
            </a:r>
            <a:r>
              <a:rPr sz="2400" spc="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x</a:t>
            </a:r>
            <a:r>
              <a:rPr sz="2400" spc="-902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by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applying</a:t>
            </a:r>
            <a:r>
              <a:rPr sz="2400" spc="-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2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recurrence</a:t>
            </a:r>
            <a:r>
              <a:rPr sz="2400" spc="-846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formula</a:t>
            </a:r>
            <a:r>
              <a:rPr sz="2400" spc="-839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every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QOSQRA+Calibri"/>
                <a:cs typeface="QOSQRA+Calibri"/>
              </a:rPr>
              <a:t>time</a:t>
            </a:r>
          </a:p>
          <a:p>
            <a:pPr marL="0" marR="0">
              <a:lnSpc>
                <a:spcPts val="2402"/>
              </a:lnSpc>
              <a:spcBef>
                <a:spcPts val="52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step: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3206" y="4586633"/>
            <a:ext cx="3170982" cy="45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(Output)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</a:t>
            </a:r>
            <a:r>
              <a:rPr sz="1250" spc="-6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当前输出。⽐如预测的下⼀个单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词，或者当前帧的分类。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3206" y="5115877"/>
            <a:ext cx="3162270" cy="45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(Current State)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</a:t>
            </a:r>
            <a:r>
              <a:rPr sz="1250" spc="-6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当前状态。也就是刚刚在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上⼀⻚计算出来的新记忆。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3206" y="5645120"/>
            <a:ext cx="3179618" cy="676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输出函数。这是另⼀套参数（幻灯⽚中标注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为</a:t>
            </a:r>
            <a:r>
              <a:rPr sz="1250" spc="-6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W_{hy} 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或</a:t>
            </a:r>
            <a:r>
              <a:rPr sz="1250" spc="-6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W_o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），专⻔负责把</a:t>
            </a: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“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内部记</a:t>
            </a:r>
          </a:p>
          <a:p>
            <a:pPr marL="0" marR="0">
              <a:lnSpc>
                <a:spcPts val="1510"/>
              </a:lnSpc>
              <a:spcBef>
                <a:spcPts val="24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忆</a:t>
            </a: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”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翻译成</a:t>
            </a: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“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外部输出</a:t>
            </a:r>
            <a:r>
              <a:rPr sz="1250" dirty="0">
                <a:solidFill>
                  <a:srgbClr val="000000"/>
                </a:solidFill>
                <a:latin typeface="PGLPWF+Helvetica"/>
                <a:cs typeface="PGLPWF+Helvetica"/>
              </a:rPr>
              <a:t>”</a:t>
            </a:r>
            <a:r>
              <a:rPr sz="12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7265" y="1493202"/>
            <a:ext cx="452301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0000"/>
                </a:solidFill>
                <a:latin typeface="QOSQRA+Calibri"/>
                <a:cs typeface="QOSQRA+Calibri"/>
              </a:rPr>
              <a:t>Recurrent</a:t>
            </a:r>
            <a:r>
              <a:rPr sz="325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17" dirty="0">
                <a:solidFill>
                  <a:srgbClr val="000000"/>
                </a:solidFill>
                <a:latin typeface="QOSQRA+Calibri"/>
                <a:cs typeface="QOSQRA+Calibri"/>
              </a:rPr>
              <a:t>Neural</a:t>
            </a:r>
            <a:r>
              <a:rPr sz="3250" spc="-4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24" dirty="0">
                <a:solidFill>
                  <a:srgbClr val="000000"/>
                </a:solidFill>
                <a:latin typeface="QOSQRA+Calibri"/>
                <a:cs typeface="QOSQRA+Calibri"/>
              </a:rPr>
              <a:t>Network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6459" y="1569402"/>
            <a:ext cx="452588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00000"/>
                </a:solidFill>
                <a:latin typeface="QOSQRA+Calibri"/>
                <a:cs typeface="QOSQRA+Calibri"/>
              </a:rPr>
              <a:t>Recurrent</a:t>
            </a:r>
            <a:r>
              <a:rPr sz="325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17" dirty="0">
                <a:solidFill>
                  <a:srgbClr val="000000"/>
                </a:solidFill>
                <a:latin typeface="QOSQRA+Calibri"/>
                <a:cs typeface="QOSQRA+Calibri"/>
              </a:rPr>
              <a:t>Neural</a:t>
            </a:r>
            <a:r>
              <a:rPr sz="3250" spc="-3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3250" spc="-23" dirty="0">
                <a:solidFill>
                  <a:srgbClr val="000000"/>
                </a:solidFill>
                <a:latin typeface="QOSQRA+Calibri"/>
                <a:cs typeface="QOSQRA+Calibri"/>
              </a:rPr>
              <a:t>Network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8394" y="2345452"/>
            <a:ext cx="5631938" cy="1077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9" dirty="0">
                <a:solidFill>
                  <a:srgbClr val="000000"/>
                </a:solidFill>
                <a:latin typeface="QOSQRA+Calibri"/>
                <a:cs typeface="QOSQRA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QOSQRA+Calibri"/>
                <a:cs typeface="QOSQRA+Calibri"/>
              </a:rPr>
              <a:t>process</a:t>
            </a:r>
            <a:r>
              <a:rPr sz="2400" spc="2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 of vectors</a:t>
            </a:r>
            <a:r>
              <a:rPr sz="2400" spc="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x</a:t>
            </a:r>
            <a:r>
              <a:rPr sz="2400" spc="-902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by</a:t>
            </a:r>
          </a:p>
          <a:p>
            <a:pPr marL="0" marR="0">
              <a:lnSpc>
                <a:spcPts val="2402"/>
              </a:lnSpc>
              <a:spcBef>
                <a:spcPts val="45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applying</a:t>
            </a:r>
            <a:r>
              <a:rPr sz="2400" spc="-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recurrence</a:t>
            </a:r>
            <a:r>
              <a:rPr sz="2400" spc="-844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formula</a:t>
            </a:r>
            <a:r>
              <a:rPr sz="2400" spc="-85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2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every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QOSQRA+Calibri"/>
                <a:cs typeface="QOSQRA+Calibri"/>
              </a:rPr>
              <a:t>time</a:t>
            </a:r>
          </a:p>
          <a:p>
            <a:pPr marL="0" marR="0">
              <a:lnSpc>
                <a:spcPts val="2402"/>
              </a:lnSpc>
              <a:spcBef>
                <a:spcPts val="52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step: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82851" y="4946396"/>
            <a:ext cx="6448504" cy="820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QOSQRA+Calibri"/>
                <a:cs typeface="QOSQRA+Calibri"/>
              </a:rPr>
              <a:t>Notice:</a:t>
            </a:r>
            <a:r>
              <a:rPr sz="2800" spc="45" dirty="0">
                <a:solidFill>
                  <a:srgbClr val="FF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QOSQRA+Calibri"/>
                <a:cs typeface="QOSQRA+Calibri"/>
              </a:rPr>
              <a:t>the same function</a:t>
            </a:r>
            <a:r>
              <a:rPr sz="2800" spc="70" dirty="0">
                <a:solidFill>
                  <a:srgbClr val="FF0000"/>
                </a:solidFill>
                <a:latin typeface="QOSQRA+Calibri"/>
                <a:cs typeface="QOSQRA+Calibri"/>
              </a:rPr>
              <a:t> </a:t>
            </a:r>
            <a:r>
              <a:rPr sz="2800" spc="-19" dirty="0">
                <a:solidFill>
                  <a:srgbClr val="FF0000"/>
                </a:solidFill>
                <a:latin typeface="QOSQRA+Calibri"/>
                <a:cs typeface="QOSQRA+Calibri"/>
              </a:rPr>
              <a:t>and</a:t>
            </a:r>
            <a:r>
              <a:rPr sz="2800" spc="14" dirty="0">
                <a:solidFill>
                  <a:srgbClr val="FF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QOSQRA+Calibri"/>
                <a:cs typeface="QOSQRA+Calibri"/>
              </a:rPr>
              <a:t>the </a:t>
            </a:r>
            <a:r>
              <a:rPr sz="2800" spc="16" dirty="0">
                <a:solidFill>
                  <a:srgbClr val="FF0000"/>
                </a:solidFill>
                <a:latin typeface="QOSQRA+Calibri"/>
                <a:cs typeface="QOSQRA+Calibri"/>
              </a:rPr>
              <a:t>same</a:t>
            </a:r>
            <a:r>
              <a:rPr sz="2800" spc="-18" dirty="0">
                <a:solidFill>
                  <a:srgbClr val="FF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QOSQRA+Calibri"/>
                <a:cs typeface="QOSQRA+Calibri"/>
              </a:rPr>
              <a:t>set</a:t>
            </a:r>
          </a:p>
          <a:p>
            <a:pPr marL="0" marR="0">
              <a:lnSpc>
                <a:spcPts val="2780"/>
              </a:lnSpc>
              <a:spcBef>
                <a:spcPts val="599"/>
              </a:spcBef>
              <a:spcAft>
                <a:spcPts val="0"/>
              </a:spcAft>
            </a:pPr>
            <a:r>
              <a:rPr sz="2800" spc="22" dirty="0">
                <a:solidFill>
                  <a:srgbClr val="FF0000"/>
                </a:solidFill>
                <a:latin typeface="QOSQRA+Calibri"/>
                <a:cs typeface="QOSQRA+Calibri"/>
              </a:rPr>
              <a:t>of</a:t>
            </a:r>
            <a:r>
              <a:rPr sz="2800" spc="-11" dirty="0">
                <a:solidFill>
                  <a:srgbClr val="FF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QOSQRA+Calibri"/>
                <a:cs typeface="QOSQRA+Calibri"/>
              </a:rPr>
              <a:t>parameters are used</a:t>
            </a:r>
            <a:r>
              <a:rPr sz="2800" spc="-10" dirty="0">
                <a:solidFill>
                  <a:srgbClr val="FF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QOSQRA+Calibri"/>
                <a:cs typeface="QOSQRA+Calibri"/>
              </a:rPr>
              <a:t>at every</a:t>
            </a:r>
            <a:r>
              <a:rPr sz="2800" spc="-22" dirty="0">
                <a:solidFill>
                  <a:srgbClr val="FF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QOSQRA+Calibri"/>
                <a:cs typeface="QOSQRA+Calibri"/>
              </a:rPr>
              <a:t>time step.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6050" y="5828221"/>
            <a:ext cx="7189817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不管你处理的是句⼦的第1个词还是第100个词，你⽤的⼤脑结构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(f) 和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脑神经连接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W</a:t>
            </a:r>
            <a:r>
              <a:rPr sz="135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是⼀模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⼀样的。这叫做“权值共享”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(Parameter Sharing)，是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能处理⽆限⻓序列的关键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67585" y="1508998"/>
            <a:ext cx="5239861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(Simple)</a:t>
            </a:r>
            <a:r>
              <a:rPr sz="2800" spc="-6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Recurrent Neural Network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66900" y="1633855"/>
            <a:ext cx="4102573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spc="13" dirty="0">
                <a:solidFill>
                  <a:srgbClr val="000000"/>
                </a:solidFill>
                <a:latin typeface="QOSQRA+Calibri"/>
                <a:cs typeface="QOSQRA+Calibri"/>
              </a:rPr>
              <a:t>RNN:</a:t>
            </a:r>
            <a:r>
              <a:rPr sz="2800" spc="-3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Computational Graph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05940" y="1451213"/>
            <a:ext cx="4101136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RNN:</a:t>
            </a:r>
            <a:r>
              <a:rPr sz="2800" spc="-3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Computational Graph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6710" y="1491853"/>
            <a:ext cx="4096551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spc="11" dirty="0">
                <a:solidFill>
                  <a:srgbClr val="000000"/>
                </a:solidFill>
                <a:latin typeface="QOSQRA+Calibri"/>
                <a:cs typeface="QOSQRA+Calibri"/>
              </a:rPr>
              <a:t>RNN:</a:t>
            </a:r>
            <a:r>
              <a:rPr sz="2800" spc="-3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Computational Graph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77422" y="5452453"/>
            <a:ext cx="3269673" cy="973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同⼀个权重矩阵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W</a:t>
            </a:r>
            <a:r>
              <a:rPr sz="135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被重复使⽤在每⼀个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时间步上。就像你⽤同⼀把锤⼦去敲所有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的钉⼦，⽽不是每敲⼀个钉⼦换⼀把锤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46579" y="1369314"/>
            <a:ext cx="6400386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spc="13" dirty="0">
                <a:solidFill>
                  <a:srgbClr val="000000"/>
                </a:solidFill>
                <a:latin typeface="QOSQRA+Calibri"/>
                <a:cs typeface="QOSQRA+Calibri"/>
              </a:rPr>
              <a:t>RNN:</a:t>
            </a:r>
            <a:r>
              <a:rPr sz="2800" spc="-3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Computational Graph:</a:t>
            </a:r>
            <a:r>
              <a:rPr sz="2800" spc="3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  <a:r>
              <a:rPr sz="2800" spc="-1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35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800" spc="-4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3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3476" y="1471533"/>
            <a:ext cx="6398325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spc="11" dirty="0">
                <a:solidFill>
                  <a:srgbClr val="000000"/>
                </a:solidFill>
                <a:latin typeface="QOSQRA+Calibri"/>
                <a:cs typeface="QOSQRA+Calibri"/>
              </a:rPr>
              <a:t>RNN:</a:t>
            </a:r>
            <a:r>
              <a:rPr sz="2800" spc="-3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Computational </a:t>
            </a:r>
            <a:r>
              <a:rPr sz="2800" spc="15" dirty="0">
                <a:solidFill>
                  <a:srgbClr val="000000"/>
                </a:solidFill>
                <a:latin typeface="QOSQRA+Calibri"/>
                <a:cs typeface="QOSQRA+Calibri"/>
              </a:rPr>
              <a:t>Graph:</a:t>
            </a:r>
            <a:r>
              <a:rPr sz="2800" spc="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  <a:r>
              <a:rPr sz="2800" spc="-1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34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800" spc="-4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93647" y="944526"/>
            <a:ext cx="4329227" cy="221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这相当于告诉机器：“这⼀整段路⾛下来，你总体表现如何” 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83244" y="1049951"/>
            <a:ext cx="7945584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这种模式通常⽤于总结或分类整个序列的任务（如情感分析：读完整个影评，判断是褒义还是贬义）。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579" y="1409954"/>
            <a:ext cx="616875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spc="13" dirty="0">
                <a:solidFill>
                  <a:srgbClr val="000000"/>
                </a:solidFill>
                <a:latin typeface="QOSQRA+Calibri"/>
                <a:cs typeface="QOSQRA+Calibri"/>
              </a:rPr>
              <a:t>RNN:</a:t>
            </a:r>
            <a:r>
              <a:rPr sz="2800" spc="-3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Computational Graph:</a:t>
            </a:r>
            <a:r>
              <a:rPr sz="2800" spc="3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  <a:r>
              <a:rPr sz="2800" spc="-1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35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800" spc="-4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QOSQRA+Calibri"/>
                <a:cs typeface="QOSQRA+Calibri"/>
              </a:rPr>
              <a:t>One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8087" y="3327873"/>
            <a:ext cx="1711036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就像侦探听完所有证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词后，最后指认凶⼿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6926" y="999417"/>
            <a:ext cx="5950529" cy="263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这种模式通常⽤于⽣成任务（如看图说话：给⼀张图，⽣成⼀句话）。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579" y="1409954"/>
            <a:ext cx="6171956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spc="13" dirty="0">
                <a:solidFill>
                  <a:srgbClr val="000000"/>
                </a:solidFill>
                <a:latin typeface="QOSQRA+Calibri"/>
                <a:cs typeface="QOSQRA+Calibri"/>
              </a:rPr>
              <a:t>RNN:</a:t>
            </a:r>
            <a:r>
              <a:rPr sz="2800" spc="-3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Computational Graph:</a:t>
            </a:r>
            <a:r>
              <a:rPr sz="2800" spc="3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QOSQRA+Calibri"/>
                <a:cs typeface="QOSQRA+Calibri"/>
              </a:rPr>
              <a:t>One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37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800" spc="9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27154" y="4447838"/>
            <a:ext cx="306912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只有⼀个输⼊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x（通常⽤来初始化第⼀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个隐藏状态，或者在第⼀步输⼊）。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27154" y="5015874"/>
            <a:ext cx="3109308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⽹络随后开始“⾃⾔⾃语”：根据初始信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息⽣成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y1，然后基于记忆继续⽣成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y2,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y3,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….，直到序列结束。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27154" y="5826365"/>
            <a:ext cx="3096491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⽐喻：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就像⽼师给了你⼀个作⽂题⽬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（⼀个输⼊），你写出了⼀篇⼏百字的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⽂章（序列输出）。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98272" y="982773"/>
            <a:ext cx="7599218" cy="1141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这是最强⼤的模式，结合了多对⼀和⼀对多。它是机器翻译（如将中⽂翻译成英⽂）的核⼼架构。</a:t>
            </a:r>
          </a:p>
          <a:p>
            <a:pPr marL="9952" marR="0">
              <a:lnSpc>
                <a:spcPts val="2777"/>
              </a:lnSpc>
              <a:spcBef>
                <a:spcPts val="886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Sequence </a:t>
            </a:r>
            <a:r>
              <a:rPr sz="2800" spc="34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800" spc="-4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Sequence:</a:t>
            </a:r>
            <a:r>
              <a:rPr sz="2800" spc="4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Many-to-one +</a:t>
            </a:r>
            <a:r>
              <a:rPr sz="2800" spc="6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one-to-</a:t>
            </a:r>
          </a:p>
          <a:p>
            <a:pPr marL="9952" marR="0">
              <a:lnSpc>
                <a:spcPts val="2777"/>
              </a:lnSpc>
              <a:spcBef>
                <a:spcPts val="602"/>
              </a:spcBef>
              <a:spcAft>
                <a:spcPts val="0"/>
              </a:spcAft>
            </a:pPr>
            <a:r>
              <a:rPr sz="2800" spc="-10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29333" y="2033699"/>
            <a:ext cx="3130608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第⼀阶段：编码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(Encoder)</a:t>
            </a:r>
            <a:r>
              <a:rPr sz="1350" spc="-358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-</a:t>
            </a:r>
            <a:r>
              <a:rPr sz="1350" spc="-347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多对⼀：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29333" y="2359282"/>
            <a:ext cx="3802033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⽹络先读取整个输⼊序列（如“你好吗”），但不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输出。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96159" y="2551827"/>
            <a:ext cx="3509289" cy="705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  <a:r>
              <a:rPr sz="2400" spc="-6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one:</a:t>
            </a:r>
            <a:r>
              <a:rPr sz="2400" spc="-6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Encode</a:t>
            </a:r>
            <a:r>
              <a:rPr sz="2400" spc="-1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input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QOSQRA+Calibri"/>
                <a:cs typeface="QOSQRA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single</a:t>
            </a:r>
            <a:r>
              <a:rPr sz="2400" spc="-1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vector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29333" y="3169772"/>
            <a:ext cx="3789219" cy="973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⽬标是把这整句话的信息压缩成⼀个向量（通常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是最终的隐藏状态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h_T）。这⼀⻚明确写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道："Encode input sequence in a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single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vector"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51824" y="982276"/>
            <a:ext cx="7647364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这种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Encoder-Decoder（编码器-解码器）结构是深度学习在⾃然语⾔处理领域的⼀个⾥程碑设计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70456" y="1373759"/>
            <a:ext cx="6925069" cy="820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Sequence </a:t>
            </a:r>
            <a:r>
              <a:rPr sz="2800" spc="35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800" spc="-4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Sequence:</a:t>
            </a:r>
            <a:r>
              <a:rPr sz="2800" spc="4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Many-to-one +</a:t>
            </a:r>
            <a:r>
              <a:rPr sz="2800" spc="6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one-to-</a:t>
            </a:r>
          </a:p>
          <a:p>
            <a:pPr marL="0" marR="0">
              <a:lnSpc>
                <a:spcPts val="2780"/>
              </a:lnSpc>
              <a:spcBef>
                <a:spcPts val="6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08368" y="1929924"/>
            <a:ext cx="3880222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One</a:t>
            </a:r>
            <a:r>
              <a:rPr sz="2400" spc="-929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to</a:t>
            </a:r>
            <a:r>
              <a:rPr sz="2400" spc="-852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many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:</a:t>
            </a:r>
            <a:r>
              <a:rPr sz="2400" spc="1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QOSQRA+Calibri"/>
                <a:cs typeface="QOSQRA+Calibri"/>
              </a:rPr>
              <a:t>Produce</a:t>
            </a:r>
            <a:r>
              <a:rPr sz="2400" spc="7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output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08368" y="2292747"/>
            <a:ext cx="4369319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from</a:t>
            </a:r>
            <a:r>
              <a:rPr sz="2400" spc="-6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single</a:t>
            </a:r>
            <a:r>
              <a:rPr sz="2400" spc="-1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input vector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58390" y="2335927"/>
            <a:ext cx="354325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Many</a:t>
            </a:r>
            <a:r>
              <a:rPr sz="2400" spc="-927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spc="67" dirty="0">
                <a:solidFill>
                  <a:srgbClr val="000000"/>
                </a:solidFill>
                <a:latin typeface="JNGIAF+Calibri-Bold"/>
                <a:cs typeface="JNGIAF+Calibri-Bold"/>
              </a:rPr>
              <a:t>to</a:t>
            </a:r>
            <a:r>
              <a:rPr sz="2400" spc="-992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one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:</a:t>
            </a:r>
            <a:r>
              <a:rPr sz="2400" spc="1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QOSQRA+Calibri"/>
                <a:cs typeface="QOSQRA+Calibri"/>
              </a:rPr>
              <a:t>Encode</a:t>
            </a:r>
            <a:r>
              <a:rPr sz="2400" spc="7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QOSQRA+Calibri"/>
                <a:cs typeface="QOSQRA+Calibri"/>
              </a:rPr>
              <a:t>input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58390" y="2698020"/>
            <a:ext cx="3489469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QOSQRA+Calibri"/>
                <a:cs typeface="QOSQRA+Calibri"/>
              </a:rPr>
              <a:t>in</a:t>
            </a:r>
            <a:r>
              <a:rPr sz="2400" spc="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single vector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67404" y="5167159"/>
            <a:ext cx="3986993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第⼆阶段：解码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(Decoder)</a:t>
            </a:r>
            <a:r>
              <a:rPr sz="1350" spc="-358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-</a:t>
            </a:r>
            <a:r>
              <a:rPr sz="1350" spc="-347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⼀对多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(Slide</a:t>
            </a:r>
            <a:r>
              <a:rPr sz="1350" spc="-353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32)：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67404" y="5492741"/>
            <a:ext cx="4841124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⽹络拿着刚才那个压缩好的“上下⽂向量”，开始⽣成新的输出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序列（如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"How are you"）。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167404" y="6303232"/>
            <a:ext cx="4465321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这⼀⻚描述为："Produce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output sequence from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single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input vector" 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379601"/>
            <a:ext cx="2592611" cy="1249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  <a:p>
            <a:pPr marL="0" marR="0">
              <a:lnSpc>
                <a:spcPts val="2780"/>
              </a:lnSpc>
              <a:spcBef>
                <a:spcPts val="598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5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76511" y="1376324"/>
            <a:ext cx="2686743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训练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AI 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玩“猜下⼀个字⺟”的游戏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9590" y="3120787"/>
            <a:ext cx="1626294" cy="705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81516" y="3640260"/>
            <a:ext cx="3754582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任务⽬标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我们要教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学会单词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"hello" 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81516" y="3965842"/>
            <a:ext cx="5552557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词汇表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(Vocabulary)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这个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AI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的世界⾥只有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4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个字⺟：[h,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e, l, o] 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99590" y="4216162"/>
            <a:ext cx="2232600" cy="108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Example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training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sequence:</a:t>
            </a:r>
          </a:p>
          <a:p>
            <a:pPr marL="0" marR="0">
              <a:lnSpc>
                <a:spcPts val="2929"/>
              </a:lnSpc>
              <a:spcBef>
                <a:spcPts val="4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“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hello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”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81516" y="4291424"/>
            <a:ext cx="6071063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编码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(One-hot</a:t>
            </a:r>
            <a:r>
              <a:rPr sz="1350" spc="-358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Encoding)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计算机不认识字⺟，只认识数字。所以我们⽤⼀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种叫“独热编码”的⽅法：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81516" y="4859460"/>
            <a:ext cx="1522268" cy="1223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h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变成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[1, 0, 0, 0]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e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变成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[0, 1, 0, 0]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l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变成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[0, 0, 1, 0]</a:t>
            </a:r>
          </a:p>
          <a:p>
            <a:pPr marL="0" marR="0">
              <a:lnSpc>
                <a:spcPts val="1641"/>
              </a:lnSpc>
              <a:spcBef>
                <a:spcPts val="921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o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变成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[0, 0, 0, 1]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81516" y="6404243"/>
            <a:ext cx="5521036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这就像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4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个开关，哪个字⺟出现，就把对应的开关按下去（变成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1）。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379601"/>
            <a:ext cx="2592611" cy="1249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  <a:p>
            <a:pPr marL="0" marR="0">
              <a:lnSpc>
                <a:spcPts val="2780"/>
              </a:lnSpc>
              <a:spcBef>
                <a:spcPts val="598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5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9590" y="3120787"/>
            <a:ext cx="1626294" cy="705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9590" y="4216162"/>
            <a:ext cx="2232600" cy="108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Example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training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sequence:</a:t>
            </a:r>
          </a:p>
          <a:p>
            <a:pPr marL="0" marR="0">
              <a:lnSpc>
                <a:spcPts val="2929"/>
              </a:lnSpc>
              <a:spcBef>
                <a:spcPts val="4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“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hello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379601"/>
            <a:ext cx="2592611" cy="1249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  <a:p>
            <a:pPr marL="0" marR="0">
              <a:lnSpc>
                <a:spcPts val="2780"/>
              </a:lnSpc>
              <a:spcBef>
                <a:spcPts val="598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5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9590" y="3120787"/>
            <a:ext cx="1626294" cy="705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9590" y="4216162"/>
            <a:ext cx="2232600" cy="108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Example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training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sequence:</a:t>
            </a:r>
          </a:p>
          <a:p>
            <a:pPr marL="0" marR="0">
              <a:lnSpc>
                <a:spcPts val="2929"/>
              </a:lnSpc>
              <a:spcBef>
                <a:spcPts val="4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“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hello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”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83883" y="5527816"/>
            <a:ext cx="4927647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这⾥展示了当我们将 "hello" 这个序列输⼊给 RNN 时，它的内部发⽣了什么。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83883" y="5804907"/>
            <a:ext cx="3222151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右图中展示的信息是：⼤脑在转动 (Hidden Layer)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83883" y="6081998"/>
            <a:ext cx="2108800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我们依次输⼊ "h", "e", "l", "l"。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83883" y="6359089"/>
            <a:ext cx="5536970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中间绿⾊的框是隐藏层。你可以看到⾥⾯的数字在不断变化（⽐如从 0.3 变成 -0.3 等）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379601"/>
            <a:ext cx="2592611" cy="1249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  <a:p>
            <a:pPr marL="0" marR="0">
              <a:lnSpc>
                <a:spcPts val="2780"/>
              </a:lnSpc>
              <a:spcBef>
                <a:spcPts val="598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5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9590" y="3120787"/>
            <a:ext cx="1626294" cy="705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9590" y="4216162"/>
            <a:ext cx="2232600" cy="108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Example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training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sequence:</a:t>
            </a:r>
          </a:p>
          <a:p>
            <a:pPr marL="0" marR="0">
              <a:lnSpc>
                <a:spcPts val="2929"/>
              </a:lnSpc>
              <a:spcBef>
                <a:spcPts val="4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“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hello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”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07198" y="5871228"/>
            <a:ext cx="5521037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蓝⾊的框是输出层，它给出了对下⼀个字⺟的打分（分数越⾼越好）。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07198" y="6196809"/>
            <a:ext cx="8325888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⽬标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(Targets)：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注意顶部的⽬标字符。当输⼊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"h"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时，我们希望它预测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"e"；输⼊ "e"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时，希望它预测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"l"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379601"/>
            <a:ext cx="1508813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27338" y="1759822"/>
            <a:ext cx="3096492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分数很难直观理解，所以要把它们转换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成概率（百分⽐）。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9590" y="1808734"/>
            <a:ext cx="2592611" cy="124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6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  <a:p>
            <a:pPr marL="0" marR="0">
              <a:lnSpc>
                <a:spcPts val="2777"/>
              </a:lnSpc>
              <a:spcBef>
                <a:spcPts val="52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Sampling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27338" y="2327859"/>
            <a:ext cx="3138574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这就尴尬了：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看第⼀列（输⼊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"h"），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模型预测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"e"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的概率只有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0.13 (13%)，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⽽预测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"o"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的概率⾼达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0.84 (84%) 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27338" y="3138350"/>
            <a:ext cx="3154160" cy="1216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初学者注意：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这说明这个模型还没有训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练好（或者只是刚开始训练）。此时模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型很笨，猜错了。训练的⽬的就是调整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参数，让绿⾊的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0.13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变⼤，红⾊的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0.84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变⼩。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99590" y="3380899"/>
            <a:ext cx="1626300" cy="706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99590" y="4503817"/>
            <a:ext cx="2232600" cy="108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Example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training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sequence:</a:t>
            </a:r>
          </a:p>
          <a:p>
            <a:pPr marL="0" marR="0">
              <a:lnSpc>
                <a:spcPts val="2928"/>
              </a:lnSpc>
              <a:spcBef>
                <a:spcPts val="3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“</a:t>
            </a: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hello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84885" y="237612"/>
            <a:ext cx="4161213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假设模型已经训练得差不多了，现在我们要让它⾃⼰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“写字”。这⼏⻚展示了⼀个⾮常关键的“⾃循环”过程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9590" y="1379601"/>
            <a:ext cx="1508813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9590" y="1808734"/>
            <a:ext cx="2592611" cy="124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6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  <a:p>
            <a:pPr marL="0" marR="0">
              <a:lnSpc>
                <a:spcPts val="2777"/>
              </a:lnSpc>
              <a:spcBef>
                <a:spcPts val="52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Sampling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29973" y="1826321"/>
            <a:ext cx="1666528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我们给它⼀个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"h"。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29973" y="2151903"/>
            <a:ext cx="3500525" cy="145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模型算出概率分布，然后进⾏采样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(Sample)。假设它这次运⽓好，根据概率选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中了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"e" 。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关键动作：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这⼀⻚最重要的⼀条线是右边那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个弯曲的⼤箭头。它把刚刚⽣成的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"e"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抓回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来，作为下⼀个时间步的输⼊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99590" y="3380899"/>
            <a:ext cx="1626300" cy="706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99590" y="4523248"/>
            <a:ext cx="3233327" cy="107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6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-10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test-time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sample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characters</a:t>
            </a:r>
            <a:r>
              <a:rPr sz="2400" spc="-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one</a:t>
            </a:r>
            <a:r>
              <a:rPr sz="2400" spc="-1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2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QOSQRA+Calibri"/>
                <a:cs typeface="QOSQRA+Calibri"/>
              </a:rPr>
              <a:t>time,</a:t>
            </a:r>
          </a:p>
          <a:p>
            <a:pPr marL="0" marR="0">
              <a:lnSpc>
                <a:spcPts val="2405"/>
              </a:lnSpc>
              <a:spcBef>
                <a:spcPts val="522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feed</a:t>
            </a:r>
            <a:r>
              <a:rPr sz="2400" spc="-1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</a:t>
            </a:r>
            <a:r>
              <a:rPr sz="2400" spc="-6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model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379601"/>
            <a:ext cx="1508813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9590" y="1808734"/>
            <a:ext cx="2592611" cy="124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6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  <a:p>
            <a:pPr marL="0" marR="0">
              <a:lnSpc>
                <a:spcPts val="2777"/>
              </a:lnSpc>
              <a:spcBef>
                <a:spcPts val="52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Sampling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85164" y="2276442"/>
            <a:ext cx="2532264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模型接收了上⼀步⽣成的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"e"。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85164" y="2602024"/>
            <a:ext cx="2750127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它更新记忆，算出概率，这次它选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中了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"l" 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85164" y="3170061"/>
            <a:ext cx="2707696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再次把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"l"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喂回给模型作为下⼀步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的输⼊。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99590" y="3380899"/>
            <a:ext cx="1626300" cy="706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99590" y="4523248"/>
            <a:ext cx="3233327" cy="107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6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-10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test-time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sample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characters</a:t>
            </a:r>
            <a:r>
              <a:rPr sz="2400" spc="-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one</a:t>
            </a:r>
            <a:r>
              <a:rPr sz="2400" spc="-1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2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QOSQRA+Calibri"/>
                <a:cs typeface="QOSQRA+Calibri"/>
              </a:rPr>
              <a:t>time,</a:t>
            </a:r>
          </a:p>
          <a:p>
            <a:pPr marL="0" marR="0">
              <a:lnSpc>
                <a:spcPts val="2405"/>
              </a:lnSpc>
              <a:spcBef>
                <a:spcPts val="522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feed</a:t>
            </a:r>
            <a:r>
              <a:rPr sz="2400" spc="-1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</a:t>
            </a:r>
            <a:r>
              <a:rPr sz="2400" spc="-6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model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379601"/>
            <a:ext cx="1508813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Example: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9590" y="1808734"/>
            <a:ext cx="2592611" cy="124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Character-level</a:t>
            </a:r>
          </a:p>
          <a:p>
            <a:pPr marL="0" marR="0">
              <a:lnSpc>
                <a:spcPts val="2780"/>
              </a:lnSpc>
              <a:spcBef>
                <a:spcPts val="6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Language</a:t>
            </a:r>
            <a:r>
              <a:rPr sz="2800" spc="-990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Model</a:t>
            </a:r>
          </a:p>
          <a:p>
            <a:pPr marL="0" marR="0">
              <a:lnSpc>
                <a:spcPts val="2777"/>
              </a:lnSpc>
              <a:spcBef>
                <a:spcPts val="52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JNGIAF+Calibri-Bold"/>
                <a:cs typeface="JNGIAF+Calibri-Bold"/>
              </a:rPr>
              <a:t>Sampling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9590" y="3380899"/>
            <a:ext cx="1626300" cy="706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Vocabulary: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[h,e,l,o]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99590" y="4523248"/>
            <a:ext cx="3233327" cy="107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36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-10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test-time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sample</a:t>
            </a:r>
          </a:p>
          <a:p>
            <a:pPr marL="0" marR="0">
              <a:lnSpc>
                <a:spcPts val="2402"/>
              </a:lnSpc>
              <a:spcBef>
                <a:spcPts val="4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characters</a:t>
            </a:r>
            <a:r>
              <a:rPr sz="2400" spc="-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one</a:t>
            </a:r>
            <a:r>
              <a:rPr sz="2400" spc="-1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2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QOSQRA+Calibri"/>
                <a:cs typeface="QOSQRA+Calibri"/>
              </a:rPr>
              <a:t>time,</a:t>
            </a:r>
          </a:p>
          <a:p>
            <a:pPr marL="0" marR="0">
              <a:lnSpc>
                <a:spcPts val="2405"/>
              </a:lnSpc>
              <a:spcBef>
                <a:spcPts val="522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feed</a:t>
            </a:r>
            <a:r>
              <a:rPr sz="2400" spc="-1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</a:t>
            </a:r>
            <a:r>
              <a:rPr sz="2400" spc="-6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model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36071" y="5778705"/>
            <a:ext cx="3897056" cy="953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输⼊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"l"</a:t>
            </a:r>
            <a:r>
              <a:rPr sz="1450" spc="148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猜出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"l"。</a:t>
            </a:r>
          </a:p>
          <a:p>
            <a:pPr marL="0" marR="0">
              <a:lnSpc>
                <a:spcPts val="1773"/>
              </a:lnSpc>
              <a:spcBef>
                <a:spcPts val="943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输⼊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"l"</a:t>
            </a:r>
            <a:r>
              <a:rPr sz="1450" spc="197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猜出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"o"。</a:t>
            </a:r>
          </a:p>
          <a:p>
            <a:pPr marL="0" marR="0">
              <a:lnSpc>
                <a:spcPts val="1773"/>
              </a:lnSpc>
              <a:spcBef>
                <a:spcPts val="943"/>
              </a:spcBef>
              <a:spcAft>
                <a:spcPts val="0"/>
              </a:spcAft>
            </a:pPr>
            <a:r>
              <a:rPr sz="1450" spc="19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最终，模型⾃⼰输出了完整的序列："hello"。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12355" y="953690"/>
            <a:ext cx="4077972" cy="906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spc="-21" dirty="0">
                <a:solidFill>
                  <a:srgbClr val="000000"/>
                </a:solidFill>
                <a:latin typeface="QOSQRA+Calibri"/>
                <a:cs typeface="QOSQRA+Calibri"/>
              </a:rPr>
              <a:t>Forward</a:t>
            </a:r>
            <a:r>
              <a:rPr sz="2050" spc="-1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QOSQRA+Calibri"/>
                <a:cs typeface="QOSQRA+Calibri"/>
              </a:rPr>
              <a:t>through</a:t>
            </a:r>
            <a:r>
              <a:rPr sz="2050" spc="-1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14" dirty="0">
                <a:solidFill>
                  <a:srgbClr val="000000"/>
                </a:solidFill>
                <a:latin typeface="QOSQRA+Calibri"/>
                <a:cs typeface="QOSQRA+Calibri"/>
              </a:rPr>
              <a:t>entire</a:t>
            </a:r>
            <a:r>
              <a:rPr sz="2050" spc="-4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7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  <a:r>
              <a:rPr sz="2050" spc="4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</a:p>
          <a:p>
            <a:pPr marL="0" marR="0">
              <a:lnSpc>
                <a:spcPts val="2027"/>
              </a:lnSpc>
              <a:spcBef>
                <a:spcPts val="377"/>
              </a:spcBef>
              <a:spcAft>
                <a:spcPts val="0"/>
              </a:spcAft>
            </a:pPr>
            <a:r>
              <a:rPr sz="2050" spc="-20" dirty="0">
                <a:solidFill>
                  <a:srgbClr val="000000"/>
                </a:solidFill>
                <a:latin typeface="QOSQRA+Calibri"/>
                <a:cs typeface="QOSQRA+Calibri"/>
              </a:rPr>
              <a:t>compute</a:t>
            </a:r>
            <a:r>
              <a:rPr sz="2050" spc="-4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0" dirty="0">
                <a:solidFill>
                  <a:srgbClr val="000000"/>
                </a:solidFill>
                <a:latin typeface="QOSQRA+Calibri"/>
                <a:cs typeface="QOSQRA+Calibri"/>
              </a:rPr>
              <a:t>loss,</a:t>
            </a:r>
            <a:r>
              <a:rPr sz="2050" spc="1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8" dirty="0">
                <a:solidFill>
                  <a:srgbClr val="000000"/>
                </a:solidFill>
                <a:latin typeface="QOSQRA+Calibri"/>
                <a:cs typeface="QOSQRA+Calibri"/>
              </a:rPr>
              <a:t>then</a:t>
            </a:r>
            <a:r>
              <a:rPr sz="2050" spc="-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17" dirty="0">
                <a:solidFill>
                  <a:srgbClr val="000000"/>
                </a:solidFill>
                <a:latin typeface="QOSQRA+Calibri"/>
                <a:cs typeface="QOSQRA+Calibri"/>
              </a:rPr>
              <a:t>backward</a:t>
            </a:r>
            <a:r>
              <a:rPr sz="2050" spc="-2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QOSQRA+Calibri"/>
                <a:cs typeface="QOSQRA+Calibri"/>
              </a:rPr>
              <a:t>through</a:t>
            </a:r>
          </a:p>
          <a:p>
            <a:pPr marL="0" marR="0">
              <a:lnSpc>
                <a:spcPts val="2027"/>
              </a:lnSpc>
              <a:spcBef>
                <a:spcPts val="374"/>
              </a:spcBef>
              <a:spcAft>
                <a:spcPts val="0"/>
              </a:spcAft>
            </a:pPr>
            <a:r>
              <a:rPr sz="2050" spc="-14" dirty="0">
                <a:solidFill>
                  <a:srgbClr val="000000"/>
                </a:solidFill>
                <a:latin typeface="QOSQRA+Calibri"/>
                <a:cs typeface="QOSQRA+Calibri"/>
              </a:rPr>
              <a:t>entire</a:t>
            </a:r>
            <a:r>
              <a:rPr sz="2050" spc="-4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17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  <a:r>
              <a:rPr sz="2050" spc="-4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050" spc="-4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0" dirty="0">
                <a:solidFill>
                  <a:srgbClr val="000000"/>
                </a:solidFill>
                <a:latin typeface="QOSQRA+Calibri"/>
                <a:cs typeface="QOSQRA+Calibri"/>
              </a:rPr>
              <a:t>compute</a:t>
            </a:r>
            <a:r>
              <a:rPr sz="2050" spc="-4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2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0146" y="1084501"/>
            <a:ext cx="4231788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现在有⼀个⾮常现实的问题是：如果序列太⻓了怎么办?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6710" y="1520587"/>
            <a:ext cx="3939078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Backpropagation through time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393550" y="2209485"/>
            <a:ext cx="1456944" cy="1288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想象⼀下，如果你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要训练 AI 阅读⼀本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⼏百万字的⼩说。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如果按照图像中那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种标准的“反向传</a:t>
            </a:r>
          </a:p>
          <a:p>
            <a:pPr marL="0" marR="0">
              <a:lnSpc>
                <a:spcPts val="1444"/>
              </a:lnSpc>
              <a:spcBef>
                <a:spcPts val="23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播”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393550" y="3489646"/>
            <a:ext cx="1423568" cy="434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（Backpropagatio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n through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393550" y="3916366"/>
            <a:ext cx="1374800" cy="2355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time），电脑需要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把整本书读完，算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出总误差，然后再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从最后⼀⻚⼀直推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导回第⼀⻚来调整</a:t>
            </a:r>
          </a:p>
          <a:p>
            <a:pPr marL="0" marR="0">
              <a:lnSpc>
                <a:spcPts val="1444"/>
              </a:lnSpc>
              <a:spcBef>
                <a:spcPts val="23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参数。这对计算机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的内存和计算能⼒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都是巨⼤的负担，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⽽且很容易算着算</a:t>
            </a:r>
          </a:p>
          <a:p>
            <a:pPr marL="0" marR="0">
              <a:lnSpc>
                <a:spcPts val="1444"/>
              </a:lnSpc>
              <a:spcBef>
                <a:spcPts val="28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着就出错了（梯度</a:t>
            </a:r>
          </a:p>
          <a:p>
            <a:pPr marL="0" marR="0">
              <a:lnSpc>
                <a:spcPts val="1444"/>
              </a:lnSpc>
              <a:spcBef>
                <a:spcPts val="23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消失/爆炸）。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39437" y="1063162"/>
            <a:ext cx="3822304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可以把这个过程截断学习的过程理解成“分段复习”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3638" y="1056986"/>
            <a:ext cx="3214255" cy="507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不要试图⼀⼝⽓处理整个序列，⽽是把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它切成⼀个个⼩的“块”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(Chunks)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62531" y="1418495"/>
            <a:ext cx="5295051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Truncated</a:t>
            </a:r>
            <a:r>
              <a:rPr sz="2400" spc="-886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Backpropagation through time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68365" y="2574052"/>
            <a:ext cx="350789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Run forward </a:t>
            </a:r>
            <a:r>
              <a:rPr sz="2400" spc="33" dirty="0">
                <a:solidFill>
                  <a:srgbClr val="000000"/>
                </a:solidFill>
                <a:latin typeface="QOSQRA+Calibri"/>
                <a:cs typeface="QOSQRA+Calibri"/>
              </a:rPr>
              <a:t>and</a:t>
            </a:r>
            <a:r>
              <a:rPr sz="2400" spc="-3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backward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68365" y="2936383"/>
            <a:ext cx="3471333" cy="107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through chunks</a:t>
            </a:r>
            <a:r>
              <a:rPr sz="2400" spc="1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QOSQRA+Calibri"/>
                <a:cs typeface="QOSQRA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QOSQRA+Calibri"/>
                <a:cs typeface="QOSQRA+Calibri"/>
              </a:rPr>
              <a:t>the</a:t>
            </a:r>
          </a:p>
          <a:p>
            <a:pPr marL="0" marR="0">
              <a:lnSpc>
                <a:spcPts val="2402"/>
              </a:lnSpc>
              <a:spcBef>
                <a:spcPts val="52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  <a:r>
              <a:rPr sz="2400" spc="-1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instead </a:t>
            </a:r>
            <a:r>
              <a:rPr sz="2400" spc="10" dirty="0">
                <a:solidFill>
                  <a:srgbClr val="000000"/>
                </a:solidFill>
                <a:latin typeface="QOSQRA+Calibri"/>
                <a:cs typeface="QOSQRA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whole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sequence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79972" y="4241404"/>
            <a:ext cx="292330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在序列的⼩⽚段上运⾏前向和后向传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播，⽽不是整个序列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41259" y="399799"/>
            <a:ext cx="2493819" cy="254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不仅要往前⾛，还要懂得回头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41081" y="800830"/>
            <a:ext cx="2587856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前向传播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(Forward -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⿊箭头)：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41081" y="1126412"/>
            <a:ext cx="4302181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注意⽂字描述："Carry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hidden states forward in time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forever"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62531" y="1459008"/>
            <a:ext cx="5295051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Truncated</a:t>
            </a:r>
            <a:r>
              <a:rPr sz="2400" spc="-886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Backpropagation through time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41081" y="1694448"/>
            <a:ext cx="4366433" cy="973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意思：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记忆是连续的。虽然我们把数据切开了，但上⼀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个块结束时的记忆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(h)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会被保留下来，作为下⼀个块的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开始。就像你看连续剧，虽然⼀集⼀集看，但你依然记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得上⼀集的剧情。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81696" y="2708196"/>
            <a:ext cx="2971970" cy="1516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7"/>
              </a:lnSpc>
              <a:spcBef>
                <a:spcPts val="0"/>
              </a:spcBef>
              <a:spcAft>
                <a:spcPts val="0"/>
              </a:spcAft>
            </a:pPr>
            <a:r>
              <a:rPr sz="2050" spc="-12" dirty="0">
                <a:solidFill>
                  <a:srgbClr val="000000"/>
                </a:solidFill>
                <a:latin typeface="QOSQRA+Calibri"/>
                <a:cs typeface="QOSQRA+Calibri"/>
              </a:rPr>
              <a:t>Carry</a:t>
            </a:r>
            <a:r>
              <a:rPr sz="2050" spc="-27" dirty="0">
                <a:solidFill>
                  <a:srgbClr val="000000"/>
                </a:solidFill>
                <a:latin typeface="QOSQRA+Calibri"/>
                <a:cs typeface="QOSQRA+Calibri"/>
              </a:rPr>
              <a:t> hidden</a:t>
            </a:r>
            <a:r>
              <a:rPr sz="2050" spc="-1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QOSQRA+Calibri"/>
                <a:cs typeface="QOSQRA+Calibri"/>
              </a:rPr>
              <a:t>states</a:t>
            </a:r>
          </a:p>
          <a:p>
            <a:pPr marL="0" marR="0">
              <a:lnSpc>
                <a:spcPts val="2027"/>
              </a:lnSpc>
              <a:spcBef>
                <a:spcPts val="375"/>
              </a:spcBef>
              <a:spcAft>
                <a:spcPts val="0"/>
              </a:spcAft>
            </a:pPr>
            <a:r>
              <a:rPr sz="2050" spc="-17" dirty="0">
                <a:solidFill>
                  <a:srgbClr val="000000"/>
                </a:solidFill>
                <a:latin typeface="QOSQRA+Calibri"/>
                <a:cs typeface="QOSQRA+Calibri"/>
              </a:rPr>
              <a:t>forward</a:t>
            </a:r>
            <a:r>
              <a:rPr sz="2050" spc="-2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0" dirty="0">
                <a:solidFill>
                  <a:srgbClr val="000000"/>
                </a:solidFill>
                <a:latin typeface="QOSQRA+Calibri"/>
                <a:cs typeface="QOSQRA+Calibri"/>
              </a:rPr>
              <a:t>in</a:t>
            </a:r>
            <a:r>
              <a:rPr sz="205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30" dirty="0">
                <a:solidFill>
                  <a:srgbClr val="000000"/>
                </a:solidFill>
                <a:latin typeface="QOSQRA+Calibri"/>
                <a:cs typeface="QOSQRA+Calibri"/>
              </a:rPr>
              <a:t>time</a:t>
            </a:r>
            <a:r>
              <a:rPr sz="2050" spc="4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3" dirty="0">
                <a:solidFill>
                  <a:srgbClr val="000000"/>
                </a:solidFill>
                <a:latin typeface="QOSQRA+Calibri"/>
                <a:cs typeface="QOSQRA+Calibri"/>
              </a:rPr>
              <a:t>forever,</a:t>
            </a:r>
          </a:p>
          <a:p>
            <a:pPr marL="0" marR="0">
              <a:lnSpc>
                <a:spcPts val="2029"/>
              </a:lnSpc>
              <a:spcBef>
                <a:spcPts val="372"/>
              </a:spcBef>
              <a:spcAft>
                <a:spcPts val="0"/>
              </a:spcAft>
            </a:pPr>
            <a:r>
              <a:rPr sz="2050" spc="-26" dirty="0">
                <a:solidFill>
                  <a:srgbClr val="000000"/>
                </a:solidFill>
                <a:latin typeface="QOSQRA+Calibri"/>
                <a:cs typeface="QOSQRA+Calibri"/>
              </a:rPr>
              <a:t>but</a:t>
            </a:r>
            <a:r>
              <a:rPr sz="205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5" dirty="0">
                <a:solidFill>
                  <a:srgbClr val="000000"/>
                </a:solidFill>
                <a:latin typeface="QOSQRA+Calibri"/>
                <a:cs typeface="QOSQRA+Calibri"/>
              </a:rPr>
              <a:t>only</a:t>
            </a:r>
            <a:r>
              <a:rPr sz="2050" spc="-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19" dirty="0">
                <a:solidFill>
                  <a:srgbClr val="000000"/>
                </a:solidFill>
                <a:latin typeface="QOSQRA+Calibri"/>
                <a:cs typeface="QOSQRA+Calibri"/>
              </a:rPr>
              <a:t>backpropagate</a:t>
            </a:r>
            <a:r>
              <a:rPr sz="2050" spc="-3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QOSQRA+Calibri"/>
                <a:cs typeface="QOSQRA+Calibri"/>
              </a:rPr>
              <a:t>for</a:t>
            </a:r>
          </a:p>
          <a:p>
            <a:pPr marL="0" marR="0">
              <a:lnSpc>
                <a:spcPts val="2027"/>
              </a:lnSpc>
              <a:spcBef>
                <a:spcPts val="376"/>
              </a:spcBef>
              <a:spcAft>
                <a:spcPts val="0"/>
              </a:spcAft>
            </a:pPr>
            <a:r>
              <a:rPr sz="2050" spc="-22" dirty="0">
                <a:solidFill>
                  <a:srgbClr val="000000"/>
                </a:solidFill>
                <a:latin typeface="QOSQRA+Calibri"/>
                <a:cs typeface="QOSQRA+Calibri"/>
              </a:rPr>
              <a:t>some</a:t>
            </a:r>
            <a:r>
              <a:rPr sz="2050" spc="-3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dirty="0">
                <a:solidFill>
                  <a:srgbClr val="000000"/>
                </a:solidFill>
                <a:latin typeface="QOSQRA+Calibri"/>
                <a:cs typeface="QOSQRA+Calibri"/>
              </a:rPr>
              <a:t>smaller</a:t>
            </a:r>
            <a:r>
              <a:rPr sz="2050" spc="-4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1" dirty="0">
                <a:solidFill>
                  <a:srgbClr val="000000"/>
                </a:solidFill>
                <a:latin typeface="QOSQRA+Calibri"/>
                <a:cs typeface="QOSQRA+Calibri"/>
              </a:rPr>
              <a:t>number</a:t>
            </a:r>
            <a:r>
              <a:rPr sz="2050" spc="-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050" spc="-29" dirty="0">
                <a:solidFill>
                  <a:srgbClr val="000000"/>
                </a:solidFill>
                <a:latin typeface="QOSQRA+Calibri"/>
                <a:cs typeface="QOSQRA+Calibri"/>
              </a:rPr>
              <a:t>of</a:t>
            </a:r>
          </a:p>
          <a:p>
            <a:pPr marL="0" marR="0">
              <a:lnSpc>
                <a:spcPts val="2027"/>
              </a:lnSpc>
              <a:spcBef>
                <a:spcPts val="375"/>
              </a:spcBef>
              <a:spcAft>
                <a:spcPts val="0"/>
              </a:spcAft>
            </a:pPr>
            <a:r>
              <a:rPr sz="2050" spc="-13" dirty="0">
                <a:solidFill>
                  <a:srgbClr val="000000"/>
                </a:solidFill>
                <a:latin typeface="QOSQRA+Calibri"/>
                <a:cs typeface="QOSQRA+Calibri"/>
              </a:rPr>
              <a:t>steps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805202" y="4341896"/>
            <a:ext cx="2723630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反向传播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(Backward -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红箭头)：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805202" y="4667478"/>
            <a:ext cx="4122421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注意⽂字描述："but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only backpropagate for some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smaller number of steps" 。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05202" y="5235514"/>
            <a:ext cx="4308763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意思：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纠错是截断的。当我们计算误差并更新参数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时，我们只在这个灰⾊⽅框的范围内往回推。⼀旦出了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这个⽅框，就不再继续往回算了。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05202" y="6046005"/>
            <a:ext cx="4308763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⽐喻：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就像你背书，背完这⼀段，发现背错了，你只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纠正这⼀段的记忆，⽽不⽤跑回去把第⼀章再背⼀遍。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2531" y="1459008"/>
            <a:ext cx="5295051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JNGIAF+Calibri-Bold"/>
                <a:cs typeface="JNGIAF+Calibri-Bold"/>
              </a:rPr>
              <a:t>Truncated</a:t>
            </a:r>
            <a:r>
              <a:rPr sz="2400" spc="-886" dirty="0">
                <a:solidFill>
                  <a:srgbClr val="000000"/>
                </a:solidFill>
                <a:latin typeface="JNGIAF+Calibri-Bold"/>
                <a:cs typeface="JNGIAF+Calibri-Bold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Backpropagation through time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1057" y="5805001"/>
            <a:ext cx="3211830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上图展示了处理完⼀个块之后的操作。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动作：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灰⾊⽅框（窗⼝）向右移动了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1057" y="6373037"/>
            <a:ext cx="8695979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流程：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我们带着上⼀个块留下的记忆，进⼊下⼀个块，继续计算损失，然后在新的块⾥进⾏⼩范围的反向传播。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24323" y="1048117"/>
            <a:ext cx="6386945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优点：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它可以处理任意⻓度的输⼊（句⼦可⻓可短），并且能利⽤历史信息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。模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型的⼤⼩不会随着输⼊的增加⽽增⼤。在每个阶段都是⽤相同的权重，所以对于输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⼊的处理是对称的。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5195" y="1235615"/>
            <a:ext cx="2791870" cy="495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00"/>
                </a:solidFill>
                <a:latin typeface="QOSQRA+Calibri"/>
                <a:cs typeface="QOSQRA+Calibri"/>
              </a:rPr>
              <a:t>RNN tradeoffs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5195" y="2122329"/>
            <a:ext cx="2303144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RNN Advantages: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24323" y="2184190"/>
            <a:ext cx="6457430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缺点：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它是串⾏计算的，速度慢，⽽且容易“健忘”（难以获取很久以前的信息）。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5195" y="2485152"/>
            <a:ext cx="4062123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-</a:t>
            </a:r>
            <a:r>
              <a:rPr sz="2400" spc="14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QOSQRA+Calibri"/>
                <a:cs typeface="QOSQRA+Calibri"/>
              </a:rPr>
              <a:t>Can</a:t>
            </a: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process</a:t>
            </a:r>
            <a:r>
              <a:rPr sz="2400" spc="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any</a:t>
            </a:r>
            <a:r>
              <a:rPr sz="2400" spc="2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length </a:t>
            </a:r>
            <a:r>
              <a:rPr sz="2400" spc="-15" dirty="0">
                <a:solidFill>
                  <a:srgbClr val="000000"/>
                </a:solidFill>
                <a:latin typeface="QOSQRA+Calibri"/>
                <a:cs typeface="QOSQRA+Calibri"/>
              </a:rPr>
              <a:t>input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5195" y="2856770"/>
            <a:ext cx="10014678" cy="1440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-</a:t>
            </a:r>
            <a:r>
              <a:rPr sz="2400" spc="14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Computation </a:t>
            </a:r>
            <a:r>
              <a:rPr sz="2400" spc="11" dirty="0">
                <a:solidFill>
                  <a:srgbClr val="000000"/>
                </a:solidFill>
                <a:latin typeface="QOSQRA+Calibri"/>
                <a:cs typeface="QOSQRA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step t can</a:t>
            </a:r>
            <a:r>
              <a:rPr sz="2400" spc="-1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(in theory) 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use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 information from</a:t>
            </a:r>
            <a:r>
              <a:rPr sz="2400" spc="-6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steps</a:t>
            </a:r>
            <a:r>
              <a:rPr sz="2400" spc="-5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back</a:t>
            </a:r>
          </a:p>
          <a:p>
            <a:pPr marL="0" marR="0">
              <a:lnSpc>
                <a:spcPts val="285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-</a:t>
            </a:r>
            <a:r>
              <a:rPr sz="2400" spc="14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Model</a:t>
            </a:r>
            <a:r>
              <a:rPr sz="2400" spc="34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VNSSBV+Calibri"/>
                <a:cs typeface="VNSSBV+Calibri"/>
              </a:rPr>
              <a:t>size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 doesn’t increase</a:t>
            </a:r>
            <a:r>
              <a:rPr sz="2400" spc="-15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VNSSBV+Calibri"/>
                <a:cs typeface="VNSSBV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longer</a:t>
            </a:r>
            <a:r>
              <a:rPr sz="2400" spc="-31" dirty="0">
                <a:solidFill>
                  <a:srgbClr val="000000"/>
                </a:solidFill>
                <a:latin typeface="VNSSBV+Calibri"/>
                <a:cs typeface="VNSSB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NSSBV+Calibri"/>
                <a:cs typeface="VNSSBV+Calibri"/>
              </a:rPr>
              <a:t>input</a:t>
            </a:r>
          </a:p>
          <a:p>
            <a:pPr marL="0" marR="0">
              <a:lnSpc>
                <a:spcPts val="2402"/>
              </a:lnSpc>
              <a:spcBef>
                <a:spcPts val="43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-</a:t>
            </a:r>
            <a:r>
              <a:rPr sz="2400" spc="14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Same</a:t>
            </a:r>
            <a:r>
              <a:rPr sz="2400" spc="-2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weights</a:t>
            </a:r>
            <a:r>
              <a:rPr sz="2400" spc="2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applied on</a:t>
            </a:r>
            <a:r>
              <a:rPr sz="2400" spc="-1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every</a:t>
            </a:r>
            <a:r>
              <a:rPr sz="2400" spc="2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timestep,</a:t>
            </a:r>
            <a:r>
              <a:rPr sz="2400" spc="6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38" dirty="0">
                <a:solidFill>
                  <a:srgbClr val="000000"/>
                </a:solidFill>
                <a:latin typeface="QOSQRA+Calibri"/>
                <a:cs typeface="QOSQRA+Calibri"/>
              </a:rPr>
              <a:t>so</a:t>
            </a:r>
            <a:r>
              <a:rPr sz="2400" spc="2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there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QOSQRA+Calibri"/>
                <a:cs typeface="QOSQRA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symmetry</a:t>
            </a:r>
            <a:r>
              <a:rPr sz="2400" spc="-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QOSQRA+Calibri"/>
                <a:cs typeface="QOSQRA+Calibri"/>
              </a:rPr>
              <a:t>in</a:t>
            </a:r>
            <a:r>
              <a:rPr sz="2400" spc="-5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QOSQRA+Calibri"/>
                <a:cs typeface="QOSQRA+Calibri"/>
              </a:rPr>
              <a:t>how</a:t>
            </a:r>
            <a:r>
              <a:rPr sz="2400" spc="2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inputs</a:t>
            </a:r>
          </a:p>
          <a:p>
            <a:pPr marL="343217" marR="0">
              <a:lnSpc>
                <a:spcPts val="2402"/>
              </a:lnSpc>
              <a:spcBef>
                <a:spcPts val="450"/>
              </a:spcBef>
              <a:spcAft>
                <a:spcPts val="0"/>
              </a:spcAft>
            </a:pPr>
            <a:r>
              <a:rPr sz="2400" spc="18" dirty="0">
                <a:solidFill>
                  <a:srgbClr val="000000"/>
                </a:solidFill>
                <a:latin typeface="QOSQRA+Calibri"/>
                <a:cs typeface="QOSQRA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processed.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5195" y="4687983"/>
            <a:ext cx="8399259" cy="1078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RNN Disadvantages: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-</a:t>
            </a:r>
            <a:r>
              <a:rPr sz="2400" spc="14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Recurrent computation </a:t>
            </a:r>
            <a:r>
              <a:rPr sz="2400" spc="-25" dirty="0">
                <a:solidFill>
                  <a:srgbClr val="000000"/>
                </a:solidFill>
                <a:latin typeface="QOSQRA+Calibri"/>
                <a:cs typeface="QOSQRA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slow</a:t>
            </a:r>
          </a:p>
          <a:p>
            <a:pPr marL="0" marR="0">
              <a:lnSpc>
                <a:spcPts val="2402"/>
              </a:lnSpc>
              <a:spcBef>
                <a:spcPts val="52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-</a:t>
            </a:r>
            <a:r>
              <a:rPr sz="2400" spc="142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In</a:t>
            </a:r>
            <a:r>
              <a:rPr sz="2400" spc="-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practice,</a:t>
            </a:r>
            <a:r>
              <a:rPr sz="2400" spc="6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difficult </a:t>
            </a:r>
            <a:r>
              <a:rPr sz="2400" spc="18" dirty="0">
                <a:solidFill>
                  <a:srgbClr val="000000"/>
                </a:solidFill>
                <a:latin typeface="QOSQRA+Calibri"/>
                <a:cs typeface="QOSQRA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access</a:t>
            </a:r>
            <a:r>
              <a:rPr sz="2400" spc="-5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information from</a:t>
            </a:r>
            <a:r>
              <a:rPr sz="24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many</a:t>
            </a:r>
            <a:r>
              <a:rPr sz="2400" spc="3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steps</a:t>
            </a:r>
            <a:r>
              <a:rPr sz="2400" spc="1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back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79270" y="1471533"/>
            <a:ext cx="2672993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74605" y="1698632"/>
            <a:ext cx="2975251" cy="507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这实际上是⼀个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Encoder-Decoder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（编码器-解码器）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结构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03199" y="2457783"/>
            <a:ext cx="1668662" cy="213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左边是“眼睛”</a:t>
            </a:r>
            <a:r>
              <a:rPr sz="1150" spc="-307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(CNN)：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03199" y="2744571"/>
            <a:ext cx="3121062" cy="416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⻆⾊</a:t>
            </a: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 负责“看”。图中使⽤了⼀个卷积神经⽹</a:t>
            </a:r>
          </a:p>
          <a:p>
            <a:pPr marL="0" marR="0">
              <a:lnSpc>
                <a:spcPts val="1379"/>
              </a:lnSpc>
              <a:spcBef>
                <a:spcPts val="224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络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03199" y="3235023"/>
            <a:ext cx="3110298" cy="620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任务</a:t>
            </a: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 把⼀张复杂的照⽚（像素矩阵）压缩成</a:t>
            </a:r>
          </a:p>
          <a:p>
            <a:pPr marL="0" marR="0">
              <a:lnSpc>
                <a:spcPts val="1379"/>
              </a:lnSpc>
              <a:spcBef>
                <a:spcPts val="224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⼀个特征向量。这就好⽐⼈看⼀眼照⽚，脑⼦</a:t>
            </a:r>
          </a:p>
          <a:p>
            <a:pPr marL="0" marR="0">
              <a:lnSpc>
                <a:spcPts val="1379"/>
              </a:lnSpc>
              <a:spcBef>
                <a:spcPts val="224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⾥提炼出“草帽、男⼈、花园”这些核⼼概念。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03199" y="4215925"/>
            <a:ext cx="1663570" cy="213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右边是“嘴巴”</a:t>
            </a:r>
            <a:r>
              <a:rPr sz="1150" spc="-307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(RNN)：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03199" y="4502714"/>
            <a:ext cx="2830117" cy="416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⻆⾊</a:t>
            </a: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 负责“说”。图中展示了⼀个展开的</a:t>
            </a:r>
          </a:p>
          <a:p>
            <a:pPr marL="0" marR="0">
              <a:lnSpc>
                <a:spcPts val="1379"/>
              </a:lnSpc>
              <a:spcBef>
                <a:spcPts val="224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 链条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03199" y="4993165"/>
            <a:ext cx="3085857" cy="416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9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任务</a:t>
            </a: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： 接收 CNN 传来的核⼼概念，然后把它</a:t>
            </a:r>
          </a:p>
          <a:p>
            <a:pPr marL="0" marR="0">
              <a:lnSpc>
                <a:spcPts val="1379"/>
              </a:lnSpc>
              <a:spcBef>
                <a:spcPts val="224"/>
              </a:spcBef>
              <a:spcAft>
                <a:spcPts val="0"/>
              </a:spcAft>
            </a:pPr>
            <a:r>
              <a:rPr sz="11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们组织成⼀句通顺的话（如 "straw", "hat"）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71" y="3055321"/>
            <a:ext cx="3731376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输⼊：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⼀张测试图⽚（⼀位戴草帽的⽼⼈）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71" y="3380903"/>
            <a:ext cx="6448946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过程：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图⽚通过了⼀系列卷积层（conv-64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到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conv-512）和池化层。这其实就是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之前讲过的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VGG-16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⽹络结构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8471" y="3948939"/>
            <a:ext cx="6151938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结果：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最后通过全连接层（FC-4096），图⽚不再是图⽚了，变成了⼀个包含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4096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个数字的向量。这个向量就是整张图⽚的“精华浓缩”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04789" y="3036293"/>
            <a:ext cx="1187568" cy="1641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EFLMG+Arial-BoldMT"/>
                <a:cs typeface="SEFLMG+Arial-BoldMT"/>
              </a:rPr>
              <a:t>before:</a:t>
            </a:r>
          </a:p>
          <a:p>
            <a:pPr marL="0" marR="0">
              <a:lnSpc>
                <a:spcPts val="2686"/>
              </a:lnSpc>
              <a:spcBef>
                <a:spcPts val="72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EFLMG+Arial-BoldMT"/>
                <a:cs typeface="SEFLMG+Arial-BoldMT"/>
              </a:rPr>
              <a:t>now: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46364" y="3103964"/>
            <a:ext cx="4341268" cy="525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输⼊⼀个特殊的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&lt;START&gt;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信号，告诉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16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“请开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始你的表演”。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46364" y="3710793"/>
            <a:ext cx="4191451" cy="525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16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结合图⽚信息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v</a:t>
            </a:r>
            <a:r>
              <a:rPr sz="1450" spc="19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和启动信号，计算出第⼀个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状态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2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h0，并预测出第⼀个词的概率。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46364" y="4317623"/>
            <a:ext cx="4107470" cy="263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通过采样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16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(Sample)，它选中了单词</a:t>
            </a:r>
            <a:r>
              <a:rPr sz="14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"straw"</a:t>
            </a:r>
            <a:r>
              <a:rPr sz="14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50" spc="15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(草)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99644" y="3406211"/>
            <a:ext cx="5992957" cy="572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关键动作：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刚才⽣成的单词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"straw"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被抓回来，作为下⼀个时间步的输⼊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接收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"straw"，结合之前的记忆，预测下⼀个词是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"hat"</a:t>
            </a:r>
            <a:r>
              <a:rPr sz="1350" spc="-356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(帽⼦)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08206" y="3177632"/>
            <a:ext cx="4075176" cy="507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这个过程不断重复，直到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输出了⼀个特殊的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停⽌符（虽然图中未画出，但通常有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&lt;END&gt;）。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08206" y="3765065"/>
            <a:ext cx="2931480" cy="254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最终⽣成的句⼦就是：</a:t>
            </a:r>
            <a:r>
              <a:rPr sz="14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"straw</a:t>
            </a:r>
            <a:r>
              <a:rPr sz="1400" spc="-361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40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hat"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23491" y="1481233"/>
            <a:ext cx="4468229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Image</a:t>
            </a:r>
            <a:r>
              <a:rPr sz="2400" spc="-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Captioning:</a:t>
            </a:r>
            <a:r>
              <a:rPr sz="2400" spc="1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Example Results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4451" y="1491853"/>
            <a:ext cx="4217722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Image</a:t>
            </a:r>
            <a:r>
              <a:rPr sz="2400" spc="-2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Captioning: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Failure</a:t>
            </a:r>
            <a:r>
              <a:rPr sz="2800" spc="-10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Cases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76960" y="227538"/>
            <a:ext cx="8098454" cy="507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之前的模型（第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45-56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⻚）有⼀个缺点：它试图把整张图⽚压缩成⼀个固定的向量传给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5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RNN。这就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好⽐让你盯着⼀张复杂的图看⼀眼，然后闭上眼睛描述它，不仅容易忘，还容易漏掉细节。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92177" y="1033546"/>
            <a:ext cx="4909990" cy="507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DOTDI+TimesNewRomanPSMT"/>
                <a:cs typeface="BDOTDI+TimesNewRomanPSMT"/>
              </a:rPr>
              <a:t>Attention 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机制改变了这⼀点。它让</a:t>
            </a:r>
            <a:r>
              <a:rPr sz="1400" spc="-19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3" dirty="0">
                <a:solidFill>
                  <a:srgbClr val="000000"/>
                </a:solidFill>
                <a:latin typeface="BDOTDI+TimesNewRomanPSMT"/>
                <a:cs typeface="BDOTDI+TimesNewRomanPSMT"/>
              </a:rPr>
              <a:t>AI</a:t>
            </a:r>
            <a:r>
              <a:rPr sz="1400" dirty="0">
                <a:solidFill>
                  <a:srgbClr val="000000"/>
                </a:solidFill>
                <a:latin typeface="BDOTDI+TimesNewRomanPSMT"/>
                <a:cs typeface="BDOTDI+TimesNewRomanPSMT"/>
              </a:rPr>
              <a:t> 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学会了</a:t>
            </a:r>
            <a:r>
              <a:rPr sz="1400" dirty="0">
                <a:solidFill>
                  <a:srgbClr val="000000"/>
                </a:solidFill>
                <a:latin typeface="BDOTDI+TimesNewRomanPSMT"/>
                <a:cs typeface="BDOTDI+TimesNewRomanPSMT"/>
              </a:rPr>
              <a:t>“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边看边说</a:t>
            </a:r>
            <a:r>
              <a:rPr sz="1400" dirty="0">
                <a:solidFill>
                  <a:srgbClr val="000000"/>
                </a:solidFill>
                <a:latin typeface="BDOTDI+TimesNewRomanPSMT"/>
                <a:cs typeface="BDOTDI+TimesNewRomanPSMT"/>
              </a:rPr>
              <a:t>”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。每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说⼀个词，它都会把⽬光聚焦在图⽚的不同位置。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21891" y="1339596"/>
            <a:ext cx="4858827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3114" y="1801019"/>
            <a:ext cx="5864187" cy="706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RNN focuses</a:t>
            </a:r>
            <a:r>
              <a:rPr sz="2400" spc="2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its</a:t>
            </a:r>
            <a:r>
              <a:rPr sz="2400" spc="2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attention </a:t>
            </a:r>
            <a:r>
              <a:rPr sz="2400" spc="-22" dirty="0">
                <a:solidFill>
                  <a:srgbClr val="000000"/>
                </a:solidFill>
                <a:latin typeface="QOSQRA+Calibri"/>
                <a:cs typeface="QOSQRA+Calibri"/>
              </a:rPr>
              <a:t>at</a:t>
            </a:r>
            <a:r>
              <a:rPr sz="2400" spc="2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a</a:t>
            </a:r>
            <a:r>
              <a:rPr sz="2400" spc="3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different</a:t>
            </a:r>
            <a:r>
              <a:rPr sz="2400" spc="-7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spatial</a:t>
            </a:r>
          </a:p>
          <a:p>
            <a:pPr marL="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location when generating</a:t>
            </a:r>
            <a:r>
              <a:rPr sz="2400" spc="-20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each 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wor</a:t>
            </a:r>
            <a:r>
              <a:rPr sz="2400" spc="-47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1444" y="1376426"/>
            <a:ext cx="4858828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02103" y="2390570"/>
            <a:ext cx="4279671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以前的做法：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CNN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把图⽚最后压缩成⼀个向量（⽐如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FC-4096），丢失了空间位置信息。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02103" y="2958606"/>
            <a:ext cx="4925293" cy="1216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现在的做法：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CNN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这⾥的输出是⼀个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L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*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D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的</a:t>
            </a: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特征⽹格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（Grid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of</a:t>
            </a:r>
            <a:r>
              <a:rPr sz="1350" spc="-358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Features）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通俗理解：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这⼀次，AI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并没有把图⽚揉成⼀团，⽽是把它切成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了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L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个⼩⽅块（⽐如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14 *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14个格⼦）。每个格⼦都保留了该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位置的视觉信息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63856" y="5654238"/>
            <a:ext cx="2721835" cy="759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这就像⼀张“寻宝地图”，上⾯标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记了</a:t>
            </a:r>
            <a:r>
              <a:rPr sz="140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9</a:t>
            </a:r>
            <a:r>
              <a:rPr sz="140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个地点，每个地点都有不</a:t>
            </a:r>
          </a:p>
          <a:p>
            <a:pPr marL="0" marR="0">
              <a:lnSpc>
                <a:spcPts val="1707"/>
              </a:lnSpc>
              <a:spcBef>
                <a:spcPts val="277"/>
              </a:spcBef>
              <a:spcAft>
                <a:spcPts val="0"/>
              </a:spcAft>
            </a:pPr>
            <a:r>
              <a:rPr sz="140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同的宝藏信息。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1444" y="1376426"/>
            <a:ext cx="4858828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18953" y="2193240"/>
            <a:ext cx="4255078" cy="897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计算注意⼒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(Distribution</a:t>
            </a:r>
            <a:r>
              <a:rPr sz="1350" spc="-35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over</a:t>
            </a:r>
            <a:r>
              <a:rPr sz="1350" spc="-358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L</a:t>
            </a:r>
            <a:r>
              <a:rPr sz="1350" spc="-347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locations)：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的⼤脑（当前状态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h_0）会去查看这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L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个格⼦。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它会问⾃⼰：“我现在刚开始说话，我该看哪⾥？”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18953" y="3169986"/>
            <a:ext cx="4792461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计算结果是⼀个分布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2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a_1，也就是给每个格⼦打分。分数⾼的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地⽅，就是当前最重要的地⽅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1891" y="1396746"/>
            <a:ext cx="4858827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1891" y="1396746"/>
            <a:ext cx="4858827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1891" y="1396746"/>
            <a:ext cx="4858827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1891" y="1396746"/>
            <a:ext cx="4858827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1444" y="1376426"/>
            <a:ext cx="4858828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21891" y="1396746"/>
            <a:ext cx="4858827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86618" y="1940904"/>
            <a:ext cx="6152458" cy="572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当⽣成单词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"bird"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时，图⽚中⽩⾊的⾼亮区域（关注点）集中在⻦的身体上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当⽣成单词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"water"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时，⾼亮区域转移到了背景的⽔⾯。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55477" y="1194658"/>
            <a:ext cx="4067868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⽐如⽣成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"frisbee"（⻜盘）时，AI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就会盯着图⽚⾥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的⻜盘看；⽣成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"stop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sign"（停⻋标志）时，就会</a:t>
            </a:r>
          </a:p>
          <a:p>
            <a:pPr marL="0" marR="0">
              <a:lnSpc>
                <a:spcPts val="1641"/>
              </a:lnSpc>
              <a:spcBef>
                <a:spcPts val="26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盯着红⾊的牌⼦看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01444" y="1376426"/>
            <a:ext cx="4858828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Image Captioning with Attention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288" y="396175"/>
            <a:ext cx="7436187" cy="288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0" dirty="0">
                <a:solidFill>
                  <a:srgbClr val="000000"/>
                </a:solidFill>
                <a:latin typeface="BDOTDI+TimesNewRomanPSMT"/>
                <a:cs typeface="BDOTDI+TimesNewRomanPSMT"/>
              </a:rPr>
              <a:t>RNN</a:t>
            </a:r>
            <a:r>
              <a:rPr sz="1650" dirty="0">
                <a:solidFill>
                  <a:srgbClr val="000000"/>
                </a:solidFill>
                <a:latin typeface="BDOTDI+TimesNewRomanPSMT"/>
                <a:cs typeface="BDOTDI+TimesNewRomanPSMT"/>
              </a:rPr>
              <a:t> </a:t>
            </a: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在训练（反向传播）时的⼀个致命弱点：</a:t>
            </a:r>
            <a:r>
              <a:rPr sz="1650" spc="-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梯度消失</a:t>
            </a:r>
            <a:r>
              <a:rPr sz="1650" spc="-58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650" spc="-23" dirty="0">
                <a:solidFill>
                  <a:srgbClr val="000000"/>
                </a:solidFill>
                <a:latin typeface="EQOBKP+TimesNewRomanPS-BoldMT"/>
                <a:cs typeface="EQOBKP+TimesNewRomanPS-BoldMT"/>
              </a:rPr>
              <a:t>(Vanishing</a:t>
            </a:r>
            <a:r>
              <a:rPr sz="1650" spc="-564" dirty="0">
                <a:solidFill>
                  <a:srgbClr val="000000"/>
                </a:solidFill>
                <a:latin typeface="EQOBKP+TimesNewRomanPS-BoldMT"/>
                <a:cs typeface="EQOBKP+TimesNewRomanPS-BoldMT"/>
              </a:rPr>
              <a:t> </a:t>
            </a:r>
            <a:r>
              <a:rPr sz="1650" dirty="0">
                <a:solidFill>
                  <a:srgbClr val="000000"/>
                </a:solidFill>
                <a:latin typeface="EQOBKP+TimesNewRomanPS-BoldMT"/>
                <a:cs typeface="EQOBKP+TimesNewRomanPS-BoldMT"/>
              </a:rPr>
              <a:t>Gradients)</a:t>
            </a: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74291" y="1488678"/>
            <a:ext cx="4941663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Long Short </a:t>
            </a:r>
            <a:r>
              <a:rPr sz="2800" spc="-22" dirty="0">
                <a:solidFill>
                  <a:srgbClr val="000000"/>
                </a:solidFill>
                <a:latin typeface="QOSQRA+Calibri"/>
                <a:cs typeface="QOSQRA+Calibri"/>
              </a:rPr>
              <a:t>Term</a:t>
            </a:r>
            <a:r>
              <a:rPr sz="2800" spc="7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Memory</a:t>
            </a:r>
            <a:r>
              <a:rPr sz="2800" spc="-2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(LSTM)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605280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605280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605280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605280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605280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442339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463278"/>
            <a:ext cx="3972546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3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4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3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9485" y="1422146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7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33" dirty="0">
                <a:solidFill>
                  <a:srgbClr val="001F5F"/>
                </a:solidFill>
                <a:latin typeface="JNGIAF+Calibri-Bold"/>
                <a:cs typeface="JNGIAF+Calibri-Bold"/>
              </a:rPr>
              <a:t>RNN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49002" y="278311"/>
            <a:ext cx="6172545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核⼼问题：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tanh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函数的导数总是⼩于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的（⼤部分时间甚⾄⾮常⼩），⽽且权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重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W</a:t>
            </a:r>
            <a:r>
              <a:rPr sz="135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如果初始化得不好也可能很⼩。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49002" y="846347"/>
            <a:ext cx="5890954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结果：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当你把⼀堆⼩于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的数字（⽐如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0.5）连续相乘很多次（0.5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*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0.5 *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0.5 </a:t>
            </a:r>
            <a:r>
              <a:rPr sz="1350" spc="11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...），结果会迅速接近于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0。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29485" y="1422146"/>
            <a:ext cx="3974572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Vanilla</a:t>
            </a:r>
            <a:r>
              <a:rPr sz="2800" spc="5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QOSQRA+Calibri"/>
                <a:cs typeface="QOSQRA+Calibri"/>
              </a:rPr>
              <a:t>RNN</a:t>
            </a:r>
            <a:r>
              <a:rPr sz="2800" spc="5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Gradient</a:t>
            </a:r>
            <a:r>
              <a:rPr sz="2800" spc="12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QOSQRA+Calibri"/>
                <a:cs typeface="QOSQRA+Calibri"/>
              </a:rPr>
              <a:t>Flow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9455" y="5656953"/>
            <a:ext cx="765688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梯度消失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(Vanishing</a:t>
            </a:r>
            <a:r>
              <a:rPr sz="1350" spc="-35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Gradients)：</a:t>
            </a:r>
            <a:r>
              <a:rPr sz="1350" spc="-349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这意味着，从第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4</a:t>
            </a:r>
            <a:r>
              <a:rPr sz="1350" spc="13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步发出的强烈的“纠错信号”，传到第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步时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已经微弱到⼏乎没有了。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99455" y="6224990"/>
            <a:ext cx="7733609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后果：</a:t>
            </a:r>
            <a:r>
              <a:rPr sz="1350" spc="-355" dirty="0">
                <a:solidFill>
                  <a:srgbClr val="000000"/>
                </a:solidFill>
                <a:latin typeface="TWDWLV+PingFangSC-Semibold"/>
                <a:cs typeface="TWDWLV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第</a:t>
            </a:r>
            <a:r>
              <a:rPr sz="1350" spc="18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1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步的参数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W</a:t>
            </a:r>
            <a:r>
              <a:rPr sz="1350" spc="1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根本收不到信号，它觉得⾃⼰没错，所以不进⾏修改。这就导致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RNN</a:t>
            </a:r>
            <a:r>
              <a:rPr sz="13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⽆法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学习到⻓距离的依赖关系（记不住开头发⽣的事）。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08138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9" dirty="0">
                <a:solidFill>
                  <a:srgbClr val="001F5F"/>
                </a:solidFill>
                <a:latin typeface="JNGIAF+Calibri-Bold"/>
                <a:cs typeface="JNGIAF+Calibri-Bold"/>
              </a:rPr>
              <a:t>LSTM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6710" y="1430893"/>
            <a:ext cx="4941663" cy="390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Long Short </a:t>
            </a:r>
            <a:r>
              <a:rPr sz="2800" spc="-22" dirty="0">
                <a:solidFill>
                  <a:srgbClr val="000000"/>
                </a:solidFill>
                <a:latin typeface="QOSQRA+Calibri"/>
                <a:cs typeface="QOSQRA+Calibri"/>
              </a:rPr>
              <a:t>Term</a:t>
            </a:r>
            <a:r>
              <a:rPr sz="2800" spc="79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Memory</a:t>
            </a:r>
            <a:r>
              <a:rPr sz="2800" spc="-21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QOSQRA+Calibri"/>
                <a:cs typeface="QOSQRA+Calibri"/>
              </a:rPr>
              <a:t>(LSTM)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08138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9" dirty="0">
                <a:solidFill>
                  <a:srgbClr val="001F5F"/>
                </a:solidFill>
                <a:latin typeface="JNGIAF+Calibri-Bold"/>
                <a:cs typeface="JNGIAF+Calibri-Bold"/>
              </a:rPr>
              <a:t>LSTM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6710" y="1230392"/>
            <a:ext cx="426148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Long</a:t>
            </a:r>
            <a:r>
              <a:rPr sz="2400" spc="-16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Short Term</a:t>
            </a:r>
            <a:r>
              <a:rPr sz="2400" spc="-64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Memory</a:t>
            </a:r>
            <a:r>
              <a:rPr sz="2400" spc="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(LSTM)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08138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9" dirty="0">
                <a:solidFill>
                  <a:srgbClr val="001F5F"/>
                </a:solidFill>
                <a:latin typeface="JNGIAF+Calibri-Bold"/>
                <a:cs typeface="JNGIAF+Calibri-Bold"/>
              </a:rPr>
              <a:t>LSTM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6710" y="1226598"/>
            <a:ext cx="426209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Long</a:t>
            </a:r>
            <a:r>
              <a:rPr sz="2400" spc="-18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Short Term</a:t>
            </a:r>
            <a:r>
              <a:rPr sz="2400" spc="-65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Memory</a:t>
            </a:r>
            <a:r>
              <a:rPr sz="2400" spc="17" dirty="0">
                <a:solidFill>
                  <a:srgbClr val="000000"/>
                </a:solidFill>
                <a:latin typeface="QOSQRA+Calibri"/>
                <a:cs typeface="QOSQRA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OSQRA+Calibri"/>
                <a:cs typeface="QOSQRA+Calibri"/>
              </a:rPr>
              <a:t>(LSTM)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2607" y="449116"/>
            <a:ext cx="6179129" cy="579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它不再盲⽬地每次都把旧记忆和新输⼊揉在⼀起。相反，它像⼀个</a:t>
            </a:r>
          </a:p>
          <a:p>
            <a:pPr marL="0" marR="0">
              <a:lnSpc>
                <a:spcPts val="1970"/>
              </a:lnSpc>
              <a:spcBef>
                <a:spcPts val="320"/>
              </a:spcBef>
              <a:spcAft>
                <a:spcPts val="0"/>
              </a:spcAft>
            </a:pP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严谨的档案管理员：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2607" y="1114135"/>
            <a:ext cx="3943628" cy="66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1.</a:t>
            </a:r>
            <a:r>
              <a:rPr sz="1650" spc="13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先看⼀眼旧档案，删掉没⽤的</a:t>
            </a: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(f)。</a:t>
            </a:r>
          </a:p>
          <a:p>
            <a:pPr marL="0" marR="0">
              <a:lnSpc>
                <a:spcPts val="1970"/>
              </a:lnSpc>
              <a:spcBef>
                <a:spcPts val="925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2.</a:t>
            </a:r>
            <a:r>
              <a:rPr sz="1650" spc="98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再看⼀眼新⽂件，添加有⽤的</a:t>
            </a: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(i, g)。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2607" y="1862280"/>
            <a:ext cx="6122601" cy="579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3.</a:t>
            </a:r>
            <a:r>
              <a:rPr sz="1650" spc="98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这个档案</a:t>
            </a: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(C) </a:t>
            </a: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主要通过加法更新，所以哪怕过了</a:t>
            </a: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100 </a:t>
            </a:r>
            <a:r>
              <a:rPr sz="1650" spc="-1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年（100</a:t>
            </a:r>
          </a:p>
          <a:p>
            <a:pPr marL="374072" marR="0">
              <a:lnSpc>
                <a:spcPts val="1970"/>
              </a:lnSpc>
              <a:spcBef>
                <a:spcPts val="320"/>
              </a:spcBef>
              <a:spcAft>
                <a:spcPts val="0"/>
              </a:spcAft>
            </a:pP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个时间步），核⼼信息依然能保留下来。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2607" y="2527299"/>
            <a:ext cx="3797116" cy="288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4.</a:t>
            </a:r>
            <a:r>
              <a:rPr sz="1650" spc="987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</a:t>
            </a:r>
            <a:r>
              <a:rPr sz="1650" spc="-14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最后再决定给领导汇报什么</a:t>
            </a:r>
            <a:r>
              <a:rPr sz="1650" dirty="0">
                <a:solidFill>
                  <a:srgbClr val="000000"/>
                </a:solidFill>
                <a:latin typeface="STCMJL+PingFangSC-Regular"/>
                <a:cs typeface="STCMJL+PingFangSC-Regular"/>
              </a:rPr>
              <a:t> (o, h)。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3251</Words>
  <Application>Microsoft Office PowerPoint</Application>
  <PresentationFormat>宽屏</PresentationFormat>
  <Paragraphs>537</Paragraphs>
  <Slides>82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6" baseType="lpstr">
      <vt:lpstr>JNGIAF+Calibri-Bold</vt:lpstr>
      <vt:lpstr>STCMJL+PingFangSC-Regular</vt:lpstr>
      <vt:lpstr>GNAIGT+Arial</vt:lpstr>
      <vt:lpstr>SEFLMG+Arial-BoldMT</vt:lpstr>
      <vt:lpstr>QOSQRA+Calibri</vt:lpstr>
      <vt:lpstr>BDOTDI+TimesNewRomanPSMT</vt:lpstr>
      <vt:lpstr>Calibri</vt:lpstr>
      <vt:lpstr>VNSSBV+Calibri</vt:lpstr>
      <vt:lpstr>FEQEEP+Helvetica-Bold</vt:lpstr>
      <vt:lpstr>FEVBCC+ArialMT</vt:lpstr>
      <vt:lpstr>TWDWLV+PingFangSC-Semibold</vt:lpstr>
      <vt:lpstr>EQOBKP+TimesNewRomanPS-BoldMT</vt:lpstr>
      <vt:lpstr>PGLPWF+Helvetica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bae</dc:creator>
  <cp:lastModifiedBy>Huang Junhao</cp:lastModifiedBy>
  <cp:revision>2</cp:revision>
  <cp:lastPrinted>2025-12-21T11:35:53Z</cp:lastPrinted>
  <dcterms:modified xsi:type="dcterms:W3CDTF">2025-12-21T11:36:43Z</dcterms:modified>
</cp:coreProperties>
</file>