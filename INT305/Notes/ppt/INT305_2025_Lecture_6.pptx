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892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444" y="1192921"/>
            <a:ext cx="1897380" cy="407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7199" y="1675281"/>
            <a:ext cx="8913495" cy="0"/>
          </a:xfrm>
          <a:custGeom>
            <a:avLst/>
            <a:gdLst/>
            <a:ahLst/>
            <a:cxnLst/>
            <a:rect l="l" t="t" r="r" b="b"/>
            <a:pathLst>
              <a:path w="8913495">
                <a:moveTo>
                  <a:pt x="0" y="0"/>
                </a:moveTo>
                <a:lnTo>
                  <a:pt x="8912899" y="0"/>
                </a:lnTo>
              </a:path>
            </a:pathLst>
          </a:custGeom>
          <a:ln w="15098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514" y="1881858"/>
            <a:ext cx="8926370" cy="981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76138" y="2503650"/>
            <a:ext cx="4608830" cy="3561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ichen.Liu@xjtlu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47.jp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" Type="http://schemas.openxmlformats.org/officeDocument/2006/relationships/image" Target="../media/image122.jpg"/><Relationship Id="rId16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19" Type="http://schemas.openxmlformats.org/officeDocument/2006/relationships/image" Target="../media/image139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jpg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g"/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9244" y="1496060"/>
            <a:ext cx="4017263" cy="8625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0395" y="2552774"/>
            <a:ext cx="4104004" cy="1360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marR="309245" algn="ctr">
              <a:lnSpc>
                <a:spcPct val="116799"/>
              </a:lnSpc>
              <a:spcBef>
                <a:spcPts val="100"/>
              </a:spcBef>
              <a:tabLst>
                <a:tab pos="1409700" algn="l"/>
              </a:tabLst>
            </a:pPr>
            <a:r>
              <a:rPr sz="2500" b="1" spc="-10" dirty="0">
                <a:solidFill>
                  <a:srgbClr val="0F243E"/>
                </a:solidFill>
                <a:latin typeface="Calibri"/>
                <a:cs typeface="Calibri"/>
              </a:rPr>
              <a:t>INT305</a:t>
            </a:r>
            <a:r>
              <a:rPr sz="2500" b="1" dirty="0">
                <a:solidFill>
                  <a:srgbClr val="0F243E"/>
                </a:solidFill>
                <a:latin typeface="Calibri"/>
                <a:cs typeface="Calibri"/>
              </a:rPr>
              <a:t>	Machine</a:t>
            </a:r>
            <a:r>
              <a:rPr sz="2500" b="1" spc="3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0F243E"/>
                </a:solidFill>
                <a:latin typeface="Calibri"/>
                <a:cs typeface="Calibri"/>
              </a:rPr>
              <a:t>Learning </a:t>
            </a:r>
            <a:r>
              <a:rPr sz="2500" b="1" dirty="0">
                <a:solidFill>
                  <a:srgbClr val="0F243E"/>
                </a:solidFill>
                <a:latin typeface="Calibri"/>
                <a:cs typeface="Calibri"/>
              </a:rPr>
              <a:t>Lecture</a:t>
            </a:r>
            <a:r>
              <a:rPr sz="2500" b="1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500" b="1" spc="-50" dirty="0">
                <a:solidFill>
                  <a:srgbClr val="0F243E"/>
                </a:solidFill>
                <a:latin typeface="Calibri"/>
                <a:cs typeface="Calibri"/>
              </a:rPr>
              <a:t>6</a:t>
            </a:r>
            <a:endParaRPr sz="25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2500" b="1" dirty="0">
                <a:solidFill>
                  <a:srgbClr val="0F243E"/>
                </a:solidFill>
                <a:latin typeface="Calibri"/>
                <a:cs typeface="Calibri"/>
              </a:rPr>
              <a:t>Convolutional</a:t>
            </a:r>
            <a:r>
              <a:rPr sz="2500" b="1" spc="6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F243E"/>
                </a:solidFill>
                <a:latin typeface="Calibri"/>
                <a:cs typeface="Calibri"/>
              </a:rPr>
              <a:t>Neural</a:t>
            </a:r>
            <a:r>
              <a:rPr sz="2500" b="1" spc="7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0F243E"/>
                </a:solidFill>
                <a:latin typeface="Calibri"/>
                <a:cs typeface="Calibri"/>
              </a:rPr>
              <a:t>Network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3417" y="4407979"/>
            <a:ext cx="3622675" cy="117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43330">
              <a:lnSpc>
                <a:spcPct val="120000"/>
              </a:lnSpc>
              <a:spcBef>
                <a:spcPts val="100"/>
              </a:spcBef>
            </a:pPr>
            <a:r>
              <a:rPr sz="2100" b="1" dirty="0">
                <a:solidFill>
                  <a:srgbClr val="0F243E"/>
                </a:solidFill>
                <a:latin typeface="Calibri"/>
                <a:cs typeface="Calibri"/>
              </a:rPr>
              <a:t>Sichen</a:t>
            </a:r>
            <a:r>
              <a:rPr sz="2100" b="1" spc="-1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100" b="1" spc="-25" dirty="0">
                <a:solidFill>
                  <a:srgbClr val="0F243E"/>
                </a:solidFill>
                <a:latin typeface="Calibri"/>
                <a:cs typeface="Calibri"/>
              </a:rPr>
              <a:t>Liu </a:t>
            </a:r>
            <a:r>
              <a:rPr sz="2100" b="1" dirty="0">
                <a:solidFill>
                  <a:srgbClr val="0F243E"/>
                </a:solidFill>
                <a:latin typeface="Calibri"/>
                <a:cs typeface="Calibri"/>
              </a:rPr>
              <a:t>Department</a:t>
            </a:r>
            <a:r>
              <a:rPr sz="2100" b="1" spc="-8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F243E"/>
                </a:solidFill>
                <a:latin typeface="Calibri"/>
                <a:cs typeface="Calibri"/>
              </a:rPr>
              <a:t>Intelligence</a:t>
            </a:r>
            <a:r>
              <a:rPr sz="2100" b="1" spc="-8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0F243E"/>
                </a:solidFill>
                <a:latin typeface="Calibri"/>
                <a:cs typeface="Calibri"/>
              </a:rPr>
              <a:t>Science</a:t>
            </a:r>
            <a:endParaRPr sz="2100">
              <a:latin typeface="Calibri"/>
              <a:cs typeface="Calibri"/>
            </a:endParaRPr>
          </a:p>
          <a:p>
            <a:pPr marL="503555">
              <a:lnSpc>
                <a:spcPct val="100000"/>
              </a:lnSpc>
              <a:spcBef>
                <a:spcPts val="480"/>
              </a:spcBef>
            </a:pPr>
            <a:r>
              <a:rPr sz="2100" b="1" spc="-10" dirty="0">
                <a:solidFill>
                  <a:srgbClr val="0F243E"/>
                </a:solidFill>
                <a:latin typeface="Calibri"/>
                <a:cs typeface="Calibri"/>
                <a:hlinkClick r:id="rId3"/>
              </a:rPr>
              <a:t>Sichen.Liu@xjtlu.edu.cn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81503" y="3921166"/>
            <a:ext cx="1263754" cy="34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444" y="1192921"/>
            <a:ext cx="172720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The</a:t>
            </a:r>
            <a:r>
              <a:rPr sz="2500" b="1" spc="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002060"/>
                </a:solidFill>
                <a:latin typeface="Calibri"/>
                <a:cs typeface="Calibri"/>
              </a:rPr>
              <a:t>problem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3382" y="1952300"/>
            <a:ext cx="3893185" cy="33572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700"/>
              </a:spcBef>
            </a:pP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problem:</a:t>
            </a:r>
            <a:endParaRPr sz="1900">
              <a:latin typeface="Calibri"/>
              <a:cs typeface="Calibri"/>
            </a:endParaRPr>
          </a:p>
          <a:p>
            <a:pPr marL="960119">
              <a:lnSpc>
                <a:spcPct val="100000"/>
              </a:lnSpc>
              <a:spcBef>
                <a:spcPts val="600"/>
              </a:spcBef>
            </a:pPr>
            <a:r>
              <a:rPr sz="1900" i="1" dirty="0">
                <a:latin typeface="Calibri"/>
                <a:cs typeface="Calibri"/>
              </a:rPr>
              <a:t>semantic</a:t>
            </a:r>
            <a:r>
              <a:rPr sz="1900" i="1" spc="-50" dirty="0">
                <a:latin typeface="Calibri"/>
                <a:cs typeface="Calibri"/>
              </a:rPr>
              <a:t> </a:t>
            </a:r>
            <a:r>
              <a:rPr sz="1900" i="1" spc="-25" dirty="0">
                <a:latin typeface="Calibri"/>
                <a:cs typeface="Calibri"/>
              </a:rPr>
              <a:t>gap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900">
              <a:latin typeface="Calibri"/>
              <a:cs typeface="Calibri"/>
            </a:endParaRPr>
          </a:p>
          <a:p>
            <a:pPr marL="960119" marR="5080">
              <a:lnSpc>
                <a:spcPct val="98900"/>
              </a:lnSpc>
            </a:pPr>
            <a:r>
              <a:rPr sz="1900" dirty="0">
                <a:latin typeface="Calibri"/>
                <a:cs typeface="Calibri"/>
              </a:rPr>
              <a:t>Images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represented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3D </a:t>
            </a:r>
            <a:r>
              <a:rPr sz="1900" dirty="0">
                <a:latin typeface="Calibri"/>
                <a:cs typeface="Calibri"/>
              </a:rPr>
              <a:t>arrays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numbers,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with </a:t>
            </a:r>
            <a:r>
              <a:rPr sz="1900" dirty="0">
                <a:latin typeface="Calibri"/>
                <a:cs typeface="Calibri"/>
              </a:rPr>
              <a:t>integers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[0,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255].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100" spc="-25" dirty="0">
                <a:latin typeface="Microsoft JhengHei UI"/>
                <a:cs typeface="Microsoft JhengHei UI"/>
              </a:rPr>
              <a:t>图像以三维数值数组表示，其中包含介于整数之间的数值</a:t>
            </a:r>
            <a:endParaRPr sz="1100">
              <a:latin typeface="Microsoft JhengHei UI"/>
              <a:cs typeface="Microsoft JhengHei UI"/>
            </a:endParaRPr>
          </a:p>
          <a:p>
            <a:pPr marL="1003300">
              <a:lnSpc>
                <a:spcPct val="100000"/>
              </a:lnSpc>
              <a:spcBef>
                <a:spcPts val="805"/>
              </a:spcBef>
            </a:pPr>
            <a:r>
              <a:rPr sz="1900" spc="-10" dirty="0">
                <a:latin typeface="Calibri"/>
                <a:cs typeface="Calibri"/>
              </a:rPr>
              <a:t>E.g.,</a:t>
            </a:r>
            <a:endParaRPr sz="1900">
              <a:latin typeface="Calibri"/>
              <a:cs typeface="Calibri"/>
            </a:endParaRPr>
          </a:p>
          <a:p>
            <a:pPr marL="10033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300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x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100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x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  <a:p>
            <a:pPr marL="942975">
              <a:lnSpc>
                <a:spcPct val="100000"/>
              </a:lnSpc>
              <a:spcBef>
                <a:spcPts val="915"/>
              </a:spcBef>
            </a:pPr>
            <a:r>
              <a:rPr sz="1900" dirty="0">
                <a:latin typeface="Calibri"/>
                <a:cs typeface="Calibri"/>
              </a:rPr>
              <a:t>(3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color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channels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RGB)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4940" y="2124732"/>
            <a:ext cx="4342702" cy="31521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Challenges</a:t>
            </a:r>
            <a:r>
              <a:rPr sz="2500" b="1" spc="5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(1)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2306" y="1961106"/>
            <a:ext cx="315341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Challenges:</a:t>
            </a:r>
            <a:r>
              <a:rPr sz="1900" spc="-1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Viewpoint</a:t>
            </a:r>
            <a:r>
              <a:rPr sz="1900" spc="-9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Variation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3484" y="2633723"/>
            <a:ext cx="5389005" cy="28475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266" y="490908"/>
            <a:ext cx="2079343" cy="3621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430" y="1923059"/>
            <a:ext cx="1220710" cy="341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Challenges</a:t>
            </a:r>
            <a:r>
              <a:rPr sz="2500" b="1" spc="5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(2)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5468" y="2015970"/>
            <a:ext cx="237807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Challenges: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Illumination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3338" y="2959490"/>
            <a:ext cx="7399713" cy="19602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8221" y="2049292"/>
            <a:ext cx="489672" cy="269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Challenges</a:t>
            </a:r>
            <a:r>
              <a:rPr sz="2500" b="1" spc="5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(3)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9733" y="2332962"/>
            <a:ext cx="245237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Challenges: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Deformation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118" y="2916297"/>
            <a:ext cx="7520632" cy="22880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3358" y="2433063"/>
            <a:ext cx="190997" cy="1765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1734" y="2312496"/>
            <a:ext cx="1003753" cy="3722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Challenges</a:t>
            </a:r>
            <a:r>
              <a:rPr sz="2500" b="1" spc="5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(4)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1352" y="2265906"/>
            <a:ext cx="214947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Challenges:</a:t>
            </a:r>
            <a:r>
              <a:rPr sz="1900" spc="-1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Occlusion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1683" y="2732183"/>
            <a:ext cx="5973919" cy="26537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3071" y="2283682"/>
            <a:ext cx="1547064" cy="2986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Challenges</a:t>
            </a:r>
            <a:r>
              <a:rPr sz="2500" b="1" spc="5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(5)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6131" y="2134842"/>
            <a:ext cx="30930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Challenges:</a:t>
            </a:r>
            <a:r>
              <a:rPr sz="1900" spc="-1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Background</a:t>
            </a:r>
            <a:r>
              <a:rPr sz="1900" spc="-9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Clutter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0592" y="2851225"/>
            <a:ext cx="5566655" cy="22052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1660" y="2175845"/>
            <a:ext cx="1601817" cy="3526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Challenges</a:t>
            </a:r>
            <a:r>
              <a:rPr sz="2500" b="1" spc="5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(6)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1792" y="2317722"/>
            <a:ext cx="305308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Challenges:</a:t>
            </a:r>
            <a:r>
              <a:rPr sz="1900" spc="-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Intraclass</a:t>
            </a:r>
            <a:r>
              <a:rPr sz="1900" spc="-9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variation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8889" y="2798068"/>
            <a:ext cx="4412696" cy="29117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2376" y="2307086"/>
            <a:ext cx="956379" cy="3544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444" y="1192921"/>
            <a:ext cx="251714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An</a:t>
            </a:r>
            <a:r>
              <a:rPr sz="2500" b="1" spc="2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image</a:t>
            </a:r>
            <a:r>
              <a:rPr sz="2500" b="1" spc="3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002060"/>
                </a:solidFill>
                <a:latin typeface="Calibri"/>
                <a:cs typeface="Calibri"/>
              </a:rPr>
              <a:t>classifier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1128" y="2079978"/>
            <a:ext cx="189483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Calibri"/>
                <a:cs typeface="Calibri"/>
              </a:rPr>
              <a:t>An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image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classifier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0677" y="2860867"/>
            <a:ext cx="5912044" cy="9691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15794" y="4052034"/>
            <a:ext cx="6659880" cy="115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Unlike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e.g.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sorting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list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numbers,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1099"/>
              </a:lnSpc>
              <a:spcBef>
                <a:spcPts val="1970"/>
              </a:spcBef>
            </a:pPr>
            <a:r>
              <a:rPr sz="19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1900" b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obvious</a:t>
            </a:r>
            <a:r>
              <a:rPr sz="1900" b="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way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hard-</a:t>
            </a:r>
            <a:r>
              <a:rPr sz="1900" dirty="0">
                <a:latin typeface="Calibri"/>
                <a:cs typeface="Calibri"/>
              </a:rPr>
              <a:t>code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algorithm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recognizing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cat,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or </a:t>
            </a:r>
            <a:r>
              <a:rPr sz="1900" dirty="0">
                <a:latin typeface="Calibri"/>
                <a:cs typeface="Calibri"/>
              </a:rPr>
              <a:t>other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classes.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0" dirty="0">
                <a:solidFill>
                  <a:srgbClr val="002060"/>
                </a:solidFill>
                <a:latin typeface="Calibri"/>
                <a:cs typeface="Calibri"/>
              </a:rPr>
              <a:t>Attempts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7161" y="2226282"/>
            <a:ext cx="26257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Attempts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been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made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629" y="2514609"/>
            <a:ext cx="6497299" cy="27308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0" dirty="0">
                <a:solidFill>
                  <a:srgbClr val="002060"/>
                </a:solidFill>
                <a:latin typeface="Calibri"/>
                <a:cs typeface="Calibri"/>
              </a:rPr>
              <a:t>Attempts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5833" y="1936722"/>
            <a:ext cx="26257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Attempts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been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made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308" y="2727817"/>
            <a:ext cx="6676892" cy="24585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444" y="1192921"/>
            <a:ext cx="293560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002060"/>
                </a:solidFill>
                <a:latin typeface="Calibri"/>
                <a:cs typeface="Calibri"/>
              </a:rPr>
              <a:t>Data-driven</a:t>
            </a:r>
            <a:r>
              <a:rPr sz="2500" b="1" spc="6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002060"/>
                </a:solidFill>
                <a:latin typeface="Calibri"/>
                <a:cs typeface="Calibri"/>
              </a:rPr>
              <a:t>approach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2306" y="2119602"/>
            <a:ext cx="5745480" cy="136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Calibri"/>
                <a:cs typeface="Calibri"/>
              </a:rPr>
              <a:t>Data-</a:t>
            </a:r>
            <a:r>
              <a:rPr sz="1900" b="1" dirty="0">
                <a:latin typeface="Calibri"/>
                <a:cs typeface="Calibri"/>
              </a:rPr>
              <a:t>driven</a:t>
            </a:r>
            <a:r>
              <a:rPr sz="1900" b="1" spc="-6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approach:</a:t>
            </a:r>
            <a:endParaRPr sz="1900">
              <a:latin typeface="Calibri"/>
              <a:cs typeface="Calibri"/>
            </a:endParaRPr>
          </a:p>
          <a:p>
            <a:pPr marL="426720" indent="-361950">
              <a:lnSpc>
                <a:spcPct val="100000"/>
              </a:lnSpc>
              <a:spcBef>
                <a:spcPts val="1465"/>
              </a:spcBef>
              <a:buAutoNum type="arabicPeriod"/>
              <a:tabLst>
                <a:tab pos="426720" algn="l"/>
              </a:tabLst>
            </a:pPr>
            <a:r>
              <a:rPr sz="1900" dirty="0">
                <a:latin typeface="Calibri"/>
                <a:cs typeface="Calibri"/>
              </a:rPr>
              <a:t>Collect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dataset</a:t>
            </a:r>
            <a:r>
              <a:rPr sz="19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900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images</a:t>
            </a:r>
            <a:r>
              <a:rPr sz="19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900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labels</a:t>
            </a:r>
            <a:endParaRPr sz="1900">
              <a:latin typeface="Calibri"/>
              <a:cs typeface="Calibri"/>
            </a:endParaRPr>
          </a:p>
          <a:p>
            <a:pPr marL="426720" indent="-361950">
              <a:lnSpc>
                <a:spcPts val="2245"/>
              </a:lnSpc>
              <a:spcBef>
                <a:spcPts val="25"/>
              </a:spcBef>
              <a:buAutoNum type="arabicPeriod"/>
              <a:tabLst>
                <a:tab pos="426720" algn="l"/>
              </a:tabLst>
            </a:pPr>
            <a:r>
              <a:rPr sz="1900" dirty="0">
                <a:latin typeface="Calibri"/>
                <a:cs typeface="Calibri"/>
              </a:rPr>
              <a:t>Use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Machine</a:t>
            </a:r>
            <a:r>
              <a:rPr sz="1900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Learning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classifier</a:t>
            </a:r>
            <a:endParaRPr sz="1900">
              <a:latin typeface="Calibri"/>
              <a:cs typeface="Calibri"/>
            </a:endParaRPr>
          </a:p>
          <a:p>
            <a:pPr marL="426720" indent="-361950">
              <a:lnSpc>
                <a:spcPts val="2245"/>
              </a:lnSpc>
              <a:buAutoNum type="arabicPeriod"/>
              <a:tabLst>
                <a:tab pos="426720" algn="l"/>
              </a:tabLst>
            </a:pPr>
            <a:r>
              <a:rPr sz="1900" dirty="0">
                <a:latin typeface="Calibri"/>
                <a:cs typeface="Calibri"/>
              </a:rPr>
              <a:t>Evaluate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classifier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withheld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images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6184" y="2114559"/>
            <a:ext cx="964002" cy="27587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09509" y="3477076"/>
            <a:ext cx="8019415" cy="2272030"/>
            <a:chOff x="1109509" y="3477076"/>
            <a:chExt cx="8019415" cy="22720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4012" y="3477076"/>
              <a:ext cx="7514515" cy="22719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26480" y="3519797"/>
              <a:ext cx="4054475" cy="0"/>
            </a:xfrm>
            <a:custGeom>
              <a:avLst/>
              <a:gdLst/>
              <a:ahLst/>
              <a:cxnLst/>
              <a:rect l="l" t="t" r="r" b="b"/>
              <a:pathLst>
                <a:path w="4054475">
                  <a:moveTo>
                    <a:pt x="0" y="0"/>
                  </a:moveTo>
                  <a:lnTo>
                    <a:pt x="4053984" y="0"/>
                  </a:lnTo>
                </a:path>
              </a:pathLst>
            </a:custGeom>
            <a:ln w="14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1022" y="3803332"/>
              <a:ext cx="428238" cy="2339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9509" y="4606803"/>
              <a:ext cx="505202" cy="3004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7695" y="2550850"/>
            <a:ext cx="36093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Convolutional Neural </a:t>
            </a:r>
            <a:r>
              <a:rPr spc="-10" dirty="0"/>
              <a:t>Networks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6403" y="2951985"/>
            <a:ext cx="6498615" cy="25560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68326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Convolution</a:t>
            </a:r>
            <a:r>
              <a:rPr sz="1900" spc="-95" dirty="0"/>
              <a:t> </a:t>
            </a:r>
            <a:r>
              <a:rPr sz="1900" spc="-20" dirty="0"/>
              <a:t>Layer</a:t>
            </a:r>
            <a:endParaRPr sz="1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6204" y="2888067"/>
            <a:ext cx="1770123" cy="26142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4364" y="2186658"/>
            <a:ext cx="18014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Convolution</a:t>
            </a:r>
            <a:r>
              <a:rPr sz="1900" spc="-95" dirty="0"/>
              <a:t> </a:t>
            </a:r>
            <a:r>
              <a:rPr sz="1900" spc="-20" dirty="0"/>
              <a:t>Layer</a:t>
            </a:r>
            <a:endParaRPr sz="1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6204" y="2888067"/>
            <a:ext cx="1770123" cy="2614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2251" y="3826842"/>
            <a:ext cx="304816" cy="8271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85447" y="2446595"/>
            <a:ext cx="5345430" cy="2042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4960" marR="5080">
              <a:lnSpc>
                <a:spcPct val="117500"/>
              </a:lnSpc>
              <a:spcBef>
                <a:spcPts val="95"/>
              </a:spcBef>
            </a:pPr>
            <a:r>
              <a:rPr sz="1300" spc="-5" dirty="0">
                <a:latin typeface="Microsoft JhengHei UI"/>
                <a:cs typeface="Microsoft JhengHei UI"/>
              </a:rPr>
              <a:t>将滤波器与图像进⾏卷积操作，即“在图像空间上滑动滤波器，逐点计算内积”</a:t>
            </a:r>
            <a:endParaRPr sz="1300">
              <a:latin typeface="Microsoft JhengHei UI"/>
              <a:cs typeface="Microsoft JhengHei UI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300">
              <a:latin typeface="Microsoft JhengHei UI"/>
              <a:cs typeface="Microsoft JhengHei UI"/>
            </a:endParaRPr>
          </a:p>
          <a:p>
            <a:pPr marL="12700">
              <a:lnSpc>
                <a:spcPts val="1914"/>
              </a:lnSpc>
              <a:spcBef>
                <a:spcPts val="5"/>
              </a:spcBef>
            </a:pPr>
            <a:r>
              <a:rPr sz="1600" dirty="0">
                <a:latin typeface="Arial MT"/>
                <a:cs typeface="Arial MT"/>
              </a:rPr>
              <a:t>5x5x3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filter</a:t>
            </a:r>
            <a:endParaRPr sz="1600">
              <a:latin typeface="Arial MT"/>
              <a:cs typeface="Arial MT"/>
            </a:endParaRPr>
          </a:p>
          <a:p>
            <a:pPr marL="1532255" marR="98425" indent="-66040">
              <a:lnSpc>
                <a:spcPct val="98400"/>
              </a:lnSpc>
              <a:spcBef>
                <a:spcPts val="30"/>
              </a:spcBef>
            </a:pPr>
            <a:r>
              <a:rPr sz="19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Convolve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i.e. </a:t>
            </a:r>
            <a:r>
              <a:rPr sz="1900" dirty="0">
                <a:latin typeface="Calibri"/>
                <a:cs typeface="Calibri"/>
              </a:rPr>
              <a:t>“slide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spatially, </a:t>
            </a:r>
            <a:r>
              <a:rPr sz="1900" dirty="0">
                <a:latin typeface="Calibri"/>
                <a:cs typeface="Calibri"/>
              </a:rPr>
              <a:t>computing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products”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4364" y="2186658"/>
            <a:ext cx="18014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Convolution</a:t>
            </a:r>
            <a:r>
              <a:rPr sz="1900" spc="-9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Layer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6204" y="2888067"/>
            <a:ext cx="1770123" cy="2614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2251" y="3826842"/>
            <a:ext cx="304816" cy="8271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85447" y="3361707"/>
            <a:ext cx="5251450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4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5x5x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3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filter</a:t>
            </a:r>
            <a:endParaRPr sz="1600">
              <a:latin typeface="Calibri"/>
              <a:cs typeface="Calibri"/>
            </a:endParaRPr>
          </a:p>
          <a:p>
            <a:pPr marL="1532255" marR="5080">
              <a:lnSpc>
                <a:spcPct val="98400"/>
              </a:lnSpc>
              <a:spcBef>
                <a:spcPts val="30"/>
              </a:spcBef>
            </a:pPr>
            <a:r>
              <a:rPr sz="1900" b="1" dirty="0">
                <a:latin typeface="Calibri"/>
                <a:cs typeface="Calibri"/>
              </a:rPr>
              <a:t>Convolve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i.e. </a:t>
            </a:r>
            <a:r>
              <a:rPr sz="1900" dirty="0">
                <a:latin typeface="Calibri"/>
                <a:cs typeface="Calibri"/>
              </a:rPr>
              <a:t>“slide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spatially, </a:t>
            </a:r>
            <a:r>
              <a:rPr sz="1900" dirty="0">
                <a:latin typeface="Calibri"/>
                <a:cs typeface="Calibri"/>
              </a:rPr>
              <a:t>computing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products”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05260" y="2757621"/>
            <a:ext cx="972819" cy="366395"/>
          </a:xfrm>
          <a:custGeom>
            <a:avLst/>
            <a:gdLst/>
            <a:ahLst/>
            <a:cxnLst/>
            <a:rect l="l" t="t" r="r" b="b"/>
            <a:pathLst>
              <a:path w="972819" h="366394">
                <a:moveTo>
                  <a:pt x="972342" y="0"/>
                </a:moveTo>
                <a:lnTo>
                  <a:pt x="0" y="0"/>
                </a:lnTo>
                <a:lnTo>
                  <a:pt x="0" y="365912"/>
                </a:lnTo>
                <a:lnTo>
                  <a:pt x="972342" y="365912"/>
                </a:lnTo>
                <a:lnTo>
                  <a:pt x="9723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64950" y="2771874"/>
            <a:ext cx="8445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alibri"/>
                <a:cs typeface="Calibri"/>
              </a:rPr>
              <a:t>32x32x</a:t>
            </a:r>
            <a:r>
              <a:rPr sz="1900" spc="-10" dirty="0">
                <a:solidFill>
                  <a:srgbClr val="0B22EB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8781" y="2402109"/>
            <a:ext cx="42430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Filters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always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extend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the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full</a:t>
            </a:r>
            <a:r>
              <a:rPr sz="15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depth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of</a:t>
            </a:r>
            <a:r>
              <a:rPr sz="15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the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input</a:t>
            </a:r>
            <a:r>
              <a:rPr sz="15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volume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74048" y="2711260"/>
            <a:ext cx="2847340" cy="638175"/>
          </a:xfrm>
          <a:custGeom>
            <a:avLst/>
            <a:gdLst/>
            <a:ahLst/>
            <a:cxnLst/>
            <a:rect l="l" t="t" r="r" b="b"/>
            <a:pathLst>
              <a:path w="2847340" h="638175">
                <a:moveTo>
                  <a:pt x="2016175" y="46761"/>
                </a:moveTo>
                <a:lnTo>
                  <a:pt x="2014397" y="24180"/>
                </a:lnTo>
                <a:lnTo>
                  <a:pt x="66763" y="177419"/>
                </a:lnTo>
                <a:lnTo>
                  <a:pt x="64998" y="154838"/>
                </a:lnTo>
                <a:lnTo>
                  <a:pt x="57264" y="159512"/>
                </a:lnTo>
                <a:lnTo>
                  <a:pt x="57264" y="200888"/>
                </a:lnTo>
                <a:lnTo>
                  <a:pt x="55499" y="178308"/>
                </a:lnTo>
                <a:lnTo>
                  <a:pt x="57200" y="199999"/>
                </a:lnTo>
                <a:lnTo>
                  <a:pt x="57264" y="200888"/>
                </a:lnTo>
                <a:lnTo>
                  <a:pt x="57264" y="159512"/>
                </a:lnTo>
                <a:lnTo>
                  <a:pt x="0" y="194030"/>
                </a:lnTo>
                <a:lnTo>
                  <a:pt x="70307" y="222580"/>
                </a:lnTo>
                <a:lnTo>
                  <a:pt x="68605" y="200888"/>
                </a:lnTo>
                <a:lnTo>
                  <a:pt x="68541" y="199999"/>
                </a:lnTo>
                <a:lnTo>
                  <a:pt x="2016175" y="46761"/>
                </a:lnTo>
                <a:close/>
              </a:path>
              <a:path w="2847340" h="638175">
                <a:moveTo>
                  <a:pt x="2846984" y="18237"/>
                </a:moveTo>
                <a:lnTo>
                  <a:pt x="2833560" y="0"/>
                </a:lnTo>
                <a:lnTo>
                  <a:pt x="2035924" y="588429"/>
                </a:lnTo>
                <a:lnTo>
                  <a:pt x="2022513" y="570191"/>
                </a:lnTo>
                <a:lnTo>
                  <a:pt x="1988007" y="637844"/>
                </a:lnTo>
                <a:lnTo>
                  <a:pt x="2062772" y="624890"/>
                </a:lnTo>
                <a:lnTo>
                  <a:pt x="2054288" y="613371"/>
                </a:lnTo>
                <a:lnTo>
                  <a:pt x="2049348" y="606653"/>
                </a:lnTo>
                <a:lnTo>
                  <a:pt x="2846984" y="18237"/>
                </a:lnTo>
                <a:close/>
              </a:path>
            </a:pathLst>
          </a:custGeom>
          <a:solidFill>
            <a:srgbClr val="357E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27872" y="2021503"/>
            <a:ext cx="289369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5" dirty="0">
                <a:latin typeface="Microsoft JhengHei UI"/>
                <a:cs typeface="Microsoft JhengHei UI"/>
              </a:rPr>
              <a:t>滤波器始终覆盖输⼊数据的整个深度维度</a:t>
            </a:r>
            <a:endParaRPr sz="1250">
              <a:latin typeface="Microsoft JhengHei UI"/>
              <a:cs typeface="Microsoft JhengHei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80772" y="2718887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4">
                <a:moveTo>
                  <a:pt x="0" y="0"/>
                </a:moveTo>
                <a:lnTo>
                  <a:pt x="736894" y="0"/>
                </a:lnTo>
              </a:path>
            </a:pathLst>
          </a:custGeom>
          <a:ln w="14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27200" y="1948732"/>
            <a:ext cx="7113905" cy="3531235"/>
            <a:chOff x="1727200" y="1948732"/>
            <a:chExt cx="7113905" cy="3531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682" y="2119499"/>
              <a:ext cx="6968101" cy="3360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27200" y="1948732"/>
              <a:ext cx="2926080" cy="463550"/>
            </a:xfrm>
            <a:custGeom>
              <a:avLst/>
              <a:gdLst/>
              <a:ahLst/>
              <a:cxnLst/>
              <a:rect l="l" t="t" r="r" b="b"/>
              <a:pathLst>
                <a:path w="2926079" h="463550">
                  <a:moveTo>
                    <a:pt x="2925762" y="0"/>
                  </a:moveTo>
                  <a:lnTo>
                    <a:pt x="0" y="0"/>
                  </a:lnTo>
                  <a:lnTo>
                    <a:pt x="0" y="463487"/>
                  </a:lnTo>
                  <a:lnTo>
                    <a:pt x="2925762" y="463487"/>
                  </a:lnTo>
                  <a:lnTo>
                    <a:pt x="2925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858" rIns="0" bIns="0" rtlCol="0">
            <a:spAutoFit/>
          </a:bodyPr>
          <a:lstStyle/>
          <a:p>
            <a:pPr marL="915669">
              <a:lnSpc>
                <a:spcPct val="100000"/>
              </a:lnSpc>
              <a:spcBef>
                <a:spcPts val="100"/>
              </a:spcBef>
            </a:pPr>
            <a:r>
              <a:rPr sz="2500" dirty="0"/>
              <a:t>Convolution</a:t>
            </a:r>
            <a:r>
              <a:rPr sz="2500" spc="155" dirty="0"/>
              <a:t> </a:t>
            </a:r>
            <a:r>
              <a:rPr sz="2500" spc="-20" dirty="0"/>
              <a:t>Layer</a:t>
            </a:r>
            <a:endParaRPr sz="2500"/>
          </a:p>
        </p:txBody>
      </p:sp>
      <p:sp>
        <p:nvSpPr>
          <p:cNvPr id="7" name="object 7"/>
          <p:cNvSpPr/>
          <p:nvPr/>
        </p:nvSpPr>
        <p:spPr>
          <a:xfrm>
            <a:off x="4996294" y="4407180"/>
            <a:ext cx="3970020" cy="1097915"/>
          </a:xfrm>
          <a:custGeom>
            <a:avLst/>
            <a:gdLst/>
            <a:ahLst/>
            <a:cxnLst/>
            <a:rect l="l" t="t" r="r" b="b"/>
            <a:pathLst>
              <a:path w="3970020" h="1097914">
                <a:moveTo>
                  <a:pt x="3969905" y="0"/>
                </a:moveTo>
                <a:lnTo>
                  <a:pt x="0" y="0"/>
                </a:lnTo>
                <a:lnTo>
                  <a:pt x="0" y="756373"/>
                </a:lnTo>
                <a:lnTo>
                  <a:pt x="43865" y="756373"/>
                </a:lnTo>
                <a:lnTo>
                  <a:pt x="43865" y="1097889"/>
                </a:lnTo>
                <a:lnTo>
                  <a:pt x="1102499" y="1097889"/>
                </a:lnTo>
                <a:lnTo>
                  <a:pt x="1102499" y="756373"/>
                </a:lnTo>
                <a:lnTo>
                  <a:pt x="3969905" y="756373"/>
                </a:lnTo>
                <a:lnTo>
                  <a:pt x="39699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17860" y="2908043"/>
            <a:ext cx="254635" cy="2927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3655">
              <a:lnSpc>
                <a:spcPts val="2200"/>
              </a:lnSpc>
            </a:pPr>
            <a:r>
              <a:rPr sz="1900" spc="-50" dirty="0">
                <a:latin typeface="Cambria Math"/>
                <a:cs typeface="Cambria Math"/>
              </a:rPr>
              <a:t>𝑤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3202" y="3784338"/>
            <a:ext cx="4412615" cy="173418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120140">
              <a:lnSpc>
                <a:spcPct val="100000"/>
              </a:lnSpc>
              <a:spcBef>
                <a:spcPts val="355"/>
              </a:spcBef>
            </a:pPr>
            <a:r>
              <a:rPr sz="1250" dirty="0">
                <a:latin typeface="Microsoft JhengHei UI"/>
                <a:cs typeface="Microsoft JhengHei UI"/>
              </a:rPr>
              <a:t>滤波器与图像中</a:t>
            </a:r>
            <a:r>
              <a:rPr sz="1250" dirty="0">
                <a:latin typeface="Times New Roman"/>
                <a:cs typeface="Times New Roman"/>
              </a:rPr>
              <a:t>5x5x3</a:t>
            </a:r>
            <a:r>
              <a:rPr sz="1250" spc="-5" dirty="0">
                <a:latin typeface="Microsoft JhengHei UI"/>
                <a:cs typeface="Microsoft JhengHei UI"/>
              </a:rPr>
              <a:t>⼩块进⾏点积运算的结果</a:t>
            </a:r>
            <a:endParaRPr sz="1250">
              <a:latin typeface="Microsoft JhengHei UI"/>
              <a:cs typeface="Microsoft JhengHei UI"/>
            </a:endParaRPr>
          </a:p>
          <a:p>
            <a:pPr marL="1120140">
              <a:lnSpc>
                <a:spcPct val="100000"/>
              </a:lnSpc>
              <a:spcBef>
                <a:spcPts val="254"/>
              </a:spcBef>
            </a:pPr>
            <a:r>
              <a:rPr sz="1250" dirty="0">
                <a:latin typeface="Microsoft JhengHei UI"/>
                <a:cs typeface="Microsoft JhengHei UI"/>
              </a:rPr>
              <a:t>（即</a:t>
            </a:r>
            <a:r>
              <a:rPr sz="1250" dirty="0">
                <a:latin typeface="Times New Roman"/>
                <a:cs typeface="Times New Roman"/>
              </a:rPr>
              <a:t>75</a:t>
            </a:r>
            <a:r>
              <a:rPr sz="1250" dirty="0">
                <a:latin typeface="Microsoft JhengHei UI"/>
                <a:cs typeface="Microsoft JhengHei UI"/>
              </a:rPr>
              <a:t>维点积运算</a:t>
            </a:r>
            <a:r>
              <a:rPr sz="1250" dirty="0">
                <a:latin typeface="Times New Roman"/>
                <a:cs typeface="Times New Roman"/>
              </a:rPr>
              <a:t>+</a:t>
            </a:r>
            <a:r>
              <a:rPr sz="1250" dirty="0">
                <a:latin typeface="Microsoft JhengHei UI"/>
                <a:cs typeface="Microsoft JhengHei UI"/>
              </a:rPr>
              <a:t>偏置项</a:t>
            </a:r>
            <a:r>
              <a:rPr sz="1250" spc="-50" dirty="0">
                <a:latin typeface="Microsoft JhengHei UI"/>
                <a:cs typeface="Microsoft JhengHei UI"/>
              </a:rPr>
              <a:t>）</a:t>
            </a:r>
            <a:endParaRPr sz="1250">
              <a:latin typeface="Microsoft JhengHei UI"/>
              <a:cs typeface="Microsoft JhengHei UI"/>
            </a:endParaRPr>
          </a:p>
          <a:p>
            <a:pPr marL="34925" marR="773430" algn="just">
              <a:lnSpc>
                <a:spcPct val="97300"/>
              </a:lnSpc>
              <a:spcBef>
                <a:spcPts val="1565"/>
              </a:spcBef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result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taking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product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between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spc="-10" dirty="0">
                <a:latin typeface="Calibri"/>
                <a:cs typeface="Calibri"/>
              </a:rPr>
              <a:t>filter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small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5x5x3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chunk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image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(i.e. </a:t>
            </a:r>
            <a:r>
              <a:rPr sz="1500" spc="-25" dirty="0">
                <a:latin typeface="Calibri"/>
                <a:cs typeface="Calibri"/>
              </a:rPr>
              <a:t>5*5*3=75-</a:t>
            </a:r>
            <a:r>
              <a:rPr sz="1500" spc="-20" dirty="0">
                <a:latin typeface="Calibri"/>
                <a:cs typeface="Calibri"/>
              </a:rPr>
              <a:t>dimensional </a:t>
            </a:r>
            <a:r>
              <a:rPr sz="1500" dirty="0">
                <a:latin typeface="Calibri"/>
                <a:cs typeface="Calibri"/>
              </a:rPr>
              <a:t>dot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product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+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bias)</a:t>
            </a:r>
            <a:endParaRPr sz="1500">
              <a:latin typeface="Calibri"/>
              <a:cs typeface="Calibri"/>
            </a:endParaRPr>
          </a:p>
          <a:p>
            <a:pPr marL="50800" algn="just">
              <a:lnSpc>
                <a:spcPct val="100000"/>
              </a:lnSpc>
              <a:spcBef>
                <a:spcPts val="480"/>
              </a:spcBef>
            </a:pPr>
            <a:r>
              <a:rPr sz="2200" spc="105" dirty="0">
                <a:latin typeface="Cambria Math"/>
                <a:cs typeface="Cambria Math"/>
              </a:rPr>
              <a:t>𝑤</a:t>
            </a:r>
            <a:r>
              <a:rPr sz="2400" spc="157" baseline="27777" dirty="0">
                <a:latin typeface="Cambria Math"/>
                <a:cs typeface="Cambria Math"/>
              </a:rPr>
              <a:t>𝗍</a:t>
            </a:r>
            <a:r>
              <a:rPr sz="2200" spc="105" dirty="0">
                <a:latin typeface="Cambria Math"/>
                <a:cs typeface="Cambria Math"/>
              </a:rPr>
              <a:t>𝑥</a:t>
            </a:r>
            <a:r>
              <a:rPr sz="2200" spc="8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+</a:t>
            </a:r>
            <a:r>
              <a:rPr sz="2200" spc="1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𝑏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58590" y="5164169"/>
            <a:ext cx="2707005" cy="354965"/>
            <a:chOff x="6458590" y="5164169"/>
            <a:chExt cx="2707005" cy="3549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8590" y="5164169"/>
              <a:ext cx="1963312" cy="3544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6581" y="5183593"/>
              <a:ext cx="658608" cy="300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27200" y="1948732"/>
            <a:ext cx="6979284" cy="3336290"/>
            <a:chOff x="1727200" y="1948732"/>
            <a:chExt cx="6979284" cy="3336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2291" y="2114049"/>
              <a:ext cx="6813765" cy="31704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27200" y="1948732"/>
              <a:ext cx="2542540" cy="463550"/>
            </a:xfrm>
            <a:custGeom>
              <a:avLst/>
              <a:gdLst/>
              <a:ahLst/>
              <a:cxnLst/>
              <a:rect l="l" t="t" r="r" b="b"/>
              <a:pathLst>
                <a:path w="2542540" h="463550">
                  <a:moveTo>
                    <a:pt x="2542148" y="0"/>
                  </a:moveTo>
                  <a:lnTo>
                    <a:pt x="0" y="0"/>
                  </a:lnTo>
                  <a:lnTo>
                    <a:pt x="0" y="463487"/>
                  </a:lnTo>
                  <a:lnTo>
                    <a:pt x="2542148" y="463487"/>
                  </a:lnTo>
                  <a:lnTo>
                    <a:pt x="2542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86889" y="1961017"/>
            <a:ext cx="239712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/>
              <a:t>Convolution</a:t>
            </a:r>
            <a:r>
              <a:rPr sz="2500" spc="155" dirty="0"/>
              <a:t> </a:t>
            </a:r>
            <a:r>
              <a:rPr sz="2500" spc="-20" dirty="0"/>
              <a:t>Layer</a:t>
            </a:r>
            <a:endParaRPr sz="2500"/>
          </a:p>
        </p:txBody>
      </p:sp>
      <p:sp>
        <p:nvSpPr>
          <p:cNvPr id="7" name="object 7"/>
          <p:cNvSpPr txBox="1"/>
          <p:nvPr/>
        </p:nvSpPr>
        <p:spPr>
          <a:xfrm>
            <a:off x="4798292" y="4111213"/>
            <a:ext cx="2171700" cy="561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71755" marR="167005">
              <a:lnSpc>
                <a:spcPts val="1900"/>
              </a:lnSpc>
              <a:spcBef>
                <a:spcPts val="305"/>
              </a:spcBef>
            </a:pPr>
            <a:r>
              <a:rPr sz="1600" spc="-10" dirty="0">
                <a:latin typeface="Calibri"/>
                <a:cs typeface="Calibri"/>
              </a:rPr>
              <a:t>convolve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(slide)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all </a:t>
            </a:r>
            <a:r>
              <a:rPr sz="1600" dirty="0">
                <a:latin typeface="Calibri"/>
                <a:cs typeface="Calibri"/>
              </a:rPr>
              <a:t>spatial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locations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47659" y="2264275"/>
            <a:ext cx="1617345" cy="366395"/>
          </a:xfrm>
          <a:custGeom>
            <a:avLst/>
            <a:gdLst/>
            <a:ahLst/>
            <a:cxnLst/>
            <a:rect l="l" t="t" r="r" b="b"/>
            <a:pathLst>
              <a:path w="1617345" h="366394">
                <a:moveTo>
                  <a:pt x="1617016" y="0"/>
                </a:moveTo>
                <a:lnTo>
                  <a:pt x="0" y="0"/>
                </a:lnTo>
                <a:lnTo>
                  <a:pt x="0" y="365911"/>
                </a:lnTo>
                <a:lnTo>
                  <a:pt x="1617016" y="365911"/>
                </a:lnTo>
                <a:lnTo>
                  <a:pt x="16170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07350" y="2278098"/>
            <a:ext cx="14827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B22EB"/>
                </a:solidFill>
                <a:latin typeface="Calibri"/>
                <a:cs typeface="Calibri"/>
              </a:rPr>
              <a:t>activation</a:t>
            </a:r>
            <a:r>
              <a:rPr sz="1900" spc="-7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0B22EB"/>
                </a:solidFill>
                <a:latin typeface="Calibri"/>
                <a:cs typeface="Calibri"/>
              </a:rPr>
              <a:t>map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101" y="4655478"/>
            <a:ext cx="2325087" cy="6184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27200" y="1948732"/>
            <a:ext cx="7044055" cy="3348990"/>
            <a:chOff x="1727200" y="1948732"/>
            <a:chExt cx="7044055" cy="33489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7568" y="2010225"/>
              <a:ext cx="6903118" cy="328745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27200" y="1948732"/>
              <a:ext cx="2895600" cy="463550"/>
            </a:xfrm>
            <a:custGeom>
              <a:avLst/>
              <a:gdLst/>
              <a:ahLst/>
              <a:cxnLst/>
              <a:rect l="l" t="t" r="r" b="b"/>
              <a:pathLst>
                <a:path w="2895600" h="463550">
                  <a:moveTo>
                    <a:pt x="2895600" y="0"/>
                  </a:moveTo>
                  <a:lnTo>
                    <a:pt x="0" y="0"/>
                  </a:lnTo>
                  <a:lnTo>
                    <a:pt x="0" y="463487"/>
                  </a:lnTo>
                  <a:lnTo>
                    <a:pt x="2895600" y="463487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86889" y="1961017"/>
            <a:ext cx="239712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/>
              <a:t>Convolution</a:t>
            </a:r>
            <a:r>
              <a:rPr sz="2500" spc="155" dirty="0"/>
              <a:t> </a:t>
            </a:r>
            <a:r>
              <a:rPr sz="2500" spc="-20" dirty="0"/>
              <a:t>Layer</a:t>
            </a:r>
            <a:endParaRPr sz="2500"/>
          </a:p>
        </p:txBody>
      </p:sp>
      <p:sp>
        <p:nvSpPr>
          <p:cNvPr id="7" name="object 7"/>
          <p:cNvSpPr txBox="1"/>
          <p:nvPr/>
        </p:nvSpPr>
        <p:spPr>
          <a:xfrm>
            <a:off x="4798292" y="4111213"/>
            <a:ext cx="2171700" cy="561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71755" marR="167005">
              <a:lnSpc>
                <a:spcPts val="1900"/>
              </a:lnSpc>
              <a:spcBef>
                <a:spcPts val="305"/>
              </a:spcBef>
            </a:pPr>
            <a:r>
              <a:rPr sz="1600" spc="-10" dirty="0">
                <a:latin typeface="Calibri"/>
                <a:cs typeface="Calibri"/>
              </a:rPr>
              <a:t>convolve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(slide)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all </a:t>
            </a:r>
            <a:r>
              <a:rPr sz="1600" dirty="0">
                <a:latin typeface="Calibri"/>
                <a:cs typeface="Calibri"/>
              </a:rPr>
              <a:t>spatial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locations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92903" y="2445462"/>
            <a:ext cx="1617345" cy="366395"/>
          </a:xfrm>
          <a:custGeom>
            <a:avLst/>
            <a:gdLst/>
            <a:ahLst/>
            <a:cxnLst/>
            <a:rect l="l" t="t" r="r" b="b"/>
            <a:pathLst>
              <a:path w="1617345" h="366394">
                <a:moveTo>
                  <a:pt x="1617016" y="0"/>
                </a:moveTo>
                <a:lnTo>
                  <a:pt x="0" y="0"/>
                </a:lnTo>
                <a:lnTo>
                  <a:pt x="0" y="365912"/>
                </a:lnTo>
                <a:lnTo>
                  <a:pt x="1617016" y="365912"/>
                </a:lnTo>
                <a:lnTo>
                  <a:pt x="16170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52593" y="2457930"/>
            <a:ext cx="14827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B22EB"/>
                </a:solidFill>
                <a:latin typeface="Calibri"/>
                <a:cs typeface="Calibri"/>
              </a:rPr>
              <a:t>activation</a:t>
            </a:r>
            <a:r>
              <a:rPr sz="1900" spc="-7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0B22EB"/>
                </a:solidFill>
                <a:latin typeface="Calibri"/>
                <a:cs typeface="Calibri"/>
              </a:rPr>
              <a:t>map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1312" y="2079978"/>
            <a:ext cx="715200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For</a:t>
            </a:r>
            <a:r>
              <a:rPr sz="1900" spc="-45" dirty="0"/>
              <a:t> </a:t>
            </a:r>
            <a:r>
              <a:rPr sz="1900" dirty="0"/>
              <a:t>example,</a:t>
            </a:r>
            <a:r>
              <a:rPr sz="1900" spc="-40" dirty="0"/>
              <a:t> </a:t>
            </a:r>
            <a:r>
              <a:rPr sz="1900" dirty="0"/>
              <a:t>if</a:t>
            </a:r>
            <a:r>
              <a:rPr sz="1900" spc="-40" dirty="0"/>
              <a:t> </a:t>
            </a:r>
            <a:r>
              <a:rPr sz="1900" dirty="0"/>
              <a:t>we</a:t>
            </a:r>
            <a:r>
              <a:rPr sz="1900" spc="-35" dirty="0"/>
              <a:t> </a:t>
            </a:r>
            <a:r>
              <a:rPr sz="1900" dirty="0"/>
              <a:t>had</a:t>
            </a:r>
            <a:r>
              <a:rPr sz="1900" spc="-40" dirty="0"/>
              <a:t> </a:t>
            </a:r>
            <a:r>
              <a:rPr sz="1900" dirty="0"/>
              <a:t>6</a:t>
            </a:r>
            <a:r>
              <a:rPr sz="1900" spc="-45" dirty="0"/>
              <a:t> </a:t>
            </a:r>
            <a:r>
              <a:rPr sz="1900" dirty="0"/>
              <a:t>5x5</a:t>
            </a:r>
            <a:r>
              <a:rPr sz="1900" spc="-50" dirty="0"/>
              <a:t> </a:t>
            </a:r>
            <a:r>
              <a:rPr sz="1900" dirty="0"/>
              <a:t>filters,</a:t>
            </a:r>
            <a:r>
              <a:rPr sz="1900" spc="-40" dirty="0"/>
              <a:t> </a:t>
            </a:r>
            <a:r>
              <a:rPr sz="1900" dirty="0"/>
              <a:t>we’ll</a:t>
            </a:r>
            <a:r>
              <a:rPr sz="1900" spc="-40" dirty="0"/>
              <a:t> </a:t>
            </a:r>
            <a:r>
              <a:rPr sz="1900" dirty="0"/>
              <a:t>get</a:t>
            </a:r>
            <a:r>
              <a:rPr sz="1900" spc="-50" dirty="0"/>
              <a:t> </a:t>
            </a:r>
            <a:r>
              <a:rPr sz="1900" dirty="0"/>
              <a:t>6</a:t>
            </a:r>
            <a:r>
              <a:rPr sz="1900" spc="-45" dirty="0"/>
              <a:t> </a:t>
            </a:r>
            <a:r>
              <a:rPr sz="1900" dirty="0"/>
              <a:t>separate</a:t>
            </a:r>
            <a:r>
              <a:rPr sz="1900" spc="-35" dirty="0"/>
              <a:t> </a:t>
            </a:r>
            <a:r>
              <a:rPr sz="1900" dirty="0"/>
              <a:t>activation</a:t>
            </a:r>
            <a:r>
              <a:rPr sz="1900" spc="-45" dirty="0"/>
              <a:t> </a:t>
            </a:r>
            <a:r>
              <a:rPr sz="1900" spc="-10" dirty="0"/>
              <a:t>maps:</a:t>
            </a:r>
            <a:endParaRPr sz="1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616" y="2934235"/>
            <a:ext cx="4931306" cy="229350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13413" y="2630187"/>
            <a:ext cx="13525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alibri"/>
                <a:cs typeface="Calibri"/>
              </a:rPr>
              <a:t>activation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maps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2358" y="5377914"/>
            <a:ext cx="55721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stack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these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“new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image”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size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28x28x6!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52321" y="3259415"/>
            <a:ext cx="1826294" cy="104068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625653" y="5760632"/>
            <a:ext cx="428625" cy="222250"/>
            <a:chOff x="4625653" y="5760632"/>
            <a:chExt cx="428625" cy="2222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5653" y="5760632"/>
              <a:ext cx="362539" cy="2221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18862" y="5834216"/>
              <a:ext cx="35560" cy="74295"/>
            </a:xfrm>
            <a:custGeom>
              <a:avLst/>
              <a:gdLst/>
              <a:ahLst/>
              <a:cxnLst/>
              <a:rect l="l" t="t" r="r" b="b"/>
              <a:pathLst>
                <a:path w="35560" h="74295">
                  <a:moveTo>
                    <a:pt x="14351" y="4648"/>
                  </a:moveTo>
                  <a:lnTo>
                    <a:pt x="13373" y="3200"/>
                  </a:lnTo>
                  <a:lnTo>
                    <a:pt x="3924" y="0"/>
                  </a:lnTo>
                  <a:lnTo>
                    <a:pt x="1511" y="1193"/>
                  </a:lnTo>
                  <a:lnTo>
                    <a:pt x="0" y="5651"/>
                  </a:lnTo>
                  <a:lnTo>
                    <a:pt x="1231" y="8153"/>
                  </a:lnTo>
                  <a:lnTo>
                    <a:pt x="1409" y="8153"/>
                  </a:lnTo>
                  <a:lnTo>
                    <a:pt x="4051" y="9042"/>
                  </a:lnTo>
                  <a:lnTo>
                    <a:pt x="4495" y="9042"/>
                  </a:lnTo>
                  <a:lnTo>
                    <a:pt x="12446" y="9601"/>
                  </a:lnTo>
                  <a:lnTo>
                    <a:pt x="14109" y="8153"/>
                  </a:lnTo>
                  <a:lnTo>
                    <a:pt x="14236" y="6235"/>
                  </a:lnTo>
                  <a:lnTo>
                    <a:pt x="14351" y="4648"/>
                  </a:lnTo>
                  <a:close/>
                </a:path>
                <a:path w="35560" h="74295">
                  <a:moveTo>
                    <a:pt x="35140" y="68681"/>
                  </a:moveTo>
                  <a:lnTo>
                    <a:pt x="33578" y="67119"/>
                  </a:lnTo>
                  <a:lnTo>
                    <a:pt x="29730" y="67119"/>
                  </a:lnTo>
                  <a:lnTo>
                    <a:pt x="28168" y="68681"/>
                  </a:lnTo>
                  <a:lnTo>
                    <a:pt x="28168" y="70599"/>
                  </a:lnTo>
                  <a:lnTo>
                    <a:pt x="28168" y="72529"/>
                  </a:lnTo>
                  <a:lnTo>
                    <a:pt x="29730" y="74091"/>
                  </a:lnTo>
                  <a:lnTo>
                    <a:pt x="33578" y="74091"/>
                  </a:lnTo>
                  <a:lnTo>
                    <a:pt x="35140" y="72529"/>
                  </a:lnTo>
                  <a:lnTo>
                    <a:pt x="35140" y="686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7391" y="5661305"/>
            <a:ext cx="219190" cy="5563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64563" y="5788834"/>
            <a:ext cx="514363" cy="35231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59365" y="5850482"/>
            <a:ext cx="287421" cy="23492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4951" y="5850299"/>
            <a:ext cx="373038" cy="20700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545366" y="6267480"/>
            <a:ext cx="2305050" cy="670560"/>
            <a:chOff x="5545366" y="6267480"/>
            <a:chExt cx="2305050" cy="67056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2405" y="6363519"/>
              <a:ext cx="512062" cy="1140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39919" y="6267480"/>
              <a:ext cx="760510" cy="21174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45366" y="6357485"/>
              <a:ext cx="2305027" cy="580434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936883" y="6511978"/>
            <a:ext cx="385266" cy="28818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83868" y="6431528"/>
            <a:ext cx="283003" cy="39744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884" rIns="0" bIns="0" rtlCol="0">
            <a:spAutoFit/>
          </a:bodyPr>
          <a:lstStyle/>
          <a:p>
            <a:pPr marL="788670" marR="969010">
              <a:lnSpc>
                <a:spcPct val="101099"/>
              </a:lnSpc>
              <a:spcBef>
                <a:spcPts val="75"/>
              </a:spcBef>
            </a:pPr>
            <a:r>
              <a:rPr sz="1900" b="1" dirty="0">
                <a:latin typeface="Calibri"/>
                <a:cs typeface="Calibri"/>
              </a:rPr>
              <a:t>Preview</a:t>
            </a:r>
            <a:r>
              <a:rPr sz="1900" dirty="0"/>
              <a:t>:</a:t>
            </a:r>
            <a:r>
              <a:rPr sz="1900" spc="-60" dirty="0"/>
              <a:t> </a:t>
            </a:r>
            <a:r>
              <a:rPr sz="1900" dirty="0"/>
              <a:t>ConvNet</a:t>
            </a:r>
            <a:r>
              <a:rPr sz="1900" spc="-60" dirty="0"/>
              <a:t> </a:t>
            </a:r>
            <a:r>
              <a:rPr sz="1900" dirty="0"/>
              <a:t>is</a:t>
            </a:r>
            <a:r>
              <a:rPr sz="1900" spc="-55" dirty="0"/>
              <a:t> </a:t>
            </a:r>
            <a:r>
              <a:rPr sz="1900" dirty="0"/>
              <a:t>a</a:t>
            </a:r>
            <a:r>
              <a:rPr sz="1900" spc="-50" dirty="0"/>
              <a:t> </a:t>
            </a:r>
            <a:r>
              <a:rPr sz="1900" dirty="0"/>
              <a:t>sequence</a:t>
            </a:r>
            <a:r>
              <a:rPr sz="1900" spc="-50" dirty="0"/>
              <a:t> </a:t>
            </a:r>
            <a:r>
              <a:rPr sz="1900" dirty="0"/>
              <a:t>of</a:t>
            </a:r>
            <a:r>
              <a:rPr sz="1900" spc="-50" dirty="0"/>
              <a:t> </a:t>
            </a:r>
            <a:r>
              <a:rPr sz="1900" dirty="0"/>
              <a:t>Convolution</a:t>
            </a:r>
            <a:r>
              <a:rPr sz="1900" spc="-55" dirty="0"/>
              <a:t> </a:t>
            </a:r>
            <a:r>
              <a:rPr sz="1900" dirty="0"/>
              <a:t>Layers,</a:t>
            </a:r>
            <a:r>
              <a:rPr sz="1900" spc="-55" dirty="0"/>
              <a:t> </a:t>
            </a:r>
            <a:r>
              <a:rPr sz="1900" dirty="0"/>
              <a:t>interspersed</a:t>
            </a:r>
            <a:r>
              <a:rPr sz="1900" spc="-50" dirty="0"/>
              <a:t> </a:t>
            </a:r>
            <a:r>
              <a:rPr sz="1900" spc="-20" dirty="0"/>
              <a:t>with </a:t>
            </a:r>
            <a:r>
              <a:rPr sz="1900" dirty="0"/>
              <a:t>activation</a:t>
            </a:r>
            <a:r>
              <a:rPr sz="1900" spc="-75" dirty="0"/>
              <a:t> </a:t>
            </a:r>
            <a:r>
              <a:rPr sz="1900" spc="-10" dirty="0"/>
              <a:t>functions</a:t>
            </a:r>
            <a:endParaRPr sz="1900">
              <a:latin typeface="Calibri"/>
              <a:cs typeface="Calibri"/>
            </a:endParaRPr>
          </a:p>
          <a:p>
            <a:pPr marL="4354195">
              <a:lnSpc>
                <a:spcPts val="1260"/>
              </a:lnSpc>
            </a:pPr>
            <a:r>
              <a:rPr sz="1250" spc="-5" dirty="0">
                <a:latin typeface="Microsoft JhengHei UI"/>
                <a:cs typeface="Microsoft JhengHei UI"/>
              </a:rPr>
              <a:t>预览：</a:t>
            </a:r>
            <a:r>
              <a:rPr sz="1250" spc="-10" dirty="0">
                <a:latin typeface="Times New Roman"/>
                <a:cs typeface="Times New Roman"/>
              </a:rPr>
              <a:t>ConvNet</a:t>
            </a:r>
            <a:r>
              <a:rPr sz="1250" spc="-5" dirty="0">
                <a:latin typeface="Microsoft JhengHei UI"/>
                <a:cs typeface="Microsoft JhengHei UI"/>
              </a:rPr>
              <a:t>是由卷积层序列组成，其间穿插激活函数的结构。</a:t>
            </a:r>
            <a:endParaRPr sz="1250">
              <a:latin typeface="Microsoft JhengHei UI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823" y="2934232"/>
            <a:ext cx="3064394" cy="24288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9660" y="2095218"/>
            <a:ext cx="718629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b="1" dirty="0">
                <a:latin typeface="Calibri"/>
                <a:cs typeface="Calibri"/>
              </a:rPr>
              <a:t>Preview</a:t>
            </a:r>
            <a:r>
              <a:rPr sz="1900" dirty="0"/>
              <a:t>:</a:t>
            </a:r>
            <a:r>
              <a:rPr sz="1900" spc="-60" dirty="0"/>
              <a:t> </a:t>
            </a:r>
            <a:r>
              <a:rPr sz="1900" dirty="0"/>
              <a:t>ConvNet</a:t>
            </a:r>
            <a:r>
              <a:rPr sz="1900" spc="-60" dirty="0"/>
              <a:t> </a:t>
            </a:r>
            <a:r>
              <a:rPr sz="1900" dirty="0"/>
              <a:t>is</a:t>
            </a:r>
            <a:r>
              <a:rPr sz="1900" spc="-55" dirty="0"/>
              <a:t> </a:t>
            </a:r>
            <a:r>
              <a:rPr sz="1900" dirty="0"/>
              <a:t>a</a:t>
            </a:r>
            <a:r>
              <a:rPr sz="1900" spc="-50" dirty="0"/>
              <a:t> </a:t>
            </a:r>
            <a:r>
              <a:rPr sz="1900" dirty="0"/>
              <a:t>sequence</a:t>
            </a:r>
            <a:r>
              <a:rPr sz="1900" spc="-50" dirty="0"/>
              <a:t> </a:t>
            </a:r>
            <a:r>
              <a:rPr sz="1900" dirty="0"/>
              <a:t>of</a:t>
            </a:r>
            <a:r>
              <a:rPr sz="1900" spc="-50" dirty="0"/>
              <a:t> </a:t>
            </a:r>
            <a:r>
              <a:rPr sz="1900" dirty="0"/>
              <a:t>Convolution</a:t>
            </a:r>
            <a:r>
              <a:rPr sz="1900" spc="-55" dirty="0"/>
              <a:t> </a:t>
            </a:r>
            <a:r>
              <a:rPr sz="1900" dirty="0"/>
              <a:t>Layers,</a:t>
            </a:r>
            <a:r>
              <a:rPr sz="1900" spc="-55" dirty="0"/>
              <a:t> </a:t>
            </a:r>
            <a:r>
              <a:rPr sz="1900" dirty="0"/>
              <a:t>interspersed</a:t>
            </a:r>
            <a:r>
              <a:rPr sz="1900" spc="-50" dirty="0"/>
              <a:t> </a:t>
            </a:r>
            <a:r>
              <a:rPr sz="1900" spc="-20" dirty="0"/>
              <a:t>with </a:t>
            </a:r>
            <a:r>
              <a:rPr sz="1900" dirty="0"/>
              <a:t>activation</a:t>
            </a:r>
            <a:r>
              <a:rPr sz="1900" spc="-75" dirty="0"/>
              <a:t> </a:t>
            </a:r>
            <a:r>
              <a:rPr sz="1900" spc="-10" dirty="0"/>
              <a:t>functions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389" y="2863188"/>
            <a:ext cx="6037871" cy="21754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7683" y="5190388"/>
            <a:ext cx="1565015" cy="2632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7402" y="5164965"/>
            <a:ext cx="934425" cy="3695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4442" y="5242449"/>
            <a:ext cx="778110" cy="2485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3660" y="5263574"/>
            <a:ext cx="460689" cy="2381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3254" y="5351244"/>
            <a:ext cx="1051314" cy="216185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407376" y="5547548"/>
            <a:ext cx="29209" cy="24765"/>
          </a:xfrm>
          <a:custGeom>
            <a:avLst/>
            <a:gdLst/>
            <a:ahLst/>
            <a:cxnLst/>
            <a:rect l="l" t="t" r="r" b="b"/>
            <a:pathLst>
              <a:path w="29209" h="24764">
                <a:moveTo>
                  <a:pt x="20863" y="0"/>
                </a:moveTo>
                <a:lnTo>
                  <a:pt x="15245" y="901"/>
                </a:lnTo>
                <a:lnTo>
                  <a:pt x="6149" y="7654"/>
                </a:lnTo>
                <a:lnTo>
                  <a:pt x="3114" y="13115"/>
                </a:lnTo>
                <a:lnTo>
                  <a:pt x="0" y="20408"/>
                </a:lnTo>
                <a:lnTo>
                  <a:pt x="911" y="22677"/>
                </a:lnTo>
                <a:lnTo>
                  <a:pt x="4540" y="24226"/>
                </a:lnTo>
                <a:lnTo>
                  <a:pt x="6478" y="23681"/>
                </a:lnTo>
                <a:lnTo>
                  <a:pt x="10066" y="18653"/>
                </a:lnTo>
                <a:lnTo>
                  <a:pt x="12951" y="14926"/>
                </a:lnTo>
                <a:lnTo>
                  <a:pt x="18521" y="11384"/>
                </a:lnTo>
                <a:lnTo>
                  <a:pt x="20543" y="10764"/>
                </a:lnTo>
                <a:lnTo>
                  <a:pt x="26916" y="10764"/>
                </a:lnTo>
                <a:lnTo>
                  <a:pt x="27767" y="10226"/>
                </a:lnTo>
                <a:lnTo>
                  <a:pt x="28816" y="5558"/>
                </a:lnTo>
                <a:lnTo>
                  <a:pt x="27771" y="3380"/>
                </a:lnTo>
                <a:lnTo>
                  <a:pt x="20863" y="0"/>
                </a:lnTo>
                <a:close/>
              </a:path>
              <a:path w="29209" h="24764">
                <a:moveTo>
                  <a:pt x="26916" y="10764"/>
                </a:moveTo>
                <a:lnTo>
                  <a:pt x="20543" y="10764"/>
                </a:lnTo>
                <a:lnTo>
                  <a:pt x="25246" y="11822"/>
                </a:lnTo>
                <a:lnTo>
                  <a:pt x="26916" y="10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79178" y="5267962"/>
            <a:ext cx="864808" cy="28930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60123" y="5268066"/>
            <a:ext cx="679350" cy="22693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22651" y="5255536"/>
            <a:ext cx="597545" cy="25951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0016232" y="5217532"/>
            <a:ext cx="652145" cy="367030"/>
            <a:chOff x="10016232" y="5217532"/>
            <a:chExt cx="652145" cy="367030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422140" y="5246545"/>
              <a:ext cx="88474" cy="818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16232" y="5217532"/>
              <a:ext cx="652009" cy="366468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67938" y="5731958"/>
            <a:ext cx="407121" cy="26507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43134" y="5704683"/>
            <a:ext cx="406686" cy="28991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85572" y="5817606"/>
            <a:ext cx="378871" cy="13717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312579" y="5712780"/>
            <a:ext cx="538209" cy="41981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99158" y="5754999"/>
            <a:ext cx="966972" cy="32812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060170" y="5775190"/>
            <a:ext cx="1287211" cy="3200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16758" y="1984902"/>
            <a:ext cx="6948170" cy="3686810"/>
            <a:chOff x="1716758" y="1984902"/>
            <a:chExt cx="6948170" cy="3686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8129" y="2060450"/>
              <a:ext cx="6846615" cy="36111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16758" y="1984902"/>
              <a:ext cx="941069" cy="366395"/>
            </a:xfrm>
            <a:custGeom>
              <a:avLst/>
              <a:gdLst/>
              <a:ahLst/>
              <a:cxnLst/>
              <a:rect l="l" t="t" r="r" b="b"/>
              <a:pathLst>
                <a:path w="941069" h="366394">
                  <a:moveTo>
                    <a:pt x="940616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940616" y="365912"/>
                  </a:lnTo>
                  <a:lnTo>
                    <a:pt x="940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100"/>
              </a:spcBef>
            </a:pPr>
            <a:r>
              <a:rPr sz="1900" spc="-10" dirty="0"/>
              <a:t>Preview</a:t>
            </a:r>
            <a:endParaRPr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16758" y="1930749"/>
            <a:ext cx="7015480" cy="3626485"/>
            <a:chOff x="1716758" y="1930749"/>
            <a:chExt cx="7015480" cy="3626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8594" y="1930749"/>
              <a:ext cx="6923597" cy="36262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16758" y="1984902"/>
              <a:ext cx="941069" cy="366395"/>
            </a:xfrm>
            <a:custGeom>
              <a:avLst/>
              <a:gdLst/>
              <a:ahLst/>
              <a:cxnLst/>
              <a:rect l="l" t="t" r="r" b="b"/>
              <a:pathLst>
                <a:path w="941069" h="366394">
                  <a:moveTo>
                    <a:pt x="940616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940616" y="365912"/>
                  </a:lnTo>
                  <a:lnTo>
                    <a:pt x="940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100"/>
              </a:spcBef>
            </a:pPr>
            <a:r>
              <a:rPr sz="1900" spc="-10" dirty="0"/>
              <a:t>Preview</a:t>
            </a:r>
            <a:endParaRPr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43247" y="2216559"/>
            <a:ext cx="7340600" cy="3546475"/>
            <a:chOff x="2043247" y="2216559"/>
            <a:chExt cx="7340600" cy="3546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3247" y="2216559"/>
              <a:ext cx="6912918" cy="35458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29875" y="3491213"/>
              <a:ext cx="3554095" cy="951865"/>
            </a:xfrm>
            <a:custGeom>
              <a:avLst/>
              <a:gdLst/>
              <a:ahLst/>
              <a:cxnLst/>
              <a:rect l="l" t="t" r="r" b="b"/>
              <a:pathLst>
                <a:path w="3554095" h="951864">
                  <a:moveTo>
                    <a:pt x="3553691" y="0"/>
                  </a:moveTo>
                  <a:lnTo>
                    <a:pt x="0" y="0"/>
                  </a:lnTo>
                  <a:lnTo>
                    <a:pt x="0" y="951372"/>
                  </a:lnTo>
                  <a:lnTo>
                    <a:pt x="3553691" y="951372"/>
                  </a:lnTo>
                  <a:lnTo>
                    <a:pt x="35536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89565" y="3506442"/>
            <a:ext cx="3053080" cy="8858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8400"/>
              </a:lnSpc>
              <a:spcBef>
                <a:spcPts val="135"/>
              </a:spcBef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layer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convolutional </a:t>
            </a:r>
            <a:r>
              <a:rPr sz="1900" dirty="0">
                <a:latin typeface="Calibri"/>
                <a:cs typeface="Calibri"/>
              </a:rPr>
              <a:t>because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related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convolution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two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signals: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72083" y="5138260"/>
            <a:ext cx="3211830" cy="528955"/>
          </a:xfrm>
          <a:custGeom>
            <a:avLst/>
            <a:gdLst/>
            <a:ahLst/>
            <a:cxnLst/>
            <a:rect l="l" t="t" r="r" b="b"/>
            <a:pathLst>
              <a:path w="3211829" h="528954">
                <a:moveTo>
                  <a:pt x="3211483" y="0"/>
                </a:moveTo>
                <a:lnTo>
                  <a:pt x="0" y="0"/>
                </a:lnTo>
                <a:lnTo>
                  <a:pt x="0" y="528641"/>
                </a:lnTo>
                <a:lnTo>
                  <a:pt x="3211483" y="528641"/>
                </a:lnTo>
                <a:lnTo>
                  <a:pt x="32114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31773" y="5154453"/>
            <a:ext cx="298704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latin typeface="Calibri"/>
                <a:cs typeface="Calibri"/>
              </a:rPr>
              <a:t>elementwise</a:t>
            </a:r>
            <a:r>
              <a:rPr sz="1500" spc="-20" dirty="0">
                <a:latin typeface="Calibri"/>
                <a:cs typeface="Calibri"/>
              </a:rPr>
              <a:t> multiplication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sum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of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filter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signal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(image)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3205" y="3355311"/>
            <a:ext cx="391266" cy="2590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8242" y="3723354"/>
            <a:ext cx="673552" cy="28982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788650" y="1878200"/>
            <a:ext cx="5595620" cy="4050029"/>
            <a:chOff x="4788650" y="1878200"/>
            <a:chExt cx="5595620" cy="4050029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650" y="1910998"/>
              <a:ext cx="384139" cy="28592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9900" y="1878200"/>
              <a:ext cx="755502" cy="3217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50877" y="5594154"/>
              <a:ext cx="1278496" cy="3176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00586" y="5586864"/>
              <a:ext cx="2583585" cy="341176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82700" y="1255959"/>
            <a:ext cx="1072347" cy="32077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72489" y="1350739"/>
            <a:ext cx="335204" cy="18045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36388" y="1255073"/>
            <a:ext cx="1008255" cy="3223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6292" y="1741957"/>
            <a:ext cx="7339965" cy="3850640"/>
            <a:chOff x="1626292" y="1741957"/>
            <a:chExt cx="7339965" cy="3850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200" y="1951270"/>
              <a:ext cx="7239000" cy="36412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26292" y="1741957"/>
              <a:ext cx="1005840" cy="366395"/>
            </a:xfrm>
            <a:custGeom>
              <a:avLst/>
              <a:gdLst/>
              <a:ahLst/>
              <a:cxnLst/>
              <a:rect l="l" t="t" r="r" b="b"/>
              <a:pathLst>
                <a:path w="1005839" h="366394">
                  <a:moveTo>
                    <a:pt x="1005337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1005337" y="365912"/>
                  </a:lnTo>
                  <a:lnTo>
                    <a:pt x="1005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85982" y="1753842"/>
            <a:ext cx="87693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/>
              <a:t>Preview:</a:t>
            </a:r>
            <a:endParaRPr sz="1900"/>
          </a:p>
        </p:txBody>
      </p:sp>
      <p:sp>
        <p:nvSpPr>
          <p:cNvPr id="7" name="object 7"/>
          <p:cNvSpPr txBox="1"/>
          <p:nvPr/>
        </p:nvSpPr>
        <p:spPr>
          <a:xfrm>
            <a:off x="2327289" y="5706855"/>
            <a:ext cx="6590030" cy="77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5"/>
              </a:spcBef>
            </a:pPr>
            <a:r>
              <a:rPr sz="1250" dirty="0">
                <a:latin typeface="Courier New"/>
                <a:cs typeface="Courier New"/>
              </a:rPr>
              <a:t>CONV -&gt; RELU</a:t>
            </a:r>
            <a:r>
              <a:rPr sz="1250" dirty="0">
                <a:latin typeface="Microsoft JhengHei UI"/>
                <a:cs typeface="Microsoft JhengHei UI"/>
              </a:rPr>
              <a:t>：在上⼀步被浓缩过的特征图上，继续寻找更⾼级、更抽象的特征组合（</a:t>
            </a:r>
            <a:r>
              <a:rPr sz="1250" spc="-25" dirty="0">
                <a:latin typeface="Microsoft JhengHei UI"/>
                <a:cs typeface="Microsoft JhengHei UI"/>
              </a:rPr>
              <a:t>⽐如</a:t>
            </a:r>
            <a:r>
              <a:rPr sz="1250" spc="-50" dirty="0">
                <a:latin typeface="Microsoft JhengHei UI"/>
                <a:cs typeface="Microsoft JhengHei UI"/>
              </a:rPr>
              <a:t> </a:t>
            </a:r>
            <a:r>
              <a:rPr sz="1250" dirty="0">
                <a:latin typeface="Courier New"/>
                <a:cs typeface="Courier New"/>
              </a:rPr>
              <a:t>“</a:t>
            </a:r>
            <a:r>
              <a:rPr sz="1250" dirty="0">
                <a:latin typeface="Microsoft JhengHei UI"/>
                <a:cs typeface="Microsoft JhengHei UI"/>
              </a:rPr>
              <a:t>⻋灯</a:t>
            </a:r>
            <a:r>
              <a:rPr sz="1250" dirty="0">
                <a:latin typeface="Courier New"/>
                <a:cs typeface="Courier New"/>
              </a:rPr>
              <a:t>+</a:t>
            </a:r>
            <a:r>
              <a:rPr sz="1250" dirty="0">
                <a:latin typeface="Microsoft JhengHei UI"/>
                <a:cs typeface="Microsoft JhengHei UI"/>
              </a:rPr>
              <a:t>格栅</a:t>
            </a:r>
            <a:r>
              <a:rPr sz="1250" dirty="0">
                <a:latin typeface="Courier New"/>
                <a:cs typeface="Courier New"/>
              </a:rPr>
              <a:t>”</a:t>
            </a:r>
            <a:r>
              <a:rPr sz="1250" dirty="0">
                <a:latin typeface="Microsoft JhengHei UI"/>
                <a:cs typeface="Microsoft JhengHei UI"/>
              </a:rPr>
              <a:t>的组合）</a:t>
            </a:r>
            <a:r>
              <a:rPr sz="1250" spc="-50" dirty="0">
                <a:latin typeface="Microsoft JhengHei UI"/>
                <a:cs typeface="Microsoft JhengHei UI"/>
              </a:rPr>
              <a:t>。</a:t>
            </a:r>
            <a:endParaRPr sz="12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250" dirty="0">
                <a:latin typeface="Courier New"/>
                <a:cs typeface="Courier New"/>
              </a:rPr>
              <a:t>POOL</a:t>
            </a:r>
            <a:r>
              <a:rPr sz="1250" dirty="0">
                <a:latin typeface="Microsoft JhengHei UI"/>
                <a:cs typeface="Microsoft JhengHei UI"/>
              </a:rPr>
              <a:t>：再次进⾏</a:t>
            </a:r>
            <a:r>
              <a:rPr sz="1250" dirty="0">
                <a:latin typeface="Courier New"/>
                <a:cs typeface="Courier New"/>
              </a:rPr>
              <a:t>“</a:t>
            </a:r>
            <a:r>
              <a:rPr sz="1250" dirty="0">
                <a:latin typeface="Microsoft JhengHei UI"/>
                <a:cs typeface="Microsoft JhengHei UI"/>
              </a:rPr>
              <a:t>总结和压缩</a:t>
            </a:r>
            <a:r>
              <a:rPr sz="1250" dirty="0">
                <a:latin typeface="Courier New"/>
                <a:cs typeface="Courier New"/>
              </a:rPr>
              <a:t>”</a:t>
            </a:r>
            <a:r>
              <a:rPr sz="1250" spc="-10" dirty="0">
                <a:latin typeface="Microsoft JhengHei UI"/>
                <a:cs typeface="Microsoft JhengHei UI"/>
              </a:rPr>
              <a:t>，特征图变得更⼩。</a:t>
            </a:r>
            <a:endParaRPr sz="1250">
              <a:latin typeface="Microsoft JhengHei UI"/>
              <a:cs typeface="Microsoft JhengHei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8285" y="6217919"/>
            <a:ext cx="525346" cy="275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07385"/>
            <a:ext cx="7035800" cy="3558540"/>
            <a:chOff x="1573645" y="1907385"/>
            <a:chExt cx="7035800" cy="35585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6909" y="2046807"/>
              <a:ext cx="6742256" cy="34191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07385"/>
              <a:ext cx="4074795" cy="366395"/>
            </a:xfrm>
            <a:custGeom>
              <a:avLst/>
              <a:gdLst/>
              <a:ahLst/>
              <a:cxnLst/>
              <a:rect l="l" t="t" r="r" b="b"/>
              <a:pathLst>
                <a:path w="4074795" h="366394">
                  <a:moveTo>
                    <a:pt x="4074679" y="0"/>
                  </a:moveTo>
                  <a:lnTo>
                    <a:pt x="0" y="0"/>
                  </a:lnTo>
                  <a:lnTo>
                    <a:pt x="0" y="365911"/>
                  </a:lnTo>
                  <a:lnTo>
                    <a:pt x="4074679" y="365911"/>
                  </a:lnTo>
                  <a:lnTo>
                    <a:pt x="4074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A</a:t>
            </a:r>
            <a:r>
              <a:rPr sz="1900" spc="-35" dirty="0"/>
              <a:t> </a:t>
            </a:r>
            <a:r>
              <a:rPr sz="1900" dirty="0"/>
              <a:t>closer</a:t>
            </a:r>
            <a:r>
              <a:rPr sz="1900" spc="-35" dirty="0"/>
              <a:t> </a:t>
            </a:r>
            <a:r>
              <a:rPr sz="1900" dirty="0"/>
              <a:t>look</a:t>
            </a:r>
            <a:r>
              <a:rPr sz="1900" spc="-40" dirty="0"/>
              <a:t> </a:t>
            </a:r>
            <a:r>
              <a:rPr sz="1900" dirty="0"/>
              <a:t>at</a:t>
            </a:r>
            <a:r>
              <a:rPr sz="1900" spc="-40" dirty="0"/>
              <a:t> </a:t>
            </a:r>
            <a:r>
              <a:rPr sz="1900" dirty="0"/>
              <a:t>spatial</a:t>
            </a:r>
            <a:r>
              <a:rPr sz="1900" spc="-30" dirty="0"/>
              <a:t> </a:t>
            </a:r>
            <a:r>
              <a:rPr sz="1900" spc="-10" dirty="0"/>
              <a:t>dimensions:</a:t>
            </a:r>
            <a:endParaRPr sz="1900"/>
          </a:p>
        </p:txBody>
      </p:sp>
      <p:sp>
        <p:nvSpPr>
          <p:cNvPr id="7" name="object 7"/>
          <p:cNvSpPr txBox="1"/>
          <p:nvPr/>
        </p:nvSpPr>
        <p:spPr>
          <a:xfrm>
            <a:off x="4521893" y="4256163"/>
            <a:ext cx="2316480" cy="561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670" rIns="0" bIns="0" rtlCol="0">
            <a:spAutoFit/>
          </a:bodyPr>
          <a:lstStyle/>
          <a:p>
            <a:pPr marL="71755" marR="134620">
              <a:lnSpc>
                <a:spcPct val="100000"/>
              </a:lnSpc>
              <a:spcBef>
                <a:spcPts val="210"/>
              </a:spcBef>
            </a:pPr>
            <a:r>
              <a:rPr sz="1600" dirty="0">
                <a:latin typeface="Arial MT"/>
                <a:cs typeface="Arial MT"/>
              </a:rPr>
              <a:t>convolve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(slide)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over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all </a:t>
            </a:r>
            <a:r>
              <a:rPr sz="1600" dirty="0">
                <a:latin typeface="Arial MT"/>
                <a:cs typeface="Arial MT"/>
              </a:rPr>
              <a:t>spatial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locations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46915"/>
            <a:ext cx="5259070" cy="3270250"/>
            <a:chOff x="1573645" y="1946915"/>
            <a:chExt cx="5259070" cy="3270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722" y="2080658"/>
              <a:ext cx="4974929" cy="31362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46915"/>
              <a:ext cx="4090035" cy="366395"/>
            </a:xfrm>
            <a:custGeom>
              <a:avLst/>
              <a:gdLst/>
              <a:ahLst/>
              <a:cxnLst/>
              <a:rect l="l" t="t" r="r" b="b"/>
              <a:pathLst>
                <a:path w="4090035" h="366394">
                  <a:moveTo>
                    <a:pt x="4089760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4089760" y="365912"/>
                  </a:lnTo>
                  <a:lnTo>
                    <a:pt x="4089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spatial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dimensions: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79834" y="2988972"/>
            <a:ext cx="2491740" cy="659130"/>
          </a:xfrm>
          <a:custGeom>
            <a:avLst/>
            <a:gdLst/>
            <a:ahLst/>
            <a:cxnLst/>
            <a:rect l="l" t="t" r="r" b="b"/>
            <a:pathLst>
              <a:path w="2491740" h="659129">
                <a:moveTo>
                  <a:pt x="2491696" y="0"/>
                </a:moveTo>
                <a:lnTo>
                  <a:pt x="0" y="0"/>
                </a:lnTo>
                <a:lnTo>
                  <a:pt x="0" y="658641"/>
                </a:lnTo>
                <a:lnTo>
                  <a:pt x="2491696" y="658641"/>
                </a:lnTo>
                <a:lnTo>
                  <a:pt x="24916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39524" y="3003522"/>
            <a:ext cx="195262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46915"/>
            <a:ext cx="5425440" cy="3326765"/>
            <a:chOff x="1573645" y="1946915"/>
            <a:chExt cx="5425440" cy="3326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2100" y="2047914"/>
              <a:ext cx="5116868" cy="32256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46915"/>
              <a:ext cx="4180840" cy="366395"/>
            </a:xfrm>
            <a:custGeom>
              <a:avLst/>
              <a:gdLst/>
              <a:ahLst/>
              <a:cxnLst/>
              <a:rect l="l" t="t" r="r" b="b"/>
              <a:pathLst>
                <a:path w="4180840" h="366394">
                  <a:moveTo>
                    <a:pt x="4180248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4180248" y="365912"/>
                  </a:lnTo>
                  <a:lnTo>
                    <a:pt x="4180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spatial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dimensions: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79834" y="2988972"/>
            <a:ext cx="2808605" cy="659130"/>
          </a:xfrm>
          <a:custGeom>
            <a:avLst/>
            <a:gdLst/>
            <a:ahLst/>
            <a:cxnLst/>
            <a:rect l="l" t="t" r="r" b="b"/>
            <a:pathLst>
              <a:path w="2808604" h="659129">
                <a:moveTo>
                  <a:pt x="2808403" y="0"/>
                </a:moveTo>
                <a:lnTo>
                  <a:pt x="0" y="0"/>
                </a:lnTo>
                <a:lnTo>
                  <a:pt x="0" y="658641"/>
                </a:lnTo>
                <a:lnTo>
                  <a:pt x="2808403" y="658641"/>
                </a:lnTo>
                <a:lnTo>
                  <a:pt x="28084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39524" y="3003522"/>
            <a:ext cx="195262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46915"/>
            <a:ext cx="5302885" cy="3293745"/>
            <a:chOff x="1573645" y="1946915"/>
            <a:chExt cx="5302885" cy="32937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3595" y="2086385"/>
              <a:ext cx="5002684" cy="31537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46915"/>
              <a:ext cx="3969385" cy="366395"/>
            </a:xfrm>
            <a:custGeom>
              <a:avLst/>
              <a:gdLst/>
              <a:ahLst/>
              <a:cxnLst/>
              <a:rect l="l" t="t" r="r" b="b"/>
              <a:pathLst>
                <a:path w="3969385" h="366394">
                  <a:moveTo>
                    <a:pt x="3969110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3969110" y="365912"/>
                  </a:lnTo>
                  <a:lnTo>
                    <a:pt x="39691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spatial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dimensions: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79834" y="2988972"/>
            <a:ext cx="2461895" cy="659130"/>
          </a:xfrm>
          <a:custGeom>
            <a:avLst/>
            <a:gdLst/>
            <a:ahLst/>
            <a:cxnLst/>
            <a:rect l="l" t="t" r="r" b="b"/>
            <a:pathLst>
              <a:path w="2461895" h="659129">
                <a:moveTo>
                  <a:pt x="2461534" y="0"/>
                </a:moveTo>
                <a:lnTo>
                  <a:pt x="0" y="0"/>
                </a:lnTo>
                <a:lnTo>
                  <a:pt x="0" y="658641"/>
                </a:lnTo>
                <a:lnTo>
                  <a:pt x="2461534" y="658641"/>
                </a:lnTo>
                <a:lnTo>
                  <a:pt x="24615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39524" y="3003522"/>
            <a:ext cx="195262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691" y="2088913"/>
            <a:ext cx="5002684" cy="31537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spatial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dimensions: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9834" y="2988972"/>
            <a:ext cx="2431415" cy="659130"/>
          </a:xfrm>
          <a:custGeom>
            <a:avLst/>
            <a:gdLst/>
            <a:ahLst/>
            <a:cxnLst/>
            <a:rect l="l" t="t" r="r" b="b"/>
            <a:pathLst>
              <a:path w="2431415" h="659129">
                <a:moveTo>
                  <a:pt x="2431371" y="0"/>
                </a:moveTo>
                <a:lnTo>
                  <a:pt x="0" y="0"/>
                </a:lnTo>
                <a:lnTo>
                  <a:pt x="0" y="658641"/>
                </a:lnTo>
                <a:lnTo>
                  <a:pt x="2431371" y="658641"/>
                </a:lnTo>
                <a:lnTo>
                  <a:pt x="24313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39524" y="3003522"/>
            <a:ext cx="195262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46915"/>
            <a:ext cx="5314950" cy="3293110"/>
            <a:chOff x="1573645" y="1946915"/>
            <a:chExt cx="5314950" cy="32931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8855" y="2081500"/>
              <a:ext cx="5009671" cy="315811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46915"/>
              <a:ext cx="4346575" cy="366395"/>
            </a:xfrm>
            <a:custGeom>
              <a:avLst/>
              <a:gdLst/>
              <a:ahLst/>
              <a:cxnLst/>
              <a:rect l="l" t="t" r="r" b="b"/>
              <a:pathLst>
                <a:path w="4346575" h="366394">
                  <a:moveTo>
                    <a:pt x="4346141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4346141" y="365912"/>
                  </a:lnTo>
                  <a:lnTo>
                    <a:pt x="43461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A</a:t>
            </a:r>
            <a:r>
              <a:rPr sz="1900" spc="-35" dirty="0"/>
              <a:t> </a:t>
            </a:r>
            <a:r>
              <a:rPr sz="1900" dirty="0"/>
              <a:t>closer</a:t>
            </a:r>
            <a:r>
              <a:rPr sz="1900" spc="-35" dirty="0"/>
              <a:t> </a:t>
            </a:r>
            <a:r>
              <a:rPr sz="1900" dirty="0"/>
              <a:t>look</a:t>
            </a:r>
            <a:r>
              <a:rPr sz="1900" spc="-40" dirty="0"/>
              <a:t> </a:t>
            </a:r>
            <a:r>
              <a:rPr sz="1900" dirty="0"/>
              <a:t>at</a:t>
            </a:r>
            <a:r>
              <a:rPr sz="1900" spc="-40" dirty="0"/>
              <a:t> </a:t>
            </a:r>
            <a:r>
              <a:rPr sz="1900" dirty="0"/>
              <a:t>spatial</a:t>
            </a:r>
            <a:r>
              <a:rPr sz="1900" spc="-30" dirty="0"/>
              <a:t> </a:t>
            </a:r>
            <a:r>
              <a:rPr sz="1900" spc="-10" dirty="0"/>
              <a:t>dimensions:</a:t>
            </a:r>
            <a:endParaRPr sz="1900"/>
          </a:p>
        </p:txBody>
      </p:sp>
      <p:sp>
        <p:nvSpPr>
          <p:cNvPr id="7" name="object 7"/>
          <p:cNvSpPr/>
          <p:nvPr/>
        </p:nvSpPr>
        <p:spPr>
          <a:xfrm>
            <a:off x="4679834" y="2988972"/>
            <a:ext cx="2522220" cy="659130"/>
          </a:xfrm>
          <a:custGeom>
            <a:avLst/>
            <a:gdLst/>
            <a:ahLst/>
            <a:cxnLst/>
            <a:rect l="l" t="t" r="r" b="b"/>
            <a:pathLst>
              <a:path w="2522220" h="659129">
                <a:moveTo>
                  <a:pt x="2521859" y="0"/>
                </a:moveTo>
                <a:lnTo>
                  <a:pt x="0" y="0"/>
                </a:lnTo>
                <a:lnTo>
                  <a:pt x="0" y="658641"/>
                </a:lnTo>
                <a:lnTo>
                  <a:pt x="2521859" y="658641"/>
                </a:lnTo>
                <a:lnTo>
                  <a:pt x="25218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39524" y="3003522"/>
            <a:ext cx="1952625" cy="6083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9834" y="3889841"/>
            <a:ext cx="1858645" cy="3663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225"/>
              </a:spcBef>
            </a:pPr>
            <a:r>
              <a:rPr sz="1900" b="1" dirty="0">
                <a:latin typeface="Calibri"/>
                <a:cs typeface="Calibri"/>
              </a:rPr>
              <a:t>=&gt;</a:t>
            </a:r>
            <a:r>
              <a:rPr sz="1900" b="1" spc="-2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5x5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output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46915"/>
            <a:ext cx="6114415" cy="3283585"/>
            <a:chOff x="1573645" y="1946915"/>
            <a:chExt cx="6114415" cy="3283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581" y="2098058"/>
              <a:ext cx="5815263" cy="31318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46915"/>
              <a:ext cx="4301490" cy="366395"/>
            </a:xfrm>
            <a:custGeom>
              <a:avLst/>
              <a:gdLst/>
              <a:ahLst/>
              <a:cxnLst/>
              <a:rect l="l" t="t" r="r" b="b"/>
              <a:pathLst>
                <a:path w="4301490" h="366394">
                  <a:moveTo>
                    <a:pt x="4300898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4300898" y="365912"/>
                  </a:lnTo>
                  <a:lnTo>
                    <a:pt x="43008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spatial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dimensions: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46700" y="2820529"/>
            <a:ext cx="2519045" cy="951865"/>
          </a:xfrm>
          <a:custGeom>
            <a:avLst/>
            <a:gdLst/>
            <a:ahLst/>
            <a:cxnLst/>
            <a:rect l="l" t="t" r="r" b="b"/>
            <a:pathLst>
              <a:path w="2519045" h="951864">
                <a:moveTo>
                  <a:pt x="2518568" y="0"/>
                </a:moveTo>
                <a:lnTo>
                  <a:pt x="0" y="0"/>
                </a:lnTo>
                <a:lnTo>
                  <a:pt x="0" y="951372"/>
                </a:lnTo>
                <a:lnTo>
                  <a:pt x="2518568" y="951372"/>
                </a:lnTo>
                <a:lnTo>
                  <a:pt x="25185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06390" y="2832834"/>
            <a:ext cx="2066925" cy="888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with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stride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50" dirty="0"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37268" y="3426991"/>
            <a:ext cx="1539875" cy="325755"/>
            <a:chOff x="6737268" y="3426991"/>
            <a:chExt cx="1539875" cy="3257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5790" y="3426991"/>
              <a:ext cx="673732" cy="2726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37268" y="3745078"/>
              <a:ext cx="1539875" cy="0"/>
            </a:xfrm>
            <a:custGeom>
              <a:avLst/>
              <a:gdLst/>
              <a:ahLst/>
              <a:cxnLst/>
              <a:rect l="l" t="t" r="r" b="b"/>
              <a:pathLst>
                <a:path w="1539875">
                  <a:moveTo>
                    <a:pt x="0" y="0"/>
                  </a:moveTo>
                  <a:lnTo>
                    <a:pt x="1539535" y="0"/>
                  </a:lnTo>
                </a:path>
              </a:pathLst>
            </a:custGeom>
            <a:ln w="14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2581" y="2095548"/>
            <a:ext cx="5815263" cy="31318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closer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spatial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dimensions: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46700" y="2820529"/>
            <a:ext cx="2548890" cy="951865"/>
          </a:xfrm>
          <a:custGeom>
            <a:avLst/>
            <a:gdLst/>
            <a:ahLst/>
            <a:cxnLst/>
            <a:rect l="l" t="t" r="r" b="b"/>
            <a:pathLst>
              <a:path w="2548890" h="951864">
                <a:moveTo>
                  <a:pt x="2548731" y="0"/>
                </a:moveTo>
                <a:lnTo>
                  <a:pt x="0" y="0"/>
                </a:lnTo>
                <a:lnTo>
                  <a:pt x="0" y="951372"/>
                </a:lnTo>
                <a:lnTo>
                  <a:pt x="2548731" y="951372"/>
                </a:lnTo>
                <a:lnTo>
                  <a:pt x="2548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06390" y="2832834"/>
            <a:ext cx="2066925" cy="888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with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stride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50" dirty="0"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46915"/>
            <a:ext cx="6100445" cy="3271520"/>
            <a:chOff x="1573645" y="1946915"/>
            <a:chExt cx="6100445" cy="32715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6847" y="2101138"/>
              <a:ext cx="5787208" cy="31167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46915"/>
              <a:ext cx="3879215" cy="366395"/>
            </a:xfrm>
            <a:custGeom>
              <a:avLst/>
              <a:gdLst/>
              <a:ahLst/>
              <a:cxnLst/>
              <a:rect l="l" t="t" r="r" b="b"/>
              <a:pathLst>
                <a:path w="3879215" h="366394">
                  <a:moveTo>
                    <a:pt x="3878623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3878623" y="365912"/>
                  </a:lnTo>
                  <a:lnTo>
                    <a:pt x="38786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A</a:t>
            </a:r>
            <a:r>
              <a:rPr sz="1900" spc="-35" dirty="0"/>
              <a:t> </a:t>
            </a:r>
            <a:r>
              <a:rPr sz="1900" dirty="0"/>
              <a:t>closer</a:t>
            </a:r>
            <a:r>
              <a:rPr sz="1900" spc="-35" dirty="0"/>
              <a:t> </a:t>
            </a:r>
            <a:r>
              <a:rPr sz="1900" dirty="0"/>
              <a:t>look</a:t>
            </a:r>
            <a:r>
              <a:rPr sz="1900" spc="-40" dirty="0"/>
              <a:t> </a:t>
            </a:r>
            <a:r>
              <a:rPr sz="1900" dirty="0"/>
              <a:t>at</a:t>
            </a:r>
            <a:r>
              <a:rPr sz="1900" spc="-40" dirty="0"/>
              <a:t> </a:t>
            </a:r>
            <a:r>
              <a:rPr sz="1900" dirty="0"/>
              <a:t>spatial</a:t>
            </a:r>
            <a:r>
              <a:rPr sz="1900" spc="-30" dirty="0"/>
              <a:t> </a:t>
            </a:r>
            <a:r>
              <a:rPr sz="1900" spc="-10" dirty="0"/>
              <a:t>dimensions:</a:t>
            </a:r>
            <a:endParaRPr sz="1900"/>
          </a:p>
        </p:txBody>
      </p:sp>
      <p:sp>
        <p:nvSpPr>
          <p:cNvPr id="7" name="object 7"/>
          <p:cNvSpPr/>
          <p:nvPr/>
        </p:nvSpPr>
        <p:spPr>
          <a:xfrm>
            <a:off x="5346700" y="2728291"/>
            <a:ext cx="2368550" cy="951865"/>
          </a:xfrm>
          <a:custGeom>
            <a:avLst/>
            <a:gdLst/>
            <a:ahLst/>
            <a:cxnLst/>
            <a:rect l="l" t="t" r="r" b="b"/>
            <a:pathLst>
              <a:path w="2368550" h="951864">
                <a:moveTo>
                  <a:pt x="2368409" y="0"/>
                </a:moveTo>
                <a:lnTo>
                  <a:pt x="0" y="0"/>
                </a:lnTo>
                <a:lnTo>
                  <a:pt x="0" y="951372"/>
                </a:lnTo>
                <a:lnTo>
                  <a:pt x="2368409" y="951372"/>
                </a:lnTo>
                <a:lnTo>
                  <a:pt x="23684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06390" y="2741394"/>
            <a:ext cx="2066925" cy="888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with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stride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50" dirty="0"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6700" y="3679664"/>
            <a:ext cx="1749425" cy="3663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40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200"/>
              </a:spcBef>
            </a:pPr>
            <a:r>
              <a:rPr sz="1900" b="1" dirty="0">
                <a:latin typeface="Calibri"/>
                <a:cs typeface="Calibri"/>
              </a:rPr>
              <a:t>=&gt;</a:t>
            </a:r>
            <a:r>
              <a:rPr sz="1900" b="1" spc="-2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3x3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output!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46915"/>
            <a:ext cx="6303010" cy="3287395"/>
            <a:chOff x="1573645" y="1946915"/>
            <a:chExt cx="6303010" cy="3287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3493" y="2082510"/>
              <a:ext cx="6003073" cy="31515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46915"/>
              <a:ext cx="3909060" cy="366395"/>
            </a:xfrm>
            <a:custGeom>
              <a:avLst/>
              <a:gdLst/>
              <a:ahLst/>
              <a:cxnLst/>
              <a:rect l="l" t="t" r="r" b="b"/>
              <a:pathLst>
                <a:path w="3909060" h="366394">
                  <a:moveTo>
                    <a:pt x="3908785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3908785" y="365912"/>
                  </a:lnTo>
                  <a:lnTo>
                    <a:pt x="39087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A</a:t>
            </a:r>
            <a:r>
              <a:rPr sz="1900" spc="-35" dirty="0"/>
              <a:t> </a:t>
            </a:r>
            <a:r>
              <a:rPr sz="1900" dirty="0"/>
              <a:t>closer</a:t>
            </a:r>
            <a:r>
              <a:rPr sz="1900" spc="-35" dirty="0"/>
              <a:t> </a:t>
            </a:r>
            <a:r>
              <a:rPr sz="1900" dirty="0"/>
              <a:t>look</a:t>
            </a:r>
            <a:r>
              <a:rPr sz="1900" spc="-40" dirty="0"/>
              <a:t> </a:t>
            </a:r>
            <a:r>
              <a:rPr sz="1900" dirty="0"/>
              <a:t>at</a:t>
            </a:r>
            <a:r>
              <a:rPr sz="1900" spc="-40" dirty="0"/>
              <a:t> </a:t>
            </a:r>
            <a:r>
              <a:rPr sz="1900" dirty="0"/>
              <a:t>spatial</a:t>
            </a:r>
            <a:r>
              <a:rPr sz="1900" spc="-30" dirty="0"/>
              <a:t> </a:t>
            </a:r>
            <a:r>
              <a:rPr sz="1900" spc="-10" dirty="0"/>
              <a:t>dimensions:</a:t>
            </a:r>
            <a:endParaRPr sz="1900"/>
          </a:p>
        </p:txBody>
      </p:sp>
      <p:sp>
        <p:nvSpPr>
          <p:cNvPr id="7" name="object 7"/>
          <p:cNvSpPr/>
          <p:nvPr/>
        </p:nvSpPr>
        <p:spPr>
          <a:xfrm>
            <a:off x="5346698" y="2820529"/>
            <a:ext cx="2880995" cy="951865"/>
          </a:xfrm>
          <a:custGeom>
            <a:avLst/>
            <a:gdLst/>
            <a:ahLst/>
            <a:cxnLst/>
            <a:rect l="l" t="t" r="r" b="b"/>
            <a:pathLst>
              <a:path w="2880995" h="951864">
                <a:moveTo>
                  <a:pt x="2880520" y="0"/>
                </a:moveTo>
                <a:lnTo>
                  <a:pt x="0" y="0"/>
                </a:lnTo>
                <a:lnTo>
                  <a:pt x="0" y="951372"/>
                </a:lnTo>
                <a:lnTo>
                  <a:pt x="2880520" y="951372"/>
                </a:lnTo>
                <a:lnTo>
                  <a:pt x="2880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06388" y="2832834"/>
            <a:ext cx="2808605" cy="8883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86106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10"/>
              </a:lnSpc>
              <a:tabLst>
                <a:tab pos="2795270" algn="l"/>
              </a:tabLst>
            </a:pP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with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spc="-350" dirty="0">
                <a:latin typeface="Calibri"/>
                <a:cs typeface="Calibri"/>
              </a:rPr>
              <a:t>s</a:t>
            </a:r>
            <a:r>
              <a:rPr sz="1900" b="1" u="heavy" spc="-1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tride</a:t>
            </a:r>
            <a:r>
              <a:rPr sz="1900" b="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0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3?</a:t>
            </a:r>
            <a:r>
              <a:rPr sz="19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9596" y="3406540"/>
            <a:ext cx="454385" cy="27771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3645" y="1946915"/>
            <a:ext cx="6621780" cy="3266440"/>
            <a:chOff x="1573645" y="1946915"/>
            <a:chExt cx="6621780" cy="3266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380" y="2085336"/>
              <a:ext cx="6322860" cy="31275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73645" y="1946915"/>
              <a:ext cx="4029710" cy="366395"/>
            </a:xfrm>
            <a:custGeom>
              <a:avLst/>
              <a:gdLst/>
              <a:ahLst/>
              <a:cxnLst/>
              <a:rect l="l" t="t" r="r" b="b"/>
              <a:pathLst>
                <a:path w="4029710" h="366394">
                  <a:moveTo>
                    <a:pt x="4029435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4029435" y="365912"/>
                  </a:lnTo>
                  <a:lnTo>
                    <a:pt x="4029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33335" y="1958058"/>
            <a:ext cx="34607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A</a:t>
            </a:r>
            <a:r>
              <a:rPr sz="1900" spc="-35" dirty="0"/>
              <a:t> </a:t>
            </a:r>
            <a:r>
              <a:rPr sz="1900" dirty="0"/>
              <a:t>closer</a:t>
            </a:r>
            <a:r>
              <a:rPr sz="1900" spc="-35" dirty="0"/>
              <a:t> </a:t>
            </a:r>
            <a:r>
              <a:rPr sz="1900" dirty="0"/>
              <a:t>look</a:t>
            </a:r>
            <a:r>
              <a:rPr sz="1900" spc="-40" dirty="0"/>
              <a:t> </a:t>
            </a:r>
            <a:r>
              <a:rPr sz="1900" dirty="0"/>
              <a:t>at</a:t>
            </a:r>
            <a:r>
              <a:rPr sz="1900" spc="-40" dirty="0"/>
              <a:t> </a:t>
            </a:r>
            <a:r>
              <a:rPr sz="1900" dirty="0"/>
              <a:t>spatial</a:t>
            </a:r>
            <a:r>
              <a:rPr sz="1900" spc="-30" dirty="0"/>
              <a:t> </a:t>
            </a:r>
            <a:r>
              <a:rPr sz="1900" spc="-10" dirty="0"/>
              <a:t>dimensions:</a:t>
            </a:r>
            <a:endParaRPr sz="1900"/>
          </a:p>
        </p:txBody>
      </p:sp>
      <p:sp>
        <p:nvSpPr>
          <p:cNvPr id="7" name="object 7"/>
          <p:cNvSpPr txBox="1"/>
          <p:nvPr/>
        </p:nvSpPr>
        <p:spPr>
          <a:xfrm>
            <a:off x="5346698" y="2820529"/>
            <a:ext cx="2586990" cy="951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8575" rIns="0" bIns="0" rtlCol="0">
            <a:spAutoFit/>
          </a:bodyPr>
          <a:lstStyle/>
          <a:p>
            <a:pPr marL="71755" marR="353695">
              <a:lnSpc>
                <a:spcPct val="98900"/>
              </a:lnSpc>
              <a:spcBef>
                <a:spcPts val="225"/>
              </a:spcBef>
            </a:pPr>
            <a:r>
              <a:rPr sz="1900" dirty="0">
                <a:latin typeface="Calibri"/>
                <a:cs typeface="Calibri"/>
              </a:rPr>
              <a:t>7x7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(spatially) </a:t>
            </a:r>
            <a:r>
              <a:rPr sz="1900" dirty="0">
                <a:latin typeface="Calibri"/>
                <a:cs typeface="Calibri"/>
              </a:rPr>
              <a:t>assume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3x3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with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stride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3?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46700" y="4046627"/>
            <a:ext cx="3624579" cy="951865"/>
          </a:xfrm>
          <a:custGeom>
            <a:avLst/>
            <a:gdLst/>
            <a:ahLst/>
            <a:cxnLst/>
            <a:rect l="l" t="t" r="r" b="b"/>
            <a:pathLst>
              <a:path w="3624579" h="951864">
                <a:moveTo>
                  <a:pt x="3624181" y="0"/>
                </a:moveTo>
                <a:lnTo>
                  <a:pt x="0" y="0"/>
                </a:lnTo>
                <a:lnTo>
                  <a:pt x="0" y="951372"/>
                </a:lnTo>
                <a:lnTo>
                  <a:pt x="3624181" y="951372"/>
                </a:lnTo>
                <a:lnTo>
                  <a:pt x="3624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06390" y="4061178"/>
            <a:ext cx="2955925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FF0000"/>
                </a:solidFill>
                <a:latin typeface="Calibri"/>
                <a:cs typeface="Calibri"/>
              </a:rPr>
              <a:t>doesn‘t</a:t>
            </a:r>
            <a:r>
              <a:rPr sz="19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solidFill>
                  <a:srgbClr val="FF0000"/>
                </a:solidFill>
                <a:latin typeface="Calibri"/>
                <a:cs typeface="Calibri"/>
              </a:rPr>
              <a:t>fit!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210"/>
              </a:lnSpc>
              <a:spcBef>
                <a:spcPts val="155"/>
              </a:spcBef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apply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3x3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filter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Calibri"/>
                <a:cs typeface="Calibri"/>
              </a:rPr>
              <a:t>7x7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stride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95637" y="4405617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0" y="0"/>
                </a:moveTo>
                <a:lnTo>
                  <a:pt x="1226049" y="0"/>
                </a:lnTo>
              </a:path>
            </a:pathLst>
          </a:custGeom>
          <a:ln w="14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876" rIns="0" bIns="0" rtlCol="0">
            <a:spAutoFit/>
          </a:bodyPr>
          <a:lstStyle/>
          <a:p>
            <a:pPr marL="453517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Output</a:t>
            </a:r>
            <a:r>
              <a:rPr sz="1900" spc="-80" dirty="0"/>
              <a:t> </a:t>
            </a:r>
            <a:r>
              <a:rPr sz="1900" spc="-20" dirty="0"/>
              <a:t>size:</a:t>
            </a:r>
            <a:endParaRPr sz="1900"/>
          </a:p>
          <a:p>
            <a:pPr marL="4535170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latin typeface="Calibri"/>
                <a:cs typeface="Calibri"/>
              </a:rPr>
              <a:t>(N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-</a:t>
            </a:r>
            <a:r>
              <a:rPr sz="1900" b="1" spc="-2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F)/stride</a:t>
            </a:r>
            <a:r>
              <a:rPr sz="1900" b="1" spc="-1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+1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6390" y="3335754"/>
            <a:ext cx="3116580" cy="117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e.g.,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N=7,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F=3: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45"/>
              </a:lnSpc>
            </a:pP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=&gt;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(7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3)/1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5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45"/>
              </a:lnSpc>
            </a:pP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=&gt;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(7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3)/2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=&gt;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(7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-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3)/3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2.33</a:t>
            </a:r>
            <a:r>
              <a:rPr sz="1900" spc="-25" dirty="0">
                <a:latin typeface="Calibri"/>
                <a:cs typeface="Calibri"/>
              </a:rPr>
              <a:t> :\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9197" y="1963877"/>
            <a:ext cx="2546551" cy="26201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5102" y="4505034"/>
            <a:ext cx="899263" cy="30146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7601" y="2119602"/>
            <a:ext cx="43370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In</a:t>
            </a:r>
            <a:r>
              <a:rPr sz="1900" spc="-35" dirty="0"/>
              <a:t> </a:t>
            </a:r>
            <a:r>
              <a:rPr sz="1900" dirty="0"/>
              <a:t>practice:</a:t>
            </a:r>
            <a:r>
              <a:rPr sz="1900" spc="-40" dirty="0"/>
              <a:t> </a:t>
            </a:r>
            <a:r>
              <a:rPr sz="1900" dirty="0"/>
              <a:t>Common</a:t>
            </a:r>
            <a:r>
              <a:rPr sz="1900" spc="-35" dirty="0"/>
              <a:t> </a:t>
            </a:r>
            <a:r>
              <a:rPr sz="1900" dirty="0"/>
              <a:t>to</a:t>
            </a:r>
            <a:r>
              <a:rPr sz="1900" spc="-40" dirty="0"/>
              <a:t> </a:t>
            </a:r>
            <a:r>
              <a:rPr sz="1900" dirty="0"/>
              <a:t>zero</a:t>
            </a:r>
            <a:r>
              <a:rPr sz="1900" spc="-40" dirty="0"/>
              <a:t> </a:t>
            </a:r>
            <a:r>
              <a:rPr sz="1900" dirty="0"/>
              <a:t>pad</a:t>
            </a:r>
            <a:r>
              <a:rPr sz="1900" spc="-35" dirty="0"/>
              <a:t> </a:t>
            </a:r>
            <a:r>
              <a:rPr sz="1900" dirty="0"/>
              <a:t>the</a:t>
            </a:r>
            <a:r>
              <a:rPr sz="1900" spc="-30" dirty="0"/>
              <a:t> </a:t>
            </a:r>
            <a:r>
              <a:rPr sz="1900" spc="-10" dirty="0"/>
              <a:t>border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3976138" y="2741394"/>
            <a:ext cx="4608830" cy="885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e.g.,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7x7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30"/>
              </a:lnSpc>
              <a:spcBef>
                <a:spcPts val="25"/>
              </a:spcBef>
            </a:pPr>
            <a:r>
              <a:rPr sz="1900" b="1" dirty="0">
                <a:latin typeface="Calibri"/>
                <a:cs typeface="Calibri"/>
              </a:rPr>
              <a:t>3x3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stride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50" dirty="0"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30"/>
              </a:lnSpc>
            </a:pPr>
            <a:r>
              <a:rPr sz="1900" b="1" dirty="0">
                <a:latin typeface="Calibri"/>
                <a:cs typeface="Calibri"/>
              </a:rPr>
              <a:t>pad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with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1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pixel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border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=&gt;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output?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3408" y="4548858"/>
            <a:ext cx="1734185" cy="60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alibri"/>
                <a:cs typeface="Calibri"/>
              </a:rPr>
              <a:t>(recall:)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0B22EB"/>
                </a:solidFill>
                <a:latin typeface="Calibri"/>
                <a:cs typeface="Calibri"/>
              </a:rPr>
              <a:t>(N</a:t>
            </a:r>
            <a:r>
              <a:rPr sz="1900" spc="-2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B22EB"/>
                </a:solidFill>
                <a:latin typeface="Calibri"/>
                <a:cs typeface="Calibri"/>
              </a:rPr>
              <a:t>-</a:t>
            </a:r>
            <a:r>
              <a:rPr sz="1900" spc="-2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B22EB"/>
                </a:solidFill>
                <a:latin typeface="Calibri"/>
                <a:cs typeface="Calibri"/>
              </a:rPr>
              <a:t>F)</a:t>
            </a:r>
            <a:r>
              <a:rPr sz="1900" spc="-2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B22EB"/>
                </a:solidFill>
                <a:latin typeface="Calibri"/>
                <a:cs typeface="Calibri"/>
              </a:rPr>
              <a:t>/</a:t>
            </a:r>
            <a:r>
              <a:rPr sz="1900" spc="-3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B22EB"/>
                </a:solidFill>
                <a:latin typeface="Calibri"/>
                <a:cs typeface="Calibri"/>
              </a:rPr>
              <a:t>stride</a:t>
            </a:r>
            <a:r>
              <a:rPr sz="1900" spc="-1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B22EB"/>
                </a:solidFill>
                <a:latin typeface="Calibri"/>
                <a:cs typeface="Calibri"/>
              </a:rPr>
              <a:t>+</a:t>
            </a:r>
            <a:r>
              <a:rPr sz="1900" spc="-2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0B22EB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11" y="2544319"/>
            <a:ext cx="2179117" cy="28646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3252" y="3051228"/>
            <a:ext cx="584955" cy="2874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0890" y="3565263"/>
            <a:ext cx="1857176" cy="34269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7601" y="2119602"/>
            <a:ext cx="43370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In</a:t>
            </a:r>
            <a:r>
              <a:rPr sz="1900" spc="-35" dirty="0"/>
              <a:t> </a:t>
            </a:r>
            <a:r>
              <a:rPr sz="1900" dirty="0"/>
              <a:t>practice:</a:t>
            </a:r>
            <a:r>
              <a:rPr sz="1900" spc="-40" dirty="0"/>
              <a:t> </a:t>
            </a:r>
            <a:r>
              <a:rPr sz="1900" dirty="0"/>
              <a:t>Common</a:t>
            </a:r>
            <a:r>
              <a:rPr sz="1900" spc="-35" dirty="0"/>
              <a:t> </a:t>
            </a:r>
            <a:r>
              <a:rPr sz="1900" dirty="0"/>
              <a:t>to</a:t>
            </a:r>
            <a:r>
              <a:rPr sz="1900" spc="-40" dirty="0"/>
              <a:t> </a:t>
            </a:r>
            <a:r>
              <a:rPr sz="1900" dirty="0"/>
              <a:t>zero</a:t>
            </a:r>
            <a:r>
              <a:rPr sz="1900" spc="-40" dirty="0"/>
              <a:t> </a:t>
            </a:r>
            <a:r>
              <a:rPr sz="1900" dirty="0"/>
              <a:t>pad</a:t>
            </a:r>
            <a:r>
              <a:rPr sz="1900" spc="-35" dirty="0"/>
              <a:t> </a:t>
            </a:r>
            <a:r>
              <a:rPr sz="1900" dirty="0"/>
              <a:t>the</a:t>
            </a:r>
            <a:r>
              <a:rPr sz="1900" spc="-30" dirty="0"/>
              <a:t> </a:t>
            </a:r>
            <a:r>
              <a:rPr sz="1900" spc="-10" dirty="0"/>
              <a:t>border</a:t>
            </a:r>
            <a:endParaRPr sz="19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04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e.g.,</a:t>
            </a:r>
            <a:r>
              <a:rPr spc="-50" dirty="0"/>
              <a:t> </a:t>
            </a:r>
            <a:r>
              <a:rPr dirty="0"/>
              <a:t>input</a:t>
            </a:r>
            <a:r>
              <a:rPr spc="-50" dirty="0"/>
              <a:t> </a:t>
            </a:r>
            <a:r>
              <a:rPr spc="-25" dirty="0"/>
              <a:t>7x7</a:t>
            </a:r>
          </a:p>
          <a:p>
            <a:pPr marL="12700">
              <a:lnSpc>
                <a:spcPts val="2230"/>
              </a:lnSpc>
              <a:spcBef>
                <a:spcPts val="25"/>
              </a:spcBef>
            </a:pPr>
            <a:r>
              <a:rPr b="1" dirty="0">
                <a:latin typeface="Calibri"/>
                <a:cs typeface="Calibri"/>
              </a:rPr>
              <a:t>3x3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dirty="0"/>
              <a:t>filter,</a:t>
            </a:r>
            <a:r>
              <a:rPr spc="-60" dirty="0"/>
              <a:t> </a:t>
            </a:r>
            <a:r>
              <a:rPr dirty="0"/>
              <a:t>applied</a:t>
            </a:r>
            <a:r>
              <a:rPr spc="-5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b="1" dirty="0">
                <a:latin typeface="Calibri"/>
                <a:cs typeface="Calibri"/>
              </a:rPr>
              <a:t>stride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  <a:p>
            <a:pPr marL="12700">
              <a:lnSpc>
                <a:spcPts val="2230"/>
              </a:lnSpc>
            </a:pPr>
            <a:r>
              <a:rPr b="1" dirty="0">
                <a:latin typeface="Calibri"/>
                <a:cs typeface="Calibri"/>
              </a:rPr>
              <a:t>pad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with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1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pixel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dirty="0"/>
              <a:t>border</a:t>
            </a:r>
            <a:r>
              <a:rPr spc="-30" dirty="0"/>
              <a:t> </a:t>
            </a:r>
            <a:r>
              <a:rPr dirty="0"/>
              <a:t>=&gt;</a:t>
            </a:r>
            <a:r>
              <a:rPr spc="-35" dirty="0"/>
              <a:t> </a:t>
            </a: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output?</a:t>
            </a: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dirty="0">
                <a:latin typeface="Calibri"/>
                <a:cs typeface="Calibri"/>
              </a:rPr>
              <a:t>7x7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output!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11" y="2544319"/>
            <a:ext cx="2179117" cy="286467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107261" y="2073247"/>
            <a:ext cx="2010410" cy="408940"/>
            <a:chOff x="4107261" y="2073247"/>
            <a:chExt cx="2010410" cy="408940"/>
          </a:xfrm>
        </p:grpSpPr>
        <p:sp>
          <p:nvSpPr>
            <p:cNvPr id="7" name="object 7"/>
            <p:cNvSpPr/>
            <p:nvPr/>
          </p:nvSpPr>
          <p:spPr>
            <a:xfrm>
              <a:off x="4193125" y="2460790"/>
              <a:ext cx="1924685" cy="0"/>
            </a:xfrm>
            <a:custGeom>
              <a:avLst/>
              <a:gdLst/>
              <a:ahLst/>
              <a:cxnLst/>
              <a:rect l="l" t="t" r="r" b="b"/>
              <a:pathLst>
                <a:path w="1924685">
                  <a:moveTo>
                    <a:pt x="0" y="0"/>
                  </a:moveTo>
                  <a:lnTo>
                    <a:pt x="1924380" y="0"/>
                  </a:lnTo>
                </a:path>
              </a:pathLst>
            </a:custGeom>
            <a:ln w="14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7261" y="2073247"/>
              <a:ext cx="985952" cy="4089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7601" y="2119602"/>
            <a:ext cx="433705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In</a:t>
            </a:r>
            <a:r>
              <a:rPr sz="1900" spc="-35" dirty="0"/>
              <a:t> </a:t>
            </a:r>
            <a:r>
              <a:rPr sz="1900" dirty="0"/>
              <a:t>practice:</a:t>
            </a:r>
            <a:r>
              <a:rPr sz="1900" spc="-40" dirty="0"/>
              <a:t> </a:t>
            </a:r>
            <a:r>
              <a:rPr sz="1900" dirty="0"/>
              <a:t>Common</a:t>
            </a:r>
            <a:r>
              <a:rPr sz="1900" spc="-35" dirty="0"/>
              <a:t> </a:t>
            </a:r>
            <a:r>
              <a:rPr sz="1900" dirty="0"/>
              <a:t>to</a:t>
            </a:r>
            <a:r>
              <a:rPr sz="1900" spc="-40" dirty="0"/>
              <a:t> </a:t>
            </a:r>
            <a:r>
              <a:rPr sz="1900" dirty="0"/>
              <a:t>zero</a:t>
            </a:r>
            <a:r>
              <a:rPr sz="1900" spc="-40" dirty="0"/>
              <a:t> </a:t>
            </a:r>
            <a:r>
              <a:rPr sz="1900" dirty="0"/>
              <a:t>pad</a:t>
            </a:r>
            <a:r>
              <a:rPr sz="1900" spc="-35" dirty="0"/>
              <a:t> </a:t>
            </a:r>
            <a:r>
              <a:rPr sz="1900" dirty="0"/>
              <a:t>the</a:t>
            </a:r>
            <a:r>
              <a:rPr sz="1900" spc="-30" dirty="0"/>
              <a:t> </a:t>
            </a:r>
            <a:r>
              <a:rPr sz="1900" spc="-10" dirty="0"/>
              <a:t>border</a:t>
            </a:r>
            <a:endParaRPr sz="19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e.g.,</a:t>
            </a:r>
            <a:r>
              <a:rPr spc="-50" dirty="0"/>
              <a:t> </a:t>
            </a:r>
            <a:r>
              <a:rPr dirty="0"/>
              <a:t>input</a:t>
            </a:r>
            <a:r>
              <a:rPr spc="-50" dirty="0"/>
              <a:t> </a:t>
            </a:r>
            <a:r>
              <a:rPr spc="-25" dirty="0"/>
              <a:t>7x7</a:t>
            </a:r>
          </a:p>
          <a:p>
            <a:pPr marL="12700">
              <a:lnSpc>
                <a:spcPts val="2245"/>
              </a:lnSpc>
              <a:spcBef>
                <a:spcPts val="25"/>
              </a:spcBef>
            </a:pPr>
            <a:r>
              <a:rPr b="1" dirty="0">
                <a:latin typeface="Calibri"/>
                <a:cs typeface="Calibri"/>
              </a:rPr>
              <a:t>3x3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dirty="0"/>
              <a:t>filter,</a:t>
            </a:r>
            <a:r>
              <a:rPr spc="-60" dirty="0"/>
              <a:t> </a:t>
            </a:r>
            <a:r>
              <a:rPr dirty="0"/>
              <a:t>applied</a:t>
            </a:r>
            <a:r>
              <a:rPr spc="-5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b="1" dirty="0">
                <a:latin typeface="Calibri"/>
                <a:cs typeface="Calibri"/>
              </a:rPr>
              <a:t>stride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1</a:t>
            </a:r>
          </a:p>
          <a:p>
            <a:pPr marL="12700">
              <a:lnSpc>
                <a:spcPts val="2245"/>
              </a:lnSpc>
            </a:pPr>
            <a:r>
              <a:rPr b="1" dirty="0">
                <a:latin typeface="Calibri"/>
                <a:cs typeface="Calibri"/>
              </a:rPr>
              <a:t>pad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with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1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pixel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dirty="0"/>
              <a:t>border</a:t>
            </a:r>
            <a:r>
              <a:rPr spc="-30" dirty="0"/>
              <a:t> </a:t>
            </a:r>
            <a:r>
              <a:rPr dirty="0"/>
              <a:t>=&gt;</a:t>
            </a:r>
            <a:r>
              <a:rPr spc="-35" dirty="0"/>
              <a:t> </a:t>
            </a: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output?</a:t>
            </a:r>
          </a:p>
          <a:p>
            <a:pPr marL="12700" algn="just">
              <a:lnSpc>
                <a:spcPct val="100000"/>
              </a:lnSpc>
              <a:spcBef>
                <a:spcPts val="1250"/>
              </a:spcBef>
            </a:pPr>
            <a:r>
              <a:rPr b="1" dirty="0">
                <a:latin typeface="Calibri"/>
                <a:cs typeface="Calibri"/>
              </a:rPr>
              <a:t>7x7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output!</a:t>
            </a:r>
          </a:p>
          <a:p>
            <a:pPr marL="12700" marR="160020" algn="just">
              <a:lnSpc>
                <a:spcPct val="98900"/>
              </a:lnSpc>
              <a:spcBef>
                <a:spcPts val="885"/>
              </a:spcBef>
            </a:pPr>
            <a:r>
              <a:rPr dirty="0"/>
              <a:t>in</a:t>
            </a:r>
            <a:r>
              <a:rPr spc="-40" dirty="0"/>
              <a:t> </a:t>
            </a:r>
            <a:r>
              <a:rPr dirty="0"/>
              <a:t>general,</a:t>
            </a:r>
            <a:r>
              <a:rPr spc="-35" dirty="0"/>
              <a:t> </a:t>
            </a:r>
            <a:r>
              <a:rPr dirty="0"/>
              <a:t>common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see</a:t>
            </a:r>
            <a:r>
              <a:rPr spc="-35" dirty="0"/>
              <a:t> </a:t>
            </a:r>
            <a:r>
              <a:rPr dirty="0"/>
              <a:t>CONV</a:t>
            </a:r>
            <a:r>
              <a:rPr spc="-35" dirty="0"/>
              <a:t> </a:t>
            </a:r>
            <a:r>
              <a:rPr dirty="0"/>
              <a:t>layers</a:t>
            </a:r>
            <a:r>
              <a:rPr spc="-40" dirty="0"/>
              <a:t> </a:t>
            </a:r>
            <a:r>
              <a:rPr spc="-20" dirty="0"/>
              <a:t>with </a:t>
            </a:r>
            <a:r>
              <a:rPr dirty="0"/>
              <a:t>stride</a:t>
            </a:r>
            <a:r>
              <a:rPr spc="-110" dirty="0"/>
              <a:t> </a:t>
            </a:r>
            <a:r>
              <a:rPr dirty="0"/>
              <a:t>1,</a:t>
            </a:r>
            <a:r>
              <a:rPr spc="-105" dirty="0"/>
              <a:t> </a:t>
            </a:r>
            <a:r>
              <a:rPr dirty="0"/>
              <a:t>filters</a:t>
            </a:r>
            <a:r>
              <a:rPr spc="-10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size FxF, </a:t>
            </a:r>
            <a:r>
              <a:rPr spc="-240" dirty="0"/>
              <a:t>and</a:t>
            </a:r>
            <a:r>
              <a:rPr spc="130" dirty="0"/>
              <a:t> </a:t>
            </a:r>
            <a:r>
              <a:rPr u="heavy" spc="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zero-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padding</a:t>
            </a:r>
            <a:r>
              <a:rPr u="heavy" spc="130" dirty="0">
                <a:uFill>
                  <a:solidFill>
                    <a:srgbClr val="000000"/>
                  </a:solidFill>
                </a:uFill>
              </a:rPr>
              <a:t>  </a:t>
            </a:r>
            <a:r>
              <a:rPr spc="130" dirty="0"/>
              <a:t> </a:t>
            </a:r>
            <a:r>
              <a:rPr dirty="0"/>
              <a:t>w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ith</a:t>
            </a:r>
            <a:r>
              <a:rPr u="heavy" spc="-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(F-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1)/2</a:t>
            </a:r>
            <a:r>
              <a:rPr dirty="0"/>
              <a:t>.</a:t>
            </a:r>
            <a:r>
              <a:rPr spc="-50" dirty="0"/>
              <a:t> </a:t>
            </a:r>
            <a:r>
              <a:rPr dirty="0"/>
              <a:t>(will</a:t>
            </a:r>
            <a:r>
              <a:rPr spc="-45" dirty="0"/>
              <a:t> </a:t>
            </a:r>
            <a:r>
              <a:rPr dirty="0"/>
              <a:t>preserve</a:t>
            </a:r>
            <a:r>
              <a:rPr spc="-40" dirty="0"/>
              <a:t> </a:t>
            </a:r>
            <a:r>
              <a:rPr dirty="0"/>
              <a:t>size</a:t>
            </a:r>
            <a:r>
              <a:rPr spc="-40" dirty="0"/>
              <a:t> </a:t>
            </a:r>
            <a:r>
              <a:rPr spc="-10" dirty="0"/>
              <a:t>spatially)</a:t>
            </a: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pc="-10" dirty="0"/>
          </a:p>
          <a:p>
            <a:pPr marL="444500" marR="1792605" indent="-432434" algn="just">
              <a:lnSpc>
                <a:spcPct val="98400"/>
              </a:lnSpc>
            </a:pPr>
            <a:r>
              <a:rPr dirty="0">
                <a:solidFill>
                  <a:srgbClr val="0B22EB"/>
                </a:solidFill>
              </a:rPr>
              <a:t>e.g.,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F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=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3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=&gt;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zero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pad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with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spc="-50" dirty="0">
                <a:solidFill>
                  <a:srgbClr val="0B22EB"/>
                </a:solidFill>
              </a:rPr>
              <a:t>1 </a:t>
            </a:r>
            <a:r>
              <a:rPr dirty="0">
                <a:solidFill>
                  <a:srgbClr val="0B22EB"/>
                </a:solidFill>
              </a:rPr>
              <a:t>F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=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5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=&gt;</a:t>
            </a:r>
            <a:r>
              <a:rPr spc="-2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zero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pad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with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spc="-50" dirty="0">
                <a:solidFill>
                  <a:srgbClr val="0B22EB"/>
                </a:solidFill>
              </a:rPr>
              <a:t>2 </a:t>
            </a:r>
            <a:r>
              <a:rPr dirty="0">
                <a:solidFill>
                  <a:srgbClr val="0B22EB"/>
                </a:solidFill>
              </a:rPr>
              <a:t>F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=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7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=&gt;</a:t>
            </a:r>
            <a:r>
              <a:rPr spc="-2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zero</a:t>
            </a:r>
            <a:r>
              <a:rPr spc="-30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pad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dirty="0">
                <a:solidFill>
                  <a:srgbClr val="0B22EB"/>
                </a:solidFill>
              </a:rPr>
              <a:t>with</a:t>
            </a:r>
            <a:r>
              <a:rPr spc="-25" dirty="0">
                <a:solidFill>
                  <a:srgbClr val="0B22EB"/>
                </a:solidFill>
              </a:rPr>
              <a:t> </a:t>
            </a:r>
            <a:r>
              <a:rPr spc="-50" dirty="0">
                <a:solidFill>
                  <a:srgbClr val="0B22EB"/>
                </a:solidFill>
              </a:rPr>
              <a:t>3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11" y="2544319"/>
            <a:ext cx="2179117" cy="28646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9434" y="4924293"/>
            <a:ext cx="378641" cy="1320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67291" y="4852967"/>
            <a:ext cx="628544" cy="3685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0539" y="4868780"/>
            <a:ext cx="1147280" cy="3420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456" y="1817850"/>
            <a:ext cx="7841615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Calibri"/>
                <a:cs typeface="Calibri"/>
              </a:rPr>
              <a:t>Remember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back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to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spc="-50" dirty="0">
                <a:latin typeface="Calibri"/>
                <a:cs typeface="Calibri"/>
              </a:rPr>
              <a:t>…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210"/>
              </a:lnSpc>
              <a:spcBef>
                <a:spcPts val="155"/>
              </a:spcBef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32x32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convolved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repeatedly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5x5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shrinks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spatially! </a:t>
            </a:r>
            <a:r>
              <a:rPr sz="1900" dirty="0">
                <a:latin typeface="Calibri"/>
                <a:cs typeface="Calibri"/>
              </a:rPr>
              <a:t>(32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&gt;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28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&gt;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24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…).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Shrinking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fast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good,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doesn’t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well.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916" y="3011897"/>
            <a:ext cx="6567885" cy="23793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51352" y="1059198"/>
            <a:ext cx="5429250" cy="53022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400" dirty="0">
                <a:latin typeface="Microsoft JhengHei UI"/>
                <a:cs typeface="Microsoft JhengHei UI"/>
              </a:rPr>
              <a:t>例如，</a:t>
            </a:r>
            <a:r>
              <a:rPr sz="1400" dirty="0">
                <a:latin typeface="Times New Roman"/>
                <a:cs typeface="Times New Roman"/>
              </a:rPr>
              <a:t>32x32</a:t>
            </a:r>
            <a:r>
              <a:rPr sz="1400" dirty="0">
                <a:latin typeface="Microsoft JhengHei UI"/>
                <a:cs typeface="Microsoft JhengHei UI"/>
              </a:rPr>
              <a:t>的输⼊通过</a:t>
            </a:r>
            <a:r>
              <a:rPr sz="1400" dirty="0">
                <a:latin typeface="Times New Roman"/>
                <a:cs typeface="Times New Roman"/>
              </a:rPr>
              <a:t>5x5</a:t>
            </a:r>
            <a:r>
              <a:rPr sz="1400" spc="-5" dirty="0">
                <a:latin typeface="Microsoft JhengHei UI"/>
                <a:cs typeface="Microsoft JhengHei UI"/>
              </a:rPr>
              <a:t>滤波器重复卷积会导致空间维度快速收缩</a:t>
            </a:r>
            <a:endParaRPr sz="14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400" dirty="0">
                <a:latin typeface="Microsoft JhengHei UI"/>
                <a:cs typeface="Microsoft JhengHei UI"/>
              </a:rPr>
              <a:t>（</a:t>
            </a:r>
            <a:r>
              <a:rPr sz="1400" dirty="0">
                <a:latin typeface="Times New Roman"/>
                <a:cs typeface="Times New Roman"/>
              </a:rPr>
              <a:t>32→28→24…</a:t>
            </a:r>
            <a:r>
              <a:rPr sz="1400" dirty="0">
                <a:latin typeface="Microsoft JhengHei UI"/>
                <a:cs typeface="Microsoft JhengHei UI"/>
              </a:rPr>
              <a:t>）</a:t>
            </a:r>
            <a:r>
              <a:rPr sz="1400" spc="-5" dirty="0">
                <a:latin typeface="Microsoft JhengHei UI"/>
                <a:cs typeface="Microsoft JhengHei UI"/>
              </a:rPr>
              <a:t>。收缩速度过快效果不佳，会影响模型性能。</a:t>
            </a:r>
            <a:endParaRPr sz="14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5150" y="2265906"/>
            <a:ext cx="15208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Examples</a:t>
            </a:r>
            <a:r>
              <a:rPr sz="1900" spc="-45" dirty="0"/>
              <a:t> </a:t>
            </a:r>
            <a:r>
              <a:rPr sz="1900" spc="-20" dirty="0"/>
              <a:t>time: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1835150" y="2838930"/>
            <a:ext cx="3230880" cy="119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32x32x3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10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5x5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Output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size:?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9457" y="2208211"/>
            <a:ext cx="2496632" cy="211500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5150" y="2265906"/>
            <a:ext cx="15208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Examples</a:t>
            </a:r>
            <a:r>
              <a:rPr sz="1900" spc="-45" dirty="0"/>
              <a:t> </a:t>
            </a:r>
            <a:r>
              <a:rPr sz="1900" spc="-20" dirty="0"/>
              <a:t>time: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1814212" y="2838930"/>
            <a:ext cx="325183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0B22EB"/>
                </a:solidFill>
                <a:latin typeface="Calibri"/>
                <a:cs typeface="Calibri"/>
              </a:rPr>
              <a:t>32x32</a:t>
            </a:r>
            <a:r>
              <a:rPr sz="1900" b="1" spc="-10" dirty="0">
                <a:latin typeface="Calibri"/>
                <a:cs typeface="Calibri"/>
              </a:rPr>
              <a:t>x3</a:t>
            </a:r>
            <a:endParaRPr sz="190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11FF0"/>
                </a:solidFill>
                <a:latin typeface="Calibri"/>
                <a:cs typeface="Calibri"/>
              </a:rPr>
              <a:t>5x5</a:t>
            </a:r>
            <a:r>
              <a:rPr sz="1900" spc="-40" dirty="0">
                <a:solidFill>
                  <a:srgbClr val="F11FF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92D050"/>
                </a:solidFill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8B81D2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u="heavy" spc="-320" dirty="0">
                <a:uFill>
                  <a:solidFill>
                    <a:srgbClr val="D20000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uFill>
                  <a:solidFill>
                    <a:srgbClr val="D20000"/>
                  </a:solidFill>
                </a:uFill>
                <a:latin typeface="Calibri"/>
                <a:cs typeface="Calibri"/>
              </a:rPr>
              <a:t>Output</a:t>
            </a:r>
            <a:r>
              <a:rPr sz="1900" u="heavy" spc="-70" dirty="0">
                <a:uFill>
                  <a:solidFill>
                    <a:srgbClr val="D20000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dirty="0">
                <a:uFill>
                  <a:solidFill>
                    <a:srgbClr val="D20000"/>
                  </a:solidFill>
                </a:uFill>
                <a:latin typeface="Calibri"/>
                <a:cs typeface="Calibri"/>
              </a:rPr>
              <a:t>volume</a:t>
            </a:r>
            <a:r>
              <a:rPr sz="1900" u="heavy" spc="-50" dirty="0">
                <a:uFill>
                  <a:solidFill>
                    <a:srgbClr val="D20000"/>
                  </a:solidFill>
                </a:uFill>
                <a:latin typeface="Calibri"/>
                <a:cs typeface="Calibri"/>
              </a:rPr>
              <a:t> </a:t>
            </a:r>
            <a:r>
              <a:rPr sz="1900" u="heavy" spc="-10" dirty="0">
                <a:uFill>
                  <a:solidFill>
                    <a:srgbClr val="D20000"/>
                  </a:solidFill>
                </a:uFill>
                <a:latin typeface="Calibri"/>
                <a:cs typeface="Calibri"/>
              </a:rPr>
              <a:t>size:</a:t>
            </a:r>
            <a:endParaRPr sz="1900">
              <a:latin typeface="Calibri"/>
              <a:cs typeface="Calibri"/>
            </a:endParaRPr>
          </a:p>
          <a:p>
            <a:pPr marL="33020" marR="119380">
              <a:lnSpc>
                <a:spcPts val="2210"/>
              </a:lnSpc>
              <a:spcBef>
                <a:spcPts val="130"/>
              </a:spcBef>
            </a:pPr>
            <a:r>
              <a:rPr sz="1900" spc="-10" dirty="0">
                <a:latin typeface="Calibri"/>
                <a:cs typeface="Calibri"/>
              </a:rPr>
              <a:t>(</a:t>
            </a:r>
            <a:r>
              <a:rPr sz="1900" spc="-10" dirty="0">
                <a:solidFill>
                  <a:srgbClr val="0B22EB"/>
                </a:solidFill>
                <a:latin typeface="Calibri"/>
                <a:cs typeface="Calibri"/>
              </a:rPr>
              <a:t>32</a:t>
            </a:r>
            <a:r>
              <a:rPr sz="1900" spc="-10" dirty="0">
                <a:latin typeface="Calibri"/>
                <a:cs typeface="Calibri"/>
              </a:rPr>
              <a:t>+2*</a:t>
            </a:r>
            <a:r>
              <a:rPr sz="1900" spc="-10" dirty="0">
                <a:solidFill>
                  <a:srgbClr val="8B81D2"/>
                </a:solidFill>
                <a:latin typeface="Calibri"/>
                <a:cs typeface="Calibri"/>
              </a:rPr>
              <a:t>2</a:t>
            </a:r>
            <a:r>
              <a:rPr sz="1900" spc="-10" dirty="0">
                <a:latin typeface="Calibri"/>
                <a:cs typeface="Calibri"/>
              </a:rPr>
              <a:t>-</a:t>
            </a:r>
            <a:r>
              <a:rPr sz="1900" dirty="0">
                <a:solidFill>
                  <a:srgbClr val="F11FF0"/>
                </a:solidFill>
                <a:latin typeface="Calibri"/>
                <a:cs typeface="Calibri"/>
              </a:rPr>
              <a:t>5</a:t>
            </a:r>
            <a:r>
              <a:rPr sz="1900" dirty="0">
                <a:latin typeface="Calibri"/>
                <a:cs typeface="Calibri"/>
              </a:rPr>
              <a:t>)/</a:t>
            </a:r>
            <a:r>
              <a:rPr sz="1900" dirty="0">
                <a:solidFill>
                  <a:srgbClr val="92D050"/>
                </a:solidFill>
                <a:latin typeface="Calibri"/>
                <a:cs typeface="Calibri"/>
              </a:rPr>
              <a:t>1</a:t>
            </a:r>
            <a:r>
              <a:rPr sz="1900" dirty="0">
                <a:latin typeface="Calibri"/>
                <a:cs typeface="Calibri"/>
              </a:rPr>
              <a:t>+1=32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spatially,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so </a:t>
            </a:r>
            <a:r>
              <a:rPr sz="1900" spc="-10" dirty="0">
                <a:latin typeface="Calibri"/>
                <a:cs typeface="Calibri"/>
              </a:rPr>
              <a:t>32x32x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9457" y="2208211"/>
            <a:ext cx="2496632" cy="21150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7919" y="2233916"/>
            <a:ext cx="290419" cy="38607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5150" y="2265906"/>
            <a:ext cx="15208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Examples</a:t>
            </a:r>
            <a:r>
              <a:rPr sz="1900" spc="-45" dirty="0"/>
              <a:t> </a:t>
            </a:r>
            <a:r>
              <a:rPr sz="1900" spc="-20" dirty="0"/>
              <a:t>time: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1835150" y="2838930"/>
            <a:ext cx="3574415" cy="119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32x32x3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10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5x5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parameters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layer?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9457" y="2208211"/>
            <a:ext cx="2496632" cy="211500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5150" y="2265906"/>
            <a:ext cx="15208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Examples</a:t>
            </a:r>
            <a:r>
              <a:rPr sz="1900" spc="-45" dirty="0"/>
              <a:t> </a:t>
            </a:r>
            <a:r>
              <a:rPr sz="1900" spc="-20" dirty="0"/>
              <a:t>time: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1835150" y="2838930"/>
            <a:ext cx="4489450" cy="210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Input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0B22EB"/>
                </a:solidFill>
                <a:latin typeface="Calibri"/>
                <a:cs typeface="Calibri"/>
              </a:rPr>
              <a:t>32x32</a:t>
            </a:r>
            <a:r>
              <a:rPr sz="1900" b="1" spc="-10" dirty="0">
                <a:latin typeface="Calibri"/>
                <a:cs typeface="Calibri"/>
              </a:rPr>
              <a:t>x</a:t>
            </a:r>
            <a:r>
              <a:rPr sz="1900" b="1" spc="-10" dirty="0">
                <a:solidFill>
                  <a:srgbClr val="FFC000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11FF0"/>
                </a:solidFill>
                <a:latin typeface="Calibri"/>
                <a:cs typeface="Calibri"/>
              </a:rPr>
              <a:t>5x5</a:t>
            </a:r>
            <a:r>
              <a:rPr sz="1900" spc="-40" dirty="0">
                <a:solidFill>
                  <a:srgbClr val="F11FF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alibri"/>
              <a:cs typeface="Calibri"/>
            </a:endParaRPr>
          </a:p>
          <a:p>
            <a:pPr marL="12700" marR="878205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parameters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layer?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11FF0"/>
                </a:solidFill>
                <a:latin typeface="Calibri"/>
                <a:cs typeface="Calibri"/>
              </a:rPr>
              <a:t>5*5</a:t>
            </a:r>
            <a:r>
              <a:rPr sz="1900" dirty="0">
                <a:latin typeface="Calibri"/>
                <a:cs typeface="Calibri"/>
              </a:rPr>
              <a:t>*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3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+1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92D050"/>
                </a:solidFill>
                <a:latin typeface="Calibri"/>
                <a:cs typeface="Calibri"/>
              </a:rPr>
              <a:t>76</a:t>
            </a:r>
            <a:r>
              <a:rPr sz="19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params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10"/>
              </a:lnSpc>
            </a:pPr>
            <a:r>
              <a:rPr sz="1900" dirty="0">
                <a:latin typeface="Calibri"/>
                <a:cs typeface="Calibri"/>
              </a:rPr>
              <a:t>=&gt;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92D050"/>
                </a:solidFill>
                <a:latin typeface="Calibri"/>
                <a:cs typeface="Calibri"/>
              </a:rPr>
              <a:t>76</a:t>
            </a:r>
            <a:r>
              <a:rPr sz="1900" spc="-10" dirty="0">
                <a:latin typeface="Calibri"/>
                <a:cs typeface="Calibri"/>
              </a:rPr>
              <a:t>*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1900" spc="-10" dirty="0">
                <a:latin typeface="Calibri"/>
                <a:cs typeface="Calibri"/>
              </a:rPr>
              <a:t>=760</a:t>
            </a:r>
            <a:endParaRPr sz="1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855"/>
              </a:spcBef>
            </a:pPr>
            <a:r>
              <a:rPr sz="1500" dirty="0">
                <a:latin typeface="Calibri"/>
                <a:cs typeface="Calibri"/>
              </a:rPr>
              <a:t>(+1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bias)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9457" y="2208211"/>
            <a:ext cx="2496632" cy="211500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393845" y="5014767"/>
            <a:ext cx="861694" cy="0"/>
          </a:xfrm>
          <a:custGeom>
            <a:avLst/>
            <a:gdLst/>
            <a:ahLst/>
            <a:cxnLst/>
            <a:rect l="l" t="t" r="r" b="b"/>
            <a:pathLst>
              <a:path w="861695">
                <a:moveTo>
                  <a:pt x="0" y="0"/>
                </a:moveTo>
                <a:lnTo>
                  <a:pt x="861124" y="0"/>
                </a:lnTo>
              </a:path>
            </a:pathLst>
          </a:custGeom>
          <a:ln w="14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5536" y="2239635"/>
            <a:ext cx="290104" cy="35687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867514" y="4029654"/>
            <a:ext cx="3512185" cy="0"/>
          </a:xfrm>
          <a:custGeom>
            <a:avLst/>
            <a:gdLst/>
            <a:ahLst/>
            <a:cxnLst/>
            <a:rect l="l" t="t" r="r" b="b"/>
            <a:pathLst>
              <a:path w="3512185">
                <a:moveTo>
                  <a:pt x="0" y="0"/>
                </a:moveTo>
                <a:lnTo>
                  <a:pt x="3512010" y="0"/>
                </a:lnTo>
              </a:path>
            </a:pathLst>
          </a:custGeom>
          <a:ln w="14400">
            <a:solidFill>
              <a:srgbClr val="D2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0538" y="1909290"/>
            <a:ext cx="40665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Calibri"/>
                <a:cs typeface="Calibri"/>
              </a:rPr>
              <a:t>Summary.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dirty="0"/>
              <a:t>To</a:t>
            </a:r>
            <a:r>
              <a:rPr sz="1900" spc="-55" dirty="0"/>
              <a:t> </a:t>
            </a:r>
            <a:r>
              <a:rPr sz="1900" dirty="0"/>
              <a:t>summarize,</a:t>
            </a:r>
            <a:r>
              <a:rPr sz="1900" spc="-50" dirty="0"/>
              <a:t> </a:t>
            </a:r>
            <a:r>
              <a:rPr sz="1900" dirty="0"/>
              <a:t>the</a:t>
            </a:r>
            <a:r>
              <a:rPr sz="1900" spc="-40" dirty="0"/>
              <a:t> </a:t>
            </a:r>
            <a:r>
              <a:rPr sz="1900" dirty="0"/>
              <a:t>Conv</a:t>
            </a:r>
            <a:r>
              <a:rPr sz="1900" spc="-50" dirty="0"/>
              <a:t> </a:t>
            </a:r>
            <a:r>
              <a:rPr sz="1900" spc="-10" dirty="0"/>
              <a:t>layer: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3133" y="2224803"/>
            <a:ext cx="3445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</a:tabLst>
            </a:pPr>
            <a:r>
              <a:rPr sz="1600" dirty="0">
                <a:latin typeface="Calibri"/>
                <a:cs typeface="Calibri"/>
              </a:rPr>
              <a:t>Accepts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volume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size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65" dirty="0">
                <a:latin typeface="Cambria Math"/>
                <a:cs typeface="Cambria Math"/>
              </a:rPr>
              <a:t>𝘸</a:t>
            </a:r>
            <a:r>
              <a:rPr sz="1800" spc="97" baseline="-16203" dirty="0">
                <a:latin typeface="Cambria Math"/>
                <a:cs typeface="Cambria Math"/>
              </a:rPr>
              <a:t>1</a:t>
            </a:r>
            <a:r>
              <a:rPr sz="1600" spc="65" dirty="0">
                <a:latin typeface="Cambria Math"/>
                <a:cs typeface="Cambria Math"/>
              </a:rPr>
              <a:t>×𝐻</a:t>
            </a:r>
            <a:r>
              <a:rPr sz="1800" spc="97" baseline="-16203" dirty="0">
                <a:latin typeface="Cambria Math"/>
                <a:cs typeface="Cambria Math"/>
              </a:rPr>
              <a:t>1</a:t>
            </a:r>
            <a:r>
              <a:rPr sz="1600" spc="65" dirty="0">
                <a:latin typeface="Cambria Math"/>
                <a:cs typeface="Cambria Math"/>
              </a:rPr>
              <a:t>×𝐷</a:t>
            </a:r>
            <a:r>
              <a:rPr sz="1800" spc="97" baseline="-16203" dirty="0">
                <a:latin typeface="Cambria Math"/>
                <a:cs typeface="Cambria Math"/>
              </a:rPr>
              <a:t>1</a:t>
            </a:r>
            <a:endParaRPr sz="1800" baseline="-16203">
              <a:latin typeface="Cambria Math"/>
              <a:cs typeface="Cambria Math"/>
            </a:endParaRPr>
          </a:p>
          <a:p>
            <a:pPr marL="296545" indent="-271145">
              <a:lnSpc>
                <a:spcPct val="100000"/>
              </a:lnSpc>
              <a:buFont typeface="Arial MT"/>
              <a:buChar char="•"/>
              <a:tabLst>
                <a:tab pos="296545" algn="l"/>
              </a:tabLst>
            </a:pPr>
            <a:r>
              <a:rPr sz="1600" spc="-10" dirty="0">
                <a:latin typeface="Calibri"/>
                <a:cs typeface="Calibri"/>
              </a:rPr>
              <a:t>Requires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four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hyperparameters: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0433" y="3916443"/>
            <a:ext cx="41236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9245" algn="l"/>
              </a:tabLst>
            </a:pPr>
            <a:r>
              <a:rPr sz="1600" spc="-10" dirty="0">
                <a:latin typeface="Calibri"/>
                <a:cs typeface="Calibri"/>
              </a:rPr>
              <a:t>Produces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volume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size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𝘸</a:t>
            </a:r>
            <a:r>
              <a:rPr sz="1800" baseline="-16203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×𝐻</a:t>
            </a:r>
            <a:r>
              <a:rPr sz="1800" baseline="-16203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×𝐷</a:t>
            </a:r>
            <a:r>
              <a:rPr sz="1800" baseline="-16203" dirty="0">
                <a:latin typeface="Cambria Math"/>
                <a:cs typeface="Cambria Math"/>
              </a:rPr>
              <a:t>2</a:t>
            </a:r>
            <a:r>
              <a:rPr sz="1800" spc="135" baseline="-16203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where: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8555" y="2736867"/>
            <a:ext cx="3059430" cy="992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ts val="1910"/>
              </a:lnSpc>
              <a:spcBef>
                <a:spcPts val="100"/>
              </a:spcBef>
              <a:buFont typeface="Wingdings"/>
              <a:buChar char=""/>
              <a:tabLst>
                <a:tab pos="283845" algn="l"/>
              </a:tabLst>
            </a:pPr>
            <a:r>
              <a:rPr sz="1600" dirty="0">
                <a:latin typeface="Arial MT"/>
                <a:cs typeface="Arial MT"/>
              </a:rPr>
              <a:t>Number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filters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35" dirty="0">
                <a:latin typeface="Cambria Math"/>
                <a:cs typeface="Cambria Math"/>
              </a:rPr>
              <a:t>𝐾</a:t>
            </a:r>
            <a:r>
              <a:rPr sz="1600" spc="-35" dirty="0">
                <a:latin typeface="Arial MT"/>
                <a:cs typeface="Arial MT"/>
              </a:rPr>
              <a:t>,</a:t>
            </a:r>
            <a:endParaRPr sz="1600">
              <a:latin typeface="Arial MT"/>
              <a:cs typeface="Arial MT"/>
            </a:endParaRPr>
          </a:p>
          <a:p>
            <a:pPr marL="283845" indent="-271145">
              <a:lnSpc>
                <a:spcPts val="1895"/>
              </a:lnSpc>
              <a:buFont typeface="Wingdings"/>
              <a:buChar char=""/>
              <a:tabLst>
                <a:tab pos="283845" algn="l"/>
              </a:tabLst>
            </a:pPr>
            <a:r>
              <a:rPr sz="1600" dirty="0">
                <a:latin typeface="Arial MT"/>
                <a:cs typeface="Arial MT"/>
              </a:rPr>
              <a:t>Their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spatial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extent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𝐹</a:t>
            </a:r>
            <a:r>
              <a:rPr sz="1600" spc="-25" dirty="0">
                <a:latin typeface="Arial MT"/>
                <a:cs typeface="Arial MT"/>
              </a:rPr>
              <a:t>,</a:t>
            </a:r>
            <a:endParaRPr sz="1600">
              <a:latin typeface="Arial MT"/>
              <a:cs typeface="Arial MT"/>
            </a:endParaRPr>
          </a:p>
          <a:p>
            <a:pPr marL="283845" indent="-271145">
              <a:lnSpc>
                <a:spcPts val="1895"/>
              </a:lnSpc>
              <a:buFont typeface="Wingdings"/>
              <a:buChar char=""/>
              <a:tabLst>
                <a:tab pos="28384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stride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𝑆</a:t>
            </a:r>
            <a:r>
              <a:rPr sz="1600" spc="-25" dirty="0">
                <a:latin typeface="Arial MT"/>
                <a:cs typeface="Arial MT"/>
              </a:rPr>
              <a:t>,</a:t>
            </a:r>
            <a:endParaRPr sz="1600">
              <a:latin typeface="Arial MT"/>
              <a:cs typeface="Arial MT"/>
            </a:endParaRPr>
          </a:p>
          <a:p>
            <a:pPr marL="283845" indent="-271145">
              <a:lnSpc>
                <a:spcPts val="1910"/>
              </a:lnSpc>
              <a:buFont typeface="Wingdings"/>
              <a:buChar char=""/>
              <a:tabLst>
                <a:tab pos="28384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amount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zero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padding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𝑃</a:t>
            </a:r>
            <a:r>
              <a:rPr sz="1600" spc="-25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753" y="1840725"/>
            <a:ext cx="343533" cy="50292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298006" y="2503115"/>
            <a:ext cx="2337435" cy="0"/>
          </a:xfrm>
          <a:custGeom>
            <a:avLst/>
            <a:gdLst/>
            <a:ahLst/>
            <a:cxnLst/>
            <a:rect l="l" t="t" r="r" b="b"/>
            <a:pathLst>
              <a:path w="2337435">
                <a:moveTo>
                  <a:pt x="0" y="0"/>
                </a:moveTo>
                <a:lnTo>
                  <a:pt x="2336971" y="0"/>
                </a:lnTo>
              </a:path>
            </a:pathLst>
          </a:custGeom>
          <a:ln w="14400">
            <a:solidFill>
              <a:srgbClr val="D2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5239" y="3472812"/>
            <a:ext cx="549951" cy="3290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14538" y="3439452"/>
            <a:ext cx="875532" cy="312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50392" y="3253106"/>
            <a:ext cx="379365" cy="23631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646332" y="2673420"/>
            <a:ext cx="1734185" cy="603250"/>
            <a:chOff x="3646332" y="2673420"/>
            <a:chExt cx="1734185" cy="60325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46332" y="2673420"/>
              <a:ext cx="1056727" cy="3058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57626" y="2995504"/>
              <a:ext cx="1522769" cy="28096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555653" y="2210609"/>
            <a:ext cx="2077085" cy="360680"/>
            <a:chOff x="5555653" y="2210609"/>
            <a:chExt cx="2077085" cy="36068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6527" y="2216072"/>
              <a:ext cx="569639" cy="3015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94640" y="2220785"/>
              <a:ext cx="576153" cy="33384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59004" y="2210609"/>
              <a:ext cx="527244" cy="3200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55653" y="2563829"/>
              <a:ext cx="2077085" cy="0"/>
            </a:xfrm>
            <a:custGeom>
              <a:avLst/>
              <a:gdLst/>
              <a:ahLst/>
              <a:cxnLst/>
              <a:rect l="l" t="t" r="r" b="b"/>
              <a:pathLst>
                <a:path w="2077084">
                  <a:moveTo>
                    <a:pt x="0" y="0"/>
                  </a:moveTo>
                  <a:lnTo>
                    <a:pt x="2076635" y="0"/>
                  </a:lnTo>
                </a:path>
              </a:pathLst>
            </a:custGeom>
            <a:ln w="14400">
              <a:solidFill>
                <a:srgbClr val="D2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74002" y="4253981"/>
            <a:ext cx="188227" cy="585469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7364197" y="5427967"/>
            <a:ext cx="1856739" cy="0"/>
          </a:xfrm>
          <a:custGeom>
            <a:avLst/>
            <a:gdLst/>
            <a:ahLst/>
            <a:cxnLst/>
            <a:rect l="l" t="t" r="r" b="b"/>
            <a:pathLst>
              <a:path w="1856740">
                <a:moveTo>
                  <a:pt x="0" y="0"/>
                </a:moveTo>
                <a:lnTo>
                  <a:pt x="1856377" y="0"/>
                </a:lnTo>
              </a:path>
            </a:pathLst>
          </a:custGeom>
          <a:ln w="14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45208" y="3242130"/>
            <a:ext cx="3326129" cy="10299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90"/>
              </a:spcBef>
            </a:pPr>
            <a:r>
              <a:rPr sz="1000" spc="40" dirty="0">
                <a:latin typeface="Microsoft JhengHei UI"/>
                <a:cs typeface="Microsoft JhengHei UI"/>
              </a:rPr>
              <a:t>拿⼀个的滤波器（</a:t>
            </a:r>
            <a:r>
              <a:rPr sz="1000" spc="30" dirty="0">
                <a:latin typeface="Microsoft JhengHei UI"/>
                <a:cs typeface="Microsoft JhengHei UI"/>
              </a:rPr>
              <a:t>⽐如“边缘探测器”），</a:t>
            </a:r>
            <a:r>
              <a:rPr sz="1000" spc="40" dirty="0">
                <a:latin typeface="Microsoft JhengHei UI"/>
                <a:cs typeface="Microsoft JhengHei UI"/>
              </a:rPr>
              <a:t>在扫描整张图⽚</a:t>
            </a:r>
            <a:r>
              <a:rPr sz="1000" spc="30" dirty="0">
                <a:latin typeface="Microsoft JhengHei UI"/>
                <a:cs typeface="Microsoft JhengHei UI"/>
              </a:rPr>
              <a:t>时，⽤的是同⼀组权重。它不会在左上⻆⽤⼀套权重，到右下⻆⼜换⼀套。</a:t>
            </a:r>
            <a:endParaRPr sz="10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000" dirty="0">
                <a:latin typeface="Microsoft JhengHei UI"/>
                <a:cs typeface="Microsoft JhengHei UI"/>
              </a:rPr>
              <a:t>这就是“参数共享”：⼀个滤波器（⼀组参数）</a:t>
            </a:r>
            <a:r>
              <a:rPr sz="1000" spc="-10" dirty="0">
                <a:latin typeface="Microsoft JhengHei UI"/>
                <a:cs typeface="Microsoft JhengHei UI"/>
              </a:rPr>
              <a:t>被共享给图</a:t>
            </a:r>
            <a:endParaRPr sz="10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00" spc="-10" dirty="0">
                <a:latin typeface="Microsoft JhengHei UI"/>
                <a:cs typeface="Microsoft JhengHei UI"/>
              </a:rPr>
              <a:t>⽚的所有位置使⽤。</a:t>
            </a:r>
            <a:endParaRPr sz="1000">
              <a:latin typeface="Microsoft JhengHei UI"/>
              <a:cs typeface="Microsoft JhengHei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2333" y="4196859"/>
            <a:ext cx="8474710" cy="2629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 indent="-271145">
              <a:lnSpc>
                <a:spcPts val="1910"/>
              </a:lnSpc>
              <a:spcBef>
                <a:spcPts val="100"/>
              </a:spcBef>
              <a:buFont typeface="Wingdings"/>
              <a:buChar char=""/>
              <a:tabLst>
                <a:tab pos="649605" algn="l"/>
              </a:tabLst>
            </a:pPr>
            <a:r>
              <a:rPr sz="1600" spc="155" dirty="0">
                <a:latin typeface="Cambria Math"/>
                <a:cs typeface="Cambria Math"/>
              </a:rPr>
              <a:t>𝘸</a:t>
            </a:r>
            <a:r>
              <a:rPr sz="1800" spc="232" baseline="-13888" dirty="0">
                <a:latin typeface="Cambria Math"/>
                <a:cs typeface="Cambria Math"/>
              </a:rPr>
              <a:t>2</a:t>
            </a:r>
            <a:r>
              <a:rPr sz="1800" spc="352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spc="100" dirty="0">
                <a:latin typeface="Cambria Math"/>
                <a:cs typeface="Cambria Math"/>
              </a:rPr>
              <a:t>(𝘸</a:t>
            </a:r>
            <a:r>
              <a:rPr sz="1800" spc="150" baseline="-13888" dirty="0">
                <a:latin typeface="Cambria Math"/>
                <a:cs typeface="Cambria Math"/>
              </a:rPr>
              <a:t>1</a:t>
            </a:r>
            <a:r>
              <a:rPr sz="1800" spc="217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 +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5𝑃)</a:t>
            </a:r>
            <a:r>
              <a:rPr sz="2400" baseline="1736" dirty="0">
                <a:latin typeface="Cambria Math"/>
                <a:cs typeface="Cambria Math"/>
              </a:rPr>
              <a:t>⁄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spc="10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649605" indent="-271145">
              <a:lnSpc>
                <a:spcPts val="1910"/>
              </a:lnSpc>
              <a:buFont typeface="Wingdings"/>
              <a:buChar char=""/>
              <a:tabLst>
                <a:tab pos="649605" algn="l"/>
              </a:tabLst>
            </a:pPr>
            <a:r>
              <a:rPr sz="1600" spc="65" dirty="0">
                <a:latin typeface="Cambria Math"/>
                <a:cs typeface="Cambria Math"/>
              </a:rPr>
              <a:t>𝐻</a:t>
            </a:r>
            <a:r>
              <a:rPr sz="1800" spc="97" baseline="-16203" dirty="0">
                <a:latin typeface="Cambria Math"/>
                <a:cs typeface="Cambria Math"/>
              </a:rPr>
              <a:t>2</a:t>
            </a:r>
            <a:r>
              <a:rPr sz="1800" spc="307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(𝐻</a:t>
            </a:r>
            <a:r>
              <a:rPr sz="1800" baseline="-16203" dirty="0">
                <a:latin typeface="Cambria Math"/>
                <a:cs typeface="Cambria Math"/>
              </a:rPr>
              <a:t>1</a:t>
            </a:r>
            <a:r>
              <a:rPr sz="1800" spc="187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5𝑃)</a:t>
            </a:r>
            <a:r>
              <a:rPr sz="2400" baseline="1736" dirty="0">
                <a:latin typeface="Cambria Math"/>
                <a:cs typeface="Cambria Math"/>
              </a:rPr>
              <a:t>⁄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60" dirty="0">
                <a:latin typeface="Cambria Math"/>
                <a:cs typeface="Cambria Math"/>
              </a:rPr>
              <a:t>1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dirty="0">
                <a:latin typeface="Arial MT"/>
                <a:cs typeface="Arial MT"/>
              </a:rPr>
              <a:t>(i.e.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width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height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computed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equally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symmetry)</a:t>
            </a:r>
            <a:endParaRPr sz="1600">
              <a:latin typeface="Arial MT"/>
              <a:cs typeface="Arial MT"/>
            </a:endParaRPr>
          </a:p>
          <a:p>
            <a:pPr marL="649605" indent="-271145">
              <a:lnSpc>
                <a:spcPct val="100000"/>
              </a:lnSpc>
              <a:buFont typeface="Wingdings"/>
              <a:buChar char=""/>
              <a:tabLst>
                <a:tab pos="649605" algn="l"/>
              </a:tabLst>
            </a:pPr>
            <a:r>
              <a:rPr sz="1600" spc="55" dirty="0">
                <a:latin typeface="Cambria Math"/>
                <a:cs typeface="Cambria Math"/>
              </a:rPr>
              <a:t>𝐷</a:t>
            </a:r>
            <a:r>
              <a:rPr sz="1800" spc="82" baseline="-13888" dirty="0">
                <a:latin typeface="Cambria Math"/>
                <a:cs typeface="Cambria Math"/>
              </a:rPr>
              <a:t>2</a:t>
            </a:r>
            <a:r>
              <a:rPr sz="1800" spc="307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spc="60" dirty="0">
                <a:latin typeface="Cambria Math"/>
                <a:cs typeface="Cambria Math"/>
              </a:rPr>
              <a:t>𝐾</a:t>
            </a:r>
            <a:endParaRPr sz="1600">
              <a:latin typeface="Cambria Math"/>
              <a:cs typeface="Cambria Math"/>
            </a:endParaRPr>
          </a:p>
          <a:p>
            <a:pPr marL="347345" indent="-271145">
              <a:lnSpc>
                <a:spcPts val="1910"/>
              </a:lnSpc>
              <a:spcBef>
                <a:spcPts val="1585"/>
              </a:spcBef>
              <a:buFont typeface="Arial MT"/>
              <a:buChar char="•"/>
              <a:tabLst>
                <a:tab pos="347345" algn="l"/>
              </a:tabLst>
            </a:pP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parameter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sharing,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introduces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𝐹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55" dirty="0">
                <a:latin typeface="Cambria Math"/>
                <a:cs typeface="Cambria Math"/>
              </a:rPr>
              <a:t>𝐷</a:t>
            </a:r>
            <a:r>
              <a:rPr sz="1800" spc="82" baseline="-13888" dirty="0">
                <a:latin typeface="Cambria Math"/>
                <a:cs typeface="Cambria Math"/>
              </a:rPr>
              <a:t>1</a:t>
            </a:r>
            <a:r>
              <a:rPr sz="1800" spc="179" baseline="-13888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weights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(𝐹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50" dirty="0">
                <a:latin typeface="Cambria Math"/>
                <a:cs typeface="Cambria Math"/>
              </a:rPr>
              <a:t>𝐷</a:t>
            </a:r>
            <a:r>
              <a:rPr sz="1800" spc="75" baseline="-13888" dirty="0">
                <a:latin typeface="Cambria Math"/>
                <a:cs typeface="Cambria Math"/>
              </a:rPr>
              <a:t>1</a:t>
            </a:r>
            <a:r>
              <a:rPr sz="1600" spc="50" dirty="0">
                <a:latin typeface="Cambria Math"/>
                <a:cs typeface="Cambria Math"/>
              </a:rPr>
              <a:t>)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60" dirty="0">
                <a:latin typeface="Cambria Math"/>
                <a:cs typeface="Cambria Math"/>
              </a:rPr>
              <a:t>𝐾</a:t>
            </a:r>
            <a:endParaRPr sz="1600">
              <a:latin typeface="Cambria Math"/>
              <a:cs typeface="Cambria Math"/>
            </a:endParaRPr>
          </a:p>
          <a:p>
            <a:pPr marL="347345">
              <a:lnSpc>
                <a:spcPts val="1895"/>
              </a:lnSpc>
            </a:pP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weights</a:t>
            </a:r>
            <a:r>
              <a:rPr sz="16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600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heavy" spc="11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𝐾</a:t>
            </a:r>
            <a:r>
              <a:rPr sz="1600" u="heavy" spc="-2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biases.</a:t>
            </a:r>
            <a:endParaRPr sz="1600">
              <a:latin typeface="Calibri"/>
              <a:cs typeface="Calibri"/>
            </a:endParaRPr>
          </a:p>
          <a:p>
            <a:pPr marL="347345" marR="43180" indent="-271780">
              <a:lnSpc>
                <a:spcPts val="1900"/>
              </a:lnSpc>
              <a:spcBef>
                <a:spcPts val="65"/>
              </a:spcBef>
              <a:buFont typeface="Arial MT"/>
              <a:buChar char="•"/>
              <a:tabLst>
                <a:tab pos="347345" algn="l"/>
              </a:tabLst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𝑑</a:t>
            </a:r>
            <a:r>
              <a:rPr sz="1600" dirty="0">
                <a:latin typeface="Calibri"/>
                <a:cs typeface="Calibri"/>
              </a:rPr>
              <a:t>-th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slice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size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80" dirty="0">
                <a:latin typeface="Cambria Math"/>
                <a:cs typeface="Cambria Math"/>
              </a:rPr>
              <a:t>𝘸</a:t>
            </a:r>
            <a:r>
              <a:rPr sz="1800" spc="120" baseline="-16203" dirty="0">
                <a:latin typeface="Cambria Math"/>
                <a:cs typeface="Cambria Math"/>
              </a:rPr>
              <a:t>2</a:t>
            </a:r>
            <a:r>
              <a:rPr sz="1600" spc="80" dirty="0">
                <a:latin typeface="Cambria Math"/>
                <a:cs typeface="Cambria Math"/>
              </a:rPr>
              <a:t>×𝐻</a:t>
            </a:r>
            <a:r>
              <a:rPr sz="1800" spc="120" baseline="-16203" dirty="0">
                <a:latin typeface="Cambria Math"/>
                <a:cs typeface="Cambria Math"/>
              </a:rPr>
              <a:t>2</a:t>
            </a:r>
            <a:r>
              <a:rPr sz="1600" spc="80" dirty="0">
                <a:latin typeface="Calibri"/>
                <a:cs typeface="Calibri"/>
              </a:rPr>
              <a:t>)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valid convolution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𝑑</a:t>
            </a:r>
            <a:r>
              <a:rPr sz="1600" dirty="0">
                <a:latin typeface="Calibri"/>
                <a:cs typeface="Calibri"/>
              </a:rPr>
              <a:t>-th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offset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𝑑</a:t>
            </a:r>
            <a:r>
              <a:rPr sz="1600" dirty="0">
                <a:latin typeface="Calibri"/>
                <a:cs typeface="Calibri"/>
              </a:rPr>
              <a:t>-th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bias.</a:t>
            </a:r>
            <a:endParaRPr sz="1600">
              <a:latin typeface="Calibri"/>
              <a:cs typeface="Calibri"/>
            </a:endParaRPr>
          </a:p>
          <a:p>
            <a:pPr marL="274320">
              <a:lnSpc>
                <a:spcPct val="100000"/>
              </a:lnSpc>
              <a:spcBef>
                <a:spcPts val="715"/>
              </a:spcBef>
            </a:pPr>
            <a:r>
              <a:rPr sz="1200" spc="5" dirty="0">
                <a:latin typeface="Microsoft JhengHei UI"/>
                <a:cs typeface="Microsoft JhengHei UI"/>
              </a:rPr>
              <a:t>输出⽅块中的第 </a:t>
            </a:r>
            <a:r>
              <a:rPr sz="1200" dirty="0">
                <a:latin typeface="Microsoft JhengHei UI"/>
                <a:cs typeface="Microsoft JhengHei UI"/>
              </a:rPr>
              <a:t>d</a:t>
            </a:r>
            <a:r>
              <a:rPr sz="1200" spc="15" dirty="0">
                <a:latin typeface="Microsoft JhengHei UI"/>
                <a:cs typeface="Microsoft JhengHei UI"/>
              </a:rPr>
              <a:t> 个切⽚</a:t>
            </a:r>
            <a:r>
              <a:rPr sz="1200" dirty="0">
                <a:latin typeface="Microsoft JhengHei UI"/>
                <a:cs typeface="Microsoft JhengHei UI"/>
              </a:rPr>
              <a:t>（D-th</a:t>
            </a:r>
            <a:r>
              <a:rPr sz="1200" spc="70" dirty="0">
                <a:latin typeface="Microsoft JhengHei UI"/>
                <a:cs typeface="Microsoft JhengHei UI"/>
              </a:rPr>
              <a:t> </a:t>
            </a:r>
            <a:r>
              <a:rPr sz="1200" spc="-20" dirty="0">
                <a:latin typeface="Microsoft JhengHei UI"/>
                <a:cs typeface="Microsoft JhengHei UI"/>
              </a:rPr>
              <a:t>depth</a:t>
            </a:r>
            <a:r>
              <a:rPr sz="1200" spc="70" dirty="0">
                <a:latin typeface="Microsoft JhengHei UI"/>
                <a:cs typeface="Microsoft JhengHei UI"/>
              </a:rPr>
              <a:t> </a:t>
            </a:r>
            <a:r>
              <a:rPr sz="1200" dirty="0">
                <a:latin typeface="Microsoft JhengHei UI"/>
                <a:cs typeface="Microsoft JhengHei UI"/>
              </a:rPr>
              <a:t>slice），</a:t>
            </a:r>
            <a:r>
              <a:rPr sz="1200" spc="10" dirty="0">
                <a:latin typeface="Microsoft JhengHei UI"/>
                <a:cs typeface="Microsoft JhengHei UI"/>
              </a:rPr>
              <a:t>就是⽤第 </a:t>
            </a:r>
            <a:r>
              <a:rPr sz="1200" dirty="0">
                <a:latin typeface="Microsoft JhengHei UI"/>
                <a:cs typeface="Microsoft JhengHei UI"/>
              </a:rPr>
              <a:t>d 个滤波器</a:t>
            </a:r>
            <a:endParaRPr sz="1200">
              <a:latin typeface="Microsoft JhengHei UI"/>
              <a:cs typeface="Microsoft JhengHei UI"/>
            </a:endParaRPr>
          </a:p>
          <a:p>
            <a:pPr marL="274320" marR="3382645">
              <a:lnSpc>
                <a:spcPct val="116700"/>
              </a:lnSpc>
            </a:pPr>
            <a:r>
              <a:rPr sz="1200" dirty="0">
                <a:latin typeface="Microsoft JhengHei UI"/>
                <a:cs typeface="Microsoft JhengHei UI"/>
              </a:rPr>
              <a:t>（d-th</a:t>
            </a:r>
            <a:r>
              <a:rPr sz="1200" spc="345" dirty="0">
                <a:latin typeface="Microsoft JhengHei UI"/>
                <a:cs typeface="Microsoft JhengHei UI"/>
              </a:rPr>
              <a:t> </a:t>
            </a:r>
            <a:r>
              <a:rPr sz="1200" spc="-20" dirty="0">
                <a:latin typeface="Microsoft JhengHei UI"/>
                <a:cs typeface="Microsoft JhengHei UI"/>
              </a:rPr>
              <a:t>ﬁlter）</a:t>
            </a:r>
            <a:r>
              <a:rPr sz="1200" spc="-30" dirty="0">
                <a:latin typeface="Microsoft JhengHei UI"/>
                <a:cs typeface="Microsoft JhengHei UI"/>
              </a:rPr>
              <a:t>在整个输⼊⽅块上做完卷积（滑动、乘加）</a:t>
            </a:r>
            <a:r>
              <a:rPr sz="1200" spc="-35" dirty="0">
                <a:latin typeface="Microsoft JhengHei UI"/>
                <a:cs typeface="Microsoft JhengHei UI"/>
              </a:rPr>
              <a:t>并加上偏置项</a:t>
            </a:r>
            <a:r>
              <a:rPr sz="1200" spc="-50" dirty="0">
                <a:latin typeface="Microsoft JhengHei UI"/>
                <a:cs typeface="Microsoft JhengHei UI"/>
              </a:rPr>
              <a:t> </a:t>
            </a:r>
            <a:r>
              <a:rPr sz="1200" dirty="0">
                <a:latin typeface="Microsoft JhengHei UI"/>
                <a:cs typeface="Microsoft JhengHei UI"/>
              </a:rPr>
              <a:t>d-th</a:t>
            </a:r>
            <a:r>
              <a:rPr sz="1200" spc="120" dirty="0">
                <a:latin typeface="Microsoft JhengHei UI"/>
                <a:cs typeface="Microsoft JhengHei UI"/>
              </a:rPr>
              <a:t> </a:t>
            </a:r>
            <a:r>
              <a:rPr sz="1200" dirty="0">
                <a:latin typeface="Microsoft JhengHei UI"/>
                <a:cs typeface="Microsoft JhengHei UI"/>
              </a:rPr>
              <a:t>bias</a:t>
            </a:r>
            <a:r>
              <a:rPr sz="1200" spc="5" dirty="0">
                <a:latin typeface="Microsoft JhengHei UI"/>
                <a:cs typeface="Microsoft JhengHei UI"/>
              </a:rPr>
              <a:t> 后的结果。</a:t>
            </a:r>
            <a:endParaRPr sz="1200">
              <a:latin typeface="Microsoft JhengHei UI"/>
              <a:cs typeface="Microsoft JhengHei U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82990" y="4691245"/>
            <a:ext cx="1110769" cy="33427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962418" y="4702289"/>
            <a:ext cx="1306390" cy="32271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0538" y="1909290"/>
            <a:ext cx="40665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Calibri"/>
                <a:cs typeface="Calibri"/>
              </a:rPr>
              <a:t>Summary.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dirty="0"/>
              <a:t>To</a:t>
            </a:r>
            <a:r>
              <a:rPr sz="1900" spc="-55" dirty="0"/>
              <a:t> </a:t>
            </a:r>
            <a:r>
              <a:rPr sz="1900" dirty="0"/>
              <a:t>summarize,</a:t>
            </a:r>
            <a:r>
              <a:rPr sz="1900" spc="-50" dirty="0"/>
              <a:t> </a:t>
            </a:r>
            <a:r>
              <a:rPr sz="1900" dirty="0"/>
              <a:t>the</a:t>
            </a:r>
            <a:r>
              <a:rPr sz="1900" spc="-40" dirty="0"/>
              <a:t> </a:t>
            </a:r>
            <a:r>
              <a:rPr sz="1900" dirty="0"/>
              <a:t>Conv</a:t>
            </a:r>
            <a:r>
              <a:rPr sz="1900" spc="-50" dirty="0"/>
              <a:t> </a:t>
            </a:r>
            <a:r>
              <a:rPr sz="1900" spc="-10" dirty="0"/>
              <a:t>layer: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3133" y="2224803"/>
            <a:ext cx="3445510" cy="1504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</a:tabLst>
            </a:pPr>
            <a:r>
              <a:rPr sz="1600" dirty="0">
                <a:latin typeface="Calibri"/>
                <a:cs typeface="Calibri"/>
              </a:rPr>
              <a:t>Accepts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volume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size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65" dirty="0">
                <a:latin typeface="Cambria Math"/>
                <a:cs typeface="Cambria Math"/>
              </a:rPr>
              <a:t>𝘸</a:t>
            </a:r>
            <a:r>
              <a:rPr sz="1800" spc="97" baseline="-16203" dirty="0">
                <a:latin typeface="Cambria Math"/>
                <a:cs typeface="Cambria Math"/>
              </a:rPr>
              <a:t>1</a:t>
            </a:r>
            <a:r>
              <a:rPr sz="1600" spc="65" dirty="0">
                <a:latin typeface="Cambria Math"/>
                <a:cs typeface="Cambria Math"/>
              </a:rPr>
              <a:t>×𝐻</a:t>
            </a:r>
            <a:r>
              <a:rPr sz="1800" spc="97" baseline="-16203" dirty="0">
                <a:latin typeface="Cambria Math"/>
                <a:cs typeface="Cambria Math"/>
              </a:rPr>
              <a:t>1</a:t>
            </a:r>
            <a:r>
              <a:rPr sz="1600" spc="65" dirty="0">
                <a:latin typeface="Cambria Math"/>
                <a:cs typeface="Cambria Math"/>
              </a:rPr>
              <a:t>×𝐷</a:t>
            </a:r>
            <a:r>
              <a:rPr sz="1800" spc="97" baseline="-16203" dirty="0">
                <a:latin typeface="Cambria Math"/>
                <a:cs typeface="Cambria Math"/>
              </a:rPr>
              <a:t>1</a:t>
            </a:r>
            <a:endParaRPr sz="1800" baseline="-16203">
              <a:latin typeface="Cambria Math"/>
              <a:cs typeface="Cambria Math"/>
            </a:endParaRPr>
          </a:p>
          <a:p>
            <a:pPr marL="296545" indent="-271145">
              <a:lnSpc>
                <a:spcPct val="100000"/>
              </a:lnSpc>
              <a:buFont typeface="Arial MT"/>
              <a:buChar char="•"/>
              <a:tabLst>
                <a:tab pos="296545" algn="l"/>
              </a:tabLst>
            </a:pPr>
            <a:r>
              <a:rPr sz="1600" spc="-10" dirty="0">
                <a:latin typeface="Calibri"/>
                <a:cs typeface="Calibri"/>
              </a:rPr>
              <a:t>Requires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four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hyperparameters:</a:t>
            </a:r>
            <a:endParaRPr sz="1600">
              <a:latin typeface="Calibri"/>
              <a:cs typeface="Calibri"/>
            </a:endParaRPr>
          </a:p>
          <a:p>
            <a:pPr marL="598805" lvl="1" indent="-271145">
              <a:lnSpc>
                <a:spcPts val="1910"/>
              </a:lnSpc>
              <a:spcBef>
                <a:spcPts val="190"/>
              </a:spcBef>
              <a:buFont typeface="Wingdings"/>
              <a:buChar char=""/>
              <a:tabLst>
                <a:tab pos="598805" algn="l"/>
              </a:tabLst>
            </a:pPr>
            <a:r>
              <a:rPr sz="1600" dirty="0">
                <a:latin typeface="Arial MT"/>
                <a:cs typeface="Arial MT"/>
              </a:rPr>
              <a:t>Number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filters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35" dirty="0">
                <a:latin typeface="Cambria Math"/>
                <a:cs typeface="Cambria Math"/>
              </a:rPr>
              <a:t>𝐾</a:t>
            </a:r>
            <a:r>
              <a:rPr sz="1600" spc="-35" dirty="0">
                <a:latin typeface="Arial MT"/>
                <a:cs typeface="Arial MT"/>
              </a:rPr>
              <a:t>,</a:t>
            </a:r>
            <a:endParaRPr sz="1600">
              <a:latin typeface="Arial MT"/>
              <a:cs typeface="Arial MT"/>
            </a:endParaRPr>
          </a:p>
          <a:p>
            <a:pPr marL="598805" lvl="1" indent="-271145">
              <a:lnSpc>
                <a:spcPts val="1895"/>
              </a:lnSpc>
              <a:buFont typeface="Wingdings"/>
              <a:buChar char=""/>
              <a:tabLst>
                <a:tab pos="598805" algn="l"/>
              </a:tabLst>
            </a:pPr>
            <a:r>
              <a:rPr sz="1600" dirty="0">
                <a:latin typeface="Arial MT"/>
                <a:cs typeface="Arial MT"/>
              </a:rPr>
              <a:t>Their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spatial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extent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𝐹</a:t>
            </a:r>
            <a:r>
              <a:rPr sz="1600" spc="-25" dirty="0">
                <a:latin typeface="Arial MT"/>
                <a:cs typeface="Arial MT"/>
              </a:rPr>
              <a:t>,</a:t>
            </a:r>
            <a:endParaRPr sz="1600">
              <a:latin typeface="Arial MT"/>
              <a:cs typeface="Arial MT"/>
            </a:endParaRPr>
          </a:p>
          <a:p>
            <a:pPr marL="598805" lvl="1" indent="-271145">
              <a:lnSpc>
                <a:spcPts val="1895"/>
              </a:lnSpc>
              <a:buFont typeface="Wingdings"/>
              <a:buChar char=""/>
              <a:tabLst>
                <a:tab pos="59880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stride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𝑆</a:t>
            </a:r>
            <a:r>
              <a:rPr sz="1600" spc="-25" dirty="0">
                <a:latin typeface="Arial MT"/>
                <a:cs typeface="Arial MT"/>
              </a:rPr>
              <a:t>,</a:t>
            </a:r>
            <a:endParaRPr sz="1600">
              <a:latin typeface="Arial MT"/>
              <a:cs typeface="Arial MT"/>
            </a:endParaRPr>
          </a:p>
          <a:p>
            <a:pPr marL="598805" lvl="1" indent="-271145">
              <a:lnSpc>
                <a:spcPts val="1910"/>
              </a:lnSpc>
              <a:buFont typeface="Wingdings"/>
              <a:buChar char=""/>
              <a:tabLst>
                <a:tab pos="59880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amount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zero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padding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𝑃</a:t>
            </a:r>
            <a:r>
              <a:rPr sz="1600" spc="-25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0433" y="3880152"/>
            <a:ext cx="8423910" cy="22383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09245" algn="l"/>
              </a:tabLst>
            </a:pPr>
            <a:r>
              <a:rPr sz="1600" spc="-10" dirty="0">
                <a:latin typeface="Calibri"/>
                <a:cs typeface="Calibri"/>
              </a:rPr>
              <a:t>Produces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volume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size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𝘸</a:t>
            </a:r>
            <a:r>
              <a:rPr sz="1800" baseline="-16203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×𝐻</a:t>
            </a:r>
            <a:r>
              <a:rPr sz="1800" baseline="-16203" dirty="0">
                <a:latin typeface="Cambria Math"/>
                <a:cs typeface="Cambria Math"/>
              </a:rPr>
              <a:t>2</a:t>
            </a:r>
            <a:r>
              <a:rPr sz="1600" dirty="0">
                <a:latin typeface="Cambria Math"/>
                <a:cs typeface="Cambria Math"/>
              </a:rPr>
              <a:t>×𝐷</a:t>
            </a:r>
            <a:r>
              <a:rPr sz="1800" baseline="-16203" dirty="0">
                <a:latin typeface="Cambria Math"/>
                <a:cs typeface="Cambria Math"/>
              </a:rPr>
              <a:t>2</a:t>
            </a:r>
            <a:r>
              <a:rPr sz="1800" spc="135" baseline="-16203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where:</a:t>
            </a:r>
            <a:endParaRPr sz="1600">
              <a:latin typeface="Calibri"/>
              <a:cs typeface="Calibri"/>
            </a:endParaRPr>
          </a:p>
          <a:p>
            <a:pPr marL="611505" lvl="1" indent="-271145">
              <a:lnSpc>
                <a:spcPts val="1910"/>
              </a:lnSpc>
              <a:spcBef>
                <a:spcPts val="290"/>
              </a:spcBef>
              <a:buFont typeface="Wingdings"/>
              <a:buChar char=""/>
              <a:tabLst>
                <a:tab pos="611505" algn="l"/>
              </a:tabLst>
            </a:pPr>
            <a:r>
              <a:rPr sz="1600" spc="155" dirty="0">
                <a:latin typeface="Cambria Math"/>
                <a:cs typeface="Cambria Math"/>
              </a:rPr>
              <a:t>𝘸</a:t>
            </a:r>
            <a:r>
              <a:rPr sz="1800" spc="232" baseline="-13888" dirty="0">
                <a:latin typeface="Cambria Math"/>
                <a:cs typeface="Cambria Math"/>
              </a:rPr>
              <a:t>2</a:t>
            </a:r>
            <a:r>
              <a:rPr sz="1800" spc="352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spc="100" dirty="0">
                <a:latin typeface="Cambria Math"/>
                <a:cs typeface="Cambria Math"/>
              </a:rPr>
              <a:t>(𝘸</a:t>
            </a:r>
            <a:r>
              <a:rPr sz="1800" spc="150" baseline="-13888" dirty="0">
                <a:latin typeface="Cambria Math"/>
                <a:cs typeface="Cambria Math"/>
              </a:rPr>
              <a:t>1</a:t>
            </a:r>
            <a:r>
              <a:rPr sz="1800" spc="217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 +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5𝑃)</a:t>
            </a:r>
            <a:r>
              <a:rPr sz="2400" baseline="1736" dirty="0">
                <a:latin typeface="Cambria Math"/>
                <a:cs typeface="Cambria Math"/>
              </a:rPr>
              <a:t>⁄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spc="10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611505" lvl="1" indent="-271145">
              <a:lnSpc>
                <a:spcPts val="1910"/>
              </a:lnSpc>
              <a:buFont typeface="Wingdings"/>
              <a:buChar char=""/>
              <a:tabLst>
                <a:tab pos="611505" algn="l"/>
              </a:tabLst>
            </a:pPr>
            <a:r>
              <a:rPr sz="1600" spc="65" dirty="0">
                <a:latin typeface="Cambria Math"/>
                <a:cs typeface="Cambria Math"/>
              </a:rPr>
              <a:t>𝐻</a:t>
            </a:r>
            <a:r>
              <a:rPr sz="1800" spc="97" baseline="-16203" dirty="0">
                <a:latin typeface="Cambria Math"/>
                <a:cs typeface="Cambria Math"/>
              </a:rPr>
              <a:t>2</a:t>
            </a:r>
            <a:r>
              <a:rPr sz="1800" spc="307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(𝐻</a:t>
            </a:r>
            <a:r>
              <a:rPr sz="1800" baseline="-16203" dirty="0">
                <a:latin typeface="Cambria Math"/>
                <a:cs typeface="Cambria Math"/>
              </a:rPr>
              <a:t>1</a:t>
            </a:r>
            <a:r>
              <a:rPr sz="1800" spc="187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5𝑃)</a:t>
            </a:r>
            <a:r>
              <a:rPr sz="2400" baseline="1736" dirty="0">
                <a:latin typeface="Cambria Math"/>
                <a:cs typeface="Cambria Math"/>
              </a:rPr>
              <a:t>⁄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60" dirty="0">
                <a:latin typeface="Cambria Math"/>
                <a:cs typeface="Cambria Math"/>
              </a:rPr>
              <a:t>1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dirty="0">
                <a:latin typeface="Arial MT"/>
                <a:cs typeface="Arial MT"/>
              </a:rPr>
              <a:t>(i.e.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width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height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computed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equally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symmetry)</a:t>
            </a:r>
            <a:endParaRPr sz="1600">
              <a:latin typeface="Arial MT"/>
              <a:cs typeface="Arial MT"/>
            </a:endParaRPr>
          </a:p>
          <a:p>
            <a:pPr marL="611505" lvl="1" indent="-271145">
              <a:lnSpc>
                <a:spcPct val="100000"/>
              </a:lnSpc>
              <a:buFont typeface="Wingdings"/>
              <a:buChar char=""/>
              <a:tabLst>
                <a:tab pos="611505" algn="l"/>
              </a:tabLst>
            </a:pPr>
            <a:r>
              <a:rPr sz="1600" spc="55" dirty="0">
                <a:latin typeface="Cambria Math"/>
                <a:cs typeface="Cambria Math"/>
              </a:rPr>
              <a:t>𝐷</a:t>
            </a:r>
            <a:r>
              <a:rPr sz="1800" spc="82" baseline="-13888" dirty="0">
                <a:latin typeface="Cambria Math"/>
                <a:cs typeface="Cambria Math"/>
              </a:rPr>
              <a:t>2</a:t>
            </a:r>
            <a:r>
              <a:rPr sz="1800" spc="307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spc="60" dirty="0">
                <a:latin typeface="Cambria Math"/>
                <a:cs typeface="Cambria Math"/>
              </a:rPr>
              <a:t>𝐾</a:t>
            </a:r>
            <a:endParaRPr sz="1600">
              <a:latin typeface="Cambria Math"/>
              <a:cs typeface="Cambria Math"/>
            </a:endParaRPr>
          </a:p>
          <a:p>
            <a:pPr marL="309245" indent="-271145">
              <a:lnSpc>
                <a:spcPts val="1910"/>
              </a:lnSpc>
              <a:spcBef>
                <a:spcPts val="1585"/>
              </a:spcBef>
              <a:buFont typeface="Arial MT"/>
              <a:buChar char="•"/>
              <a:tabLst>
                <a:tab pos="309245" algn="l"/>
              </a:tabLst>
            </a:pP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parameter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sharing,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introduces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𝐹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55" dirty="0">
                <a:latin typeface="Cambria Math"/>
                <a:cs typeface="Cambria Math"/>
              </a:rPr>
              <a:t>𝐷</a:t>
            </a:r>
            <a:r>
              <a:rPr sz="1800" spc="82" baseline="-13888" dirty="0">
                <a:latin typeface="Cambria Math"/>
                <a:cs typeface="Cambria Math"/>
              </a:rPr>
              <a:t>1</a:t>
            </a:r>
            <a:r>
              <a:rPr sz="1800" spc="179" baseline="-13888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weights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(𝐹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50" dirty="0">
                <a:latin typeface="Cambria Math"/>
                <a:cs typeface="Cambria Math"/>
              </a:rPr>
              <a:t>𝐷</a:t>
            </a:r>
            <a:r>
              <a:rPr sz="1800" spc="75" baseline="-13888" dirty="0">
                <a:latin typeface="Cambria Math"/>
                <a:cs typeface="Cambria Math"/>
              </a:rPr>
              <a:t>1</a:t>
            </a:r>
            <a:r>
              <a:rPr sz="1600" spc="50" dirty="0">
                <a:latin typeface="Cambria Math"/>
                <a:cs typeface="Cambria Math"/>
              </a:rPr>
              <a:t>)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-250" dirty="0">
                <a:latin typeface="Cambria Math"/>
                <a:cs typeface="Cambria Math"/>
              </a:rPr>
              <a:t>*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60" dirty="0">
                <a:latin typeface="Cambria Math"/>
                <a:cs typeface="Cambria Math"/>
              </a:rPr>
              <a:t>𝐾</a:t>
            </a:r>
            <a:endParaRPr sz="1600">
              <a:latin typeface="Cambria Math"/>
              <a:cs typeface="Cambria Math"/>
            </a:endParaRPr>
          </a:p>
          <a:p>
            <a:pPr marL="309245">
              <a:lnSpc>
                <a:spcPts val="1895"/>
              </a:lnSpc>
            </a:pPr>
            <a:r>
              <a:rPr sz="1600" spc="-10" dirty="0">
                <a:latin typeface="Calibri"/>
                <a:cs typeface="Calibri"/>
              </a:rPr>
              <a:t>weights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110" dirty="0">
                <a:latin typeface="Cambria Math"/>
                <a:cs typeface="Cambria Math"/>
              </a:rPr>
              <a:t>𝐾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biases.</a:t>
            </a:r>
            <a:endParaRPr sz="1600">
              <a:latin typeface="Calibri"/>
              <a:cs typeface="Calibri"/>
            </a:endParaRPr>
          </a:p>
          <a:p>
            <a:pPr marL="309245" marR="30480" indent="-271780">
              <a:lnSpc>
                <a:spcPts val="1900"/>
              </a:lnSpc>
              <a:spcBef>
                <a:spcPts val="65"/>
              </a:spcBef>
              <a:buFont typeface="Arial MT"/>
              <a:buChar char="•"/>
              <a:tabLst>
                <a:tab pos="309245" algn="l"/>
              </a:tabLst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𝑑</a:t>
            </a:r>
            <a:r>
              <a:rPr sz="1600" dirty="0">
                <a:latin typeface="Calibri"/>
                <a:cs typeface="Calibri"/>
              </a:rPr>
              <a:t>-th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slice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size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80" dirty="0">
                <a:latin typeface="Cambria Math"/>
                <a:cs typeface="Cambria Math"/>
              </a:rPr>
              <a:t>𝘸</a:t>
            </a:r>
            <a:r>
              <a:rPr sz="1800" spc="120" baseline="-16203" dirty="0">
                <a:latin typeface="Cambria Math"/>
                <a:cs typeface="Cambria Math"/>
              </a:rPr>
              <a:t>2</a:t>
            </a:r>
            <a:r>
              <a:rPr sz="1600" spc="80" dirty="0">
                <a:latin typeface="Cambria Math"/>
                <a:cs typeface="Cambria Math"/>
              </a:rPr>
              <a:t>×𝐻</a:t>
            </a:r>
            <a:r>
              <a:rPr sz="1800" spc="120" baseline="-16203" dirty="0">
                <a:latin typeface="Cambria Math"/>
                <a:cs typeface="Cambria Math"/>
              </a:rPr>
              <a:t>2</a:t>
            </a:r>
            <a:r>
              <a:rPr sz="1600" spc="80" dirty="0">
                <a:latin typeface="Calibri"/>
                <a:cs typeface="Calibri"/>
              </a:rPr>
              <a:t>)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valid convolution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𝑑</a:t>
            </a:r>
            <a:r>
              <a:rPr sz="1600" dirty="0">
                <a:latin typeface="Calibri"/>
                <a:cs typeface="Calibri"/>
              </a:rPr>
              <a:t>-th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offset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𝑑</a:t>
            </a:r>
            <a:r>
              <a:rPr sz="1600" dirty="0">
                <a:latin typeface="Calibri"/>
                <a:cs typeface="Calibri"/>
              </a:rPr>
              <a:t>-th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bias.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16221" y="2121171"/>
            <a:ext cx="15113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Common</a:t>
            </a:r>
            <a:r>
              <a:rPr sz="16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settings: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6221" y="2602755"/>
            <a:ext cx="3199130" cy="12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(powers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2,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e.g.,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32,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64,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128,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512)</a:t>
            </a:r>
            <a:endParaRPr sz="1600">
              <a:latin typeface="Calibri"/>
              <a:cs typeface="Calibri"/>
            </a:endParaRPr>
          </a:p>
          <a:p>
            <a:pPr marL="193675">
              <a:lnSpc>
                <a:spcPts val="1910"/>
              </a:lnSpc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3,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93675">
              <a:lnSpc>
                <a:spcPts val="1895"/>
              </a:lnSpc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5,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marL="193675">
              <a:lnSpc>
                <a:spcPts val="1895"/>
              </a:lnSpc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5,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2,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(whatever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fits)</a:t>
            </a:r>
            <a:endParaRPr sz="1600">
              <a:latin typeface="Calibri"/>
              <a:cs typeface="Calibri"/>
            </a:endParaRPr>
          </a:p>
          <a:p>
            <a:pPr marL="193675">
              <a:lnSpc>
                <a:spcPts val="1910"/>
              </a:lnSpc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4555" rIns="0" bIns="0" rtlCol="0">
            <a:spAutoFit/>
          </a:bodyPr>
          <a:lstStyle/>
          <a:p>
            <a:pPr marL="998855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(btw,</a:t>
            </a:r>
            <a:r>
              <a:rPr sz="1900" spc="-55" dirty="0"/>
              <a:t> </a:t>
            </a:r>
            <a:r>
              <a:rPr sz="1900" dirty="0"/>
              <a:t>1x1</a:t>
            </a:r>
            <a:r>
              <a:rPr sz="1900" spc="-55" dirty="0"/>
              <a:t> </a:t>
            </a:r>
            <a:r>
              <a:rPr sz="1900" dirty="0"/>
              <a:t>convolution</a:t>
            </a:r>
            <a:r>
              <a:rPr sz="1900" spc="-50" dirty="0"/>
              <a:t> </a:t>
            </a:r>
            <a:r>
              <a:rPr sz="1900" dirty="0"/>
              <a:t>layers</a:t>
            </a:r>
            <a:r>
              <a:rPr sz="1900" spc="-50" dirty="0"/>
              <a:t> </a:t>
            </a:r>
            <a:r>
              <a:rPr sz="1900" dirty="0"/>
              <a:t>make</a:t>
            </a:r>
            <a:r>
              <a:rPr sz="1900" spc="-45" dirty="0"/>
              <a:t> </a:t>
            </a:r>
            <a:r>
              <a:rPr sz="1900" dirty="0"/>
              <a:t>perfect</a:t>
            </a:r>
            <a:r>
              <a:rPr sz="1900" spc="-55" dirty="0"/>
              <a:t> </a:t>
            </a:r>
            <a:r>
              <a:rPr sz="1900" spc="-10" dirty="0"/>
              <a:t>sense)</a:t>
            </a:r>
            <a:endParaRPr sz="1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9535" y="3020453"/>
            <a:ext cx="1541135" cy="22646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7886" y="2983574"/>
            <a:ext cx="1304989" cy="229744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008580" y="3892762"/>
            <a:ext cx="2110105" cy="67945"/>
          </a:xfrm>
          <a:custGeom>
            <a:avLst/>
            <a:gdLst/>
            <a:ahLst/>
            <a:cxnLst/>
            <a:rect l="l" t="t" r="r" b="b"/>
            <a:pathLst>
              <a:path w="2110104" h="67945">
                <a:moveTo>
                  <a:pt x="2041956" y="0"/>
                </a:moveTo>
                <a:lnTo>
                  <a:pt x="2041956" y="67945"/>
                </a:lnTo>
                <a:lnTo>
                  <a:pt x="2087201" y="45295"/>
                </a:lnTo>
                <a:lnTo>
                  <a:pt x="2053266" y="45295"/>
                </a:lnTo>
                <a:lnTo>
                  <a:pt x="2053266" y="22647"/>
                </a:lnTo>
                <a:lnTo>
                  <a:pt x="2087199" y="22647"/>
                </a:lnTo>
                <a:lnTo>
                  <a:pt x="2041956" y="0"/>
                </a:lnTo>
                <a:close/>
              </a:path>
              <a:path w="2110104" h="67945">
                <a:moveTo>
                  <a:pt x="2041956" y="22647"/>
                </a:moveTo>
                <a:lnTo>
                  <a:pt x="0" y="22647"/>
                </a:lnTo>
                <a:lnTo>
                  <a:pt x="0" y="45295"/>
                </a:lnTo>
                <a:lnTo>
                  <a:pt x="2041956" y="45295"/>
                </a:lnTo>
                <a:lnTo>
                  <a:pt x="2041956" y="22647"/>
                </a:lnTo>
                <a:close/>
              </a:path>
              <a:path w="2110104" h="67945">
                <a:moveTo>
                  <a:pt x="2087199" y="22647"/>
                </a:moveTo>
                <a:lnTo>
                  <a:pt x="2053266" y="22647"/>
                </a:lnTo>
                <a:lnTo>
                  <a:pt x="2053266" y="45295"/>
                </a:lnTo>
                <a:lnTo>
                  <a:pt x="2087201" y="45295"/>
                </a:lnTo>
                <a:lnTo>
                  <a:pt x="2109821" y="33972"/>
                </a:lnTo>
                <a:lnTo>
                  <a:pt x="2087199" y="22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9124" y="3250410"/>
            <a:ext cx="1952625" cy="168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1009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1x1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CONV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with </a:t>
            </a:r>
            <a:r>
              <a:rPr sz="1900" dirty="0">
                <a:latin typeface="Calibri"/>
                <a:cs typeface="Calibri"/>
              </a:rPr>
              <a:t>32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filters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99200"/>
              </a:lnSpc>
              <a:spcBef>
                <a:spcPts val="890"/>
              </a:spcBef>
            </a:pP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(each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filter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has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B22EB"/>
                </a:solidFill>
                <a:latin typeface="Calibri"/>
                <a:cs typeface="Calibri"/>
              </a:rPr>
              <a:t>size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1x1x64,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and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performs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a </a:t>
            </a:r>
            <a:r>
              <a:rPr sz="1600" spc="-20" dirty="0">
                <a:solidFill>
                  <a:srgbClr val="0B22EB"/>
                </a:solidFill>
                <a:latin typeface="Calibri"/>
                <a:cs typeface="Calibri"/>
              </a:rPr>
              <a:t>64-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dimensional</a:t>
            </a:r>
            <a:r>
              <a:rPr sz="1600" spc="2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B22EB"/>
                </a:solidFill>
                <a:latin typeface="Calibri"/>
                <a:cs typeface="Calibri"/>
              </a:rPr>
              <a:t>dot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product)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7200" y="2026583"/>
            <a:ext cx="7063417" cy="354086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7200" y="2111966"/>
            <a:ext cx="7178800" cy="346050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91839" y="2002860"/>
            <a:ext cx="5654675" cy="3569335"/>
            <a:chOff x="1891839" y="2002860"/>
            <a:chExt cx="5654675" cy="3569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1839" y="2115853"/>
              <a:ext cx="5654343" cy="34563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68499" y="2002860"/>
              <a:ext cx="4777740" cy="366395"/>
            </a:xfrm>
            <a:custGeom>
              <a:avLst/>
              <a:gdLst/>
              <a:ahLst/>
              <a:cxnLst/>
              <a:rect l="l" t="t" r="r" b="b"/>
              <a:pathLst>
                <a:path w="4777740" h="366394">
                  <a:moveTo>
                    <a:pt x="4777740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4777740" y="365912"/>
                  </a:lnTo>
                  <a:lnTo>
                    <a:pt x="4777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811" rIns="0" bIns="0" rtlCol="0">
            <a:spAutoFit/>
          </a:bodyPr>
          <a:lstStyle/>
          <a:p>
            <a:pPr marL="115697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The</a:t>
            </a:r>
            <a:r>
              <a:rPr sz="1900" spc="-20" dirty="0"/>
              <a:t> </a:t>
            </a:r>
            <a:r>
              <a:rPr sz="1900" spc="-10" dirty="0"/>
              <a:t>brain/neuron</a:t>
            </a:r>
            <a:r>
              <a:rPr sz="1900" spc="-20" dirty="0"/>
              <a:t> </a:t>
            </a:r>
            <a:r>
              <a:rPr sz="1900" dirty="0"/>
              <a:t>view</a:t>
            </a:r>
            <a:r>
              <a:rPr sz="1900" spc="-20" dirty="0"/>
              <a:t> </a:t>
            </a:r>
            <a:r>
              <a:rPr sz="1900" dirty="0"/>
              <a:t>of</a:t>
            </a:r>
            <a:r>
              <a:rPr sz="1900" spc="-20" dirty="0"/>
              <a:t> </a:t>
            </a:r>
            <a:r>
              <a:rPr sz="1900" dirty="0"/>
              <a:t>CONV</a:t>
            </a:r>
            <a:r>
              <a:rPr sz="1900" spc="-20" dirty="0"/>
              <a:t> </a:t>
            </a:r>
            <a:r>
              <a:rPr sz="1900" spc="-10" dirty="0"/>
              <a:t>Layer</a:t>
            </a:r>
            <a:endParaRPr sz="1900"/>
          </a:p>
        </p:txBody>
      </p:sp>
      <p:sp>
        <p:nvSpPr>
          <p:cNvPr id="7" name="object 7"/>
          <p:cNvSpPr/>
          <p:nvPr/>
        </p:nvSpPr>
        <p:spPr>
          <a:xfrm>
            <a:off x="4048066" y="4915024"/>
            <a:ext cx="3764279" cy="805180"/>
          </a:xfrm>
          <a:custGeom>
            <a:avLst/>
            <a:gdLst/>
            <a:ahLst/>
            <a:cxnLst/>
            <a:rect l="l" t="t" r="r" b="b"/>
            <a:pathLst>
              <a:path w="3764279" h="805179">
                <a:moveTo>
                  <a:pt x="3764279" y="0"/>
                </a:moveTo>
                <a:lnTo>
                  <a:pt x="0" y="0"/>
                </a:lnTo>
                <a:lnTo>
                  <a:pt x="0" y="805007"/>
                </a:lnTo>
                <a:lnTo>
                  <a:pt x="3764279" y="805007"/>
                </a:lnTo>
                <a:lnTo>
                  <a:pt x="37642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07756" y="4931427"/>
            <a:ext cx="3502660" cy="75120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taking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between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image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(i.e.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30"/>
              </a:lnSpc>
            </a:pPr>
            <a:r>
              <a:rPr sz="1600" dirty="0">
                <a:latin typeface="Calibri"/>
                <a:cs typeface="Calibri"/>
              </a:rPr>
              <a:t>5*5*3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75-</a:t>
            </a:r>
            <a:r>
              <a:rPr sz="1600" spc="-10" dirty="0">
                <a:latin typeface="Calibri"/>
                <a:cs typeface="Calibri"/>
              </a:rPr>
              <a:t>dimensional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97059" y="2044313"/>
            <a:ext cx="6794500" cy="3486150"/>
            <a:chOff x="1897059" y="2044313"/>
            <a:chExt cx="6794500" cy="3486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7059" y="2173857"/>
              <a:ext cx="6794368" cy="33561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68499" y="2044313"/>
              <a:ext cx="5082540" cy="366395"/>
            </a:xfrm>
            <a:custGeom>
              <a:avLst/>
              <a:gdLst/>
              <a:ahLst/>
              <a:cxnLst/>
              <a:rect l="l" t="t" r="r" b="b"/>
              <a:pathLst>
                <a:path w="5082540" h="366394">
                  <a:moveTo>
                    <a:pt x="5082381" y="0"/>
                  </a:moveTo>
                  <a:lnTo>
                    <a:pt x="0" y="0"/>
                  </a:lnTo>
                  <a:lnTo>
                    <a:pt x="0" y="365911"/>
                  </a:lnTo>
                  <a:lnTo>
                    <a:pt x="5082381" y="365911"/>
                  </a:lnTo>
                  <a:lnTo>
                    <a:pt x="50823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435" rIns="0" bIns="0" rtlCol="0">
            <a:spAutoFit/>
          </a:bodyPr>
          <a:lstStyle/>
          <a:p>
            <a:pPr marL="115697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The</a:t>
            </a:r>
            <a:r>
              <a:rPr sz="1900" spc="-20" dirty="0"/>
              <a:t> </a:t>
            </a:r>
            <a:r>
              <a:rPr sz="1900" spc="-10" dirty="0"/>
              <a:t>brain/neuron</a:t>
            </a:r>
            <a:r>
              <a:rPr sz="1900" spc="-20" dirty="0"/>
              <a:t> </a:t>
            </a:r>
            <a:r>
              <a:rPr sz="1900" dirty="0"/>
              <a:t>view</a:t>
            </a:r>
            <a:r>
              <a:rPr sz="1900" spc="-20" dirty="0"/>
              <a:t> </a:t>
            </a:r>
            <a:r>
              <a:rPr sz="1900" dirty="0"/>
              <a:t>of</a:t>
            </a:r>
            <a:r>
              <a:rPr sz="1900" spc="-20" dirty="0"/>
              <a:t> </a:t>
            </a:r>
            <a:r>
              <a:rPr sz="1900" dirty="0"/>
              <a:t>CONV</a:t>
            </a:r>
            <a:r>
              <a:rPr sz="1900" spc="-20" dirty="0"/>
              <a:t> </a:t>
            </a:r>
            <a:r>
              <a:rPr sz="1900" spc="-10" dirty="0"/>
              <a:t>Layer</a:t>
            </a:r>
            <a:endParaRPr sz="1900"/>
          </a:p>
        </p:txBody>
      </p:sp>
      <p:sp>
        <p:nvSpPr>
          <p:cNvPr id="7" name="object 7"/>
          <p:cNvSpPr/>
          <p:nvPr/>
        </p:nvSpPr>
        <p:spPr>
          <a:xfrm>
            <a:off x="4048066" y="4915024"/>
            <a:ext cx="3764279" cy="805180"/>
          </a:xfrm>
          <a:custGeom>
            <a:avLst/>
            <a:gdLst/>
            <a:ahLst/>
            <a:cxnLst/>
            <a:rect l="l" t="t" r="r" b="b"/>
            <a:pathLst>
              <a:path w="3764279" h="805179">
                <a:moveTo>
                  <a:pt x="3764279" y="0"/>
                </a:moveTo>
                <a:lnTo>
                  <a:pt x="0" y="0"/>
                </a:lnTo>
                <a:lnTo>
                  <a:pt x="0" y="805007"/>
                </a:lnTo>
                <a:lnTo>
                  <a:pt x="3764279" y="805007"/>
                </a:lnTo>
                <a:lnTo>
                  <a:pt x="37642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07756" y="4931427"/>
            <a:ext cx="3502660" cy="75120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taking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between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image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(i.e.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30"/>
              </a:lnSpc>
            </a:pPr>
            <a:r>
              <a:rPr sz="1600" dirty="0">
                <a:latin typeface="Calibri"/>
                <a:cs typeface="Calibri"/>
              </a:rPr>
              <a:t>5*5*3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75-</a:t>
            </a:r>
            <a:r>
              <a:rPr sz="1600" spc="-10" dirty="0">
                <a:latin typeface="Calibri"/>
                <a:cs typeface="Calibri"/>
              </a:rPr>
              <a:t>dimensional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6605" y="4249881"/>
            <a:ext cx="2343150" cy="561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670" rIns="0" bIns="0" rtlCol="0">
            <a:spAutoFit/>
          </a:bodyPr>
          <a:lstStyle/>
          <a:p>
            <a:pPr marL="72390" marR="479425">
              <a:lnSpc>
                <a:spcPct val="100000"/>
              </a:lnSpc>
              <a:spcBef>
                <a:spcPts val="210"/>
              </a:spcBef>
            </a:pP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It’s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just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a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Calibri"/>
                <a:cs typeface="Calibri"/>
              </a:rPr>
              <a:t>neuron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92D050"/>
                </a:solidFill>
                <a:latin typeface="Calibri"/>
                <a:cs typeface="Calibri"/>
              </a:rPr>
              <a:t>with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local</a:t>
            </a:r>
            <a:r>
              <a:rPr sz="1600" spc="-5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Calibri"/>
                <a:cs typeface="Calibri"/>
              </a:rPr>
              <a:t>connectivity…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97765" y="2044313"/>
            <a:ext cx="7003415" cy="3342640"/>
            <a:chOff x="1897765" y="2044313"/>
            <a:chExt cx="7003415" cy="3342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7765" y="2116988"/>
              <a:ext cx="7003218" cy="32696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68500" y="2044313"/>
              <a:ext cx="4777740" cy="366395"/>
            </a:xfrm>
            <a:custGeom>
              <a:avLst/>
              <a:gdLst/>
              <a:ahLst/>
              <a:cxnLst/>
              <a:rect l="l" t="t" r="r" b="b"/>
              <a:pathLst>
                <a:path w="4777740" h="366394">
                  <a:moveTo>
                    <a:pt x="4777740" y="0"/>
                  </a:moveTo>
                  <a:lnTo>
                    <a:pt x="0" y="0"/>
                  </a:lnTo>
                  <a:lnTo>
                    <a:pt x="0" y="365911"/>
                  </a:lnTo>
                  <a:lnTo>
                    <a:pt x="4777740" y="365911"/>
                  </a:lnTo>
                  <a:lnTo>
                    <a:pt x="4777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435" rIns="0" bIns="0" rtlCol="0">
            <a:spAutoFit/>
          </a:bodyPr>
          <a:lstStyle/>
          <a:p>
            <a:pPr marL="115697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The</a:t>
            </a:r>
            <a:r>
              <a:rPr sz="1900" spc="-20" dirty="0"/>
              <a:t> </a:t>
            </a:r>
            <a:r>
              <a:rPr sz="1900" spc="-10" dirty="0"/>
              <a:t>brain/neuron</a:t>
            </a:r>
            <a:r>
              <a:rPr sz="1900" spc="-20" dirty="0"/>
              <a:t> </a:t>
            </a:r>
            <a:r>
              <a:rPr sz="1900" dirty="0"/>
              <a:t>view</a:t>
            </a:r>
            <a:r>
              <a:rPr sz="1900" spc="-20" dirty="0"/>
              <a:t> </a:t>
            </a:r>
            <a:r>
              <a:rPr sz="1900" dirty="0"/>
              <a:t>of</a:t>
            </a:r>
            <a:r>
              <a:rPr sz="1900" spc="-20" dirty="0"/>
              <a:t> </a:t>
            </a:r>
            <a:r>
              <a:rPr sz="1900" dirty="0"/>
              <a:t>CONV</a:t>
            </a:r>
            <a:r>
              <a:rPr sz="1900" spc="-20" dirty="0"/>
              <a:t> </a:t>
            </a:r>
            <a:r>
              <a:rPr sz="1900" spc="-10" dirty="0"/>
              <a:t>Layer</a:t>
            </a:r>
            <a:endParaRPr sz="1900"/>
          </a:p>
        </p:txBody>
      </p:sp>
      <p:sp>
        <p:nvSpPr>
          <p:cNvPr id="7" name="object 7"/>
          <p:cNvSpPr/>
          <p:nvPr/>
        </p:nvSpPr>
        <p:spPr>
          <a:xfrm>
            <a:off x="4574540" y="3676575"/>
            <a:ext cx="4391660" cy="1534795"/>
          </a:xfrm>
          <a:custGeom>
            <a:avLst/>
            <a:gdLst/>
            <a:ahLst/>
            <a:cxnLst/>
            <a:rect l="l" t="t" r="r" b="b"/>
            <a:pathLst>
              <a:path w="4391659" h="1534795">
                <a:moveTo>
                  <a:pt x="4369562" y="1217396"/>
                </a:moveTo>
                <a:lnTo>
                  <a:pt x="0" y="1217396"/>
                </a:lnTo>
                <a:lnTo>
                  <a:pt x="0" y="1534515"/>
                </a:lnTo>
                <a:lnTo>
                  <a:pt x="4369562" y="1534515"/>
                </a:lnTo>
                <a:lnTo>
                  <a:pt x="4369562" y="1217396"/>
                </a:lnTo>
                <a:close/>
              </a:path>
              <a:path w="4391659" h="1534795">
                <a:moveTo>
                  <a:pt x="4391660" y="0"/>
                </a:moveTo>
                <a:lnTo>
                  <a:pt x="0" y="0"/>
                </a:lnTo>
                <a:lnTo>
                  <a:pt x="0" y="1048943"/>
                </a:lnTo>
                <a:lnTo>
                  <a:pt x="4391660" y="1048943"/>
                </a:lnTo>
                <a:lnTo>
                  <a:pt x="43916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34229" y="3690891"/>
            <a:ext cx="4209415" cy="14890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499109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An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Calibri"/>
                <a:cs typeface="Calibri"/>
              </a:rPr>
              <a:t>activation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map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is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a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28x28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sheet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of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Calibri"/>
                <a:cs typeface="Calibri"/>
              </a:rPr>
              <a:t>neuron outputs:</a:t>
            </a:r>
            <a:endParaRPr sz="1600">
              <a:latin typeface="Calibri"/>
              <a:cs typeface="Calibri"/>
            </a:endParaRPr>
          </a:p>
          <a:p>
            <a:pPr marL="209550" indent="-196850">
              <a:lnSpc>
                <a:spcPts val="1830"/>
              </a:lnSpc>
              <a:buAutoNum type="arabicPeriod"/>
              <a:tabLst>
                <a:tab pos="209550" algn="l"/>
              </a:tabLst>
            </a:pP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Each</a:t>
            </a:r>
            <a:r>
              <a:rPr sz="1600" spc="-4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is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Calibri"/>
                <a:cs typeface="Calibri"/>
              </a:rPr>
              <a:t>connected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to</a:t>
            </a:r>
            <a:r>
              <a:rPr sz="1600" spc="-4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a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small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region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in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Calibri"/>
                <a:cs typeface="Calibri"/>
              </a:rPr>
              <a:t>input</a:t>
            </a:r>
            <a:endParaRPr sz="1600">
              <a:latin typeface="Calibri"/>
              <a:cs typeface="Calibri"/>
            </a:endParaRPr>
          </a:p>
          <a:p>
            <a:pPr marL="209550" indent="-196850">
              <a:lnSpc>
                <a:spcPct val="100000"/>
              </a:lnSpc>
              <a:buAutoNum type="arabicPeriod"/>
              <a:tabLst>
                <a:tab pos="209550" algn="l"/>
              </a:tabLst>
            </a:pP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All</a:t>
            </a:r>
            <a:r>
              <a:rPr sz="1600" spc="-4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of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them</a:t>
            </a:r>
            <a:r>
              <a:rPr sz="1600" spc="-4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92D050"/>
                </a:solidFill>
                <a:latin typeface="Calibri"/>
                <a:cs typeface="Calibri"/>
              </a:rPr>
              <a:t>share</a:t>
            </a:r>
            <a:r>
              <a:rPr sz="1600" spc="-3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92D050"/>
                </a:solidFill>
                <a:latin typeface="Calibri"/>
                <a:cs typeface="Calibri"/>
              </a:rPr>
              <a:t>parameters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“5x5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filter”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-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&gt;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“5x5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receptive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field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for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each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neuron”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664" y="5603829"/>
            <a:ext cx="1581991" cy="3002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9297" y="6038061"/>
            <a:ext cx="814521" cy="18594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171449" y="5970454"/>
            <a:ext cx="1544320" cy="644525"/>
            <a:chOff x="1171449" y="5970454"/>
            <a:chExt cx="1544320" cy="644525"/>
          </a:xfrm>
        </p:grpSpPr>
        <p:sp>
          <p:nvSpPr>
            <p:cNvPr id="12" name="object 12"/>
            <p:cNvSpPr/>
            <p:nvPr/>
          </p:nvSpPr>
          <p:spPr>
            <a:xfrm>
              <a:off x="1171448" y="6074157"/>
              <a:ext cx="36195" cy="74930"/>
            </a:xfrm>
            <a:custGeom>
              <a:avLst/>
              <a:gdLst/>
              <a:ahLst/>
              <a:cxnLst/>
              <a:rect l="l" t="t" r="r" b="b"/>
              <a:pathLst>
                <a:path w="36194" h="74929">
                  <a:moveTo>
                    <a:pt x="2857" y="11417"/>
                  </a:moveTo>
                  <a:lnTo>
                    <a:pt x="2540" y="11087"/>
                  </a:lnTo>
                  <a:lnTo>
                    <a:pt x="2032" y="10604"/>
                  </a:lnTo>
                  <a:lnTo>
                    <a:pt x="2349" y="11087"/>
                  </a:lnTo>
                  <a:lnTo>
                    <a:pt x="2857" y="11417"/>
                  </a:lnTo>
                  <a:close/>
                </a:path>
                <a:path w="36194" h="74929">
                  <a:moveTo>
                    <a:pt x="19392" y="14643"/>
                  </a:moveTo>
                  <a:lnTo>
                    <a:pt x="17462" y="11963"/>
                  </a:lnTo>
                  <a:lnTo>
                    <a:pt x="17462" y="12763"/>
                  </a:lnTo>
                  <a:lnTo>
                    <a:pt x="17386" y="11963"/>
                  </a:lnTo>
                  <a:lnTo>
                    <a:pt x="17081" y="11442"/>
                  </a:lnTo>
                  <a:lnTo>
                    <a:pt x="17462" y="11963"/>
                  </a:lnTo>
                  <a:lnTo>
                    <a:pt x="17348" y="11417"/>
                  </a:lnTo>
                  <a:lnTo>
                    <a:pt x="14859" y="7607"/>
                  </a:lnTo>
                  <a:lnTo>
                    <a:pt x="13093" y="4368"/>
                  </a:lnTo>
                  <a:lnTo>
                    <a:pt x="11341" y="2832"/>
                  </a:lnTo>
                  <a:lnTo>
                    <a:pt x="9321" y="1054"/>
                  </a:lnTo>
                  <a:lnTo>
                    <a:pt x="8648" y="457"/>
                  </a:lnTo>
                  <a:lnTo>
                    <a:pt x="8128" y="0"/>
                  </a:lnTo>
                  <a:lnTo>
                    <a:pt x="4356" y="254"/>
                  </a:lnTo>
                  <a:lnTo>
                    <a:pt x="3771" y="914"/>
                  </a:lnTo>
                  <a:lnTo>
                    <a:pt x="3644" y="1054"/>
                  </a:lnTo>
                  <a:lnTo>
                    <a:pt x="2743" y="1054"/>
                  </a:lnTo>
                  <a:lnTo>
                    <a:pt x="457" y="3721"/>
                  </a:lnTo>
                  <a:lnTo>
                    <a:pt x="495" y="4635"/>
                  </a:lnTo>
                  <a:lnTo>
                    <a:pt x="0" y="5207"/>
                  </a:lnTo>
                  <a:lnTo>
                    <a:pt x="101" y="6832"/>
                  </a:lnTo>
                  <a:lnTo>
                    <a:pt x="152" y="7607"/>
                  </a:lnTo>
                  <a:lnTo>
                    <a:pt x="279" y="9017"/>
                  </a:lnTo>
                  <a:lnTo>
                    <a:pt x="2095" y="10604"/>
                  </a:lnTo>
                  <a:lnTo>
                    <a:pt x="2616" y="11087"/>
                  </a:lnTo>
                  <a:lnTo>
                    <a:pt x="2857" y="11417"/>
                  </a:lnTo>
                  <a:lnTo>
                    <a:pt x="3467" y="11963"/>
                  </a:lnTo>
                  <a:lnTo>
                    <a:pt x="12890" y="20828"/>
                  </a:lnTo>
                  <a:lnTo>
                    <a:pt x="15798" y="20828"/>
                  </a:lnTo>
                  <a:lnTo>
                    <a:pt x="19227" y="17170"/>
                  </a:lnTo>
                  <a:lnTo>
                    <a:pt x="19253" y="16738"/>
                  </a:lnTo>
                  <a:lnTo>
                    <a:pt x="19316" y="15862"/>
                  </a:lnTo>
                  <a:lnTo>
                    <a:pt x="19392" y="14643"/>
                  </a:lnTo>
                  <a:close/>
                </a:path>
                <a:path w="36194" h="74929">
                  <a:moveTo>
                    <a:pt x="36131" y="65595"/>
                  </a:moveTo>
                  <a:lnTo>
                    <a:pt x="34963" y="62636"/>
                  </a:lnTo>
                  <a:lnTo>
                    <a:pt x="34861" y="62357"/>
                  </a:lnTo>
                  <a:lnTo>
                    <a:pt x="33515" y="61506"/>
                  </a:lnTo>
                  <a:lnTo>
                    <a:pt x="32550" y="61506"/>
                  </a:lnTo>
                  <a:lnTo>
                    <a:pt x="24104" y="62103"/>
                  </a:lnTo>
                  <a:lnTo>
                    <a:pt x="24104" y="63246"/>
                  </a:lnTo>
                  <a:lnTo>
                    <a:pt x="23977" y="63538"/>
                  </a:lnTo>
                  <a:lnTo>
                    <a:pt x="24104" y="62128"/>
                  </a:lnTo>
                  <a:lnTo>
                    <a:pt x="24091" y="61290"/>
                  </a:lnTo>
                  <a:lnTo>
                    <a:pt x="24066" y="58432"/>
                  </a:lnTo>
                  <a:lnTo>
                    <a:pt x="22974" y="53009"/>
                  </a:lnTo>
                  <a:lnTo>
                    <a:pt x="22974" y="67144"/>
                  </a:lnTo>
                  <a:lnTo>
                    <a:pt x="22885" y="66738"/>
                  </a:lnTo>
                  <a:lnTo>
                    <a:pt x="22834" y="66611"/>
                  </a:lnTo>
                  <a:lnTo>
                    <a:pt x="22745" y="66357"/>
                  </a:lnTo>
                  <a:lnTo>
                    <a:pt x="22606" y="66611"/>
                  </a:lnTo>
                  <a:lnTo>
                    <a:pt x="22580" y="66027"/>
                  </a:lnTo>
                  <a:lnTo>
                    <a:pt x="22745" y="66357"/>
                  </a:lnTo>
                  <a:lnTo>
                    <a:pt x="22885" y="65989"/>
                  </a:lnTo>
                  <a:lnTo>
                    <a:pt x="22974" y="67144"/>
                  </a:lnTo>
                  <a:lnTo>
                    <a:pt x="22974" y="53009"/>
                  </a:lnTo>
                  <a:lnTo>
                    <a:pt x="22771" y="51993"/>
                  </a:lnTo>
                  <a:lnTo>
                    <a:pt x="20942" y="50774"/>
                  </a:lnTo>
                  <a:lnTo>
                    <a:pt x="17157" y="51536"/>
                  </a:lnTo>
                  <a:lnTo>
                    <a:pt x="15938" y="53365"/>
                  </a:lnTo>
                  <a:lnTo>
                    <a:pt x="16802" y="57670"/>
                  </a:lnTo>
                  <a:lnTo>
                    <a:pt x="16878" y="60706"/>
                  </a:lnTo>
                  <a:lnTo>
                    <a:pt x="15900" y="61671"/>
                  </a:lnTo>
                  <a:lnTo>
                    <a:pt x="13868" y="63538"/>
                  </a:lnTo>
                  <a:lnTo>
                    <a:pt x="14249" y="63550"/>
                  </a:lnTo>
                  <a:lnTo>
                    <a:pt x="22694" y="63703"/>
                  </a:lnTo>
                  <a:lnTo>
                    <a:pt x="13690" y="63703"/>
                  </a:lnTo>
                  <a:lnTo>
                    <a:pt x="13550" y="63703"/>
                  </a:lnTo>
                  <a:lnTo>
                    <a:pt x="13411" y="63931"/>
                  </a:lnTo>
                  <a:lnTo>
                    <a:pt x="13208" y="64084"/>
                  </a:lnTo>
                  <a:lnTo>
                    <a:pt x="13233" y="67144"/>
                  </a:lnTo>
                  <a:lnTo>
                    <a:pt x="13119" y="64401"/>
                  </a:lnTo>
                  <a:lnTo>
                    <a:pt x="11887" y="66357"/>
                  </a:lnTo>
                  <a:lnTo>
                    <a:pt x="11950" y="67640"/>
                  </a:lnTo>
                  <a:lnTo>
                    <a:pt x="11836" y="67144"/>
                  </a:lnTo>
                  <a:lnTo>
                    <a:pt x="11722" y="66611"/>
                  </a:lnTo>
                  <a:lnTo>
                    <a:pt x="11595" y="66738"/>
                  </a:lnTo>
                  <a:lnTo>
                    <a:pt x="9880" y="69570"/>
                  </a:lnTo>
                  <a:lnTo>
                    <a:pt x="14020" y="74726"/>
                  </a:lnTo>
                  <a:lnTo>
                    <a:pt x="15951" y="74295"/>
                  </a:lnTo>
                  <a:lnTo>
                    <a:pt x="20662" y="73228"/>
                  </a:lnTo>
                  <a:lnTo>
                    <a:pt x="21793" y="72974"/>
                  </a:lnTo>
                  <a:lnTo>
                    <a:pt x="21945" y="72732"/>
                  </a:lnTo>
                  <a:lnTo>
                    <a:pt x="27254" y="70777"/>
                  </a:lnTo>
                  <a:lnTo>
                    <a:pt x="35242" y="67640"/>
                  </a:lnTo>
                  <a:lnTo>
                    <a:pt x="36131" y="655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1107" y="5970454"/>
              <a:ext cx="1464342" cy="644152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8349" y="6394287"/>
            <a:ext cx="537487" cy="21156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3020" y="6427303"/>
            <a:ext cx="93880" cy="148741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111986" y="6463615"/>
            <a:ext cx="24130" cy="59690"/>
          </a:xfrm>
          <a:custGeom>
            <a:avLst/>
            <a:gdLst/>
            <a:ahLst/>
            <a:cxnLst/>
            <a:rect l="l" t="t" r="r" b="b"/>
            <a:pathLst>
              <a:path w="24130" h="59690">
                <a:moveTo>
                  <a:pt x="10502" y="4356"/>
                </a:moveTo>
                <a:lnTo>
                  <a:pt x="8166" y="1625"/>
                </a:lnTo>
                <a:lnTo>
                  <a:pt x="7480" y="1384"/>
                </a:lnTo>
                <a:lnTo>
                  <a:pt x="6743" y="1130"/>
                </a:lnTo>
                <a:lnTo>
                  <a:pt x="5359" y="1384"/>
                </a:lnTo>
                <a:lnTo>
                  <a:pt x="3251" y="0"/>
                </a:lnTo>
                <a:lnTo>
                  <a:pt x="1460" y="317"/>
                </a:lnTo>
                <a:lnTo>
                  <a:pt x="241" y="2070"/>
                </a:lnTo>
                <a:lnTo>
                  <a:pt x="63" y="2603"/>
                </a:lnTo>
                <a:lnTo>
                  <a:pt x="0" y="4800"/>
                </a:lnTo>
                <a:lnTo>
                  <a:pt x="381" y="6477"/>
                </a:lnTo>
                <a:lnTo>
                  <a:pt x="3314" y="9855"/>
                </a:lnTo>
                <a:lnTo>
                  <a:pt x="6540" y="10058"/>
                </a:lnTo>
                <a:lnTo>
                  <a:pt x="10299" y="6845"/>
                </a:lnTo>
                <a:lnTo>
                  <a:pt x="10464" y="4800"/>
                </a:lnTo>
                <a:lnTo>
                  <a:pt x="10502" y="4356"/>
                </a:lnTo>
                <a:close/>
              </a:path>
              <a:path w="24130" h="59690">
                <a:moveTo>
                  <a:pt x="24091" y="58547"/>
                </a:moveTo>
                <a:lnTo>
                  <a:pt x="16598" y="58547"/>
                </a:lnTo>
                <a:lnTo>
                  <a:pt x="18478" y="56502"/>
                </a:lnTo>
                <a:lnTo>
                  <a:pt x="18376" y="53568"/>
                </a:lnTo>
                <a:lnTo>
                  <a:pt x="18275" y="50952"/>
                </a:lnTo>
                <a:lnTo>
                  <a:pt x="16078" y="48933"/>
                </a:lnTo>
                <a:lnTo>
                  <a:pt x="12395" y="48933"/>
                </a:lnTo>
                <a:lnTo>
                  <a:pt x="11645" y="49136"/>
                </a:lnTo>
                <a:lnTo>
                  <a:pt x="3441" y="53568"/>
                </a:lnTo>
                <a:lnTo>
                  <a:pt x="2806" y="55676"/>
                </a:lnTo>
                <a:lnTo>
                  <a:pt x="4356" y="58547"/>
                </a:lnTo>
                <a:lnTo>
                  <a:pt x="5588" y="59258"/>
                </a:lnTo>
                <a:lnTo>
                  <a:pt x="24091" y="585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9221" y="6782609"/>
            <a:ext cx="1178639" cy="34742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31791" y="6898885"/>
            <a:ext cx="673521" cy="19851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80954" y="6814000"/>
            <a:ext cx="1101271" cy="34663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61007" y="6332547"/>
            <a:ext cx="589798" cy="24808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3689314" y="5556742"/>
            <a:ext cx="3326129" cy="1406525"/>
            <a:chOff x="3689314" y="5556742"/>
            <a:chExt cx="3326129" cy="1406525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15574" y="5673927"/>
              <a:ext cx="280348" cy="20829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09155" y="5976173"/>
              <a:ext cx="369876" cy="2465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89314" y="5556742"/>
              <a:ext cx="3325691" cy="139893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67837" y="6675870"/>
              <a:ext cx="1134428" cy="26838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75154" y="6672552"/>
              <a:ext cx="789854" cy="29069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80417" y="6707483"/>
              <a:ext cx="518358" cy="253259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8203270" y="5373661"/>
            <a:ext cx="2336165" cy="1369695"/>
            <a:chOff x="8203270" y="5373661"/>
            <a:chExt cx="2336165" cy="1369695"/>
          </a:xfrm>
        </p:grpSpPr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71346" y="5422671"/>
              <a:ext cx="617744" cy="26842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03270" y="5373661"/>
              <a:ext cx="2336073" cy="13692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759" y="1714815"/>
            <a:ext cx="2836415" cy="16565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876" rIns="0" bIns="0" rtlCol="0">
            <a:spAutoFit/>
          </a:bodyPr>
          <a:lstStyle/>
          <a:p>
            <a:pPr marL="696595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The</a:t>
            </a:r>
            <a:r>
              <a:rPr sz="1900" spc="-15" dirty="0"/>
              <a:t> </a:t>
            </a:r>
            <a:r>
              <a:rPr sz="1900" spc="-10" dirty="0"/>
              <a:t>brain/neuron</a:t>
            </a:r>
            <a:r>
              <a:rPr sz="1900" spc="-20" dirty="0"/>
              <a:t> </a:t>
            </a:r>
            <a:r>
              <a:rPr sz="1900" dirty="0"/>
              <a:t>view</a:t>
            </a:r>
            <a:r>
              <a:rPr sz="1900" spc="-20" dirty="0"/>
              <a:t> </a:t>
            </a:r>
            <a:r>
              <a:rPr sz="1900" dirty="0"/>
              <a:t>of</a:t>
            </a:r>
            <a:r>
              <a:rPr sz="1900" spc="395" dirty="0"/>
              <a:t> </a:t>
            </a:r>
            <a:r>
              <a:rPr sz="1900" dirty="0"/>
              <a:t>CONV</a:t>
            </a:r>
            <a:r>
              <a:rPr sz="1900" spc="-20" dirty="0"/>
              <a:t> </a:t>
            </a:r>
            <a:r>
              <a:rPr sz="1900" spc="-10" dirty="0"/>
              <a:t>Layer</a:t>
            </a:r>
            <a:endParaRPr sz="19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1731" y="2844190"/>
            <a:ext cx="3983816" cy="25179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79102" y="3483627"/>
            <a:ext cx="7406640" cy="3263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89475" marR="5080">
              <a:lnSpc>
                <a:spcPct val="99400"/>
              </a:lnSpc>
              <a:spcBef>
                <a:spcPts val="110"/>
              </a:spcBef>
            </a:pPr>
            <a:r>
              <a:rPr sz="1600" dirty="0">
                <a:latin typeface="Calibri"/>
                <a:cs typeface="Calibri"/>
              </a:rPr>
              <a:t>E.g.,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filters,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CONV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 </a:t>
            </a:r>
            <a:r>
              <a:rPr sz="1600" dirty="0">
                <a:latin typeface="Calibri"/>
                <a:cs typeface="Calibri"/>
              </a:rPr>
              <a:t>consists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neurons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arranged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3D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grid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(28x28x5)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600">
              <a:latin typeface="Calibri"/>
              <a:cs typeface="Calibri"/>
            </a:endParaRPr>
          </a:p>
          <a:p>
            <a:pPr marL="4689475" marR="24130">
              <a:lnSpc>
                <a:spcPct val="99400"/>
              </a:lnSpc>
            </a:pP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different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neurons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looking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40" dirty="0">
                <a:latin typeface="Microsoft JhengHei UI"/>
                <a:cs typeface="Microsoft JhengHei UI"/>
              </a:rPr>
              <a:t>⼀个卷积层</a:t>
            </a:r>
            <a:r>
              <a:rPr sz="1100" spc="-10" dirty="0">
                <a:latin typeface="Microsoft JhengHei UI"/>
                <a:cs typeface="Microsoft JhengHei UI"/>
              </a:rPr>
              <a:t>（CONV</a:t>
            </a:r>
            <a:r>
              <a:rPr sz="1100" spc="2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Layer）</a:t>
            </a:r>
            <a:r>
              <a:rPr sz="1100" spc="-5" dirty="0">
                <a:latin typeface="Microsoft JhengHei UI"/>
                <a:cs typeface="Microsoft JhengHei UI"/>
              </a:rPr>
              <a:t>就是⼀⼤群“克隆”神经元的集合。</a:t>
            </a:r>
            <a:endParaRPr sz="1100">
              <a:latin typeface="Microsoft JhengHei UI"/>
              <a:cs typeface="Microsoft JhengHei UI"/>
            </a:endParaRPr>
          </a:p>
          <a:p>
            <a:pPr marL="12700" marR="2926080">
              <a:lnSpc>
                <a:spcPct val="115700"/>
              </a:lnSpc>
              <a:spcBef>
                <a:spcPts val="655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"克隆"体现在哪⾥？(参数共享)：滤波器 </a:t>
            </a:r>
            <a:r>
              <a:rPr sz="1100" spc="-210" dirty="0">
                <a:latin typeface="Microsoft JhengHei UI"/>
                <a:cs typeface="Microsoft JhengHei UI"/>
              </a:rPr>
              <a:t>1</a:t>
            </a:r>
            <a:r>
              <a:rPr sz="1100" spc="45" dirty="0">
                <a:latin typeface="Microsoft JhengHei UI"/>
                <a:cs typeface="Microsoft JhengHei UI"/>
              </a:rPr>
              <a:t> 在 </a:t>
            </a:r>
            <a:r>
              <a:rPr sz="1100" dirty="0">
                <a:latin typeface="Microsoft JhengHei UI"/>
                <a:cs typeface="Microsoft JhengHei UI"/>
              </a:rPr>
              <a:t>(x,y)</a:t>
            </a:r>
            <a:r>
              <a:rPr sz="1100" spc="-25" dirty="0">
                <a:latin typeface="Microsoft JhengHei UI"/>
                <a:cs typeface="Microsoft JhengHei UI"/>
              </a:rPr>
              <a:t> 位置的那个神经元，和</a:t>
            </a:r>
            <a:r>
              <a:rPr sz="1100" spc="5" dirty="0">
                <a:latin typeface="Microsoft JhengHei UI"/>
                <a:cs typeface="Microsoft JhengHei UI"/>
              </a:rPr>
              <a:t>它在 </a:t>
            </a:r>
            <a:r>
              <a:rPr sz="1100" spc="-40" dirty="0">
                <a:latin typeface="Microsoft JhengHei UI"/>
                <a:cs typeface="Microsoft JhengHei UI"/>
              </a:rPr>
              <a:t>(x+1,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y) 位置的那个神经元，是“克隆”的（共享同⼀组权重）</a:t>
            </a:r>
            <a:r>
              <a:rPr sz="1100" spc="-50" dirty="0">
                <a:latin typeface="Microsoft JhengHei UI"/>
                <a:cs typeface="Microsoft JhengHei UI"/>
              </a:rPr>
              <a:t>。</a:t>
            </a:r>
            <a:endParaRPr sz="1100">
              <a:latin typeface="Microsoft JhengHei UI"/>
              <a:cs typeface="Microsoft JhengHei UI"/>
            </a:endParaRPr>
          </a:p>
          <a:p>
            <a:pPr marL="12700" marR="2926080">
              <a:lnSpc>
                <a:spcPct val="115700"/>
              </a:lnSpc>
              <a:spcBef>
                <a:spcPts val="655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"不同"体现在哪⾥？(多滤波器)：在同⼀个 </a:t>
            </a:r>
            <a:r>
              <a:rPr sz="1100" dirty="0">
                <a:latin typeface="Microsoft JhengHei UI"/>
                <a:cs typeface="Microsoft JhengHei UI"/>
              </a:rPr>
              <a:t>(x,y)</a:t>
            </a:r>
            <a:r>
              <a:rPr sz="1100" spc="-20" dirty="0">
                <a:latin typeface="Microsoft JhengHei UI"/>
                <a:cs typeface="Microsoft JhengHei UI"/>
              </a:rPr>
              <a:t> 位置，滤波器 </a:t>
            </a:r>
            <a:r>
              <a:rPr sz="1100" spc="-210" dirty="0">
                <a:latin typeface="Microsoft JhengHei UI"/>
                <a:cs typeface="Microsoft JhengHei UI"/>
              </a:rPr>
              <a:t>1</a:t>
            </a:r>
            <a:r>
              <a:rPr sz="1100" dirty="0">
                <a:latin typeface="Microsoft JhengHei UI"/>
                <a:cs typeface="Microsoft JhengHei UI"/>
              </a:rPr>
              <a:t> 的神经元</a:t>
            </a:r>
            <a:r>
              <a:rPr sz="1100" spc="40" dirty="0">
                <a:latin typeface="Microsoft JhengHei UI"/>
                <a:cs typeface="Microsoft JhengHei UI"/>
              </a:rPr>
              <a:t>和 滤波器 </a:t>
            </a:r>
            <a:r>
              <a:rPr sz="1100" dirty="0">
                <a:latin typeface="Microsoft JhengHei UI"/>
                <a:cs typeface="Microsoft JhengHei UI"/>
              </a:rPr>
              <a:t>2</a:t>
            </a:r>
            <a:r>
              <a:rPr sz="1100" spc="-10" dirty="0">
                <a:latin typeface="Microsoft JhengHei UI"/>
                <a:cs typeface="Microsoft JhengHei UI"/>
              </a:rPr>
              <a:t> 的神经元是不同的</a:t>
            </a:r>
            <a:r>
              <a:rPr sz="1100" spc="-20" dirty="0">
                <a:latin typeface="Microsoft JhengHei UI"/>
                <a:cs typeface="Microsoft JhengHei UI"/>
              </a:rPr>
              <a:t>（它们权重不同，在寻找不同的特征）</a:t>
            </a:r>
            <a:r>
              <a:rPr sz="1100" spc="-50" dirty="0">
                <a:latin typeface="Microsoft JhengHei UI"/>
                <a:cs typeface="Microsoft JhengHei UI"/>
              </a:rPr>
              <a:t>。</a:t>
            </a:r>
            <a:endParaRPr sz="11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94674" y="1760154"/>
            <a:ext cx="7472045" cy="3827779"/>
            <a:chOff x="1494674" y="1760154"/>
            <a:chExt cx="7472045" cy="38277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200" y="1956289"/>
              <a:ext cx="7239000" cy="36312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94674" y="1760154"/>
              <a:ext cx="3319145" cy="366395"/>
            </a:xfrm>
            <a:custGeom>
              <a:avLst/>
              <a:gdLst/>
              <a:ahLst/>
              <a:cxnLst/>
              <a:rect l="l" t="t" r="r" b="b"/>
              <a:pathLst>
                <a:path w="3319145" h="366394">
                  <a:moveTo>
                    <a:pt x="3318803" y="0"/>
                  </a:moveTo>
                  <a:lnTo>
                    <a:pt x="0" y="0"/>
                  </a:lnTo>
                  <a:lnTo>
                    <a:pt x="0" y="365911"/>
                  </a:lnTo>
                  <a:lnTo>
                    <a:pt x="3318803" y="365911"/>
                  </a:lnTo>
                  <a:lnTo>
                    <a:pt x="33188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54364" y="1772130"/>
            <a:ext cx="316801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two</a:t>
            </a:r>
            <a:r>
              <a:rPr sz="1900" spc="-40" dirty="0"/>
              <a:t> </a:t>
            </a:r>
            <a:r>
              <a:rPr sz="1900" dirty="0"/>
              <a:t>more</a:t>
            </a:r>
            <a:r>
              <a:rPr sz="1900" spc="-25" dirty="0"/>
              <a:t> </a:t>
            </a:r>
            <a:r>
              <a:rPr sz="1900" dirty="0"/>
              <a:t>layers</a:t>
            </a:r>
            <a:r>
              <a:rPr sz="1900" spc="-35" dirty="0"/>
              <a:t> </a:t>
            </a:r>
            <a:r>
              <a:rPr sz="1900" dirty="0"/>
              <a:t>to</a:t>
            </a:r>
            <a:r>
              <a:rPr sz="1900" spc="-35" dirty="0"/>
              <a:t> </a:t>
            </a:r>
            <a:r>
              <a:rPr sz="1900" dirty="0"/>
              <a:t>go:</a:t>
            </a:r>
            <a:r>
              <a:rPr sz="1900" spc="-35" dirty="0"/>
              <a:t> </a:t>
            </a:r>
            <a:r>
              <a:rPr sz="1900" spc="-10" dirty="0"/>
              <a:t>POOL/FC</a:t>
            </a:r>
            <a:endParaRPr sz="19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2821" y="1988538"/>
            <a:ext cx="12934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Pooling</a:t>
            </a:r>
            <a:r>
              <a:rPr sz="1900" spc="-85" dirty="0"/>
              <a:t> </a:t>
            </a:r>
            <a:r>
              <a:rPr sz="1900" spc="-20" dirty="0"/>
              <a:t>layer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1672821" y="2476218"/>
            <a:ext cx="5953125" cy="60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Char char="-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makes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representations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smaller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manageable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Char char="-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operates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activation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map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independently: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048" y="3244349"/>
            <a:ext cx="3274426" cy="25757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59210" y="2132520"/>
            <a:ext cx="4320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Microsoft JhengHei UI"/>
                <a:cs typeface="Microsoft JhengHei UI"/>
              </a:rPr>
              <a:t>池化层使特征表示更⼩且更易于处理，并对每个激活图独⽴进⾏运算。</a:t>
            </a:r>
            <a:endParaRPr sz="11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3609975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MAX</a:t>
            </a:r>
            <a:r>
              <a:rPr sz="1900" spc="-50" dirty="0"/>
              <a:t> </a:t>
            </a:r>
            <a:r>
              <a:rPr sz="1900" spc="-10" dirty="0"/>
              <a:t>POOLING</a:t>
            </a:r>
            <a:endParaRPr sz="1900"/>
          </a:p>
        </p:txBody>
      </p:sp>
      <p:grpSp>
        <p:nvGrpSpPr>
          <p:cNvPr id="4" name="object 4"/>
          <p:cNvGrpSpPr/>
          <p:nvPr/>
        </p:nvGrpSpPr>
        <p:grpSpPr>
          <a:xfrm>
            <a:off x="2244057" y="2314243"/>
            <a:ext cx="6205855" cy="3285490"/>
            <a:chOff x="2244057" y="2314243"/>
            <a:chExt cx="6205855" cy="32854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4057" y="2657648"/>
              <a:ext cx="6205284" cy="294164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3976" y="2314243"/>
              <a:ext cx="1369733" cy="3351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56" y="1192921"/>
            <a:ext cx="7646034" cy="4119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  <a:p>
            <a:pPr marL="347345" indent="-27114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47345" algn="l"/>
              </a:tabLst>
            </a:pPr>
            <a:r>
              <a:rPr sz="1900" dirty="0">
                <a:latin typeface="Calibri"/>
                <a:cs typeface="Calibri"/>
              </a:rPr>
              <a:t>Accepts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size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90" dirty="0">
                <a:latin typeface="Cambria Math"/>
                <a:cs typeface="Cambria Math"/>
              </a:rPr>
              <a:t>𝘸</a:t>
            </a:r>
            <a:r>
              <a:rPr sz="2100" spc="135" baseline="-15873" dirty="0">
                <a:latin typeface="Cambria Math"/>
                <a:cs typeface="Cambria Math"/>
              </a:rPr>
              <a:t>1</a:t>
            </a:r>
            <a:r>
              <a:rPr sz="1900" spc="90" dirty="0">
                <a:latin typeface="Cambria Math"/>
                <a:cs typeface="Cambria Math"/>
              </a:rPr>
              <a:t>×𝐻</a:t>
            </a:r>
            <a:r>
              <a:rPr sz="2100" spc="135" baseline="-15873" dirty="0">
                <a:latin typeface="Cambria Math"/>
                <a:cs typeface="Cambria Math"/>
              </a:rPr>
              <a:t>1</a:t>
            </a:r>
            <a:r>
              <a:rPr sz="1900" spc="90" dirty="0">
                <a:latin typeface="Cambria Math"/>
                <a:cs typeface="Cambria Math"/>
              </a:rPr>
              <a:t>×𝐷</a:t>
            </a:r>
            <a:r>
              <a:rPr sz="2100" spc="135" baseline="-15873" dirty="0">
                <a:latin typeface="Cambria Math"/>
                <a:cs typeface="Cambria Math"/>
              </a:rPr>
              <a:t>1</a:t>
            </a:r>
            <a:endParaRPr sz="2100" baseline="-15873">
              <a:latin typeface="Cambria Math"/>
              <a:cs typeface="Cambria Math"/>
            </a:endParaRPr>
          </a:p>
          <a:p>
            <a:pPr marL="3473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47345" algn="l"/>
              </a:tabLst>
            </a:pPr>
            <a:r>
              <a:rPr sz="1900" dirty="0">
                <a:latin typeface="Calibri"/>
                <a:cs typeface="Calibri"/>
              </a:rPr>
              <a:t>Requires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three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hyperparameters:</a:t>
            </a:r>
            <a:endParaRPr sz="1900">
              <a:latin typeface="Calibri"/>
              <a:cs typeface="Calibri"/>
            </a:endParaRPr>
          </a:p>
          <a:p>
            <a:pPr marL="631825" lvl="1" indent="-271145">
              <a:lnSpc>
                <a:spcPts val="1910"/>
              </a:lnSpc>
              <a:spcBef>
                <a:spcPts val="1019"/>
              </a:spcBef>
              <a:buFont typeface="Wingdings"/>
              <a:buChar char=""/>
              <a:tabLst>
                <a:tab pos="631825" algn="l"/>
              </a:tabLst>
            </a:pP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spatial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𝐹</a:t>
            </a:r>
            <a:r>
              <a:rPr sz="1600" spc="-25" dirty="0">
                <a:latin typeface="Calibri"/>
                <a:cs typeface="Calibri"/>
              </a:rPr>
              <a:t>,</a:t>
            </a:r>
            <a:endParaRPr sz="1600">
              <a:latin typeface="Calibri"/>
              <a:cs typeface="Calibri"/>
            </a:endParaRPr>
          </a:p>
          <a:p>
            <a:pPr marL="631825" lvl="1" indent="-271145">
              <a:lnSpc>
                <a:spcPts val="1910"/>
              </a:lnSpc>
              <a:buFont typeface="Wingdings"/>
              <a:buChar char=""/>
              <a:tabLst>
                <a:tab pos="63182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𝑆</a:t>
            </a:r>
            <a:r>
              <a:rPr sz="1600" spc="-25" dirty="0">
                <a:latin typeface="Calibri"/>
                <a:cs typeface="Calibri"/>
              </a:rPr>
              <a:t>,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/>
              <a:buChar char=""/>
            </a:pPr>
            <a:endParaRPr sz="1600">
              <a:latin typeface="Calibri"/>
              <a:cs typeface="Calibri"/>
            </a:endParaRPr>
          </a:p>
          <a:p>
            <a:pPr marL="347345" indent="-271145">
              <a:lnSpc>
                <a:spcPct val="100000"/>
              </a:lnSpc>
              <a:buFont typeface="Arial MT"/>
              <a:buChar char="•"/>
              <a:tabLst>
                <a:tab pos="347345" algn="l"/>
              </a:tabLst>
            </a:pPr>
            <a:r>
              <a:rPr sz="1900" dirty="0">
                <a:latin typeface="Calibri"/>
                <a:cs typeface="Calibri"/>
              </a:rPr>
              <a:t>Produces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size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100" dirty="0">
                <a:latin typeface="Cambria Math"/>
                <a:cs typeface="Cambria Math"/>
              </a:rPr>
              <a:t>𝘸</a:t>
            </a:r>
            <a:r>
              <a:rPr sz="2100" spc="150" baseline="-15873" dirty="0">
                <a:latin typeface="Cambria Math"/>
                <a:cs typeface="Cambria Math"/>
              </a:rPr>
              <a:t>2</a:t>
            </a:r>
            <a:r>
              <a:rPr sz="1900" spc="100" dirty="0">
                <a:latin typeface="Cambria Math"/>
                <a:cs typeface="Cambria Math"/>
              </a:rPr>
              <a:t>×𝐻</a:t>
            </a:r>
            <a:r>
              <a:rPr sz="2100" spc="150" baseline="-15873" dirty="0">
                <a:latin typeface="Cambria Math"/>
                <a:cs typeface="Cambria Math"/>
              </a:rPr>
              <a:t>2</a:t>
            </a:r>
            <a:r>
              <a:rPr sz="1900" spc="100" dirty="0">
                <a:latin typeface="Cambria Math"/>
                <a:cs typeface="Cambria Math"/>
              </a:rPr>
              <a:t>×𝐷</a:t>
            </a:r>
            <a:r>
              <a:rPr sz="2100" spc="150" baseline="-15873" dirty="0">
                <a:latin typeface="Cambria Math"/>
                <a:cs typeface="Cambria Math"/>
              </a:rPr>
              <a:t>2</a:t>
            </a:r>
            <a:r>
              <a:rPr sz="2100" spc="247" baseline="-15873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libri"/>
                <a:cs typeface="Calibri"/>
              </a:rPr>
              <a:t>where:</a:t>
            </a:r>
            <a:endParaRPr sz="1900">
              <a:latin typeface="Calibri"/>
              <a:cs typeface="Calibri"/>
            </a:endParaRPr>
          </a:p>
          <a:p>
            <a:pPr marL="631825" lvl="1" indent="-271145">
              <a:lnSpc>
                <a:spcPts val="1910"/>
              </a:lnSpc>
              <a:spcBef>
                <a:spcPts val="780"/>
              </a:spcBef>
              <a:buFont typeface="Wingdings"/>
              <a:buChar char=""/>
              <a:tabLst>
                <a:tab pos="631825" algn="l"/>
              </a:tabLst>
            </a:pPr>
            <a:r>
              <a:rPr sz="1600" spc="155" dirty="0">
                <a:latin typeface="Cambria Math"/>
                <a:cs typeface="Cambria Math"/>
              </a:rPr>
              <a:t>𝘸</a:t>
            </a:r>
            <a:r>
              <a:rPr sz="1800" spc="232" baseline="-13888" dirty="0">
                <a:latin typeface="Cambria Math"/>
                <a:cs typeface="Cambria Math"/>
              </a:rPr>
              <a:t>2</a:t>
            </a:r>
            <a:r>
              <a:rPr sz="1800" spc="315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spc="100" dirty="0">
                <a:latin typeface="Cambria Math"/>
                <a:cs typeface="Cambria Math"/>
              </a:rPr>
              <a:t>(𝘸</a:t>
            </a:r>
            <a:r>
              <a:rPr sz="1800" spc="150" baseline="-13888" dirty="0">
                <a:latin typeface="Cambria Math"/>
                <a:cs typeface="Cambria Math"/>
              </a:rPr>
              <a:t>1</a:t>
            </a:r>
            <a:r>
              <a:rPr sz="1800" spc="195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𝐹)</a:t>
            </a:r>
            <a:r>
              <a:rPr sz="2400" baseline="1736" dirty="0">
                <a:latin typeface="Cambria Math"/>
                <a:cs typeface="Cambria Math"/>
              </a:rPr>
              <a:t>⁄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10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631825" lvl="1" indent="-271145">
              <a:lnSpc>
                <a:spcPts val="1895"/>
              </a:lnSpc>
              <a:buFont typeface="Wingdings"/>
              <a:buChar char=""/>
              <a:tabLst>
                <a:tab pos="631825" algn="l"/>
              </a:tabLst>
            </a:pPr>
            <a:r>
              <a:rPr sz="1600" spc="65" dirty="0">
                <a:latin typeface="Cambria Math"/>
                <a:cs typeface="Cambria Math"/>
              </a:rPr>
              <a:t>𝐻</a:t>
            </a:r>
            <a:r>
              <a:rPr sz="1800" spc="97" baseline="-16203" dirty="0">
                <a:latin typeface="Cambria Math"/>
                <a:cs typeface="Cambria Math"/>
              </a:rPr>
              <a:t>2</a:t>
            </a:r>
            <a:r>
              <a:rPr sz="1800" spc="352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(𝐻</a:t>
            </a:r>
            <a:r>
              <a:rPr sz="1800" baseline="-16203" dirty="0">
                <a:latin typeface="Cambria Math"/>
                <a:cs typeface="Cambria Math"/>
              </a:rPr>
              <a:t>1</a:t>
            </a:r>
            <a:r>
              <a:rPr sz="1800" spc="217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𝐹)</a:t>
            </a:r>
            <a:r>
              <a:rPr sz="2400" baseline="1736" dirty="0">
                <a:latin typeface="Cambria Math"/>
                <a:cs typeface="Cambria Math"/>
              </a:rPr>
              <a:t>⁄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10" dirty="0">
                <a:latin typeface="Cambria Math"/>
                <a:cs typeface="Cambria Math"/>
              </a:rPr>
              <a:t> 1</a:t>
            </a:r>
            <a:endParaRPr sz="1600">
              <a:latin typeface="Cambria Math"/>
              <a:cs typeface="Cambria Math"/>
            </a:endParaRPr>
          </a:p>
          <a:p>
            <a:pPr marL="631825" lvl="1" indent="-271145">
              <a:lnSpc>
                <a:spcPts val="1910"/>
              </a:lnSpc>
              <a:buFont typeface="Wingdings"/>
              <a:buChar char=""/>
              <a:tabLst>
                <a:tab pos="631825" algn="l"/>
              </a:tabLst>
            </a:pPr>
            <a:r>
              <a:rPr sz="1600" spc="55" dirty="0">
                <a:latin typeface="Cambria Math"/>
                <a:cs typeface="Cambria Math"/>
              </a:rPr>
              <a:t>𝐷</a:t>
            </a:r>
            <a:r>
              <a:rPr sz="1800" spc="82" baseline="-16203" dirty="0">
                <a:latin typeface="Cambria Math"/>
                <a:cs typeface="Cambria Math"/>
              </a:rPr>
              <a:t>2</a:t>
            </a:r>
            <a:r>
              <a:rPr sz="1800" spc="307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spc="20" dirty="0">
                <a:latin typeface="Cambria Math"/>
                <a:cs typeface="Cambria Math"/>
              </a:rPr>
              <a:t>𝐷</a:t>
            </a:r>
            <a:r>
              <a:rPr sz="1800" spc="30" baseline="-16203" dirty="0">
                <a:latin typeface="Cambria Math"/>
                <a:cs typeface="Cambria Math"/>
              </a:rPr>
              <a:t>1</a:t>
            </a:r>
            <a:endParaRPr sz="1800" baseline="-16203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775"/>
              </a:spcBef>
              <a:buFont typeface="Wingdings"/>
              <a:buChar char=""/>
            </a:pPr>
            <a:endParaRPr sz="1600">
              <a:latin typeface="Cambria Math"/>
              <a:cs typeface="Cambria Math"/>
            </a:endParaRPr>
          </a:p>
          <a:p>
            <a:pPr marL="347345" indent="-2711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47345" algn="l"/>
              </a:tabLst>
            </a:pPr>
            <a:r>
              <a:rPr sz="1900" dirty="0">
                <a:latin typeface="Calibri"/>
                <a:cs typeface="Calibri"/>
              </a:rPr>
              <a:t>Introduces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zero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parameters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fixed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input</a:t>
            </a:r>
            <a:endParaRPr sz="1900">
              <a:latin typeface="Calibri"/>
              <a:cs typeface="Calibri"/>
            </a:endParaRPr>
          </a:p>
          <a:p>
            <a:pPr marL="347345" indent="-27114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47345" algn="l"/>
              </a:tabLst>
            </a:pPr>
            <a:r>
              <a:rPr sz="1900" dirty="0">
                <a:latin typeface="Calibri"/>
                <a:cs typeface="Calibri"/>
              </a:rPr>
              <a:t>Note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common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zero-</a:t>
            </a:r>
            <a:r>
              <a:rPr sz="1900" dirty="0">
                <a:latin typeface="Calibri"/>
                <a:cs typeface="Calibri"/>
              </a:rPr>
              <a:t>padding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Pooling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layers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1371" y="2794987"/>
            <a:ext cx="504729" cy="334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4382" y="3715725"/>
            <a:ext cx="287300" cy="552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33408" y="2540373"/>
            <a:ext cx="744108" cy="27069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056" y="1802610"/>
            <a:ext cx="4087495" cy="122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Accepts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size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90" dirty="0">
                <a:latin typeface="Cambria Math"/>
                <a:cs typeface="Cambria Math"/>
              </a:rPr>
              <a:t>𝘸</a:t>
            </a:r>
            <a:r>
              <a:rPr sz="2100" spc="135" baseline="-15873" dirty="0">
                <a:latin typeface="Cambria Math"/>
                <a:cs typeface="Cambria Math"/>
              </a:rPr>
              <a:t>1</a:t>
            </a:r>
            <a:r>
              <a:rPr sz="1900" spc="90" dirty="0">
                <a:latin typeface="Cambria Math"/>
                <a:cs typeface="Cambria Math"/>
              </a:rPr>
              <a:t>×𝐻</a:t>
            </a:r>
            <a:r>
              <a:rPr sz="2100" spc="135" baseline="-15873" dirty="0">
                <a:latin typeface="Cambria Math"/>
                <a:cs typeface="Cambria Math"/>
              </a:rPr>
              <a:t>1</a:t>
            </a:r>
            <a:r>
              <a:rPr sz="1900" spc="90" dirty="0">
                <a:latin typeface="Cambria Math"/>
                <a:cs typeface="Cambria Math"/>
              </a:rPr>
              <a:t>×𝐷</a:t>
            </a:r>
            <a:r>
              <a:rPr sz="2100" spc="135" baseline="-15873" dirty="0">
                <a:latin typeface="Cambria Math"/>
                <a:cs typeface="Cambria Math"/>
              </a:rPr>
              <a:t>1</a:t>
            </a:r>
            <a:endParaRPr sz="2100" baseline="-15873">
              <a:latin typeface="Cambria Math"/>
              <a:cs typeface="Cambria Math"/>
            </a:endParaRPr>
          </a:p>
          <a:p>
            <a:pPr marL="3092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Requires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three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hyperparameters:</a:t>
            </a:r>
            <a:endParaRPr sz="1900">
              <a:latin typeface="Calibri"/>
              <a:cs typeface="Calibri"/>
            </a:endParaRPr>
          </a:p>
          <a:p>
            <a:pPr marL="593725" lvl="1" indent="-271145">
              <a:lnSpc>
                <a:spcPts val="1910"/>
              </a:lnSpc>
              <a:spcBef>
                <a:spcPts val="1019"/>
              </a:spcBef>
              <a:buFont typeface="Wingdings"/>
              <a:buChar char=""/>
              <a:tabLst>
                <a:tab pos="593725" algn="l"/>
              </a:tabLst>
            </a:pP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spatial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𝐹</a:t>
            </a:r>
            <a:r>
              <a:rPr sz="1600" spc="-25" dirty="0">
                <a:latin typeface="Calibri"/>
                <a:cs typeface="Calibri"/>
              </a:rPr>
              <a:t>,</a:t>
            </a:r>
            <a:endParaRPr sz="1600">
              <a:latin typeface="Calibri"/>
              <a:cs typeface="Calibri"/>
            </a:endParaRPr>
          </a:p>
          <a:p>
            <a:pPr marL="593725" lvl="1" indent="-271145">
              <a:lnSpc>
                <a:spcPts val="1910"/>
              </a:lnSpc>
              <a:buFont typeface="Wingdings"/>
              <a:buChar char=""/>
              <a:tabLst>
                <a:tab pos="59372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𝑆</a:t>
            </a:r>
            <a:r>
              <a:rPr sz="1600" spc="-25" dirty="0">
                <a:latin typeface="Calibri"/>
                <a:cs typeface="Calibri"/>
              </a:rPr>
              <a:t>,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056" y="3136174"/>
            <a:ext cx="4980940" cy="125730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09245" indent="-271145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309245" algn="l"/>
              </a:tabLst>
            </a:pPr>
            <a:r>
              <a:rPr sz="1900" dirty="0">
                <a:latin typeface="Calibri"/>
                <a:cs typeface="Calibri"/>
              </a:rPr>
              <a:t>Produces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size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100" dirty="0">
                <a:latin typeface="Cambria Math"/>
                <a:cs typeface="Cambria Math"/>
              </a:rPr>
              <a:t>𝘸</a:t>
            </a:r>
            <a:r>
              <a:rPr sz="2100" spc="150" baseline="-15873" dirty="0">
                <a:latin typeface="Cambria Math"/>
                <a:cs typeface="Cambria Math"/>
              </a:rPr>
              <a:t>2</a:t>
            </a:r>
            <a:r>
              <a:rPr sz="1900" spc="100" dirty="0">
                <a:latin typeface="Cambria Math"/>
                <a:cs typeface="Cambria Math"/>
              </a:rPr>
              <a:t>×𝐻</a:t>
            </a:r>
            <a:r>
              <a:rPr sz="2100" spc="150" baseline="-15873" dirty="0">
                <a:latin typeface="Cambria Math"/>
                <a:cs typeface="Cambria Math"/>
              </a:rPr>
              <a:t>2</a:t>
            </a:r>
            <a:r>
              <a:rPr sz="1900" spc="100" dirty="0">
                <a:latin typeface="Cambria Math"/>
                <a:cs typeface="Cambria Math"/>
              </a:rPr>
              <a:t>×𝐷</a:t>
            </a:r>
            <a:r>
              <a:rPr sz="2100" spc="150" baseline="-15873" dirty="0">
                <a:latin typeface="Cambria Math"/>
                <a:cs typeface="Cambria Math"/>
              </a:rPr>
              <a:t>2</a:t>
            </a:r>
            <a:r>
              <a:rPr sz="2100" spc="247" baseline="-15873" dirty="0">
                <a:latin typeface="Cambria Math"/>
                <a:cs typeface="Cambria Math"/>
              </a:rPr>
              <a:t> </a:t>
            </a:r>
            <a:r>
              <a:rPr sz="1900" spc="-10" dirty="0">
                <a:latin typeface="Calibri"/>
                <a:cs typeface="Calibri"/>
              </a:rPr>
              <a:t>where:</a:t>
            </a:r>
            <a:endParaRPr sz="1900">
              <a:latin typeface="Calibri"/>
              <a:cs typeface="Calibri"/>
            </a:endParaRPr>
          </a:p>
          <a:p>
            <a:pPr marL="593725" lvl="1" indent="-271145">
              <a:lnSpc>
                <a:spcPts val="1910"/>
              </a:lnSpc>
              <a:spcBef>
                <a:spcPts val="780"/>
              </a:spcBef>
              <a:buFont typeface="Wingdings"/>
              <a:buChar char=""/>
              <a:tabLst>
                <a:tab pos="593725" algn="l"/>
              </a:tabLst>
            </a:pPr>
            <a:r>
              <a:rPr sz="1600" spc="155" dirty="0">
                <a:latin typeface="Cambria Math"/>
                <a:cs typeface="Cambria Math"/>
              </a:rPr>
              <a:t>𝘸</a:t>
            </a:r>
            <a:r>
              <a:rPr sz="1800" spc="232" baseline="-13888" dirty="0">
                <a:latin typeface="Cambria Math"/>
                <a:cs typeface="Cambria Math"/>
              </a:rPr>
              <a:t>2</a:t>
            </a:r>
            <a:r>
              <a:rPr sz="1800" spc="315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spc="100" dirty="0">
                <a:latin typeface="Cambria Math"/>
                <a:cs typeface="Cambria Math"/>
              </a:rPr>
              <a:t>(𝘸</a:t>
            </a:r>
            <a:r>
              <a:rPr sz="1800" spc="150" baseline="-13888" dirty="0">
                <a:latin typeface="Cambria Math"/>
                <a:cs typeface="Cambria Math"/>
              </a:rPr>
              <a:t>1</a:t>
            </a:r>
            <a:r>
              <a:rPr sz="1800" spc="195" baseline="-13888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𝐹)</a:t>
            </a:r>
            <a:r>
              <a:rPr sz="2400" baseline="1736" dirty="0">
                <a:latin typeface="Cambria Math"/>
                <a:cs typeface="Cambria Math"/>
              </a:rPr>
              <a:t>⁄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10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593725" lvl="1" indent="-271145">
              <a:lnSpc>
                <a:spcPts val="1895"/>
              </a:lnSpc>
              <a:buFont typeface="Wingdings"/>
              <a:buChar char=""/>
              <a:tabLst>
                <a:tab pos="593725" algn="l"/>
              </a:tabLst>
            </a:pPr>
            <a:r>
              <a:rPr sz="1600" spc="65" dirty="0">
                <a:latin typeface="Cambria Math"/>
                <a:cs typeface="Cambria Math"/>
              </a:rPr>
              <a:t>𝐻</a:t>
            </a:r>
            <a:r>
              <a:rPr sz="1800" spc="97" baseline="-16203" dirty="0">
                <a:latin typeface="Cambria Math"/>
                <a:cs typeface="Cambria Math"/>
              </a:rPr>
              <a:t>2</a:t>
            </a:r>
            <a:r>
              <a:rPr sz="1800" spc="352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(𝐻</a:t>
            </a:r>
            <a:r>
              <a:rPr sz="1800" baseline="-16203" dirty="0">
                <a:latin typeface="Cambria Math"/>
                <a:cs typeface="Cambria Math"/>
              </a:rPr>
              <a:t>1</a:t>
            </a:r>
            <a:r>
              <a:rPr sz="1800" spc="217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𝐹)</a:t>
            </a:r>
            <a:r>
              <a:rPr sz="2400" baseline="1736" dirty="0">
                <a:latin typeface="Cambria Math"/>
                <a:cs typeface="Cambria Math"/>
              </a:rPr>
              <a:t>⁄</a:t>
            </a:r>
            <a:r>
              <a:rPr sz="1600" dirty="0">
                <a:latin typeface="Cambria Math"/>
                <a:cs typeface="Cambria Math"/>
              </a:rPr>
              <a:t>𝑆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10" dirty="0">
                <a:latin typeface="Cambria Math"/>
                <a:cs typeface="Cambria Math"/>
              </a:rPr>
              <a:t> 1</a:t>
            </a:r>
            <a:endParaRPr sz="1600">
              <a:latin typeface="Cambria Math"/>
              <a:cs typeface="Cambria Math"/>
            </a:endParaRPr>
          </a:p>
          <a:p>
            <a:pPr marL="593725" lvl="1" indent="-271145">
              <a:lnSpc>
                <a:spcPts val="1910"/>
              </a:lnSpc>
              <a:buFont typeface="Wingdings"/>
              <a:buChar char=""/>
              <a:tabLst>
                <a:tab pos="593725" algn="l"/>
              </a:tabLst>
            </a:pPr>
            <a:r>
              <a:rPr sz="1600" spc="55" dirty="0">
                <a:latin typeface="Cambria Math"/>
                <a:cs typeface="Cambria Math"/>
              </a:rPr>
              <a:t>𝐷</a:t>
            </a:r>
            <a:r>
              <a:rPr sz="1800" spc="82" baseline="-16203" dirty="0">
                <a:latin typeface="Cambria Math"/>
                <a:cs typeface="Cambria Math"/>
              </a:rPr>
              <a:t>2</a:t>
            </a:r>
            <a:r>
              <a:rPr sz="1800" spc="307" baseline="-16203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spc="20" dirty="0">
                <a:latin typeface="Cambria Math"/>
                <a:cs typeface="Cambria Math"/>
              </a:rPr>
              <a:t>𝐷</a:t>
            </a:r>
            <a:r>
              <a:rPr sz="1800" spc="30" baseline="-16203" dirty="0">
                <a:latin typeface="Cambria Math"/>
                <a:cs typeface="Cambria Math"/>
              </a:rPr>
              <a:t>1</a:t>
            </a:r>
            <a:endParaRPr sz="1800" baseline="-1620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456" y="4704306"/>
            <a:ext cx="7569834" cy="60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Introduces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zero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parameters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fixed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input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Note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common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zero-</a:t>
            </a:r>
            <a:r>
              <a:rPr sz="1900" dirty="0">
                <a:latin typeface="Calibri"/>
                <a:cs typeface="Calibri"/>
              </a:rPr>
              <a:t>padding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Pooling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layers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13945" y="2198850"/>
            <a:ext cx="1802764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Common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settings: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13945" y="2771874"/>
            <a:ext cx="1062990" cy="60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2,</a:t>
            </a: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3,</a:t>
            </a: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0538" y="1881858"/>
            <a:ext cx="31603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Fully</a:t>
            </a:r>
            <a:r>
              <a:rPr sz="1900" spc="-55" dirty="0"/>
              <a:t> </a:t>
            </a:r>
            <a:r>
              <a:rPr sz="1900" dirty="0"/>
              <a:t>Connected</a:t>
            </a:r>
            <a:r>
              <a:rPr sz="1900" spc="-50" dirty="0"/>
              <a:t> </a:t>
            </a:r>
            <a:r>
              <a:rPr sz="1900" dirty="0"/>
              <a:t>Layer</a:t>
            </a:r>
            <a:r>
              <a:rPr sz="1900" spc="-55" dirty="0"/>
              <a:t> </a:t>
            </a:r>
            <a:r>
              <a:rPr sz="1900" dirty="0"/>
              <a:t>(FC</a:t>
            </a:r>
            <a:r>
              <a:rPr sz="1900" spc="-55" dirty="0"/>
              <a:t> </a:t>
            </a:r>
            <a:r>
              <a:rPr sz="1900" spc="-10" dirty="0"/>
              <a:t>layer)</a:t>
            </a:r>
            <a:endParaRPr sz="1900"/>
          </a:p>
        </p:txBody>
      </p:sp>
      <p:sp>
        <p:nvSpPr>
          <p:cNvPr id="4" name="object 4"/>
          <p:cNvSpPr txBox="1"/>
          <p:nvPr/>
        </p:nvSpPr>
        <p:spPr>
          <a:xfrm>
            <a:off x="1080538" y="2249187"/>
            <a:ext cx="74885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Contains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neurons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connect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ordinary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Neural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6000" y="2825704"/>
            <a:ext cx="5061852" cy="248109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876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Case</a:t>
            </a:r>
            <a:r>
              <a:rPr sz="1900" spc="-40" dirty="0"/>
              <a:t> </a:t>
            </a:r>
            <a:r>
              <a:rPr sz="1900" dirty="0"/>
              <a:t>Study:</a:t>
            </a:r>
            <a:r>
              <a:rPr sz="1900" spc="-45" dirty="0"/>
              <a:t> </a:t>
            </a:r>
            <a:r>
              <a:rPr sz="1900" spc="-10" dirty="0"/>
              <a:t>LeNet-</a:t>
            </a:r>
            <a:r>
              <a:rPr sz="1900" spc="-50" dirty="0"/>
              <a:t>5</a:t>
            </a:r>
            <a:endParaRPr sz="1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744" y="2500545"/>
            <a:ext cx="7248862" cy="23288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1642" y="4949715"/>
            <a:ext cx="469265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Conv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5x5,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95"/>
              </a:lnSpc>
            </a:pPr>
            <a:r>
              <a:rPr sz="1600" spc="-10" dirty="0">
                <a:latin typeface="Calibri"/>
                <a:cs typeface="Calibri"/>
              </a:rPr>
              <a:t>Subsampling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(Pooling)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layers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2x2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0"/>
              </a:lnSpc>
            </a:pPr>
            <a:r>
              <a:rPr sz="1600" dirty="0">
                <a:latin typeface="Calibri"/>
                <a:cs typeface="Calibri"/>
              </a:rPr>
              <a:t>i.e.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architecture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[CONV-POOL-CONV-POOL-CONV-FC]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27200" y="2156604"/>
            <a:ext cx="7193915" cy="2576195"/>
            <a:chOff x="1727200" y="2156604"/>
            <a:chExt cx="7193915" cy="2576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3515" y="2266426"/>
              <a:ext cx="7017346" cy="24662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27200" y="2156604"/>
              <a:ext cx="3018790" cy="415290"/>
            </a:xfrm>
            <a:custGeom>
              <a:avLst/>
              <a:gdLst/>
              <a:ahLst/>
              <a:cxnLst/>
              <a:rect l="l" t="t" r="r" b="b"/>
              <a:pathLst>
                <a:path w="3018790" h="415289">
                  <a:moveTo>
                    <a:pt x="3018443" y="0"/>
                  </a:moveTo>
                  <a:lnTo>
                    <a:pt x="0" y="0"/>
                  </a:lnTo>
                  <a:lnTo>
                    <a:pt x="0" y="414699"/>
                  </a:lnTo>
                  <a:lnTo>
                    <a:pt x="3018443" y="414699"/>
                  </a:lnTo>
                  <a:lnTo>
                    <a:pt x="30184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0691" rIns="0" bIns="0" rtlCol="0">
            <a:spAutoFit/>
          </a:bodyPr>
          <a:lstStyle/>
          <a:p>
            <a:pPr marL="915669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-5" dirty="0"/>
              <a:t> </a:t>
            </a:r>
            <a:r>
              <a:rPr dirty="0"/>
              <a:t>Study:</a:t>
            </a:r>
            <a:r>
              <a:rPr spc="-5" dirty="0"/>
              <a:t> </a:t>
            </a:r>
            <a:r>
              <a:rPr spc="-10" dirty="0"/>
              <a:t>AlexNet</a:t>
            </a:r>
          </a:p>
        </p:txBody>
      </p:sp>
      <p:sp>
        <p:nvSpPr>
          <p:cNvPr id="7" name="object 7"/>
          <p:cNvSpPr/>
          <p:nvPr/>
        </p:nvSpPr>
        <p:spPr>
          <a:xfrm>
            <a:off x="1871980" y="3588945"/>
            <a:ext cx="5638800" cy="1186815"/>
          </a:xfrm>
          <a:custGeom>
            <a:avLst/>
            <a:gdLst/>
            <a:ahLst/>
            <a:cxnLst/>
            <a:rect l="l" t="t" r="r" b="b"/>
            <a:pathLst>
              <a:path w="5638800" h="1186814">
                <a:moveTo>
                  <a:pt x="4902568" y="869670"/>
                </a:moveTo>
                <a:lnTo>
                  <a:pt x="0" y="869670"/>
                </a:lnTo>
                <a:lnTo>
                  <a:pt x="0" y="1186802"/>
                </a:lnTo>
                <a:lnTo>
                  <a:pt x="4902568" y="1186802"/>
                </a:lnTo>
                <a:lnTo>
                  <a:pt x="4902568" y="869670"/>
                </a:lnTo>
                <a:close/>
              </a:path>
              <a:path w="5638800" h="1186814">
                <a:moveTo>
                  <a:pt x="5638609" y="365912"/>
                </a:moveTo>
                <a:lnTo>
                  <a:pt x="2136597" y="365912"/>
                </a:lnTo>
                <a:lnTo>
                  <a:pt x="2136597" y="0"/>
                </a:lnTo>
                <a:lnTo>
                  <a:pt x="0" y="0"/>
                </a:lnTo>
                <a:lnTo>
                  <a:pt x="0" y="365912"/>
                </a:lnTo>
                <a:lnTo>
                  <a:pt x="0" y="731824"/>
                </a:lnTo>
                <a:lnTo>
                  <a:pt x="5638609" y="731824"/>
                </a:lnTo>
                <a:lnTo>
                  <a:pt x="5638609" y="365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31670" y="3528117"/>
            <a:ext cx="5465445" cy="12160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900" dirty="0">
                <a:latin typeface="Calibri"/>
                <a:cs typeface="Calibri"/>
              </a:rPr>
              <a:t>Input: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227x227x3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900" dirty="0">
                <a:latin typeface="Calibri"/>
                <a:cs typeface="Calibri"/>
              </a:rPr>
              <a:t>First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layer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(CONV1)</a:t>
            </a:r>
            <a:r>
              <a:rPr sz="1900" dirty="0">
                <a:latin typeface="Microsoft YaHei"/>
                <a:cs typeface="Microsoft YaHei"/>
              </a:rPr>
              <a:t>：</a:t>
            </a:r>
            <a:r>
              <a:rPr sz="1900" dirty="0">
                <a:latin typeface="Calibri"/>
                <a:cs typeface="Calibri"/>
              </a:rPr>
              <a:t>96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11x11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4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Q: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what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is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output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volume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size?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Hint: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B22EB"/>
                </a:solidFill>
                <a:latin typeface="Calibri"/>
                <a:cs typeface="Calibri"/>
              </a:rPr>
              <a:t>(227-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11)/4+1=55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89337" y="4261468"/>
            <a:ext cx="5546090" cy="520065"/>
            <a:chOff x="2189337" y="4261468"/>
            <a:chExt cx="5546090" cy="52006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7036" y="4261468"/>
              <a:ext cx="968512" cy="453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4271" y="4296520"/>
              <a:ext cx="1690621" cy="488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89337" y="4774071"/>
              <a:ext cx="2556510" cy="0"/>
            </a:xfrm>
            <a:custGeom>
              <a:avLst/>
              <a:gdLst/>
              <a:ahLst/>
              <a:cxnLst/>
              <a:rect l="l" t="t" r="r" b="b"/>
              <a:pathLst>
                <a:path w="2556510">
                  <a:moveTo>
                    <a:pt x="0" y="0"/>
                  </a:moveTo>
                  <a:lnTo>
                    <a:pt x="2556083" y="0"/>
                  </a:lnTo>
                </a:path>
              </a:pathLst>
            </a:custGeom>
            <a:ln w="14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8645" y="2095324"/>
            <a:ext cx="7036934" cy="29182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45656" y="3405989"/>
            <a:ext cx="2136775" cy="3663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794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220"/>
              </a:spcBef>
            </a:pPr>
            <a:r>
              <a:rPr sz="1900" dirty="0"/>
              <a:t>Input:</a:t>
            </a:r>
            <a:r>
              <a:rPr sz="1900" spc="-55" dirty="0"/>
              <a:t> </a:t>
            </a:r>
            <a:r>
              <a:rPr sz="1900" spc="-10" dirty="0"/>
              <a:t>227x227x3</a:t>
            </a:r>
            <a:endParaRPr sz="1900"/>
          </a:p>
        </p:txBody>
      </p:sp>
      <p:sp>
        <p:nvSpPr>
          <p:cNvPr id="5" name="object 5"/>
          <p:cNvSpPr txBox="1"/>
          <p:nvPr/>
        </p:nvSpPr>
        <p:spPr>
          <a:xfrm>
            <a:off x="1905346" y="3786858"/>
            <a:ext cx="54654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First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layer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(CONV1)</a:t>
            </a:r>
            <a:r>
              <a:rPr sz="1900" dirty="0">
                <a:latin typeface="Microsoft YaHei"/>
                <a:cs typeface="Microsoft YaHei"/>
              </a:rPr>
              <a:t>：</a:t>
            </a:r>
            <a:r>
              <a:rPr sz="1900" dirty="0">
                <a:latin typeface="Calibri"/>
                <a:cs typeface="Calibri"/>
              </a:rPr>
              <a:t>96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11x11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4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45656" y="4317612"/>
            <a:ext cx="2801620" cy="366395"/>
          </a:xfrm>
          <a:custGeom>
            <a:avLst/>
            <a:gdLst/>
            <a:ahLst/>
            <a:cxnLst/>
            <a:rect l="l" t="t" r="r" b="b"/>
            <a:pathLst>
              <a:path w="2801620" h="366395">
                <a:moveTo>
                  <a:pt x="2801033" y="0"/>
                </a:moveTo>
                <a:lnTo>
                  <a:pt x="0" y="0"/>
                </a:lnTo>
                <a:lnTo>
                  <a:pt x="0" y="365911"/>
                </a:lnTo>
                <a:lnTo>
                  <a:pt x="2801033" y="365911"/>
                </a:lnTo>
                <a:lnTo>
                  <a:pt x="28010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45656" y="4317612"/>
            <a:ext cx="2801620" cy="36639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219"/>
              </a:spcBef>
            </a:pPr>
            <a:r>
              <a:rPr sz="1900" dirty="0">
                <a:latin typeface="Calibri"/>
                <a:cs typeface="Calibri"/>
              </a:rPr>
              <a:t>Output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[55x55x96]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45656" y="4707918"/>
            <a:ext cx="4744085" cy="317500"/>
          </a:xfrm>
          <a:custGeom>
            <a:avLst/>
            <a:gdLst/>
            <a:ahLst/>
            <a:cxnLst/>
            <a:rect l="l" t="t" r="r" b="b"/>
            <a:pathLst>
              <a:path w="4744084" h="317500">
                <a:moveTo>
                  <a:pt x="4743940" y="0"/>
                </a:moveTo>
                <a:lnTo>
                  <a:pt x="0" y="0"/>
                </a:lnTo>
                <a:lnTo>
                  <a:pt x="0" y="317124"/>
                </a:lnTo>
                <a:lnTo>
                  <a:pt x="4743940" y="317124"/>
                </a:lnTo>
                <a:lnTo>
                  <a:pt x="47439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05346" y="4724163"/>
            <a:ext cx="45802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Q: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what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is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total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number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of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parameters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in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layer?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65860" y="4301548"/>
            <a:ext cx="7348855" cy="595630"/>
            <a:chOff x="1865860" y="4301548"/>
            <a:chExt cx="7348855" cy="59563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5860" y="4633059"/>
              <a:ext cx="2847302" cy="641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5596" y="4301548"/>
              <a:ext cx="871500" cy="5954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10228" y="4523004"/>
              <a:ext cx="239065" cy="2320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9758" y="4549892"/>
              <a:ext cx="454535" cy="1896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45656" y="2112599"/>
            <a:ext cx="7060565" cy="2688590"/>
            <a:chOff x="1845656" y="2112599"/>
            <a:chExt cx="7060565" cy="26885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8402" y="2112599"/>
              <a:ext cx="7017346" cy="268816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45656" y="3405989"/>
              <a:ext cx="2136775" cy="366395"/>
            </a:xfrm>
            <a:custGeom>
              <a:avLst/>
              <a:gdLst/>
              <a:ahLst/>
              <a:cxnLst/>
              <a:rect l="l" t="t" r="r" b="b"/>
              <a:pathLst>
                <a:path w="2136775" h="366395">
                  <a:moveTo>
                    <a:pt x="2136602" y="0"/>
                  </a:moveTo>
                  <a:lnTo>
                    <a:pt x="0" y="0"/>
                  </a:lnTo>
                  <a:lnTo>
                    <a:pt x="0" y="365912"/>
                  </a:lnTo>
                  <a:lnTo>
                    <a:pt x="2136602" y="365912"/>
                  </a:lnTo>
                  <a:lnTo>
                    <a:pt x="2136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05346" y="3421098"/>
            <a:ext cx="172720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/>
              <a:t>Input:</a:t>
            </a:r>
            <a:r>
              <a:rPr sz="1900" spc="-55" dirty="0"/>
              <a:t> </a:t>
            </a:r>
            <a:r>
              <a:rPr sz="1900" spc="-10" dirty="0"/>
              <a:t>227x227x3</a:t>
            </a:r>
            <a:endParaRPr sz="1900"/>
          </a:p>
        </p:txBody>
      </p:sp>
      <p:sp>
        <p:nvSpPr>
          <p:cNvPr id="7" name="object 7"/>
          <p:cNvSpPr/>
          <p:nvPr/>
        </p:nvSpPr>
        <p:spPr>
          <a:xfrm>
            <a:off x="1845653" y="3771901"/>
            <a:ext cx="5638800" cy="1200785"/>
          </a:xfrm>
          <a:custGeom>
            <a:avLst/>
            <a:gdLst/>
            <a:ahLst/>
            <a:cxnLst/>
            <a:rect l="l" t="t" r="r" b="b"/>
            <a:pathLst>
              <a:path w="5638800" h="1200785">
                <a:moveTo>
                  <a:pt x="3393681" y="541921"/>
                </a:moveTo>
                <a:lnTo>
                  <a:pt x="0" y="541921"/>
                </a:lnTo>
                <a:lnTo>
                  <a:pt x="0" y="1200556"/>
                </a:lnTo>
                <a:lnTo>
                  <a:pt x="3393681" y="1200556"/>
                </a:lnTo>
                <a:lnTo>
                  <a:pt x="3393681" y="541921"/>
                </a:lnTo>
                <a:close/>
              </a:path>
              <a:path w="5638800" h="1200785">
                <a:moveTo>
                  <a:pt x="5638609" y="0"/>
                </a:moveTo>
                <a:lnTo>
                  <a:pt x="0" y="0"/>
                </a:lnTo>
                <a:lnTo>
                  <a:pt x="0" y="365912"/>
                </a:lnTo>
                <a:lnTo>
                  <a:pt x="5638609" y="365912"/>
                </a:lnTo>
                <a:lnTo>
                  <a:pt x="56386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05346" y="3786858"/>
            <a:ext cx="5465445" cy="115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First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layer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(CONV1)</a:t>
            </a:r>
            <a:r>
              <a:rPr sz="1900" dirty="0">
                <a:latin typeface="Microsoft YaHei"/>
                <a:cs typeface="Microsoft YaHei"/>
              </a:rPr>
              <a:t>：</a:t>
            </a:r>
            <a:r>
              <a:rPr sz="1900" dirty="0">
                <a:latin typeface="Calibri"/>
                <a:cs typeface="Calibri"/>
              </a:rPr>
              <a:t>96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11x11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applied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stride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4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1900" dirty="0">
                <a:latin typeface="Calibri"/>
                <a:cs typeface="Calibri"/>
              </a:rPr>
              <a:t>Output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volume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[55x55x96]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dirty="0">
                <a:latin typeface="Calibri"/>
                <a:cs typeface="Calibri"/>
              </a:rPr>
              <a:t>Parameters: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(11*11*3)*96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35K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89008" y="4977770"/>
            <a:ext cx="3368040" cy="0"/>
          </a:xfrm>
          <a:custGeom>
            <a:avLst/>
            <a:gdLst/>
            <a:ahLst/>
            <a:cxnLst/>
            <a:rect l="l" t="t" r="r" b="b"/>
            <a:pathLst>
              <a:path w="3368040">
                <a:moveTo>
                  <a:pt x="0" y="0"/>
                </a:moveTo>
                <a:lnTo>
                  <a:pt x="3367632" y="0"/>
                </a:lnTo>
              </a:path>
            </a:pathLst>
          </a:custGeom>
          <a:ln w="14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47850" y="2063284"/>
            <a:ext cx="7239000" cy="3658870"/>
            <a:chOff x="1847850" y="2063284"/>
            <a:chExt cx="7239000" cy="3658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7964" y="2113327"/>
              <a:ext cx="6993014" cy="26788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7850" y="2063284"/>
              <a:ext cx="7239000" cy="365881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007985" y="3491368"/>
            <a:ext cx="2129790" cy="561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195" rIns="0" bIns="0" rtlCol="0">
            <a:spAutoFit/>
          </a:bodyPr>
          <a:lstStyle/>
          <a:p>
            <a:pPr marL="71755" marR="84455">
              <a:lnSpc>
                <a:spcPts val="1900"/>
              </a:lnSpc>
              <a:spcBef>
                <a:spcPts val="285"/>
              </a:spcBef>
            </a:pPr>
            <a:r>
              <a:rPr sz="1600" dirty="0">
                <a:latin typeface="Calibri"/>
                <a:cs typeface="Calibri"/>
              </a:rPr>
              <a:t>Input: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227x227x3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image </a:t>
            </a:r>
            <a:r>
              <a:rPr sz="1600" dirty="0">
                <a:latin typeface="Calibri"/>
                <a:cs typeface="Calibri"/>
              </a:rPr>
              <a:t>After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CONV1: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55x55x96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7985" y="4168248"/>
            <a:ext cx="4413250" cy="5613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71755" marR="104775">
              <a:lnSpc>
                <a:spcPct val="100000"/>
              </a:lnSpc>
              <a:spcBef>
                <a:spcPts val="204"/>
              </a:spcBef>
            </a:pPr>
            <a:r>
              <a:rPr sz="1600" b="1" spc="-10" dirty="0">
                <a:latin typeface="Calibri"/>
                <a:cs typeface="Calibri"/>
              </a:rPr>
              <a:t>Second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layer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(POOL1):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3x3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2 </a:t>
            </a: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27x27x96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5726" y="4842936"/>
            <a:ext cx="4310380" cy="3175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794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220"/>
              </a:spcBef>
            </a:pP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Q: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what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is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number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of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parameters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in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layer?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19646" y="3845988"/>
            <a:ext cx="1369060" cy="455930"/>
            <a:chOff x="6719646" y="3845988"/>
            <a:chExt cx="1369060" cy="4559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9646" y="3845988"/>
              <a:ext cx="559687" cy="4554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4874" y="4038315"/>
              <a:ext cx="106994" cy="18045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537796" y="4017345"/>
              <a:ext cx="43815" cy="196215"/>
            </a:xfrm>
            <a:custGeom>
              <a:avLst/>
              <a:gdLst/>
              <a:ahLst/>
              <a:cxnLst/>
              <a:rect l="l" t="t" r="r" b="b"/>
              <a:pathLst>
                <a:path w="43815" h="196214">
                  <a:moveTo>
                    <a:pt x="14177" y="146117"/>
                  </a:moveTo>
                  <a:lnTo>
                    <a:pt x="28871" y="185519"/>
                  </a:lnTo>
                  <a:lnTo>
                    <a:pt x="37599" y="195825"/>
                  </a:lnTo>
                  <a:lnTo>
                    <a:pt x="42689" y="192901"/>
                  </a:lnTo>
                  <a:lnTo>
                    <a:pt x="43752" y="190041"/>
                  </a:lnTo>
                  <a:lnTo>
                    <a:pt x="42845" y="187460"/>
                  </a:lnTo>
                  <a:lnTo>
                    <a:pt x="40542" y="180713"/>
                  </a:lnTo>
                  <a:lnTo>
                    <a:pt x="32412" y="149872"/>
                  </a:lnTo>
                  <a:lnTo>
                    <a:pt x="18361" y="149872"/>
                  </a:lnTo>
                  <a:lnTo>
                    <a:pt x="14177" y="146117"/>
                  </a:lnTo>
                  <a:close/>
                </a:path>
                <a:path w="43815" h="196214">
                  <a:moveTo>
                    <a:pt x="27364" y="131691"/>
                  </a:moveTo>
                  <a:lnTo>
                    <a:pt x="17562" y="132039"/>
                  </a:lnTo>
                  <a:lnTo>
                    <a:pt x="13730" y="136170"/>
                  </a:lnTo>
                  <a:lnTo>
                    <a:pt x="13881" y="140455"/>
                  </a:lnTo>
                  <a:lnTo>
                    <a:pt x="14131" y="145280"/>
                  </a:lnTo>
                  <a:lnTo>
                    <a:pt x="14177" y="146117"/>
                  </a:lnTo>
                  <a:lnTo>
                    <a:pt x="18361" y="149872"/>
                  </a:lnTo>
                  <a:lnTo>
                    <a:pt x="28079" y="149345"/>
                  </a:lnTo>
                  <a:lnTo>
                    <a:pt x="31808" y="145280"/>
                  </a:lnTo>
                  <a:lnTo>
                    <a:pt x="31502" y="136170"/>
                  </a:lnTo>
                  <a:lnTo>
                    <a:pt x="31481" y="135566"/>
                  </a:lnTo>
                  <a:lnTo>
                    <a:pt x="27364" y="131691"/>
                  </a:lnTo>
                  <a:close/>
                </a:path>
                <a:path w="43815" h="196214">
                  <a:moveTo>
                    <a:pt x="31825" y="145280"/>
                  </a:moveTo>
                  <a:lnTo>
                    <a:pt x="28079" y="149345"/>
                  </a:lnTo>
                  <a:lnTo>
                    <a:pt x="18361" y="149872"/>
                  </a:lnTo>
                  <a:lnTo>
                    <a:pt x="32412" y="149872"/>
                  </a:lnTo>
                  <a:lnTo>
                    <a:pt x="31889" y="147078"/>
                  </a:lnTo>
                  <a:lnTo>
                    <a:pt x="31825" y="145280"/>
                  </a:lnTo>
                  <a:close/>
                </a:path>
                <a:path w="43815" h="196214">
                  <a:moveTo>
                    <a:pt x="31041" y="103765"/>
                  </a:moveTo>
                  <a:lnTo>
                    <a:pt x="27004" y="107674"/>
                  </a:lnTo>
                  <a:lnTo>
                    <a:pt x="13392" y="107674"/>
                  </a:lnTo>
                  <a:lnTo>
                    <a:pt x="13342" y="120012"/>
                  </a:lnTo>
                  <a:lnTo>
                    <a:pt x="13489" y="130037"/>
                  </a:lnTo>
                  <a:lnTo>
                    <a:pt x="13691" y="135566"/>
                  </a:lnTo>
                  <a:lnTo>
                    <a:pt x="13714" y="136170"/>
                  </a:lnTo>
                  <a:lnTo>
                    <a:pt x="17562" y="132039"/>
                  </a:lnTo>
                  <a:lnTo>
                    <a:pt x="27364" y="131691"/>
                  </a:lnTo>
                  <a:lnTo>
                    <a:pt x="31424" y="131691"/>
                  </a:lnTo>
                  <a:lnTo>
                    <a:pt x="31381" y="130037"/>
                  </a:lnTo>
                  <a:lnTo>
                    <a:pt x="31212" y="120012"/>
                  </a:lnTo>
                  <a:lnTo>
                    <a:pt x="31089" y="109194"/>
                  </a:lnTo>
                  <a:lnTo>
                    <a:pt x="31075" y="107674"/>
                  </a:lnTo>
                  <a:lnTo>
                    <a:pt x="17355" y="107674"/>
                  </a:lnTo>
                  <a:lnTo>
                    <a:pt x="13523" y="103765"/>
                  </a:lnTo>
                  <a:lnTo>
                    <a:pt x="31041" y="103765"/>
                  </a:lnTo>
                  <a:close/>
                </a:path>
                <a:path w="43815" h="196214">
                  <a:moveTo>
                    <a:pt x="31424" y="131691"/>
                  </a:moveTo>
                  <a:lnTo>
                    <a:pt x="27364" y="131691"/>
                  </a:lnTo>
                  <a:lnTo>
                    <a:pt x="31526" y="135566"/>
                  </a:lnTo>
                  <a:lnTo>
                    <a:pt x="31424" y="131691"/>
                  </a:lnTo>
                  <a:close/>
                </a:path>
                <a:path w="43815" h="196214">
                  <a:moveTo>
                    <a:pt x="27071" y="90105"/>
                  </a:moveTo>
                  <a:lnTo>
                    <a:pt x="17327" y="90105"/>
                  </a:lnTo>
                  <a:lnTo>
                    <a:pt x="13398" y="94041"/>
                  </a:lnTo>
                  <a:lnTo>
                    <a:pt x="13384" y="103765"/>
                  </a:lnTo>
                  <a:lnTo>
                    <a:pt x="13523" y="103765"/>
                  </a:lnTo>
                  <a:lnTo>
                    <a:pt x="17355" y="107674"/>
                  </a:lnTo>
                  <a:lnTo>
                    <a:pt x="27004" y="107674"/>
                  </a:lnTo>
                  <a:lnTo>
                    <a:pt x="30965" y="103765"/>
                  </a:lnTo>
                  <a:lnTo>
                    <a:pt x="30937" y="94041"/>
                  </a:lnTo>
                  <a:lnTo>
                    <a:pt x="31078" y="94041"/>
                  </a:lnTo>
                  <a:lnTo>
                    <a:pt x="27071" y="90105"/>
                  </a:lnTo>
                  <a:close/>
                </a:path>
                <a:path w="43815" h="196214">
                  <a:moveTo>
                    <a:pt x="13519" y="51815"/>
                  </a:moveTo>
                  <a:lnTo>
                    <a:pt x="13398" y="94041"/>
                  </a:lnTo>
                  <a:lnTo>
                    <a:pt x="17327" y="90105"/>
                  </a:lnTo>
                  <a:lnTo>
                    <a:pt x="30888" y="90105"/>
                  </a:lnTo>
                  <a:lnTo>
                    <a:pt x="30833" y="85802"/>
                  </a:lnTo>
                  <a:lnTo>
                    <a:pt x="30552" y="72832"/>
                  </a:lnTo>
                  <a:lnTo>
                    <a:pt x="30121" y="59866"/>
                  </a:lnTo>
                  <a:lnTo>
                    <a:pt x="29909" y="55384"/>
                  </a:lnTo>
                  <a:lnTo>
                    <a:pt x="17125" y="55384"/>
                  </a:lnTo>
                  <a:lnTo>
                    <a:pt x="13519" y="51815"/>
                  </a:lnTo>
                  <a:close/>
                </a:path>
                <a:path w="43815" h="196214">
                  <a:moveTo>
                    <a:pt x="30888" y="90105"/>
                  </a:moveTo>
                  <a:lnTo>
                    <a:pt x="27071" y="90105"/>
                  </a:lnTo>
                  <a:lnTo>
                    <a:pt x="31078" y="94041"/>
                  </a:lnTo>
                  <a:lnTo>
                    <a:pt x="30937" y="94041"/>
                  </a:lnTo>
                  <a:lnTo>
                    <a:pt x="30888" y="90105"/>
                  </a:lnTo>
                  <a:close/>
                </a:path>
                <a:path w="43815" h="196214">
                  <a:moveTo>
                    <a:pt x="25486" y="39105"/>
                  </a:moveTo>
                  <a:lnTo>
                    <a:pt x="16587" y="39595"/>
                  </a:lnTo>
                  <a:lnTo>
                    <a:pt x="16793" y="39595"/>
                  </a:lnTo>
                  <a:lnTo>
                    <a:pt x="13474" y="43127"/>
                  </a:lnTo>
                  <a:lnTo>
                    <a:pt x="13519" y="51815"/>
                  </a:lnTo>
                  <a:lnTo>
                    <a:pt x="17125" y="55384"/>
                  </a:lnTo>
                  <a:lnTo>
                    <a:pt x="25930" y="55384"/>
                  </a:lnTo>
                  <a:lnTo>
                    <a:pt x="29461" y="51815"/>
                  </a:lnTo>
                  <a:lnTo>
                    <a:pt x="29508" y="46908"/>
                  </a:lnTo>
                  <a:lnTo>
                    <a:pt x="29333" y="43931"/>
                  </a:lnTo>
                  <a:lnTo>
                    <a:pt x="29248" y="42490"/>
                  </a:lnTo>
                  <a:lnTo>
                    <a:pt x="25486" y="39105"/>
                  </a:lnTo>
                  <a:close/>
                </a:path>
                <a:path w="43815" h="196214">
                  <a:moveTo>
                    <a:pt x="29508" y="46908"/>
                  </a:moveTo>
                  <a:lnTo>
                    <a:pt x="29461" y="51815"/>
                  </a:lnTo>
                  <a:lnTo>
                    <a:pt x="25930" y="55384"/>
                  </a:lnTo>
                  <a:lnTo>
                    <a:pt x="29909" y="55384"/>
                  </a:lnTo>
                  <a:lnTo>
                    <a:pt x="29508" y="46908"/>
                  </a:lnTo>
                  <a:close/>
                </a:path>
                <a:path w="43815" h="196214">
                  <a:moveTo>
                    <a:pt x="12274" y="17870"/>
                  </a:moveTo>
                  <a:lnTo>
                    <a:pt x="12426" y="20035"/>
                  </a:lnTo>
                  <a:lnTo>
                    <a:pt x="12854" y="23957"/>
                  </a:lnTo>
                  <a:lnTo>
                    <a:pt x="13189" y="30042"/>
                  </a:lnTo>
                  <a:lnTo>
                    <a:pt x="13284" y="31768"/>
                  </a:lnTo>
                  <a:lnTo>
                    <a:pt x="13425" y="38501"/>
                  </a:lnTo>
                  <a:lnTo>
                    <a:pt x="13468" y="43127"/>
                  </a:lnTo>
                  <a:lnTo>
                    <a:pt x="16793" y="39595"/>
                  </a:lnTo>
                  <a:lnTo>
                    <a:pt x="16587" y="39595"/>
                  </a:lnTo>
                  <a:lnTo>
                    <a:pt x="25486" y="39105"/>
                  </a:lnTo>
                  <a:lnTo>
                    <a:pt x="29050" y="39105"/>
                  </a:lnTo>
                  <a:lnTo>
                    <a:pt x="29014" y="38501"/>
                  </a:lnTo>
                  <a:lnTo>
                    <a:pt x="28300" y="30042"/>
                  </a:lnTo>
                  <a:lnTo>
                    <a:pt x="27268" y="22561"/>
                  </a:lnTo>
                  <a:lnTo>
                    <a:pt x="16117" y="22561"/>
                  </a:lnTo>
                  <a:lnTo>
                    <a:pt x="12623" y="20035"/>
                  </a:lnTo>
                  <a:lnTo>
                    <a:pt x="12274" y="17870"/>
                  </a:lnTo>
                  <a:close/>
                </a:path>
                <a:path w="43815" h="196214">
                  <a:moveTo>
                    <a:pt x="29050" y="39105"/>
                  </a:moveTo>
                  <a:lnTo>
                    <a:pt x="25486" y="39105"/>
                  </a:lnTo>
                  <a:lnTo>
                    <a:pt x="29265" y="42490"/>
                  </a:lnTo>
                  <a:lnTo>
                    <a:pt x="29078" y="39595"/>
                  </a:lnTo>
                  <a:lnTo>
                    <a:pt x="29050" y="39105"/>
                  </a:lnTo>
                  <a:close/>
                </a:path>
                <a:path w="43815" h="196214">
                  <a:moveTo>
                    <a:pt x="20557" y="7673"/>
                  </a:moveTo>
                  <a:lnTo>
                    <a:pt x="13630" y="9589"/>
                  </a:lnTo>
                  <a:lnTo>
                    <a:pt x="11521" y="12815"/>
                  </a:lnTo>
                  <a:lnTo>
                    <a:pt x="12010" y="16234"/>
                  </a:lnTo>
                  <a:lnTo>
                    <a:pt x="12623" y="20035"/>
                  </a:lnTo>
                  <a:lnTo>
                    <a:pt x="16117" y="22561"/>
                  </a:lnTo>
                  <a:lnTo>
                    <a:pt x="23544" y="21365"/>
                  </a:lnTo>
                  <a:lnTo>
                    <a:pt x="26070" y="17870"/>
                  </a:lnTo>
                  <a:lnTo>
                    <a:pt x="25472" y="14156"/>
                  </a:lnTo>
                  <a:lnTo>
                    <a:pt x="25348" y="13586"/>
                  </a:lnTo>
                  <a:lnTo>
                    <a:pt x="24321" y="9845"/>
                  </a:lnTo>
                  <a:lnTo>
                    <a:pt x="23939" y="9589"/>
                  </a:lnTo>
                  <a:lnTo>
                    <a:pt x="20557" y="7673"/>
                  </a:lnTo>
                  <a:close/>
                </a:path>
                <a:path w="43815" h="196214">
                  <a:moveTo>
                    <a:pt x="25731" y="15308"/>
                  </a:moveTo>
                  <a:lnTo>
                    <a:pt x="25807" y="16234"/>
                  </a:lnTo>
                  <a:lnTo>
                    <a:pt x="26070" y="17870"/>
                  </a:lnTo>
                  <a:lnTo>
                    <a:pt x="23544" y="21365"/>
                  </a:lnTo>
                  <a:lnTo>
                    <a:pt x="16117" y="22561"/>
                  </a:lnTo>
                  <a:lnTo>
                    <a:pt x="27268" y="22561"/>
                  </a:lnTo>
                  <a:lnTo>
                    <a:pt x="27142" y="21646"/>
                  </a:lnTo>
                  <a:lnTo>
                    <a:pt x="25731" y="15308"/>
                  </a:lnTo>
                  <a:close/>
                </a:path>
                <a:path w="43815" h="196214">
                  <a:moveTo>
                    <a:pt x="10137" y="0"/>
                  </a:moveTo>
                  <a:lnTo>
                    <a:pt x="5447" y="3105"/>
                  </a:lnTo>
                  <a:lnTo>
                    <a:pt x="22" y="8451"/>
                  </a:lnTo>
                  <a:lnTo>
                    <a:pt x="0" y="11504"/>
                  </a:lnTo>
                  <a:lnTo>
                    <a:pt x="3483" y="15038"/>
                  </a:lnTo>
                  <a:lnTo>
                    <a:pt x="6027" y="15308"/>
                  </a:lnTo>
                  <a:lnTo>
                    <a:pt x="8649" y="13586"/>
                  </a:lnTo>
                  <a:lnTo>
                    <a:pt x="9380" y="13157"/>
                  </a:lnTo>
                  <a:lnTo>
                    <a:pt x="10993" y="12479"/>
                  </a:lnTo>
                  <a:lnTo>
                    <a:pt x="11741" y="12479"/>
                  </a:lnTo>
                  <a:lnTo>
                    <a:pt x="13630" y="9589"/>
                  </a:lnTo>
                  <a:lnTo>
                    <a:pt x="20557" y="7673"/>
                  </a:lnTo>
                  <a:lnTo>
                    <a:pt x="23675" y="7673"/>
                  </a:lnTo>
                  <a:lnTo>
                    <a:pt x="21069" y="2584"/>
                  </a:lnTo>
                  <a:lnTo>
                    <a:pt x="10137" y="0"/>
                  </a:lnTo>
                  <a:close/>
                </a:path>
                <a:path w="43815" h="196214">
                  <a:moveTo>
                    <a:pt x="11741" y="12479"/>
                  </a:moveTo>
                  <a:lnTo>
                    <a:pt x="10993" y="12479"/>
                  </a:lnTo>
                  <a:lnTo>
                    <a:pt x="11302" y="13157"/>
                  </a:lnTo>
                  <a:lnTo>
                    <a:pt x="11423" y="13423"/>
                  </a:lnTo>
                  <a:lnTo>
                    <a:pt x="11497" y="13586"/>
                  </a:lnTo>
                  <a:lnTo>
                    <a:pt x="11569" y="13742"/>
                  </a:lnTo>
                  <a:lnTo>
                    <a:pt x="11521" y="12815"/>
                  </a:lnTo>
                  <a:lnTo>
                    <a:pt x="11741" y="12479"/>
                  </a:lnTo>
                  <a:close/>
                </a:path>
                <a:path w="43815" h="196214">
                  <a:moveTo>
                    <a:pt x="23675" y="7673"/>
                  </a:moveTo>
                  <a:lnTo>
                    <a:pt x="20557" y="7673"/>
                  </a:lnTo>
                  <a:lnTo>
                    <a:pt x="24389" y="9845"/>
                  </a:lnTo>
                  <a:lnTo>
                    <a:pt x="24030" y="8451"/>
                  </a:lnTo>
                  <a:lnTo>
                    <a:pt x="23986" y="8280"/>
                  </a:lnTo>
                  <a:lnTo>
                    <a:pt x="23675" y="76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3036" y="4031863"/>
              <a:ext cx="375255" cy="2322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37211" y="2089364"/>
            <a:ext cx="7054215" cy="2673985"/>
            <a:chOff x="1837211" y="2089364"/>
            <a:chExt cx="7054215" cy="26739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2782" y="2089364"/>
              <a:ext cx="6988168" cy="26418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37207" y="3359608"/>
              <a:ext cx="4413250" cy="1403350"/>
            </a:xfrm>
            <a:custGeom>
              <a:avLst/>
              <a:gdLst/>
              <a:ahLst/>
              <a:cxnLst/>
              <a:rect l="l" t="t" r="r" b="b"/>
              <a:pathLst>
                <a:path w="4413250" h="1403350">
                  <a:moveTo>
                    <a:pt x="2129713" y="0"/>
                  </a:moveTo>
                  <a:lnTo>
                    <a:pt x="0" y="0"/>
                  </a:lnTo>
                  <a:lnTo>
                    <a:pt x="0" y="561060"/>
                  </a:lnTo>
                  <a:lnTo>
                    <a:pt x="2129713" y="561060"/>
                  </a:lnTo>
                  <a:lnTo>
                    <a:pt x="2129713" y="0"/>
                  </a:lnTo>
                  <a:close/>
                </a:path>
                <a:path w="4413250" h="1403350">
                  <a:moveTo>
                    <a:pt x="4412716" y="598271"/>
                  </a:moveTo>
                  <a:lnTo>
                    <a:pt x="0" y="598271"/>
                  </a:lnTo>
                  <a:lnTo>
                    <a:pt x="0" y="1403286"/>
                  </a:lnTo>
                  <a:lnTo>
                    <a:pt x="4412716" y="1403286"/>
                  </a:lnTo>
                  <a:lnTo>
                    <a:pt x="4412716" y="5982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96901" y="3373899"/>
            <a:ext cx="4253230" cy="13519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26695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Calibri"/>
                <a:cs typeface="Calibri"/>
              </a:rPr>
              <a:t>Input: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227x227x3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image </a:t>
            </a:r>
            <a:r>
              <a:rPr sz="1600" dirty="0">
                <a:latin typeface="Calibri"/>
                <a:cs typeface="Calibri"/>
              </a:rPr>
              <a:t>After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CONV1: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55x55x96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25"/>
              </a:spcBef>
            </a:pPr>
            <a:r>
              <a:rPr sz="1600" b="1" spc="-10" dirty="0">
                <a:latin typeface="Calibri"/>
                <a:cs typeface="Calibri"/>
              </a:rPr>
              <a:t>Second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layer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(POOL1):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3x3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2 </a:t>
            </a: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27x27x96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95"/>
              </a:lnSpc>
            </a:pPr>
            <a:r>
              <a:rPr sz="1600" spc="-10" dirty="0">
                <a:latin typeface="Calibri"/>
                <a:cs typeface="Calibri"/>
              </a:rPr>
              <a:t>Parameters: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0!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0590" y="4813772"/>
            <a:ext cx="887403" cy="3444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71451" y="4857906"/>
            <a:ext cx="780539" cy="2904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70834" y="4823972"/>
            <a:ext cx="1258633" cy="75897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445017" y="4794364"/>
            <a:ext cx="5756910" cy="824865"/>
            <a:chOff x="3445017" y="4794364"/>
            <a:chExt cx="5756910" cy="824865"/>
          </a:xfrm>
        </p:grpSpPr>
        <p:sp>
          <p:nvSpPr>
            <p:cNvPr id="11" name="object 11"/>
            <p:cNvSpPr/>
            <p:nvPr/>
          </p:nvSpPr>
          <p:spPr>
            <a:xfrm>
              <a:off x="9180090" y="5156596"/>
              <a:ext cx="22225" cy="14604"/>
            </a:xfrm>
            <a:custGeom>
              <a:avLst/>
              <a:gdLst/>
              <a:ahLst/>
              <a:cxnLst/>
              <a:rect l="l" t="t" r="r" b="b"/>
              <a:pathLst>
                <a:path w="22225" h="14604">
                  <a:moveTo>
                    <a:pt x="18091" y="0"/>
                  </a:moveTo>
                  <a:lnTo>
                    <a:pt x="990" y="6996"/>
                  </a:lnTo>
                  <a:lnTo>
                    <a:pt x="0" y="9359"/>
                  </a:lnTo>
                  <a:lnTo>
                    <a:pt x="1752" y="13642"/>
                  </a:lnTo>
                  <a:lnTo>
                    <a:pt x="2038" y="13642"/>
                  </a:lnTo>
                  <a:lnTo>
                    <a:pt x="4055" y="14488"/>
                  </a:lnTo>
                  <a:lnTo>
                    <a:pt x="6123" y="13642"/>
                  </a:lnTo>
                  <a:lnTo>
                    <a:pt x="21013" y="6159"/>
                  </a:lnTo>
                  <a:lnTo>
                    <a:pt x="21705" y="4065"/>
                  </a:lnTo>
                  <a:lnTo>
                    <a:pt x="20021" y="721"/>
                  </a:lnTo>
                  <a:lnTo>
                    <a:pt x="180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23972" y="4794364"/>
              <a:ext cx="3823418" cy="82427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45017" y="5324500"/>
              <a:ext cx="618924" cy="16808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1187" y="5274410"/>
              <a:ext cx="133732" cy="2568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00293" y="5254457"/>
              <a:ext cx="972063" cy="28451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21409" y="5528574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5" h="6985">
                  <a:moveTo>
                    <a:pt x="14961" y="0"/>
                  </a:moveTo>
                  <a:lnTo>
                    <a:pt x="1560" y="0"/>
                  </a:lnTo>
                  <a:lnTo>
                    <a:pt x="0" y="1559"/>
                  </a:lnTo>
                  <a:lnTo>
                    <a:pt x="0" y="5407"/>
                  </a:lnTo>
                  <a:lnTo>
                    <a:pt x="1560" y="6968"/>
                  </a:lnTo>
                  <a:lnTo>
                    <a:pt x="3484" y="6968"/>
                  </a:lnTo>
                  <a:lnTo>
                    <a:pt x="14961" y="6968"/>
                  </a:lnTo>
                  <a:lnTo>
                    <a:pt x="16522" y="5407"/>
                  </a:lnTo>
                  <a:lnTo>
                    <a:pt x="16522" y="1559"/>
                  </a:lnTo>
                  <a:lnTo>
                    <a:pt x="14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768" y="2080826"/>
            <a:ext cx="7058025" cy="341234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52789" y="2099603"/>
            <a:ext cx="7649845" cy="3769360"/>
            <a:chOff x="1852789" y="2099603"/>
            <a:chExt cx="7649845" cy="3769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2789" y="2099603"/>
              <a:ext cx="7053126" cy="34099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38074" y="3290312"/>
              <a:ext cx="3664585" cy="2578735"/>
            </a:xfrm>
            <a:custGeom>
              <a:avLst/>
              <a:gdLst/>
              <a:ahLst/>
              <a:cxnLst/>
              <a:rect l="l" t="t" r="r" b="b"/>
              <a:pathLst>
                <a:path w="3664584" h="2578735">
                  <a:moveTo>
                    <a:pt x="3663984" y="0"/>
                  </a:moveTo>
                  <a:lnTo>
                    <a:pt x="0" y="0"/>
                  </a:lnTo>
                  <a:lnTo>
                    <a:pt x="0" y="2578206"/>
                  </a:lnTo>
                  <a:lnTo>
                    <a:pt x="3663984" y="2578206"/>
                  </a:lnTo>
                  <a:lnTo>
                    <a:pt x="3663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97764" y="3304318"/>
            <a:ext cx="3510915" cy="2503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Details/Retrospectives:</a:t>
            </a:r>
            <a:endParaRPr sz="1500">
              <a:latin typeface="Calibri"/>
              <a:cs typeface="Calibri"/>
            </a:endParaRPr>
          </a:p>
          <a:p>
            <a:pPr marL="283845" indent="-271145">
              <a:lnSpc>
                <a:spcPts val="1750"/>
              </a:lnSpc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First</a:t>
            </a:r>
            <a:r>
              <a:rPr sz="15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use</a:t>
            </a:r>
            <a:r>
              <a:rPr sz="15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of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B22EB"/>
                </a:solidFill>
                <a:latin typeface="Calibri"/>
                <a:cs typeface="Calibri"/>
              </a:rPr>
              <a:t>ReLU</a:t>
            </a:r>
            <a:endParaRPr sz="1500">
              <a:latin typeface="Calibri"/>
              <a:cs typeface="Calibri"/>
            </a:endParaRPr>
          </a:p>
          <a:p>
            <a:pPr marL="283845" indent="-271145">
              <a:lnSpc>
                <a:spcPts val="1750"/>
              </a:lnSpc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Used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Norm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layers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(not</a:t>
            </a:r>
            <a:r>
              <a:rPr sz="15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B22EB"/>
                </a:solidFill>
                <a:latin typeface="Calibri"/>
                <a:cs typeface="Calibri"/>
              </a:rPr>
              <a:t>common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anymore)</a:t>
            </a:r>
            <a:endParaRPr sz="15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Heavy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data</a:t>
            </a:r>
            <a:r>
              <a:rPr sz="15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augmentation</a:t>
            </a:r>
            <a:endParaRPr sz="15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Dropout</a:t>
            </a:r>
            <a:r>
              <a:rPr sz="15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0B22EB"/>
                </a:solidFill>
                <a:latin typeface="Calibri"/>
                <a:cs typeface="Calibri"/>
              </a:rPr>
              <a:t>0.5</a:t>
            </a:r>
            <a:endParaRPr sz="1500">
              <a:latin typeface="Calibri"/>
              <a:cs typeface="Calibri"/>
            </a:endParaRPr>
          </a:p>
          <a:p>
            <a:pPr marL="283845" indent="-271145">
              <a:lnSpc>
                <a:spcPts val="1750"/>
              </a:lnSpc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Batch</a:t>
            </a:r>
            <a:r>
              <a:rPr sz="1500" spc="-8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size</a:t>
            </a:r>
            <a:r>
              <a:rPr sz="1500" spc="-7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0B22EB"/>
                </a:solidFill>
                <a:latin typeface="Calibri"/>
                <a:cs typeface="Calibri"/>
              </a:rPr>
              <a:t>128</a:t>
            </a:r>
            <a:endParaRPr sz="1500">
              <a:latin typeface="Calibri"/>
              <a:cs typeface="Calibri"/>
            </a:endParaRPr>
          </a:p>
          <a:p>
            <a:pPr marL="283845" indent="-271145">
              <a:lnSpc>
                <a:spcPts val="1750"/>
              </a:lnSpc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SGD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B22EB"/>
                </a:solidFill>
                <a:latin typeface="Calibri"/>
                <a:cs typeface="Calibri"/>
              </a:rPr>
              <a:t>Momentum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0B22EB"/>
                </a:solidFill>
                <a:latin typeface="Calibri"/>
                <a:cs typeface="Calibri"/>
              </a:rPr>
              <a:t>0.9</a:t>
            </a:r>
            <a:endParaRPr sz="1500">
              <a:latin typeface="Calibri"/>
              <a:cs typeface="Calibri"/>
            </a:endParaRPr>
          </a:p>
          <a:p>
            <a:pPr marL="12700" marR="650875" indent="271145">
              <a:lnSpc>
                <a:spcPct val="100000"/>
              </a:lnSpc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Learning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rate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0B22EB"/>
                </a:solidFill>
                <a:latin typeface="Calibri"/>
                <a:cs typeface="Calibri"/>
              </a:rPr>
              <a:t>1e-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2,</a:t>
            </a:r>
            <a:r>
              <a:rPr sz="15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reduced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by</a:t>
            </a:r>
            <a:r>
              <a:rPr sz="15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0B22EB"/>
                </a:solidFill>
                <a:latin typeface="Calibri"/>
                <a:cs typeface="Calibri"/>
              </a:rPr>
              <a:t>10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Manually</a:t>
            </a:r>
            <a:r>
              <a:rPr sz="15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when</a:t>
            </a:r>
            <a:r>
              <a:rPr sz="15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val</a:t>
            </a:r>
            <a:r>
              <a:rPr sz="15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accuracy</a:t>
            </a:r>
            <a:r>
              <a:rPr sz="15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plateaus</a:t>
            </a:r>
            <a:endParaRPr sz="1500">
              <a:latin typeface="Calibri"/>
              <a:cs typeface="Calibri"/>
            </a:endParaRPr>
          </a:p>
          <a:p>
            <a:pPr marL="283845" indent="-271145">
              <a:lnSpc>
                <a:spcPts val="1705"/>
              </a:lnSpc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L2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weight</a:t>
            </a:r>
            <a:r>
              <a:rPr sz="15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decay</a:t>
            </a:r>
            <a:r>
              <a:rPr sz="15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0B22EB"/>
                </a:solidFill>
                <a:latin typeface="Calibri"/>
                <a:cs typeface="Calibri"/>
              </a:rPr>
              <a:t>5e-</a:t>
            </a:r>
            <a:r>
              <a:rPr sz="1500" spc="-50" dirty="0">
                <a:solidFill>
                  <a:srgbClr val="0B22EB"/>
                </a:solidFill>
                <a:latin typeface="Calibri"/>
                <a:cs typeface="Calibri"/>
              </a:rPr>
              <a:t>4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83845" algn="l"/>
              </a:tabLst>
            </a:pPr>
            <a:r>
              <a:rPr sz="1500" spc="-50" dirty="0">
                <a:latin typeface="Calibri"/>
                <a:cs typeface="Calibri"/>
              </a:rPr>
              <a:t>-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7</a:t>
            </a:r>
            <a:r>
              <a:rPr sz="1500" spc="-3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CNN</a:t>
            </a:r>
            <a:r>
              <a:rPr sz="15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B22EB"/>
                </a:solidFill>
                <a:latin typeface="Calibri"/>
                <a:cs typeface="Calibri"/>
              </a:rPr>
              <a:t>ensemble:</a:t>
            </a:r>
            <a:r>
              <a:rPr sz="1500" spc="-2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18.2%</a:t>
            </a:r>
            <a:r>
              <a:rPr sz="1500" spc="-3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B22EB"/>
                </a:solidFill>
                <a:latin typeface="Calibri"/>
                <a:cs typeface="Calibri"/>
              </a:rPr>
              <a:t>-</a:t>
            </a:r>
            <a:r>
              <a:rPr sz="1500" dirty="0">
                <a:solidFill>
                  <a:srgbClr val="0B22EB"/>
                </a:solidFill>
                <a:latin typeface="Calibri"/>
                <a:cs typeface="Calibri"/>
              </a:rPr>
              <a:t>&gt;</a:t>
            </a:r>
            <a:r>
              <a:rPr sz="1500" spc="-3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B22EB"/>
                </a:solidFill>
                <a:latin typeface="Calibri"/>
                <a:cs typeface="Calibri"/>
              </a:rPr>
              <a:t>15.4%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6957" y="2104984"/>
            <a:ext cx="7079242" cy="34487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38370" y="4473702"/>
            <a:ext cx="5254625" cy="7842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8575" rIns="0" bIns="0" rtlCol="0">
            <a:spAutoFit/>
          </a:bodyPr>
          <a:lstStyle/>
          <a:p>
            <a:pPr marL="72390">
              <a:lnSpc>
                <a:spcPts val="1910"/>
              </a:lnSpc>
              <a:spcBef>
                <a:spcPts val="225"/>
              </a:spcBef>
            </a:pPr>
            <a:r>
              <a:rPr sz="1600" spc="-10" dirty="0">
                <a:latin typeface="Calibri"/>
                <a:cs typeface="Calibri"/>
              </a:rPr>
              <a:t>AlexNet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but:</a:t>
            </a:r>
            <a:endParaRPr sz="1600">
              <a:latin typeface="Calibri"/>
              <a:cs typeface="Calibri"/>
            </a:endParaRPr>
          </a:p>
          <a:p>
            <a:pPr marL="72390" marR="114935">
              <a:lnSpc>
                <a:spcPts val="1900"/>
              </a:lnSpc>
              <a:spcBef>
                <a:spcPts val="70"/>
              </a:spcBef>
            </a:pPr>
            <a:r>
              <a:rPr sz="1600" spc="-10" dirty="0">
                <a:latin typeface="Calibri"/>
                <a:cs typeface="Calibri"/>
              </a:rPr>
              <a:t>CONV1: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change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(11x11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4)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(7x7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2) </a:t>
            </a:r>
            <a:r>
              <a:rPr sz="1600" spc="-10" dirty="0">
                <a:latin typeface="Calibri"/>
                <a:cs typeface="Calibri"/>
              </a:rPr>
              <a:t>CONV3,4,5: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instead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384,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384,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256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filters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512,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1024,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512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6971" y="5257524"/>
            <a:ext cx="3260725" cy="2965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698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55"/>
              </a:spcBef>
            </a:pP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ImageNet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top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5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error: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15.4%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-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&gt;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B22EB"/>
                </a:solidFill>
                <a:latin typeface="Calibri"/>
                <a:cs typeface="Calibri"/>
              </a:rPr>
              <a:t>14.8%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6905" y="231443"/>
            <a:ext cx="205168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imes New Roman"/>
                <a:cs typeface="Times New Roman"/>
              </a:rPr>
              <a:t>1.</a:t>
            </a:r>
            <a:r>
              <a:rPr sz="950" spc="2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Microsoft JhengHei UI"/>
                <a:cs typeface="Microsoft JhengHei UI"/>
              </a:rPr>
              <a:t>最⼤的改变：</a:t>
            </a:r>
            <a:r>
              <a:rPr sz="950" dirty="0">
                <a:latin typeface="Times New Roman"/>
                <a:cs typeface="Times New Roman"/>
              </a:rPr>
              <a:t>CONV1</a:t>
            </a:r>
            <a:r>
              <a:rPr sz="950" spc="105" dirty="0">
                <a:latin typeface="Times New Roman"/>
                <a:cs typeface="Times New Roman"/>
              </a:rPr>
              <a:t> (</a:t>
            </a:r>
            <a:r>
              <a:rPr sz="950" dirty="0">
                <a:latin typeface="Microsoft JhengHei UI"/>
                <a:cs typeface="Microsoft JhengHei UI"/>
              </a:rPr>
              <a:t>第⼀层卷积</a:t>
            </a:r>
            <a:r>
              <a:rPr sz="950" spc="-50" dirty="0">
                <a:latin typeface="Times New Roman"/>
                <a:cs typeface="Times New Roman"/>
              </a:rPr>
              <a:t>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6905" y="516500"/>
            <a:ext cx="7537450" cy="1122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imes New Roman"/>
                <a:cs typeface="Times New Roman"/>
              </a:rPr>
              <a:t>AlexNet</a:t>
            </a:r>
            <a:r>
              <a:rPr sz="950" spc="160" dirty="0">
                <a:latin typeface="Times New Roman"/>
                <a:cs typeface="Times New Roman"/>
              </a:rPr>
              <a:t> </a:t>
            </a:r>
            <a:r>
              <a:rPr sz="950" spc="40" dirty="0">
                <a:latin typeface="Microsoft JhengHei UI"/>
                <a:cs typeface="Microsoft JhengHei UI"/>
              </a:rPr>
              <a:t>的做法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dirty="0">
                <a:latin typeface="Microsoft JhengHei UI"/>
                <a:cs typeface="Microsoft JhengHei UI"/>
              </a:rPr>
              <a:t>旧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dirty="0">
                <a:latin typeface="Microsoft JhengHei UI"/>
                <a:cs typeface="Microsoft JhengHei UI"/>
              </a:rPr>
              <a:t>：</a:t>
            </a:r>
            <a:r>
              <a:rPr sz="950" dirty="0">
                <a:latin typeface="Times New Roman"/>
                <a:cs typeface="Times New Roman"/>
              </a:rPr>
              <a:t>11x11</a:t>
            </a:r>
            <a:r>
              <a:rPr sz="950" spc="1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Microsoft JhengHei UI"/>
                <a:cs typeface="Microsoft JhengHei UI"/>
              </a:rPr>
              <a:t>的超⼤滤波器，</a:t>
            </a:r>
            <a:r>
              <a:rPr sz="950" dirty="0">
                <a:latin typeface="Times New Roman"/>
                <a:cs typeface="Times New Roman"/>
              </a:rPr>
              <a:t>stride</a:t>
            </a:r>
            <a:r>
              <a:rPr sz="950" spc="1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4</a:t>
            </a:r>
            <a:r>
              <a:rPr sz="950" dirty="0">
                <a:latin typeface="Microsoft JhengHei UI"/>
                <a:cs typeface="Microsoft JhengHei UI"/>
              </a:rPr>
              <a:t>（步⻓</a:t>
            </a:r>
            <a:r>
              <a:rPr sz="950" dirty="0">
                <a:latin typeface="Times New Roman"/>
                <a:cs typeface="Times New Roman"/>
              </a:rPr>
              <a:t>4</a:t>
            </a:r>
            <a:r>
              <a:rPr sz="950" dirty="0">
                <a:latin typeface="Microsoft JhengHei UI"/>
                <a:cs typeface="Microsoft JhengHei UI"/>
              </a:rPr>
              <a:t>）</a:t>
            </a:r>
            <a:r>
              <a:rPr sz="950" spc="-50" dirty="0">
                <a:latin typeface="Microsoft JhengHei UI"/>
                <a:cs typeface="Microsoft JhengHei UI"/>
              </a:rPr>
              <a:t>。</a:t>
            </a:r>
            <a:endParaRPr sz="9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950" dirty="0">
                <a:latin typeface="Microsoft JhengHei UI"/>
                <a:cs typeface="Microsoft JhengHei UI"/>
              </a:rPr>
              <a:t>缺点：这太</a:t>
            </a:r>
            <a:r>
              <a:rPr sz="950" dirty="0">
                <a:latin typeface="Times New Roman"/>
                <a:cs typeface="Times New Roman"/>
              </a:rPr>
              <a:t>“</a:t>
            </a:r>
            <a:r>
              <a:rPr sz="950" dirty="0">
                <a:latin typeface="Microsoft JhengHei UI"/>
                <a:cs typeface="Microsoft JhengHei UI"/>
              </a:rPr>
              <a:t>激进</a:t>
            </a:r>
            <a:r>
              <a:rPr sz="950" dirty="0">
                <a:latin typeface="Times New Roman"/>
                <a:cs typeface="Times New Roman"/>
              </a:rPr>
              <a:t>”</a:t>
            </a:r>
            <a:r>
              <a:rPr sz="950" dirty="0">
                <a:latin typeface="Microsoft JhengHei UI"/>
                <a:cs typeface="Microsoft JhengHei UI"/>
              </a:rPr>
              <a:t>了！</a:t>
            </a:r>
            <a:r>
              <a:rPr sz="950" dirty="0">
                <a:latin typeface="Times New Roman"/>
                <a:cs typeface="Times New Roman"/>
              </a:rPr>
              <a:t>11x11</a:t>
            </a:r>
            <a:r>
              <a:rPr sz="950" spc="4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Microsoft JhengHei UI"/>
                <a:cs typeface="Microsoft JhengHei UI"/>
              </a:rPr>
              <a:t>的⼤</a:t>
            </a:r>
            <a:r>
              <a:rPr sz="950" dirty="0">
                <a:latin typeface="Times New Roman"/>
                <a:cs typeface="Times New Roman"/>
              </a:rPr>
              <a:t>“</a:t>
            </a:r>
            <a:r>
              <a:rPr sz="950" dirty="0">
                <a:latin typeface="Microsoft JhengHei UI"/>
                <a:cs typeface="Microsoft JhengHei UI"/>
              </a:rPr>
              <a:t>⽹</a:t>
            </a:r>
            <a:r>
              <a:rPr sz="950" dirty="0">
                <a:latin typeface="Times New Roman"/>
                <a:cs typeface="Times New Roman"/>
              </a:rPr>
              <a:t>”</a:t>
            </a:r>
            <a:r>
              <a:rPr sz="950" spc="215" dirty="0">
                <a:latin typeface="Microsoft JhengHei UI"/>
                <a:cs typeface="Microsoft JhengHei UI"/>
              </a:rPr>
              <a:t>和 </a:t>
            </a:r>
            <a:r>
              <a:rPr sz="950" dirty="0">
                <a:latin typeface="Times New Roman"/>
                <a:cs typeface="Times New Roman"/>
              </a:rPr>
              <a:t>4</a:t>
            </a:r>
            <a:r>
              <a:rPr sz="950" spc="434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Microsoft JhengHei UI"/>
                <a:cs typeface="Microsoft JhengHei UI"/>
              </a:rPr>
              <a:t>格⼀</a:t>
            </a:r>
            <a:r>
              <a:rPr sz="950" dirty="0">
                <a:latin typeface="Times New Roman"/>
                <a:cs typeface="Times New Roman"/>
              </a:rPr>
              <a:t>“</a:t>
            </a:r>
            <a:r>
              <a:rPr sz="950" dirty="0">
                <a:latin typeface="Microsoft JhengHei UI"/>
                <a:cs typeface="Microsoft JhengHei UI"/>
              </a:rPr>
              <a:t>跳</a:t>
            </a:r>
            <a:r>
              <a:rPr sz="950" dirty="0">
                <a:latin typeface="Times New Roman"/>
                <a:cs typeface="Times New Roman"/>
              </a:rPr>
              <a:t>”</a:t>
            </a:r>
            <a:r>
              <a:rPr sz="950" spc="-5" dirty="0">
                <a:latin typeface="Microsoft JhengHei UI"/>
                <a:cs typeface="Microsoft JhengHei UI"/>
              </a:rPr>
              <a:t>的步⻓，导致它在第⼀层就错过了很多图⽚中的细节和⼩特征。</a:t>
            </a:r>
            <a:endParaRPr sz="9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950" dirty="0">
                <a:latin typeface="Times New Roman"/>
                <a:cs typeface="Times New Roman"/>
              </a:rPr>
              <a:t>ZFNet</a:t>
            </a:r>
            <a:r>
              <a:rPr sz="950" spc="155" dirty="0">
                <a:latin typeface="Times New Roman"/>
                <a:cs typeface="Times New Roman"/>
              </a:rPr>
              <a:t> </a:t>
            </a:r>
            <a:r>
              <a:rPr sz="950" spc="40" dirty="0">
                <a:latin typeface="Microsoft JhengHei UI"/>
                <a:cs typeface="Microsoft JhengHei UI"/>
              </a:rPr>
              <a:t>的做法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dirty="0">
                <a:latin typeface="Microsoft JhengHei UI"/>
                <a:cs typeface="Microsoft JhengHei UI"/>
              </a:rPr>
              <a:t>新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dirty="0">
                <a:latin typeface="Microsoft JhengHei UI"/>
                <a:cs typeface="Microsoft JhengHei UI"/>
              </a:rPr>
              <a:t>：</a:t>
            </a:r>
            <a:r>
              <a:rPr sz="950" dirty="0">
                <a:latin typeface="Times New Roman"/>
                <a:cs typeface="Times New Roman"/>
              </a:rPr>
              <a:t>7x7</a:t>
            </a:r>
            <a:r>
              <a:rPr sz="950" spc="1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Microsoft JhengHei UI"/>
                <a:cs typeface="Microsoft JhengHei UI"/>
              </a:rPr>
              <a:t>的滤波器，</a:t>
            </a:r>
            <a:r>
              <a:rPr sz="950" dirty="0">
                <a:latin typeface="Times New Roman"/>
                <a:cs typeface="Times New Roman"/>
              </a:rPr>
              <a:t>stride</a:t>
            </a:r>
            <a:r>
              <a:rPr sz="950" spc="1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</a:t>
            </a:r>
            <a:r>
              <a:rPr sz="950" dirty="0">
                <a:latin typeface="Microsoft JhengHei UI"/>
                <a:cs typeface="Microsoft JhengHei UI"/>
              </a:rPr>
              <a:t>（步⻓</a:t>
            </a:r>
            <a:r>
              <a:rPr sz="950" dirty="0">
                <a:latin typeface="Times New Roman"/>
                <a:cs typeface="Times New Roman"/>
              </a:rPr>
              <a:t>2</a:t>
            </a:r>
            <a:r>
              <a:rPr sz="950" dirty="0">
                <a:latin typeface="Microsoft JhengHei UI"/>
                <a:cs typeface="Microsoft JhengHei UI"/>
              </a:rPr>
              <a:t>）</a:t>
            </a:r>
            <a:r>
              <a:rPr sz="950" spc="-50" dirty="0">
                <a:latin typeface="Microsoft JhengHei UI"/>
                <a:cs typeface="Microsoft JhengHei UI"/>
              </a:rPr>
              <a:t>。</a:t>
            </a:r>
            <a:endParaRPr sz="9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950" dirty="0">
                <a:latin typeface="Microsoft JhengHei UI"/>
                <a:cs typeface="Microsoft JhengHei UI"/>
              </a:rPr>
              <a:t>优点：如图表左上⻆所示，更⼩的滤波器（</a:t>
            </a:r>
            <a:r>
              <a:rPr sz="950" dirty="0">
                <a:latin typeface="Times New Roman"/>
                <a:cs typeface="Times New Roman"/>
              </a:rPr>
              <a:t>filter</a:t>
            </a:r>
            <a:r>
              <a:rPr sz="950" spc="15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size</a:t>
            </a:r>
            <a:r>
              <a:rPr sz="950" spc="15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7</a:t>
            </a:r>
            <a:r>
              <a:rPr sz="950" dirty="0">
                <a:latin typeface="Microsoft JhengHei UI"/>
                <a:cs typeface="Microsoft JhengHei UI"/>
              </a:rPr>
              <a:t>）和更⼩的步⻓（</a:t>
            </a:r>
            <a:r>
              <a:rPr sz="950" dirty="0">
                <a:latin typeface="Times New Roman"/>
                <a:cs typeface="Times New Roman"/>
              </a:rPr>
              <a:t>stride</a:t>
            </a:r>
            <a:r>
              <a:rPr sz="950" spc="15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2</a:t>
            </a:r>
            <a:r>
              <a:rPr sz="950" dirty="0">
                <a:latin typeface="Microsoft JhengHei UI"/>
                <a:cs typeface="Microsoft JhengHei UI"/>
              </a:rPr>
              <a:t>），意味着⽹络在第⼀层可以更</a:t>
            </a:r>
            <a:r>
              <a:rPr sz="950" dirty="0">
                <a:latin typeface="Times New Roman"/>
                <a:cs typeface="Times New Roman"/>
              </a:rPr>
              <a:t>“</a:t>
            </a:r>
            <a:r>
              <a:rPr sz="950" dirty="0">
                <a:latin typeface="Microsoft JhengHei UI"/>
                <a:cs typeface="Microsoft JhengHei UI"/>
              </a:rPr>
              <a:t>仔细</a:t>
            </a:r>
            <a:r>
              <a:rPr sz="950" dirty="0">
                <a:latin typeface="Times New Roman"/>
                <a:cs typeface="Times New Roman"/>
              </a:rPr>
              <a:t>”</a:t>
            </a:r>
            <a:r>
              <a:rPr sz="950" dirty="0">
                <a:latin typeface="Microsoft JhengHei UI"/>
                <a:cs typeface="Microsoft JhengHei UI"/>
              </a:rPr>
              <a:t>、更</a:t>
            </a:r>
            <a:r>
              <a:rPr sz="950" dirty="0">
                <a:latin typeface="Times New Roman"/>
                <a:cs typeface="Times New Roman"/>
              </a:rPr>
              <a:t>“</a:t>
            </a:r>
            <a:r>
              <a:rPr sz="950" dirty="0">
                <a:latin typeface="Microsoft JhengHei UI"/>
                <a:cs typeface="Microsoft JhengHei UI"/>
              </a:rPr>
              <a:t>温柔</a:t>
            </a:r>
            <a:r>
              <a:rPr sz="950" dirty="0">
                <a:latin typeface="Times New Roman"/>
                <a:cs typeface="Times New Roman"/>
              </a:rPr>
              <a:t>”</a:t>
            </a:r>
            <a:r>
              <a:rPr sz="950" spc="-15" dirty="0">
                <a:latin typeface="Microsoft JhengHei UI"/>
                <a:cs typeface="Microsoft JhengHei UI"/>
              </a:rPr>
              <a:t>地扫描图</a:t>
            </a:r>
            <a:endParaRPr sz="950">
              <a:latin typeface="Microsoft JhengHei UI"/>
              <a:cs typeface="Microsoft JhengHei UI"/>
            </a:endParaRPr>
          </a:p>
          <a:p>
            <a:pPr marL="241300">
              <a:lnSpc>
                <a:spcPct val="100000"/>
              </a:lnSpc>
              <a:spcBef>
                <a:spcPts val="229"/>
              </a:spcBef>
            </a:pPr>
            <a:r>
              <a:rPr sz="950" spc="30" dirty="0">
                <a:latin typeface="Microsoft JhengHei UI"/>
                <a:cs typeface="Microsoft JhengHei UI"/>
              </a:rPr>
              <a:t>⽚。它能捕捉到那些被 </a:t>
            </a:r>
            <a:r>
              <a:rPr sz="950" dirty="0">
                <a:latin typeface="Times New Roman"/>
                <a:cs typeface="Times New Roman"/>
              </a:rPr>
              <a:t>AlexNet</a:t>
            </a:r>
            <a:r>
              <a:rPr sz="950" spc="155" dirty="0">
                <a:latin typeface="Times New Roman"/>
                <a:cs typeface="Times New Roman"/>
              </a:rPr>
              <a:t>  </a:t>
            </a:r>
            <a:r>
              <a:rPr sz="950" spc="-5" dirty="0">
                <a:latin typeface="Microsoft JhengHei UI"/>
                <a:cs typeface="Microsoft JhengHei UI"/>
              </a:rPr>
              <a:t>忽略的细节，为后续的特征提取打下更好的基础。</a:t>
            </a:r>
            <a:endParaRPr sz="95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6905" y="1721846"/>
            <a:ext cx="75914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Microsoft JhengHei UI"/>
                <a:cs typeface="Microsoft JhengHei UI"/>
              </a:rPr>
              <a:t>结果：你可以看到，经过第⼀层卷积后，</a:t>
            </a:r>
            <a:r>
              <a:rPr sz="950" dirty="0">
                <a:latin typeface="Times New Roman"/>
                <a:cs typeface="Times New Roman"/>
              </a:rPr>
              <a:t>AlexNet</a:t>
            </a:r>
            <a:r>
              <a:rPr sz="950" spc="1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Microsoft JhengHei UI"/>
                <a:cs typeface="Microsoft JhengHei UI"/>
              </a:rPr>
              <a:t>的特征图很⼩（</a:t>
            </a:r>
            <a:r>
              <a:rPr sz="950" dirty="0">
                <a:latin typeface="Times New Roman"/>
                <a:cs typeface="Times New Roman"/>
              </a:rPr>
              <a:t>55x55</a:t>
            </a:r>
            <a:r>
              <a:rPr sz="950" dirty="0">
                <a:latin typeface="Microsoft JhengHei UI"/>
                <a:cs typeface="Microsoft JhengHei UI"/>
              </a:rPr>
              <a:t>），</a:t>
            </a:r>
            <a:r>
              <a:rPr sz="950" spc="100" dirty="0">
                <a:latin typeface="Microsoft JhengHei UI"/>
                <a:cs typeface="Microsoft JhengHei UI"/>
              </a:rPr>
              <a:t>⽽  </a:t>
            </a:r>
            <a:r>
              <a:rPr sz="950" dirty="0">
                <a:latin typeface="Times New Roman"/>
                <a:cs typeface="Times New Roman"/>
              </a:rPr>
              <a:t>ZFNet</a:t>
            </a:r>
            <a:r>
              <a:rPr sz="950" spc="15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Microsoft JhengHei UI"/>
                <a:cs typeface="Microsoft JhengHei UI"/>
              </a:rPr>
              <a:t>的特征图更⼤（</a:t>
            </a:r>
            <a:r>
              <a:rPr sz="950" dirty="0">
                <a:latin typeface="Times New Roman"/>
                <a:cs typeface="Times New Roman"/>
              </a:rPr>
              <a:t>110x110</a:t>
            </a:r>
            <a:r>
              <a:rPr sz="950" dirty="0">
                <a:latin typeface="Microsoft JhengHei UI"/>
                <a:cs typeface="Microsoft JhengHei UI"/>
              </a:rPr>
              <a:t>），</a:t>
            </a:r>
            <a:r>
              <a:rPr sz="950" spc="-5" dirty="0">
                <a:latin typeface="Microsoft JhengHei UI"/>
                <a:cs typeface="Microsoft JhengHei UI"/>
              </a:rPr>
              <a:t>保留了更多的空间信息。</a:t>
            </a:r>
            <a:endParaRPr sz="950">
              <a:latin typeface="Microsoft JhengHei UI"/>
              <a:cs typeface="Microsoft JhengHei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7832" y="5613239"/>
            <a:ext cx="8098155" cy="1197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dirty="0">
                <a:latin typeface="Times New Roman"/>
                <a:cs typeface="Times New Roman"/>
              </a:rPr>
              <a:t>2.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Microsoft JhengHei UI"/>
                <a:cs typeface="Microsoft JhengHei UI"/>
              </a:rPr>
              <a:t>另⼀个改变：更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dirty="0">
                <a:latin typeface="Microsoft JhengHei UI"/>
                <a:cs typeface="Microsoft JhengHei UI"/>
              </a:rPr>
              <a:t>深</a:t>
            </a:r>
            <a:r>
              <a:rPr sz="1000" dirty="0">
                <a:latin typeface="Times New Roman"/>
                <a:cs typeface="Times New Roman"/>
              </a:rPr>
              <a:t>”</a:t>
            </a:r>
            <a:r>
              <a:rPr sz="1000" spc="-15" dirty="0">
                <a:latin typeface="Microsoft JhengHei UI"/>
                <a:cs typeface="Microsoft JhengHei UI"/>
              </a:rPr>
              <a:t>的中间层</a:t>
            </a:r>
            <a:endParaRPr sz="10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000" dirty="0">
                <a:latin typeface="Times New Roman"/>
                <a:cs typeface="Times New Roman"/>
              </a:rPr>
              <a:t>AlexNet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25" dirty="0">
                <a:latin typeface="Microsoft JhengHei UI"/>
                <a:cs typeface="Microsoft JhengHei UI"/>
              </a:rPr>
              <a:t>的做法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dirty="0">
                <a:latin typeface="Microsoft JhengHei UI"/>
                <a:cs typeface="Microsoft JhengHei UI"/>
              </a:rPr>
              <a:t>旧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20" dirty="0">
                <a:latin typeface="Microsoft JhengHei UI"/>
                <a:cs typeface="Microsoft JhengHei UI"/>
              </a:rPr>
              <a:t>：中间的 </a:t>
            </a:r>
            <a:r>
              <a:rPr sz="1000" dirty="0">
                <a:latin typeface="Times New Roman"/>
                <a:cs typeface="Times New Roman"/>
              </a:rPr>
              <a:t>CONV3,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4,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5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Microsoft JhengHei UI"/>
                <a:cs typeface="Microsoft JhengHei UI"/>
              </a:rPr>
              <a:t>层的滤波器数量分别是 </a:t>
            </a:r>
            <a:r>
              <a:rPr sz="1000" dirty="0">
                <a:latin typeface="Times New Roman"/>
                <a:cs typeface="Times New Roman"/>
              </a:rPr>
              <a:t>384,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384,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256</a:t>
            </a:r>
            <a:r>
              <a:rPr sz="1000" spc="-50" dirty="0">
                <a:latin typeface="Microsoft JhengHei UI"/>
                <a:cs typeface="Microsoft JhengHei UI"/>
              </a:rPr>
              <a:t>。</a:t>
            </a:r>
            <a:endParaRPr sz="10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000" dirty="0">
                <a:latin typeface="Times New Roman"/>
                <a:cs typeface="Times New Roman"/>
              </a:rPr>
              <a:t>ZFNet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45" dirty="0">
                <a:latin typeface="Microsoft JhengHei UI"/>
                <a:cs typeface="Microsoft JhengHei UI"/>
              </a:rPr>
              <a:t>的做法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dirty="0">
                <a:latin typeface="Microsoft JhengHei UI"/>
                <a:cs typeface="Microsoft JhengHei UI"/>
              </a:rPr>
              <a:t>新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10" dirty="0">
                <a:latin typeface="Microsoft JhengHei UI"/>
                <a:cs typeface="Microsoft JhengHei UI"/>
              </a:rPr>
              <a:t>：把这些层的滤波器数量⼤幅增加到了 </a:t>
            </a:r>
            <a:r>
              <a:rPr sz="1000" dirty="0">
                <a:latin typeface="Times New Roman"/>
                <a:cs typeface="Times New Roman"/>
              </a:rPr>
              <a:t>512,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1024,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512</a:t>
            </a:r>
            <a:r>
              <a:rPr sz="1000" spc="-50" dirty="0">
                <a:latin typeface="Microsoft JhengHei UI"/>
                <a:cs typeface="Microsoft JhengHei UI"/>
              </a:rPr>
              <a:t>。</a:t>
            </a:r>
            <a:endParaRPr sz="1000">
              <a:latin typeface="Microsoft JhengHei UI"/>
              <a:cs typeface="Microsoft JhengHei UI"/>
            </a:endParaRPr>
          </a:p>
          <a:p>
            <a:pPr marL="254635" marR="5080" indent="-242570">
              <a:lnSpc>
                <a:spcPct val="120900"/>
              </a:lnSpc>
              <a:spcBef>
                <a:spcPts val="655"/>
              </a:spcBef>
            </a:pPr>
            <a:r>
              <a:rPr sz="1000" dirty="0">
                <a:latin typeface="Microsoft JhengHei UI"/>
                <a:cs typeface="Microsoft JhengHei UI"/>
              </a:rPr>
              <a:t>优点：我们之前学过，滤波器的数量（</a:t>
            </a:r>
            <a:r>
              <a:rPr sz="1000" dirty="0">
                <a:latin typeface="Times New Roman"/>
                <a:cs typeface="Times New Roman"/>
              </a:rPr>
              <a:t>K</a:t>
            </a:r>
            <a:r>
              <a:rPr sz="1000" dirty="0">
                <a:latin typeface="Microsoft JhengHei UI"/>
                <a:cs typeface="Microsoft JhengHei UI"/>
              </a:rPr>
              <a:t>）决定了输出的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dirty="0">
                <a:latin typeface="Microsoft JhengHei UI"/>
                <a:cs typeface="Microsoft JhengHei UI"/>
              </a:rPr>
              <a:t>深度</a:t>
            </a:r>
            <a:r>
              <a:rPr sz="1000" spc="-10" dirty="0">
                <a:latin typeface="Times New Roman"/>
                <a:cs typeface="Times New Roman"/>
              </a:rPr>
              <a:t>”</a:t>
            </a:r>
            <a:r>
              <a:rPr sz="1000" spc="-10" dirty="0">
                <a:latin typeface="Microsoft JhengHei UI"/>
                <a:cs typeface="Microsoft JhengHei UI"/>
              </a:rPr>
              <a:t>（</a:t>
            </a:r>
            <a:r>
              <a:rPr sz="1000" spc="-10" dirty="0">
                <a:latin typeface="Times New Roman"/>
                <a:cs typeface="Times New Roman"/>
              </a:rPr>
              <a:t>D</a:t>
            </a:r>
            <a:r>
              <a:rPr sz="1000" spc="-10" dirty="0">
                <a:latin typeface="Lucida Sans Unicode"/>
                <a:cs typeface="Lucida Sans Unicode"/>
              </a:rPr>
              <a:t>₂</a:t>
            </a:r>
            <a:r>
              <a:rPr sz="1000" spc="-10" dirty="0">
                <a:latin typeface="Microsoft JhengHei UI"/>
                <a:cs typeface="Microsoft JhengHei UI"/>
              </a:rPr>
              <a:t>）</a:t>
            </a:r>
            <a:r>
              <a:rPr sz="1000" spc="80" dirty="0">
                <a:latin typeface="Microsoft JhengHei UI"/>
                <a:cs typeface="Microsoft JhengHei UI"/>
              </a:rPr>
              <a:t>。通过增加  </a:t>
            </a:r>
            <a:r>
              <a:rPr sz="1000" dirty="0">
                <a:latin typeface="Times New Roman"/>
                <a:cs typeface="Times New Roman"/>
              </a:rPr>
              <a:t>K</a:t>
            </a:r>
            <a:r>
              <a:rPr sz="1000" dirty="0">
                <a:latin typeface="Microsoft JhengHei UI"/>
                <a:cs typeface="Microsoft JhengHei UI"/>
              </a:rPr>
              <a:t>，</a:t>
            </a:r>
            <a:r>
              <a:rPr sz="1000" dirty="0">
                <a:latin typeface="Times New Roman"/>
                <a:cs typeface="Times New Roman"/>
              </a:rPr>
              <a:t>ZFNet</a:t>
            </a:r>
            <a:r>
              <a:rPr sz="1000" spc="2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Microsoft JhengHei UI"/>
                <a:cs typeface="Microsoft JhengHei UI"/>
              </a:rPr>
              <a:t>给了⽹络更强⼤的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dirty="0">
                <a:latin typeface="Microsoft JhengHei UI"/>
                <a:cs typeface="Microsoft JhengHei UI"/>
              </a:rPr>
              <a:t>特征容量</a:t>
            </a:r>
            <a:r>
              <a:rPr sz="1000" dirty="0">
                <a:latin typeface="Times New Roman"/>
                <a:cs typeface="Times New Roman"/>
              </a:rPr>
              <a:t>”</a:t>
            </a:r>
            <a:r>
              <a:rPr sz="1000" spc="-10" dirty="0">
                <a:latin typeface="Microsoft JhengHei UI"/>
                <a:cs typeface="Microsoft JhengHei UI"/>
              </a:rPr>
              <a:t>，让它可以在中间</a:t>
            </a:r>
            <a:r>
              <a:rPr sz="1000" spc="-5" dirty="0">
                <a:latin typeface="Microsoft JhengHei UI"/>
                <a:cs typeface="Microsoft JhengHei UI"/>
              </a:rPr>
              <a:t>层学习到更丰富、更复杂的特征组合。</a:t>
            </a:r>
            <a:endParaRPr sz="10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27200" y="1938718"/>
            <a:ext cx="7174230" cy="3666490"/>
            <a:chOff x="1727200" y="1938718"/>
            <a:chExt cx="7174230" cy="36664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2364" y="1938718"/>
              <a:ext cx="7088709" cy="36663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27200" y="2753962"/>
              <a:ext cx="2955925" cy="561340"/>
            </a:xfrm>
            <a:custGeom>
              <a:avLst/>
              <a:gdLst/>
              <a:ahLst/>
              <a:cxnLst/>
              <a:rect l="l" t="t" r="r" b="b"/>
              <a:pathLst>
                <a:path w="2955925" h="561339">
                  <a:moveTo>
                    <a:pt x="2955328" y="0"/>
                  </a:moveTo>
                  <a:lnTo>
                    <a:pt x="0" y="0"/>
                  </a:lnTo>
                  <a:lnTo>
                    <a:pt x="0" y="561065"/>
                  </a:lnTo>
                  <a:lnTo>
                    <a:pt x="2955328" y="561065"/>
                  </a:lnTo>
                  <a:lnTo>
                    <a:pt x="2955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86889" y="2767347"/>
            <a:ext cx="243459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Calibri"/>
                <a:cs typeface="Calibri"/>
              </a:rPr>
              <a:t>Only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3x3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CONV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pad1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2x2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MAX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POOL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1402" y="4130269"/>
            <a:ext cx="1439545" cy="3663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204"/>
              </a:spcBef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best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58686" y="4759617"/>
            <a:ext cx="3277235" cy="8051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209" rIns="0" bIns="0" rtlCol="0">
            <a:spAutoFit/>
          </a:bodyPr>
          <a:lstStyle/>
          <a:p>
            <a:pPr marL="72390">
              <a:lnSpc>
                <a:spcPts val="1910"/>
              </a:lnSpc>
              <a:spcBef>
                <a:spcPts val="229"/>
              </a:spcBef>
            </a:pP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11.2%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top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5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error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in</a:t>
            </a:r>
            <a:r>
              <a:rPr sz="1600" spc="-4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ILSVRC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B22EB"/>
                </a:solidFill>
                <a:latin typeface="Calibri"/>
                <a:cs typeface="Calibri"/>
              </a:rPr>
              <a:t>2013</a:t>
            </a:r>
            <a:endParaRPr sz="1600">
              <a:latin typeface="Calibri"/>
              <a:cs typeface="Calibri"/>
            </a:endParaRPr>
          </a:p>
          <a:p>
            <a:pPr marL="72390">
              <a:lnSpc>
                <a:spcPts val="1895"/>
              </a:lnSpc>
            </a:pP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-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&gt;</a:t>
            </a:r>
            <a:endParaRPr sz="1600">
              <a:latin typeface="Calibri"/>
              <a:cs typeface="Calibri"/>
            </a:endParaRPr>
          </a:p>
          <a:p>
            <a:pPr marL="72390">
              <a:lnSpc>
                <a:spcPts val="1910"/>
              </a:lnSpc>
            </a:pP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7.3%</a:t>
            </a:r>
            <a:r>
              <a:rPr sz="1600" spc="-6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top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5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B22EB"/>
                </a:solidFill>
                <a:latin typeface="Calibri"/>
                <a:cs typeface="Calibri"/>
              </a:rPr>
              <a:t>error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3839" y="1219"/>
            <a:ext cx="7054850" cy="1654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Microsoft JhengHei UI"/>
                <a:cs typeface="Microsoft JhengHei UI"/>
              </a:rPr>
              <a:t>"Only</a:t>
            </a:r>
            <a:r>
              <a:rPr sz="900" spc="75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3x3</a:t>
            </a:r>
            <a:r>
              <a:rPr sz="900" spc="8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CONV</a:t>
            </a:r>
            <a:r>
              <a:rPr sz="900" spc="8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stride</a:t>
            </a:r>
            <a:r>
              <a:rPr sz="900" spc="75" dirty="0">
                <a:latin typeface="Microsoft JhengHei UI"/>
                <a:cs typeface="Microsoft JhengHei UI"/>
              </a:rPr>
              <a:t> </a:t>
            </a:r>
            <a:r>
              <a:rPr sz="900" spc="-10" dirty="0">
                <a:latin typeface="Microsoft JhengHei UI"/>
                <a:cs typeface="Microsoft JhengHei UI"/>
              </a:rPr>
              <a:t>1,</a:t>
            </a:r>
            <a:r>
              <a:rPr sz="900" spc="8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pad</a:t>
            </a:r>
            <a:r>
              <a:rPr sz="900" spc="80" dirty="0">
                <a:latin typeface="Microsoft JhengHei UI"/>
                <a:cs typeface="Microsoft JhengHei UI"/>
              </a:rPr>
              <a:t> </a:t>
            </a:r>
            <a:r>
              <a:rPr sz="900" spc="-20" dirty="0">
                <a:latin typeface="Microsoft JhengHei UI"/>
                <a:cs typeface="Microsoft JhengHei UI"/>
              </a:rPr>
              <a:t>1"</a:t>
            </a:r>
            <a:r>
              <a:rPr sz="900" spc="25" dirty="0">
                <a:latin typeface="Microsoft JhengHei UI"/>
                <a:cs typeface="Microsoft JhengHei UI"/>
              </a:rPr>
              <a:t> (只⽤ </a:t>
            </a:r>
            <a:r>
              <a:rPr sz="900" dirty="0">
                <a:latin typeface="Microsoft JhengHei UI"/>
                <a:cs typeface="Microsoft JhengHei UI"/>
              </a:rPr>
              <a:t>3x3</a:t>
            </a:r>
            <a:r>
              <a:rPr sz="900" spc="5" dirty="0">
                <a:latin typeface="Microsoft JhengHei UI"/>
                <a:cs typeface="Microsoft JhengHei UI"/>
              </a:rPr>
              <a:t> 卷积)</a:t>
            </a:r>
            <a:endParaRPr sz="900">
              <a:latin typeface="Microsoft JhengHei UI"/>
              <a:cs typeface="Microsoft JhengHei UI"/>
            </a:endParaRPr>
          </a:p>
          <a:p>
            <a:pPr marL="12700" marR="3879850">
              <a:lnSpc>
                <a:spcPct val="180800"/>
              </a:lnSpc>
            </a:pPr>
            <a:r>
              <a:rPr sz="900" dirty="0">
                <a:latin typeface="Microsoft JhengHei UI"/>
                <a:cs typeface="Microsoft JhengHei UI"/>
              </a:rPr>
              <a:t>3x3：</a:t>
            </a:r>
            <a:r>
              <a:rPr sz="900" spc="-5" dirty="0">
                <a:latin typeface="Microsoft JhengHei UI"/>
                <a:cs typeface="Microsoft JhengHei UI"/>
              </a:rPr>
              <a:t>这是能捕捉“上/下/左/右/中”概念的最⼩滤波器尺⼨。</a:t>
            </a:r>
            <a:r>
              <a:rPr sz="900" dirty="0">
                <a:latin typeface="Microsoft JhengHei UI"/>
                <a:cs typeface="Microsoft JhengHei UI"/>
              </a:rPr>
              <a:t> stride</a:t>
            </a:r>
            <a:r>
              <a:rPr sz="900" spc="39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1：步⻓为1，</a:t>
            </a:r>
            <a:r>
              <a:rPr sz="900" spc="-5" dirty="0">
                <a:latin typeface="Microsoft JhengHei UI"/>
                <a:cs typeface="Microsoft JhengHei UI"/>
              </a:rPr>
              <a:t>保证“仔仔细细”地扫描。</a:t>
            </a:r>
            <a:endParaRPr sz="900">
              <a:latin typeface="Microsoft JhengHei UI"/>
              <a:cs typeface="Microsoft JhengHei UI"/>
            </a:endParaRPr>
          </a:p>
          <a:p>
            <a:pPr marL="12700" marR="3317875">
              <a:lnSpc>
                <a:spcPct val="180800"/>
              </a:lnSpc>
            </a:pPr>
            <a:r>
              <a:rPr sz="900" dirty="0">
                <a:latin typeface="Microsoft JhengHei UI"/>
                <a:cs typeface="Microsoft JhengHei UI"/>
              </a:rPr>
              <a:t>pad</a:t>
            </a:r>
            <a:r>
              <a:rPr sz="900" spc="9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1：这是天才之举！ 我们来算⼀下⻩⾦公式 (W</a:t>
            </a:r>
            <a:r>
              <a:rPr sz="900" spc="114" dirty="0">
                <a:latin typeface="Microsoft JhengHei UI"/>
                <a:cs typeface="Microsoft JhengHei UI"/>
              </a:rPr>
              <a:t> - </a:t>
            </a:r>
            <a:r>
              <a:rPr sz="900" spc="55" dirty="0">
                <a:latin typeface="Microsoft JhengHei UI"/>
                <a:cs typeface="Microsoft JhengHei UI"/>
              </a:rPr>
              <a:t>F</a:t>
            </a:r>
            <a:r>
              <a:rPr sz="900" spc="60" dirty="0">
                <a:latin typeface="Microsoft JhengHei UI"/>
                <a:cs typeface="Microsoft JhengHei UI"/>
              </a:rPr>
              <a:t> + </a:t>
            </a:r>
            <a:r>
              <a:rPr sz="900" dirty="0">
                <a:latin typeface="Microsoft JhengHei UI"/>
                <a:cs typeface="Microsoft JhengHei UI"/>
              </a:rPr>
              <a:t>2P)</a:t>
            </a:r>
            <a:r>
              <a:rPr sz="900" spc="85" dirty="0">
                <a:latin typeface="Microsoft JhengHei UI"/>
                <a:cs typeface="Microsoft JhengHei UI"/>
              </a:rPr>
              <a:t> / </a:t>
            </a:r>
            <a:r>
              <a:rPr sz="900" spc="70" dirty="0">
                <a:latin typeface="Microsoft JhengHei UI"/>
                <a:cs typeface="Microsoft JhengHei UI"/>
              </a:rPr>
              <a:t>S</a:t>
            </a:r>
            <a:r>
              <a:rPr sz="900" spc="60" dirty="0">
                <a:latin typeface="Microsoft JhengHei UI"/>
                <a:cs typeface="Microsoft JhengHei UI"/>
              </a:rPr>
              <a:t> + </a:t>
            </a:r>
            <a:r>
              <a:rPr sz="900" spc="-25" dirty="0">
                <a:latin typeface="Microsoft JhengHei UI"/>
                <a:cs typeface="Microsoft JhengHei UI"/>
              </a:rPr>
              <a:t>1：</a:t>
            </a:r>
            <a:r>
              <a:rPr sz="900" dirty="0">
                <a:latin typeface="Microsoft JhengHei UI"/>
                <a:cs typeface="Microsoft JhengHei UI"/>
              </a:rPr>
              <a:t> (W</a:t>
            </a:r>
            <a:r>
              <a:rPr sz="900" spc="45" dirty="0">
                <a:latin typeface="Microsoft JhengHei UI"/>
                <a:cs typeface="Microsoft JhengHei UI"/>
              </a:rPr>
              <a:t> - </a:t>
            </a:r>
            <a:r>
              <a:rPr sz="900" dirty="0">
                <a:latin typeface="Microsoft JhengHei UI"/>
                <a:cs typeface="Microsoft JhengHei UI"/>
              </a:rPr>
              <a:t>3</a:t>
            </a:r>
            <a:r>
              <a:rPr sz="900" spc="25" dirty="0">
                <a:latin typeface="Microsoft JhengHei UI"/>
                <a:cs typeface="Microsoft JhengHei UI"/>
              </a:rPr>
              <a:t> + </a:t>
            </a:r>
            <a:r>
              <a:rPr sz="900" dirty="0">
                <a:latin typeface="Microsoft JhengHei UI"/>
                <a:cs typeface="Microsoft JhengHei UI"/>
              </a:rPr>
              <a:t>2*1)</a:t>
            </a:r>
            <a:r>
              <a:rPr sz="900" spc="55" dirty="0">
                <a:latin typeface="Microsoft JhengHei UI"/>
                <a:cs typeface="Microsoft JhengHei UI"/>
              </a:rPr>
              <a:t> / </a:t>
            </a:r>
            <a:r>
              <a:rPr sz="900" spc="-160" dirty="0">
                <a:latin typeface="Microsoft JhengHei UI"/>
                <a:cs typeface="Microsoft JhengHei UI"/>
              </a:rPr>
              <a:t>1</a:t>
            </a:r>
            <a:r>
              <a:rPr sz="900" spc="40" dirty="0">
                <a:latin typeface="Microsoft JhengHei UI"/>
                <a:cs typeface="Microsoft JhengHei UI"/>
              </a:rPr>
              <a:t> + </a:t>
            </a:r>
            <a:r>
              <a:rPr sz="900" spc="-160" dirty="0">
                <a:latin typeface="Microsoft JhengHei UI"/>
                <a:cs typeface="Microsoft JhengHei UI"/>
              </a:rPr>
              <a:t>1</a:t>
            </a:r>
            <a:r>
              <a:rPr sz="900" spc="40" dirty="0">
                <a:latin typeface="Microsoft JhengHei UI"/>
                <a:cs typeface="Microsoft JhengHei UI"/>
              </a:rPr>
              <a:t> = </a:t>
            </a:r>
            <a:r>
              <a:rPr sz="900" dirty="0">
                <a:latin typeface="Microsoft JhengHei UI"/>
                <a:cs typeface="Microsoft JhengHei UI"/>
              </a:rPr>
              <a:t>W</a:t>
            </a:r>
            <a:r>
              <a:rPr sz="900" spc="80" dirty="0">
                <a:latin typeface="Microsoft JhengHei UI"/>
                <a:cs typeface="Microsoft JhengHei UI"/>
              </a:rPr>
              <a:t> - </a:t>
            </a:r>
            <a:r>
              <a:rPr sz="900" dirty="0">
                <a:latin typeface="Microsoft JhengHei UI"/>
                <a:cs typeface="Microsoft JhengHei UI"/>
              </a:rPr>
              <a:t>3</a:t>
            </a:r>
            <a:r>
              <a:rPr sz="900" spc="25" dirty="0">
                <a:latin typeface="Microsoft JhengHei UI"/>
                <a:cs typeface="Microsoft JhengHei UI"/>
              </a:rPr>
              <a:t> + </a:t>
            </a:r>
            <a:r>
              <a:rPr sz="900" dirty="0">
                <a:latin typeface="Microsoft JhengHei UI"/>
                <a:cs typeface="Microsoft JhengHei UI"/>
              </a:rPr>
              <a:t>2</a:t>
            </a:r>
            <a:r>
              <a:rPr sz="900" spc="25" dirty="0">
                <a:latin typeface="Microsoft JhengHei UI"/>
                <a:cs typeface="Microsoft JhengHei UI"/>
              </a:rPr>
              <a:t> + </a:t>
            </a:r>
            <a:r>
              <a:rPr sz="900" spc="-160" dirty="0">
                <a:latin typeface="Microsoft JhengHei UI"/>
                <a:cs typeface="Microsoft JhengHei UI"/>
              </a:rPr>
              <a:t>1</a:t>
            </a:r>
            <a:r>
              <a:rPr sz="900" spc="40" dirty="0">
                <a:latin typeface="Microsoft JhengHei UI"/>
                <a:cs typeface="Microsoft JhengHei UI"/>
              </a:rPr>
              <a:t> = </a:t>
            </a:r>
            <a:r>
              <a:rPr sz="900" spc="-50" dirty="0">
                <a:latin typeface="Microsoft JhengHei UI"/>
                <a:cs typeface="Microsoft JhengHei UI"/>
              </a:rPr>
              <a:t>W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900" spc="15" dirty="0">
                <a:latin typeface="Microsoft JhengHei UI"/>
                <a:cs typeface="Microsoft JhengHei UI"/>
              </a:rPr>
              <a:t>这意味着，只要经过 </a:t>
            </a:r>
            <a:r>
              <a:rPr sz="900" dirty="0">
                <a:latin typeface="Microsoft JhengHei UI"/>
                <a:cs typeface="Microsoft JhengHei UI"/>
              </a:rPr>
              <a:t>3x3,</a:t>
            </a:r>
            <a:r>
              <a:rPr sz="900" spc="20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pad</a:t>
            </a:r>
            <a:r>
              <a:rPr sz="900" spc="200" dirty="0">
                <a:latin typeface="Microsoft JhengHei UI"/>
                <a:cs typeface="Microsoft JhengHei UI"/>
              </a:rPr>
              <a:t> </a:t>
            </a:r>
            <a:r>
              <a:rPr sz="900" spc="-160" dirty="0">
                <a:latin typeface="Microsoft JhengHei UI"/>
                <a:cs typeface="Microsoft JhengHei UI"/>
              </a:rPr>
              <a:t>1</a:t>
            </a:r>
            <a:r>
              <a:rPr sz="900" spc="10" dirty="0">
                <a:latin typeface="Microsoft JhengHei UI"/>
                <a:cs typeface="Microsoft JhengHei UI"/>
              </a:rPr>
              <a:t> 的卷积，特征图的空间尺⼨ </a:t>
            </a:r>
            <a:r>
              <a:rPr sz="900" dirty="0">
                <a:latin typeface="Microsoft JhengHei UI"/>
                <a:cs typeface="Microsoft JhengHei UI"/>
              </a:rPr>
              <a:t>(W,</a:t>
            </a:r>
            <a:r>
              <a:rPr sz="900" spc="20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H)</a:t>
            </a:r>
            <a:r>
              <a:rPr sz="900" spc="10" dirty="0">
                <a:latin typeface="Microsoft JhengHei UI"/>
                <a:cs typeface="Microsoft JhengHei UI"/>
              </a:rPr>
              <a:t> 永远不会改变！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900" spc="65" dirty="0">
                <a:latin typeface="Microsoft JhengHei UI"/>
                <a:cs typeface="Microsoft JhengHei UI"/>
              </a:rPr>
              <a:t>这有什么⽤？ 这让 </a:t>
            </a:r>
            <a:r>
              <a:rPr sz="900" dirty="0">
                <a:latin typeface="Microsoft JhengHei UI"/>
                <a:cs typeface="Microsoft JhengHei UI"/>
              </a:rPr>
              <a:t>VGGNet 可以随⼼所欲地“堆叠”卷积层（</a:t>
            </a:r>
            <a:r>
              <a:rPr sz="900" spc="75" dirty="0">
                <a:latin typeface="Microsoft JhengHei UI"/>
                <a:cs typeface="Microsoft JhengHei UI"/>
              </a:rPr>
              <a:t>⽐如连堆 </a:t>
            </a:r>
            <a:r>
              <a:rPr sz="900" dirty="0">
                <a:latin typeface="Microsoft JhengHei UI"/>
                <a:cs typeface="Microsoft JhengHei UI"/>
              </a:rPr>
              <a:t>3</a:t>
            </a:r>
            <a:r>
              <a:rPr sz="900" spc="250" dirty="0">
                <a:latin typeface="Microsoft JhengHei UI"/>
                <a:cs typeface="Microsoft JhengHei UI"/>
              </a:rPr>
              <a:t> 个 </a:t>
            </a:r>
            <a:r>
              <a:rPr sz="900" dirty="0">
                <a:latin typeface="Microsoft JhengHei UI"/>
                <a:cs typeface="Microsoft JhengHei UI"/>
              </a:rPr>
              <a:t>conv3-256），</a:t>
            </a:r>
            <a:r>
              <a:rPr sz="900" spc="-5" dirty="0">
                <a:latin typeface="Microsoft JhengHei UI"/>
                <a:cs typeface="Microsoft JhengHei UI"/>
              </a:rPr>
              <a:t>⽽不⽤担⼼图⽚尺⼨在中间被“意外”缩⼩。</a:t>
            </a:r>
            <a:endParaRPr sz="900">
              <a:latin typeface="Microsoft JhengHei UI"/>
              <a:cs typeface="Microsoft JhengHei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0009" y="5875995"/>
            <a:ext cx="5513705" cy="11588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Microsoft JhengHei UI"/>
                <a:cs typeface="Microsoft JhengHei UI"/>
              </a:rPr>
              <a:t>"And</a:t>
            </a:r>
            <a:r>
              <a:rPr sz="900" spc="12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2x2</a:t>
            </a:r>
            <a:r>
              <a:rPr sz="900" spc="12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MAX</a:t>
            </a:r>
            <a:r>
              <a:rPr sz="900" spc="125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POOL</a:t>
            </a:r>
            <a:r>
              <a:rPr sz="900" spc="12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stride</a:t>
            </a:r>
            <a:r>
              <a:rPr sz="900" spc="125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2"</a:t>
            </a:r>
            <a:r>
              <a:rPr sz="900" spc="40" dirty="0">
                <a:latin typeface="Microsoft JhengHei UI"/>
                <a:cs typeface="Microsoft JhengHei UI"/>
              </a:rPr>
              <a:t> (只⽤ </a:t>
            </a:r>
            <a:r>
              <a:rPr sz="900" dirty="0">
                <a:latin typeface="Microsoft JhengHei UI"/>
                <a:cs typeface="Microsoft JhengHei UI"/>
              </a:rPr>
              <a:t>2x2</a:t>
            </a:r>
            <a:r>
              <a:rPr sz="900" spc="15" dirty="0">
                <a:latin typeface="Microsoft JhengHei UI"/>
                <a:cs typeface="Microsoft JhengHei UI"/>
              </a:rPr>
              <a:t> 池化)</a:t>
            </a:r>
            <a:endParaRPr sz="900">
              <a:latin typeface="Microsoft JhengHei UI"/>
              <a:cs typeface="Microsoft JhengHei UI"/>
            </a:endParaRPr>
          </a:p>
          <a:p>
            <a:pPr marL="12700" marR="1171575">
              <a:lnSpc>
                <a:spcPct val="180800"/>
              </a:lnSpc>
            </a:pPr>
            <a:r>
              <a:rPr sz="900" dirty="0">
                <a:latin typeface="Microsoft JhengHei UI"/>
                <a:cs typeface="Microsoft JhengHei UI"/>
              </a:rPr>
              <a:t>VGGNet</a:t>
            </a:r>
            <a:r>
              <a:rPr sz="900" spc="10" dirty="0">
                <a:latin typeface="Microsoft JhengHei UI"/>
                <a:cs typeface="Microsoft JhengHei UI"/>
              </a:rPr>
              <a:t> 只在它“想”缩⼩尺⼨的时候，才显式地插⼊⼀个 </a:t>
            </a:r>
            <a:r>
              <a:rPr sz="900" dirty="0">
                <a:latin typeface="Microsoft JhengHei UI"/>
                <a:cs typeface="Microsoft JhengHei UI"/>
              </a:rPr>
              <a:t>2x2,</a:t>
            </a:r>
            <a:r>
              <a:rPr sz="900" spc="28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stride</a:t>
            </a:r>
            <a:r>
              <a:rPr sz="900" spc="28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2</a:t>
            </a:r>
            <a:r>
              <a:rPr sz="900" spc="30" dirty="0">
                <a:latin typeface="Microsoft JhengHei UI"/>
                <a:cs typeface="Microsoft JhengHei UI"/>
              </a:rPr>
              <a:t> 的池化层。</a:t>
            </a:r>
            <a:r>
              <a:rPr sz="900" spc="10" dirty="0">
                <a:latin typeface="Microsoft JhengHei UI"/>
                <a:cs typeface="Microsoft JhengHei UI"/>
              </a:rPr>
              <a:t>我们再算⼀次⻩⾦公式 </a:t>
            </a:r>
            <a:r>
              <a:rPr sz="900" dirty="0">
                <a:latin typeface="Microsoft JhengHei UI"/>
                <a:cs typeface="Microsoft JhengHei UI"/>
              </a:rPr>
              <a:t>(W</a:t>
            </a:r>
            <a:r>
              <a:rPr sz="900" spc="125" dirty="0">
                <a:latin typeface="Microsoft JhengHei UI"/>
                <a:cs typeface="Microsoft JhengHei UI"/>
              </a:rPr>
              <a:t> - </a:t>
            </a:r>
            <a:r>
              <a:rPr sz="900" dirty="0">
                <a:latin typeface="Microsoft JhengHei UI"/>
                <a:cs typeface="Microsoft JhengHei UI"/>
              </a:rPr>
              <a:t>F)</a:t>
            </a:r>
            <a:r>
              <a:rPr sz="900" spc="100" dirty="0">
                <a:latin typeface="Microsoft JhengHei UI"/>
                <a:cs typeface="Microsoft JhengHei UI"/>
              </a:rPr>
              <a:t> / </a:t>
            </a:r>
            <a:r>
              <a:rPr sz="900" spc="70" dirty="0">
                <a:latin typeface="Microsoft JhengHei UI"/>
                <a:cs typeface="Microsoft JhengHei UI"/>
              </a:rPr>
              <a:t>S</a:t>
            </a:r>
            <a:r>
              <a:rPr sz="900" spc="75" dirty="0">
                <a:latin typeface="Microsoft JhengHei UI"/>
                <a:cs typeface="Microsoft JhengHei UI"/>
              </a:rPr>
              <a:t> + </a:t>
            </a:r>
            <a:r>
              <a:rPr sz="900" spc="-25" dirty="0">
                <a:latin typeface="Microsoft JhengHei UI"/>
                <a:cs typeface="Microsoft JhengHei UI"/>
              </a:rPr>
              <a:t>1：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900" dirty="0">
                <a:latin typeface="Microsoft JhengHei UI"/>
                <a:cs typeface="Microsoft JhengHei UI"/>
              </a:rPr>
              <a:t>(W</a:t>
            </a:r>
            <a:r>
              <a:rPr sz="900" spc="-5" dirty="0">
                <a:latin typeface="Microsoft JhengHei UI"/>
                <a:cs typeface="Microsoft JhengHei UI"/>
              </a:rPr>
              <a:t> </a:t>
            </a:r>
            <a:r>
              <a:rPr sz="900" spc="170" dirty="0">
                <a:latin typeface="Microsoft JhengHei UI"/>
                <a:cs typeface="Microsoft JhengHei UI"/>
              </a:rPr>
              <a:t>-</a:t>
            </a:r>
            <a:r>
              <a:rPr sz="900" spc="6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2)</a:t>
            </a:r>
            <a:r>
              <a:rPr sz="900" spc="60" dirty="0">
                <a:latin typeface="Microsoft JhengHei UI"/>
                <a:cs typeface="Microsoft JhengHei UI"/>
              </a:rPr>
              <a:t> </a:t>
            </a:r>
            <a:r>
              <a:rPr sz="900" spc="85" dirty="0">
                <a:latin typeface="Microsoft JhengHei UI"/>
                <a:cs typeface="Microsoft JhengHei UI"/>
              </a:rPr>
              <a:t>/</a:t>
            </a:r>
            <a:r>
              <a:rPr sz="900" spc="55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2</a:t>
            </a:r>
            <a:r>
              <a:rPr sz="900" spc="6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+</a:t>
            </a:r>
            <a:r>
              <a:rPr sz="900" spc="60" dirty="0">
                <a:latin typeface="Microsoft JhengHei UI"/>
                <a:cs typeface="Microsoft JhengHei UI"/>
              </a:rPr>
              <a:t> </a:t>
            </a:r>
            <a:r>
              <a:rPr sz="900" spc="-160" dirty="0">
                <a:latin typeface="Microsoft JhengHei UI"/>
                <a:cs typeface="Microsoft JhengHei UI"/>
              </a:rPr>
              <a:t>1</a:t>
            </a:r>
            <a:r>
              <a:rPr sz="900" spc="8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=</a:t>
            </a:r>
            <a:r>
              <a:rPr sz="900" spc="6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W/2</a:t>
            </a:r>
            <a:r>
              <a:rPr sz="900" spc="60" dirty="0">
                <a:latin typeface="Microsoft JhengHei UI"/>
                <a:cs typeface="Microsoft JhengHei UI"/>
              </a:rPr>
              <a:t> </a:t>
            </a:r>
            <a:r>
              <a:rPr sz="900" spc="170" dirty="0">
                <a:latin typeface="Microsoft JhengHei UI"/>
                <a:cs typeface="Microsoft JhengHei UI"/>
              </a:rPr>
              <a:t>-</a:t>
            </a:r>
            <a:r>
              <a:rPr sz="900" spc="60" dirty="0">
                <a:latin typeface="Microsoft JhengHei UI"/>
                <a:cs typeface="Microsoft JhengHei UI"/>
              </a:rPr>
              <a:t> </a:t>
            </a:r>
            <a:r>
              <a:rPr sz="900" spc="-160" dirty="0">
                <a:latin typeface="Microsoft JhengHei UI"/>
                <a:cs typeface="Microsoft JhengHei UI"/>
              </a:rPr>
              <a:t>1</a:t>
            </a:r>
            <a:r>
              <a:rPr sz="900" spc="8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+</a:t>
            </a:r>
            <a:r>
              <a:rPr sz="900" spc="55" dirty="0">
                <a:latin typeface="Microsoft JhengHei UI"/>
                <a:cs typeface="Microsoft JhengHei UI"/>
              </a:rPr>
              <a:t> </a:t>
            </a:r>
            <a:r>
              <a:rPr sz="900" spc="-160" dirty="0">
                <a:latin typeface="Microsoft JhengHei UI"/>
                <a:cs typeface="Microsoft JhengHei UI"/>
              </a:rPr>
              <a:t>1</a:t>
            </a:r>
            <a:r>
              <a:rPr sz="900" spc="80" dirty="0">
                <a:latin typeface="Microsoft JhengHei UI"/>
                <a:cs typeface="Microsoft JhengHei UI"/>
              </a:rPr>
              <a:t> </a:t>
            </a:r>
            <a:r>
              <a:rPr sz="900" dirty="0">
                <a:latin typeface="Microsoft JhengHei UI"/>
                <a:cs typeface="Microsoft JhengHei UI"/>
              </a:rPr>
              <a:t>=</a:t>
            </a:r>
            <a:r>
              <a:rPr sz="900" spc="60" dirty="0">
                <a:latin typeface="Microsoft JhengHei UI"/>
                <a:cs typeface="Microsoft JhengHei UI"/>
              </a:rPr>
              <a:t> </a:t>
            </a:r>
            <a:r>
              <a:rPr sz="900" spc="-25" dirty="0">
                <a:latin typeface="Microsoft JhengHei UI"/>
                <a:cs typeface="Microsoft JhengHei UI"/>
              </a:rPr>
              <a:t>W/2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900" dirty="0">
                <a:latin typeface="Microsoft JhengHei UI"/>
                <a:cs typeface="Microsoft JhengHei UI"/>
              </a:rPr>
              <a:t>这意味着，每⼀次池化，特征图的⻓宽都“⼲净利落”地缩⼩⼀半。224</a:t>
            </a:r>
            <a:r>
              <a:rPr sz="900" spc="105" dirty="0">
                <a:latin typeface="Microsoft JhengHei UI"/>
                <a:cs typeface="Microsoft JhengHei UI"/>
              </a:rPr>
              <a:t> -&gt; </a:t>
            </a:r>
            <a:r>
              <a:rPr sz="900" spc="-75" dirty="0">
                <a:latin typeface="Microsoft JhengHei UI"/>
                <a:cs typeface="Microsoft JhengHei UI"/>
              </a:rPr>
              <a:t>112</a:t>
            </a:r>
            <a:r>
              <a:rPr sz="900" spc="105" dirty="0">
                <a:latin typeface="Microsoft JhengHei UI"/>
                <a:cs typeface="Microsoft JhengHei UI"/>
              </a:rPr>
              <a:t> -&gt; </a:t>
            </a:r>
            <a:r>
              <a:rPr sz="900" dirty="0">
                <a:latin typeface="Microsoft JhengHei UI"/>
                <a:cs typeface="Microsoft JhengHei UI"/>
              </a:rPr>
              <a:t>56</a:t>
            </a:r>
            <a:r>
              <a:rPr sz="900" spc="105" dirty="0">
                <a:latin typeface="Microsoft JhengHei UI"/>
                <a:cs typeface="Microsoft JhengHei UI"/>
              </a:rPr>
              <a:t> -&gt; </a:t>
            </a:r>
            <a:r>
              <a:rPr sz="900" dirty="0">
                <a:latin typeface="Microsoft JhengHei UI"/>
                <a:cs typeface="Microsoft JhengHei UI"/>
              </a:rPr>
              <a:t>28</a:t>
            </a:r>
            <a:r>
              <a:rPr sz="900" spc="105" dirty="0">
                <a:latin typeface="Microsoft JhengHei UI"/>
                <a:cs typeface="Microsoft JhengHei UI"/>
              </a:rPr>
              <a:t> -&gt; </a:t>
            </a:r>
            <a:r>
              <a:rPr sz="900" spc="-10" dirty="0">
                <a:latin typeface="Microsoft JhengHei UI"/>
                <a:cs typeface="Microsoft JhengHei UI"/>
              </a:rPr>
              <a:t>14</a:t>
            </a:r>
            <a:r>
              <a:rPr sz="900" spc="105" dirty="0">
                <a:latin typeface="Microsoft JhengHei UI"/>
                <a:cs typeface="Microsoft JhengHei UI"/>
              </a:rPr>
              <a:t> -&gt; </a:t>
            </a:r>
            <a:r>
              <a:rPr sz="900" dirty="0">
                <a:latin typeface="Microsoft JhengHei UI"/>
                <a:cs typeface="Microsoft JhengHei UI"/>
              </a:rPr>
              <a:t>7</a:t>
            </a:r>
            <a:r>
              <a:rPr sz="900" spc="-50" dirty="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847" y="1924755"/>
            <a:ext cx="7042671" cy="359349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489" y="1947486"/>
            <a:ext cx="7013407" cy="362373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40470" y="1887869"/>
            <a:ext cx="7406640" cy="3721735"/>
            <a:chOff x="1840470" y="1887869"/>
            <a:chExt cx="7406640" cy="37217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0470" y="1887869"/>
              <a:ext cx="6981567" cy="37216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483300" y="1989683"/>
              <a:ext cx="1764030" cy="1049020"/>
            </a:xfrm>
            <a:custGeom>
              <a:avLst/>
              <a:gdLst/>
              <a:ahLst/>
              <a:cxnLst/>
              <a:rect l="l" t="t" r="r" b="b"/>
              <a:pathLst>
                <a:path w="1764029" h="1049020">
                  <a:moveTo>
                    <a:pt x="1763684" y="0"/>
                  </a:moveTo>
                  <a:lnTo>
                    <a:pt x="0" y="0"/>
                  </a:lnTo>
                  <a:lnTo>
                    <a:pt x="0" y="1048947"/>
                  </a:lnTo>
                  <a:lnTo>
                    <a:pt x="1763684" y="1048947"/>
                  </a:lnTo>
                  <a:lnTo>
                    <a:pt x="1763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542990" y="2002299"/>
            <a:ext cx="1553845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Note: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870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Most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early</a:t>
            </a:r>
            <a:r>
              <a:rPr sz="1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CONV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83301" y="3771901"/>
            <a:ext cx="1882139" cy="561340"/>
          </a:xfrm>
          <a:custGeom>
            <a:avLst/>
            <a:gdLst/>
            <a:ahLst/>
            <a:cxnLst/>
            <a:rect l="l" t="t" r="r" b="b"/>
            <a:pathLst>
              <a:path w="1882140" h="561339">
                <a:moveTo>
                  <a:pt x="1882140" y="0"/>
                </a:moveTo>
                <a:lnTo>
                  <a:pt x="0" y="0"/>
                </a:lnTo>
                <a:lnTo>
                  <a:pt x="0" y="561065"/>
                </a:lnTo>
                <a:lnTo>
                  <a:pt x="1882140" y="561065"/>
                </a:lnTo>
                <a:lnTo>
                  <a:pt x="1882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42990" y="3785379"/>
            <a:ext cx="16167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Most</a:t>
            </a:r>
            <a:r>
              <a:rPr sz="1600" spc="-50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params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are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B22EB"/>
                </a:solidFill>
                <a:latin typeface="Calibri"/>
                <a:cs typeface="Calibri"/>
              </a:rPr>
              <a:t>in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late</a:t>
            </a:r>
            <a:r>
              <a:rPr sz="1600" spc="-4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35" dirty="0">
                <a:solidFill>
                  <a:srgbClr val="0B22EB"/>
                </a:solidFill>
                <a:latin typeface="Calibri"/>
                <a:cs typeface="Calibri"/>
              </a:rPr>
              <a:t>FC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9772" y="375023"/>
            <a:ext cx="4224655" cy="1101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dirty="0">
                <a:latin typeface="Times New Roman"/>
                <a:cs typeface="Times New Roman"/>
              </a:rPr>
              <a:t>"Note</a:t>
            </a:r>
            <a:r>
              <a:rPr sz="850" spc="40" dirty="0">
                <a:latin typeface="Times New Roman"/>
                <a:cs typeface="Times New Roman"/>
              </a:rPr>
              <a:t>: </a:t>
            </a:r>
            <a:r>
              <a:rPr sz="850" dirty="0">
                <a:latin typeface="Times New Roman"/>
                <a:cs typeface="Times New Roman"/>
              </a:rPr>
              <a:t>Most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memory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is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in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early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CONV</a:t>
            </a:r>
            <a:r>
              <a:rPr sz="850" spc="25" dirty="0">
                <a:latin typeface="Times New Roman"/>
                <a:cs typeface="Times New Roman"/>
              </a:rPr>
              <a:t>" (</a:t>
            </a:r>
            <a:r>
              <a:rPr sz="850" dirty="0">
                <a:latin typeface="Microsoft JhengHei UI"/>
                <a:cs typeface="Microsoft JhengHei UI"/>
              </a:rPr>
              <a:t>⼤部分</a:t>
            </a:r>
            <a:r>
              <a:rPr sz="850" dirty="0">
                <a:latin typeface="Times New Roman"/>
                <a:cs typeface="Times New Roman"/>
              </a:rPr>
              <a:t>“</a:t>
            </a:r>
            <a:r>
              <a:rPr sz="850" dirty="0">
                <a:latin typeface="Microsoft JhengHei UI"/>
                <a:cs typeface="Microsoft JhengHei UI"/>
              </a:rPr>
              <a:t>内存</a:t>
            </a:r>
            <a:r>
              <a:rPr sz="850" dirty="0">
                <a:latin typeface="Times New Roman"/>
                <a:cs typeface="Times New Roman"/>
              </a:rPr>
              <a:t>”</a:t>
            </a:r>
            <a:r>
              <a:rPr sz="850" dirty="0">
                <a:latin typeface="Microsoft JhengHei UI"/>
                <a:cs typeface="Microsoft JhengHei UI"/>
              </a:rPr>
              <a:t>消耗在</a:t>
            </a:r>
            <a:r>
              <a:rPr sz="850" dirty="0">
                <a:latin typeface="Times New Roman"/>
                <a:cs typeface="Times New Roman"/>
              </a:rPr>
              <a:t>“</a:t>
            </a:r>
            <a:r>
              <a:rPr sz="850" dirty="0">
                <a:latin typeface="Microsoft JhengHei UI"/>
                <a:cs typeface="Microsoft JhengHei UI"/>
              </a:rPr>
              <a:t>早期的</a:t>
            </a:r>
            <a:r>
              <a:rPr sz="850" dirty="0">
                <a:latin typeface="Times New Roman"/>
                <a:cs typeface="Times New Roman"/>
              </a:rPr>
              <a:t>”</a:t>
            </a:r>
            <a:r>
              <a:rPr sz="850" dirty="0">
                <a:latin typeface="Microsoft JhengHei UI"/>
                <a:cs typeface="Microsoft JhengHei UI"/>
              </a:rPr>
              <a:t>卷积层</a:t>
            </a:r>
            <a:r>
              <a:rPr sz="850" spc="-50" dirty="0">
                <a:latin typeface="Times New Roman"/>
                <a:cs typeface="Times New Roman"/>
              </a:rPr>
              <a:t>)</a:t>
            </a:r>
            <a:endParaRPr sz="850">
              <a:latin typeface="Times New Roman"/>
              <a:cs typeface="Times New Roman"/>
            </a:endParaRPr>
          </a:p>
          <a:p>
            <a:pPr marL="213360" marR="5080" indent="-201295" algn="just">
              <a:lnSpc>
                <a:spcPct val="119800"/>
              </a:lnSpc>
              <a:spcBef>
                <a:spcPts val="655"/>
              </a:spcBef>
            </a:pPr>
            <a:r>
              <a:rPr sz="850" dirty="0">
                <a:latin typeface="Microsoft JhengHei UI"/>
                <a:cs typeface="Microsoft JhengHei UI"/>
              </a:rPr>
              <a:t>看</a:t>
            </a:r>
            <a:r>
              <a:rPr sz="850" dirty="0">
                <a:latin typeface="Times New Roman"/>
                <a:cs typeface="Times New Roman"/>
              </a:rPr>
              <a:t>“memory”</a:t>
            </a:r>
            <a:r>
              <a:rPr sz="850" dirty="0">
                <a:latin typeface="Microsoft JhengHei UI"/>
                <a:cs typeface="Microsoft JhengHei UI"/>
              </a:rPr>
              <a:t>列：</a:t>
            </a:r>
            <a:r>
              <a:rPr sz="850" dirty="0">
                <a:latin typeface="Times New Roman"/>
                <a:cs typeface="Times New Roman"/>
              </a:rPr>
              <a:t>CONV3-64</a:t>
            </a:r>
            <a:r>
              <a:rPr sz="850" spc="160" dirty="0">
                <a:latin typeface="Times New Roman"/>
                <a:cs typeface="Times New Roman"/>
              </a:rPr>
              <a:t> </a:t>
            </a:r>
            <a:r>
              <a:rPr sz="850" spc="25" dirty="0">
                <a:latin typeface="Microsoft JhengHei UI"/>
                <a:cs typeface="Microsoft JhengHei UI"/>
              </a:rPr>
              <a:t>层的激活图 </a:t>
            </a:r>
            <a:r>
              <a:rPr sz="850" dirty="0">
                <a:latin typeface="Times New Roman"/>
                <a:cs typeface="Times New Roman"/>
              </a:rPr>
              <a:t>(activations</a:t>
            </a:r>
            <a:r>
              <a:rPr sz="850" spc="80" dirty="0">
                <a:latin typeface="Times New Roman"/>
                <a:cs typeface="Times New Roman"/>
              </a:rPr>
              <a:t>) </a:t>
            </a:r>
            <a:r>
              <a:rPr sz="850" spc="40" dirty="0">
                <a:latin typeface="Microsoft JhengHei UI"/>
                <a:cs typeface="Microsoft JhengHei UI"/>
              </a:rPr>
              <a:t>尺⼨是 </a:t>
            </a:r>
            <a:r>
              <a:rPr sz="850" dirty="0">
                <a:latin typeface="Times New Roman"/>
                <a:cs typeface="Times New Roman"/>
              </a:rPr>
              <a:t>224*224*64</a:t>
            </a:r>
            <a:r>
              <a:rPr sz="850" spc="-10" dirty="0">
                <a:latin typeface="Microsoft JhengHei UI"/>
                <a:cs typeface="Microsoft JhengHei UI"/>
              </a:rPr>
              <a:t>。这个⽅块本身</a:t>
            </a:r>
            <a:r>
              <a:rPr sz="850" spc="35" dirty="0">
                <a:latin typeface="Microsoft JhengHei UI"/>
                <a:cs typeface="Microsoft JhengHei UI"/>
              </a:rPr>
              <a:t>就要占⽤ </a:t>
            </a:r>
            <a:r>
              <a:rPr sz="850" dirty="0">
                <a:latin typeface="Times New Roman"/>
                <a:cs typeface="Times New Roman"/>
              </a:rPr>
              <a:t>3.2M</a:t>
            </a:r>
            <a:r>
              <a:rPr sz="850" spc="18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Microsoft JhengHei UI"/>
                <a:cs typeface="Microsoft JhengHei UI"/>
              </a:rPr>
              <a:t>的内存（这还只是⼀个开始！）</a:t>
            </a:r>
            <a:r>
              <a:rPr sz="850" spc="-50" dirty="0">
                <a:latin typeface="Microsoft JhengHei UI"/>
                <a:cs typeface="Microsoft JhengHei UI"/>
              </a:rPr>
              <a:t>。</a:t>
            </a:r>
            <a:endParaRPr sz="850">
              <a:latin typeface="Microsoft JhengHei UI"/>
              <a:cs typeface="Microsoft JhengHei UI"/>
            </a:endParaRPr>
          </a:p>
          <a:p>
            <a:pPr marL="213360" marR="11430" indent="-201295" algn="just">
              <a:lnSpc>
                <a:spcPct val="119800"/>
              </a:lnSpc>
              <a:spcBef>
                <a:spcPts val="655"/>
              </a:spcBef>
            </a:pPr>
            <a:r>
              <a:rPr sz="850" spc="5" dirty="0">
                <a:latin typeface="Microsoft JhengHei UI"/>
                <a:cs typeface="Microsoft JhengHei UI"/>
              </a:rPr>
              <a:t>为什么？ 因为 </a:t>
            </a:r>
            <a:r>
              <a:rPr sz="850" spc="5" dirty="0">
                <a:latin typeface="Times New Roman"/>
                <a:cs typeface="Times New Roman"/>
              </a:rPr>
              <a:t>VGG </a:t>
            </a:r>
            <a:r>
              <a:rPr sz="850" spc="10" dirty="0">
                <a:latin typeface="Microsoft JhengHei UI"/>
                <a:cs typeface="Microsoft JhengHei UI"/>
              </a:rPr>
              <a:t>为了保持尺⼨不变，在前⾯⼏层⼀直维持着 </a:t>
            </a:r>
            <a:r>
              <a:rPr sz="850" spc="5" dirty="0">
                <a:latin typeface="Times New Roman"/>
                <a:cs typeface="Times New Roman"/>
              </a:rPr>
              <a:t>224x224 </a:t>
            </a:r>
            <a:r>
              <a:rPr sz="850" spc="10" dirty="0">
                <a:latin typeface="Microsoft JhengHei UI"/>
                <a:cs typeface="Microsoft JhengHei UI"/>
              </a:rPr>
              <a:t>和 </a:t>
            </a:r>
            <a:r>
              <a:rPr sz="850" spc="-5" dirty="0">
                <a:latin typeface="Times New Roman"/>
                <a:cs typeface="Times New Roman"/>
              </a:rPr>
              <a:t>112x112</a:t>
            </a:r>
            <a:r>
              <a:rPr sz="850" spc="5" dirty="0">
                <a:latin typeface="Times New Roman"/>
                <a:cs typeface="Times New Roman"/>
              </a:rPr>
              <a:t> </a:t>
            </a:r>
            <a:r>
              <a:rPr sz="850" spc="15" dirty="0">
                <a:latin typeface="Microsoft JhengHei UI"/>
                <a:cs typeface="Microsoft JhengHei UI"/>
              </a:rPr>
              <a:t>这样超⼤的空间分辨率。这些巨⼤的</a:t>
            </a:r>
            <a:r>
              <a:rPr sz="850" spc="10" dirty="0">
                <a:latin typeface="Times New Roman"/>
                <a:cs typeface="Times New Roman"/>
              </a:rPr>
              <a:t>“</a:t>
            </a:r>
            <a:r>
              <a:rPr sz="850" spc="15" dirty="0">
                <a:latin typeface="Microsoft JhengHei UI"/>
                <a:cs typeface="Microsoft JhengHei UI"/>
              </a:rPr>
              <a:t>中间产物</a:t>
            </a:r>
            <a:r>
              <a:rPr sz="850" spc="10" dirty="0">
                <a:latin typeface="Times New Roman"/>
                <a:cs typeface="Times New Roman"/>
              </a:rPr>
              <a:t>”</a:t>
            </a:r>
            <a:r>
              <a:rPr sz="850" spc="10" dirty="0">
                <a:latin typeface="Microsoft JhengHei UI"/>
                <a:cs typeface="Microsoft JhengHei UI"/>
              </a:rPr>
              <a:t>（</a:t>
            </a:r>
            <a:r>
              <a:rPr sz="850" spc="15" dirty="0">
                <a:latin typeface="Microsoft JhengHei UI"/>
                <a:cs typeface="Microsoft JhengHei UI"/>
              </a:rPr>
              <a:t>激活图）在训练时必须全部保存在显存中，导致内存开销极其恐怖。</a:t>
            </a:r>
            <a:endParaRPr sz="850">
              <a:latin typeface="Microsoft JhengHei UI"/>
              <a:cs typeface="Microsoft JhengHei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13986" y="5645638"/>
            <a:ext cx="4874895" cy="15055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dirty="0">
                <a:latin typeface="Times New Roman"/>
                <a:cs typeface="Times New Roman"/>
              </a:rPr>
              <a:t>"Note</a:t>
            </a:r>
            <a:r>
              <a:rPr sz="850" spc="40" dirty="0">
                <a:latin typeface="Times New Roman"/>
                <a:cs typeface="Times New Roman"/>
              </a:rPr>
              <a:t>: </a:t>
            </a:r>
            <a:r>
              <a:rPr sz="850" dirty="0">
                <a:latin typeface="Times New Roman"/>
                <a:cs typeface="Times New Roman"/>
              </a:rPr>
              <a:t>Most</a:t>
            </a:r>
            <a:r>
              <a:rPr sz="850" spc="8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params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are</a:t>
            </a:r>
            <a:r>
              <a:rPr sz="850" spc="8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in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late</a:t>
            </a:r>
            <a:r>
              <a:rPr sz="850" spc="8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FC</a:t>
            </a:r>
            <a:r>
              <a:rPr sz="850" spc="25" dirty="0">
                <a:latin typeface="Times New Roman"/>
                <a:cs typeface="Times New Roman"/>
              </a:rPr>
              <a:t>" (</a:t>
            </a:r>
            <a:r>
              <a:rPr sz="850" dirty="0">
                <a:latin typeface="Microsoft JhengHei UI"/>
                <a:cs typeface="Microsoft JhengHei UI"/>
              </a:rPr>
              <a:t>⼤部分</a:t>
            </a:r>
            <a:r>
              <a:rPr sz="850" dirty="0">
                <a:latin typeface="Times New Roman"/>
                <a:cs typeface="Times New Roman"/>
              </a:rPr>
              <a:t>“</a:t>
            </a:r>
            <a:r>
              <a:rPr sz="850" dirty="0">
                <a:latin typeface="Microsoft JhengHei UI"/>
                <a:cs typeface="Microsoft JhengHei UI"/>
              </a:rPr>
              <a:t>参数</a:t>
            </a:r>
            <a:r>
              <a:rPr sz="850" dirty="0">
                <a:latin typeface="Times New Roman"/>
                <a:cs typeface="Times New Roman"/>
              </a:rPr>
              <a:t>”</a:t>
            </a:r>
            <a:r>
              <a:rPr sz="850" dirty="0">
                <a:latin typeface="Microsoft JhengHei UI"/>
                <a:cs typeface="Microsoft JhengHei UI"/>
              </a:rPr>
              <a:t>消耗在</a:t>
            </a:r>
            <a:r>
              <a:rPr sz="850" dirty="0">
                <a:latin typeface="Times New Roman"/>
                <a:cs typeface="Times New Roman"/>
              </a:rPr>
              <a:t>“</a:t>
            </a:r>
            <a:r>
              <a:rPr sz="850" dirty="0">
                <a:latin typeface="Microsoft JhengHei UI"/>
                <a:cs typeface="Microsoft JhengHei UI"/>
              </a:rPr>
              <a:t>晚期的</a:t>
            </a:r>
            <a:r>
              <a:rPr sz="850" dirty="0">
                <a:latin typeface="Times New Roman"/>
                <a:cs typeface="Times New Roman"/>
              </a:rPr>
              <a:t>”</a:t>
            </a:r>
            <a:r>
              <a:rPr sz="850" dirty="0">
                <a:latin typeface="Microsoft JhengHei UI"/>
                <a:cs typeface="Microsoft JhengHei UI"/>
              </a:rPr>
              <a:t>全连接层</a:t>
            </a:r>
            <a:r>
              <a:rPr sz="850" spc="-50" dirty="0">
                <a:latin typeface="Times New Roman"/>
                <a:cs typeface="Times New Roman"/>
              </a:rPr>
              <a:t>)</a:t>
            </a:r>
            <a:endParaRPr sz="850">
              <a:latin typeface="Times New Roman"/>
              <a:cs typeface="Times New Roman"/>
            </a:endParaRPr>
          </a:p>
          <a:p>
            <a:pPr marL="12700" marR="631825">
              <a:lnSpc>
                <a:spcPct val="184000"/>
              </a:lnSpc>
            </a:pPr>
            <a:r>
              <a:rPr sz="850" dirty="0">
                <a:latin typeface="Microsoft JhengHei UI"/>
                <a:cs typeface="Microsoft JhengHei UI"/>
              </a:rPr>
              <a:t>看</a:t>
            </a:r>
            <a:r>
              <a:rPr sz="850" dirty="0">
                <a:latin typeface="Times New Roman"/>
                <a:cs typeface="Times New Roman"/>
              </a:rPr>
              <a:t>“params”</a:t>
            </a:r>
            <a:r>
              <a:rPr sz="850" spc="25" dirty="0">
                <a:latin typeface="Microsoft JhengHei UI"/>
                <a:cs typeface="Microsoft JhengHei UI"/>
              </a:rPr>
              <a:t>列：所有的 </a:t>
            </a:r>
            <a:r>
              <a:rPr sz="850" dirty="0">
                <a:latin typeface="Times New Roman"/>
                <a:cs typeface="Times New Roman"/>
              </a:rPr>
              <a:t>CONV</a:t>
            </a:r>
            <a:r>
              <a:rPr sz="850" spc="13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Microsoft JhengHei UI"/>
                <a:cs typeface="Microsoft JhengHei UI"/>
              </a:rPr>
              <a:t>层（</a:t>
            </a:r>
            <a:r>
              <a:rPr sz="850" spc="50" dirty="0">
                <a:latin typeface="Microsoft JhengHei UI"/>
                <a:cs typeface="Microsoft JhengHei UI"/>
              </a:rPr>
              <a:t>由于 </a:t>
            </a:r>
            <a:r>
              <a:rPr sz="850" dirty="0">
                <a:latin typeface="Times New Roman"/>
                <a:cs typeface="Times New Roman"/>
              </a:rPr>
              <a:t>3x3</a:t>
            </a:r>
            <a:r>
              <a:rPr sz="850" spc="16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Microsoft JhengHei UI"/>
                <a:cs typeface="Microsoft JhengHei UI"/>
              </a:rPr>
              <a:t>很⼩，且参数共享）</a:t>
            </a:r>
            <a:r>
              <a:rPr sz="850" spc="-5" dirty="0">
                <a:latin typeface="Microsoft JhengHei UI"/>
                <a:cs typeface="Microsoft JhengHei UI"/>
              </a:rPr>
              <a:t>加起来的参数都还好。</a:t>
            </a:r>
            <a:r>
              <a:rPr sz="850" spc="10" dirty="0">
                <a:latin typeface="Microsoft JhengHei UI"/>
                <a:cs typeface="Microsoft JhengHei UI"/>
              </a:rPr>
              <a:t>但是，看第⼀个 </a:t>
            </a:r>
            <a:r>
              <a:rPr sz="850" dirty="0">
                <a:latin typeface="Times New Roman"/>
                <a:cs typeface="Times New Roman"/>
              </a:rPr>
              <a:t>FC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spc="-25" dirty="0">
                <a:latin typeface="Microsoft JhengHei UI"/>
                <a:cs typeface="Microsoft JhengHei UI"/>
              </a:rPr>
              <a:t>层！</a:t>
            </a:r>
            <a:endParaRPr sz="8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850" spc="15" dirty="0">
                <a:latin typeface="Microsoft JhengHei UI"/>
                <a:cs typeface="Microsoft JhengHei UI"/>
              </a:rPr>
              <a:t>它的输⼊是 </a:t>
            </a:r>
            <a:r>
              <a:rPr sz="850" dirty="0">
                <a:latin typeface="Times New Roman"/>
                <a:cs typeface="Times New Roman"/>
              </a:rPr>
              <a:t>7x7x512</a:t>
            </a:r>
            <a:r>
              <a:rPr sz="850" dirty="0">
                <a:latin typeface="Microsoft JhengHei UI"/>
                <a:cs typeface="Microsoft JhengHei UI"/>
              </a:rPr>
              <a:t>（</a:t>
            </a:r>
            <a:r>
              <a:rPr sz="850" spc="15" dirty="0">
                <a:latin typeface="Microsoft JhengHei UI"/>
                <a:cs typeface="Microsoft JhengHei UI"/>
              </a:rPr>
              <a:t>来⾃最后⼀个 </a:t>
            </a:r>
            <a:r>
              <a:rPr sz="850" dirty="0">
                <a:latin typeface="Times New Roman"/>
                <a:cs typeface="Times New Roman"/>
              </a:rPr>
              <a:t>POOL</a:t>
            </a:r>
            <a:r>
              <a:rPr sz="850" spc="6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Microsoft JhengHei UI"/>
                <a:cs typeface="Microsoft JhengHei UI"/>
              </a:rPr>
              <a:t>层），</a:t>
            </a:r>
            <a:r>
              <a:rPr sz="850" spc="30" dirty="0">
                <a:latin typeface="Microsoft JhengHei UI"/>
                <a:cs typeface="Microsoft JhengHei UI"/>
              </a:rPr>
              <a:t>输出是 </a:t>
            </a:r>
            <a:r>
              <a:rPr sz="850" dirty="0">
                <a:latin typeface="Times New Roman"/>
                <a:cs typeface="Times New Roman"/>
              </a:rPr>
              <a:t>4096</a:t>
            </a:r>
            <a:r>
              <a:rPr sz="850" spc="-50" dirty="0">
                <a:latin typeface="Microsoft JhengHei UI"/>
                <a:cs typeface="Microsoft JhengHei UI"/>
              </a:rPr>
              <a:t>。</a:t>
            </a:r>
            <a:endParaRPr sz="8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850" dirty="0">
                <a:latin typeface="Microsoft JhengHei UI"/>
                <a:cs typeface="Microsoft JhengHei UI"/>
              </a:rPr>
              <a:t>我们学的</a:t>
            </a:r>
            <a:r>
              <a:rPr sz="850" dirty="0">
                <a:latin typeface="Times New Roman"/>
                <a:cs typeface="Times New Roman"/>
              </a:rPr>
              <a:t>“</a:t>
            </a:r>
            <a:r>
              <a:rPr sz="850" dirty="0">
                <a:latin typeface="Microsoft JhengHei UI"/>
                <a:cs typeface="Microsoft JhengHei UI"/>
              </a:rPr>
              <a:t>神经元</a:t>
            </a:r>
            <a:r>
              <a:rPr sz="850" dirty="0">
                <a:latin typeface="Times New Roman"/>
                <a:cs typeface="Times New Roman"/>
              </a:rPr>
              <a:t>”</a:t>
            </a:r>
            <a:r>
              <a:rPr sz="850" spc="5" dirty="0">
                <a:latin typeface="Microsoft JhengHei UI"/>
                <a:cs typeface="Microsoft JhengHei UI"/>
              </a:rPr>
              <a:t>知识派上⽤场了：它需要 </a:t>
            </a:r>
            <a:r>
              <a:rPr sz="850" dirty="0">
                <a:latin typeface="Times New Roman"/>
                <a:cs typeface="Times New Roman"/>
              </a:rPr>
              <a:t>(7*7*512)</a:t>
            </a:r>
            <a:r>
              <a:rPr sz="850" spc="8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*</a:t>
            </a:r>
            <a:r>
              <a:rPr sz="850" spc="7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4096</a:t>
            </a:r>
            <a:r>
              <a:rPr sz="850" spc="50" dirty="0">
                <a:latin typeface="Times New Roman"/>
                <a:cs typeface="Times New Roman"/>
              </a:rPr>
              <a:t> = </a:t>
            </a:r>
            <a:r>
              <a:rPr sz="850" dirty="0">
                <a:latin typeface="Times New Roman"/>
                <a:cs typeface="Times New Roman"/>
              </a:rPr>
              <a:t>102,760,448</a:t>
            </a:r>
            <a:r>
              <a:rPr sz="850" spc="35" dirty="0">
                <a:latin typeface="Times New Roman"/>
                <a:cs typeface="Times New Roman"/>
              </a:rPr>
              <a:t> (</a:t>
            </a:r>
            <a:r>
              <a:rPr sz="850" spc="25" dirty="0">
                <a:latin typeface="Microsoft JhengHei UI"/>
                <a:cs typeface="Microsoft JhengHei UI"/>
              </a:rPr>
              <a:t>超过 </a:t>
            </a:r>
            <a:r>
              <a:rPr sz="850" dirty="0">
                <a:latin typeface="Times New Roman"/>
                <a:cs typeface="Times New Roman"/>
              </a:rPr>
              <a:t>1</a:t>
            </a:r>
            <a:r>
              <a:rPr sz="850" spc="7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Microsoft JhengHei UI"/>
                <a:cs typeface="Microsoft JhengHei UI"/>
              </a:rPr>
              <a:t>亿</a:t>
            </a:r>
            <a:r>
              <a:rPr sz="850" spc="40" dirty="0">
                <a:latin typeface="Times New Roman"/>
                <a:cs typeface="Times New Roman"/>
              </a:rPr>
              <a:t>) </a:t>
            </a:r>
            <a:r>
              <a:rPr sz="850" spc="-15" dirty="0">
                <a:latin typeface="Microsoft JhengHei UI"/>
                <a:cs typeface="Microsoft JhengHei UI"/>
              </a:rPr>
              <a:t>个权重！</a:t>
            </a:r>
            <a:endParaRPr sz="850">
              <a:latin typeface="Microsoft JhengHei UI"/>
              <a:cs typeface="Microsoft JhengHei UI"/>
            </a:endParaRPr>
          </a:p>
          <a:p>
            <a:pPr marL="213360" marR="5080" indent="-201295">
              <a:lnSpc>
                <a:spcPct val="119800"/>
              </a:lnSpc>
              <a:spcBef>
                <a:spcPts val="655"/>
              </a:spcBef>
            </a:pPr>
            <a:r>
              <a:rPr sz="850" spc="-5" dirty="0">
                <a:latin typeface="Microsoft JhengHei UI"/>
                <a:cs typeface="Microsoft JhengHei UI"/>
              </a:rPr>
              <a:t>结果：</a:t>
            </a:r>
            <a:r>
              <a:rPr sz="850" spc="-10" dirty="0">
                <a:latin typeface="Times New Roman"/>
                <a:cs typeface="Times New Roman"/>
              </a:rPr>
              <a:t>TOTAL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params</a:t>
            </a:r>
            <a:r>
              <a:rPr sz="850" spc="70" dirty="0">
                <a:latin typeface="Times New Roman"/>
                <a:cs typeface="Times New Roman"/>
              </a:rPr>
              <a:t>: </a:t>
            </a:r>
            <a:r>
              <a:rPr sz="850" dirty="0">
                <a:latin typeface="Times New Roman"/>
                <a:cs typeface="Times New Roman"/>
              </a:rPr>
              <a:t>138M</a:t>
            </a:r>
            <a:r>
              <a:rPr sz="850" spc="14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(1.38</a:t>
            </a:r>
            <a:r>
              <a:rPr sz="850" spc="14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Microsoft JhengHei UI"/>
                <a:cs typeface="Microsoft JhengHei UI"/>
              </a:rPr>
              <a:t>亿</a:t>
            </a:r>
            <a:r>
              <a:rPr sz="850" dirty="0">
                <a:latin typeface="Times New Roman"/>
                <a:cs typeface="Times New Roman"/>
              </a:rPr>
              <a:t>)</a:t>
            </a:r>
            <a:r>
              <a:rPr sz="850" dirty="0">
                <a:latin typeface="Microsoft JhengHei UI"/>
                <a:cs typeface="Microsoft JhengHei UI"/>
              </a:rPr>
              <a:t>。</a:t>
            </a:r>
            <a:r>
              <a:rPr sz="850" dirty="0">
                <a:latin typeface="Times New Roman"/>
                <a:cs typeface="Times New Roman"/>
              </a:rPr>
              <a:t>VGGNet</a:t>
            </a:r>
            <a:r>
              <a:rPr sz="850" spc="13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Microsoft JhengHei UI"/>
                <a:cs typeface="Microsoft JhengHei UI"/>
              </a:rPr>
              <a:t>是⼀个</a:t>
            </a:r>
            <a:r>
              <a:rPr sz="850" dirty="0">
                <a:latin typeface="Times New Roman"/>
                <a:cs typeface="Times New Roman"/>
              </a:rPr>
              <a:t>**</a:t>
            </a:r>
            <a:r>
              <a:rPr sz="850" dirty="0">
                <a:latin typeface="Microsoft JhengHei UI"/>
                <a:cs typeface="Microsoft JhengHei UI"/>
              </a:rPr>
              <a:t>极其</a:t>
            </a:r>
            <a:r>
              <a:rPr sz="850" dirty="0">
                <a:latin typeface="Times New Roman"/>
                <a:cs typeface="Times New Roman"/>
              </a:rPr>
              <a:t>“</a:t>
            </a:r>
            <a:r>
              <a:rPr sz="850" dirty="0">
                <a:latin typeface="Microsoft JhengHei UI"/>
                <a:cs typeface="Microsoft JhengHei UI"/>
              </a:rPr>
              <a:t>臃肿</a:t>
            </a:r>
            <a:r>
              <a:rPr sz="850" dirty="0">
                <a:latin typeface="Times New Roman"/>
                <a:cs typeface="Times New Roman"/>
              </a:rPr>
              <a:t>”</a:t>
            </a:r>
            <a:r>
              <a:rPr sz="850" dirty="0">
                <a:latin typeface="Microsoft JhengHei UI"/>
                <a:cs typeface="Microsoft JhengHei UI"/>
              </a:rPr>
              <a:t>和</a:t>
            </a:r>
            <a:r>
              <a:rPr sz="850" dirty="0">
                <a:latin typeface="Times New Roman"/>
                <a:cs typeface="Times New Roman"/>
              </a:rPr>
              <a:t>“</a:t>
            </a:r>
            <a:r>
              <a:rPr sz="850" dirty="0">
                <a:latin typeface="Microsoft JhengHei UI"/>
                <a:cs typeface="Microsoft JhengHei UI"/>
              </a:rPr>
              <a:t>沉重</a:t>
            </a:r>
            <a:r>
              <a:rPr sz="850" dirty="0">
                <a:latin typeface="Times New Roman"/>
                <a:cs typeface="Times New Roman"/>
              </a:rPr>
              <a:t>”**</a:t>
            </a:r>
            <a:r>
              <a:rPr sz="850" spc="-10" dirty="0">
                <a:latin typeface="Microsoft JhengHei UI"/>
                <a:cs typeface="Microsoft JhengHei UI"/>
              </a:rPr>
              <a:t>的庞然⼤物。它的参</a:t>
            </a:r>
            <a:r>
              <a:rPr sz="850" spc="-5" dirty="0">
                <a:latin typeface="Microsoft JhengHei UI"/>
                <a:cs typeface="Microsoft JhengHei UI"/>
              </a:rPr>
              <a:t>数量⼏乎是 </a:t>
            </a:r>
            <a:r>
              <a:rPr sz="850" dirty="0">
                <a:latin typeface="Times New Roman"/>
                <a:cs typeface="Times New Roman"/>
              </a:rPr>
              <a:t>AlexNet</a:t>
            </a:r>
            <a:r>
              <a:rPr sz="850" spc="55" dirty="0">
                <a:latin typeface="Times New Roman"/>
                <a:cs typeface="Times New Roman"/>
              </a:rPr>
              <a:t> </a:t>
            </a:r>
            <a:r>
              <a:rPr sz="850" spc="25" dirty="0">
                <a:latin typeface="Microsoft JhengHei UI"/>
                <a:cs typeface="Microsoft JhengHei UI"/>
              </a:rPr>
              <a:t>的 </a:t>
            </a:r>
            <a:r>
              <a:rPr sz="850" dirty="0">
                <a:latin typeface="Times New Roman"/>
                <a:cs typeface="Times New Roman"/>
              </a:rPr>
              <a:t>10</a:t>
            </a:r>
            <a:r>
              <a:rPr sz="850" spc="60" dirty="0">
                <a:latin typeface="Times New Roman"/>
                <a:cs typeface="Times New Roman"/>
              </a:rPr>
              <a:t> </a:t>
            </a:r>
            <a:r>
              <a:rPr sz="850" spc="-25" dirty="0">
                <a:latin typeface="Microsoft JhengHei UI"/>
                <a:cs typeface="Microsoft JhengHei UI"/>
              </a:rPr>
              <a:t>倍！</a:t>
            </a:r>
            <a:endParaRPr sz="8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7566" y="2112387"/>
            <a:ext cx="6942195" cy="34701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40166" y="4440645"/>
            <a:ext cx="2629535" cy="3663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67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210"/>
              </a:spcBef>
            </a:pPr>
            <a:r>
              <a:rPr sz="1900" dirty="0">
                <a:latin typeface="Calibri"/>
                <a:cs typeface="Calibri"/>
              </a:rPr>
              <a:t>Inception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module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80640" y="5270421"/>
            <a:ext cx="4589780" cy="317500"/>
          </a:xfrm>
          <a:custGeom>
            <a:avLst/>
            <a:gdLst/>
            <a:ahLst/>
            <a:cxnLst/>
            <a:rect l="l" t="t" r="r" b="b"/>
            <a:pathLst>
              <a:path w="4589780" h="317500">
                <a:moveTo>
                  <a:pt x="4589546" y="0"/>
                </a:moveTo>
                <a:lnTo>
                  <a:pt x="0" y="0"/>
                </a:lnTo>
                <a:lnTo>
                  <a:pt x="0" y="317124"/>
                </a:lnTo>
                <a:lnTo>
                  <a:pt x="4589546" y="317124"/>
                </a:lnTo>
                <a:lnTo>
                  <a:pt x="45895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0331" y="5284995"/>
            <a:ext cx="31527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ILSVRC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2014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winner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(6.7%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top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5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error)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67277" y="2121786"/>
            <a:ext cx="7809230" cy="3273425"/>
            <a:chOff x="1767277" y="2121786"/>
            <a:chExt cx="7809230" cy="3273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7277" y="2121786"/>
              <a:ext cx="7098728" cy="32550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16074" y="2638342"/>
              <a:ext cx="2660015" cy="2756535"/>
            </a:xfrm>
            <a:custGeom>
              <a:avLst/>
              <a:gdLst/>
              <a:ahLst/>
              <a:cxnLst/>
              <a:rect l="l" t="t" r="r" b="b"/>
              <a:pathLst>
                <a:path w="2660015" h="2756535">
                  <a:moveTo>
                    <a:pt x="2659954" y="0"/>
                  </a:moveTo>
                  <a:lnTo>
                    <a:pt x="0" y="0"/>
                  </a:lnTo>
                  <a:lnTo>
                    <a:pt x="0" y="2756537"/>
                  </a:lnTo>
                  <a:lnTo>
                    <a:pt x="2659954" y="2756537"/>
                  </a:lnTo>
                  <a:lnTo>
                    <a:pt x="26599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75764" y="2651523"/>
            <a:ext cx="2143760" cy="268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688031"/>
                </a:solidFill>
                <a:latin typeface="Calibri"/>
                <a:cs typeface="Calibri"/>
              </a:rPr>
              <a:t>Fun</a:t>
            </a:r>
            <a:r>
              <a:rPr sz="1600" spc="-3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688031"/>
                </a:solidFill>
                <a:latin typeface="Calibri"/>
                <a:cs typeface="Calibri"/>
              </a:rPr>
              <a:t>features:</a:t>
            </a:r>
            <a:endParaRPr sz="1600">
              <a:latin typeface="Calibri"/>
              <a:cs typeface="Calibri"/>
            </a:endParaRPr>
          </a:p>
          <a:p>
            <a:pPr marL="283845" marR="5080" indent="-271780">
              <a:lnSpc>
                <a:spcPct val="99400"/>
              </a:lnSpc>
              <a:spcBef>
                <a:spcPts val="1885"/>
              </a:spcBef>
              <a:buClr>
                <a:srgbClr val="000000"/>
              </a:buClr>
              <a:buChar char="-"/>
              <a:tabLst>
                <a:tab pos="283845" algn="l"/>
              </a:tabLst>
            </a:pPr>
            <a:r>
              <a:rPr sz="1600" dirty="0">
                <a:solidFill>
                  <a:srgbClr val="688031"/>
                </a:solidFill>
                <a:latin typeface="Calibri"/>
                <a:cs typeface="Calibri"/>
              </a:rPr>
              <a:t>Only</a:t>
            </a:r>
            <a:r>
              <a:rPr sz="1600" spc="-5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88031"/>
                </a:solidFill>
                <a:latin typeface="Calibri"/>
                <a:cs typeface="Calibri"/>
              </a:rPr>
              <a:t>5</a:t>
            </a:r>
            <a:r>
              <a:rPr sz="1600" spc="-5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88031"/>
                </a:solidFill>
                <a:latin typeface="Calibri"/>
                <a:cs typeface="Calibri"/>
              </a:rPr>
              <a:t>million</a:t>
            </a:r>
            <a:r>
              <a:rPr sz="1600" spc="-45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688031"/>
                </a:solidFill>
                <a:latin typeface="Calibri"/>
                <a:cs typeface="Calibri"/>
              </a:rPr>
              <a:t>params! (Removes</a:t>
            </a:r>
            <a:r>
              <a:rPr sz="1600" spc="-35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688031"/>
                </a:solidFill>
                <a:latin typeface="Calibri"/>
                <a:cs typeface="Calibri"/>
              </a:rPr>
              <a:t>FC</a:t>
            </a:r>
            <a:r>
              <a:rPr sz="1600" spc="-4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688031"/>
                </a:solidFill>
                <a:latin typeface="Calibri"/>
                <a:cs typeface="Calibri"/>
              </a:rPr>
              <a:t>layers completely)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35"/>
              </a:spcBef>
              <a:buFont typeface="Calibri"/>
              <a:buChar char="-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ts val="1910"/>
              </a:lnSpc>
              <a:spcBef>
                <a:spcPts val="5"/>
              </a:spcBef>
            </a:pPr>
            <a:r>
              <a:rPr sz="1600" b="1" spc="-10" dirty="0">
                <a:solidFill>
                  <a:srgbClr val="688031"/>
                </a:solidFill>
                <a:latin typeface="Calibri"/>
                <a:cs typeface="Calibri"/>
              </a:rPr>
              <a:t>Compared</a:t>
            </a:r>
            <a:r>
              <a:rPr sz="1600" b="1" spc="-45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88031"/>
                </a:solidFill>
                <a:latin typeface="Calibri"/>
                <a:cs typeface="Calibri"/>
              </a:rPr>
              <a:t>to</a:t>
            </a:r>
            <a:r>
              <a:rPr sz="1600" b="1" spc="-4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88031"/>
                </a:solidFill>
                <a:latin typeface="Calibri"/>
                <a:cs typeface="Calibri"/>
              </a:rPr>
              <a:t>AlexNet:</a:t>
            </a:r>
            <a:endParaRPr sz="1600">
              <a:latin typeface="Calibri"/>
              <a:cs typeface="Calibri"/>
            </a:endParaRPr>
          </a:p>
          <a:p>
            <a:pPr marL="283845" indent="-271145">
              <a:lnSpc>
                <a:spcPts val="1895"/>
              </a:lnSpc>
              <a:buClr>
                <a:srgbClr val="000000"/>
              </a:buClr>
              <a:buFont typeface="Calibri"/>
              <a:buChar char="-"/>
              <a:tabLst>
                <a:tab pos="283845" algn="l"/>
              </a:tabLst>
            </a:pPr>
            <a:r>
              <a:rPr sz="1600" b="1" dirty="0">
                <a:solidFill>
                  <a:srgbClr val="688031"/>
                </a:solidFill>
                <a:latin typeface="Calibri"/>
                <a:cs typeface="Calibri"/>
              </a:rPr>
              <a:t>12X</a:t>
            </a:r>
            <a:r>
              <a:rPr sz="1600" b="1" spc="-55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88031"/>
                </a:solidFill>
                <a:latin typeface="Calibri"/>
                <a:cs typeface="Calibri"/>
              </a:rPr>
              <a:t>less</a:t>
            </a:r>
            <a:r>
              <a:rPr sz="1600" b="1" spc="-4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88031"/>
                </a:solidFill>
                <a:latin typeface="Calibri"/>
                <a:cs typeface="Calibri"/>
              </a:rPr>
              <a:t>params</a:t>
            </a:r>
            <a:endParaRPr sz="1600">
              <a:latin typeface="Calibri"/>
              <a:cs typeface="Calibri"/>
            </a:endParaRPr>
          </a:p>
          <a:p>
            <a:pPr marL="283845" indent="-271145">
              <a:lnSpc>
                <a:spcPts val="1910"/>
              </a:lnSpc>
              <a:buClr>
                <a:srgbClr val="000000"/>
              </a:buClr>
              <a:buFont typeface="Calibri"/>
              <a:buChar char="-"/>
              <a:tabLst>
                <a:tab pos="283845" algn="l"/>
              </a:tabLst>
            </a:pPr>
            <a:r>
              <a:rPr sz="1600" b="1" dirty="0">
                <a:solidFill>
                  <a:srgbClr val="688031"/>
                </a:solidFill>
                <a:latin typeface="Calibri"/>
                <a:cs typeface="Calibri"/>
              </a:rPr>
              <a:t>2x</a:t>
            </a:r>
            <a:r>
              <a:rPr sz="1600" b="1" spc="-55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88031"/>
                </a:solidFill>
                <a:latin typeface="Calibri"/>
                <a:cs typeface="Calibri"/>
              </a:rPr>
              <a:t>more</a:t>
            </a:r>
            <a:r>
              <a:rPr sz="1600" b="1" spc="-5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88031"/>
                </a:solidFill>
                <a:latin typeface="Calibri"/>
                <a:cs typeface="Calibri"/>
              </a:rPr>
              <a:t>compute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83845" algn="l"/>
              </a:tabLst>
            </a:pPr>
            <a:r>
              <a:rPr sz="1600" spc="-50" dirty="0">
                <a:latin typeface="Calibri"/>
                <a:cs typeface="Calibri"/>
              </a:rPr>
              <a:t>-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b="1" dirty="0">
                <a:solidFill>
                  <a:srgbClr val="688031"/>
                </a:solidFill>
                <a:latin typeface="Calibri"/>
                <a:cs typeface="Calibri"/>
              </a:rPr>
              <a:t>6.67%</a:t>
            </a:r>
            <a:r>
              <a:rPr sz="1600" b="1" spc="-5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88031"/>
                </a:solidFill>
                <a:latin typeface="Calibri"/>
                <a:cs typeface="Calibri"/>
              </a:rPr>
              <a:t>(vs.</a:t>
            </a:r>
            <a:r>
              <a:rPr sz="1600" b="1" spc="-40" dirty="0">
                <a:solidFill>
                  <a:srgbClr val="68803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88031"/>
                </a:solidFill>
                <a:latin typeface="Calibri"/>
                <a:cs typeface="Calibri"/>
              </a:rPr>
              <a:t>16.4%)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7079" y="5531096"/>
            <a:ext cx="3132455" cy="7181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dirty="0">
                <a:latin typeface="Courier New"/>
                <a:cs typeface="Courier New"/>
              </a:rPr>
              <a:t>12x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less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params</a:t>
            </a:r>
            <a:r>
              <a:rPr sz="1000" spc="50" dirty="0">
                <a:latin typeface="Courier New"/>
                <a:cs typeface="Courier New"/>
              </a:rPr>
              <a:t> (</a:t>
            </a:r>
            <a:r>
              <a:rPr sz="1000" spc="225" dirty="0">
                <a:latin typeface="Microsoft JhengHei UI"/>
                <a:cs typeface="Microsoft JhengHei UI"/>
              </a:rPr>
              <a:t>⽐ </a:t>
            </a:r>
            <a:r>
              <a:rPr sz="1000" dirty="0">
                <a:latin typeface="Courier New"/>
                <a:cs typeface="Courier New"/>
              </a:rPr>
              <a:t>AlexNet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spc="225" dirty="0">
                <a:latin typeface="Microsoft JhengHei UI"/>
                <a:cs typeface="Microsoft JhengHei UI"/>
              </a:rPr>
              <a:t>少 </a:t>
            </a:r>
            <a:r>
              <a:rPr sz="1000" dirty="0">
                <a:latin typeface="Courier New"/>
                <a:cs typeface="Courier New"/>
              </a:rPr>
              <a:t>12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dirty="0">
                <a:latin typeface="Microsoft JhengHei UI"/>
                <a:cs typeface="Microsoft JhengHei UI"/>
              </a:rPr>
              <a:t>倍参数</a:t>
            </a:r>
            <a:r>
              <a:rPr sz="1000" spc="-50" dirty="0"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2700" marR="741680">
              <a:lnSpc>
                <a:spcPct val="175500"/>
              </a:lnSpc>
            </a:pPr>
            <a:r>
              <a:rPr sz="1000" dirty="0">
                <a:latin typeface="Courier New"/>
                <a:cs typeface="Courier New"/>
              </a:rPr>
              <a:t>2x</a:t>
            </a:r>
            <a:r>
              <a:rPr sz="1000" spc="1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more</a:t>
            </a:r>
            <a:r>
              <a:rPr sz="1000" spc="1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compute</a:t>
            </a:r>
            <a:r>
              <a:rPr sz="1000" spc="85" dirty="0">
                <a:latin typeface="Courier New"/>
                <a:cs typeface="Courier New"/>
              </a:rPr>
              <a:t> (</a:t>
            </a:r>
            <a:r>
              <a:rPr sz="1000" dirty="0">
                <a:latin typeface="Microsoft JhengHei UI"/>
                <a:cs typeface="Microsoft JhengHei UI"/>
              </a:rPr>
              <a:t>但计算量更密集</a:t>
            </a:r>
            <a:r>
              <a:rPr sz="1000" spc="-5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6.67%</a:t>
            </a:r>
            <a:r>
              <a:rPr sz="1000" spc="1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(vs.</a:t>
            </a:r>
            <a:r>
              <a:rPr sz="1000" spc="1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16.4%)</a:t>
            </a:r>
            <a:r>
              <a:rPr sz="1000" spc="80" dirty="0">
                <a:latin typeface="Courier New"/>
                <a:cs typeface="Courier New"/>
              </a:rPr>
              <a:t> (</a:t>
            </a:r>
            <a:r>
              <a:rPr sz="1000" spc="-5" dirty="0">
                <a:latin typeface="Microsoft JhengHei UI"/>
                <a:cs typeface="Microsoft JhengHei UI"/>
              </a:rPr>
              <a:t>错误率完胜！</a:t>
            </a:r>
            <a:r>
              <a:rPr sz="1000" spc="-25" dirty="0"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1583" y="2117920"/>
            <a:ext cx="6191049" cy="31882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21283" y="2345466"/>
            <a:ext cx="3303904" cy="3175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204"/>
              </a:spcBef>
            </a:pP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ILSVRC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2015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winner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(3.6%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top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5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error)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8742" y="1945835"/>
            <a:ext cx="6490137" cy="372597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7200" y="2402380"/>
            <a:ext cx="7189075" cy="259909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9429" y="1953299"/>
            <a:ext cx="7066771" cy="37180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46700" y="2231813"/>
            <a:ext cx="3619500" cy="3175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413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90"/>
              </a:spcBef>
            </a:pP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ILSVRC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2015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winner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(3.6%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top</a:t>
            </a:r>
            <a:r>
              <a:rPr sz="1600" spc="-6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B22EB"/>
                </a:solidFill>
                <a:latin typeface="Calibri"/>
                <a:cs typeface="Calibri"/>
              </a:rPr>
              <a:t>5</a:t>
            </a:r>
            <a:r>
              <a:rPr sz="1600" spc="-55" dirty="0">
                <a:solidFill>
                  <a:srgbClr val="0B22E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B22EB"/>
                </a:solidFill>
                <a:latin typeface="Calibri"/>
                <a:cs typeface="Calibri"/>
              </a:rPr>
              <a:t>error)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02309" y="2688017"/>
            <a:ext cx="2364740" cy="2025014"/>
          </a:xfrm>
          <a:custGeom>
            <a:avLst/>
            <a:gdLst/>
            <a:ahLst/>
            <a:cxnLst/>
            <a:rect l="l" t="t" r="r" b="b"/>
            <a:pathLst>
              <a:path w="2364740" h="2025014">
                <a:moveTo>
                  <a:pt x="2364193" y="0"/>
                </a:moveTo>
                <a:lnTo>
                  <a:pt x="0" y="0"/>
                </a:lnTo>
                <a:lnTo>
                  <a:pt x="0" y="2024714"/>
                </a:lnTo>
                <a:lnTo>
                  <a:pt x="2364193" y="2024714"/>
                </a:lnTo>
                <a:lnTo>
                  <a:pt x="23641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62000" y="2700291"/>
            <a:ext cx="214757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spc="-20" dirty="0">
                <a:latin typeface="Calibri"/>
                <a:cs typeface="Calibri"/>
              </a:rPr>
              <a:t>2-</a:t>
            </a:r>
            <a:r>
              <a:rPr sz="1600" dirty="0">
                <a:latin typeface="Calibri"/>
                <a:cs typeface="Calibri"/>
              </a:rPr>
              <a:t>3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weeks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training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8 </a:t>
            </a:r>
            <a:r>
              <a:rPr sz="1600" dirty="0">
                <a:latin typeface="Calibri"/>
                <a:cs typeface="Calibri"/>
              </a:rPr>
              <a:t>GPU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machine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2000" y="3910347"/>
            <a:ext cx="2050414" cy="75120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Calibri"/>
                <a:cs typeface="Calibri"/>
              </a:rPr>
              <a:t>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runtime: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faster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VGGNet!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(even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though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8x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layers)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27200" y="1873881"/>
            <a:ext cx="7506970" cy="3775075"/>
            <a:chOff x="1727200" y="1873881"/>
            <a:chExt cx="7506970" cy="3775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200" y="1873881"/>
              <a:ext cx="7207226" cy="37748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272712" y="2753962"/>
              <a:ext cx="1961514" cy="561340"/>
            </a:xfrm>
            <a:custGeom>
              <a:avLst/>
              <a:gdLst/>
              <a:ahLst/>
              <a:cxnLst/>
              <a:rect l="l" t="t" r="r" b="b"/>
              <a:pathLst>
                <a:path w="1961515" h="561339">
                  <a:moveTo>
                    <a:pt x="1961111" y="0"/>
                  </a:moveTo>
                  <a:lnTo>
                    <a:pt x="0" y="0"/>
                  </a:lnTo>
                  <a:lnTo>
                    <a:pt x="0" y="561065"/>
                  </a:lnTo>
                  <a:lnTo>
                    <a:pt x="1961111" y="561065"/>
                  </a:lnTo>
                  <a:lnTo>
                    <a:pt x="1961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32402" y="2767347"/>
            <a:ext cx="146685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spatial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dimension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sz="16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56x56!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539" y="2052951"/>
            <a:ext cx="7058540" cy="310237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444" y="1192921"/>
            <a:ext cx="618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002060"/>
                </a:solidFill>
                <a:latin typeface="Calibri"/>
                <a:cs typeface="Calibri"/>
              </a:rPr>
              <a:t>CNN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700" y="1955010"/>
            <a:ext cx="9804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Calibri"/>
                <a:cs typeface="Calibri"/>
              </a:rPr>
              <a:t>Summary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3700" y="2528034"/>
            <a:ext cx="5806440" cy="179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Char char="-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ConvNets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stack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CONV,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POOL,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FC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layers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buChar char="-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Trend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towards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smaller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filters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deeper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architectures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Char char="-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Trend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towards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getting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rid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POOL/FC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layers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(just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CONV)</a:t>
            </a:r>
            <a:endParaRPr sz="19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25"/>
              </a:spcBef>
              <a:buChar char="-"/>
              <a:tabLst>
                <a:tab pos="283845" algn="l"/>
              </a:tabLst>
            </a:pPr>
            <a:r>
              <a:rPr sz="1900" dirty="0">
                <a:latin typeface="Calibri"/>
                <a:cs typeface="Calibri"/>
              </a:rPr>
              <a:t>Typical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architectures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look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endParaRPr sz="1900">
              <a:latin typeface="Calibri"/>
              <a:cs typeface="Calibri"/>
            </a:endParaRPr>
          </a:p>
          <a:p>
            <a:pPr marL="775970">
              <a:lnSpc>
                <a:spcPct val="100000"/>
              </a:lnSpc>
              <a:spcBef>
                <a:spcPts val="345"/>
              </a:spcBef>
            </a:pPr>
            <a:r>
              <a:rPr sz="1600" b="1" spc="-20" dirty="0">
                <a:latin typeface="Calibri"/>
                <a:cs typeface="Calibri"/>
              </a:rPr>
              <a:t>[(CONV-RELU)*N-</a:t>
            </a:r>
            <a:r>
              <a:rPr sz="1600" b="1" spc="-25" dirty="0">
                <a:latin typeface="Calibri"/>
                <a:cs typeface="Calibri"/>
              </a:rPr>
              <a:t>POOL?]*M-</a:t>
            </a:r>
            <a:r>
              <a:rPr sz="1600" b="1" spc="-20" dirty="0">
                <a:latin typeface="Calibri"/>
                <a:cs typeface="Calibri"/>
              </a:rPr>
              <a:t>(FC-</a:t>
            </a:r>
            <a:r>
              <a:rPr sz="1600" b="1" spc="-10" dirty="0">
                <a:latin typeface="Calibri"/>
                <a:cs typeface="Calibri"/>
              </a:rPr>
              <a:t>RELU)*K,</a:t>
            </a:r>
            <a:r>
              <a:rPr sz="1600" b="1" spc="17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SOFTMAX</a:t>
            </a:r>
            <a:endParaRPr sz="1600">
              <a:latin typeface="Calibri"/>
              <a:cs typeface="Calibri"/>
            </a:endParaRPr>
          </a:p>
          <a:p>
            <a:pPr marL="775970">
              <a:lnSpc>
                <a:spcPct val="100000"/>
              </a:lnSpc>
              <a:spcBef>
                <a:spcPts val="580"/>
              </a:spcBef>
            </a:pPr>
            <a:r>
              <a:rPr sz="1600" spc="-10" dirty="0">
                <a:latin typeface="Calibri"/>
                <a:cs typeface="Calibri"/>
              </a:rPr>
              <a:t>where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usually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~5,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large,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0&lt;=K&lt;=2.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7086" y="4371118"/>
            <a:ext cx="58045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" algn="l"/>
              </a:tabLst>
            </a:pPr>
            <a:r>
              <a:rPr sz="1500" spc="-50" dirty="0">
                <a:latin typeface="Calibri"/>
                <a:cs typeface="Calibri"/>
              </a:rPr>
              <a:t>-</a:t>
            </a:r>
            <a:r>
              <a:rPr sz="1500" dirty="0">
                <a:latin typeface="Calibri"/>
                <a:cs typeface="Calibri"/>
              </a:rPr>
              <a:t>	but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recent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advances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such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ResNet/GoogLeNet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challenge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paradigm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5576" y="220396"/>
            <a:ext cx="3868420" cy="1136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1.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"ConvNets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CONV,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POOL,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FC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layers"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100" dirty="0">
                <a:latin typeface="Microsoft JhengHei UI"/>
                <a:cs typeface="Microsoft JhengHei UI"/>
              </a:rPr>
              <a:t>（</a:t>
            </a:r>
            <a:r>
              <a:rPr sz="1100" dirty="0">
                <a:latin typeface="Times New Roman"/>
                <a:cs typeface="Times New Roman"/>
              </a:rPr>
              <a:t>CNN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就是 </a:t>
            </a:r>
            <a:r>
              <a:rPr sz="1100" spc="-40" dirty="0">
                <a:latin typeface="Times New Roman"/>
                <a:cs typeface="Times New Roman"/>
              </a:rPr>
              <a:t>CONV</a:t>
            </a:r>
            <a:r>
              <a:rPr sz="1100" spc="-35" dirty="0">
                <a:latin typeface="Times New Roman"/>
                <a:cs typeface="Times New Roman"/>
              </a:rPr>
              <a:t>, </a:t>
            </a:r>
            <a:r>
              <a:rPr sz="1100" dirty="0">
                <a:latin typeface="Times New Roman"/>
                <a:cs typeface="Times New Roman"/>
              </a:rPr>
              <a:t>POOL</a:t>
            </a:r>
            <a:r>
              <a:rPr sz="1100" spc="-15" dirty="0">
                <a:latin typeface="Times New Roman"/>
                <a:cs typeface="Times New Roman"/>
              </a:rPr>
              <a:t>, </a:t>
            </a:r>
            <a:r>
              <a:rPr sz="1100" dirty="0">
                <a:latin typeface="Times New Roman"/>
                <a:cs typeface="Times New Roman"/>
              </a:rPr>
              <a:t>FC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层的堆叠</a:t>
            </a:r>
            <a:r>
              <a:rPr sz="1100" spc="-50" dirty="0">
                <a:latin typeface="Microsoft JhengHei UI"/>
                <a:cs typeface="Microsoft JhengHei UI"/>
              </a:rPr>
              <a:t>）</a:t>
            </a:r>
            <a:endParaRPr sz="1100">
              <a:latin typeface="Microsoft JhengHei UI"/>
              <a:cs typeface="Microsoft JhengHei UI"/>
            </a:endParaRPr>
          </a:p>
          <a:p>
            <a:pPr marL="268605" marR="5080" indent="-256540">
              <a:lnSpc>
                <a:spcPct val="115700"/>
              </a:lnSpc>
              <a:spcBef>
                <a:spcPts val="655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我们的认证： 正确！我们称它们为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三剑客</a:t>
            </a:r>
            <a:r>
              <a:rPr sz="1100" spc="-30" dirty="0">
                <a:latin typeface="Times New Roman"/>
                <a:cs typeface="Times New Roman"/>
              </a:rPr>
              <a:t>”</a:t>
            </a:r>
            <a:r>
              <a:rPr sz="1100" spc="-30" dirty="0">
                <a:latin typeface="Microsoft JhengHei UI"/>
                <a:cs typeface="Microsoft JhengHei UI"/>
              </a:rPr>
              <a:t>（</a:t>
            </a:r>
            <a:r>
              <a:rPr sz="1100" spc="-30" dirty="0">
                <a:latin typeface="Times New Roman"/>
                <a:cs typeface="Times New Roman"/>
              </a:rPr>
              <a:t>CONV</a:t>
            </a:r>
            <a:r>
              <a:rPr sz="1100" spc="15" dirty="0">
                <a:latin typeface="Times New Roman"/>
                <a:cs typeface="Times New Roman"/>
              </a:rPr>
              <a:t>, </a:t>
            </a:r>
            <a:r>
              <a:rPr sz="1100" spc="-10" dirty="0">
                <a:latin typeface="Times New Roman"/>
                <a:cs typeface="Times New Roman"/>
              </a:rPr>
              <a:t>ReLU, </a:t>
            </a:r>
            <a:r>
              <a:rPr sz="1100" spc="-20" dirty="0">
                <a:latin typeface="Times New Roman"/>
                <a:cs typeface="Times New Roman"/>
              </a:rPr>
              <a:t>POOL</a:t>
            </a:r>
            <a:r>
              <a:rPr sz="1100" spc="-20" dirty="0">
                <a:latin typeface="Microsoft JhengHei UI"/>
                <a:cs typeface="Microsoft JhengHei UI"/>
              </a:rPr>
              <a:t>）和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决策者</a:t>
            </a:r>
            <a:r>
              <a:rPr sz="1100" spc="-10" dirty="0">
                <a:latin typeface="Times New Roman"/>
                <a:cs typeface="Times New Roman"/>
              </a:rPr>
              <a:t>”(FC)</a:t>
            </a:r>
            <a:r>
              <a:rPr sz="1100" spc="-20" dirty="0">
                <a:latin typeface="Microsoft JhengHei UI"/>
                <a:cs typeface="Microsoft JhengHei UI"/>
              </a:rPr>
              <a:t>。这就是经典 </a:t>
            </a:r>
            <a:r>
              <a:rPr sz="1100" dirty="0">
                <a:latin typeface="Times New Roman"/>
                <a:cs typeface="Times New Roman"/>
              </a:rPr>
              <a:t>CNN </a:t>
            </a:r>
            <a:r>
              <a:rPr sz="1100" spc="-20" dirty="0">
                <a:latin typeface="Microsoft JhengHei UI"/>
                <a:cs typeface="Microsoft JhengHei UI"/>
              </a:rPr>
              <a:t>架构的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⻣架</a:t>
            </a:r>
            <a:r>
              <a:rPr sz="1100" spc="-25" dirty="0">
                <a:latin typeface="Times New Roman"/>
                <a:cs typeface="Times New Roman"/>
              </a:rPr>
              <a:t>”</a:t>
            </a:r>
            <a:r>
              <a:rPr sz="1100" spc="-25" dirty="0">
                <a:latin typeface="Microsoft JhengHei UI"/>
                <a:cs typeface="Microsoft JhengHei UI"/>
              </a:rPr>
              <a:t>，</a:t>
            </a:r>
            <a:r>
              <a:rPr sz="1100" spc="-35" dirty="0">
                <a:latin typeface="Microsoft JhengHei UI"/>
                <a:cs typeface="Microsoft JhengHei UI"/>
              </a:rPr>
              <a:t>我们在 </a:t>
            </a:r>
            <a:r>
              <a:rPr sz="1100" dirty="0">
                <a:latin typeface="Times New Roman"/>
                <a:cs typeface="Times New Roman"/>
              </a:rPr>
              <a:t>AlexNet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和 </a:t>
            </a:r>
            <a:r>
              <a:rPr sz="1100" spc="-10" dirty="0">
                <a:latin typeface="Times New Roman"/>
                <a:cs typeface="Times New Roman"/>
              </a:rPr>
              <a:t>VGGNet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Microsoft JhengHei UI"/>
                <a:cs typeface="Microsoft JhengHei UI"/>
              </a:rPr>
              <a:t>中都看到了这个清晰的结构。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2263" y="96282"/>
            <a:ext cx="4159885" cy="1496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2.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"Trend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smaller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filters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architectures"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（趋势是使⽤更⼩的滤波器和更深的⽹络架构</a:t>
            </a:r>
            <a:r>
              <a:rPr sz="1100" spc="-50" dirty="0">
                <a:latin typeface="Microsoft JhengHei UI"/>
                <a:cs typeface="Microsoft JhengHei UI"/>
              </a:rPr>
              <a:t>）</a:t>
            </a:r>
            <a:endParaRPr sz="1100">
              <a:latin typeface="Microsoft JhengHei UI"/>
              <a:cs typeface="Microsoft JhengHei UI"/>
            </a:endParaRPr>
          </a:p>
          <a:p>
            <a:pPr marL="268605" marR="5080" indent="-256540">
              <a:lnSpc>
                <a:spcPct val="115700"/>
              </a:lnSpc>
              <a:spcBef>
                <a:spcPts val="655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我们的认证： 太对了！这正是我们看到的 </a:t>
            </a:r>
            <a:r>
              <a:rPr sz="1100" spc="-10" dirty="0">
                <a:latin typeface="Times New Roman"/>
                <a:cs typeface="Times New Roman"/>
              </a:rPr>
              <a:t>VGGNet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(2014)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Microsoft JhengHei UI"/>
                <a:cs typeface="Microsoft JhengHei UI"/>
              </a:rPr>
              <a:t>对 </a:t>
            </a:r>
            <a:r>
              <a:rPr sz="1100" spc="-10" dirty="0">
                <a:latin typeface="Times New Roman"/>
                <a:cs typeface="Times New Roman"/>
              </a:rPr>
              <a:t>AlexNet </a:t>
            </a:r>
            <a:r>
              <a:rPr sz="1100" dirty="0">
                <a:latin typeface="Times New Roman"/>
                <a:cs typeface="Times New Roman"/>
              </a:rPr>
              <a:t>(2012)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5" dirty="0">
                <a:latin typeface="Microsoft JhengHei UI"/>
                <a:cs typeface="Microsoft JhengHei UI"/>
              </a:rPr>
              <a:t>和 </a:t>
            </a:r>
            <a:r>
              <a:rPr sz="1100" dirty="0">
                <a:latin typeface="Times New Roman"/>
                <a:cs typeface="Times New Roman"/>
              </a:rPr>
              <a:t>ZFNet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(2013)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的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⾰命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50" dirty="0">
                <a:latin typeface="Microsoft JhengHei UI"/>
                <a:cs typeface="Microsoft JhengHei UI"/>
              </a:rPr>
              <a:t>。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100" dirty="0">
                <a:latin typeface="Times New Roman"/>
                <a:cs typeface="Times New Roman"/>
              </a:rPr>
              <a:t>AlexNet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⽤了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激进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5" dirty="0">
                <a:latin typeface="Microsoft JhengHei UI"/>
                <a:cs typeface="Microsoft JhengHei UI"/>
              </a:rPr>
              <a:t>的 </a:t>
            </a:r>
            <a:r>
              <a:rPr sz="1100" spc="-20" dirty="0">
                <a:latin typeface="Times New Roman"/>
                <a:cs typeface="Times New Roman"/>
              </a:rPr>
              <a:t>11x11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30" dirty="0">
                <a:latin typeface="Microsoft JhengHei UI"/>
                <a:cs typeface="Microsoft JhengHei UI"/>
              </a:rPr>
              <a:t>滤波器。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100" dirty="0">
                <a:latin typeface="Times New Roman"/>
                <a:cs typeface="Times New Roman"/>
              </a:rPr>
              <a:t>ZFNet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15" dirty="0">
                <a:latin typeface="Microsoft JhengHei UI"/>
                <a:cs typeface="Microsoft JhengHei UI"/>
              </a:rPr>
              <a:t>改良为 </a:t>
            </a:r>
            <a:r>
              <a:rPr sz="1100" spc="-10" dirty="0">
                <a:latin typeface="Times New Roman"/>
                <a:cs typeface="Times New Roman"/>
              </a:rPr>
              <a:t>7x7</a:t>
            </a:r>
            <a:r>
              <a:rPr sz="1100" spc="-50" dirty="0">
                <a:latin typeface="Microsoft JhengHei UI"/>
                <a:cs typeface="Microsoft JhengHei UI"/>
              </a:rPr>
              <a:t>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2263" y="1678303"/>
            <a:ext cx="4147185" cy="662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imes New Roman"/>
                <a:cs typeface="Times New Roman"/>
              </a:rPr>
              <a:t>VGGNet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则定下了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极简主义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15" dirty="0">
                <a:latin typeface="Microsoft JhengHei UI"/>
                <a:cs typeface="Microsoft JhengHei UI"/>
              </a:rPr>
              <a:t>的规矩：只⽤ </a:t>
            </a:r>
            <a:r>
              <a:rPr sz="1100" spc="-20" dirty="0">
                <a:latin typeface="Times New Roman"/>
                <a:cs typeface="Times New Roman"/>
              </a:rPr>
              <a:t>3x3</a:t>
            </a:r>
            <a:r>
              <a:rPr sz="1100" spc="-20" dirty="0">
                <a:latin typeface="Microsoft JhengHei UI"/>
                <a:cs typeface="Microsoft JhengHei UI"/>
              </a:rPr>
              <a:t>！</a:t>
            </a:r>
            <a:endParaRPr sz="1100">
              <a:latin typeface="Microsoft JhengHei UI"/>
              <a:cs typeface="Microsoft JhengHei UI"/>
            </a:endParaRPr>
          </a:p>
          <a:p>
            <a:pPr marL="220345" marR="5080" indent="-208279">
              <a:lnSpc>
                <a:spcPct val="115700"/>
              </a:lnSpc>
              <a:spcBef>
                <a:spcPts val="655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为了弥补⼩滤波器的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视野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20" dirty="0">
                <a:latin typeface="Microsoft JhengHei UI"/>
                <a:cs typeface="Microsoft JhengHei UI"/>
              </a:rPr>
              <a:t>问题，</a:t>
            </a:r>
            <a:r>
              <a:rPr sz="1100" spc="-10" dirty="0">
                <a:latin typeface="Times New Roman"/>
                <a:cs typeface="Times New Roman"/>
              </a:rPr>
              <a:t>VGGNet </a:t>
            </a:r>
            <a:r>
              <a:rPr sz="1100" spc="-25" dirty="0">
                <a:latin typeface="Microsoft JhengHei UI"/>
                <a:cs typeface="Microsoft JhengHei UI"/>
              </a:rPr>
              <a:t>把⽹络堆叠到了史⽆前例</a:t>
            </a:r>
            <a:r>
              <a:rPr sz="1100" spc="10" dirty="0">
                <a:latin typeface="Microsoft JhengHei UI"/>
                <a:cs typeface="Microsoft JhengHei UI"/>
              </a:rPr>
              <a:t>的 </a:t>
            </a:r>
            <a:r>
              <a:rPr sz="1100" spc="-10" dirty="0">
                <a:latin typeface="Times New Roman"/>
                <a:cs typeface="Times New Roman"/>
              </a:rPr>
              <a:t>16-</a:t>
            </a:r>
            <a:r>
              <a:rPr sz="1100" dirty="0">
                <a:latin typeface="Times New Roman"/>
                <a:cs typeface="Times New Roman"/>
              </a:rPr>
              <a:t>19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层</a:t>
            </a:r>
            <a:r>
              <a:rPr sz="1100" dirty="0">
                <a:latin typeface="Microsoft JhengHei UI"/>
                <a:cs typeface="Microsoft JhengHei UI"/>
              </a:rPr>
              <a:t>（</a:t>
            </a:r>
            <a:r>
              <a:rPr sz="1100" dirty="0">
                <a:latin typeface="Times New Roman"/>
                <a:cs typeface="Times New Roman"/>
              </a:rPr>
              <a:t>deeper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architectures</a:t>
            </a:r>
            <a:r>
              <a:rPr sz="1100" spc="-10" dirty="0">
                <a:latin typeface="Microsoft JhengHei UI"/>
                <a:cs typeface="Microsoft JhengHei UI"/>
              </a:rPr>
              <a:t>），</a:t>
            </a:r>
            <a:r>
              <a:rPr sz="1100" spc="-20" dirty="0">
                <a:latin typeface="Microsoft JhengHei UI"/>
                <a:cs typeface="Microsoft JhengHei UI"/>
              </a:rPr>
              <a:t>并证明了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深度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30" dirty="0">
                <a:latin typeface="Microsoft JhengHei UI"/>
                <a:cs typeface="Microsoft JhengHei UI"/>
              </a:rPr>
              <a:t>是王道。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981" y="4875167"/>
            <a:ext cx="4162425" cy="20789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3.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"Trend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getting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POOL/FC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layers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(just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CONV)"</a:t>
            </a:r>
            <a:endParaRPr sz="1100">
              <a:latin typeface="Times New Roman"/>
              <a:cs typeface="Times New Roman"/>
            </a:endParaRPr>
          </a:p>
          <a:p>
            <a:pPr marL="12700" marR="858519">
              <a:lnSpc>
                <a:spcPct val="165300"/>
              </a:lnSpc>
              <a:spcBef>
                <a:spcPts val="20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（趋势是抛弃 </a:t>
            </a:r>
            <a:r>
              <a:rPr sz="1100" spc="-10" dirty="0">
                <a:latin typeface="Times New Roman"/>
                <a:cs typeface="Times New Roman"/>
              </a:rPr>
              <a:t>POOL/FC </a:t>
            </a:r>
            <a:r>
              <a:rPr sz="1100" spc="-20" dirty="0">
                <a:latin typeface="Microsoft JhengHei UI"/>
                <a:cs typeface="Microsoft JhengHei UI"/>
              </a:rPr>
              <a:t>层，（更多地）</a:t>
            </a:r>
            <a:r>
              <a:rPr sz="1100" spc="-10" dirty="0">
                <a:latin typeface="Microsoft JhengHei UI"/>
                <a:cs typeface="Microsoft JhengHei UI"/>
              </a:rPr>
              <a:t>只⽤ </a:t>
            </a:r>
            <a:r>
              <a:rPr sz="1100" spc="-20" dirty="0">
                <a:latin typeface="Times New Roman"/>
                <a:cs typeface="Times New Roman"/>
              </a:rPr>
              <a:t>CONV</a:t>
            </a:r>
            <a:r>
              <a:rPr sz="1100" spc="-20" dirty="0">
                <a:latin typeface="Microsoft JhengHei UI"/>
                <a:cs typeface="Microsoft JhengHei UI"/>
              </a:rPr>
              <a:t>）</a:t>
            </a:r>
            <a:r>
              <a:rPr sz="1100" spc="-25" dirty="0">
                <a:latin typeface="Microsoft JhengHei UI"/>
                <a:cs typeface="Microsoft JhengHei UI"/>
              </a:rPr>
              <a:t>我们的认证： 我们亲眼⻅证了！</a:t>
            </a:r>
            <a:endParaRPr sz="1100">
              <a:latin typeface="Microsoft JhengHei UI"/>
              <a:cs typeface="Microsoft JhengHei UI"/>
            </a:endParaRPr>
          </a:p>
          <a:p>
            <a:pPr marL="268605" marR="15875" indent="-256540">
              <a:lnSpc>
                <a:spcPct val="115700"/>
              </a:lnSpc>
              <a:spcBef>
                <a:spcPts val="655"/>
              </a:spcBef>
            </a:pPr>
            <a:r>
              <a:rPr sz="1100" spc="-10" dirty="0">
                <a:latin typeface="Microsoft JhengHei UI"/>
                <a:cs typeface="Microsoft JhengHei UI"/>
              </a:rPr>
              <a:t>抛弃 </a:t>
            </a:r>
            <a:r>
              <a:rPr sz="1100" dirty="0">
                <a:latin typeface="Times New Roman"/>
                <a:cs typeface="Times New Roman"/>
              </a:rPr>
              <a:t>FC </a:t>
            </a:r>
            <a:r>
              <a:rPr sz="1100" spc="-20" dirty="0">
                <a:latin typeface="Microsoft JhengHei UI"/>
                <a:cs typeface="Microsoft JhengHei UI"/>
              </a:rPr>
              <a:t>层：这正是 </a:t>
            </a:r>
            <a:r>
              <a:rPr sz="1100" spc="-10" dirty="0">
                <a:latin typeface="Times New Roman"/>
                <a:cs typeface="Times New Roman"/>
              </a:rPr>
              <a:t>GoogLeNet </a:t>
            </a:r>
            <a:r>
              <a:rPr sz="1100" dirty="0">
                <a:latin typeface="Times New Roman"/>
                <a:cs typeface="Times New Roman"/>
              </a:rPr>
              <a:t>(2014) </a:t>
            </a:r>
            <a:r>
              <a:rPr sz="1100" spc="-20" dirty="0">
                <a:latin typeface="Microsoft JhengHei UI"/>
                <a:cs typeface="Microsoft JhengHei UI"/>
              </a:rPr>
              <a:t>的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神来之笔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20" dirty="0">
                <a:latin typeface="Microsoft JhengHei UI"/>
                <a:cs typeface="Microsoft JhengHei UI"/>
              </a:rPr>
              <a:t>！它⽤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30" dirty="0">
                <a:latin typeface="Microsoft JhengHei UI"/>
                <a:cs typeface="Microsoft JhengHei UI"/>
              </a:rPr>
              <a:t>全局平</a:t>
            </a:r>
            <a:r>
              <a:rPr sz="1100" spc="-10" dirty="0">
                <a:latin typeface="Microsoft JhengHei UI"/>
                <a:cs typeface="Microsoft JhengHei UI"/>
              </a:rPr>
              <a:t>均池化 </a:t>
            </a:r>
            <a:r>
              <a:rPr sz="1100" spc="-10" dirty="0">
                <a:latin typeface="Times New Roman"/>
                <a:cs typeface="Times New Roman"/>
              </a:rPr>
              <a:t>(Global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Average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Pooling)”</a:t>
            </a:r>
            <a:r>
              <a:rPr sz="1100" spc="-15" dirty="0">
                <a:latin typeface="Microsoft JhengHei UI"/>
                <a:cs typeface="Microsoft JhengHei UI"/>
              </a:rPr>
              <a:t>替换掉了 </a:t>
            </a:r>
            <a:r>
              <a:rPr sz="1100" spc="-10" dirty="0">
                <a:latin typeface="Times New Roman"/>
                <a:cs typeface="Times New Roman"/>
              </a:rPr>
              <a:t>VGGNet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⾥那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臃肿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50" dirty="0">
                <a:latin typeface="Microsoft JhengHei UI"/>
                <a:cs typeface="Microsoft JhengHei UI"/>
              </a:rPr>
              <a:t>的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亿参数的 </a:t>
            </a:r>
            <a:r>
              <a:rPr sz="1100" dirty="0">
                <a:latin typeface="Times New Roman"/>
                <a:cs typeface="Times New Roman"/>
              </a:rPr>
              <a:t>FC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层，让模型参数从 </a:t>
            </a:r>
            <a:r>
              <a:rPr sz="1100" dirty="0">
                <a:latin typeface="Times New Roman"/>
                <a:cs typeface="Times New Roman"/>
              </a:rPr>
              <a:t>138M </a:t>
            </a:r>
            <a:r>
              <a:rPr sz="1100" spc="-15" dirty="0">
                <a:latin typeface="Microsoft JhengHei UI"/>
                <a:cs typeface="Microsoft JhengHei UI"/>
              </a:rPr>
              <a:t>锐减到 </a:t>
            </a:r>
            <a:r>
              <a:rPr sz="1100" spc="-25" dirty="0">
                <a:latin typeface="Times New Roman"/>
                <a:cs typeface="Times New Roman"/>
              </a:rPr>
              <a:t>5M</a:t>
            </a:r>
            <a:r>
              <a:rPr sz="1100" spc="-25" dirty="0">
                <a:latin typeface="Microsoft JhengHei UI"/>
                <a:cs typeface="Microsoft JhengHei UI"/>
              </a:rPr>
              <a:t>！</a:t>
            </a:r>
            <a:endParaRPr sz="1100">
              <a:latin typeface="Microsoft JhengHei UI"/>
              <a:cs typeface="Microsoft JhengHei UI"/>
            </a:endParaRPr>
          </a:p>
          <a:p>
            <a:pPr marL="268605" marR="5080" indent="-256540">
              <a:lnSpc>
                <a:spcPct val="115700"/>
              </a:lnSpc>
              <a:spcBef>
                <a:spcPts val="655"/>
              </a:spcBef>
            </a:pPr>
            <a:r>
              <a:rPr sz="1100" spc="-10" dirty="0">
                <a:latin typeface="Microsoft JhengHei UI"/>
                <a:cs typeface="Microsoft JhengHei UI"/>
              </a:rPr>
              <a:t>抛弃 </a:t>
            </a:r>
            <a:r>
              <a:rPr sz="1100" spc="-10" dirty="0">
                <a:latin typeface="Times New Roman"/>
                <a:cs typeface="Times New Roman"/>
              </a:rPr>
              <a:t>POOL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层：这个趋势（</a:t>
            </a:r>
            <a:r>
              <a:rPr sz="1100" spc="-15" dirty="0">
                <a:latin typeface="Microsoft JhengHei UI"/>
                <a:cs typeface="Microsoft JhengHei UI"/>
              </a:rPr>
              <a:t>⽐如⽤ </a:t>
            </a:r>
            <a:r>
              <a:rPr sz="1100" dirty="0">
                <a:latin typeface="Times New Roman"/>
                <a:cs typeface="Times New Roman"/>
              </a:rPr>
              <a:t>stride=2 </a:t>
            </a:r>
            <a:r>
              <a:rPr sz="1100" spc="-20" dirty="0">
                <a:latin typeface="Microsoft JhengHei UI"/>
                <a:cs typeface="Microsoft JhengHei UI"/>
              </a:rPr>
              <a:t>的卷积层来代替池化层</a:t>
            </a:r>
            <a:r>
              <a:rPr sz="1100" spc="-50" dirty="0">
                <a:latin typeface="Microsoft JhengHei UI"/>
                <a:cs typeface="Microsoft JhengHei UI"/>
              </a:rPr>
              <a:t>）</a:t>
            </a:r>
            <a:r>
              <a:rPr sz="1100" spc="-25" dirty="0">
                <a:latin typeface="Microsoft JhengHei UI"/>
                <a:cs typeface="Microsoft JhengHei UI"/>
              </a:rPr>
              <a:t>在这⼏张幻灯⽚⾥尚未明确体现，但它预示了更现代的⽹络设</a:t>
            </a:r>
            <a:r>
              <a:rPr sz="1100" spc="500" dirty="0">
                <a:latin typeface="Microsoft JhengHei UI"/>
                <a:cs typeface="Microsoft JhengHei UI"/>
              </a:rPr>
              <a:t> </a:t>
            </a:r>
            <a:r>
              <a:rPr sz="1100" spc="-35" dirty="0">
                <a:latin typeface="Microsoft JhengHei UI"/>
                <a:cs typeface="Microsoft JhengHei UI"/>
              </a:rPr>
              <a:t>计。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38257" y="4087153"/>
            <a:ext cx="4595495" cy="0"/>
          </a:xfrm>
          <a:custGeom>
            <a:avLst/>
            <a:gdLst/>
            <a:ahLst/>
            <a:cxnLst/>
            <a:rect l="l" t="t" r="r" b="b"/>
            <a:pathLst>
              <a:path w="4595495">
                <a:moveTo>
                  <a:pt x="0" y="0"/>
                </a:moveTo>
                <a:lnTo>
                  <a:pt x="4595113" y="0"/>
                </a:lnTo>
              </a:path>
            </a:pathLst>
          </a:custGeom>
          <a:ln w="14400">
            <a:solidFill>
              <a:srgbClr val="D2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71564" y="2571532"/>
            <a:ext cx="2546350" cy="3339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4.</a:t>
            </a:r>
            <a:r>
              <a:rPr sz="1100" spc="-10" dirty="0">
                <a:latin typeface="Times New Roman"/>
                <a:cs typeface="Times New Roman"/>
              </a:rPr>
              <a:t> "Typical architectures </a:t>
            </a:r>
            <a:r>
              <a:rPr sz="1100" dirty="0">
                <a:latin typeface="Times New Roman"/>
                <a:cs typeface="Times New Roman"/>
              </a:rPr>
              <a:t>look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like..."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（经典架构的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配⽅</a:t>
            </a:r>
            <a:r>
              <a:rPr sz="1100" spc="-25" dirty="0">
                <a:latin typeface="Times New Roman"/>
                <a:cs typeface="Times New Roman"/>
              </a:rPr>
              <a:t>”</a:t>
            </a:r>
            <a:r>
              <a:rPr sz="1100" spc="-25" dirty="0">
                <a:latin typeface="Microsoft JhengHei UI"/>
                <a:cs typeface="Microsoft JhengHei UI"/>
              </a:rPr>
              <a:t>）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ts val="1285"/>
              </a:lnSpc>
              <a:spcBef>
                <a:spcPts val="680"/>
              </a:spcBef>
            </a:pPr>
            <a:r>
              <a:rPr sz="1100" spc="-30" dirty="0">
                <a:latin typeface="Times New Roman"/>
                <a:cs typeface="Times New Roman"/>
              </a:rPr>
              <a:t>[(CONV-</a:t>
            </a:r>
            <a:r>
              <a:rPr sz="1100" spc="-10" dirty="0">
                <a:latin typeface="Times New Roman"/>
                <a:cs typeface="Times New Roman"/>
              </a:rPr>
              <a:t>RELU)*N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POOL?]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*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(FC-</a:t>
            </a:r>
            <a:endParaRPr sz="1100">
              <a:latin typeface="Times New Roman"/>
              <a:cs typeface="Times New Roman"/>
            </a:endParaRPr>
          </a:p>
          <a:p>
            <a:pPr marL="268605">
              <a:lnSpc>
                <a:spcPts val="1285"/>
              </a:lnSpc>
            </a:pPr>
            <a:r>
              <a:rPr sz="1100" spc="-10" dirty="0">
                <a:latin typeface="Times New Roman"/>
                <a:cs typeface="Times New Roman"/>
              </a:rPr>
              <a:t>RELU)*K,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SOFTMAX</a:t>
            </a:r>
            <a:endParaRPr sz="1100">
              <a:latin typeface="Times New Roman"/>
              <a:cs typeface="Times New Roman"/>
            </a:endParaRPr>
          </a:p>
          <a:p>
            <a:pPr marR="284480" algn="ctr">
              <a:lnSpc>
                <a:spcPct val="100000"/>
              </a:lnSpc>
              <a:spcBef>
                <a:spcPts val="775"/>
              </a:spcBef>
            </a:pPr>
            <a:r>
              <a:rPr sz="1100" spc="-25" dirty="0">
                <a:latin typeface="Microsoft JhengHei UI"/>
                <a:cs typeface="Microsoft JhengHei UI"/>
              </a:rPr>
              <a:t>我们的认证： 这是⼀个对 </a:t>
            </a:r>
            <a:r>
              <a:rPr sz="1100" dirty="0">
                <a:latin typeface="Times New Roman"/>
                <a:cs typeface="Times New Roman"/>
              </a:rPr>
              <a:t>AlexNet </a:t>
            </a:r>
            <a:r>
              <a:rPr sz="1100" spc="-50" dirty="0">
                <a:latin typeface="Microsoft JhengHei UI"/>
                <a:cs typeface="Microsoft JhengHei UI"/>
              </a:rPr>
              <a:t>和</a:t>
            </a:r>
            <a:endParaRPr sz="1100">
              <a:latin typeface="Microsoft JhengHei UI"/>
              <a:cs typeface="Microsoft JhengHei UI"/>
            </a:endParaRPr>
          </a:p>
          <a:p>
            <a:pPr marR="233679" algn="ctr">
              <a:lnSpc>
                <a:spcPct val="100000"/>
              </a:lnSpc>
              <a:spcBef>
                <a:spcPts val="204"/>
              </a:spcBef>
            </a:pPr>
            <a:r>
              <a:rPr sz="1100" spc="-10" dirty="0">
                <a:latin typeface="Times New Roman"/>
                <a:cs typeface="Times New Roman"/>
              </a:rPr>
              <a:t>VGGNet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的完美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公式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35" dirty="0">
                <a:latin typeface="Microsoft JhengHei UI"/>
                <a:cs typeface="Microsoft JhengHei UI"/>
              </a:rPr>
              <a:t>总结！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100" spc="-30" dirty="0">
                <a:latin typeface="Times New Roman"/>
                <a:cs typeface="Times New Roman"/>
              </a:rPr>
              <a:t>[(CONV-</a:t>
            </a:r>
            <a:r>
              <a:rPr sz="1100" spc="-10" dirty="0">
                <a:latin typeface="Times New Roman"/>
                <a:cs typeface="Times New Roman"/>
              </a:rPr>
              <a:t>RELU)*N - </a:t>
            </a:r>
            <a:r>
              <a:rPr sz="1100" dirty="0">
                <a:latin typeface="Times New Roman"/>
                <a:cs typeface="Times New Roman"/>
              </a:rPr>
              <a:t>POOL</a:t>
            </a:r>
            <a:r>
              <a:rPr sz="1100" spc="-5" dirty="0">
                <a:latin typeface="Times New Roman"/>
                <a:cs typeface="Times New Roman"/>
              </a:rPr>
              <a:t>?]: </a:t>
            </a:r>
            <a:r>
              <a:rPr sz="1100" spc="-30" dirty="0">
                <a:latin typeface="Microsoft JhengHei UI"/>
                <a:cs typeface="Microsoft JhengHei UI"/>
              </a:rPr>
              <a:t>这就是⼀个</a:t>
            </a:r>
            <a:endParaRPr sz="1100">
              <a:latin typeface="Microsoft JhengHei UI"/>
              <a:cs typeface="Microsoft JhengHei UI"/>
            </a:endParaRPr>
          </a:p>
          <a:p>
            <a:pPr marL="220345" marR="80645">
              <a:lnSpc>
                <a:spcPct val="115700"/>
              </a:lnSpc>
            </a:pP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模块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20" dirty="0">
                <a:latin typeface="Microsoft JhengHei UI"/>
                <a:cs typeface="Microsoft JhengHei UI"/>
              </a:rPr>
              <a:t>。⽐如 </a:t>
            </a:r>
            <a:r>
              <a:rPr sz="1100" spc="-10" dirty="0">
                <a:latin typeface="Times New Roman"/>
                <a:cs typeface="Times New Roman"/>
              </a:rPr>
              <a:t>VGGNet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Microsoft JhengHei UI"/>
                <a:cs typeface="Microsoft JhengHei UI"/>
              </a:rPr>
              <a:t>⾥ </a:t>
            </a:r>
            <a:r>
              <a:rPr sz="1100" spc="-20" dirty="0">
                <a:latin typeface="Times New Roman"/>
                <a:cs typeface="Times New Roman"/>
              </a:rPr>
              <a:t>CONV- </a:t>
            </a:r>
            <a:r>
              <a:rPr sz="1100" dirty="0">
                <a:latin typeface="Times New Roman"/>
                <a:cs typeface="Times New Roman"/>
              </a:rPr>
              <a:t>RELU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堆叠 </a:t>
            </a:r>
            <a:r>
              <a:rPr sz="1100" dirty="0">
                <a:latin typeface="Times New Roman"/>
                <a:cs typeface="Times New Roman"/>
              </a:rPr>
              <a:t>N=2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或 </a:t>
            </a:r>
            <a:r>
              <a:rPr sz="1100" dirty="0">
                <a:latin typeface="Times New Roman"/>
                <a:cs typeface="Times New Roman"/>
              </a:rPr>
              <a:t>3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Microsoft JhengHei UI"/>
                <a:cs typeface="Microsoft JhengHei UI"/>
              </a:rPr>
              <a:t>次，然后跟上⼀</a:t>
            </a:r>
            <a:r>
              <a:rPr sz="1100" spc="-10" dirty="0">
                <a:latin typeface="Microsoft JhengHei UI"/>
                <a:cs typeface="Microsoft JhengHei UI"/>
              </a:rPr>
              <a:t>个 </a:t>
            </a:r>
            <a:r>
              <a:rPr sz="1100" spc="-10" dirty="0">
                <a:latin typeface="Times New Roman"/>
                <a:cs typeface="Times New Roman"/>
              </a:rPr>
              <a:t>POOL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Microsoft JhengHei UI"/>
                <a:cs typeface="Microsoft JhengHei UI"/>
              </a:rPr>
              <a:t>层。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100" dirty="0">
                <a:latin typeface="Times New Roman"/>
                <a:cs typeface="Times New Roman"/>
              </a:rPr>
              <a:t>*M</a:t>
            </a:r>
            <a:r>
              <a:rPr sz="1100" spc="10" dirty="0">
                <a:latin typeface="Times New Roman"/>
                <a:cs typeface="Times New Roman"/>
              </a:rPr>
              <a:t>: </a:t>
            </a:r>
            <a:r>
              <a:rPr sz="1100" spc="-20" dirty="0">
                <a:latin typeface="Microsoft JhengHei UI"/>
                <a:cs typeface="Microsoft JhengHei UI"/>
              </a:rPr>
              <a:t>整个⽹络就是把这个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模块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dirty="0">
                <a:latin typeface="Microsoft JhengHei UI"/>
                <a:cs typeface="Microsoft JhengHei UI"/>
              </a:rPr>
              <a:t>重复 </a:t>
            </a:r>
            <a:r>
              <a:rPr sz="1100" dirty="0">
                <a:latin typeface="Times New Roman"/>
                <a:cs typeface="Times New Roman"/>
              </a:rPr>
              <a:t>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Microsoft JhengHei UI"/>
                <a:cs typeface="Microsoft JhengHei UI"/>
              </a:rPr>
              <a:t>次</a:t>
            </a:r>
            <a:endParaRPr sz="1100">
              <a:latin typeface="Microsoft JhengHei UI"/>
              <a:cs typeface="Microsoft JhengHei UI"/>
            </a:endParaRPr>
          </a:p>
          <a:p>
            <a:pPr marL="220345">
              <a:lnSpc>
                <a:spcPct val="100000"/>
              </a:lnSpc>
              <a:spcBef>
                <a:spcPts val="204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（</a:t>
            </a:r>
            <a:r>
              <a:rPr sz="1100" spc="-10" dirty="0">
                <a:latin typeface="Microsoft JhengHei UI"/>
                <a:cs typeface="Microsoft JhengHei UI"/>
              </a:rPr>
              <a:t>⽐如 </a:t>
            </a:r>
            <a:r>
              <a:rPr sz="1100" dirty="0">
                <a:latin typeface="Times New Roman"/>
                <a:cs typeface="Times New Roman"/>
              </a:rPr>
              <a:t>5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次）</a:t>
            </a:r>
            <a:r>
              <a:rPr sz="1100" spc="-50" dirty="0">
                <a:latin typeface="Microsoft JhengHei UI"/>
                <a:cs typeface="Microsoft JhengHei UI"/>
              </a:rPr>
              <a:t>。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100" spc="-10" dirty="0">
                <a:latin typeface="Times New Roman"/>
                <a:cs typeface="Times New Roman"/>
              </a:rPr>
              <a:t>(FC-RELU)*K</a:t>
            </a:r>
            <a:r>
              <a:rPr sz="1100" dirty="0">
                <a:latin typeface="Times New Roman"/>
                <a:cs typeface="Times New Roman"/>
              </a:rPr>
              <a:t>, </a:t>
            </a:r>
            <a:r>
              <a:rPr sz="1100" spc="-10" dirty="0">
                <a:latin typeface="Times New Roman"/>
                <a:cs typeface="Times New Roman"/>
              </a:rPr>
              <a:t>SOFTMAX</a:t>
            </a:r>
            <a:r>
              <a:rPr sz="1100" dirty="0">
                <a:latin typeface="Times New Roman"/>
                <a:cs typeface="Times New Roman"/>
              </a:rPr>
              <a:t>: </a:t>
            </a:r>
            <a:r>
              <a:rPr sz="1100" spc="-30" dirty="0">
                <a:latin typeface="Microsoft JhengHei UI"/>
                <a:cs typeface="Microsoft JhengHei UI"/>
              </a:rPr>
              <a:t>最后，接上</a:t>
            </a:r>
            <a:endParaRPr sz="1100">
              <a:latin typeface="Microsoft JhengHei UI"/>
              <a:cs typeface="Microsoft JhengHei UI"/>
            </a:endParaRPr>
          </a:p>
          <a:p>
            <a:pPr marL="220345">
              <a:lnSpc>
                <a:spcPct val="100000"/>
              </a:lnSpc>
              <a:spcBef>
                <a:spcPts val="204"/>
              </a:spcBef>
            </a:pPr>
            <a:r>
              <a:rPr sz="1100" dirty="0">
                <a:latin typeface="Times New Roman"/>
                <a:cs typeface="Times New Roman"/>
              </a:rPr>
              <a:t>K=2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Microsoft JhengHei UI"/>
                <a:cs typeface="Microsoft JhengHei UI"/>
              </a:rPr>
              <a:t>或 </a:t>
            </a:r>
            <a:r>
              <a:rPr sz="1100" dirty="0">
                <a:latin typeface="Times New Roman"/>
                <a:cs typeface="Times New Roman"/>
              </a:rPr>
              <a:t>3 </a:t>
            </a:r>
            <a:r>
              <a:rPr sz="1100" spc="-25" dirty="0">
                <a:latin typeface="Microsoft JhengHei UI"/>
                <a:cs typeface="Microsoft JhengHei UI"/>
              </a:rPr>
              <a:t>个全连接层，并⽤</a:t>
            </a:r>
            <a:endParaRPr sz="1100">
              <a:latin typeface="Microsoft JhengHei UI"/>
              <a:cs typeface="Microsoft JhengHei UI"/>
            </a:endParaRPr>
          </a:p>
          <a:p>
            <a:pPr marL="220345">
              <a:lnSpc>
                <a:spcPct val="100000"/>
              </a:lnSpc>
              <a:spcBef>
                <a:spcPts val="204"/>
              </a:spcBef>
            </a:pPr>
            <a:r>
              <a:rPr sz="1100" spc="-10" dirty="0">
                <a:latin typeface="Times New Roman"/>
                <a:cs typeface="Times New Roman"/>
              </a:rPr>
              <a:t>SOFTMAX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30" dirty="0">
                <a:latin typeface="Microsoft JhengHei UI"/>
                <a:cs typeface="Microsoft JhengHei UI"/>
              </a:rPr>
              <a:t>输出分类。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3598" y="4785522"/>
            <a:ext cx="3231515" cy="24320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245110">
              <a:lnSpc>
                <a:spcPts val="1250"/>
              </a:lnSpc>
              <a:spcBef>
                <a:spcPts val="190"/>
              </a:spcBef>
            </a:pPr>
            <a:r>
              <a:rPr sz="1100" dirty="0">
                <a:latin typeface="Times New Roman"/>
                <a:cs typeface="Times New Roman"/>
              </a:rPr>
              <a:t>5.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"...but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recent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ResNet/GoogLeNet </a:t>
            </a:r>
            <a:r>
              <a:rPr sz="1100" dirty="0">
                <a:latin typeface="Times New Roman"/>
                <a:cs typeface="Times New Roman"/>
              </a:rPr>
              <a:t>challenge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paradigm"</a:t>
            </a:r>
            <a:endParaRPr sz="1100">
              <a:latin typeface="Times New Roman"/>
              <a:cs typeface="Times New Roman"/>
            </a:endParaRPr>
          </a:p>
          <a:p>
            <a:pPr marL="268605" marR="100965" indent="-256540">
              <a:lnSpc>
                <a:spcPct val="115700"/>
              </a:lnSpc>
              <a:spcBef>
                <a:spcPts val="650"/>
              </a:spcBef>
            </a:pPr>
            <a:r>
              <a:rPr sz="1100" spc="-20" dirty="0">
                <a:latin typeface="Microsoft JhengHei UI"/>
                <a:cs typeface="Microsoft JhengHei UI"/>
              </a:rPr>
              <a:t>（但是，像 </a:t>
            </a:r>
            <a:r>
              <a:rPr sz="1100" spc="-10" dirty="0">
                <a:latin typeface="Times New Roman"/>
                <a:cs typeface="Times New Roman"/>
              </a:rPr>
              <a:t>ResNet/GoogLeNet </a:t>
            </a:r>
            <a:r>
              <a:rPr sz="1100" spc="-25" dirty="0">
                <a:latin typeface="Microsoft JhengHei UI"/>
                <a:cs typeface="Microsoft JhengHei UI"/>
              </a:rPr>
              <a:t>这样的进展正在挑战</a:t>
            </a:r>
            <a:r>
              <a:rPr sz="1100" spc="-20" dirty="0">
                <a:latin typeface="Microsoft JhengHei UI"/>
                <a:cs typeface="Microsoft JhengHei UI"/>
              </a:rPr>
              <a:t>这个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经典配⽅</a:t>
            </a:r>
            <a:r>
              <a:rPr sz="1100" spc="-25" dirty="0">
                <a:latin typeface="Times New Roman"/>
                <a:cs typeface="Times New Roman"/>
              </a:rPr>
              <a:t>”</a:t>
            </a:r>
            <a:r>
              <a:rPr sz="1100" spc="-25" dirty="0">
                <a:latin typeface="Microsoft JhengHei UI"/>
                <a:cs typeface="Microsoft JhengHei UI"/>
              </a:rPr>
              <a:t>）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100" spc="-25" dirty="0">
                <a:latin typeface="Microsoft JhengHei UI"/>
                <a:cs typeface="Microsoft JhengHei UI"/>
              </a:rPr>
              <a:t>我们的认证： 绝对正确！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100" spc="-10" dirty="0">
                <a:latin typeface="Times New Roman"/>
                <a:cs typeface="Times New Roman"/>
              </a:rPr>
              <a:t>GoogLeNet</a:t>
            </a:r>
            <a:r>
              <a:rPr sz="1100" spc="5" dirty="0">
                <a:latin typeface="Times New Roman"/>
                <a:cs typeface="Times New Roman"/>
              </a:rPr>
              <a:t> (</a:t>
            </a:r>
            <a:r>
              <a:rPr sz="1100" spc="-20" dirty="0">
                <a:latin typeface="Microsoft JhengHei UI"/>
                <a:cs typeface="Microsoft JhengHei UI"/>
              </a:rPr>
              <a:t>我们刚看过</a:t>
            </a:r>
            <a:r>
              <a:rPr sz="1100" spc="-10" dirty="0">
                <a:latin typeface="Times New Roman"/>
                <a:cs typeface="Times New Roman"/>
              </a:rPr>
              <a:t>)</a:t>
            </a:r>
            <a:r>
              <a:rPr sz="1100" spc="-20" dirty="0">
                <a:latin typeface="Microsoft JhengHei UI"/>
                <a:cs typeface="Microsoft JhengHei UI"/>
              </a:rPr>
              <a:t>：它⽤</a:t>
            </a:r>
            <a:r>
              <a:rPr sz="1100" dirty="0">
                <a:latin typeface="Times New Roman"/>
                <a:cs typeface="Times New Roman"/>
              </a:rPr>
              <a:t>“Inception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模块</a:t>
            </a:r>
            <a:r>
              <a:rPr sz="1100" spc="-50" dirty="0">
                <a:latin typeface="Times New Roman"/>
                <a:cs typeface="Times New Roman"/>
              </a:rPr>
              <a:t>”</a:t>
            </a:r>
            <a:endParaRPr sz="1100">
              <a:latin typeface="Times New Roman"/>
              <a:cs typeface="Times New Roman"/>
            </a:endParaRPr>
          </a:p>
          <a:p>
            <a:pPr marL="220345" marR="5080">
              <a:lnSpc>
                <a:spcPct val="115700"/>
              </a:lnSpc>
            </a:pPr>
            <a:r>
              <a:rPr sz="1100" dirty="0">
                <a:latin typeface="Microsoft JhengHei UI"/>
                <a:cs typeface="Microsoft JhengHei UI"/>
              </a:rPr>
              <a:t>（</a:t>
            </a:r>
            <a:r>
              <a:rPr sz="1100" dirty="0">
                <a:latin typeface="Times New Roman"/>
                <a:cs typeface="Times New Roman"/>
              </a:rPr>
              <a:t>1x1,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3x3,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5x5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Microsoft JhengHei UI"/>
                <a:cs typeface="Microsoft JhengHei UI"/>
              </a:rPr>
              <a:t>并⾏计算）和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全局平均池化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30" dirty="0">
                <a:latin typeface="Microsoft JhengHei UI"/>
                <a:cs typeface="Microsoft JhengHei UI"/>
              </a:rPr>
              <a:t>，彻</a:t>
            </a:r>
            <a:r>
              <a:rPr sz="1100" spc="-20" dirty="0">
                <a:latin typeface="Microsoft JhengHei UI"/>
                <a:cs typeface="Microsoft JhengHei UI"/>
              </a:rPr>
              <a:t>底打破了上⾯那个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线性堆叠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20" dirty="0">
                <a:latin typeface="Microsoft JhengHei UI"/>
                <a:cs typeface="Microsoft JhengHei UI"/>
              </a:rPr>
              <a:t>的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经典配⽅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50" dirty="0">
                <a:latin typeface="Microsoft JhengHei UI"/>
                <a:cs typeface="Microsoft JhengHei UI"/>
              </a:rPr>
              <a:t>。</a:t>
            </a:r>
            <a:endParaRPr sz="1100">
              <a:latin typeface="Microsoft JhengHei UI"/>
              <a:cs typeface="Microsoft JhengHei UI"/>
            </a:endParaRPr>
          </a:p>
          <a:p>
            <a:pPr marR="46355" algn="ctr">
              <a:lnSpc>
                <a:spcPct val="100000"/>
              </a:lnSpc>
              <a:spcBef>
                <a:spcPts val="860"/>
              </a:spcBef>
            </a:pPr>
            <a:r>
              <a:rPr sz="1100" dirty="0">
                <a:latin typeface="Times New Roman"/>
                <a:cs typeface="Times New Roman"/>
              </a:rPr>
              <a:t>ResNet</a:t>
            </a:r>
            <a:r>
              <a:rPr sz="1100" spc="50" dirty="0">
                <a:latin typeface="Times New Roman"/>
                <a:cs typeface="Times New Roman"/>
              </a:rPr>
              <a:t> (</a:t>
            </a:r>
            <a:r>
              <a:rPr sz="1100" spc="-20" dirty="0">
                <a:latin typeface="Microsoft JhengHei UI"/>
                <a:cs typeface="Microsoft JhengHei UI"/>
              </a:rPr>
              <a:t>幻灯⽚提到的新⽹络</a:t>
            </a:r>
            <a:r>
              <a:rPr sz="1100" spc="-10" dirty="0">
                <a:latin typeface="Times New Roman"/>
                <a:cs typeface="Times New Roman"/>
              </a:rPr>
              <a:t>)</a:t>
            </a:r>
            <a:r>
              <a:rPr sz="1100" spc="-20" dirty="0">
                <a:latin typeface="Microsoft JhengHei UI"/>
                <a:cs typeface="Microsoft JhengHei UI"/>
              </a:rPr>
              <a:t>：它引⼊了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残差连接</a:t>
            </a:r>
            <a:r>
              <a:rPr sz="1100" spc="-50" dirty="0">
                <a:latin typeface="Times New Roman"/>
                <a:cs typeface="Times New Roman"/>
              </a:rPr>
              <a:t>”</a:t>
            </a:r>
            <a:endParaRPr sz="1100">
              <a:latin typeface="Times New Roman"/>
              <a:cs typeface="Times New Roman"/>
            </a:endParaRPr>
          </a:p>
          <a:p>
            <a:pPr marL="220345" marR="231775" algn="ctr">
              <a:lnSpc>
                <a:spcPct val="115700"/>
              </a:lnSpc>
            </a:pPr>
            <a:r>
              <a:rPr sz="1100" spc="-20" dirty="0">
                <a:latin typeface="Microsoft JhengHei UI"/>
                <a:cs typeface="Microsoft JhengHei UI"/>
              </a:rPr>
              <a:t>（跳跃连接），允许⽹络盖得更深（</a:t>
            </a:r>
            <a:r>
              <a:rPr sz="1100" spc="-30" dirty="0">
                <a:latin typeface="Microsoft JhengHei UI"/>
                <a:cs typeface="Microsoft JhengHei UI"/>
              </a:rPr>
              <a:t>⼏百上千</a:t>
            </a:r>
            <a:r>
              <a:rPr sz="1100" spc="-20" dirty="0">
                <a:latin typeface="Microsoft JhengHei UI"/>
                <a:cs typeface="Microsoft JhengHei UI"/>
              </a:rPr>
              <a:t>层），这是对这个</a:t>
            </a:r>
            <a:r>
              <a:rPr sz="1100" spc="-10" dirty="0">
                <a:latin typeface="Times New Roman"/>
                <a:cs typeface="Times New Roman"/>
              </a:rPr>
              <a:t>“</a:t>
            </a:r>
            <a:r>
              <a:rPr sz="1100" spc="-20" dirty="0">
                <a:latin typeface="Microsoft JhengHei UI"/>
                <a:cs typeface="Microsoft JhengHei UI"/>
              </a:rPr>
              <a:t>经典配⽅</a:t>
            </a:r>
            <a:r>
              <a:rPr sz="1100" spc="-10" dirty="0">
                <a:latin typeface="Times New Roman"/>
                <a:cs typeface="Times New Roman"/>
              </a:rPr>
              <a:t>”</a:t>
            </a:r>
            <a:r>
              <a:rPr sz="1100" spc="-25" dirty="0">
                <a:latin typeface="Microsoft JhengHei UI"/>
                <a:cs typeface="Microsoft JhengHei UI"/>
              </a:rPr>
              <a:t>的⼜⼀次颠覆。</a:t>
            </a:r>
            <a:endParaRPr sz="11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243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3920</Words>
  <Application>Microsoft Office PowerPoint</Application>
  <PresentationFormat>自定义</PresentationFormat>
  <Paragraphs>452</Paragraphs>
  <Slides>83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3" baseType="lpstr">
      <vt:lpstr>Arial MT</vt:lpstr>
      <vt:lpstr>Microsoft JhengHei UI</vt:lpstr>
      <vt:lpstr>Microsoft YaHei</vt:lpstr>
      <vt:lpstr>Calibri</vt:lpstr>
      <vt:lpstr>Cambria Math</vt:lpstr>
      <vt:lpstr>Courier New</vt:lpstr>
      <vt:lpstr>Lucida Sans Unicode</vt:lpstr>
      <vt:lpstr>Times New Roman</vt:lpstr>
      <vt:lpstr>Wingdings</vt:lpstr>
      <vt:lpstr>Office Theme</vt:lpstr>
      <vt:lpstr>INT305 Machine Learning Lecture 6 Convolutional Neural Network</vt:lpstr>
      <vt:lpstr>The problem</vt:lpstr>
      <vt:lpstr>Challenges (1)</vt:lpstr>
      <vt:lpstr>Challenges (2)</vt:lpstr>
      <vt:lpstr>Challenges (3)</vt:lpstr>
      <vt:lpstr>Challenges (4)</vt:lpstr>
      <vt:lpstr>Challenges (5)</vt:lpstr>
      <vt:lpstr>Challenges (6)</vt:lpstr>
      <vt:lpstr>An image classifier</vt:lpstr>
      <vt:lpstr>Attempts</vt:lpstr>
      <vt:lpstr>Attempts</vt:lpstr>
      <vt:lpstr>Data-driven approach</vt:lpstr>
      <vt:lpstr>Convolutional Neural Networks</vt:lpstr>
      <vt:lpstr>Convolution Layer</vt:lpstr>
      <vt:lpstr>Convolution Layer</vt:lpstr>
      <vt:lpstr>PowerPoint 演示文稿</vt:lpstr>
      <vt:lpstr>Convolution Layer</vt:lpstr>
      <vt:lpstr>Convolution Layer</vt:lpstr>
      <vt:lpstr>Convolution Layer</vt:lpstr>
      <vt:lpstr>For example, if we had 6 5x5 filters, we’ll get 6 separate activation maps:</vt:lpstr>
      <vt:lpstr>Preview: ConvNet is a sequence of Convolution Layers, interspersed with activation functions 预览：ConvNet是由卷积层序列组成，其间穿插激活函数的结构。</vt:lpstr>
      <vt:lpstr>Preview: ConvNet is a sequence of Convolution Layers, interspersed with activation functions</vt:lpstr>
      <vt:lpstr>Preview</vt:lpstr>
      <vt:lpstr>Preview</vt:lpstr>
      <vt:lpstr>PowerPoint 演示文稿</vt:lpstr>
      <vt:lpstr>Preview:</vt:lpstr>
      <vt:lpstr>A closer look at spatial dimensions:</vt:lpstr>
      <vt:lpstr>PowerPoint 演示文稿</vt:lpstr>
      <vt:lpstr>PowerPoint 演示文稿</vt:lpstr>
      <vt:lpstr>PowerPoint 演示文稿</vt:lpstr>
      <vt:lpstr>PowerPoint 演示文稿</vt:lpstr>
      <vt:lpstr>A closer look at spatial dimensions:</vt:lpstr>
      <vt:lpstr>PowerPoint 演示文稿</vt:lpstr>
      <vt:lpstr>PowerPoint 演示文稿</vt:lpstr>
      <vt:lpstr>A closer look at spatial dimensions:</vt:lpstr>
      <vt:lpstr>A closer look at spatial dimensions:</vt:lpstr>
      <vt:lpstr>A closer look at spatial dimensions:</vt:lpstr>
      <vt:lpstr>Output size: (N - F)/stride +1</vt:lpstr>
      <vt:lpstr>In practice: Common to zero pad the border</vt:lpstr>
      <vt:lpstr>In practice: Common to zero pad the border</vt:lpstr>
      <vt:lpstr>In practice: Common to zero pad the border</vt:lpstr>
      <vt:lpstr>PowerPoint 演示文稿</vt:lpstr>
      <vt:lpstr>Examples time:</vt:lpstr>
      <vt:lpstr>Examples time:</vt:lpstr>
      <vt:lpstr>Examples time:</vt:lpstr>
      <vt:lpstr>Examples time:</vt:lpstr>
      <vt:lpstr>Summary. To summarize, the Conv layer:</vt:lpstr>
      <vt:lpstr>Summary. To summarize, the Conv layer:</vt:lpstr>
      <vt:lpstr>(btw, 1x1 convolution layers make perfect sense)</vt:lpstr>
      <vt:lpstr>PowerPoint 演示文稿</vt:lpstr>
      <vt:lpstr>PowerPoint 演示文稿</vt:lpstr>
      <vt:lpstr>The brain/neuron view of CONV Layer</vt:lpstr>
      <vt:lpstr>The brain/neuron view of CONV Layer</vt:lpstr>
      <vt:lpstr>The brain/neuron view of CONV Layer</vt:lpstr>
      <vt:lpstr>The brain/neuron view of CONV Layer</vt:lpstr>
      <vt:lpstr>two more layers to go: POOL/FC</vt:lpstr>
      <vt:lpstr>Pooling layer</vt:lpstr>
      <vt:lpstr>MAX POOLING</vt:lpstr>
      <vt:lpstr>PowerPoint 演示文稿</vt:lpstr>
      <vt:lpstr>PowerPoint 演示文稿</vt:lpstr>
      <vt:lpstr>Fully Connected Layer (FC layer)</vt:lpstr>
      <vt:lpstr>Case Study: LeNet-5</vt:lpstr>
      <vt:lpstr>Case Study: AlexNet</vt:lpstr>
      <vt:lpstr>Input: 227x227x3</vt:lpstr>
      <vt:lpstr>Input: 227x227x3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Huang Junhao</cp:lastModifiedBy>
  <cp:revision>1</cp:revision>
  <cp:lastPrinted>2025-12-21T11:41:38Z</cp:lastPrinted>
  <dcterms:created xsi:type="dcterms:W3CDTF">2025-12-21T11:40:03Z</dcterms:created>
  <dcterms:modified xsi:type="dcterms:W3CDTF">2025-12-21T11:41:49Z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LastSaved">
    <vt:filetime>2025-12-21T00:00:00Z</vt:filetime>
  </property>
  <property fmtid="{D5CDD505-2E9C-101B-9397-08002B2CF9AE}" pid="4" name="Producer">
    <vt:lpwstr>iOS Version 26.2 (Build 23C55) Quartz PDFContext</vt:lpwstr>
  </property>
</Properties>
</file>