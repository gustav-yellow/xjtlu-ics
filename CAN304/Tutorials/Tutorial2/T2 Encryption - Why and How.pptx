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3"/>
  </p:notesMasterIdLst>
  <p:sldIdLst>
    <p:sldId id="325" r:id="rId3"/>
    <p:sldId id="328" r:id="rId4"/>
    <p:sldId id="329" r:id="rId5"/>
    <p:sldId id="330" r:id="rId6"/>
    <p:sldId id="331" r:id="rId7"/>
    <p:sldId id="335" r:id="rId8"/>
    <p:sldId id="332" r:id="rId9"/>
    <p:sldId id="333" r:id="rId10"/>
    <p:sldId id="334" r:id="rId11"/>
    <p:sldId id="336" r:id="rId1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3300"/>
    <a:srgbClr val="F89ACB"/>
    <a:srgbClr val="323232"/>
    <a:srgbClr val="202020"/>
    <a:srgbClr val="FFFFFF"/>
    <a:srgbClr val="CC3300"/>
    <a:srgbClr val="CC00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6C154-FD56-4F2B-A096-CCD92C76A892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4E1BB-D409-4DA4-94A4-3ACE1051E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3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9506" y="3452513"/>
            <a:ext cx="9607589" cy="532762"/>
          </a:xfrm>
        </p:spPr>
        <p:txBody>
          <a:bodyPr anchor="ctr">
            <a:noAutofit/>
          </a:bodyPr>
          <a:lstStyle>
            <a:lvl1pPr marL="0" marR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j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1299506" y="2723166"/>
            <a:ext cx="9607588" cy="532762"/>
          </a:xfrm>
        </p:spPr>
        <p:txBody>
          <a:bodyPr anchor="ctr">
            <a:normAutofit/>
          </a:bodyPr>
          <a:lstStyle>
            <a:lvl1pPr marL="0" marR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en-US" altLang="zh-CN" dirty="0"/>
              <a:t>Lecture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4BFA3-36CB-416F-B1F1-C8AD634C8060}"/>
              </a:ext>
            </a:extLst>
          </p:cNvPr>
          <p:cNvSpPr txBox="1"/>
          <p:nvPr userDrawn="1"/>
        </p:nvSpPr>
        <p:spPr>
          <a:xfrm>
            <a:off x="1299506" y="4230095"/>
            <a:ext cx="9607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Jie Zhang</a:t>
            </a:r>
          </a:p>
          <a:p>
            <a:pPr algn="ctr"/>
            <a:r>
              <a:rPr lang="en-US" sz="1800" dirty="0"/>
              <a:t>Department of Communications and Networking</a:t>
            </a:r>
          </a:p>
          <a:p>
            <a:pPr algn="ctr"/>
            <a:r>
              <a:rPr lang="en-US" sz="1800" dirty="0"/>
              <a:t>Email: jie.zhang01@xjtlu.edu.cn</a:t>
            </a:r>
          </a:p>
          <a:p>
            <a:pPr algn="ctr"/>
            <a:r>
              <a:rPr lang="en-US" sz="1800" dirty="0"/>
              <a:t>Office: EE522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2CD059-8304-4D1E-B961-06E29F869B3D}"/>
              </a:ext>
            </a:extLst>
          </p:cNvPr>
          <p:cNvSpPr/>
          <p:nvPr userDrawn="1"/>
        </p:nvSpPr>
        <p:spPr>
          <a:xfrm>
            <a:off x="1299506" y="1326254"/>
            <a:ext cx="96075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CAN 304 </a:t>
            </a:r>
          </a:p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Computer Systems Security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2330451" y="3042692"/>
            <a:ext cx="7531100" cy="772623"/>
          </a:xfrm>
        </p:spPr>
        <p:txBody>
          <a:bodyPr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3200" b="1" kern="1200" spc="0" baseline="0" dirty="0">
                <a:solidFill>
                  <a:srgbClr val="002060"/>
                </a:solidFill>
                <a:latin typeface="+mj-lt"/>
                <a:ea typeface="等线" panose="02010600030101010101" pitchFamily="2" charset="-122"/>
                <a:cs typeface="+mn-cs"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1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350428" y="910656"/>
            <a:ext cx="11498672" cy="5396418"/>
          </a:xfrm>
        </p:spPr>
        <p:txBody>
          <a:bodyPr/>
          <a:lstStyle>
            <a:lvl1pPr>
              <a:defRPr>
                <a:latin typeface="+mn-lt"/>
                <a:ea typeface="等线" panose="02010600030101010101" pitchFamily="2" charset="-122"/>
              </a:defRPr>
            </a:lvl1pPr>
            <a:lvl2pPr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1"/>
          </p:nvPr>
        </p:nvSpPr>
        <p:spPr>
          <a:xfrm>
            <a:off x="350428" y="6307075"/>
            <a:ext cx="27432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>
          <a:xfrm>
            <a:off x="4038600" y="6307075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3"/>
          </p:nvPr>
        </p:nvSpPr>
        <p:spPr>
          <a:xfrm>
            <a:off x="9098372" y="6307075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3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350430" y="185802"/>
            <a:ext cx="11498671" cy="724854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dirty="0">
                <a:ln>
                  <a:noFill/>
                </a:ln>
                <a:solidFill>
                  <a:srgbClr val="14347D"/>
                </a:solidFill>
                <a:effectLst/>
                <a:uFillTx/>
                <a:latin typeface="+mj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4157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6894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36467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8480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59995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28068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71262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77575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95933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98268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43805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9506" y="3452513"/>
            <a:ext cx="9607589" cy="532762"/>
          </a:xfrm>
        </p:spPr>
        <p:txBody>
          <a:bodyPr anchor="ctr">
            <a:noAutofit/>
          </a:bodyPr>
          <a:lstStyle>
            <a:lvl1pPr marL="0" marR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j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1299506" y="2723166"/>
            <a:ext cx="9607588" cy="532762"/>
          </a:xfrm>
        </p:spPr>
        <p:txBody>
          <a:bodyPr anchor="ctr">
            <a:normAutofit/>
          </a:bodyPr>
          <a:lstStyle>
            <a:lvl1pPr marL="0" marR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en-US" altLang="zh-CN" dirty="0"/>
              <a:t>Lecture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4BFA3-36CB-416F-B1F1-C8AD634C8060}"/>
              </a:ext>
            </a:extLst>
          </p:cNvPr>
          <p:cNvSpPr txBox="1"/>
          <p:nvPr userDrawn="1"/>
        </p:nvSpPr>
        <p:spPr>
          <a:xfrm>
            <a:off x="1299506" y="4230095"/>
            <a:ext cx="9607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Jie Zhang</a:t>
            </a:r>
          </a:p>
          <a:p>
            <a:pPr algn="ctr"/>
            <a:r>
              <a:rPr lang="en-US" sz="1800" dirty="0"/>
              <a:t>Department of Communications and Networking</a:t>
            </a:r>
          </a:p>
          <a:p>
            <a:pPr algn="ctr"/>
            <a:r>
              <a:rPr lang="en-US" sz="1800" dirty="0"/>
              <a:t>Email: jie.zhang01@xjtlu.edu.cn</a:t>
            </a:r>
          </a:p>
          <a:p>
            <a:pPr algn="ctr"/>
            <a:r>
              <a:rPr lang="en-US" sz="1800" dirty="0"/>
              <a:t>Office: EE522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2CD059-8304-4D1E-B961-06E29F869B3D}"/>
              </a:ext>
            </a:extLst>
          </p:cNvPr>
          <p:cNvSpPr/>
          <p:nvPr userDrawn="1"/>
        </p:nvSpPr>
        <p:spPr>
          <a:xfrm>
            <a:off x="1299506" y="1326254"/>
            <a:ext cx="96075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CAN 304 </a:t>
            </a:r>
          </a:p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Computer Systems Security</a:t>
            </a:r>
          </a:p>
        </p:txBody>
      </p:sp>
    </p:spTree>
    <p:extLst>
      <p:ext uri="{BB962C8B-B14F-4D97-AF65-F5344CB8AC3E}">
        <p14:creationId xmlns:p14="http://schemas.microsoft.com/office/powerpoint/2010/main" val="236367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034014"/>
          </a:xfrm>
          <a:prstGeom prst="rect">
            <a:avLst/>
          </a:prstGeom>
          <a:effectLst>
            <a:outerShdw blurRad="88900" dist="101600" dir="5400000" algn="ctr" rotWithShape="0">
              <a:srgbClr val="000000">
                <a:alpha val="2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99143"/>
            <a:ext cx="10515600" cy="4777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2060"/>
          </a:solidFill>
          <a:effectLst/>
          <a:latin typeface="+mj-lt"/>
          <a:ea typeface="Heiti TC Medium" pitchFamily="2" charset="-128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00"/>
        </a:spcBef>
        <a:buSzPct val="75000"/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1pPr>
      <a:lvl2pPr marL="431959" indent="-171450" algn="l" defTabSz="685800" rtl="0" eaLnBrk="1" fontAlgn="auto" latinLnBrk="0" hangingPunct="1">
        <a:lnSpc>
          <a:spcPct val="100000"/>
        </a:lnSpc>
        <a:spcBef>
          <a:spcPts val="600"/>
        </a:spcBef>
        <a:buSzPct val="75000"/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2pPr>
      <a:lvl3pPr marL="755809" indent="-171450" algn="l" defTabSz="685800" rtl="0" eaLnBrk="1" fontAlgn="auto" latinLnBrk="0" hangingPunct="1">
        <a:lnSpc>
          <a:spcPct val="120000"/>
        </a:lnSpc>
        <a:spcBef>
          <a:spcPts val="375"/>
        </a:spcBef>
        <a:buSzPct val="75000"/>
        <a:buFont typeface="Arial" panose="020B0604020202020204" pitchFamily="34" charset="0"/>
        <a:buChar char="‒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3pPr>
      <a:lvl4pPr marL="1133951" indent="-171450" algn="l" defTabSz="685800" rtl="0" eaLnBrk="1" fontAlgn="auto" latinLnBrk="0" hangingPunct="1">
        <a:lnSpc>
          <a:spcPct val="100000"/>
        </a:lnSpc>
        <a:spcBef>
          <a:spcPts val="375"/>
        </a:spcBef>
        <a:buSzPct val="75000"/>
        <a:buFont typeface="Arial" panose="020B0604020202020204" pitchFamily="34" charset="0"/>
        <a:buChar char="˃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4pPr>
      <a:lvl5pPr marL="1457801" indent="-171450" algn="l" defTabSz="685800" rtl="0" eaLnBrk="1" fontAlgn="auto" latinLnBrk="0" hangingPunct="1">
        <a:lnSpc>
          <a:spcPct val="90000"/>
        </a:lnSpc>
        <a:spcBef>
          <a:spcPts val="375"/>
        </a:spcBef>
        <a:buSzPct val="75000"/>
        <a:buFont typeface="Arial" panose="020B0604020202020204" pitchFamily="34" charset="0"/>
        <a:buChar char="˃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1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AB58B9-812D-4A6C-8218-5A9B0315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713D8-01F5-4657-B6F5-37631BBFE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Week 2: 2026-03-12, 1</a:t>
            </a:r>
            <a:r>
              <a:rPr lang="en-US" altLang="zh-CN" dirty="0"/>
              <a:t>4</a:t>
            </a:r>
            <a:r>
              <a:rPr lang="en-US" dirty="0"/>
              <a:t>:00-1</a:t>
            </a:r>
            <a:r>
              <a:rPr lang="en-US" altLang="zh-CN" dirty="0"/>
              <a:t>5</a:t>
            </a:r>
            <a:r>
              <a:rPr lang="en-US" dirty="0"/>
              <a:t>:00, Thursday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36BA4-173C-4A4C-A875-78E6892C43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Tutorial 2. Encryption – Why and How</a:t>
            </a:r>
          </a:p>
        </p:txBody>
      </p:sp>
    </p:spTree>
    <p:extLst>
      <p:ext uri="{BB962C8B-B14F-4D97-AF65-F5344CB8AC3E}">
        <p14:creationId xmlns:p14="http://schemas.microsoft.com/office/powerpoint/2010/main" val="307557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091A7-41C1-3199-A260-D6793A40BF6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0428" y="1250730"/>
            <a:ext cx="11498672" cy="5056343"/>
          </a:xfrm>
          <a:noFill/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i="0" u="none" strike="noStrike" dirty="0">
                <a:solidFill>
                  <a:srgbClr val="0F1115"/>
                </a:solidFill>
                <a:effectLst/>
                <a:latin typeface="quote-cjk-patch"/>
              </a:rPr>
              <a:t>Scenario: </a:t>
            </a:r>
          </a:p>
          <a:p>
            <a:pPr lvl="1">
              <a:spcAft>
                <a:spcPts val="600"/>
              </a:spcAft>
            </a:pPr>
            <a:r>
              <a:rPr 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As an engineer of </a:t>
            </a:r>
            <a:r>
              <a:rPr lang="en-US" b="0" i="0" u="none" strike="noStrike" dirty="0" err="1">
                <a:solidFill>
                  <a:srgbClr val="0F1115"/>
                </a:solidFill>
                <a:effectLst/>
                <a:latin typeface="quote-cjk-patch"/>
              </a:rPr>
              <a:t>TechCom</a:t>
            </a:r>
            <a:r>
              <a:rPr 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, you are tasked to design a secure payroll database. The company has 1,000 employees with salaries ranging from $30K to $200K. Competitors are trying to poach your top talent, and salary confidentiality is crucial for retention.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Objectives: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your solution should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Prevent identical salaries from being identified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Defend against statistical attacks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0E7975-A511-10CC-CA78-3F7A608A38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D19FF-C34D-B5D1-8233-EBB90B888D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430" y="185801"/>
            <a:ext cx="11498671" cy="884469"/>
          </a:xfrm>
          <a:noFill/>
        </p:spPr>
        <p:txBody>
          <a:bodyPr/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Payroll System Design Challenge</a:t>
            </a:r>
          </a:p>
        </p:txBody>
      </p:sp>
    </p:spTree>
    <p:extLst>
      <p:ext uri="{BB962C8B-B14F-4D97-AF65-F5344CB8AC3E}">
        <p14:creationId xmlns:p14="http://schemas.microsoft.com/office/powerpoint/2010/main" val="289372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1559A6-005B-3317-1E26-197D0B3614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Option A: Simple Encryption</a:t>
            </a:r>
          </a:p>
          <a:p>
            <a:pPr lvl="1"/>
            <a:r>
              <a:rPr lang="en-US" dirty="0"/>
              <a:t>Use AES encryption for the entire database</a:t>
            </a:r>
          </a:p>
          <a:p>
            <a:pPr lvl="1"/>
            <a:r>
              <a:rPr lang="en-US" dirty="0"/>
              <a:t>Encrypt each salary field separately </a:t>
            </a:r>
          </a:p>
          <a:p>
            <a:pPr lvl="1"/>
            <a:r>
              <a:rPr lang="en-US" dirty="0"/>
              <a:t>Use a fixed key </a:t>
            </a:r>
          </a:p>
          <a:p>
            <a:endParaRPr lang="en-US" dirty="0"/>
          </a:p>
          <a:p>
            <a:r>
              <a:rPr lang="en-US" dirty="0"/>
              <a:t>Option B: Obfuscation + Encryption </a:t>
            </a:r>
          </a:p>
          <a:p>
            <a:pPr lvl="1"/>
            <a:r>
              <a:rPr lang="en-US" dirty="0"/>
              <a:t>Encrypt (salary value + random salt) </a:t>
            </a:r>
          </a:p>
          <a:p>
            <a:pPr lvl="1"/>
            <a:r>
              <a:rPr lang="en-US" dirty="0"/>
              <a:t>Example: 50000 + 12345 = 62345, then encrypt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D64E40-7620-B071-408A-F8B5B2FAA2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2DE33-1191-576F-E551-C2F9F8C2E6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N" dirty="0"/>
              <a:t>Some Options</a:t>
            </a:r>
          </a:p>
        </p:txBody>
      </p:sp>
    </p:spTree>
    <p:extLst>
      <p:ext uri="{BB962C8B-B14F-4D97-AF65-F5344CB8AC3E}">
        <p14:creationId xmlns:p14="http://schemas.microsoft.com/office/powerpoint/2010/main" val="19544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AC0D57-DC6B-4727-60B5-39F0FA947C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CN" dirty="0"/>
              <a:t>AES ECB Mode Encryption of Salaries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84D912-E86B-5A2B-2405-1E672FF5CE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EFE68-E2E5-97EA-72FB-8C84E023A8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ECB Encryption's Fatal Flaw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5B2AD-37DE-35F0-C3A0-04589DB9BF2B}"/>
              </a:ext>
            </a:extLst>
          </p:cNvPr>
          <p:cNvSpPr txBox="1"/>
          <p:nvPr/>
        </p:nvSpPr>
        <p:spPr>
          <a:xfrm>
            <a:off x="5280787" y="1485706"/>
            <a:ext cx="610966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==================================================</a:t>
            </a:r>
          </a:p>
          <a:p>
            <a:r>
              <a:rPr lang="en-US" dirty="0">
                <a:solidFill>
                  <a:srgbClr val="0432FF"/>
                </a:solidFill>
              </a:rPr>
              <a:t>ECB MODE ENCRYPTION</a:t>
            </a:r>
          </a:p>
          <a:p>
            <a:r>
              <a:rPr lang="en-US" dirty="0">
                <a:solidFill>
                  <a:srgbClr val="0432FF"/>
                </a:solidFill>
              </a:rPr>
              <a:t>==================================================</a:t>
            </a:r>
          </a:p>
          <a:p>
            <a:endParaRPr lang="en-US" dirty="0">
              <a:solidFill>
                <a:srgbClr val="0432FF"/>
              </a:solidFill>
            </a:endParaRPr>
          </a:p>
          <a:p>
            <a:r>
              <a:rPr lang="en-US" dirty="0">
                <a:solidFill>
                  <a:srgbClr val="0432FF"/>
                </a:solidFill>
              </a:rPr>
              <a:t>Original Salaries:</a:t>
            </a:r>
          </a:p>
          <a:p>
            <a:r>
              <a:rPr lang="en-US" dirty="0">
                <a:solidFill>
                  <a:srgbClr val="0432FF"/>
                </a:solidFill>
              </a:rPr>
              <a:t>  Alice: $95000</a:t>
            </a:r>
          </a:p>
          <a:p>
            <a:r>
              <a:rPr lang="en-US" dirty="0">
                <a:solidFill>
                  <a:srgbClr val="0432FF"/>
                </a:solidFill>
              </a:rPr>
              <a:t>  Bob: $65000</a:t>
            </a:r>
          </a:p>
          <a:p>
            <a:r>
              <a:rPr lang="en-US" dirty="0">
                <a:solidFill>
                  <a:srgbClr val="0432FF"/>
                </a:solidFill>
              </a:rPr>
              <a:t>  Charlie: $65000</a:t>
            </a:r>
          </a:p>
          <a:p>
            <a:r>
              <a:rPr lang="en-US" dirty="0">
                <a:solidFill>
                  <a:srgbClr val="0432FF"/>
                </a:solidFill>
              </a:rPr>
              <a:t>  David: $55000</a:t>
            </a:r>
          </a:p>
          <a:p>
            <a:r>
              <a:rPr lang="en-US" dirty="0">
                <a:solidFill>
                  <a:srgbClr val="0432FF"/>
                </a:solidFill>
              </a:rPr>
              <a:t>  Eve: $95000</a:t>
            </a:r>
          </a:p>
          <a:p>
            <a:endParaRPr lang="en-US" dirty="0">
              <a:solidFill>
                <a:srgbClr val="0432FF"/>
              </a:solidFill>
            </a:endParaRPr>
          </a:p>
          <a:p>
            <a:r>
              <a:rPr lang="en-US" dirty="0">
                <a:solidFill>
                  <a:srgbClr val="0432FF"/>
                </a:solidFill>
              </a:rPr>
              <a:t>Encrypted Salaries (ECB):</a:t>
            </a:r>
          </a:p>
          <a:p>
            <a:r>
              <a:rPr lang="en-US" dirty="0">
                <a:solidFill>
                  <a:srgbClr val="0432FF"/>
                </a:solidFill>
              </a:rPr>
              <a:t>  Alice: </a:t>
            </a:r>
            <a:r>
              <a:rPr lang="en-US" dirty="0">
                <a:solidFill>
                  <a:srgbClr val="00B050"/>
                </a:solidFill>
              </a:rPr>
              <a:t>F4pQJq9tUXHZpCDJZGC3...</a:t>
            </a:r>
          </a:p>
          <a:p>
            <a:r>
              <a:rPr lang="en-US" dirty="0">
                <a:solidFill>
                  <a:srgbClr val="0432FF"/>
                </a:solidFill>
              </a:rPr>
              <a:t>  Bob: </a:t>
            </a:r>
            <a:r>
              <a:rPr lang="en-US" dirty="0">
                <a:solidFill>
                  <a:srgbClr val="FF0000"/>
                </a:solidFill>
              </a:rPr>
              <a:t>u+EyzztEsNujRQAQoiY4...</a:t>
            </a:r>
          </a:p>
          <a:p>
            <a:r>
              <a:rPr lang="en-US" dirty="0">
                <a:solidFill>
                  <a:srgbClr val="0432FF"/>
                </a:solidFill>
              </a:rPr>
              <a:t>  Charlie: </a:t>
            </a:r>
            <a:r>
              <a:rPr lang="en-US" dirty="0">
                <a:solidFill>
                  <a:srgbClr val="FF0000"/>
                </a:solidFill>
              </a:rPr>
              <a:t>u+EyzztEsNujRQAQoiY4...</a:t>
            </a:r>
          </a:p>
          <a:p>
            <a:r>
              <a:rPr lang="en-US" dirty="0">
                <a:solidFill>
                  <a:srgbClr val="0432FF"/>
                </a:solidFill>
              </a:rPr>
              <a:t>  David: 3ioD81rpePjGXQ6fCI3R...</a:t>
            </a:r>
          </a:p>
          <a:p>
            <a:r>
              <a:rPr lang="en-US" dirty="0">
                <a:solidFill>
                  <a:srgbClr val="0432FF"/>
                </a:solidFill>
              </a:rPr>
              <a:t>  Eve: </a:t>
            </a:r>
            <a:r>
              <a:rPr lang="en-US" dirty="0">
                <a:solidFill>
                  <a:srgbClr val="00B050"/>
                </a:solidFill>
              </a:rPr>
              <a:t>F4pQJq9tUXHZpCDJZGC3...</a:t>
            </a:r>
          </a:p>
          <a:p>
            <a:endParaRPr lang="en-US" dirty="0">
              <a:solidFill>
                <a:srgbClr val="0432FF"/>
              </a:solidFill>
            </a:endParaRPr>
          </a:p>
          <a:p>
            <a:r>
              <a:rPr lang="en-US" dirty="0">
                <a:solidFill>
                  <a:srgbClr val="0432FF"/>
                </a:solidFill>
              </a:rPr>
              <a:t>==================================================</a:t>
            </a:r>
            <a:endParaRPr lang="en-CN" dirty="0">
              <a:solidFill>
                <a:srgbClr val="0432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FBBC25-D794-3504-F8F7-B7C9ED468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9" y="1635510"/>
            <a:ext cx="3866660" cy="505570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99285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76C7BC-F769-CEA8-3B95-685C61D43D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CN" dirty="0"/>
              <a:t>AES CBC Mode Encryption of Salaries</a:t>
            </a:r>
          </a:p>
          <a:p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C05CCD-62B0-71EC-6365-D9EB0FEACE4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E7D5C-1A74-8CD1-A92F-DCB62C8544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How CBC Fixes the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D8FE1-82D0-43C1-4EEE-2B5B43B0A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19" y="1527744"/>
            <a:ext cx="4055681" cy="5144454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FBB460-C80D-F6F0-EF86-06857B63D0B3}"/>
              </a:ext>
            </a:extLst>
          </p:cNvPr>
          <p:cNvSpPr txBox="1"/>
          <p:nvPr/>
        </p:nvSpPr>
        <p:spPr>
          <a:xfrm>
            <a:off x="5551302" y="1422315"/>
            <a:ext cx="59634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==================================================</a:t>
            </a:r>
          </a:p>
          <a:p>
            <a:r>
              <a:rPr lang="en-US" dirty="0">
                <a:solidFill>
                  <a:srgbClr val="0432FF"/>
                </a:solidFill>
              </a:rPr>
              <a:t>CBC MODE ENCRYPTION</a:t>
            </a:r>
          </a:p>
          <a:p>
            <a:r>
              <a:rPr lang="en-US" dirty="0">
                <a:solidFill>
                  <a:srgbClr val="0432FF"/>
                </a:solidFill>
              </a:rPr>
              <a:t>==================================================</a:t>
            </a:r>
          </a:p>
          <a:p>
            <a:endParaRPr lang="en-US" dirty="0">
              <a:solidFill>
                <a:srgbClr val="0432FF"/>
              </a:solidFill>
            </a:endParaRPr>
          </a:p>
          <a:p>
            <a:r>
              <a:rPr lang="en-US" dirty="0">
                <a:solidFill>
                  <a:srgbClr val="0432FF"/>
                </a:solidFill>
              </a:rPr>
              <a:t>Original Salaries:</a:t>
            </a:r>
          </a:p>
          <a:p>
            <a:r>
              <a:rPr lang="en-US" dirty="0">
                <a:solidFill>
                  <a:srgbClr val="0432FF"/>
                </a:solidFill>
              </a:rPr>
              <a:t>  Alice: $95000</a:t>
            </a:r>
          </a:p>
          <a:p>
            <a:r>
              <a:rPr lang="en-US" dirty="0">
                <a:solidFill>
                  <a:srgbClr val="0432FF"/>
                </a:solidFill>
              </a:rPr>
              <a:t>  Bob: $65000</a:t>
            </a:r>
          </a:p>
          <a:p>
            <a:r>
              <a:rPr lang="en-US" dirty="0">
                <a:solidFill>
                  <a:srgbClr val="0432FF"/>
                </a:solidFill>
              </a:rPr>
              <a:t>  Charlie: $65000</a:t>
            </a:r>
          </a:p>
          <a:p>
            <a:r>
              <a:rPr lang="en-US" dirty="0">
                <a:solidFill>
                  <a:srgbClr val="0432FF"/>
                </a:solidFill>
              </a:rPr>
              <a:t>  David: $55000</a:t>
            </a:r>
          </a:p>
          <a:p>
            <a:r>
              <a:rPr lang="en-US" dirty="0">
                <a:solidFill>
                  <a:srgbClr val="0432FF"/>
                </a:solidFill>
              </a:rPr>
              <a:t>  Eve: $95000</a:t>
            </a:r>
          </a:p>
          <a:p>
            <a:endParaRPr lang="en-US" dirty="0">
              <a:solidFill>
                <a:srgbClr val="0432FF"/>
              </a:solidFill>
            </a:endParaRPr>
          </a:p>
          <a:p>
            <a:r>
              <a:rPr lang="en-US" dirty="0">
                <a:solidFill>
                  <a:srgbClr val="0432FF"/>
                </a:solidFill>
              </a:rPr>
              <a:t>Encrypted Salaries (CBC):</a:t>
            </a:r>
          </a:p>
          <a:p>
            <a:r>
              <a:rPr lang="en-US" dirty="0">
                <a:solidFill>
                  <a:srgbClr val="0432FF"/>
                </a:solidFill>
              </a:rPr>
              <a:t>  Alice: /hOaMIgU4Ua6lOCPohxn...</a:t>
            </a:r>
          </a:p>
          <a:p>
            <a:r>
              <a:rPr lang="en-US" dirty="0">
                <a:solidFill>
                  <a:srgbClr val="0432FF"/>
                </a:solidFill>
              </a:rPr>
              <a:t>  Bob: UFR3KEvqOJyi1fT24Qt9...</a:t>
            </a:r>
          </a:p>
          <a:p>
            <a:r>
              <a:rPr lang="en-US" dirty="0">
                <a:solidFill>
                  <a:srgbClr val="0432FF"/>
                </a:solidFill>
              </a:rPr>
              <a:t>  Charlie: Slgf8cLeq+0Tn9vZSWZZ...</a:t>
            </a:r>
          </a:p>
          <a:p>
            <a:r>
              <a:rPr lang="en-US" dirty="0">
                <a:solidFill>
                  <a:srgbClr val="0432FF"/>
                </a:solidFill>
              </a:rPr>
              <a:t>  David: +</a:t>
            </a:r>
            <a:r>
              <a:rPr lang="en-US" dirty="0" err="1">
                <a:solidFill>
                  <a:srgbClr val="0432FF"/>
                </a:solidFill>
              </a:rPr>
              <a:t>xCxTN</a:t>
            </a:r>
            <a:r>
              <a:rPr lang="en-US" dirty="0">
                <a:solidFill>
                  <a:srgbClr val="0432FF"/>
                </a:solidFill>
              </a:rPr>
              <a:t>/ph5QRaJ5/yO27...</a:t>
            </a:r>
          </a:p>
          <a:p>
            <a:r>
              <a:rPr lang="en-US" dirty="0">
                <a:solidFill>
                  <a:srgbClr val="0432FF"/>
                </a:solidFill>
              </a:rPr>
              <a:t>  Eve: EznSLRb2lHqyDKCafn52...</a:t>
            </a:r>
          </a:p>
          <a:p>
            <a:endParaRPr lang="en-US" dirty="0">
              <a:solidFill>
                <a:srgbClr val="0432FF"/>
              </a:solidFill>
            </a:endParaRPr>
          </a:p>
          <a:p>
            <a:r>
              <a:rPr lang="en-US" dirty="0">
                <a:solidFill>
                  <a:srgbClr val="0432FF"/>
                </a:solidFill>
              </a:rPr>
              <a:t>==================================================</a:t>
            </a:r>
            <a:endParaRPr lang="en-CN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19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F7E9D6-2601-81FA-A985-E6E57D031DC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757011025"/>
              </p:ext>
            </p:extLst>
          </p:nvPr>
        </p:nvGraphicFramePr>
        <p:xfrm>
          <a:off x="488155" y="1782947"/>
          <a:ext cx="10757913" cy="3882129"/>
        </p:xfrm>
        <a:graphic>
          <a:graphicData uri="http://schemas.openxmlformats.org/drawingml/2006/table">
            <a:tbl>
              <a:tblPr/>
              <a:tblGrid>
                <a:gridCol w="2780562">
                  <a:extLst>
                    <a:ext uri="{9D8B030D-6E8A-4147-A177-3AD203B41FA5}">
                      <a16:colId xmlns:a16="http://schemas.microsoft.com/office/drawing/2014/main" val="3387780733"/>
                    </a:ext>
                  </a:extLst>
                </a:gridCol>
                <a:gridCol w="4391380">
                  <a:extLst>
                    <a:ext uri="{9D8B030D-6E8A-4147-A177-3AD203B41FA5}">
                      <a16:colId xmlns:a16="http://schemas.microsoft.com/office/drawing/2014/main" val="4008919206"/>
                    </a:ext>
                  </a:extLst>
                </a:gridCol>
                <a:gridCol w="3585971">
                  <a:extLst>
                    <a:ext uri="{9D8B030D-6E8A-4147-A177-3AD203B41FA5}">
                      <a16:colId xmlns:a16="http://schemas.microsoft.com/office/drawing/2014/main" val="1028369573"/>
                    </a:ext>
                  </a:extLst>
                </a:gridCol>
              </a:tblGrid>
              <a:tr h="59199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effectLst/>
                        </a:rPr>
                        <a:t>Security Issue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effectLst/>
                        </a:rPr>
                        <a:t>ECB's Problem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effectLst/>
                        </a:rPr>
                        <a:t>CBC's Solution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525008"/>
                  </a:ext>
                </a:extLst>
              </a:tr>
              <a:tr h="899379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Identical Data Recognition</a:t>
                      </a:r>
                      <a:endParaRPr lang="en-US" sz="1800" dirty="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Same salary → Same ciphertext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Same salary → Different ciphertext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577182"/>
                  </a:ext>
                </a:extLst>
              </a:tr>
              <a:tr h="591996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Frequency Analysis</a:t>
                      </a:r>
                      <a:endParaRPr lang="en-US" sz="1800" dirty="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Can identify common salaries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No statistical analysis possible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068100"/>
                  </a:ext>
                </a:extLst>
              </a:tr>
              <a:tr h="899379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Pattern Matching</a:t>
                      </a:r>
                      <a:endParaRPr lang="en-US" sz="1800" dirty="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Can see organizational hierarchy patterns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All records appear random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063534"/>
                  </a:ext>
                </a:extLst>
              </a:tr>
              <a:tr h="899379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Data Correlation</a:t>
                      </a:r>
                      <a:endParaRPr lang="en-US" sz="1800" dirty="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Can correlate employees with same salaries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Each record appears independent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47142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218C6E-D35D-B92F-58A2-7CDA94361B6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B4B3E-0AF7-F9B4-926D-755EC78879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N" dirty="0"/>
              <a:t>Comparison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5FECAFA-9F0A-6E1D-B6ED-37ED818E84E1}"/>
              </a:ext>
            </a:extLst>
          </p:cNvPr>
          <p:cNvSpPr txBox="1">
            <a:spLocks/>
          </p:cNvSpPr>
          <p:nvPr/>
        </p:nvSpPr>
        <p:spPr>
          <a:xfrm>
            <a:off x="350428" y="910656"/>
            <a:ext cx="11498672" cy="539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  <a:cs typeface="+mn-cs"/>
              </a:defRPr>
            </a:lvl1pPr>
            <a:lvl2pPr marL="431959" indent="-17145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  <a:cs typeface="+mn-cs"/>
              </a:defRPr>
            </a:lvl2pPr>
            <a:lvl3pPr marL="755809" indent="-171450" algn="l" defTabSz="685800" rtl="0" eaLnBrk="1" fontAlgn="auto" latinLnBrk="0" hangingPunct="1">
              <a:lnSpc>
                <a:spcPct val="120000"/>
              </a:lnSpc>
              <a:spcBef>
                <a:spcPts val="375"/>
              </a:spcBef>
              <a:buSzPct val="75000"/>
              <a:buFont typeface="Arial" panose="020B0604020202020204" pitchFamily="34" charset="0"/>
              <a:buChar char="‒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  <a:cs typeface="+mn-cs"/>
              </a:defRPr>
            </a:lvl3pPr>
            <a:lvl4pPr marL="113395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buSzPct val="75000"/>
              <a:buFont typeface="Arial" panose="020B0604020202020204" pitchFamily="34" charset="0"/>
              <a:buChar char="˃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  <a:cs typeface="+mn-cs"/>
              </a:defRPr>
            </a:lvl4pPr>
            <a:lvl5pPr marL="145780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buSzPct val="75000"/>
              <a:buFont typeface="Arial" panose="020B0604020202020204" pitchFamily="34" charset="0"/>
              <a:buChar char="˃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dirty="0"/>
              <a:t>ECB vs CBC Mode Encryption of Salaries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4921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32E456-081F-E7DD-12FA-73E7DD4F7D6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Application 1: Medical Records</a:t>
            </a:r>
          </a:p>
          <a:p>
            <a:endParaRPr lang="en-US" dirty="0"/>
          </a:p>
          <a:p>
            <a:r>
              <a:rPr lang="en-US" dirty="0"/>
              <a:t>diseases = [</a:t>
            </a:r>
            <a:r>
              <a:rPr lang="en-US" dirty="0">
                <a:solidFill>
                  <a:srgbClr val="00B050"/>
                </a:solidFill>
              </a:rPr>
              <a:t>"CANCER"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"DIABETES"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"CANCER"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"FLU"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"DIABETES"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/>
              <a:t>Using ECB: Can count how many cancer patients </a:t>
            </a:r>
          </a:p>
          <a:p>
            <a:r>
              <a:rPr lang="en-US" dirty="0"/>
              <a:t>Using CBC: Each disease record is unique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B2DAE-F1E2-51D1-89F6-93DCEB7BB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B4B8E-AD8C-B227-0051-6A2CF8B5E5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Beyond Payroll Systems</a:t>
            </a:r>
          </a:p>
        </p:txBody>
      </p:sp>
    </p:spTree>
    <p:extLst>
      <p:ext uri="{BB962C8B-B14F-4D97-AF65-F5344CB8AC3E}">
        <p14:creationId xmlns:p14="http://schemas.microsoft.com/office/powerpoint/2010/main" val="323553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32E456-081F-E7DD-12FA-73E7DD4F7D6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Application 2: Voting Systems</a:t>
            </a:r>
          </a:p>
          <a:p>
            <a:endParaRPr lang="en-CN" dirty="0"/>
          </a:p>
          <a:p>
            <a:r>
              <a:rPr lang="en-US" dirty="0"/>
              <a:t>Anonymous Voting Requirements: </a:t>
            </a:r>
          </a:p>
          <a:p>
            <a:pPr lvl="1"/>
            <a:r>
              <a:rPr lang="en-US" dirty="0"/>
              <a:t>Cannot tell who voted what </a:t>
            </a:r>
          </a:p>
          <a:p>
            <a:pPr lvl="1"/>
            <a:endParaRPr lang="en-US" dirty="0"/>
          </a:p>
          <a:p>
            <a:r>
              <a:rPr lang="en-US" dirty="0"/>
              <a:t>ECB Problem: All "YES" votes look identical </a:t>
            </a:r>
          </a:p>
          <a:p>
            <a:r>
              <a:rPr lang="en-US" dirty="0"/>
              <a:t>CBC Solution: Every "YES" vote looks different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B2DAE-F1E2-51D1-89F6-93DCEB7BB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B4B8E-AD8C-B227-0051-6A2CF8B5E5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Beyond Payroll Systems</a:t>
            </a:r>
          </a:p>
        </p:txBody>
      </p:sp>
    </p:spTree>
    <p:extLst>
      <p:ext uri="{BB962C8B-B14F-4D97-AF65-F5344CB8AC3E}">
        <p14:creationId xmlns:p14="http://schemas.microsoft.com/office/powerpoint/2010/main" val="51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32E456-081F-E7DD-12FA-73E7DD4F7D6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Application 3: Location Tracking</a:t>
            </a:r>
          </a:p>
          <a:p>
            <a:endParaRPr lang="en-CN" dirty="0"/>
          </a:p>
          <a:p>
            <a:r>
              <a:rPr lang="en-US" dirty="0"/>
              <a:t>Employee Location History: </a:t>
            </a:r>
          </a:p>
          <a:p>
            <a:pPr lvl="1"/>
            <a:r>
              <a:rPr lang="en-US" dirty="0"/>
              <a:t>At office: Encrypted location</a:t>
            </a:r>
          </a:p>
          <a:p>
            <a:pPr lvl="1"/>
            <a:r>
              <a:rPr lang="en-US" dirty="0"/>
              <a:t>At home: Encrypted location </a:t>
            </a:r>
          </a:p>
          <a:p>
            <a:pPr lvl="1"/>
            <a:endParaRPr lang="en-US" dirty="0"/>
          </a:p>
          <a:p>
            <a:r>
              <a:rPr lang="en-US" dirty="0"/>
              <a:t>Using ECB: Can see when employee is at same location </a:t>
            </a:r>
          </a:p>
          <a:p>
            <a:r>
              <a:rPr lang="en-US" dirty="0"/>
              <a:t>Using CBC: Each location record is different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B2DAE-F1E2-51D1-89F6-93DCEB7BB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B4B8E-AD8C-B227-0051-6A2CF8B5E5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Beyond Payroll Systems</a:t>
            </a:r>
          </a:p>
        </p:txBody>
      </p:sp>
    </p:spTree>
    <p:extLst>
      <p:ext uri="{BB962C8B-B14F-4D97-AF65-F5344CB8AC3E}">
        <p14:creationId xmlns:p14="http://schemas.microsoft.com/office/powerpoint/2010/main" val="170399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1D357C-4AA5-B421-F27A-153F00111EE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CBC provides semantic security: 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Ciphertexts reveal </a:t>
            </a:r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b="1" dirty="0"/>
              <a:t> information about plaintexts except their length.</a:t>
            </a:r>
          </a:p>
          <a:p>
            <a:endParaRPr lang="en-US" dirty="0"/>
          </a:p>
          <a:p>
            <a:r>
              <a:rPr lang="en-US" dirty="0"/>
              <a:t>Formal definition </a:t>
            </a:r>
          </a:p>
          <a:p>
            <a:pPr marL="0" indent="0" algn="ctr">
              <a:buNone/>
            </a:pPr>
            <a:endParaRPr lang="en-C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5CECB2-5DA5-D577-4BED-9559940B28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D7A6A-E511-0BC0-5407-1BE1742090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Semantic Security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7353B-B1A4-90EF-4B24-2FCEA5B27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93" y="3354625"/>
            <a:ext cx="7659413" cy="275037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51954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11963</TotalTime>
  <Words>502</Words>
  <Application>Microsoft Macintosh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quote-cjk-patch</vt:lpstr>
      <vt:lpstr>微软雅黑 Light</vt:lpstr>
      <vt:lpstr>Arial</vt:lpstr>
      <vt:lpstr>Calibri</vt:lpstr>
      <vt:lpstr>Calibri Light</vt:lpstr>
      <vt:lpstr>1_Office 主题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Jie Zhang</cp:lastModifiedBy>
  <cp:revision>1596</cp:revision>
  <dcterms:created xsi:type="dcterms:W3CDTF">2017-08-03T09:01:00Z</dcterms:created>
  <dcterms:modified xsi:type="dcterms:W3CDTF">2026-03-05T01:03:46Z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