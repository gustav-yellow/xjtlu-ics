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5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099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20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352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492" y="1447800"/>
            <a:ext cx="560831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484" y="1781555"/>
            <a:ext cx="8226552" cy="3200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51304" y="3675509"/>
            <a:ext cx="4530852" cy="17553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50289" y="679767"/>
            <a:ext cx="36283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5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099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20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2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1447800"/>
            <a:ext cx="560831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484" y="1781555"/>
            <a:ext cx="8226552" cy="32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827" y="456031"/>
            <a:ext cx="8246745" cy="118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8127" y="2854325"/>
            <a:ext cx="4493895" cy="343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3300" y="6427700"/>
            <a:ext cx="283845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Relationship Id="rId18" Type="http://schemas.openxmlformats.org/officeDocument/2006/relationships/image" Target="../media/image95.png"/><Relationship Id="rId19" Type="http://schemas.openxmlformats.org/officeDocument/2006/relationships/image" Target="../media/image96.png"/><Relationship Id="rId20" Type="http://schemas.openxmlformats.org/officeDocument/2006/relationships/image" Target="../media/image97.png"/><Relationship Id="rId21" Type="http://schemas.openxmlformats.org/officeDocument/2006/relationships/image" Target="../media/image98.png"/><Relationship Id="rId22" Type="http://schemas.openxmlformats.org/officeDocument/2006/relationships/image" Target="../media/image99.png"/><Relationship Id="rId23" Type="http://schemas.openxmlformats.org/officeDocument/2006/relationships/image" Target="../media/image100.png"/><Relationship Id="rId24" Type="http://schemas.openxmlformats.org/officeDocument/2006/relationships/image" Target="../media/image101.png"/><Relationship Id="rId25" Type="http://schemas.openxmlformats.org/officeDocument/2006/relationships/image" Target="../media/image102.png"/><Relationship Id="rId26" Type="http://schemas.openxmlformats.org/officeDocument/2006/relationships/image" Target="../media/image103.png"/><Relationship Id="rId27" Type="http://schemas.openxmlformats.org/officeDocument/2006/relationships/image" Target="../media/image104.png"/><Relationship Id="rId28" Type="http://schemas.openxmlformats.org/officeDocument/2006/relationships/image" Target="../media/image105.png"/><Relationship Id="rId29" Type="http://schemas.openxmlformats.org/officeDocument/2006/relationships/image" Target="../media/image106.png"/><Relationship Id="rId30" Type="http://schemas.openxmlformats.org/officeDocument/2006/relationships/image" Target="../media/image107.png"/><Relationship Id="rId31" Type="http://schemas.openxmlformats.org/officeDocument/2006/relationships/image" Target="../media/image108.png"/><Relationship Id="rId32" Type="http://schemas.openxmlformats.org/officeDocument/2006/relationships/image" Target="../media/image109.png"/><Relationship Id="rId33" Type="http://schemas.openxmlformats.org/officeDocument/2006/relationships/image" Target="../media/image110.png"/><Relationship Id="rId34" Type="http://schemas.openxmlformats.org/officeDocument/2006/relationships/image" Target="../media/image11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jpg"/><Relationship Id="rId3" Type="http://schemas.openxmlformats.org/officeDocument/2006/relationships/image" Target="../media/image6.png"/><Relationship Id="rId4" Type="http://schemas.openxmlformats.org/officeDocument/2006/relationships/hyperlink" Target="http://WWW.XJTLU.EDU.CN/" TargetMode="External"/><Relationship Id="rId5" Type="http://schemas.openxmlformats.org/officeDocument/2006/relationships/image" Target="../media/image113.jp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jpg"/><Relationship Id="rId9" Type="http://schemas.openxmlformats.org/officeDocument/2006/relationships/image" Target="../media/image117.jpg"/><Relationship Id="rId10" Type="http://schemas.openxmlformats.org/officeDocument/2006/relationships/image" Target="../media/image11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5073332"/>
            <a:ext cx="3236595" cy="6229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25"/>
              </a:spcBef>
            </a:pPr>
            <a:r>
              <a:rPr dirty="0" sz="1800" spc="-265" b="1">
                <a:solidFill>
                  <a:srgbClr val="000044"/>
                </a:solidFill>
                <a:latin typeface="Arial"/>
                <a:cs typeface="Arial"/>
              </a:rPr>
              <a:t>SELF-</a:t>
            </a:r>
            <a:r>
              <a:rPr dirty="0" sz="1800" spc="-170" b="1">
                <a:solidFill>
                  <a:srgbClr val="000044"/>
                </a:solidFill>
                <a:latin typeface="Arial"/>
                <a:cs typeface="Arial"/>
              </a:rPr>
              <a:t>ORGANIZING</a:t>
            </a:r>
            <a:r>
              <a:rPr dirty="0" sz="1800" spc="-70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280" b="1">
                <a:solidFill>
                  <a:srgbClr val="000044"/>
                </a:solidFill>
                <a:latin typeface="Arial"/>
                <a:cs typeface="Arial"/>
              </a:rPr>
              <a:t>FEATURE</a:t>
            </a:r>
            <a:r>
              <a:rPr dirty="0" sz="1800" spc="-65" b="1">
                <a:solidFill>
                  <a:srgbClr val="000044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000044"/>
                </a:solidFill>
                <a:latin typeface="Arial"/>
                <a:cs typeface="Arial"/>
              </a:rPr>
              <a:t>MAP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150" b="1">
                <a:latin typeface="Arial"/>
                <a:cs typeface="Arial"/>
              </a:rPr>
              <a:t>INT301</a:t>
            </a:r>
            <a:r>
              <a:rPr dirty="0" sz="1150" spc="34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Bio-computation,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Week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11,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2025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476859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292" y="5929884"/>
            <a:ext cx="355092" cy="44500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517207"/>
            <a:ext cx="512572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Self-</a:t>
            </a:r>
            <a:r>
              <a:rPr dirty="0"/>
              <a:t>Organizing</a:t>
            </a:r>
            <a:r>
              <a:rPr dirty="0" spc="-45"/>
              <a:t> </a:t>
            </a:r>
            <a:r>
              <a:rPr dirty="0"/>
              <a:t>Map</a:t>
            </a:r>
            <a:r>
              <a:rPr dirty="0" spc="-45"/>
              <a:t> </a:t>
            </a:r>
            <a:r>
              <a:rPr dirty="0" spc="-50"/>
              <a:t>– </a:t>
            </a:r>
            <a:r>
              <a:rPr dirty="0"/>
              <a:t>Biological</a:t>
            </a:r>
            <a:r>
              <a:rPr dirty="0" spc="-175"/>
              <a:t> </a:t>
            </a:r>
            <a:r>
              <a:rPr dirty="0" spc="-10"/>
              <a:t>Motivation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3822" y="2421636"/>
            <a:ext cx="3755629" cy="325831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92530" y="2157958"/>
            <a:ext cx="3964940" cy="40678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Brain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is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0000FF"/>
                </a:solidFill>
                <a:latin typeface="Tahoma"/>
                <a:cs typeface="Tahoma"/>
              </a:rPr>
              <a:t>self-organizing </a:t>
            </a:r>
            <a:r>
              <a:rPr dirty="0" sz="2600">
                <a:solidFill>
                  <a:srgbClr val="0000FF"/>
                </a:solidFill>
                <a:latin typeface="Tahoma"/>
                <a:cs typeface="Tahoma"/>
              </a:rPr>
              <a:t>system</a:t>
            </a:r>
            <a:r>
              <a:rPr dirty="0" sz="2600" spc="-3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that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by </a:t>
            </a:r>
            <a:r>
              <a:rPr dirty="0" sz="2600">
                <a:latin typeface="Tahoma"/>
                <a:cs typeface="Tahoma"/>
              </a:rPr>
              <a:t>itself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by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changing </a:t>
            </a:r>
            <a:r>
              <a:rPr dirty="0" sz="2600">
                <a:latin typeface="Tahoma"/>
                <a:cs typeface="Tahoma"/>
              </a:rPr>
              <a:t>(adding,</a:t>
            </a:r>
            <a:r>
              <a:rPr dirty="0" sz="2600" spc="-6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removing, </a:t>
            </a:r>
            <a:r>
              <a:rPr dirty="0" sz="2600">
                <a:latin typeface="Tahoma"/>
                <a:cs typeface="Tahoma"/>
              </a:rPr>
              <a:t>strengthening)</a:t>
            </a:r>
            <a:r>
              <a:rPr dirty="0" sz="2600" spc="-10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the </a:t>
            </a:r>
            <a:r>
              <a:rPr dirty="0" sz="2600" spc="-10">
                <a:latin typeface="Tahoma"/>
                <a:cs typeface="Tahoma"/>
              </a:rPr>
              <a:t>interconnections </a:t>
            </a:r>
            <a:r>
              <a:rPr dirty="0" sz="2600">
                <a:latin typeface="Tahoma"/>
                <a:cs typeface="Tahoma"/>
              </a:rPr>
              <a:t>between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neurons.</a:t>
            </a:r>
            <a:endParaRPr sz="2600">
              <a:latin typeface="Tahoma"/>
              <a:cs typeface="Tahoma"/>
            </a:endParaRPr>
          </a:p>
          <a:p>
            <a:pPr marL="355600" marR="401955" indent="-342900">
              <a:lnSpc>
                <a:spcPct val="100000"/>
              </a:lnSpc>
              <a:spcBef>
                <a:spcPts val="62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Neurons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with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similar </a:t>
            </a:r>
            <a:r>
              <a:rPr dirty="0" sz="2600">
                <a:latin typeface="Tahoma"/>
                <a:cs typeface="Tahoma"/>
              </a:rPr>
              <a:t>functions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are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grouped together.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677" y="517207"/>
            <a:ext cx="512572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Self-</a:t>
            </a:r>
            <a:r>
              <a:rPr dirty="0"/>
              <a:t>Organizing</a:t>
            </a:r>
            <a:r>
              <a:rPr dirty="0" spc="-45"/>
              <a:t> </a:t>
            </a:r>
            <a:r>
              <a:rPr dirty="0"/>
              <a:t>Map</a:t>
            </a:r>
            <a:r>
              <a:rPr dirty="0" spc="-45"/>
              <a:t> </a:t>
            </a:r>
            <a:r>
              <a:rPr dirty="0" spc="-50"/>
              <a:t>– </a:t>
            </a:r>
            <a:r>
              <a:rPr dirty="0"/>
              <a:t>Biological</a:t>
            </a:r>
            <a:r>
              <a:rPr dirty="0" spc="-175"/>
              <a:t> </a:t>
            </a:r>
            <a:r>
              <a:rPr dirty="0" spc="-10"/>
              <a:t>Motivation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370" y="4142410"/>
            <a:ext cx="8331479" cy="232952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74281" y="2228418"/>
            <a:ext cx="7430770" cy="2243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3695" marR="309880" indent="-34099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Neurons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similar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functions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grouped 	together.</a:t>
            </a:r>
            <a:endParaRPr sz="2800">
              <a:latin typeface="Tahoma"/>
              <a:cs typeface="Tahoma"/>
            </a:endParaRPr>
          </a:p>
          <a:p>
            <a:pPr algn="just" marL="353695" marR="5080" indent="-34099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brain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processes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multidimensional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signals </a:t>
            </a:r>
            <a:r>
              <a:rPr dirty="0" sz="2800" spc="-10">
                <a:latin typeface="Tahoma"/>
                <a:cs typeface="Tahoma"/>
              </a:rPr>
              <a:t>	</a:t>
            </a:r>
            <a:r>
              <a:rPr dirty="0" sz="2800">
                <a:latin typeface="Tahoma"/>
                <a:cs typeface="Tahoma"/>
              </a:rPr>
              <a:t>from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external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world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“2”-dimensional </a:t>
            </a:r>
            <a:r>
              <a:rPr dirty="0" sz="2800" spc="-10">
                <a:latin typeface="Tahoma"/>
                <a:cs typeface="Tahoma"/>
              </a:rPr>
              <a:t>	</a:t>
            </a:r>
            <a:r>
              <a:rPr dirty="0" sz="2800">
                <a:latin typeface="Tahoma"/>
                <a:cs typeface="Tahoma"/>
              </a:rPr>
              <a:t>internal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map.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13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Feature</a:t>
            </a:r>
            <a:r>
              <a:rPr dirty="0" sz="4000" spc="-155"/>
              <a:t> </a:t>
            </a:r>
            <a:r>
              <a:rPr dirty="0" sz="4000" spc="-20"/>
              <a:t>Maps</a:t>
            </a:r>
            <a:endParaRPr sz="40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02272" y="2095385"/>
            <a:ext cx="8192134" cy="4453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ts val="335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Result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brain’s</a:t>
            </a:r>
            <a:r>
              <a:rPr dirty="0" sz="28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self-organization</a:t>
            </a:r>
            <a:endParaRPr sz="2800">
              <a:latin typeface="Tahoma"/>
              <a:cs typeface="Tahoma"/>
            </a:endParaRPr>
          </a:p>
          <a:p>
            <a:pPr lvl="1" marL="755650" marR="5080" indent="-285750">
              <a:lnSpc>
                <a:spcPct val="79900"/>
              </a:lnSpc>
              <a:spcBef>
                <a:spcPts val="56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formation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feature</a:t>
            </a:r>
            <a:r>
              <a:rPr dirty="0" sz="2400" spc="-1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maps</a:t>
            </a:r>
            <a:r>
              <a:rPr dirty="0" sz="2400" spc="-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brain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linear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planar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topology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(that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extend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or </a:t>
            </a:r>
            <a:r>
              <a:rPr dirty="0" sz="2400">
                <a:latin typeface="Tahoma"/>
                <a:cs typeface="Tahoma"/>
              </a:rPr>
              <a:t>two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dimensions)</a:t>
            </a:r>
            <a:endParaRPr sz="2400">
              <a:latin typeface="Tahoma"/>
              <a:cs typeface="Tahoma"/>
            </a:endParaRPr>
          </a:p>
          <a:p>
            <a:pPr algn="just" marL="353695" indent="-340995">
              <a:lnSpc>
                <a:spcPts val="3350"/>
              </a:lnSpc>
              <a:spcBef>
                <a:spcPts val="2885"/>
              </a:spcBef>
              <a:buClr>
                <a:srgbClr val="3333CC"/>
              </a:buClr>
              <a:buSzPct val="58928"/>
              <a:buChar char="■"/>
              <a:tabLst>
                <a:tab pos="353695" algn="l"/>
              </a:tabLst>
            </a:pPr>
            <a:r>
              <a:rPr dirty="0" sz="2800" spc="-10">
                <a:latin typeface="Tahoma"/>
                <a:cs typeface="Tahoma"/>
              </a:rPr>
              <a:t>Examples:</a:t>
            </a:r>
            <a:endParaRPr sz="2800">
              <a:latin typeface="Tahoma"/>
              <a:cs typeface="Tahoma"/>
            </a:endParaRPr>
          </a:p>
          <a:p>
            <a:pPr algn="just" lvl="1" marL="755650" marR="1039494" indent="-285750">
              <a:lnSpc>
                <a:spcPct val="79900"/>
              </a:lnSpc>
              <a:spcBef>
                <a:spcPts val="570"/>
              </a:spcBef>
              <a:buSzPct val="54166"/>
              <a:buChar char="■"/>
              <a:tabLst>
                <a:tab pos="755650" algn="l"/>
                <a:tab pos="757555" algn="l"/>
              </a:tabLst>
            </a:pP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>
                <a:solidFill>
                  <a:srgbClr val="3333CC"/>
                </a:solidFill>
                <a:latin typeface="Tahoma"/>
                <a:cs typeface="Tahoma"/>
              </a:rPr>
              <a:t>tonotopic</a:t>
            </a:r>
            <a:r>
              <a:rPr dirty="0" sz="2400" spc="-25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33CC"/>
                </a:solidFill>
                <a:latin typeface="Tahoma"/>
                <a:cs typeface="Tahoma"/>
              </a:rPr>
              <a:t>map</a:t>
            </a:r>
            <a:r>
              <a:rPr dirty="0" sz="2400" spc="-25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-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sound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frequencies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spatially </a:t>
            </a:r>
            <a:r>
              <a:rPr dirty="0" sz="2400">
                <a:latin typeface="Tahoma"/>
                <a:cs typeface="Tahoma"/>
              </a:rPr>
              <a:t>mapped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regions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cortex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0">
                <a:latin typeface="Tahoma"/>
                <a:cs typeface="Tahoma"/>
              </a:rPr>
              <a:t> orderly </a:t>
            </a:r>
            <a:r>
              <a:rPr dirty="0" sz="2400">
                <a:latin typeface="Tahoma"/>
                <a:cs typeface="Tahoma"/>
              </a:rPr>
              <a:t>progression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low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high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frequencies.</a:t>
            </a:r>
            <a:endParaRPr sz="2400">
              <a:latin typeface="Tahoma"/>
              <a:cs typeface="Tahoma"/>
            </a:endParaRPr>
          </a:p>
          <a:p>
            <a:pPr lvl="1" marL="755650" marR="410845" indent="-285750">
              <a:lnSpc>
                <a:spcPct val="799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solidFill>
                  <a:srgbClr val="3333CC"/>
                </a:solidFill>
                <a:latin typeface="Tahoma"/>
                <a:cs typeface="Tahoma"/>
              </a:rPr>
              <a:t>retinotopic</a:t>
            </a:r>
            <a:r>
              <a:rPr dirty="0" sz="2400" spc="-25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33CC"/>
                </a:solidFill>
                <a:latin typeface="Tahoma"/>
                <a:cs typeface="Tahoma"/>
              </a:rPr>
              <a:t>map</a:t>
            </a:r>
            <a:r>
              <a:rPr dirty="0" sz="2400" spc="-25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-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visual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field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mapped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visual </a:t>
            </a:r>
            <a:r>
              <a:rPr dirty="0" sz="2400">
                <a:latin typeface="Tahoma"/>
                <a:cs typeface="Tahoma"/>
              </a:rPr>
              <a:t>cortex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higher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resolution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centre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visual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field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ts val="2875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solidFill>
                  <a:srgbClr val="3333CC"/>
                </a:solidFill>
                <a:latin typeface="Tahoma"/>
                <a:cs typeface="Tahoma"/>
              </a:rPr>
              <a:t>somatosensory</a:t>
            </a:r>
            <a:r>
              <a:rPr dirty="0" sz="2400" spc="-35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3333CC"/>
                </a:solidFill>
                <a:latin typeface="Tahoma"/>
                <a:cs typeface="Tahoma"/>
              </a:rPr>
              <a:t>map</a:t>
            </a:r>
            <a:r>
              <a:rPr dirty="0" sz="2400" spc="-3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-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mapping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touch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5541" y="1628800"/>
            <a:ext cx="8496300" cy="5072380"/>
          </a:xfrm>
          <a:custGeom>
            <a:avLst/>
            <a:gdLst/>
            <a:ahLst/>
            <a:cxnLst/>
            <a:rect l="l" t="t" r="r" b="b"/>
            <a:pathLst>
              <a:path w="8496300" h="5072380">
                <a:moveTo>
                  <a:pt x="8496300" y="0"/>
                </a:moveTo>
                <a:lnTo>
                  <a:pt x="0" y="0"/>
                </a:lnTo>
                <a:lnTo>
                  <a:pt x="0" y="5072037"/>
                </a:lnTo>
                <a:lnTo>
                  <a:pt x="8496300" y="5072037"/>
                </a:lnTo>
                <a:lnTo>
                  <a:pt x="8496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74281" y="1591335"/>
            <a:ext cx="8253730" cy="3482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ts val="335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Sensory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experience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multidimensional</a:t>
            </a:r>
            <a:endParaRPr sz="2800">
              <a:latin typeface="Tahoma"/>
              <a:cs typeface="Tahoma"/>
            </a:endParaRPr>
          </a:p>
          <a:p>
            <a:pPr lvl="1" marL="755015" indent="-285115">
              <a:lnSpc>
                <a:spcPts val="287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E.g.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sound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characterised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pitch,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intensity,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noise…</a:t>
            </a:r>
            <a:endParaRPr sz="24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660"/>
              </a:spcBef>
              <a:buClr>
                <a:srgbClr val="FF0000"/>
              </a:buClr>
              <a:buFont typeface="Tahoma"/>
              <a:buChar char="■"/>
            </a:pPr>
            <a:endParaRPr sz="2400">
              <a:latin typeface="Tahoma"/>
              <a:cs typeface="Tahoma"/>
            </a:endParaRPr>
          </a:p>
          <a:p>
            <a:pPr marL="355600" marR="443865" indent="-342900">
              <a:lnSpc>
                <a:spcPct val="79900"/>
              </a:lnSpc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brain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maps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external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multidimensional </a:t>
            </a:r>
            <a:r>
              <a:rPr dirty="0" sz="2800">
                <a:latin typeface="Tahoma"/>
                <a:cs typeface="Tahoma"/>
              </a:rPr>
              <a:t>representation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world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into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similar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</a:t>
            </a:r>
            <a:r>
              <a:rPr dirty="0" sz="2800" spc="-50">
                <a:latin typeface="Tahoma"/>
                <a:cs typeface="Tahoma"/>
              </a:rPr>
              <a:t> 2 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internal</a:t>
            </a:r>
            <a:r>
              <a:rPr dirty="0" sz="2800" spc="-9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ahoma"/>
                <a:cs typeface="Tahoma"/>
              </a:rPr>
              <a:t>representation</a:t>
            </a:r>
            <a:r>
              <a:rPr dirty="0" sz="2800" spc="-1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79900"/>
              </a:lnSpc>
              <a:spcBef>
                <a:spcPts val="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is,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brain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processes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external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signals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ahoma"/>
                <a:cs typeface="Tahoma"/>
              </a:rPr>
              <a:t>topology-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preserving</a:t>
            </a:r>
            <a:r>
              <a:rPr dirty="0" sz="2800" spc="-5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20" b="1">
                <a:solidFill>
                  <a:srgbClr val="FF0000"/>
                </a:solidFill>
                <a:latin typeface="Tahoma"/>
                <a:cs typeface="Tahoma"/>
              </a:rPr>
              <a:t>way.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4281" y="5474995"/>
            <a:ext cx="8275955" cy="11334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marR="5080" indent="-3429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So,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if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have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hope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mimicking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way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brain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learns,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system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should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able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do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same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thing.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4752" y="907097"/>
            <a:ext cx="3472179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Feature</a:t>
            </a:r>
            <a:r>
              <a:rPr dirty="0" sz="4000" spc="-155"/>
              <a:t> </a:t>
            </a:r>
            <a:r>
              <a:rPr dirty="0" sz="4000" spc="-20"/>
              <a:t>Maps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13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Topographic</a:t>
            </a:r>
            <a:r>
              <a:rPr dirty="0" sz="4000" spc="-165"/>
              <a:t> </a:t>
            </a:r>
            <a:r>
              <a:rPr dirty="0" sz="4000" spc="-20"/>
              <a:t>Maps</a:t>
            </a:r>
            <a:endParaRPr sz="40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15048" y="2045004"/>
            <a:ext cx="8086090" cy="447929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marR="92075" indent="-3429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Extend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ideas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competitive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to </a:t>
            </a:r>
            <a:r>
              <a:rPr dirty="0" sz="2800">
                <a:latin typeface="Tahoma"/>
                <a:cs typeface="Tahoma"/>
              </a:rPr>
              <a:t>incorporate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neighborhood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around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inputs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and </a:t>
            </a:r>
            <a:r>
              <a:rPr dirty="0" sz="2800" spc="-10">
                <a:latin typeface="Tahoma"/>
                <a:cs typeface="Tahoma"/>
              </a:rPr>
              <a:t>neurons</a:t>
            </a:r>
            <a:endParaRPr sz="2800">
              <a:latin typeface="Tahoma"/>
              <a:cs typeface="Tahoma"/>
            </a:endParaRPr>
          </a:p>
          <a:p>
            <a:pPr marL="355600" marR="370205" indent="-342900">
              <a:lnSpc>
                <a:spcPct val="799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want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nonlinear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transformation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input </a:t>
            </a:r>
            <a:r>
              <a:rPr dirty="0" sz="2800">
                <a:latin typeface="Tahoma"/>
                <a:cs typeface="Tahoma"/>
              </a:rPr>
              <a:t>pattern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space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onto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feature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space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which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preserves</a:t>
            </a:r>
            <a:r>
              <a:rPr dirty="0" sz="2800" spc="-1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neighbourhood</a:t>
            </a:r>
            <a:r>
              <a:rPr dirty="0" sz="2800" spc="-1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relationship</a:t>
            </a:r>
            <a:r>
              <a:rPr dirty="0" sz="2800" spc="-1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between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dirty="0" sz="28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inputs</a:t>
            </a:r>
            <a:endParaRPr sz="2800">
              <a:latin typeface="Tahoma"/>
              <a:cs typeface="Tahoma"/>
            </a:endParaRPr>
          </a:p>
          <a:p>
            <a:pPr lvl="1" marL="755650" marR="750570" indent="-285750">
              <a:lnSpc>
                <a:spcPct val="79900"/>
              </a:lnSpc>
              <a:spcBef>
                <a:spcPts val="560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feature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map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where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nearby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neurons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respond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25">
                <a:solidFill>
                  <a:srgbClr val="0000FF"/>
                </a:solidFill>
                <a:latin typeface="Tahoma"/>
                <a:cs typeface="Tahoma"/>
              </a:rPr>
              <a:t>to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similar</a:t>
            </a:r>
            <a:r>
              <a:rPr dirty="0" sz="2400" spc="-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FF"/>
                </a:solidFill>
                <a:latin typeface="Tahoma"/>
                <a:cs typeface="Tahoma"/>
              </a:rPr>
              <a:t>inputs</a:t>
            </a:r>
            <a:endParaRPr sz="2400">
              <a:latin typeface="Tahoma"/>
              <a:cs typeface="Tahoma"/>
            </a:endParaRPr>
          </a:p>
          <a:p>
            <a:pPr lvl="1" marL="755650" marR="5080" indent="-285750">
              <a:lnSpc>
                <a:spcPct val="79900"/>
              </a:lnSpc>
              <a:spcBef>
                <a:spcPts val="570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Neurons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selectively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tune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particular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in </a:t>
            </a:r>
            <a:r>
              <a:rPr dirty="0" sz="2400">
                <a:latin typeface="Tahoma"/>
                <a:cs typeface="Tahoma"/>
              </a:rPr>
              <a:t>such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way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neurons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become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ordered</a:t>
            </a:r>
            <a:r>
              <a:rPr dirty="0" sz="2400" spc="-2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with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respect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each</a:t>
            </a:r>
            <a:r>
              <a:rPr dirty="0" sz="2400" spc="-1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other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so</a:t>
            </a:r>
            <a:r>
              <a:rPr dirty="0" sz="2400" spc="-1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dirty="0" sz="2400" spc="-1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meaningful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FF"/>
                </a:solidFill>
                <a:latin typeface="Tahoma"/>
                <a:cs typeface="Tahoma"/>
              </a:rPr>
              <a:t>coordinate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system</a:t>
            </a:r>
            <a:r>
              <a:rPr dirty="0" sz="2400" spc="-2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for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different</a:t>
            </a:r>
            <a:r>
              <a:rPr dirty="0" sz="2400" spc="-1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features</a:t>
            </a:r>
            <a:r>
              <a:rPr dirty="0" sz="2400" spc="-2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dirty="0" sz="2400" spc="-2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FF"/>
                </a:solidFill>
                <a:latin typeface="Tahoma"/>
                <a:cs typeface="Tahoma"/>
              </a:rPr>
              <a:t>created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3529" y="2638044"/>
            <a:ext cx="301434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➢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E.g.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cortical </a:t>
            </a:r>
            <a:r>
              <a:rPr dirty="0" sz="2400">
                <a:latin typeface="Tahoma"/>
                <a:cs typeface="Tahoma"/>
              </a:rPr>
              <a:t>homunculus,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map </a:t>
            </a:r>
            <a:r>
              <a:rPr dirty="0" sz="2400">
                <a:latin typeface="Tahoma"/>
                <a:cs typeface="Tahoma"/>
              </a:rPr>
              <a:t>of </a:t>
            </a:r>
            <a:r>
              <a:rPr dirty="0" sz="2400" spc="-10">
                <a:latin typeface="Tahoma"/>
                <a:cs typeface="Tahoma"/>
              </a:rPr>
              <a:t>somatosensory </a:t>
            </a:r>
            <a:r>
              <a:rPr dirty="0" sz="2400">
                <a:latin typeface="Tahoma"/>
                <a:cs typeface="Tahoma"/>
              </a:rPr>
              <a:t>areas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brain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13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Topographic</a:t>
            </a:r>
            <a:r>
              <a:rPr dirty="0" sz="4000" spc="-165"/>
              <a:t> </a:t>
            </a:r>
            <a:r>
              <a:rPr dirty="0" sz="4000" spc="-20"/>
              <a:t>Maps</a:t>
            </a:r>
            <a:endParaRPr sz="40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5908" y="1865913"/>
            <a:ext cx="4655163" cy="461207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13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Topographic</a:t>
            </a:r>
            <a:r>
              <a:rPr dirty="0" sz="4000" spc="-165"/>
              <a:t> </a:t>
            </a:r>
            <a:r>
              <a:rPr dirty="0" sz="4000" spc="-20"/>
              <a:t>Maps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515048" y="2048814"/>
            <a:ext cx="8080375" cy="105664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355600" marR="5080" indent="-342900">
              <a:lnSpc>
                <a:spcPct val="80000"/>
              </a:lnSpc>
              <a:spcBef>
                <a:spcPts val="73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  <a:tab pos="2491740" algn="l"/>
              </a:tabLst>
            </a:pPr>
            <a:r>
              <a:rPr dirty="0" sz="2600">
                <a:latin typeface="Tahoma"/>
                <a:cs typeface="Tahoma"/>
              </a:rPr>
              <a:t>Spatial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locations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are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indicative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intrinsic </a:t>
            </a:r>
            <a:r>
              <a:rPr dirty="0" sz="2600">
                <a:latin typeface="Tahoma"/>
                <a:cs typeface="Tahoma"/>
              </a:rPr>
              <a:t>statistical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features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patterns: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i.e.,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close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in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0">
                <a:latin typeface="Tahoma"/>
                <a:cs typeface="Tahoma"/>
              </a:rPr>
              <a:t> input</a:t>
            </a:r>
            <a:r>
              <a:rPr dirty="0" sz="2600">
                <a:latin typeface="Tahoma"/>
                <a:cs typeface="Tahoma"/>
              </a:rPr>
              <a:t>	close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output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327046" y="2769984"/>
            <a:ext cx="514984" cy="267970"/>
            <a:chOff x="2327046" y="2769984"/>
            <a:chExt cx="514984" cy="267970"/>
          </a:xfrm>
        </p:grpSpPr>
        <p:sp>
          <p:nvSpPr>
            <p:cNvPr id="5" name="object 5" descr=""/>
            <p:cNvSpPr/>
            <p:nvPr/>
          </p:nvSpPr>
          <p:spPr>
            <a:xfrm>
              <a:off x="2339339" y="2782823"/>
              <a:ext cx="489584" cy="242570"/>
            </a:xfrm>
            <a:custGeom>
              <a:avLst/>
              <a:gdLst/>
              <a:ahLst/>
              <a:cxnLst/>
              <a:rect l="l" t="t" r="r" b="b"/>
              <a:pathLst>
                <a:path w="489585" h="242569">
                  <a:moveTo>
                    <a:pt x="368808" y="0"/>
                  </a:moveTo>
                  <a:lnTo>
                    <a:pt x="368808" y="60960"/>
                  </a:lnTo>
                  <a:lnTo>
                    <a:pt x="0" y="60960"/>
                  </a:lnTo>
                  <a:lnTo>
                    <a:pt x="0" y="181355"/>
                  </a:lnTo>
                  <a:lnTo>
                    <a:pt x="368808" y="181355"/>
                  </a:lnTo>
                  <a:lnTo>
                    <a:pt x="368808" y="242315"/>
                  </a:lnTo>
                  <a:lnTo>
                    <a:pt x="489204" y="120396"/>
                  </a:lnTo>
                  <a:lnTo>
                    <a:pt x="368808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327046" y="2769984"/>
              <a:ext cx="514984" cy="267970"/>
            </a:xfrm>
            <a:custGeom>
              <a:avLst/>
              <a:gdLst/>
              <a:ahLst/>
              <a:cxnLst/>
              <a:rect l="l" t="t" r="r" b="b"/>
              <a:pathLst>
                <a:path w="514985" h="267969">
                  <a:moveTo>
                    <a:pt x="368045" y="194310"/>
                  </a:moveTo>
                  <a:lnTo>
                    <a:pt x="368045" y="254888"/>
                  </a:lnTo>
                  <a:lnTo>
                    <a:pt x="368338" y="257581"/>
                  </a:lnTo>
                  <a:lnTo>
                    <a:pt x="379844" y="267550"/>
                  </a:lnTo>
                  <a:lnTo>
                    <a:pt x="382157" y="267550"/>
                  </a:lnTo>
                  <a:lnTo>
                    <a:pt x="385191" y="266788"/>
                  </a:lnTo>
                  <a:lnTo>
                    <a:pt x="387616" y="265569"/>
                  </a:lnTo>
                  <a:lnTo>
                    <a:pt x="389737" y="263867"/>
                  </a:lnTo>
                  <a:lnTo>
                    <a:pt x="398716" y="254888"/>
                  </a:lnTo>
                  <a:lnTo>
                    <a:pt x="393445" y="254888"/>
                  </a:lnTo>
                  <a:lnTo>
                    <a:pt x="371767" y="245910"/>
                  </a:lnTo>
                  <a:lnTo>
                    <a:pt x="393445" y="224231"/>
                  </a:lnTo>
                  <a:lnTo>
                    <a:pt x="393445" y="207010"/>
                  </a:lnTo>
                  <a:lnTo>
                    <a:pt x="380745" y="207010"/>
                  </a:lnTo>
                  <a:lnTo>
                    <a:pt x="368045" y="194310"/>
                  </a:lnTo>
                  <a:close/>
                </a:path>
                <a:path w="514985" h="267969">
                  <a:moveTo>
                    <a:pt x="393445" y="224231"/>
                  </a:moveTo>
                  <a:lnTo>
                    <a:pt x="371767" y="245910"/>
                  </a:lnTo>
                  <a:lnTo>
                    <a:pt x="393445" y="254888"/>
                  </a:lnTo>
                  <a:lnTo>
                    <a:pt x="393445" y="224231"/>
                  </a:lnTo>
                  <a:close/>
                </a:path>
                <a:path w="514985" h="267969">
                  <a:moveTo>
                    <a:pt x="483946" y="133731"/>
                  </a:moveTo>
                  <a:lnTo>
                    <a:pt x="393445" y="224231"/>
                  </a:lnTo>
                  <a:lnTo>
                    <a:pt x="393445" y="254888"/>
                  </a:lnTo>
                  <a:lnTo>
                    <a:pt x="398716" y="254888"/>
                  </a:lnTo>
                  <a:lnTo>
                    <a:pt x="510895" y="142709"/>
                  </a:lnTo>
                  <a:lnTo>
                    <a:pt x="492925" y="142709"/>
                  </a:lnTo>
                  <a:lnTo>
                    <a:pt x="483946" y="133731"/>
                  </a:lnTo>
                  <a:close/>
                </a:path>
                <a:path w="514985" h="267969">
                  <a:moveTo>
                    <a:pt x="368045" y="60452"/>
                  </a:moveTo>
                  <a:lnTo>
                    <a:pt x="12700" y="60452"/>
                  </a:lnTo>
                  <a:lnTo>
                    <a:pt x="10223" y="60693"/>
                  </a:lnTo>
                  <a:lnTo>
                    <a:pt x="0" y="73152"/>
                  </a:lnTo>
                  <a:lnTo>
                    <a:pt x="0" y="194310"/>
                  </a:lnTo>
                  <a:lnTo>
                    <a:pt x="12700" y="207010"/>
                  </a:lnTo>
                  <a:lnTo>
                    <a:pt x="368045" y="207010"/>
                  </a:lnTo>
                  <a:lnTo>
                    <a:pt x="368045" y="194310"/>
                  </a:lnTo>
                  <a:lnTo>
                    <a:pt x="25400" y="194310"/>
                  </a:lnTo>
                  <a:lnTo>
                    <a:pt x="12700" y="181610"/>
                  </a:lnTo>
                  <a:lnTo>
                    <a:pt x="25400" y="181610"/>
                  </a:lnTo>
                  <a:lnTo>
                    <a:pt x="25400" y="85852"/>
                  </a:lnTo>
                  <a:lnTo>
                    <a:pt x="12700" y="85852"/>
                  </a:lnTo>
                  <a:lnTo>
                    <a:pt x="25400" y="73152"/>
                  </a:lnTo>
                  <a:lnTo>
                    <a:pt x="368045" y="73152"/>
                  </a:lnTo>
                  <a:lnTo>
                    <a:pt x="368045" y="60452"/>
                  </a:lnTo>
                  <a:close/>
                </a:path>
                <a:path w="514985" h="267969">
                  <a:moveTo>
                    <a:pt x="380745" y="181610"/>
                  </a:moveTo>
                  <a:lnTo>
                    <a:pt x="25400" y="181610"/>
                  </a:lnTo>
                  <a:lnTo>
                    <a:pt x="25400" y="194310"/>
                  </a:lnTo>
                  <a:lnTo>
                    <a:pt x="368045" y="194310"/>
                  </a:lnTo>
                  <a:lnTo>
                    <a:pt x="380745" y="207010"/>
                  </a:lnTo>
                  <a:lnTo>
                    <a:pt x="393445" y="207010"/>
                  </a:lnTo>
                  <a:lnTo>
                    <a:pt x="393445" y="194310"/>
                  </a:lnTo>
                  <a:lnTo>
                    <a:pt x="383235" y="181851"/>
                  </a:lnTo>
                  <a:lnTo>
                    <a:pt x="380745" y="181610"/>
                  </a:lnTo>
                  <a:close/>
                </a:path>
                <a:path w="514985" h="267969">
                  <a:moveTo>
                    <a:pt x="25400" y="181610"/>
                  </a:moveTo>
                  <a:lnTo>
                    <a:pt x="12700" y="181610"/>
                  </a:lnTo>
                  <a:lnTo>
                    <a:pt x="25400" y="194310"/>
                  </a:lnTo>
                  <a:lnTo>
                    <a:pt x="25400" y="181610"/>
                  </a:lnTo>
                  <a:close/>
                </a:path>
                <a:path w="514985" h="267969">
                  <a:moveTo>
                    <a:pt x="492925" y="124752"/>
                  </a:moveTo>
                  <a:lnTo>
                    <a:pt x="483946" y="133731"/>
                  </a:lnTo>
                  <a:lnTo>
                    <a:pt x="492925" y="142709"/>
                  </a:lnTo>
                  <a:lnTo>
                    <a:pt x="492925" y="124752"/>
                  </a:lnTo>
                  <a:close/>
                </a:path>
                <a:path w="514985" h="267969">
                  <a:moveTo>
                    <a:pt x="510895" y="124752"/>
                  </a:moveTo>
                  <a:lnTo>
                    <a:pt x="492925" y="124752"/>
                  </a:lnTo>
                  <a:lnTo>
                    <a:pt x="492925" y="142709"/>
                  </a:lnTo>
                  <a:lnTo>
                    <a:pt x="510895" y="142709"/>
                  </a:lnTo>
                  <a:lnTo>
                    <a:pt x="512470" y="140779"/>
                  </a:lnTo>
                  <a:lnTo>
                    <a:pt x="513638" y="138582"/>
                  </a:lnTo>
                  <a:lnTo>
                    <a:pt x="514362" y="136207"/>
                  </a:lnTo>
                  <a:lnTo>
                    <a:pt x="514604" y="133731"/>
                  </a:lnTo>
                  <a:lnTo>
                    <a:pt x="514362" y="131254"/>
                  </a:lnTo>
                  <a:lnTo>
                    <a:pt x="513638" y="128866"/>
                  </a:lnTo>
                  <a:lnTo>
                    <a:pt x="512470" y="126669"/>
                  </a:lnTo>
                  <a:lnTo>
                    <a:pt x="510895" y="124752"/>
                  </a:lnTo>
                  <a:close/>
                </a:path>
                <a:path w="514985" h="267969">
                  <a:moveTo>
                    <a:pt x="398716" y="12573"/>
                  </a:moveTo>
                  <a:lnTo>
                    <a:pt x="393445" y="12573"/>
                  </a:lnTo>
                  <a:lnTo>
                    <a:pt x="393445" y="43230"/>
                  </a:lnTo>
                  <a:lnTo>
                    <a:pt x="483946" y="133731"/>
                  </a:lnTo>
                  <a:lnTo>
                    <a:pt x="492925" y="124752"/>
                  </a:lnTo>
                  <a:lnTo>
                    <a:pt x="510895" y="124752"/>
                  </a:lnTo>
                  <a:lnTo>
                    <a:pt x="398716" y="12573"/>
                  </a:lnTo>
                  <a:close/>
                </a:path>
                <a:path w="514985" h="267969">
                  <a:moveTo>
                    <a:pt x="25400" y="73152"/>
                  </a:moveTo>
                  <a:lnTo>
                    <a:pt x="12700" y="85852"/>
                  </a:lnTo>
                  <a:lnTo>
                    <a:pt x="25400" y="85852"/>
                  </a:lnTo>
                  <a:lnTo>
                    <a:pt x="25400" y="73152"/>
                  </a:lnTo>
                  <a:close/>
                </a:path>
                <a:path w="514985" h="267969">
                  <a:moveTo>
                    <a:pt x="393445" y="60452"/>
                  </a:moveTo>
                  <a:lnTo>
                    <a:pt x="380745" y="60452"/>
                  </a:lnTo>
                  <a:lnTo>
                    <a:pt x="368045" y="73152"/>
                  </a:lnTo>
                  <a:lnTo>
                    <a:pt x="25400" y="73152"/>
                  </a:lnTo>
                  <a:lnTo>
                    <a:pt x="25400" y="85852"/>
                  </a:lnTo>
                  <a:lnTo>
                    <a:pt x="380745" y="85852"/>
                  </a:lnTo>
                  <a:lnTo>
                    <a:pt x="393445" y="73152"/>
                  </a:lnTo>
                  <a:lnTo>
                    <a:pt x="393445" y="60452"/>
                  </a:lnTo>
                  <a:close/>
                </a:path>
                <a:path w="514985" h="267969">
                  <a:moveTo>
                    <a:pt x="382562" y="0"/>
                  </a:moveTo>
                  <a:lnTo>
                    <a:pt x="379282" y="0"/>
                  </a:lnTo>
                  <a:lnTo>
                    <a:pt x="377177" y="381"/>
                  </a:lnTo>
                  <a:lnTo>
                    <a:pt x="368045" y="12573"/>
                  </a:lnTo>
                  <a:lnTo>
                    <a:pt x="368045" y="73152"/>
                  </a:lnTo>
                  <a:lnTo>
                    <a:pt x="380745" y="60452"/>
                  </a:lnTo>
                  <a:lnTo>
                    <a:pt x="393445" y="60452"/>
                  </a:lnTo>
                  <a:lnTo>
                    <a:pt x="393445" y="43230"/>
                  </a:lnTo>
                  <a:lnTo>
                    <a:pt x="371767" y="21551"/>
                  </a:lnTo>
                  <a:lnTo>
                    <a:pt x="393445" y="12573"/>
                  </a:lnTo>
                  <a:lnTo>
                    <a:pt x="398716" y="12573"/>
                  </a:lnTo>
                  <a:lnTo>
                    <a:pt x="389737" y="3594"/>
                  </a:lnTo>
                  <a:lnTo>
                    <a:pt x="387616" y="1879"/>
                  </a:lnTo>
                  <a:lnTo>
                    <a:pt x="385191" y="673"/>
                  </a:lnTo>
                  <a:lnTo>
                    <a:pt x="382562" y="0"/>
                  </a:lnTo>
                  <a:close/>
                </a:path>
                <a:path w="514985" h="267969">
                  <a:moveTo>
                    <a:pt x="393445" y="12573"/>
                  </a:moveTo>
                  <a:lnTo>
                    <a:pt x="371767" y="21551"/>
                  </a:lnTo>
                  <a:lnTo>
                    <a:pt x="393445" y="43230"/>
                  </a:lnTo>
                  <a:lnTo>
                    <a:pt x="393445" y="12573"/>
                  </a:lnTo>
                  <a:close/>
                </a:path>
              </a:pathLst>
            </a:custGeom>
            <a:solidFill>
              <a:srgbClr val="00A77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2464396" y="3496246"/>
            <a:ext cx="4001135" cy="2752725"/>
            <a:chOff x="2464396" y="3496246"/>
            <a:chExt cx="4001135" cy="2752725"/>
          </a:xfrm>
        </p:grpSpPr>
        <p:sp>
          <p:nvSpPr>
            <p:cNvPr id="8" name="object 8" descr=""/>
            <p:cNvSpPr/>
            <p:nvPr/>
          </p:nvSpPr>
          <p:spPr>
            <a:xfrm>
              <a:off x="2560319" y="3500628"/>
              <a:ext cx="3886200" cy="762000"/>
            </a:xfrm>
            <a:custGeom>
              <a:avLst/>
              <a:gdLst/>
              <a:ahLst/>
              <a:cxnLst/>
              <a:rect l="l" t="t" r="r" b="b"/>
              <a:pathLst>
                <a:path w="3886200" h="762000">
                  <a:moveTo>
                    <a:pt x="3886200" y="0"/>
                  </a:moveTo>
                  <a:lnTo>
                    <a:pt x="1455420" y="0"/>
                  </a:lnTo>
                  <a:lnTo>
                    <a:pt x="0" y="762000"/>
                  </a:lnTo>
                  <a:lnTo>
                    <a:pt x="2430780" y="7620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540596" y="3496246"/>
              <a:ext cx="3924935" cy="771525"/>
            </a:xfrm>
            <a:custGeom>
              <a:avLst/>
              <a:gdLst/>
              <a:ahLst/>
              <a:cxnLst/>
              <a:rect l="l" t="t" r="r" b="b"/>
              <a:pathLst>
                <a:path w="3924935" h="771525">
                  <a:moveTo>
                    <a:pt x="3924934" y="0"/>
                  </a:moveTo>
                  <a:lnTo>
                    <a:pt x="1473911" y="0"/>
                  </a:lnTo>
                  <a:lnTo>
                    <a:pt x="0" y="771524"/>
                  </a:lnTo>
                  <a:lnTo>
                    <a:pt x="2451036" y="771524"/>
                  </a:lnTo>
                  <a:lnTo>
                    <a:pt x="2452079" y="770978"/>
                  </a:lnTo>
                  <a:lnTo>
                    <a:pt x="21577" y="770978"/>
                  </a:lnTo>
                  <a:lnTo>
                    <a:pt x="19367" y="761999"/>
                  </a:lnTo>
                  <a:lnTo>
                    <a:pt x="38730" y="761999"/>
                  </a:lnTo>
                  <a:lnTo>
                    <a:pt x="1476246" y="9525"/>
                  </a:lnTo>
                  <a:lnTo>
                    <a:pt x="1475079" y="9525"/>
                  </a:lnTo>
                  <a:lnTo>
                    <a:pt x="1477289" y="8978"/>
                  </a:lnTo>
                  <a:lnTo>
                    <a:pt x="3887247" y="8978"/>
                  </a:lnTo>
                  <a:lnTo>
                    <a:pt x="3903357" y="546"/>
                  </a:lnTo>
                  <a:lnTo>
                    <a:pt x="3923891" y="546"/>
                  </a:lnTo>
                  <a:lnTo>
                    <a:pt x="3924934" y="0"/>
                  </a:lnTo>
                  <a:close/>
                </a:path>
                <a:path w="3924935" h="771525">
                  <a:moveTo>
                    <a:pt x="38730" y="761999"/>
                  </a:moveTo>
                  <a:lnTo>
                    <a:pt x="19367" y="761999"/>
                  </a:lnTo>
                  <a:lnTo>
                    <a:pt x="21577" y="770978"/>
                  </a:lnTo>
                  <a:lnTo>
                    <a:pt x="38730" y="761999"/>
                  </a:lnTo>
                  <a:close/>
                </a:path>
                <a:path w="3924935" h="771525">
                  <a:moveTo>
                    <a:pt x="2448701" y="761999"/>
                  </a:moveTo>
                  <a:lnTo>
                    <a:pt x="38730" y="761999"/>
                  </a:lnTo>
                  <a:lnTo>
                    <a:pt x="21577" y="770978"/>
                  </a:lnTo>
                  <a:lnTo>
                    <a:pt x="2452079" y="770978"/>
                  </a:lnTo>
                  <a:lnTo>
                    <a:pt x="2468189" y="762546"/>
                  </a:lnTo>
                  <a:lnTo>
                    <a:pt x="2447658" y="762546"/>
                  </a:lnTo>
                  <a:lnTo>
                    <a:pt x="2448701" y="761999"/>
                  </a:lnTo>
                  <a:close/>
                </a:path>
                <a:path w="3924935" h="771525">
                  <a:moveTo>
                    <a:pt x="3903357" y="546"/>
                  </a:moveTo>
                  <a:lnTo>
                    <a:pt x="2447658" y="762546"/>
                  </a:lnTo>
                  <a:lnTo>
                    <a:pt x="2449855" y="761999"/>
                  </a:lnTo>
                  <a:lnTo>
                    <a:pt x="2469232" y="761999"/>
                  </a:lnTo>
                  <a:lnTo>
                    <a:pt x="3906738" y="9525"/>
                  </a:lnTo>
                  <a:lnTo>
                    <a:pt x="3905567" y="9525"/>
                  </a:lnTo>
                  <a:lnTo>
                    <a:pt x="3903357" y="546"/>
                  </a:lnTo>
                  <a:close/>
                </a:path>
                <a:path w="3924935" h="771525">
                  <a:moveTo>
                    <a:pt x="2469232" y="761999"/>
                  </a:moveTo>
                  <a:lnTo>
                    <a:pt x="2449855" y="761999"/>
                  </a:lnTo>
                  <a:lnTo>
                    <a:pt x="2447658" y="762546"/>
                  </a:lnTo>
                  <a:lnTo>
                    <a:pt x="2468189" y="762546"/>
                  </a:lnTo>
                  <a:lnTo>
                    <a:pt x="2469232" y="761999"/>
                  </a:lnTo>
                  <a:close/>
                </a:path>
                <a:path w="3924935" h="771525">
                  <a:moveTo>
                    <a:pt x="1477289" y="8978"/>
                  </a:moveTo>
                  <a:lnTo>
                    <a:pt x="1475079" y="9525"/>
                  </a:lnTo>
                  <a:lnTo>
                    <a:pt x="1476246" y="9525"/>
                  </a:lnTo>
                  <a:lnTo>
                    <a:pt x="1477289" y="8978"/>
                  </a:lnTo>
                  <a:close/>
                </a:path>
                <a:path w="3924935" h="771525">
                  <a:moveTo>
                    <a:pt x="3887247" y="8978"/>
                  </a:moveTo>
                  <a:lnTo>
                    <a:pt x="1477289" y="8978"/>
                  </a:lnTo>
                  <a:lnTo>
                    <a:pt x="1476246" y="9525"/>
                  </a:lnTo>
                  <a:lnTo>
                    <a:pt x="3886204" y="9525"/>
                  </a:lnTo>
                  <a:lnTo>
                    <a:pt x="3887247" y="8978"/>
                  </a:lnTo>
                  <a:close/>
                </a:path>
                <a:path w="3924935" h="771525">
                  <a:moveTo>
                    <a:pt x="3923891" y="546"/>
                  </a:moveTo>
                  <a:lnTo>
                    <a:pt x="3903357" y="546"/>
                  </a:lnTo>
                  <a:lnTo>
                    <a:pt x="3905567" y="9525"/>
                  </a:lnTo>
                  <a:lnTo>
                    <a:pt x="3906738" y="9525"/>
                  </a:lnTo>
                  <a:lnTo>
                    <a:pt x="3923891" y="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116" y="3572967"/>
              <a:ext cx="161696" cy="16128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1316" y="3572967"/>
              <a:ext cx="161696" cy="16128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3316" y="3572967"/>
              <a:ext cx="161696" cy="16128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98316" y="3725367"/>
              <a:ext cx="161696" cy="16128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0316" y="3725367"/>
              <a:ext cx="161696" cy="16128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41116" y="3953967"/>
              <a:ext cx="161696" cy="16128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5516" y="3953967"/>
              <a:ext cx="161696" cy="16128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5116" y="3953967"/>
              <a:ext cx="161696" cy="16128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484119" y="5481828"/>
              <a:ext cx="3886200" cy="762000"/>
            </a:xfrm>
            <a:custGeom>
              <a:avLst/>
              <a:gdLst/>
              <a:ahLst/>
              <a:cxnLst/>
              <a:rect l="l" t="t" r="r" b="b"/>
              <a:pathLst>
                <a:path w="3886200" h="762000">
                  <a:moveTo>
                    <a:pt x="3886200" y="0"/>
                  </a:moveTo>
                  <a:lnTo>
                    <a:pt x="1455420" y="0"/>
                  </a:lnTo>
                  <a:lnTo>
                    <a:pt x="0" y="762000"/>
                  </a:lnTo>
                  <a:lnTo>
                    <a:pt x="2430780" y="7620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464396" y="5477446"/>
              <a:ext cx="3924935" cy="771525"/>
            </a:xfrm>
            <a:custGeom>
              <a:avLst/>
              <a:gdLst/>
              <a:ahLst/>
              <a:cxnLst/>
              <a:rect l="l" t="t" r="r" b="b"/>
              <a:pathLst>
                <a:path w="3924935" h="771525">
                  <a:moveTo>
                    <a:pt x="3924934" y="0"/>
                  </a:moveTo>
                  <a:lnTo>
                    <a:pt x="1473911" y="0"/>
                  </a:lnTo>
                  <a:lnTo>
                    <a:pt x="0" y="771525"/>
                  </a:lnTo>
                  <a:lnTo>
                    <a:pt x="2451036" y="771525"/>
                  </a:lnTo>
                  <a:lnTo>
                    <a:pt x="2452079" y="770979"/>
                  </a:lnTo>
                  <a:lnTo>
                    <a:pt x="21577" y="770979"/>
                  </a:lnTo>
                  <a:lnTo>
                    <a:pt x="19367" y="762000"/>
                  </a:lnTo>
                  <a:lnTo>
                    <a:pt x="38730" y="762000"/>
                  </a:lnTo>
                  <a:lnTo>
                    <a:pt x="1476246" y="9524"/>
                  </a:lnTo>
                  <a:lnTo>
                    <a:pt x="1475079" y="9524"/>
                  </a:lnTo>
                  <a:lnTo>
                    <a:pt x="1477289" y="8978"/>
                  </a:lnTo>
                  <a:lnTo>
                    <a:pt x="3887247" y="8978"/>
                  </a:lnTo>
                  <a:lnTo>
                    <a:pt x="3903357" y="546"/>
                  </a:lnTo>
                  <a:lnTo>
                    <a:pt x="3923891" y="546"/>
                  </a:lnTo>
                  <a:lnTo>
                    <a:pt x="3924934" y="0"/>
                  </a:lnTo>
                  <a:close/>
                </a:path>
                <a:path w="3924935" h="771525">
                  <a:moveTo>
                    <a:pt x="38730" y="762000"/>
                  </a:moveTo>
                  <a:lnTo>
                    <a:pt x="19367" y="762000"/>
                  </a:lnTo>
                  <a:lnTo>
                    <a:pt x="21577" y="770979"/>
                  </a:lnTo>
                  <a:lnTo>
                    <a:pt x="38730" y="762000"/>
                  </a:lnTo>
                  <a:close/>
                </a:path>
                <a:path w="3924935" h="771525">
                  <a:moveTo>
                    <a:pt x="2448701" y="762000"/>
                  </a:moveTo>
                  <a:lnTo>
                    <a:pt x="38730" y="762000"/>
                  </a:lnTo>
                  <a:lnTo>
                    <a:pt x="21577" y="770979"/>
                  </a:lnTo>
                  <a:lnTo>
                    <a:pt x="2452079" y="770979"/>
                  </a:lnTo>
                  <a:lnTo>
                    <a:pt x="2468189" y="762546"/>
                  </a:lnTo>
                  <a:lnTo>
                    <a:pt x="2447658" y="762546"/>
                  </a:lnTo>
                  <a:lnTo>
                    <a:pt x="2448701" y="762000"/>
                  </a:lnTo>
                  <a:close/>
                </a:path>
                <a:path w="3924935" h="771525">
                  <a:moveTo>
                    <a:pt x="3903357" y="546"/>
                  </a:moveTo>
                  <a:lnTo>
                    <a:pt x="2447658" y="762546"/>
                  </a:lnTo>
                  <a:lnTo>
                    <a:pt x="2449855" y="762000"/>
                  </a:lnTo>
                  <a:lnTo>
                    <a:pt x="2469232" y="762000"/>
                  </a:lnTo>
                  <a:lnTo>
                    <a:pt x="3906738" y="9524"/>
                  </a:lnTo>
                  <a:lnTo>
                    <a:pt x="3905567" y="9524"/>
                  </a:lnTo>
                  <a:lnTo>
                    <a:pt x="3903357" y="546"/>
                  </a:lnTo>
                  <a:close/>
                </a:path>
                <a:path w="3924935" h="771525">
                  <a:moveTo>
                    <a:pt x="2469232" y="762000"/>
                  </a:moveTo>
                  <a:lnTo>
                    <a:pt x="2449855" y="762000"/>
                  </a:lnTo>
                  <a:lnTo>
                    <a:pt x="2447658" y="762546"/>
                  </a:lnTo>
                  <a:lnTo>
                    <a:pt x="2468189" y="762546"/>
                  </a:lnTo>
                  <a:lnTo>
                    <a:pt x="2469232" y="762000"/>
                  </a:lnTo>
                  <a:close/>
                </a:path>
                <a:path w="3924935" h="771525">
                  <a:moveTo>
                    <a:pt x="1477289" y="8978"/>
                  </a:moveTo>
                  <a:lnTo>
                    <a:pt x="1475079" y="9524"/>
                  </a:lnTo>
                  <a:lnTo>
                    <a:pt x="1476246" y="9524"/>
                  </a:lnTo>
                  <a:lnTo>
                    <a:pt x="1477289" y="8978"/>
                  </a:lnTo>
                  <a:close/>
                </a:path>
                <a:path w="3924935" h="771525">
                  <a:moveTo>
                    <a:pt x="3887247" y="8978"/>
                  </a:moveTo>
                  <a:lnTo>
                    <a:pt x="1477289" y="8978"/>
                  </a:lnTo>
                  <a:lnTo>
                    <a:pt x="1476246" y="9524"/>
                  </a:lnTo>
                  <a:lnTo>
                    <a:pt x="3886204" y="9524"/>
                  </a:lnTo>
                  <a:lnTo>
                    <a:pt x="3887247" y="8978"/>
                  </a:lnTo>
                  <a:close/>
                </a:path>
                <a:path w="3924935" h="771525">
                  <a:moveTo>
                    <a:pt x="3923891" y="546"/>
                  </a:moveTo>
                  <a:lnTo>
                    <a:pt x="3903357" y="546"/>
                  </a:lnTo>
                  <a:lnTo>
                    <a:pt x="3905567" y="9524"/>
                  </a:lnTo>
                  <a:lnTo>
                    <a:pt x="3906738" y="9524"/>
                  </a:lnTo>
                  <a:lnTo>
                    <a:pt x="3923891" y="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26916" y="5554167"/>
              <a:ext cx="161696" cy="16129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5116" y="5554167"/>
              <a:ext cx="161696" cy="16129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27116" y="5554167"/>
              <a:ext cx="161696" cy="16129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22116" y="5706567"/>
              <a:ext cx="161696" cy="16129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84116" y="5706567"/>
              <a:ext cx="161696" cy="16129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69916" y="5782767"/>
              <a:ext cx="161696" cy="16129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64916" y="5935167"/>
              <a:ext cx="161696" cy="16128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79316" y="5935167"/>
              <a:ext cx="161696" cy="16128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60316" y="6011367"/>
              <a:ext cx="161696" cy="16129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241014" y="3649992"/>
              <a:ext cx="2446655" cy="2442210"/>
            </a:xfrm>
            <a:custGeom>
              <a:avLst/>
              <a:gdLst/>
              <a:ahLst/>
              <a:cxnLst/>
              <a:rect l="l" t="t" r="r" b="b"/>
              <a:pathLst>
                <a:path w="2446654" h="2442210">
                  <a:moveTo>
                    <a:pt x="2446464" y="6832"/>
                  </a:moveTo>
                  <a:lnTo>
                    <a:pt x="2439835" y="0"/>
                  </a:lnTo>
                  <a:lnTo>
                    <a:pt x="206019" y="2164029"/>
                  </a:lnTo>
                  <a:lnTo>
                    <a:pt x="2141778" y="159118"/>
                  </a:lnTo>
                  <a:lnTo>
                    <a:pt x="2134920" y="152501"/>
                  </a:lnTo>
                  <a:lnTo>
                    <a:pt x="109702" y="2250071"/>
                  </a:lnTo>
                  <a:lnTo>
                    <a:pt x="116751" y="2216035"/>
                  </a:lnTo>
                  <a:lnTo>
                    <a:pt x="357085" y="1877364"/>
                  </a:lnTo>
                  <a:lnTo>
                    <a:pt x="1608594" y="387477"/>
                  </a:lnTo>
                  <a:lnTo>
                    <a:pt x="1601304" y="381355"/>
                  </a:lnTo>
                  <a:lnTo>
                    <a:pt x="424789" y="1781975"/>
                  </a:lnTo>
                  <a:lnTo>
                    <a:pt x="1685036" y="6172"/>
                  </a:lnTo>
                  <a:lnTo>
                    <a:pt x="1677263" y="660"/>
                  </a:lnTo>
                  <a:lnTo>
                    <a:pt x="349427" y="1871687"/>
                  </a:lnTo>
                  <a:lnTo>
                    <a:pt x="281724" y="1952294"/>
                  </a:lnTo>
                  <a:lnTo>
                    <a:pt x="281724" y="1967090"/>
                  </a:lnTo>
                  <a:lnTo>
                    <a:pt x="121551" y="2192794"/>
                  </a:lnTo>
                  <a:lnTo>
                    <a:pt x="131165" y="2146338"/>
                  </a:lnTo>
                  <a:lnTo>
                    <a:pt x="281724" y="1967090"/>
                  </a:lnTo>
                  <a:lnTo>
                    <a:pt x="281724" y="1952294"/>
                  </a:lnTo>
                  <a:lnTo>
                    <a:pt x="135229" y="2126691"/>
                  </a:lnTo>
                  <a:lnTo>
                    <a:pt x="139255" y="2107273"/>
                  </a:lnTo>
                  <a:lnTo>
                    <a:pt x="193941" y="1997900"/>
                  </a:lnTo>
                  <a:lnTo>
                    <a:pt x="1304188" y="234556"/>
                  </a:lnTo>
                  <a:lnTo>
                    <a:pt x="1296123" y="229476"/>
                  </a:lnTo>
                  <a:lnTo>
                    <a:pt x="237375" y="1911019"/>
                  </a:lnTo>
                  <a:lnTo>
                    <a:pt x="999617" y="386549"/>
                  </a:lnTo>
                  <a:lnTo>
                    <a:pt x="991095" y="382282"/>
                  </a:lnTo>
                  <a:lnTo>
                    <a:pt x="185623" y="1993214"/>
                  </a:lnTo>
                  <a:lnTo>
                    <a:pt x="151701" y="2047100"/>
                  </a:lnTo>
                  <a:lnTo>
                    <a:pt x="164363" y="1985949"/>
                  </a:lnTo>
                  <a:lnTo>
                    <a:pt x="847458" y="4965"/>
                  </a:lnTo>
                  <a:lnTo>
                    <a:pt x="838454" y="1866"/>
                  </a:lnTo>
                  <a:lnTo>
                    <a:pt x="179463" y="1912924"/>
                  </a:lnTo>
                  <a:lnTo>
                    <a:pt x="542810" y="156781"/>
                  </a:lnTo>
                  <a:lnTo>
                    <a:pt x="533488" y="154851"/>
                  </a:lnTo>
                  <a:lnTo>
                    <a:pt x="155143" y="1983486"/>
                  </a:lnTo>
                  <a:lnTo>
                    <a:pt x="140030" y="2027313"/>
                  </a:lnTo>
                  <a:lnTo>
                    <a:pt x="140030" y="2056511"/>
                  </a:lnTo>
                  <a:lnTo>
                    <a:pt x="137210" y="2070112"/>
                  </a:lnTo>
                  <a:lnTo>
                    <a:pt x="133070" y="2076691"/>
                  </a:lnTo>
                  <a:lnTo>
                    <a:pt x="140030" y="2056511"/>
                  </a:lnTo>
                  <a:lnTo>
                    <a:pt x="140030" y="2027313"/>
                  </a:lnTo>
                  <a:lnTo>
                    <a:pt x="131699" y="2051469"/>
                  </a:lnTo>
                  <a:lnTo>
                    <a:pt x="131699" y="2096757"/>
                  </a:lnTo>
                  <a:lnTo>
                    <a:pt x="130175" y="2104136"/>
                  </a:lnTo>
                  <a:lnTo>
                    <a:pt x="122656" y="2119172"/>
                  </a:lnTo>
                  <a:lnTo>
                    <a:pt x="122656" y="2140483"/>
                  </a:lnTo>
                  <a:lnTo>
                    <a:pt x="122326" y="2142058"/>
                  </a:lnTo>
                  <a:lnTo>
                    <a:pt x="121196" y="2143404"/>
                  </a:lnTo>
                  <a:lnTo>
                    <a:pt x="122656" y="2140483"/>
                  </a:lnTo>
                  <a:lnTo>
                    <a:pt x="122656" y="2119172"/>
                  </a:lnTo>
                  <a:lnTo>
                    <a:pt x="118262" y="2127961"/>
                  </a:lnTo>
                  <a:lnTo>
                    <a:pt x="118262" y="2161692"/>
                  </a:lnTo>
                  <a:lnTo>
                    <a:pt x="107823" y="2212149"/>
                  </a:lnTo>
                  <a:lnTo>
                    <a:pt x="103022" y="2218918"/>
                  </a:lnTo>
                  <a:lnTo>
                    <a:pt x="103022" y="2235390"/>
                  </a:lnTo>
                  <a:lnTo>
                    <a:pt x="97332" y="2262886"/>
                  </a:lnTo>
                  <a:lnTo>
                    <a:pt x="45123" y="2316950"/>
                  </a:lnTo>
                  <a:lnTo>
                    <a:pt x="103022" y="2235390"/>
                  </a:lnTo>
                  <a:lnTo>
                    <a:pt x="103022" y="2218918"/>
                  </a:lnTo>
                  <a:lnTo>
                    <a:pt x="36715" y="2312352"/>
                  </a:lnTo>
                  <a:lnTo>
                    <a:pt x="102908" y="2179967"/>
                  </a:lnTo>
                  <a:lnTo>
                    <a:pt x="118262" y="2161692"/>
                  </a:lnTo>
                  <a:lnTo>
                    <a:pt x="118262" y="2127961"/>
                  </a:lnTo>
                  <a:lnTo>
                    <a:pt x="109016" y="2146452"/>
                  </a:lnTo>
                  <a:lnTo>
                    <a:pt x="119430" y="2116239"/>
                  </a:lnTo>
                  <a:lnTo>
                    <a:pt x="131699" y="2096757"/>
                  </a:lnTo>
                  <a:lnTo>
                    <a:pt x="131699" y="2051469"/>
                  </a:lnTo>
                  <a:lnTo>
                    <a:pt x="110794" y="2112073"/>
                  </a:lnTo>
                  <a:lnTo>
                    <a:pt x="97155" y="2133739"/>
                  </a:lnTo>
                  <a:lnTo>
                    <a:pt x="97155" y="2151621"/>
                  </a:lnTo>
                  <a:lnTo>
                    <a:pt x="85217" y="2186241"/>
                  </a:lnTo>
                  <a:lnTo>
                    <a:pt x="76555" y="2196554"/>
                  </a:lnTo>
                  <a:lnTo>
                    <a:pt x="76555" y="2211349"/>
                  </a:lnTo>
                  <a:lnTo>
                    <a:pt x="13525" y="2337422"/>
                  </a:lnTo>
                  <a:lnTo>
                    <a:pt x="15570" y="2283955"/>
                  </a:lnTo>
                  <a:lnTo>
                    <a:pt x="76555" y="2211349"/>
                  </a:lnTo>
                  <a:lnTo>
                    <a:pt x="76555" y="2196554"/>
                  </a:lnTo>
                  <a:lnTo>
                    <a:pt x="45847" y="2233104"/>
                  </a:lnTo>
                  <a:lnTo>
                    <a:pt x="97155" y="2151621"/>
                  </a:lnTo>
                  <a:lnTo>
                    <a:pt x="97155" y="2133739"/>
                  </a:lnTo>
                  <a:lnTo>
                    <a:pt x="16421" y="2261946"/>
                  </a:lnTo>
                  <a:lnTo>
                    <a:pt x="85712" y="460794"/>
                  </a:lnTo>
                  <a:lnTo>
                    <a:pt x="76187" y="460425"/>
                  </a:lnTo>
                  <a:lnTo>
                    <a:pt x="6286" y="2278049"/>
                  </a:lnTo>
                  <a:lnTo>
                    <a:pt x="723" y="2286889"/>
                  </a:lnTo>
                  <a:lnTo>
                    <a:pt x="4787" y="2289479"/>
                  </a:lnTo>
                  <a:lnTo>
                    <a:pt x="5803" y="2290330"/>
                  </a:lnTo>
                  <a:lnTo>
                    <a:pt x="3213" y="2358059"/>
                  </a:lnTo>
                  <a:lnTo>
                    <a:pt x="495" y="2363495"/>
                  </a:lnTo>
                  <a:lnTo>
                    <a:pt x="2946" y="2364740"/>
                  </a:lnTo>
                  <a:lnTo>
                    <a:pt x="0" y="2441638"/>
                  </a:lnTo>
                  <a:lnTo>
                    <a:pt x="9512" y="2442006"/>
                  </a:lnTo>
                  <a:lnTo>
                    <a:pt x="12458" y="2364790"/>
                  </a:lnTo>
                  <a:lnTo>
                    <a:pt x="92240" y="2287498"/>
                  </a:lnTo>
                  <a:lnTo>
                    <a:pt x="76276" y="2364663"/>
                  </a:lnTo>
                  <a:lnTo>
                    <a:pt x="85610" y="2366594"/>
                  </a:lnTo>
                  <a:lnTo>
                    <a:pt x="104406" y="2275713"/>
                  </a:lnTo>
                  <a:lnTo>
                    <a:pt x="2446464" y="68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6328" y="3568204"/>
              <a:ext cx="161696" cy="16128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41203" y="5960250"/>
              <a:ext cx="152196" cy="15367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98503" y="3656787"/>
              <a:ext cx="152196" cy="15366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5048" y="2048814"/>
            <a:ext cx="7792084" cy="1847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 spc="-20">
                <a:latin typeface="Tahoma"/>
                <a:cs typeface="Tahoma"/>
              </a:rPr>
              <a:t>Activity-</a:t>
            </a:r>
            <a:r>
              <a:rPr dirty="0" sz="2600">
                <a:latin typeface="Tahoma"/>
                <a:cs typeface="Tahoma"/>
              </a:rPr>
              <a:t>based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self-</a:t>
            </a:r>
            <a:r>
              <a:rPr dirty="0" sz="2600">
                <a:latin typeface="Tahoma"/>
                <a:cs typeface="Tahoma"/>
              </a:rPr>
              <a:t>organization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(von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der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Malsburg)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3333CC"/>
              </a:buClr>
              <a:buFont typeface="Tahoma"/>
              <a:buChar char="■"/>
            </a:pPr>
            <a:endParaRPr sz="2600">
              <a:latin typeface="Tahoma"/>
              <a:cs typeface="Tahoma"/>
            </a:endParaRPr>
          </a:p>
          <a:p>
            <a:pPr algn="just" marL="355600" marR="870585" indent="-342900">
              <a:lnSpc>
                <a:spcPct val="80000"/>
              </a:lnSpc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Incorporation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competitive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cooperative </a:t>
            </a:r>
            <a:r>
              <a:rPr dirty="0" sz="2600">
                <a:latin typeface="Tahoma"/>
                <a:cs typeface="Tahoma"/>
              </a:rPr>
              <a:t>mechanisms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generate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feature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maps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using </a:t>
            </a:r>
            <a:r>
              <a:rPr dirty="0" sz="2600">
                <a:latin typeface="Tahoma"/>
                <a:cs typeface="Tahoma"/>
              </a:rPr>
              <a:t>unsupervised</a:t>
            </a:r>
            <a:r>
              <a:rPr dirty="0" sz="2600" spc="-7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learning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networks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038" y="4141996"/>
            <a:ext cx="6685701" cy="23866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13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Topographic</a:t>
            </a:r>
            <a:r>
              <a:rPr dirty="0" sz="4000" spc="-165"/>
              <a:t> </a:t>
            </a:r>
            <a:r>
              <a:rPr dirty="0" sz="4000" spc="-20"/>
              <a:t>Maps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4837" y="4387939"/>
            <a:ext cx="4154170" cy="2085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>
              <a:lnSpc>
                <a:spcPts val="3115"/>
              </a:lnSpc>
              <a:spcBef>
                <a:spcPts val="105"/>
              </a:spcBef>
            </a:pPr>
            <a:r>
              <a:rPr dirty="0" sz="2600">
                <a:latin typeface="Tahoma"/>
                <a:cs typeface="Tahoma"/>
              </a:rPr>
              <a:t>Hebbian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units</a:t>
            </a:r>
            <a:endParaRPr sz="2600">
              <a:latin typeface="Tahoma"/>
              <a:cs typeface="Tahoma"/>
            </a:endParaRPr>
          </a:p>
          <a:p>
            <a:pPr marL="355600" marR="5080" indent="-342900">
              <a:lnSpc>
                <a:spcPct val="80000"/>
              </a:lnSpc>
              <a:spcBef>
                <a:spcPts val="62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Interconnections</a:t>
            </a:r>
            <a:r>
              <a:rPr dirty="0" sz="2600" spc="-114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of </a:t>
            </a:r>
            <a:r>
              <a:rPr dirty="0" sz="2600">
                <a:latin typeface="Tahoma"/>
                <a:cs typeface="Tahoma"/>
              </a:rPr>
              <a:t>cortical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units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described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by </a:t>
            </a:r>
            <a:r>
              <a:rPr dirty="0" sz="2600" spc="-10">
                <a:latin typeface="Tahoma"/>
                <a:cs typeface="Tahoma"/>
              </a:rPr>
              <a:t>‘Mexican-</a:t>
            </a:r>
            <a:r>
              <a:rPr dirty="0" sz="2600">
                <a:latin typeface="Tahoma"/>
                <a:cs typeface="Tahoma"/>
              </a:rPr>
              <a:t>hat’</a:t>
            </a:r>
            <a:r>
              <a:rPr dirty="0" sz="2600" spc="-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function: short-</a:t>
            </a:r>
            <a:r>
              <a:rPr dirty="0" sz="2600">
                <a:latin typeface="Tahoma"/>
                <a:cs typeface="Tahoma"/>
              </a:rPr>
              <a:t>range</a:t>
            </a:r>
            <a:r>
              <a:rPr dirty="0" sz="2600" spc="-10">
                <a:latin typeface="Tahoma"/>
                <a:cs typeface="Tahoma"/>
              </a:rPr>
              <a:t> excitation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long-</a:t>
            </a:r>
            <a:r>
              <a:rPr dirty="0" sz="2600">
                <a:latin typeface="Tahoma"/>
                <a:cs typeface="Tahoma"/>
              </a:rPr>
              <a:t>range</a:t>
            </a:r>
            <a:r>
              <a:rPr dirty="0" sz="2600" spc="-10">
                <a:latin typeface="Tahoma"/>
                <a:cs typeface="Tahoma"/>
              </a:rPr>
              <a:t> inhibition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13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Topographic</a:t>
            </a:r>
            <a:r>
              <a:rPr dirty="0" sz="4000" spc="-165"/>
              <a:t> </a:t>
            </a:r>
            <a:r>
              <a:rPr dirty="0" sz="4000" spc="-20"/>
              <a:t>Maps</a:t>
            </a:r>
            <a:endParaRPr sz="4000"/>
          </a:p>
        </p:txBody>
      </p:sp>
      <p:sp>
        <p:nvSpPr>
          <p:cNvPr id="4" name="object 4" descr=""/>
          <p:cNvSpPr txBox="1"/>
          <p:nvPr/>
        </p:nvSpPr>
        <p:spPr>
          <a:xfrm>
            <a:off x="7065809" y="5938735"/>
            <a:ext cx="1506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visual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space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039927" y="4241558"/>
            <a:ext cx="16071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cortical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units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4878070" y="3612591"/>
            <a:ext cx="3543935" cy="2371725"/>
            <a:chOff x="4878070" y="3612591"/>
            <a:chExt cx="3543935" cy="2371725"/>
          </a:xfrm>
        </p:grpSpPr>
        <p:sp>
          <p:nvSpPr>
            <p:cNvPr id="7" name="object 7" descr=""/>
            <p:cNvSpPr/>
            <p:nvPr/>
          </p:nvSpPr>
          <p:spPr>
            <a:xfrm>
              <a:off x="4965192" y="3617975"/>
              <a:ext cx="3438525" cy="655320"/>
            </a:xfrm>
            <a:custGeom>
              <a:avLst/>
              <a:gdLst/>
              <a:ahLst/>
              <a:cxnLst/>
              <a:rect l="l" t="t" r="r" b="b"/>
              <a:pathLst>
                <a:path w="3438525" h="655320">
                  <a:moveTo>
                    <a:pt x="3438143" y="0"/>
                  </a:moveTo>
                  <a:lnTo>
                    <a:pt x="1252728" y="0"/>
                  </a:lnTo>
                  <a:lnTo>
                    <a:pt x="0" y="655319"/>
                  </a:lnTo>
                  <a:lnTo>
                    <a:pt x="2183891" y="655319"/>
                  </a:lnTo>
                  <a:lnTo>
                    <a:pt x="3438143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945481" y="3612591"/>
              <a:ext cx="3476625" cy="666115"/>
            </a:xfrm>
            <a:custGeom>
              <a:avLst/>
              <a:gdLst/>
              <a:ahLst/>
              <a:cxnLst/>
              <a:rect l="l" t="t" r="r" b="b"/>
              <a:pathLst>
                <a:path w="3476625" h="666114">
                  <a:moveTo>
                    <a:pt x="3476523" y="0"/>
                  </a:moveTo>
                  <a:lnTo>
                    <a:pt x="1271714" y="0"/>
                  </a:lnTo>
                  <a:lnTo>
                    <a:pt x="0" y="665695"/>
                  </a:lnTo>
                  <a:lnTo>
                    <a:pt x="2204796" y="665695"/>
                  </a:lnTo>
                  <a:lnTo>
                    <a:pt x="2205839" y="665149"/>
                  </a:lnTo>
                  <a:lnTo>
                    <a:pt x="21577" y="665149"/>
                  </a:lnTo>
                  <a:lnTo>
                    <a:pt x="19367" y="656170"/>
                  </a:lnTo>
                  <a:lnTo>
                    <a:pt x="38730" y="656170"/>
                  </a:lnTo>
                  <a:lnTo>
                    <a:pt x="1274062" y="9524"/>
                  </a:lnTo>
                  <a:lnTo>
                    <a:pt x="1272895" y="9524"/>
                  </a:lnTo>
                  <a:lnTo>
                    <a:pt x="1275105" y="8978"/>
                  </a:lnTo>
                  <a:lnTo>
                    <a:pt x="3438836" y="8978"/>
                  </a:lnTo>
                  <a:lnTo>
                    <a:pt x="3454946" y="546"/>
                  </a:lnTo>
                  <a:lnTo>
                    <a:pt x="3475480" y="546"/>
                  </a:lnTo>
                  <a:lnTo>
                    <a:pt x="3476523" y="0"/>
                  </a:lnTo>
                  <a:close/>
                </a:path>
                <a:path w="3476625" h="666114">
                  <a:moveTo>
                    <a:pt x="38730" y="656170"/>
                  </a:moveTo>
                  <a:lnTo>
                    <a:pt x="19367" y="656170"/>
                  </a:lnTo>
                  <a:lnTo>
                    <a:pt x="21577" y="665149"/>
                  </a:lnTo>
                  <a:lnTo>
                    <a:pt x="38730" y="656170"/>
                  </a:lnTo>
                  <a:close/>
                </a:path>
                <a:path w="3476625" h="666114">
                  <a:moveTo>
                    <a:pt x="2202461" y="656170"/>
                  </a:moveTo>
                  <a:lnTo>
                    <a:pt x="38730" y="656170"/>
                  </a:lnTo>
                  <a:lnTo>
                    <a:pt x="21577" y="665149"/>
                  </a:lnTo>
                  <a:lnTo>
                    <a:pt x="2205839" y="665149"/>
                  </a:lnTo>
                  <a:lnTo>
                    <a:pt x="2221949" y="656716"/>
                  </a:lnTo>
                  <a:lnTo>
                    <a:pt x="2201418" y="656716"/>
                  </a:lnTo>
                  <a:lnTo>
                    <a:pt x="2202461" y="656170"/>
                  </a:lnTo>
                  <a:close/>
                </a:path>
                <a:path w="3476625" h="666114">
                  <a:moveTo>
                    <a:pt x="3454946" y="546"/>
                  </a:moveTo>
                  <a:lnTo>
                    <a:pt x="2201418" y="656716"/>
                  </a:lnTo>
                  <a:lnTo>
                    <a:pt x="2203627" y="656170"/>
                  </a:lnTo>
                  <a:lnTo>
                    <a:pt x="2222992" y="656170"/>
                  </a:lnTo>
                  <a:lnTo>
                    <a:pt x="3458327" y="9524"/>
                  </a:lnTo>
                  <a:lnTo>
                    <a:pt x="3457155" y="9524"/>
                  </a:lnTo>
                  <a:lnTo>
                    <a:pt x="3454946" y="546"/>
                  </a:lnTo>
                  <a:close/>
                </a:path>
                <a:path w="3476625" h="666114">
                  <a:moveTo>
                    <a:pt x="2222992" y="656170"/>
                  </a:moveTo>
                  <a:lnTo>
                    <a:pt x="2203627" y="656170"/>
                  </a:lnTo>
                  <a:lnTo>
                    <a:pt x="2201418" y="656716"/>
                  </a:lnTo>
                  <a:lnTo>
                    <a:pt x="2221949" y="656716"/>
                  </a:lnTo>
                  <a:lnTo>
                    <a:pt x="2222992" y="656170"/>
                  </a:lnTo>
                  <a:close/>
                </a:path>
                <a:path w="3476625" h="666114">
                  <a:moveTo>
                    <a:pt x="1275105" y="8978"/>
                  </a:moveTo>
                  <a:lnTo>
                    <a:pt x="1272895" y="9524"/>
                  </a:lnTo>
                  <a:lnTo>
                    <a:pt x="1274062" y="9524"/>
                  </a:lnTo>
                  <a:lnTo>
                    <a:pt x="1275105" y="8978"/>
                  </a:lnTo>
                  <a:close/>
                </a:path>
                <a:path w="3476625" h="666114">
                  <a:moveTo>
                    <a:pt x="3438836" y="8978"/>
                  </a:moveTo>
                  <a:lnTo>
                    <a:pt x="1275105" y="8978"/>
                  </a:lnTo>
                  <a:lnTo>
                    <a:pt x="1274062" y="9524"/>
                  </a:lnTo>
                  <a:lnTo>
                    <a:pt x="3437793" y="9524"/>
                  </a:lnTo>
                  <a:lnTo>
                    <a:pt x="3438836" y="8978"/>
                  </a:lnTo>
                  <a:close/>
                </a:path>
                <a:path w="3476625" h="666114">
                  <a:moveTo>
                    <a:pt x="3475480" y="546"/>
                  </a:moveTo>
                  <a:lnTo>
                    <a:pt x="3454946" y="546"/>
                  </a:lnTo>
                  <a:lnTo>
                    <a:pt x="3457155" y="9524"/>
                  </a:lnTo>
                  <a:lnTo>
                    <a:pt x="3458327" y="9524"/>
                  </a:lnTo>
                  <a:lnTo>
                    <a:pt x="3475480" y="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0919" y="3679164"/>
              <a:ext cx="144145" cy="1397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2409" y="3679164"/>
              <a:ext cx="144144" cy="1397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6474" y="3679164"/>
              <a:ext cx="144157" cy="1397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71286" y="3810406"/>
              <a:ext cx="144144" cy="1397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5363" y="3810406"/>
              <a:ext cx="144145" cy="1397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86853" y="3810406"/>
              <a:ext cx="144144" cy="1397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66841" y="4007256"/>
              <a:ext cx="144145" cy="1397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75730" y="4007256"/>
              <a:ext cx="144157" cy="1397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14997" y="4007256"/>
              <a:ext cx="144144" cy="13970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898136" y="5323331"/>
              <a:ext cx="3436620" cy="657225"/>
            </a:xfrm>
            <a:custGeom>
              <a:avLst/>
              <a:gdLst/>
              <a:ahLst/>
              <a:cxnLst/>
              <a:rect l="l" t="t" r="r" b="b"/>
              <a:pathLst>
                <a:path w="3436620" h="657225">
                  <a:moveTo>
                    <a:pt x="3436619" y="0"/>
                  </a:moveTo>
                  <a:lnTo>
                    <a:pt x="1252727" y="0"/>
                  </a:lnTo>
                  <a:lnTo>
                    <a:pt x="0" y="656844"/>
                  </a:lnTo>
                  <a:lnTo>
                    <a:pt x="2183891" y="656844"/>
                  </a:lnTo>
                  <a:lnTo>
                    <a:pt x="3436619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878070" y="5318620"/>
              <a:ext cx="3476625" cy="666115"/>
            </a:xfrm>
            <a:custGeom>
              <a:avLst/>
              <a:gdLst/>
              <a:ahLst/>
              <a:cxnLst/>
              <a:rect l="l" t="t" r="r" b="b"/>
              <a:pathLst>
                <a:path w="3476625" h="666114">
                  <a:moveTo>
                    <a:pt x="3476523" y="0"/>
                  </a:moveTo>
                  <a:lnTo>
                    <a:pt x="1271727" y="0"/>
                  </a:lnTo>
                  <a:lnTo>
                    <a:pt x="0" y="665696"/>
                  </a:lnTo>
                  <a:lnTo>
                    <a:pt x="2204808" y="665696"/>
                  </a:lnTo>
                  <a:lnTo>
                    <a:pt x="2205852" y="665150"/>
                  </a:lnTo>
                  <a:lnTo>
                    <a:pt x="21577" y="665150"/>
                  </a:lnTo>
                  <a:lnTo>
                    <a:pt x="19367" y="656171"/>
                  </a:lnTo>
                  <a:lnTo>
                    <a:pt x="38730" y="656171"/>
                  </a:lnTo>
                  <a:lnTo>
                    <a:pt x="1274086" y="9525"/>
                  </a:lnTo>
                  <a:lnTo>
                    <a:pt x="1272895" y="9525"/>
                  </a:lnTo>
                  <a:lnTo>
                    <a:pt x="1275105" y="8991"/>
                  </a:lnTo>
                  <a:lnTo>
                    <a:pt x="3438812" y="8991"/>
                  </a:lnTo>
                  <a:lnTo>
                    <a:pt x="3454946" y="546"/>
                  </a:lnTo>
                  <a:lnTo>
                    <a:pt x="3475480" y="546"/>
                  </a:lnTo>
                  <a:lnTo>
                    <a:pt x="3476523" y="0"/>
                  </a:lnTo>
                  <a:close/>
                </a:path>
                <a:path w="3476625" h="666114">
                  <a:moveTo>
                    <a:pt x="38730" y="656171"/>
                  </a:moveTo>
                  <a:lnTo>
                    <a:pt x="19367" y="656171"/>
                  </a:lnTo>
                  <a:lnTo>
                    <a:pt x="21577" y="665150"/>
                  </a:lnTo>
                  <a:lnTo>
                    <a:pt x="38730" y="656171"/>
                  </a:lnTo>
                  <a:close/>
                </a:path>
                <a:path w="3476625" h="666114">
                  <a:moveTo>
                    <a:pt x="2202461" y="656171"/>
                  </a:moveTo>
                  <a:lnTo>
                    <a:pt x="38730" y="656171"/>
                  </a:lnTo>
                  <a:lnTo>
                    <a:pt x="21577" y="665150"/>
                  </a:lnTo>
                  <a:lnTo>
                    <a:pt x="2205852" y="665150"/>
                  </a:lnTo>
                  <a:lnTo>
                    <a:pt x="2221961" y="656717"/>
                  </a:lnTo>
                  <a:lnTo>
                    <a:pt x="2201418" y="656717"/>
                  </a:lnTo>
                  <a:lnTo>
                    <a:pt x="2202461" y="656171"/>
                  </a:lnTo>
                  <a:close/>
                </a:path>
                <a:path w="3476625" h="666114">
                  <a:moveTo>
                    <a:pt x="3454946" y="546"/>
                  </a:moveTo>
                  <a:lnTo>
                    <a:pt x="2201418" y="656717"/>
                  </a:lnTo>
                  <a:lnTo>
                    <a:pt x="2203627" y="656171"/>
                  </a:lnTo>
                  <a:lnTo>
                    <a:pt x="2223005" y="656171"/>
                  </a:lnTo>
                  <a:lnTo>
                    <a:pt x="3458327" y="9525"/>
                  </a:lnTo>
                  <a:lnTo>
                    <a:pt x="3457155" y="9525"/>
                  </a:lnTo>
                  <a:lnTo>
                    <a:pt x="3454946" y="546"/>
                  </a:lnTo>
                  <a:close/>
                </a:path>
                <a:path w="3476625" h="666114">
                  <a:moveTo>
                    <a:pt x="2223005" y="656171"/>
                  </a:moveTo>
                  <a:lnTo>
                    <a:pt x="2203627" y="656171"/>
                  </a:lnTo>
                  <a:lnTo>
                    <a:pt x="2201418" y="656717"/>
                  </a:lnTo>
                  <a:lnTo>
                    <a:pt x="2221961" y="656717"/>
                  </a:lnTo>
                  <a:lnTo>
                    <a:pt x="2223005" y="656171"/>
                  </a:lnTo>
                  <a:close/>
                </a:path>
                <a:path w="3476625" h="666114">
                  <a:moveTo>
                    <a:pt x="1275105" y="8991"/>
                  </a:moveTo>
                  <a:lnTo>
                    <a:pt x="1272895" y="9525"/>
                  </a:lnTo>
                  <a:lnTo>
                    <a:pt x="1274086" y="9525"/>
                  </a:lnTo>
                  <a:lnTo>
                    <a:pt x="1275105" y="8991"/>
                  </a:lnTo>
                  <a:close/>
                </a:path>
                <a:path w="3476625" h="666114">
                  <a:moveTo>
                    <a:pt x="3438812" y="8991"/>
                  </a:moveTo>
                  <a:lnTo>
                    <a:pt x="1275105" y="8991"/>
                  </a:lnTo>
                  <a:lnTo>
                    <a:pt x="1274086" y="9525"/>
                  </a:lnTo>
                  <a:lnTo>
                    <a:pt x="3437793" y="9525"/>
                  </a:lnTo>
                  <a:lnTo>
                    <a:pt x="3438812" y="8991"/>
                  </a:lnTo>
                  <a:close/>
                </a:path>
                <a:path w="3476625" h="666114">
                  <a:moveTo>
                    <a:pt x="3475480" y="546"/>
                  </a:moveTo>
                  <a:lnTo>
                    <a:pt x="3454946" y="546"/>
                  </a:lnTo>
                  <a:lnTo>
                    <a:pt x="3457155" y="9525"/>
                  </a:lnTo>
                  <a:lnTo>
                    <a:pt x="3458327" y="9525"/>
                  </a:lnTo>
                  <a:lnTo>
                    <a:pt x="3475480" y="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73508" y="5385206"/>
              <a:ext cx="144144" cy="1397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14997" y="5385206"/>
              <a:ext cx="144144" cy="1397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89075" y="5385206"/>
              <a:ext cx="144144" cy="13970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03874" y="5516435"/>
              <a:ext cx="144157" cy="139700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77952" y="5516435"/>
              <a:ext cx="144157" cy="13970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84631" y="5582056"/>
              <a:ext cx="144144" cy="13970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99430" y="5713285"/>
              <a:ext cx="144157" cy="13970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08331" y="5713285"/>
              <a:ext cx="144145" cy="13970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45363" y="5778906"/>
              <a:ext cx="144145" cy="13970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5566753" y="3745128"/>
              <a:ext cx="2165350" cy="2103755"/>
            </a:xfrm>
            <a:custGeom>
              <a:avLst/>
              <a:gdLst/>
              <a:ahLst/>
              <a:cxnLst/>
              <a:rect l="l" t="t" r="r" b="b"/>
              <a:pathLst>
                <a:path w="2165350" h="2103754">
                  <a:moveTo>
                    <a:pt x="2165070" y="6921"/>
                  </a:moveTo>
                  <a:lnTo>
                    <a:pt x="2158542" y="0"/>
                  </a:lnTo>
                  <a:lnTo>
                    <a:pt x="208851" y="1838591"/>
                  </a:lnTo>
                  <a:lnTo>
                    <a:pt x="1895563" y="138049"/>
                  </a:lnTo>
                  <a:lnTo>
                    <a:pt x="1888794" y="131343"/>
                  </a:lnTo>
                  <a:lnTo>
                    <a:pt x="98552" y="1936267"/>
                  </a:lnTo>
                  <a:lnTo>
                    <a:pt x="104343" y="1909089"/>
                  </a:lnTo>
                  <a:lnTo>
                    <a:pt x="316826" y="1617637"/>
                  </a:lnTo>
                  <a:lnTo>
                    <a:pt x="1423924" y="334657"/>
                  </a:lnTo>
                  <a:lnTo>
                    <a:pt x="1416723" y="328434"/>
                  </a:lnTo>
                  <a:lnTo>
                    <a:pt x="385330" y="1523669"/>
                  </a:lnTo>
                  <a:lnTo>
                    <a:pt x="1491576" y="6261"/>
                  </a:lnTo>
                  <a:lnTo>
                    <a:pt x="1483880" y="660"/>
                  </a:lnTo>
                  <a:lnTo>
                    <a:pt x="309372" y="1611693"/>
                  </a:lnTo>
                  <a:lnTo>
                    <a:pt x="240855" y="1691093"/>
                  </a:lnTo>
                  <a:lnTo>
                    <a:pt x="240855" y="1705673"/>
                  </a:lnTo>
                  <a:lnTo>
                    <a:pt x="109194" y="1886267"/>
                  </a:lnTo>
                  <a:lnTo>
                    <a:pt x="117094" y="1849094"/>
                  </a:lnTo>
                  <a:lnTo>
                    <a:pt x="240855" y="1705673"/>
                  </a:lnTo>
                  <a:lnTo>
                    <a:pt x="240855" y="1691093"/>
                  </a:lnTo>
                  <a:lnTo>
                    <a:pt x="121196" y="1829752"/>
                  </a:lnTo>
                  <a:lnTo>
                    <a:pt x="124256" y="1815388"/>
                  </a:lnTo>
                  <a:lnTo>
                    <a:pt x="172618" y="1721231"/>
                  </a:lnTo>
                  <a:lnTo>
                    <a:pt x="1154696" y="202895"/>
                  </a:lnTo>
                  <a:lnTo>
                    <a:pt x="1146695" y="197726"/>
                  </a:lnTo>
                  <a:lnTo>
                    <a:pt x="216369" y="1636052"/>
                  </a:lnTo>
                  <a:lnTo>
                    <a:pt x="885291" y="333717"/>
                  </a:lnTo>
                  <a:lnTo>
                    <a:pt x="876820" y="329374"/>
                  </a:lnTo>
                  <a:lnTo>
                    <a:pt x="164338" y="1716493"/>
                  </a:lnTo>
                  <a:lnTo>
                    <a:pt x="135940" y="1760385"/>
                  </a:lnTo>
                  <a:lnTo>
                    <a:pt x="146481" y="1710829"/>
                  </a:lnTo>
                  <a:lnTo>
                    <a:pt x="750735" y="5054"/>
                  </a:lnTo>
                  <a:lnTo>
                    <a:pt x="741756" y="1866"/>
                  </a:lnTo>
                  <a:lnTo>
                    <a:pt x="161632" y="1639519"/>
                  </a:lnTo>
                  <a:lnTo>
                    <a:pt x="481279" y="135686"/>
                  </a:lnTo>
                  <a:lnTo>
                    <a:pt x="471957" y="133705"/>
                  </a:lnTo>
                  <a:lnTo>
                    <a:pt x="137299" y="1708200"/>
                  </a:lnTo>
                  <a:lnTo>
                    <a:pt x="122148" y="1750987"/>
                  </a:lnTo>
                  <a:lnTo>
                    <a:pt x="122148" y="1779511"/>
                  </a:lnTo>
                  <a:lnTo>
                    <a:pt x="121437" y="1782813"/>
                  </a:lnTo>
                  <a:lnTo>
                    <a:pt x="120408" y="1784400"/>
                  </a:lnTo>
                  <a:lnTo>
                    <a:pt x="122148" y="1779511"/>
                  </a:lnTo>
                  <a:lnTo>
                    <a:pt x="122148" y="1750987"/>
                  </a:lnTo>
                  <a:lnTo>
                    <a:pt x="115887" y="1768665"/>
                  </a:lnTo>
                  <a:lnTo>
                    <a:pt x="115887" y="1808937"/>
                  </a:lnTo>
                  <a:lnTo>
                    <a:pt x="115214" y="1812112"/>
                  </a:lnTo>
                  <a:lnTo>
                    <a:pt x="104165" y="1833626"/>
                  </a:lnTo>
                  <a:lnTo>
                    <a:pt x="104165" y="1864080"/>
                  </a:lnTo>
                  <a:lnTo>
                    <a:pt x="95440" y="1905114"/>
                  </a:lnTo>
                  <a:lnTo>
                    <a:pt x="90589" y="1911769"/>
                  </a:lnTo>
                  <a:lnTo>
                    <a:pt x="90589" y="1927936"/>
                  </a:lnTo>
                  <a:lnTo>
                    <a:pt x="86156" y="1948764"/>
                  </a:lnTo>
                  <a:lnTo>
                    <a:pt x="45580" y="1989670"/>
                  </a:lnTo>
                  <a:lnTo>
                    <a:pt x="90589" y="1927936"/>
                  </a:lnTo>
                  <a:lnTo>
                    <a:pt x="90589" y="1911769"/>
                  </a:lnTo>
                  <a:lnTo>
                    <a:pt x="36944" y="1985352"/>
                  </a:lnTo>
                  <a:lnTo>
                    <a:pt x="91986" y="1878190"/>
                  </a:lnTo>
                  <a:lnTo>
                    <a:pt x="104165" y="1864080"/>
                  </a:lnTo>
                  <a:lnTo>
                    <a:pt x="104165" y="1833626"/>
                  </a:lnTo>
                  <a:lnTo>
                    <a:pt x="100330" y="1841080"/>
                  </a:lnTo>
                  <a:lnTo>
                    <a:pt x="106667" y="1823199"/>
                  </a:lnTo>
                  <a:lnTo>
                    <a:pt x="115887" y="1808937"/>
                  </a:lnTo>
                  <a:lnTo>
                    <a:pt x="115887" y="1768665"/>
                  </a:lnTo>
                  <a:lnTo>
                    <a:pt x="98082" y="1818932"/>
                  </a:lnTo>
                  <a:lnTo>
                    <a:pt x="84353" y="1840166"/>
                  </a:lnTo>
                  <a:lnTo>
                    <a:pt x="84353" y="1857692"/>
                  </a:lnTo>
                  <a:lnTo>
                    <a:pt x="75476" y="1882736"/>
                  </a:lnTo>
                  <a:lnTo>
                    <a:pt x="65532" y="1894268"/>
                  </a:lnTo>
                  <a:lnTo>
                    <a:pt x="65532" y="1908848"/>
                  </a:lnTo>
                  <a:lnTo>
                    <a:pt x="13182" y="2010765"/>
                  </a:lnTo>
                  <a:lnTo>
                    <a:pt x="14871" y="1967547"/>
                  </a:lnTo>
                  <a:lnTo>
                    <a:pt x="65532" y="1908848"/>
                  </a:lnTo>
                  <a:lnTo>
                    <a:pt x="65532" y="1894268"/>
                  </a:lnTo>
                  <a:lnTo>
                    <a:pt x="46215" y="1916658"/>
                  </a:lnTo>
                  <a:lnTo>
                    <a:pt x="84353" y="1857692"/>
                  </a:lnTo>
                  <a:lnTo>
                    <a:pt x="84353" y="1840166"/>
                  </a:lnTo>
                  <a:lnTo>
                    <a:pt x="15722" y="1946249"/>
                  </a:lnTo>
                  <a:lnTo>
                    <a:pt x="76923" y="397344"/>
                  </a:lnTo>
                  <a:lnTo>
                    <a:pt x="67411" y="396976"/>
                  </a:lnTo>
                  <a:lnTo>
                    <a:pt x="5562" y="1961959"/>
                  </a:lnTo>
                  <a:lnTo>
                    <a:pt x="762" y="1969389"/>
                  </a:lnTo>
                  <a:lnTo>
                    <a:pt x="4749" y="1971979"/>
                  </a:lnTo>
                  <a:lnTo>
                    <a:pt x="5143" y="1972322"/>
                  </a:lnTo>
                  <a:lnTo>
                    <a:pt x="2844" y="2030882"/>
                  </a:lnTo>
                  <a:lnTo>
                    <a:pt x="520" y="2035416"/>
                  </a:lnTo>
                  <a:lnTo>
                    <a:pt x="2616" y="2036508"/>
                  </a:lnTo>
                  <a:lnTo>
                    <a:pt x="0" y="2103018"/>
                  </a:lnTo>
                  <a:lnTo>
                    <a:pt x="9525" y="2103399"/>
                  </a:lnTo>
                  <a:lnTo>
                    <a:pt x="12115" y="2037194"/>
                  </a:lnTo>
                  <a:lnTo>
                    <a:pt x="81216" y="1972030"/>
                  </a:lnTo>
                  <a:lnTo>
                    <a:pt x="67513" y="2036597"/>
                  </a:lnTo>
                  <a:lnTo>
                    <a:pt x="76822" y="2038578"/>
                  </a:lnTo>
                  <a:lnTo>
                    <a:pt x="93408" y="1960549"/>
                  </a:lnTo>
                  <a:lnTo>
                    <a:pt x="2165070" y="69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54837" y="2027186"/>
            <a:ext cx="8202295" cy="246634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367665" marR="5080" indent="-342900">
              <a:lnSpc>
                <a:spcPct val="80000"/>
              </a:lnSpc>
              <a:spcBef>
                <a:spcPts val="730"/>
              </a:spcBef>
              <a:buClr>
                <a:srgbClr val="3333CC"/>
              </a:buClr>
              <a:buSzPct val="59615"/>
              <a:buChar char="■"/>
              <a:tabLst>
                <a:tab pos="367665" algn="l"/>
              </a:tabLst>
            </a:pP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Biologically</a:t>
            </a:r>
            <a:r>
              <a:rPr dirty="0" sz="2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motivated</a:t>
            </a:r>
            <a:r>
              <a:rPr dirty="0" sz="2600">
                <a:latin typeface="Tahoma"/>
                <a:cs typeface="Tahoma"/>
              </a:rPr>
              <a:t>: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how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activity-</a:t>
            </a:r>
            <a:r>
              <a:rPr dirty="0" sz="2600" spc="-10">
                <a:latin typeface="Tahoma"/>
                <a:cs typeface="Tahoma"/>
              </a:rPr>
              <a:t>based </a:t>
            </a:r>
            <a:r>
              <a:rPr dirty="0" sz="2600">
                <a:latin typeface="Tahoma"/>
                <a:cs typeface="Tahoma"/>
              </a:rPr>
              <a:t>learning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using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highly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interconnected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circuits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lead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to </a:t>
            </a:r>
            <a:r>
              <a:rPr dirty="0" sz="2600">
                <a:latin typeface="Tahoma"/>
                <a:cs typeface="Tahoma"/>
              </a:rPr>
              <a:t>orderly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mapping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visual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stimulus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space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onto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cortical surface?</a:t>
            </a:r>
            <a:endParaRPr sz="2600">
              <a:latin typeface="Tahoma"/>
              <a:cs typeface="Tahoma"/>
            </a:endParaRPr>
          </a:p>
          <a:p>
            <a:pPr marL="355600" marR="4194175" indent="-342900">
              <a:lnSpc>
                <a:spcPct val="80000"/>
              </a:lnSpc>
              <a:spcBef>
                <a:spcPts val="112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2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layer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each </a:t>
            </a:r>
            <a:r>
              <a:rPr dirty="0" sz="2600">
                <a:latin typeface="Tahoma"/>
                <a:cs typeface="Tahoma"/>
              </a:rPr>
              <a:t>cortical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unit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fully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connect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visual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space</a:t>
            </a:r>
            <a:r>
              <a:rPr dirty="0" sz="2600" spc="-25">
                <a:latin typeface="Tahoma"/>
                <a:cs typeface="Tahoma"/>
              </a:rPr>
              <a:t> via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130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Topographic</a:t>
            </a:r>
            <a:r>
              <a:rPr dirty="0" sz="4000" spc="-165"/>
              <a:t> </a:t>
            </a:r>
            <a:r>
              <a:rPr dirty="0" sz="4000" spc="-20"/>
              <a:t>Maps</a:t>
            </a:r>
            <a:endParaRPr sz="40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67448" y="2027186"/>
            <a:ext cx="7811134" cy="379476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355600" marR="93345" indent="-342900">
              <a:lnSpc>
                <a:spcPct val="80000"/>
              </a:lnSpc>
              <a:spcBef>
                <a:spcPts val="730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 spc="-20">
                <a:latin typeface="Tahoma"/>
                <a:cs typeface="Tahoma"/>
              </a:rPr>
              <a:t>Activity-</a:t>
            </a:r>
            <a:r>
              <a:rPr dirty="0" sz="2600">
                <a:latin typeface="Tahoma"/>
                <a:cs typeface="Tahoma"/>
              </a:rPr>
              <a:t>based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self-</a:t>
            </a:r>
            <a:r>
              <a:rPr dirty="0" sz="2600">
                <a:latin typeface="Tahoma"/>
                <a:cs typeface="Tahoma"/>
              </a:rPr>
              <a:t>organization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(von</a:t>
            </a:r>
            <a:r>
              <a:rPr dirty="0" sz="2600" spc="-25">
                <a:latin typeface="Tahoma"/>
                <a:cs typeface="Tahoma"/>
              </a:rPr>
              <a:t> der </a:t>
            </a:r>
            <a:r>
              <a:rPr dirty="0" sz="2600">
                <a:latin typeface="Tahoma"/>
                <a:cs typeface="Tahoma"/>
              </a:rPr>
              <a:t>Malsburg):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after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learning,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topographic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map </a:t>
            </a:r>
            <a:r>
              <a:rPr dirty="0" sz="2600">
                <a:latin typeface="Tahoma"/>
                <a:cs typeface="Tahoma"/>
              </a:rPr>
              <a:t>appears.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However,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dimension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same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as </a:t>
            </a:r>
            <a:r>
              <a:rPr dirty="0" sz="2600">
                <a:latin typeface="Tahoma"/>
                <a:cs typeface="Tahoma"/>
              </a:rPr>
              <a:t>output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dimension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3333CC"/>
              </a:buClr>
              <a:buFont typeface="Tahoma"/>
              <a:buChar char="■"/>
            </a:pPr>
            <a:endParaRPr sz="2600">
              <a:latin typeface="Tahoma"/>
              <a:cs typeface="Tahoma"/>
            </a:endParaRPr>
          </a:p>
          <a:p>
            <a:pPr marL="355600" marR="478155" indent="-342900">
              <a:lnSpc>
                <a:spcPct val="80000"/>
              </a:lnSpc>
              <a:spcBef>
                <a:spcPts val="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Kohonen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simplified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this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model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called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it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Kohonen’s</a:t>
            </a:r>
            <a:r>
              <a:rPr dirty="0" sz="2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Tahoma"/>
                <a:cs typeface="Tahoma"/>
              </a:rPr>
              <a:t>self-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organizing</a:t>
            </a:r>
            <a:r>
              <a:rPr dirty="0" sz="2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map</a:t>
            </a:r>
            <a:r>
              <a:rPr dirty="0" sz="26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(SOM)</a:t>
            </a:r>
            <a:r>
              <a:rPr dirty="0" sz="26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Tahoma"/>
                <a:cs typeface="Tahoma"/>
              </a:rPr>
              <a:t>algorithm</a:t>
            </a:r>
            <a:endParaRPr sz="2600">
              <a:latin typeface="Tahoma"/>
              <a:cs typeface="Tahoma"/>
            </a:endParaRPr>
          </a:p>
          <a:p>
            <a:pPr lvl="1" marL="755650" marR="527685" indent="-285750">
              <a:lnSpc>
                <a:spcPct val="79900"/>
              </a:lnSpc>
              <a:spcBef>
                <a:spcPts val="56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more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general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perform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dimensionality reduction</a:t>
            </a:r>
            <a:endParaRPr sz="2400">
              <a:latin typeface="Tahoma"/>
              <a:cs typeface="Tahoma"/>
            </a:endParaRPr>
          </a:p>
          <a:p>
            <a:pPr lvl="1" marL="755650" marR="5080" indent="-285750">
              <a:lnSpc>
                <a:spcPct val="799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SOM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viewed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vector</a:t>
            </a:r>
            <a:r>
              <a:rPr dirty="0" sz="2400" spc="-4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quantization</a:t>
            </a:r>
            <a:r>
              <a:rPr dirty="0" sz="2400" spc="-10" b="1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type </a:t>
            </a:r>
            <a:r>
              <a:rPr dirty="0" sz="2400" spc="-10">
                <a:latin typeface="Tahoma"/>
                <a:cs typeface="Tahoma"/>
              </a:rPr>
              <a:t>algorithm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6188" y="2363723"/>
            <a:ext cx="2601467" cy="31668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615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95"/>
              </a:spcBef>
            </a:pPr>
            <a:r>
              <a:rPr dirty="0" sz="4000" spc="-25"/>
              <a:t>Self-</a:t>
            </a:r>
            <a:r>
              <a:rPr dirty="0" sz="4000"/>
              <a:t>Organizing</a:t>
            </a:r>
            <a:r>
              <a:rPr dirty="0" sz="4000" spc="-70"/>
              <a:t> </a:t>
            </a:r>
            <a:r>
              <a:rPr dirty="0" sz="4000"/>
              <a:t>Map</a:t>
            </a:r>
            <a:r>
              <a:rPr dirty="0" sz="4000" spc="-70"/>
              <a:t> </a:t>
            </a:r>
            <a:r>
              <a:rPr dirty="0" sz="4000" spc="-10"/>
              <a:t>(SOM)</a:t>
            </a:r>
            <a:endParaRPr sz="4000"/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 descr=""/>
          <p:cNvSpPr txBox="1"/>
          <p:nvPr/>
        </p:nvSpPr>
        <p:spPr>
          <a:xfrm>
            <a:off x="402272" y="2296045"/>
            <a:ext cx="4723765" cy="32677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a.k.a.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Kohonen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networks</a:t>
            </a:r>
            <a:endParaRPr sz="2800">
              <a:latin typeface="Tahoma"/>
              <a:cs typeface="Tahoma"/>
            </a:endParaRPr>
          </a:p>
          <a:p>
            <a:pPr lvl="1" marL="755650" marR="34925" indent="-28575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755650" algn="l"/>
              </a:tabLst>
            </a:pPr>
            <a:r>
              <a:rPr dirty="0" sz="2800">
                <a:latin typeface="Tahoma"/>
                <a:cs typeface="Tahoma"/>
              </a:rPr>
              <a:t>represents</a:t>
            </a:r>
            <a:r>
              <a:rPr dirty="0" sz="2800" spc="-12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embodiment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ideas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have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discussed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far</a:t>
            </a:r>
            <a:endParaRPr sz="2800">
              <a:latin typeface="Tahoma"/>
              <a:cs typeface="Tahoma"/>
            </a:endParaRPr>
          </a:p>
          <a:p>
            <a:pPr lvl="1" marL="755650" marR="84455" indent="-28575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Char char="■"/>
              <a:tabLst>
                <a:tab pos="755650" algn="l"/>
              </a:tabLst>
            </a:pPr>
            <a:r>
              <a:rPr dirty="0" sz="2800">
                <a:latin typeface="Tahoma"/>
                <a:cs typeface="Tahoma"/>
              </a:rPr>
              <a:t>named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after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Dr.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Eng. </a:t>
            </a:r>
            <a:r>
              <a:rPr dirty="0" sz="2800">
                <a:latin typeface="Tahoma"/>
                <a:cs typeface="Tahoma"/>
              </a:rPr>
              <a:t>Teuvo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Kohonen,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Helsinki </a:t>
            </a:r>
            <a:r>
              <a:rPr dirty="0" sz="2800">
                <a:latin typeface="Tahoma"/>
                <a:cs typeface="Tahoma"/>
              </a:rPr>
              <a:t>Uni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Technology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 spc="-25"/>
              <a:t>SOM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293052" y="2185784"/>
            <a:ext cx="7905115" cy="166052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588645" marR="5080" indent="-3429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588645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idea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SOM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transform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an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Tahoma"/>
                <a:cs typeface="Tahoma"/>
              </a:rPr>
              <a:t>of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arbitrary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dimension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into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1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0000FF"/>
                </a:solidFill>
                <a:latin typeface="Tahoma"/>
                <a:cs typeface="Tahoma"/>
              </a:rPr>
              <a:t>dimensional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discrete</a:t>
            </a:r>
            <a:r>
              <a:rPr dirty="0" sz="2800" spc="-7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Tahoma"/>
                <a:cs typeface="Tahoma"/>
              </a:rPr>
              <a:t>map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2400" spc="165" b="1">
                <a:latin typeface="Times New Roman"/>
                <a:cs typeface="Times New Roman"/>
              </a:rPr>
              <a:t>Two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 spc="90" b="1">
                <a:latin typeface="Times New Roman"/>
                <a:cs typeface="Times New Roman"/>
              </a:rPr>
              <a:t>possible</a:t>
            </a:r>
            <a:r>
              <a:rPr dirty="0" sz="2400" spc="380" b="1">
                <a:latin typeface="Times New Roman"/>
                <a:cs typeface="Times New Roman"/>
              </a:rPr>
              <a:t> </a:t>
            </a:r>
            <a:r>
              <a:rPr dirty="0" sz="2400" spc="150" b="1">
                <a:latin typeface="Times New Roman"/>
                <a:cs typeface="Times New Roman"/>
              </a:rPr>
              <a:t>architectures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383" y="4287012"/>
            <a:ext cx="2753098" cy="205776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1807" y="3429000"/>
            <a:ext cx="3908885" cy="317493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 spc="-25"/>
              <a:t>SOM</a:t>
            </a:r>
            <a:endParaRPr sz="44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26415" y="2185784"/>
            <a:ext cx="7759700" cy="334962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marR="92710" indent="-3429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idea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SOM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transform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an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Tahoma"/>
                <a:cs typeface="Tahoma"/>
              </a:rPr>
              <a:t>of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arbitrary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dimension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into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1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or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r>
              <a:rPr dirty="0" sz="2800" spc="-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0000FF"/>
                </a:solidFill>
                <a:latin typeface="Tahoma"/>
                <a:cs typeface="Tahoma"/>
              </a:rPr>
              <a:t>dimensional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discrete</a:t>
            </a:r>
            <a:r>
              <a:rPr dirty="0" sz="2800" spc="-7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Tahoma"/>
                <a:cs typeface="Tahoma"/>
              </a:rPr>
              <a:t>map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79900"/>
              </a:lnSpc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Again,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2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layers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neurons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inputs </a:t>
            </a:r>
            <a:r>
              <a:rPr dirty="0" sz="2800">
                <a:latin typeface="Tahoma"/>
                <a:cs typeface="Tahoma"/>
              </a:rPr>
              <a:t>connecting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output.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neurons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are </a:t>
            </a:r>
            <a:r>
              <a:rPr dirty="0" sz="2800">
                <a:latin typeface="Tahoma"/>
                <a:cs typeface="Tahoma"/>
              </a:rPr>
              <a:t>held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(usually)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2D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lattice,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where </a:t>
            </a:r>
            <a:r>
              <a:rPr dirty="0" sz="2800">
                <a:latin typeface="Tahoma"/>
                <a:cs typeface="Tahoma"/>
              </a:rPr>
              <a:t>position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lattice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defines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distance </a:t>
            </a:r>
            <a:r>
              <a:rPr dirty="0" sz="2800">
                <a:latin typeface="Tahoma"/>
                <a:cs typeface="Tahoma"/>
              </a:rPr>
              <a:t>between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neurons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 spc="-25"/>
              <a:t>SOM</a:t>
            </a:r>
            <a:endParaRPr sz="4400"/>
          </a:p>
        </p:txBody>
      </p:sp>
      <p:sp>
        <p:nvSpPr>
          <p:cNvPr id="3" name="object 3" descr=""/>
          <p:cNvSpPr/>
          <p:nvPr/>
        </p:nvSpPr>
        <p:spPr>
          <a:xfrm>
            <a:off x="447675" y="1775053"/>
            <a:ext cx="8496300" cy="4894580"/>
          </a:xfrm>
          <a:custGeom>
            <a:avLst/>
            <a:gdLst/>
            <a:ahLst/>
            <a:cxnLst/>
            <a:rect l="l" t="t" r="r" b="b"/>
            <a:pathLst>
              <a:path w="8496300" h="4894580">
                <a:moveTo>
                  <a:pt x="8496300" y="0"/>
                </a:moveTo>
                <a:lnTo>
                  <a:pt x="0" y="0"/>
                </a:lnTo>
                <a:lnTo>
                  <a:pt x="0" y="4894313"/>
                </a:lnTo>
                <a:lnTo>
                  <a:pt x="8496300" y="4894313"/>
                </a:lnTo>
                <a:lnTo>
                  <a:pt x="8496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26415" y="1737588"/>
            <a:ext cx="8164830" cy="462470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3695" marR="1386205" indent="-340995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Once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weights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initialized,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algorithm </a:t>
            </a:r>
            <a:r>
              <a:rPr dirty="0" sz="2800" spc="-10">
                <a:latin typeface="Tahoma"/>
                <a:cs typeface="Tahoma"/>
              </a:rPr>
              <a:t>	</a:t>
            </a:r>
            <a:r>
              <a:rPr dirty="0" sz="2800">
                <a:latin typeface="Tahoma"/>
                <a:cs typeface="Tahoma"/>
              </a:rPr>
              <a:t>comprises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3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processes:</a:t>
            </a:r>
            <a:endParaRPr sz="2800">
              <a:latin typeface="Tahoma"/>
              <a:cs typeface="Tahoma"/>
            </a:endParaRPr>
          </a:p>
          <a:p>
            <a:pPr algn="just" marL="353695" indent="-340995">
              <a:lnSpc>
                <a:spcPts val="3345"/>
              </a:lnSpc>
              <a:buClr>
                <a:srgbClr val="3333CC"/>
              </a:buClr>
              <a:buSzPct val="58928"/>
              <a:buChar char="■"/>
              <a:tabLst>
                <a:tab pos="353695" algn="l"/>
              </a:tabLst>
            </a:pP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1.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 Competition</a:t>
            </a:r>
            <a:endParaRPr sz="2800">
              <a:latin typeface="Tahoma"/>
              <a:cs typeface="Tahoma"/>
            </a:endParaRPr>
          </a:p>
          <a:p>
            <a:pPr algn="just" lvl="1" marL="755650" marR="5080" indent="-285750">
              <a:lnSpc>
                <a:spcPct val="79900"/>
              </a:lnSpc>
              <a:spcBef>
                <a:spcPts val="570"/>
              </a:spcBef>
              <a:buSzPct val="54166"/>
              <a:buChar char="■"/>
              <a:tabLst>
                <a:tab pos="755650" algn="l"/>
                <a:tab pos="757555" algn="l"/>
              </a:tabLst>
            </a:pP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Given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compete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is </a:t>
            </a:r>
            <a:r>
              <a:rPr dirty="0" sz="2400">
                <a:latin typeface="Tahoma"/>
                <a:cs typeface="Tahoma"/>
              </a:rPr>
              <a:t>winner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based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discriminant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(e.g.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similarity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vector)</a:t>
            </a:r>
            <a:endParaRPr sz="2400">
              <a:latin typeface="Tahoma"/>
              <a:cs typeface="Tahoma"/>
            </a:endParaRPr>
          </a:p>
          <a:p>
            <a:pPr algn="just" marL="353695" indent="-340995">
              <a:lnSpc>
                <a:spcPts val="3350"/>
              </a:lnSpc>
              <a:spcBef>
                <a:spcPts val="10"/>
              </a:spcBef>
              <a:buClr>
                <a:srgbClr val="3333CC"/>
              </a:buClr>
              <a:buSzPct val="58928"/>
              <a:buChar char="■"/>
              <a:tabLst>
                <a:tab pos="353695" algn="l"/>
              </a:tabLst>
            </a:pP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2.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 Cooperation</a:t>
            </a:r>
            <a:endParaRPr sz="2800">
              <a:latin typeface="Tahoma"/>
              <a:cs typeface="Tahoma"/>
            </a:endParaRPr>
          </a:p>
          <a:p>
            <a:pPr lvl="1" marL="755650" marR="78740" indent="-285750">
              <a:lnSpc>
                <a:spcPct val="79900"/>
              </a:lnSpc>
              <a:spcBef>
                <a:spcPts val="56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Winning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determines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spatial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location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topological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neighborhood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within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neurons excited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ts val="3350"/>
              </a:lnSpc>
              <a:spcBef>
                <a:spcPts val="1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3.</a:t>
            </a:r>
            <a:r>
              <a:rPr dirty="0" sz="28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Synaptic</a:t>
            </a:r>
            <a:r>
              <a:rPr dirty="0" sz="28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Adaptation</a:t>
            </a:r>
            <a:endParaRPr sz="2800">
              <a:latin typeface="Tahoma"/>
              <a:cs typeface="Tahoma"/>
            </a:endParaRPr>
          </a:p>
          <a:p>
            <a:pPr lvl="1" marL="755650" marR="248285" indent="-285750">
              <a:lnSpc>
                <a:spcPct val="79900"/>
              </a:lnSpc>
              <a:spcBef>
                <a:spcPts val="570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Excite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adapt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value</a:t>
            </a:r>
            <a:r>
              <a:rPr dirty="0" sz="2400" spc="-25">
                <a:latin typeface="Tahoma"/>
                <a:cs typeface="Tahoma"/>
              </a:rPr>
              <a:t> of </a:t>
            </a:r>
            <a:r>
              <a:rPr dirty="0" sz="2400">
                <a:latin typeface="Tahoma"/>
                <a:cs typeface="Tahoma"/>
              </a:rPr>
              <a:t>discriminant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increases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(a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similar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would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69364" y="6263233"/>
            <a:ext cx="5650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result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enhanced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response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winner)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15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62304" y="2212225"/>
            <a:ext cx="7588250" cy="3707129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571500" indent="-342900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375"/>
              <a:buChar char="■"/>
              <a:tabLst>
                <a:tab pos="571500" algn="l"/>
              </a:tabLst>
            </a:pPr>
            <a:r>
              <a:rPr dirty="0" sz="3200" spc="-10">
                <a:latin typeface="Tahoma"/>
                <a:cs typeface="Tahoma"/>
              </a:rPr>
              <a:t>Competition</a:t>
            </a:r>
            <a:endParaRPr sz="3200">
              <a:latin typeface="Tahoma"/>
              <a:cs typeface="Tahoma"/>
            </a:endParaRPr>
          </a:p>
          <a:p>
            <a:pPr marL="571500" indent="-342900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Char char="■"/>
              <a:tabLst>
                <a:tab pos="571500" algn="l"/>
              </a:tabLst>
            </a:pPr>
            <a:r>
              <a:rPr dirty="0" sz="3200" spc="-10">
                <a:latin typeface="Tahoma"/>
                <a:cs typeface="Tahoma"/>
              </a:rPr>
              <a:t>Cooperation</a:t>
            </a:r>
            <a:endParaRPr sz="3200">
              <a:latin typeface="Tahoma"/>
              <a:cs typeface="Tahoma"/>
            </a:endParaRPr>
          </a:p>
          <a:p>
            <a:pPr marL="571500" indent="-342900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Char char="■"/>
              <a:tabLst>
                <a:tab pos="571500" algn="l"/>
              </a:tabLst>
            </a:pPr>
            <a:r>
              <a:rPr dirty="0" sz="3200">
                <a:latin typeface="Tahoma"/>
                <a:cs typeface="Tahoma"/>
              </a:rPr>
              <a:t>Synaptic</a:t>
            </a:r>
            <a:r>
              <a:rPr dirty="0" sz="3200" spc="-13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Adaptation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Learning</a:t>
            </a:r>
            <a:r>
              <a:rPr dirty="0" sz="2800" spc="-8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ahoma"/>
                <a:cs typeface="Tahoma"/>
              </a:rPr>
              <a:t>Principle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dirty="0" sz="2800">
                <a:latin typeface="Tahoma"/>
                <a:cs typeface="Tahoma"/>
              </a:rPr>
              <a:t>Competitive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learning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where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winning</a:t>
            </a:r>
            <a:r>
              <a:rPr dirty="0" sz="2800" spc="-10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”spills</a:t>
            </a:r>
            <a:r>
              <a:rPr dirty="0" sz="2800" spc="-11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over”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neighbors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SOM</a:t>
            </a:r>
            <a:r>
              <a:rPr dirty="0" sz="4400" spc="-75"/>
              <a:t> </a:t>
            </a:r>
            <a:r>
              <a:rPr dirty="0" sz="4400"/>
              <a:t>Training</a:t>
            </a:r>
            <a:r>
              <a:rPr dirty="0" sz="4400" spc="-70"/>
              <a:t> </a:t>
            </a:r>
            <a:r>
              <a:rPr dirty="0" sz="4400" spc="-10"/>
              <a:t>Algorithm</a:t>
            </a:r>
            <a:endParaRPr sz="4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4313" y="2395588"/>
            <a:ext cx="720407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Grid: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size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structure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fixed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priori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(most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of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times,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2-</a:t>
            </a:r>
            <a:r>
              <a:rPr dirty="0" sz="2800">
                <a:latin typeface="Tahoma"/>
                <a:cs typeface="Tahoma"/>
              </a:rPr>
              <a:t>dimensional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grid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used)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Initialization</a:t>
            </a:r>
            <a:endParaRPr sz="4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683" y="2199132"/>
            <a:ext cx="2884931" cy="232867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07365" y="4898681"/>
            <a:ext cx="7912734" cy="151828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655"/>
              </a:spcBef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continuous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input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space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activation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patterns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is </a:t>
            </a:r>
            <a:r>
              <a:rPr dirty="0" sz="2800">
                <a:latin typeface="Tahoma"/>
                <a:cs typeface="Tahoma"/>
              </a:rPr>
              <a:t>mapped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discrete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space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neurons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process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competition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among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neurons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in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10784" y="2362174"/>
            <a:ext cx="269049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Winner</a:t>
            </a:r>
            <a:r>
              <a:rPr dirty="0" sz="2800" spc="-6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ahoma"/>
                <a:cs typeface="Tahoma"/>
              </a:rPr>
              <a:t>neuron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Competitive</a:t>
            </a:r>
            <a:r>
              <a:rPr dirty="0" sz="4400" spc="-105"/>
              <a:t> </a:t>
            </a:r>
            <a:r>
              <a:rPr dirty="0" sz="4400" spc="-10"/>
              <a:t>Process</a:t>
            </a:r>
            <a:endParaRPr sz="4400"/>
          </a:p>
        </p:txBody>
      </p:sp>
      <p:sp>
        <p:nvSpPr>
          <p:cNvPr id="6" name="object 6" descr=""/>
          <p:cNvSpPr txBox="1"/>
          <p:nvPr/>
        </p:nvSpPr>
        <p:spPr>
          <a:xfrm>
            <a:off x="4192904" y="3218179"/>
            <a:ext cx="3708400" cy="9931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906144" algn="l"/>
                <a:tab pos="1261110" algn="l"/>
                <a:tab pos="1610360" algn="l"/>
              </a:tabLst>
            </a:pPr>
            <a:r>
              <a:rPr dirty="0" sz="2350" spc="-25">
                <a:latin typeface="Cambria"/>
                <a:cs typeface="Cambria"/>
              </a:rPr>
              <a:t>(1)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800">
                <a:latin typeface="Cambria"/>
                <a:cs typeface="Cambria"/>
              </a:rPr>
              <a:t/>
            </a:r>
            <a:r>
              <a:rPr dirty="0" baseline="49019" sz="2550" spc="-1200">
                <a:latin typeface="Cambria"/>
                <a:cs typeface="Cambria"/>
              </a:rPr>
              <a:t>∗</a:t>
            </a:r>
            <a:r>
              <a:rPr dirty="0" baseline="49019" sz="2550">
                <a:latin typeface="Cambria"/>
                <a:cs typeface="Cambria"/>
              </a:rPr>
              <a:t>	</a:t>
            </a:r>
            <a:r>
              <a:rPr dirty="0" sz="2350" spc="390">
                <a:latin typeface="Cambria"/>
                <a:cs typeface="Cambria"/>
              </a:rPr>
              <a:t>=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975">
                <a:latin typeface="Cambria"/>
                <a:cs typeface="Cambria"/>
              </a:rPr>
              <a:t>𝑎𝑟𝑔</a:t>
            </a:r>
            <a:r>
              <a:rPr dirty="0" sz="2350" spc="415">
                <a:latin typeface="Cambria"/>
                <a:cs typeface="Cambria"/>
              </a:rPr>
              <a:t> </a:t>
            </a:r>
            <a:r>
              <a:rPr dirty="0" sz="2350" spc="140">
                <a:latin typeface="Cambria"/>
                <a:cs typeface="Cambria"/>
              </a:rPr>
              <a:t>(</a:t>
            </a:r>
            <a:r>
              <a:rPr dirty="0" sz="2350" spc="50">
                <a:latin typeface="Cambria"/>
                <a:cs typeface="Cambria"/>
              </a:rPr>
              <a:t> </a:t>
            </a:r>
            <a:r>
              <a:rPr dirty="0" sz="2350" spc="-560">
                <a:latin typeface="Cambria"/>
                <a:cs typeface="Cambria"/>
              </a:rPr>
              <a:t/>
            </a:r>
            <a:r>
              <a:rPr dirty="0" baseline="49019" sz="2550" spc="-839">
                <a:latin typeface="Cambria"/>
                <a:cs typeface="Cambria"/>
              </a:rPr>
              <a:t/>
            </a:r>
            <a:r>
              <a:rPr dirty="0" sz="2350" spc="-560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1989"/>
              </a:spcBef>
            </a:pPr>
            <a:r>
              <a:rPr dirty="0" sz="2350" spc="-25">
                <a:latin typeface="Cambria"/>
                <a:cs typeface="Cambria"/>
              </a:rPr>
              <a:t>(2)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48884" y="3222194"/>
            <a:ext cx="2499360" cy="104013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1816735">
              <a:lnSpc>
                <a:spcPct val="100000"/>
              </a:lnSpc>
              <a:spcBef>
                <a:spcPts val="1240"/>
              </a:spcBef>
              <a:tabLst>
                <a:tab pos="2359660" algn="l"/>
              </a:tabLst>
            </a:pPr>
            <a:r>
              <a:rPr dirty="0" sz="1700" spc="-969">
                <a:latin typeface="Cambria"/>
                <a:cs typeface="Cambria"/>
              </a:rPr>
              <a:t/>
            </a:r>
            <a:r>
              <a:rPr dirty="0" sz="1700">
                <a:latin typeface="Cambria"/>
                <a:cs typeface="Cambria"/>
              </a:rPr>
              <a:t>	</a:t>
            </a:r>
            <a:r>
              <a:rPr dirty="0" sz="1700" spc="-969">
                <a:latin typeface="Cambria"/>
                <a:cs typeface="Cambria"/>
              </a:rPr>
              <a:t/>
            </a:r>
            <a:endParaRPr sz="1700">
              <a:latin typeface="Cambria"/>
              <a:cs typeface="Cambria"/>
            </a:endParaRPr>
          </a:p>
          <a:p>
            <a:pPr marL="50800">
              <a:lnSpc>
                <a:spcPts val="2000"/>
              </a:lnSpc>
              <a:spcBef>
                <a:spcPts val="1585"/>
              </a:spcBef>
              <a:tabLst>
                <a:tab pos="405130" algn="l"/>
                <a:tab pos="754380" algn="l"/>
              </a:tabLst>
            </a:pPr>
            <a:r>
              <a:rPr dirty="0" sz="2350" spc="-800">
                <a:latin typeface="Cambria"/>
                <a:cs typeface="Cambria"/>
              </a:rPr>
              <a:t/>
            </a:r>
            <a:r>
              <a:rPr dirty="0" baseline="49019" sz="2550" spc="-1200">
                <a:latin typeface="Cambria"/>
                <a:cs typeface="Cambria"/>
              </a:rPr>
              <a:t>∗</a:t>
            </a:r>
            <a:r>
              <a:rPr dirty="0" baseline="49019" sz="2550">
                <a:latin typeface="Cambria"/>
                <a:cs typeface="Cambria"/>
              </a:rPr>
              <a:t>	</a:t>
            </a:r>
            <a:r>
              <a:rPr dirty="0" sz="2350" spc="390">
                <a:latin typeface="Cambria"/>
                <a:cs typeface="Cambria"/>
              </a:rPr>
              <a:t>=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1050">
                <a:latin typeface="Cambria"/>
                <a:cs typeface="Cambria"/>
              </a:rPr>
              <a:t>𝑎𝑟𝑔</a:t>
            </a:r>
            <a:r>
              <a:rPr dirty="0" sz="2350" spc="420">
                <a:latin typeface="Cambria"/>
                <a:cs typeface="Cambria"/>
              </a:rPr>
              <a:t> </a:t>
            </a:r>
            <a:r>
              <a:rPr dirty="0" sz="2350" spc="90">
                <a:latin typeface="Cambria"/>
                <a:cs typeface="Cambria"/>
              </a:rPr>
              <a:t>(</a:t>
            </a:r>
            <a:endParaRPr sz="2350">
              <a:latin typeface="Cambria"/>
              <a:cs typeface="Cambria"/>
            </a:endParaRPr>
          </a:p>
          <a:p>
            <a:pPr marL="1757680">
              <a:lnSpc>
                <a:spcPts val="1220"/>
              </a:lnSpc>
            </a:pPr>
            <a:r>
              <a:rPr dirty="0" sz="1700" spc="-969">
                <a:latin typeface="Cambria"/>
                <a:cs typeface="Cambria"/>
              </a:rPr>
              <a:t/>
            </a:r>
            <a:endParaRPr sz="1700">
              <a:latin typeface="Cambria"/>
              <a:cs typeface="Cambr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65340" y="3872229"/>
            <a:ext cx="88900" cy="36195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1200" y="3872229"/>
            <a:ext cx="88900" cy="36195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7320915" y="3829050"/>
            <a:ext cx="1388745" cy="3822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216025" algn="l"/>
              </a:tabLst>
            </a:pPr>
            <a:r>
              <a:rPr dirty="0" sz="2350" spc="-1130">
                <a:latin typeface="Cambria"/>
                <a:cs typeface="Cambria"/>
              </a:rPr>
              <a:t/>
            </a:r>
            <a:r>
              <a:rPr dirty="0" sz="2350" spc="280">
                <a:latin typeface="Cambria"/>
                <a:cs typeface="Cambria"/>
              </a:rPr>
              <a:t> </a:t>
            </a:r>
            <a:r>
              <a:rPr dirty="0" sz="2350" spc="440">
                <a:latin typeface="Cambria"/>
                <a:cs typeface="Cambria"/>
              </a:rPr>
              <a:t>−</a:t>
            </a:r>
            <a:r>
              <a:rPr dirty="0" sz="2350" spc="285">
                <a:latin typeface="Cambria"/>
                <a:cs typeface="Cambria"/>
              </a:rPr>
              <a:t> </a:t>
            </a:r>
            <a:r>
              <a:rPr dirty="0" sz="2350" spc="-805">
                <a:latin typeface="Cambria"/>
                <a:cs typeface="Cambria"/>
              </a:rPr>
              <a:t/>
            </a:r>
            <a:r>
              <a:rPr dirty="0" baseline="-17973" sz="2550" spc="-1207">
                <a:latin typeface="Cambria"/>
                <a:cs typeface="Cambria"/>
              </a:rPr>
              <a:t/>
            </a:r>
            <a:r>
              <a:rPr dirty="0" baseline="-17973" sz="2550">
                <a:latin typeface="Cambria"/>
                <a:cs typeface="Cambria"/>
              </a:rPr>
              <a:t>	</a:t>
            </a:r>
            <a:r>
              <a:rPr dirty="0" sz="2350" spc="90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6277" y="2582064"/>
            <a:ext cx="5669915" cy="296672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2880"/>
              </a:lnSpc>
              <a:spcBef>
                <a:spcPts val="315"/>
              </a:spcBef>
            </a:pPr>
            <a:r>
              <a:rPr dirty="0" sz="2500" spc="-295" b="1" i="1">
                <a:solidFill>
                  <a:srgbClr val="0000FF"/>
                </a:solidFill>
                <a:latin typeface="Verdana"/>
                <a:cs typeface="Verdana"/>
              </a:rPr>
              <a:t>“</a:t>
            </a:r>
            <a:r>
              <a:rPr dirty="0" sz="2500" spc="-15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dirty="0" sz="2400" spc="-12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winning</a:t>
            </a:r>
            <a:r>
              <a:rPr dirty="0" sz="2400" spc="-6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neuron</a:t>
            </a:r>
            <a:r>
              <a:rPr dirty="0" sz="24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locates</a:t>
            </a:r>
            <a:r>
              <a:rPr dirty="0" sz="24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FF"/>
                </a:solidFill>
                <a:latin typeface="Tahoma"/>
                <a:cs typeface="Tahoma"/>
              </a:rPr>
              <a:t>the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center</a:t>
            </a:r>
            <a:r>
              <a:rPr dirty="0" sz="24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dirty="0" sz="24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dirty="0" sz="24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topological</a:t>
            </a:r>
            <a:r>
              <a:rPr dirty="0" sz="2400" spc="-6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Tahoma"/>
                <a:cs typeface="Tahoma"/>
              </a:rPr>
              <a:t>neighborhood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dirty="0" sz="2400" spc="-8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cooperating</a:t>
            </a:r>
            <a:r>
              <a:rPr dirty="0" sz="2400" spc="-8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Tahoma"/>
                <a:cs typeface="Tahoma"/>
              </a:rPr>
              <a:t>neurons”</a:t>
            </a:r>
            <a:endParaRPr sz="2400">
              <a:latin typeface="Tahoma"/>
              <a:cs typeface="Tahoma"/>
            </a:endParaRPr>
          </a:p>
          <a:p>
            <a:pPr marL="12700" marR="240665">
              <a:lnSpc>
                <a:spcPts val="2880"/>
              </a:lnSpc>
              <a:spcBef>
                <a:spcPts val="2880"/>
              </a:spcBef>
            </a:pPr>
            <a:r>
              <a:rPr dirty="0" sz="2500" spc="-295" b="1" i="1">
                <a:solidFill>
                  <a:srgbClr val="0000FF"/>
                </a:solidFill>
                <a:latin typeface="Verdana"/>
                <a:cs typeface="Verdana"/>
              </a:rPr>
              <a:t>“</a:t>
            </a:r>
            <a:r>
              <a:rPr dirty="0" sz="2500" spc="-150" b="1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…</a:t>
            </a:r>
            <a:r>
              <a:rPr dirty="0" sz="2400" spc="-8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a</a:t>
            </a:r>
            <a:r>
              <a:rPr dirty="0" sz="24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neuron</a:t>
            </a:r>
            <a:r>
              <a:rPr dirty="0" sz="2400" spc="-4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that</a:t>
            </a:r>
            <a:r>
              <a:rPr dirty="0" sz="2400" spc="-4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is</a:t>
            </a:r>
            <a:r>
              <a:rPr dirty="0" sz="24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firing</a:t>
            </a:r>
            <a:r>
              <a:rPr dirty="0" sz="2400" spc="-4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tends</a:t>
            </a:r>
            <a:r>
              <a:rPr dirty="0" sz="2400" spc="-4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FF"/>
                </a:solidFill>
                <a:latin typeface="Tahoma"/>
                <a:cs typeface="Tahoma"/>
              </a:rPr>
              <a:t>to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excite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neurons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in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its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Tahoma"/>
                <a:cs typeface="Tahoma"/>
              </a:rPr>
              <a:t>immediate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neighborhood</a:t>
            </a:r>
            <a:r>
              <a:rPr dirty="0" sz="2400" spc="-9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more</a:t>
            </a:r>
            <a:r>
              <a:rPr dirty="0" sz="2400" spc="-9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than</a:t>
            </a:r>
            <a:r>
              <a:rPr dirty="0" sz="2400" spc="-9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Tahoma"/>
                <a:cs typeface="Tahoma"/>
              </a:rPr>
              <a:t>those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further</a:t>
            </a:r>
            <a:r>
              <a:rPr dirty="0" sz="2400" spc="-5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away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from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it</a:t>
            </a:r>
            <a:r>
              <a:rPr dirty="0" sz="2400" spc="-5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FF"/>
                </a:solidFill>
                <a:latin typeface="Tahoma"/>
                <a:cs typeface="Tahoma"/>
              </a:rPr>
              <a:t>…”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8464" y="3811907"/>
            <a:ext cx="3006709" cy="14984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Cooperative</a:t>
            </a:r>
            <a:r>
              <a:rPr dirty="0" sz="4400" spc="-145"/>
              <a:t> </a:t>
            </a:r>
            <a:r>
              <a:rPr dirty="0" sz="4400" spc="-10"/>
              <a:t>Process</a:t>
            </a:r>
            <a:endParaRPr sz="4400"/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15" y="4729009"/>
            <a:ext cx="2752725" cy="137193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20511" y="4221480"/>
            <a:ext cx="3294713" cy="209177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77190" y="2217015"/>
            <a:ext cx="7704455" cy="186943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ts val="2990"/>
              </a:lnSpc>
              <a:spcBef>
                <a:spcPts val="120"/>
              </a:spcBef>
            </a:pPr>
            <a:r>
              <a:rPr dirty="0" sz="2400" b="1">
                <a:latin typeface="Tahoma"/>
                <a:cs typeface="Tahoma"/>
              </a:rPr>
              <a:t>The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topological</a:t>
            </a:r>
            <a:r>
              <a:rPr dirty="0" sz="2400" spc="-12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neighborhood</a:t>
            </a:r>
            <a:r>
              <a:rPr dirty="0" sz="2400" spc="-120" b="1">
                <a:latin typeface="Tahoma"/>
                <a:cs typeface="Tahoma"/>
              </a:rPr>
              <a:t> </a:t>
            </a:r>
            <a:r>
              <a:rPr dirty="0" sz="2500" spc="-20" b="1" i="1">
                <a:latin typeface="Verdana"/>
                <a:cs typeface="Verdana"/>
              </a:rPr>
              <a:t>h</a:t>
            </a:r>
            <a:r>
              <a:rPr dirty="0" baseline="-17361" sz="2400" spc="-30" b="1" i="1">
                <a:latin typeface="Verdana"/>
                <a:cs typeface="Verdana"/>
              </a:rPr>
              <a:t>j,i</a:t>
            </a:r>
            <a:endParaRPr baseline="-17361" sz="2400">
              <a:latin typeface="Verdana"/>
              <a:cs typeface="Verdana"/>
            </a:endParaRPr>
          </a:p>
          <a:p>
            <a:pPr marL="838200" marR="30480" indent="-342900">
              <a:lnSpc>
                <a:spcPts val="2880"/>
              </a:lnSpc>
              <a:spcBef>
                <a:spcPts val="85"/>
              </a:spcBef>
              <a:buChar char="▪"/>
              <a:tabLst>
                <a:tab pos="838200" algn="l"/>
              </a:tabLst>
            </a:pPr>
            <a:r>
              <a:rPr dirty="0" sz="2400">
                <a:latin typeface="Tahoma"/>
                <a:cs typeface="Tahoma"/>
              </a:rPr>
              <a:t>symmetric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around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winning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achieve </a:t>
            </a:r>
            <a:r>
              <a:rPr dirty="0" sz="2400">
                <a:latin typeface="Tahoma"/>
                <a:cs typeface="Tahoma"/>
              </a:rPr>
              <a:t>its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maximum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value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winning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neuron</a:t>
            </a:r>
            <a:endParaRPr sz="2400">
              <a:latin typeface="Tahoma"/>
              <a:cs typeface="Tahoma"/>
            </a:endParaRPr>
          </a:p>
          <a:p>
            <a:pPr marL="838200" marR="434340" indent="-342900">
              <a:lnSpc>
                <a:spcPts val="2880"/>
              </a:lnSpc>
              <a:buChar char="▪"/>
              <a:tabLst>
                <a:tab pos="83820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amplitude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decreases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monotonically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increasing</a:t>
            </a:r>
            <a:r>
              <a:rPr dirty="0" sz="2400" spc="-8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lateral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distance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3211233" y="5316791"/>
            <a:ext cx="201930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i="1">
                <a:latin typeface="Times New Roman"/>
                <a:cs typeface="Times New Roman"/>
              </a:rPr>
              <a:t>j</a:t>
            </a:r>
            <a:r>
              <a:rPr dirty="0" sz="1500" spc="-229" i="1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,</a:t>
            </a:r>
            <a:r>
              <a:rPr dirty="0" sz="1500" spc="-25" i="1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30254" y="4691227"/>
            <a:ext cx="38354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4572" sz="3900" i="1">
                <a:latin typeface="Times New Roman"/>
                <a:cs typeface="Times New Roman"/>
              </a:rPr>
              <a:t>d</a:t>
            </a:r>
            <a:r>
              <a:rPr dirty="0" baseline="-24572" sz="3900" spc="-450" i="1">
                <a:latin typeface="Times New Roman"/>
                <a:cs typeface="Times New Roman"/>
              </a:rPr>
              <a:t> </a:t>
            </a:r>
            <a:r>
              <a:rPr dirty="0" sz="1500" spc="-5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73461" y="4821948"/>
            <a:ext cx="118237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42035" algn="l"/>
              </a:tabLst>
            </a:pPr>
            <a:r>
              <a:rPr dirty="0" sz="2600" spc="85">
                <a:latin typeface="Times New Roman"/>
                <a:cs typeface="Times New Roman"/>
              </a:rPr>
              <a:t>(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664">
                <a:latin typeface="Times New Roman"/>
                <a:cs typeface="Times New Roman"/>
              </a:rPr>
              <a:t>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00565" y="5092903"/>
            <a:ext cx="2480945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516255" algn="l"/>
                <a:tab pos="1983739" algn="l"/>
              </a:tabLst>
            </a:pPr>
            <a:r>
              <a:rPr dirty="0" sz="2600" spc="-50" i="1">
                <a:latin typeface="Times New Roman"/>
                <a:cs typeface="Times New Roman"/>
              </a:rPr>
              <a:t>h</a:t>
            </a:r>
            <a:r>
              <a:rPr dirty="0" sz="2600" i="1">
                <a:latin typeface="Times New Roman"/>
                <a:cs typeface="Times New Roman"/>
              </a:rPr>
              <a:t>	</a:t>
            </a: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335">
                <a:latin typeface="Times New Roman"/>
                <a:cs typeface="Times New Roman"/>
              </a:rPr>
              <a:t>exp</a:t>
            </a:r>
            <a:r>
              <a:rPr dirty="0" baseline="-29914" sz="3900" spc="-502">
                <a:latin typeface="Times New Roman"/>
                <a:cs typeface="Times New Roman"/>
              </a:rPr>
              <a:t></a:t>
            </a:r>
            <a:r>
              <a:rPr dirty="0" baseline="-29914" sz="3900" spc="-397">
                <a:latin typeface="Times New Roman"/>
                <a:cs typeface="Times New Roman"/>
              </a:rPr>
              <a:t> </a:t>
            </a:r>
            <a:r>
              <a:rPr dirty="0" sz="2600" spc="130">
                <a:latin typeface="Times New Roman"/>
                <a:cs typeface="Times New Roman"/>
              </a:rPr>
              <a:t>–</a:t>
            </a:r>
            <a:r>
              <a:rPr dirty="0" sz="2600" spc="-170">
                <a:latin typeface="Times New Roman"/>
                <a:cs typeface="Times New Roman"/>
              </a:rPr>
              <a:t> </a:t>
            </a:r>
            <a:r>
              <a:rPr dirty="0" u="heavy" baseline="48148" sz="22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j</a:t>
            </a:r>
            <a:r>
              <a:rPr dirty="0" baseline="48148" sz="2250" spc="-352" i="1">
                <a:latin typeface="Times New Roman"/>
                <a:cs typeface="Times New Roman"/>
              </a:rPr>
              <a:t> </a:t>
            </a:r>
            <a:r>
              <a:rPr dirty="0" u="heavy" baseline="48148" sz="2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baseline="48148" sz="22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baseline="48148" sz="2250" spc="89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baseline="48148" sz="2250" i="1">
                <a:latin typeface="Times New Roman"/>
                <a:cs typeface="Times New Roman"/>
              </a:rPr>
              <a:t> </a:t>
            </a:r>
            <a:r>
              <a:rPr dirty="0" baseline="-29914" sz="3900" spc="-2497">
                <a:latin typeface="Times New Roman"/>
                <a:cs typeface="Times New Roman"/>
              </a:rPr>
              <a:t></a:t>
            </a:r>
            <a:endParaRPr baseline="-29914" sz="3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73461" y="5478132"/>
            <a:ext cx="153035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1664">
                <a:latin typeface="Times New Roman"/>
                <a:cs typeface="Times New Roman"/>
              </a:rPr>
              <a:t>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77448" y="5335694"/>
            <a:ext cx="803910" cy="443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600">
                <a:latin typeface="Times New Roman"/>
                <a:cs typeface="Times New Roman"/>
              </a:rPr>
              <a:t>2</a:t>
            </a:r>
            <a:r>
              <a:rPr dirty="0" sz="2750" i="1">
                <a:latin typeface="Times New Roman"/>
                <a:cs typeface="Times New Roman"/>
              </a:rPr>
              <a:t>σ</a:t>
            </a:r>
            <a:r>
              <a:rPr dirty="0" sz="2750" spc="-180" i="1">
                <a:latin typeface="Times New Roman"/>
                <a:cs typeface="Times New Roman"/>
              </a:rPr>
              <a:t> </a:t>
            </a:r>
            <a:r>
              <a:rPr dirty="0" baseline="42592" sz="2250">
                <a:latin typeface="Times New Roman"/>
                <a:cs typeface="Times New Roman"/>
              </a:rPr>
              <a:t>2</a:t>
            </a:r>
            <a:r>
              <a:rPr dirty="0" baseline="42592" sz="2250" spc="615">
                <a:latin typeface="Times New Roman"/>
                <a:cs typeface="Times New Roman"/>
              </a:rPr>
              <a:t> </a:t>
            </a:r>
            <a:r>
              <a:rPr dirty="0" baseline="-21367" sz="3900" spc="-2497">
                <a:latin typeface="Times New Roman"/>
                <a:cs typeface="Times New Roman"/>
              </a:rPr>
              <a:t></a:t>
            </a:r>
            <a:endParaRPr baseline="-21367" sz="3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Cooperative</a:t>
            </a:r>
            <a:r>
              <a:rPr dirty="0" sz="4400" spc="-145"/>
              <a:t> </a:t>
            </a:r>
            <a:r>
              <a:rPr dirty="0" sz="4400" spc="-10"/>
              <a:t>Process</a:t>
            </a:r>
            <a:endParaRPr sz="4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3402" y="2508184"/>
            <a:ext cx="7148830" cy="899794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80365" marR="30480" indent="-342900">
              <a:lnSpc>
                <a:spcPts val="3360"/>
              </a:lnSpc>
              <a:spcBef>
                <a:spcPts val="345"/>
              </a:spcBef>
              <a:buClr>
                <a:srgbClr val="3333CC"/>
              </a:buClr>
              <a:buSzPct val="75000"/>
              <a:buChar char="■"/>
              <a:tabLst>
                <a:tab pos="380365" algn="l"/>
                <a:tab pos="6009640" algn="l"/>
              </a:tabLst>
            </a:pP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topological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ahoma"/>
                <a:cs typeface="Tahoma"/>
              </a:rPr>
              <a:t>neighborhood</a:t>
            </a:r>
            <a:r>
              <a:rPr dirty="0" sz="2800" spc="-1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900" spc="-20" i="1">
                <a:latin typeface="Verdana"/>
                <a:cs typeface="Verdana"/>
              </a:rPr>
              <a:t>h</a:t>
            </a:r>
            <a:r>
              <a:rPr dirty="0" baseline="-16081" sz="2850" spc="-30" i="1">
                <a:latin typeface="Verdana"/>
                <a:cs typeface="Verdana"/>
              </a:rPr>
              <a:t>j,i</a:t>
            </a:r>
            <a:r>
              <a:rPr dirty="0" baseline="-16081" sz="2850" i="1">
                <a:latin typeface="Verdana"/>
                <a:cs typeface="Verdana"/>
              </a:rPr>
              <a:t>	</a:t>
            </a:r>
            <a:r>
              <a:rPr dirty="0" sz="2900" spc="-280" i="1">
                <a:latin typeface="Verdana"/>
                <a:cs typeface="Verdana"/>
              </a:rPr>
              <a:t>shrinks </a:t>
            </a:r>
            <a:r>
              <a:rPr dirty="0" sz="2900" spc="-250" i="1">
                <a:latin typeface="Verdana"/>
                <a:cs typeface="Verdana"/>
              </a:rPr>
              <a:t>with</a:t>
            </a:r>
            <a:r>
              <a:rPr dirty="0" sz="2900" spc="-120" i="1">
                <a:latin typeface="Verdana"/>
                <a:cs typeface="Verdana"/>
              </a:rPr>
              <a:t> </a:t>
            </a:r>
            <a:r>
              <a:rPr dirty="0" sz="2900" spc="-300" i="1">
                <a:latin typeface="Verdana"/>
                <a:cs typeface="Verdana"/>
              </a:rPr>
              <a:t>time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78802" y="4999875"/>
            <a:ext cx="7797165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75000"/>
              <a:buFont typeface="Tahoma"/>
              <a:buChar char="■"/>
              <a:tabLst>
                <a:tab pos="355600" algn="l"/>
              </a:tabLst>
            </a:pP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Neighbors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of</a:t>
            </a:r>
            <a:r>
              <a:rPr dirty="0" sz="2800" spc="-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the</a:t>
            </a:r>
            <a:r>
              <a:rPr dirty="0" sz="2800" spc="-5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winning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node</a:t>
            </a:r>
            <a:r>
              <a:rPr dirty="0" sz="2800" spc="-5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dirty="0" sz="2800" spc="-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0000FF"/>
                </a:solidFill>
                <a:latin typeface="Tahoma"/>
                <a:cs typeface="Tahoma"/>
              </a:rPr>
              <a:t>also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allowed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to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update,</a:t>
            </a:r>
            <a:r>
              <a:rPr dirty="0" sz="2800" spc="-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even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if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they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are</a:t>
            </a:r>
            <a:r>
              <a:rPr dirty="0" sz="2800" spc="-5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not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FF"/>
                </a:solidFill>
                <a:latin typeface="Tahoma"/>
                <a:cs typeface="Tahoma"/>
              </a:rPr>
              <a:t>close</a:t>
            </a:r>
            <a:r>
              <a:rPr dirty="0" sz="2800" spc="-4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Tahoma"/>
                <a:cs typeface="Tahoma"/>
              </a:rPr>
              <a:t>to </a:t>
            </a:r>
            <a:r>
              <a:rPr dirty="0" sz="2800" spc="-10">
                <a:solidFill>
                  <a:srgbClr val="0000FF"/>
                </a:solidFill>
                <a:latin typeface="Tahoma"/>
                <a:cs typeface="Tahoma"/>
              </a:rPr>
              <a:t>winning!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18012" y="3899318"/>
            <a:ext cx="207010" cy="2647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 i="1">
                <a:latin typeface="Times New Roman"/>
                <a:cs typeface="Times New Roman"/>
              </a:rPr>
              <a:t>j</a:t>
            </a:r>
            <a:r>
              <a:rPr dirty="0" sz="1550" spc="-235" i="1">
                <a:latin typeface="Times New Roman"/>
                <a:cs typeface="Times New Roman"/>
              </a:rPr>
              <a:t> </a:t>
            </a:r>
            <a:r>
              <a:rPr dirty="0" sz="1550" spc="-35">
                <a:latin typeface="Times New Roman"/>
                <a:cs typeface="Times New Roman"/>
              </a:rPr>
              <a:t>,</a:t>
            </a:r>
            <a:r>
              <a:rPr dirty="0" sz="1550" spc="-35" i="1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11734" y="3253498"/>
            <a:ext cx="39370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25157" sz="3975" i="1">
                <a:latin typeface="Times New Roman"/>
                <a:cs typeface="Times New Roman"/>
              </a:rPr>
              <a:t>d</a:t>
            </a:r>
            <a:r>
              <a:rPr dirty="0" baseline="-25157" sz="3975" spc="-427" i="1">
                <a:latin typeface="Times New Roman"/>
                <a:cs typeface="Times New Roman"/>
              </a:rPr>
              <a:t> </a:t>
            </a:r>
            <a:r>
              <a:rPr dirty="0" sz="1550" spc="-5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59474" y="3614972"/>
            <a:ext cx="1021080" cy="76073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0"/>
              </a:spcBef>
              <a:tabLst>
                <a:tab pos="513715" algn="l"/>
                <a:tab pos="982344" algn="l"/>
              </a:tabLst>
            </a:pPr>
            <a:r>
              <a:rPr dirty="0" u="heavy" sz="15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j</a:t>
            </a:r>
            <a:r>
              <a:rPr dirty="0" sz="1550" spc="-235" i="1">
                <a:latin typeface="Times New Roman"/>
                <a:cs typeface="Times New Roman"/>
              </a:rPr>
              <a:t> </a:t>
            </a:r>
            <a:r>
              <a:rPr dirty="0" u="heavy" sz="15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sz="1550" spc="-2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15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550">
              <a:latin typeface="Times New Roman"/>
              <a:cs typeface="Times New Roman"/>
            </a:endParaRPr>
          </a:p>
          <a:p>
            <a:pPr marL="60960">
              <a:lnSpc>
                <a:spcPct val="100000"/>
              </a:lnSpc>
              <a:spcBef>
                <a:spcPts val="360"/>
              </a:spcBef>
            </a:pPr>
            <a:r>
              <a:rPr dirty="0" sz="2650">
                <a:latin typeface="Times New Roman"/>
                <a:cs typeface="Times New Roman"/>
              </a:rPr>
              <a:t>2</a:t>
            </a:r>
            <a:r>
              <a:rPr dirty="0" sz="2800" i="1">
                <a:latin typeface="Times New Roman"/>
                <a:cs typeface="Times New Roman"/>
              </a:rPr>
              <a:t>σ</a:t>
            </a:r>
            <a:r>
              <a:rPr dirty="0" sz="2800" spc="-135" i="1">
                <a:latin typeface="Times New Roman"/>
                <a:cs typeface="Times New Roman"/>
              </a:rPr>
              <a:t> </a:t>
            </a:r>
            <a:r>
              <a:rPr dirty="0" baseline="43010" sz="2325">
                <a:latin typeface="Times New Roman"/>
                <a:cs typeface="Times New Roman"/>
              </a:rPr>
              <a:t>2</a:t>
            </a:r>
            <a:r>
              <a:rPr dirty="0" baseline="43010" sz="2325" spc="-120">
                <a:latin typeface="Times New Roman"/>
                <a:cs typeface="Times New Roman"/>
              </a:rPr>
              <a:t> </a:t>
            </a:r>
            <a:r>
              <a:rPr dirty="0" sz="2650" spc="25">
                <a:latin typeface="Times New Roman"/>
                <a:cs typeface="Times New Roman"/>
              </a:rPr>
              <a:t>(</a:t>
            </a:r>
            <a:r>
              <a:rPr dirty="0" sz="2650" spc="25" i="1">
                <a:latin typeface="Times New Roman"/>
                <a:cs typeface="Times New Roman"/>
              </a:rPr>
              <a:t>t</a:t>
            </a:r>
            <a:r>
              <a:rPr dirty="0" sz="2650" spc="25">
                <a:latin typeface="Times New Roman"/>
                <a:cs typeface="Times New Roman"/>
              </a:rPr>
              <a:t>)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64453" y="3388563"/>
            <a:ext cx="15684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90">
                <a:latin typeface="Times New Roman"/>
                <a:cs typeface="Times New Roman"/>
              </a:rPr>
              <a:t>(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70851" y="3388563"/>
            <a:ext cx="15684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-1695">
                <a:latin typeface="Times New Roman"/>
                <a:cs typeface="Times New Roman"/>
              </a:rPr>
              <a:t>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26585" y="3668534"/>
            <a:ext cx="202374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31800" algn="l"/>
                <a:tab pos="1823085" algn="l"/>
              </a:tabLst>
            </a:pPr>
            <a:r>
              <a:rPr dirty="0" sz="2650" spc="-50" i="1">
                <a:latin typeface="Times New Roman"/>
                <a:cs typeface="Times New Roman"/>
              </a:rPr>
              <a:t>h</a:t>
            </a:r>
            <a:r>
              <a:rPr dirty="0" sz="2650" i="1">
                <a:latin typeface="Times New Roman"/>
                <a:cs typeface="Times New Roman"/>
              </a:rPr>
              <a:t>	</a:t>
            </a:r>
            <a:r>
              <a:rPr dirty="0" sz="2650" spc="55">
                <a:latin typeface="Times New Roman"/>
                <a:cs typeface="Times New Roman"/>
              </a:rPr>
              <a:t>(</a:t>
            </a:r>
            <a:r>
              <a:rPr dirty="0" sz="2650" spc="55" i="1">
                <a:latin typeface="Times New Roman"/>
                <a:cs typeface="Times New Roman"/>
              </a:rPr>
              <a:t>t</a:t>
            </a:r>
            <a:r>
              <a:rPr dirty="0" sz="2650" spc="55">
                <a:latin typeface="Times New Roman"/>
                <a:cs typeface="Times New Roman"/>
              </a:rPr>
              <a:t>)</a:t>
            </a:r>
            <a:r>
              <a:rPr dirty="0" sz="2650" spc="-4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=</a:t>
            </a:r>
            <a:r>
              <a:rPr dirty="0" sz="2650" spc="-120">
                <a:latin typeface="Times New Roman"/>
                <a:cs typeface="Times New Roman"/>
              </a:rPr>
              <a:t> </a:t>
            </a:r>
            <a:r>
              <a:rPr dirty="0" sz="2650" spc="-25">
                <a:latin typeface="Times New Roman"/>
                <a:cs typeface="Times New Roman"/>
              </a:rPr>
              <a:t>exp</a:t>
            </a:r>
            <a:r>
              <a:rPr dirty="0" sz="2650">
                <a:latin typeface="Times New Roman"/>
                <a:cs typeface="Times New Roman"/>
              </a:rPr>
              <a:t>	</a:t>
            </a:r>
            <a:r>
              <a:rPr dirty="0" sz="2650" spc="95">
                <a:latin typeface="Times New Roman"/>
                <a:cs typeface="Times New Roman"/>
              </a:rPr>
              <a:t>–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64453" y="3850995"/>
            <a:ext cx="15684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-1695">
                <a:latin typeface="Times New Roman"/>
                <a:cs typeface="Times New Roman"/>
              </a:rPr>
              <a:t>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170851" y="3850995"/>
            <a:ext cx="15684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50" spc="-1695">
                <a:latin typeface="Times New Roman"/>
                <a:cs typeface="Times New Roman"/>
              </a:rPr>
              <a:t>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64453" y="4066565"/>
            <a:ext cx="1563370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18590" algn="l"/>
              </a:tabLst>
            </a:pPr>
            <a:r>
              <a:rPr dirty="0" sz="2650" spc="-1695">
                <a:latin typeface="Times New Roman"/>
                <a:cs typeface="Times New Roman"/>
              </a:rPr>
              <a:t></a:t>
            </a:r>
            <a:r>
              <a:rPr dirty="0" sz="2650">
                <a:latin typeface="Times New Roman"/>
                <a:cs typeface="Times New Roman"/>
              </a:rPr>
              <a:t>	</a:t>
            </a:r>
            <a:r>
              <a:rPr dirty="0" sz="2650" spc="-1695">
                <a:latin typeface="Times New Roman"/>
                <a:cs typeface="Times New Roman"/>
              </a:rPr>
              <a:t>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227616" y="3937114"/>
            <a:ext cx="268605" cy="0"/>
          </a:xfrm>
          <a:custGeom>
            <a:avLst/>
            <a:gdLst/>
            <a:ahLst/>
            <a:cxnLst/>
            <a:rect l="l" t="t" r="r" b="b"/>
            <a:pathLst>
              <a:path w="268604" h="0">
                <a:moveTo>
                  <a:pt x="0" y="0"/>
                </a:moveTo>
                <a:lnTo>
                  <a:pt x="268414" y="0"/>
                </a:lnTo>
              </a:path>
            </a:pathLst>
          </a:custGeom>
          <a:ln w="134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153831" y="3901439"/>
            <a:ext cx="11938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50">
                <a:latin typeface="Times New Roman"/>
                <a:cs typeface="Times New Roman"/>
              </a:rPr>
              <a:t>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15" name="object 15" descr=""/>
          <p:cNvSpPr txBox="1"/>
          <p:nvPr/>
        </p:nvSpPr>
        <p:spPr>
          <a:xfrm>
            <a:off x="3201454" y="3918916"/>
            <a:ext cx="167005" cy="433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650" spc="110" i="1">
                <a:latin typeface="Times New Roman"/>
                <a:cs typeface="Times New Roman"/>
              </a:rPr>
              <a:t>τ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819425" y="3457930"/>
            <a:ext cx="85725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85775" algn="l"/>
                <a:tab pos="720725" algn="l"/>
              </a:tabLst>
            </a:pPr>
            <a:r>
              <a:rPr dirty="0" sz="2500" spc="80">
                <a:latin typeface="Times New Roman"/>
                <a:cs typeface="Times New Roman"/>
              </a:rPr>
              <a:t>(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baseline="-4444" sz="3750" spc="-75" i="1">
                <a:latin typeface="Times New Roman"/>
                <a:cs typeface="Times New Roman"/>
              </a:rPr>
              <a:t>t</a:t>
            </a:r>
            <a:r>
              <a:rPr dirty="0" baseline="-4444" sz="3750" i="1">
                <a:latin typeface="Times New Roman"/>
                <a:cs typeface="Times New Roman"/>
              </a:rPr>
              <a:t>	</a:t>
            </a:r>
            <a:r>
              <a:rPr dirty="0" sz="2500" spc="-1600">
                <a:latin typeface="Times New Roman"/>
                <a:cs typeface="Times New Roman"/>
              </a:rPr>
              <a:t>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27811" y="3666681"/>
            <a:ext cx="2182495" cy="4330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300480" algn="l"/>
              </a:tabLst>
            </a:pPr>
            <a:r>
              <a:rPr dirty="0" sz="2650" spc="210" i="1">
                <a:latin typeface="Times New Roman"/>
                <a:cs typeface="Times New Roman"/>
              </a:rPr>
              <a:t>σ</a:t>
            </a:r>
            <a:r>
              <a:rPr dirty="0" sz="2650" spc="-245" i="1">
                <a:latin typeface="Times New Roman"/>
                <a:cs typeface="Times New Roman"/>
              </a:rPr>
              <a:t> </a:t>
            </a:r>
            <a:r>
              <a:rPr dirty="0" sz="2500" spc="50">
                <a:latin typeface="Times New Roman"/>
                <a:cs typeface="Times New Roman"/>
              </a:rPr>
              <a:t>(</a:t>
            </a:r>
            <a:r>
              <a:rPr dirty="0" sz="2500" spc="50" i="1">
                <a:latin typeface="Times New Roman"/>
                <a:cs typeface="Times New Roman"/>
              </a:rPr>
              <a:t>t</a:t>
            </a:r>
            <a:r>
              <a:rPr dirty="0" sz="2500" spc="50">
                <a:latin typeface="Times New Roman"/>
                <a:cs typeface="Times New Roman"/>
              </a:rPr>
              <a:t>)</a:t>
            </a:r>
            <a:r>
              <a:rPr dirty="0" sz="2500" spc="-35">
                <a:latin typeface="Times New Roman"/>
                <a:cs typeface="Times New Roman"/>
              </a:rPr>
              <a:t> =</a:t>
            </a:r>
            <a:r>
              <a:rPr dirty="0" sz="2500" spc="-250">
                <a:latin typeface="Times New Roman"/>
                <a:cs typeface="Times New Roman"/>
              </a:rPr>
              <a:t> </a:t>
            </a:r>
            <a:r>
              <a:rPr dirty="0" sz="2650" spc="160" i="1">
                <a:latin typeface="Times New Roman"/>
                <a:cs typeface="Times New Roman"/>
              </a:rPr>
              <a:t>σ</a:t>
            </a:r>
            <a:r>
              <a:rPr dirty="0" sz="2650" i="1">
                <a:latin typeface="Times New Roman"/>
                <a:cs typeface="Times New Roman"/>
              </a:rPr>
              <a:t>	</a:t>
            </a:r>
            <a:r>
              <a:rPr dirty="0" sz="2500">
                <a:latin typeface="Times New Roman"/>
                <a:cs typeface="Times New Roman"/>
              </a:rPr>
              <a:t>exp</a:t>
            </a:r>
            <a:r>
              <a:rPr dirty="0" sz="2500" spc="-300">
                <a:latin typeface="Times New Roman"/>
                <a:cs typeface="Times New Roman"/>
              </a:rPr>
              <a:t> </a:t>
            </a:r>
            <a:r>
              <a:rPr dirty="0" baseline="-12222" sz="3750" spc="-2325">
                <a:latin typeface="Times New Roman"/>
                <a:cs typeface="Times New Roman"/>
              </a:rPr>
              <a:t></a:t>
            </a:r>
            <a:r>
              <a:rPr dirty="0" baseline="-12222" sz="3750" spc="-457">
                <a:latin typeface="Times New Roman"/>
                <a:cs typeface="Times New Roman"/>
              </a:rPr>
              <a:t> </a:t>
            </a:r>
            <a:r>
              <a:rPr dirty="0" sz="2500" spc="85">
                <a:latin typeface="Times New Roman"/>
                <a:cs typeface="Times New Roman"/>
              </a:rPr>
              <a:t>–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527704" y="3753878"/>
            <a:ext cx="149225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-1600">
                <a:latin typeface="Times New Roman"/>
                <a:cs typeface="Times New Roman"/>
              </a:rPr>
              <a:t>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819425" y="4021239"/>
            <a:ext cx="85725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8640" algn="l"/>
              </a:tabLst>
            </a:pPr>
            <a:r>
              <a:rPr dirty="0" sz="2500" spc="-1600">
                <a:latin typeface="Times New Roman"/>
                <a:cs typeface="Times New Roman"/>
              </a:rPr>
              <a:t>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1450">
                <a:latin typeface="Times New Roman"/>
                <a:cs typeface="Times New Roman"/>
              </a:rPr>
              <a:t>1</a:t>
            </a:r>
            <a:r>
              <a:rPr dirty="0" sz="1450" spc="254">
                <a:latin typeface="Times New Roman"/>
                <a:cs typeface="Times New Roman"/>
              </a:rPr>
              <a:t> </a:t>
            </a:r>
            <a:r>
              <a:rPr dirty="0" sz="2500" spc="-1600">
                <a:latin typeface="Times New Roman"/>
                <a:cs typeface="Times New Roman"/>
              </a:rPr>
              <a:t>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Cooperative</a:t>
            </a:r>
            <a:r>
              <a:rPr dirty="0" sz="4400" spc="-145"/>
              <a:t> </a:t>
            </a:r>
            <a:r>
              <a:rPr dirty="0" sz="4400" spc="-10"/>
              <a:t>Process</a:t>
            </a:r>
            <a:endParaRPr sz="4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2457" y="1973745"/>
            <a:ext cx="7938134" cy="462026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r" marL="342265" marR="442658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8928"/>
              <a:buChar char="■"/>
              <a:tabLst>
                <a:tab pos="342265" algn="l"/>
              </a:tabLst>
            </a:pPr>
            <a:r>
              <a:rPr dirty="0" sz="2800">
                <a:latin typeface="Tahoma"/>
                <a:cs typeface="Tahoma"/>
              </a:rPr>
              <a:t>Large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neighborhood</a:t>
            </a:r>
            <a:endParaRPr sz="2800">
              <a:latin typeface="Tahoma"/>
              <a:cs typeface="Tahoma"/>
            </a:endParaRPr>
          </a:p>
          <a:p>
            <a:pPr algn="r" lvl="1" marL="285115" marR="4356100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285115" algn="l"/>
              </a:tabLst>
            </a:pPr>
            <a:r>
              <a:rPr dirty="0" sz="2400">
                <a:latin typeface="Tahoma"/>
                <a:cs typeface="Tahoma"/>
              </a:rPr>
              <a:t>Good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global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ordering</a:t>
            </a:r>
            <a:endParaRPr sz="2400">
              <a:latin typeface="Tahoma"/>
              <a:cs typeface="Tahoma"/>
            </a:endParaRPr>
          </a:p>
          <a:p>
            <a:pPr lvl="1" marL="75501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Bad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local</a:t>
            </a:r>
            <a:r>
              <a:rPr dirty="0" sz="2400" spc="-25">
                <a:latin typeface="Tahoma"/>
                <a:cs typeface="Tahoma"/>
              </a:rPr>
              <a:t> fit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Small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neighborhood</a:t>
            </a:r>
            <a:endParaRPr sz="2800">
              <a:latin typeface="Tahoma"/>
              <a:cs typeface="Tahoma"/>
            </a:endParaRPr>
          </a:p>
          <a:p>
            <a:pPr lvl="1" marL="75501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Bad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global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ordering</a:t>
            </a:r>
            <a:endParaRPr sz="2400">
              <a:latin typeface="Tahoma"/>
              <a:cs typeface="Tahoma"/>
            </a:endParaRPr>
          </a:p>
          <a:p>
            <a:pPr lvl="1" marL="75501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Good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local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fit</a:t>
            </a:r>
            <a:endParaRPr sz="240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gradually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shrinking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neighborhood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can </a:t>
            </a:r>
            <a:r>
              <a:rPr dirty="0" sz="2800">
                <a:latin typeface="Tahoma"/>
                <a:cs typeface="Tahoma"/>
              </a:rPr>
              <a:t>get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best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both!</a:t>
            </a:r>
            <a:endParaRPr sz="2800">
              <a:latin typeface="Tahoma"/>
              <a:cs typeface="Tahoma"/>
            </a:endParaRPr>
          </a:p>
          <a:p>
            <a:pPr lvl="1" marL="75501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Ordering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phase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(large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neighborhood)</a:t>
            </a:r>
            <a:endParaRPr sz="2400">
              <a:latin typeface="Tahoma"/>
              <a:cs typeface="Tahoma"/>
            </a:endParaRPr>
          </a:p>
          <a:p>
            <a:pPr lvl="1" marL="75501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Convergence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phase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(small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neighborhood)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Neighborhood</a:t>
            </a:r>
            <a:endParaRPr sz="4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352" y="2211961"/>
            <a:ext cx="6479510" cy="291808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7294422" y="2144293"/>
            <a:ext cx="67881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10" i="1">
                <a:latin typeface="Times New Roman"/>
                <a:cs typeface="Times New Roman"/>
              </a:rPr>
              <a:t>N</a:t>
            </a:r>
            <a:r>
              <a:rPr dirty="0" baseline="-17777" sz="1875" spc="-15" i="1">
                <a:latin typeface="Times New Roman"/>
                <a:cs typeface="Times New Roman"/>
              </a:rPr>
              <a:t>j*</a:t>
            </a:r>
            <a:r>
              <a:rPr dirty="0" sz="2000" spc="-10">
                <a:latin typeface="Times New Roman"/>
                <a:cs typeface="Times New Roman"/>
              </a:rPr>
              <a:t>(0)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97516" y="2442120"/>
            <a:ext cx="67881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10" i="1">
                <a:latin typeface="Times New Roman"/>
                <a:cs typeface="Times New Roman"/>
              </a:rPr>
              <a:t>N</a:t>
            </a:r>
            <a:r>
              <a:rPr dirty="0" baseline="-17777" sz="1875" spc="-15" i="1">
                <a:latin typeface="Times New Roman"/>
                <a:cs typeface="Times New Roman"/>
              </a:rPr>
              <a:t>j*</a:t>
            </a:r>
            <a:r>
              <a:rPr dirty="0" sz="2000" spc="-10">
                <a:latin typeface="Times New Roman"/>
                <a:cs typeface="Times New Roman"/>
              </a:rPr>
              <a:t>(0)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94422" y="2735059"/>
            <a:ext cx="67881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10" i="1">
                <a:latin typeface="Times New Roman"/>
                <a:cs typeface="Times New Roman"/>
              </a:rPr>
              <a:t>N</a:t>
            </a:r>
            <a:r>
              <a:rPr dirty="0" baseline="-17777" sz="1875" spc="-15" i="1">
                <a:latin typeface="Times New Roman"/>
                <a:cs typeface="Times New Roman"/>
              </a:rPr>
              <a:t>j*</a:t>
            </a:r>
            <a:r>
              <a:rPr dirty="0" sz="2000" spc="-10">
                <a:latin typeface="Times New Roman"/>
                <a:cs typeface="Times New Roman"/>
              </a:rPr>
              <a:t>(1)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97516" y="3028010"/>
            <a:ext cx="67881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10" i="1">
                <a:latin typeface="Times New Roman"/>
                <a:cs typeface="Times New Roman"/>
              </a:rPr>
              <a:t>N</a:t>
            </a:r>
            <a:r>
              <a:rPr dirty="0" baseline="-17777" sz="1875" spc="-15" i="1">
                <a:latin typeface="Times New Roman"/>
                <a:cs typeface="Times New Roman"/>
              </a:rPr>
              <a:t>j*</a:t>
            </a:r>
            <a:r>
              <a:rPr dirty="0" sz="2000" spc="-10">
                <a:latin typeface="Times New Roman"/>
                <a:cs typeface="Times New Roman"/>
              </a:rPr>
              <a:t>(1)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403617" y="3325825"/>
            <a:ext cx="68326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10" i="1">
                <a:latin typeface="Times New Roman"/>
                <a:cs typeface="Times New Roman"/>
              </a:rPr>
              <a:t>N</a:t>
            </a:r>
            <a:r>
              <a:rPr dirty="0" baseline="-17777" sz="1875" spc="-15" i="1">
                <a:latin typeface="Times New Roman"/>
                <a:cs typeface="Times New Roman"/>
              </a:rPr>
              <a:t>j*</a:t>
            </a:r>
            <a:r>
              <a:rPr dirty="0" sz="2000" spc="-10">
                <a:latin typeface="Times New Roman"/>
                <a:cs typeface="Times New Roman"/>
              </a:rPr>
              <a:t>(2)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97516" y="3618763"/>
            <a:ext cx="67881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000" spc="-10" i="1">
                <a:latin typeface="Times New Roman"/>
                <a:cs typeface="Times New Roman"/>
              </a:rPr>
              <a:t>N</a:t>
            </a:r>
            <a:r>
              <a:rPr dirty="0" baseline="-17777" sz="1875" spc="-15" i="1">
                <a:latin typeface="Times New Roman"/>
                <a:cs typeface="Times New Roman"/>
              </a:rPr>
              <a:t>j*</a:t>
            </a:r>
            <a:r>
              <a:rPr dirty="0" sz="2000" spc="-10">
                <a:latin typeface="Times New Roman"/>
                <a:cs typeface="Times New Roman"/>
              </a:rPr>
              <a:t>(2)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07541" y="2123694"/>
            <a:ext cx="7405370" cy="3063240"/>
          </a:xfrm>
          <a:custGeom>
            <a:avLst/>
            <a:gdLst/>
            <a:ahLst/>
            <a:cxnLst/>
            <a:rect l="l" t="t" r="r" b="b"/>
            <a:pathLst>
              <a:path w="7405370" h="3063240">
                <a:moveTo>
                  <a:pt x="7405115" y="0"/>
                </a:moveTo>
                <a:lnTo>
                  <a:pt x="0" y="0"/>
                </a:lnTo>
                <a:lnTo>
                  <a:pt x="0" y="3063239"/>
                </a:lnTo>
                <a:lnTo>
                  <a:pt x="7405115" y="3063239"/>
                </a:lnTo>
                <a:lnTo>
                  <a:pt x="7405115" y="3034664"/>
                </a:lnTo>
                <a:lnTo>
                  <a:pt x="57150" y="3034664"/>
                </a:lnTo>
                <a:lnTo>
                  <a:pt x="28575" y="3006089"/>
                </a:lnTo>
                <a:lnTo>
                  <a:pt x="57150" y="3006089"/>
                </a:lnTo>
                <a:lnTo>
                  <a:pt x="57150" y="57150"/>
                </a:lnTo>
                <a:lnTo>
                  <a:pt x="28575" y="57150"/>
                </a:lnTo>
                <a:lnTo>
                  <a:pt x="57150" y="28575"/>
                </a:lnTo>
                <a:lnTo>
                  <a:pt x="7405115" y="28575"/>
                </a:lnTo>
                <a:lnTo>
                  <a:pt x="7405115" y="0"/>
                </a:lnTo>
                <a:close/>
              </a:path>
              <a:path w="7405370" h="3063240">
                <a:moveTo>
                  <a:pt x="57150" y="3006089"/>
                </a:moveTo>
                <a:lnTo>
                  <a:pt x="28575" y="3006089"/>
                </a:lnTo>
                <a:lnTo>
                  <a:pt x="57150" y="3034664"/>
                </a:lnTo>
                <a:lnTo>
                  <a:pt x="57150" y="3006089"/>
                </a:lnTo>
                <a:close/>
              </a:path>
              <a:path w="7405370" h="3063240">
                <a:moveTo>
                  <a:pt x="7347965" y="3006089"/>
                </a:moveTo>
                <a:lnTo>
                  <a:pt x="57150" y="3006089"/>
                </a:lnTo>
                <a:lnTo>
                  <a:pt x="57150" y="3034664"/>
                </a:lnTo>
                <a:lnTo>
                  <a:pt x="7347965" y="3034664"/>
                </a:lnTo>
                <a:lnTo>
                  <a:pt x="7347965" y="3006089"/>
                </a:lnTo>
                <a:close/>
              </a:path>
              <a:path w="7405370" h="3063240">
                <a:moveTo>
                  <a:pt x="7347965" y="28575"/>
                </a:moveTo>
                <a:lnTo>
                  <a:pt x="7347965" y="3034664"/>
                </a:lnTo>
                <a:lnTo>
                  <a:pt x="7376540" y="3006089"/>
                </a:lnTo>
                <a:lnTo>
                  <a:pt x="7405115" y="3006089"/>
                </a:lnTo>
                <a:lnTo>
                  <a:pt x="7405115" y="57150"/>
                </a:lnTo>
                <a:lnTo>
                  <a:pt x="7376540" y="57150"/>
                </a:lnTo>
                <a:lnTo>
                  <a:pt x="7347965" y="28575"/>
                </a:lnTo>
                <a:close/>
              </a:path>
              <a:path w="7405370" h="3063240">
                <a:moveTo>
                  <a:pt x="7405115" y="3006089"/>
                </a:moveTo>
                <a:lnTo>
                  <a:pt x="7376540" y="3006089"/>
                </a:lnTo>
                <a:lnTo>
                  <a:pt x="7347965" y="3034664"/>
                </a:lnTo>
                <a:lnTo>
                  <a:pt x="7405115" y="3034664"/>
                </a:lnTo>
                <a:lnTo>
                  <a:pt x="7405115" y="3006089"/>
                </a:lnTo>
                <a:close/>
              </a:path>
              <a:path w="7405370" h="3063240">
                <a:moveTo>
                  <a:pt x="57150" y="28575"/>
                </a:moveTo>
                <a:lnTo>
                  <a:pt x="28575" y="57150"/>
                </a:lnTo>
                <a:lnTo>
                  <a:pt x="57150" y="57150"/>
                </a:lnTo>
                <a:lnTo>
                  <a:pt x="57150" y="28575"/>
                </a:lnTo>
                <a:close/>
              </a:path>
              <a:path w="7405370" h="3063240">
                <a:moveTo>
                  <a:pt x="7347965" y="28575"/>
                </a:moveTo>
                <a:lnTo>
                  <a:pt x="57150" y="28575"/>
                </a:lnTo>
                <a:lnTo>
                  <a:pt x="57150" y="57150"/>
                </a:lnTo>
                <a:lnTo>
                  <a:pt x="7347965" y="57150"/>
                </a:lnTo>
                <a:lnTo>
                  <a:pt x="7347965" y="28575"/>
                </a:lnTo>
                <a:close/>
              </a:path>
              <a:path w="7405370" h="3063240">
                <a:moveTo>
                  <a:pt x="7405115" y="28575"/>
                </a:moveTo>
                <a:lnTo>
                  <a:pt x="7347965" y="28575"/>
                </a:lnTo>
                <a:lnTo>
                  <a:pt x="7376540" y="57150"/>
                </a:lnTo>
                <a:lnTo>
                  <a:pt x="7405115" y="57150"/>
                </a:lnTo>
                <a:lnTo>
                  <a:pt x="7405115" y="2857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343469" y="5371300"/>
            <a:ext cx="664845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Using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planar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array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neurons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rectangular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hexagonal</a:t>
            </a:r>
            <a:r>
              <a:rPr dirty="0" sz="2400" spc="-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neighborhoods,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 spc="-20" b="1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is </a:t>
            </a:r>
            <a:r>
              <a:rPr dirty="0" sz="2400">
                <a:latin typeface="Tahoma"/>
                <a:cs typeface="Tahoma"/>
              </a:rPr>
              <a:t>applied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simultaneously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nodes.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Neighborhood</a:t>
            </a:r>
            <a:endParaRPr sz="4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94752" y="4541773"/>
            <a:ext cx="21050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Learning</a:t>
            </a:r>
            <a:r>
              <a:rPr dirty="0" sz="2800" spc="-8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20">
                <a:solidFill>
                  <a:srgbClr val="FF0000"/>
                </a:solidFill>
                <a:latin typeface="Tahoma"/>
                <a:cs typeface="Tahoma"/>
              </a:rPr>
              <a:t>rate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8789" y="2525915"/>
            <a:ext cx="6877684" cy="1268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ahoma"/>
                <a:cs typeface="Tahoma"/>
              </a:rPr>
              <a:t>Update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weights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relation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inputs</a:t>
            </a:r>
            <a:endParaRPr sz="2800">
              <a:latin typeface="Tahoma"/>
              <a:cs typeface="Tahoma"/>
            </a:endParaRPr>
          </a:p>
          <a:p>
            <a:pPr algn="ctr" marL="951230">
              <a:lnSpc>
                <a:spcPct val="100000"/>
              </a:lnSpc>
              <a:spcBef>
                <a:spcPts val="2945"/>
              </a:spcBef>
            </a:pPr>
            <a:r>
              <a:rPr dirty="0" sz="2750">
                <a:latin typeface="Times New Roman"/>
                <a:cs typeface="Times New Roman"/>
              </a:rPr>
              <a:t>w</a:t>
            </a:r>
            <a:r>
              <a:rPr dirty="0" sz="2750" spc="-180">
                <a:latin typeface="Times New Roman"/>
                <a:cs typeface="Times New Roman"/>
              </a:rPr>
              <a:t> </a:t>
            </a:r>
            <a:r>
              <a:rPr dirty="0" baseline="-24305" sz="2400" i="1">
                <a:latin typeface="Times New Roman"/>
                <a:cs typeface="Times New Roman"/>
              </a:rPr>
              <a:t>j</a:t>
            </a:r>
            <a:r>
              <a:rPr dirty="0" baseline="-24305" sz="2400" spc="-44" i="1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(</a:t>
            </a:r>
            <a:r>
              <a:rPr dirty="0" sz="2750" i="1">
                <a:latin typeface="Times New Roman"/>
                <a:cs typeface="Times New Roman"/>
              </a:rPr>
              <a:t>t</a:t>
            </a:r>
            <a:r>
              <a:rPr dirty="0" sz="2750" spc="-95" i="1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+1)</a:t>
            </a:r>
            <a:r>
              <a:rPr dirty="0" sz="2750" spc="-9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=</a:t>
            </a:r>
            <a:r>
              <a:rPr dirty="0" sz="2750" spc="2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w</a:t>
            </a:r>
            <a:r>
              <a:rPr dirty="0" sz="2750" spc="-185">
                <a:latin typeface="Times New Roman"/>
                <a:cs typeface="Times New Roman"/>
              </a:rPr>
              <a:t> </a:t>
            </a:r>
            <a:r>
              <a:rPr dirty="0" baseline="-24305" sz="2400" i="1">
                <a:latin typeface="Times New Roman"/>
                <a:cs typeface="Times New Roman"/>
              </a:rPr>
              <a:t>j </a:t>
            </a:r>
            <a:r>
              <a:rPr dirty="0" sz="2750" spc="55">
                <a:latin typeface="Times New Roman"/>
                <a:cs typeface="Times New Roman"/>
              </a:rPr>
              <a:t>(</a:t>
            </a:r>
            <a:r>
              <a:rPr dirty="0" sz="2750" spc="55" i="1">
                <a:latin typeface="Times New Roman"/>
                <a:cs typeface="Times New Roman"/>
              </a:rPr>
              <a:t>t</a:t>
            </a:r>
            <a:r>
              <a:rPr dirty="0" sz="2750" spc="55">
                <a:latin typeface="Times New Roman"/>
                <a:cs typeface="Times New Roman"/>
              </a:rPr>
              <a:t>)</a:t>
            </a:r>
            <a:r>
              <a:rPr dirty="0" sz="2750" spc="-260">
                <a:latin typeface="Times New Roman"/>
                <a:cs typeface="Times New Roman"/>
              </a:rPr>
              <a:t> </a:t>
            </a:r>
            <a:r>
              <a:rPr dirty="0" sz="2750" spc="120">
                <a:latin typeface="Times New Roman"/>
                <a:cs typeface="Times New Roman"/>
              </a:rPr>
              <a:t>+</a:t>
            </a:r>
            <a:r>
              <a:rPr dirty="0" sz="2900" spc="120" i="1">
                <a:latin typeface="Times New Roman"/>
                <a:cs typeface="Times New Roman"/>
              </a:rPr>
              <a:t>η</a:t>
            </a:r>
            <a:r>
              <a:rPr dirty="0" sz="2900" spc="-380" i="1">
                <a:latin typeface="Times New Roman"/>
                <a:cs typeface="Times New Roman"/>
              </a:rPr>
              <a:t> </a:t>
            </a:r>
            <a:r>
              <a:rPr dirty="0" sz="2750" spc="60">
                <a:latin typeface="Times New Roman"/>
                <a:cs typeface="Times New Roman"/>
              </a:rPr>
              <a:t>(</a:t>
            </a:r>
            <a:r>
              <a:rPr dirty="0" sz="2750" spc="60" i="1">
                <a:latin typeface="Times New Roman"/>
                <a:cs typeface="Times New Roman"/>
              </a:rPr>
              <a:t>t</a:t>
            </a:r>
            <a:r>
              <a:rPr dirty="0" sz="2750" spc="60">
                <a:latin typeface="Times New Roman"/>
                <a:cs typeface="Times New Roman"/>
              </a:rPr>
              <a:t>)</a:t>
            </a:r>
            <a:r>
              <a:rPr dirty="0" sz="2750" spc="60" i="1">
                <a:latin typeface="Times New Roman"/>
                <a:cs typeface="Times New Roman"/>
              </a:rPr>
              <a:t>h</a:t>
            </a:r>
            <a:r>
              <a:rPr dirty="0" baseline="-24305" sz="2400" spc="89" i="1">
                <a:latin typeface="Times New Roman"/>
                <a:cs typeface="Times New Roman"/>
              </a:rPr>
              <a:t>j</a:t>
            </a:r>
            <a:r>
              <a:rPr dirty="0" baseline="-24305" sz="2400" spc="89">
                <a:latin typeface="Times New Roman"/>
                <a:cs typeface="Times New Roman"/>
              </a:rPr>
              <a:t>,</a:t>
            </a:r>
            <a:r>
              <a:rPr dirty="0" baseline="-24305" sz="2400" spc="-359">
                <a:latin typeface="Times New Roman"/>
                <a:cs typeface="Times New Roman"/>
              </a:rPr>
              <a:t> </a:t>
            </a:r>
            <a:r>
              <a:rPr dirty="0" baseline="-24305" sz="2400" i="1">
                <a:latin typeface="Times New Roman"/>
                <a:cs typeface="Times New Roman"/>
              </a:rPr>
              <a:t>i</a:t>
            </a:r>
            <a:r>
              <a:rPr dirty="0" baseline="-24305" sz="2400" spc="-44" i="1">
                <a:latin typeface="Times New Roman"/>
                <a:cs typeface="Times New Roman"/>
              </a:rPr>
              <a:t> </a:t>
            </a:r>
            <a:r>
              <a:rPr dirty="0" sz="2750" spc="50">
                <a:latin typeface="Times New Roman"/>
                <a:cs typeface="Times New Roman"/>
              </a:rPr>
              <a:t>(</a:t>
            </a:r>
            <a:r>
              <a:rPr dirty="0" sz="2750" spc="50" i="1">
                <a:latin typeface="Times New Roman"/>
                <a:cs typeface="Times New Roman"/>
              </a:rPr>
              <a:t>t</a:t>
            </a:r>
            <a:r>
              <a:rPr dirty="0" sz="2750" spc="50">
                <a:latin typeface="Times New Roman"/>
                <a:cs typeface="Times New Roman"/>
              </a:rPr>
              <a:t>)(x</a:t>
            </a:r>
            <a:r>
              <a:rPr dirty="0" sz="2750" spc="-165">
                <a:latin typeface="Times New Roman"/>
                <a:cs typeface="Times New Roman"/>
              </a:rPr>
              <a:t> </a:t>
            </a:r>
            <a:r>
              <a:rPr dirty="0" sz="2750" spc="135">
                <a:latin typeface="Times New Roman"/>
                <a:cs typeface="Times New Roman"/>
              </a:rPr>
              <a:t>–</a:t>
            </a:r>
            <a:r>
              <a:rPr dirty="0" sz="2750" spc="-15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w</a:t>
            </a:r>
            <a:r>
              <a:rPr dirty="0" sz="2750" spc="-180">
                <a:latin typeface="Times New Roman"/>
                <a:cs typeface="Times New Roman"/>
              </a:rPr>
              <a:t> </a:t>
            </a:r>
            <a:r>
              <a:rPr dirty="0" baseline="-24305" sz="2400" i="1">
                <a:latin typeface="Times New Roman"/>
                <a:cs typeface="Times New Roman"/>
              </a:rPr>
              <a:t>j </a:t>
            </a:r>
            <a:r>
              <a:rPr dirty="0" sz="2750" spc="-20">
                <a:latin typeface="Times New Roman"/>
                <a:cs typeface="Times New Roman"/>
              </a:rPr>
              <a:t>(</a:t>
            </a:r>
            <a:r>
              <a:rPr dirty="0" sz="2750" spc="-20" i="1">
                <a:latin typeface="Times New Roman"/>
                <a:cs typeface="Times New Roman"/>
              </a:rPr>
              <a:t>t</a:t>
            </a:r>
            <a:r>
              <a:rPr dirty="0" sz="2750" spc="-20">
                <a:latin typeface="Times New Roman"/>
                <a:cs typeface="Times New Roman"/>
              </a:rPr>
              <a:t>))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026765" y="556044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5" h="0">
                <a:moveTo>
                  <a:pt x="0" y="0"/>
                </a:moveTo>
                <a:lnTo>
                  <a:pt x="254203" y="0"/>
                </a:lnTo>
              </a:path>
            </a:pathLst>
          </a:custGeom>
          <a:ln w="1273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614155" y="5103622"/>
            <a:ext cx="87058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713740" algn="l"/>
              </a:tabLst>
            </a:pPr>
            <a:r>
              <a:rPr dirty="0" sz="2400" spc="125">
                <a:latin typeface="Times New Roman"/>
                <a:cs typeface="Times New Roman"/>
              </a:rPr>
              <a:t>(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baseline="-39351" sz="3600" spc="179">
                <a:latin typeface="Times New Roman"/>
                <a:cs typeface="Times New Roman"/>
              </a:rPr>
              <a:t>–</a:t>
            </a:r>
            <a:r>
              <a:rPr dirty="0" baseline="-39351" sz="3600" spc="465">
                <a:latin typeface="Times New Roman"/>
                <a:cs typeface="Times New Roman"/>
              </a:rPr>
              <a:t> </a:t>
            </a:r>
            <a:r>
              <a:rPr dirty="0" baseline="-3472" sz="3600" spc="-75" i="1">
                <a:latin typeface="Times New Roman"/>
                <a:cs typeface="Times New Roman"/>
              </a:rPr>
              <a:t>t</a:t>
            </a:r>
            <a:r>
              <a:rPr dirty="0" baseline="-3472" sz="3600" i="1">
                <a:latin typeface="Times New Roman"/>
                <a:cs typeface="Times New Roman"/>
              </a:rPr>
              <a:t>	</a:t>
            </a:r>
            <a:r>
              <a:rPr dirty="0" sz="2400" spc="-1540">
                <a:latin typeface="Times New Roman"/>
                <a:cs typeface="Times New Roman"/>
              </a:rPr>
              <a:t>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04519" y="5302595"/>
            <a:ext cx="1804035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500" spc="135" i="1">
                <a:latin typeface="Times New Roman"/>
                <a:cs typeface="Times New Roman"/>
              </a:rPr>
              <a:t>η</a:t>
            </a:r>
            <a:r>
              <a:rPr dirty="0" sz="2400" spc="135">
                <a:latin typeface="Times New Roman"/>
                <a:cs typeface="Times New Roman"/>
              </a:rPr>
              <a:t>(</a:t>
            </a:r>
            <a:r>
              <a:rPr dirty="0" sz="2400" spc="135" i="1">
                <a:latin typeface="Times New Roman"/>
                <a:cs typeface="Times New Roman"/>
              </a:rPr>
              <a:t>t</a:t>
            </a:r>
            <a:r>
              <a:rPr dirty="0" sz="2400" spc="135">
                <a:latin typeface="Times New Roman"/>
                <a:cs typeface="Times New Roman"/>
              </a:rPr>
              <a:t>)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35">
                <a:latin typeface="Times New Roman"/>
                <a:cs typeface="Times New Roman"/>
              </a:rPr>
              <a:t>=</a:t>
            </a:r>
            <a:r>
              <a:rPr dirty="0" sz="2400" spc="-320">
                <a:latin typeface="Times New Roman"/>
                <a:cs typeface="Times New Roman"/>
              </a:rPr>
              <a:t> </a:t>
            </a:r>
            <a:r>
              <a:rPr dirty="0" sz="2500" spc="110" i="1">
                <a:latin typeface="Times New Roman"/>
                <a:cs typeface="Times New Roman"/>
              </a:rPr>
              <a:t>η</a:t>
            </a:r>
            <a:r>
              <a:rPr dirty="0" baseline="-23809" sz="2100" spc="165">
                <a:latin typeface="Times New Roman"/>
                <a:cs typeface="Times New Roman"/>
              </a:rPr>
              <a:t>0</a:t>
            </a:r>
            <a:r>
              <a:rPr dirty="0" baseline="-23809" sz="2100" spc="337">
                <a:latin typeface="Times New Roman"/>
                <a:cs typeface="Times New Roman"/>
              </a:rPr>
              <a:t> </a:t>
            </a:r>
            <a:r>
              <a:rPr dirty="0" sz="2400" spc="-345">
                <a:latin typeface="Times New Roman"/>
                <a:cs typeface="Times New Roman"/>
              </a:rPr>
              <a:t>exp</a:t>
            </a:r>
            <a:r>
              <a:rPr dirty="0" baseline="-11574" sz="3600" spc="-517">
                <a:latin typeface="Times New Roman"/>
                <a:cs typeface="Times New Roman"/>
              </a:rPr>
              <a:t></a:t>
            </a:r>
            <a:endParaRPr baseline="-11574" sz="36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975927" y="5368648"/>
            <a:ext cx="508634" cy="412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351790" algn="l"/>
              </a:tabLst>
            </a:pPr>
            <a:r>
              <a:rPr dirty="0" baseline="-30000" sz="3750" spc="150" i="1">
                <a:latin typeface="Times New Roman"/>
                <a:cs typeface="Times New Roman"/>
              </a:rPr>
              <a:t>τ</a:t>
            </a:r>
            <a:r>
              <a:rPr dirty="0" baseline="-30000" sz="3750" i="1">
                <a:latin typeface="Times New Roman"/>
                <a:cs typeface="Times New Roman"/>
              </a:rPr>
              <a:t>	</a:t>
            </a:r>
            <a:r>
              <a:rPr dirty="0" sz="2400" spc="-1540">
                <a:latin typeface="Times New Roman"/>
                <a:cs typeface="Times New Roman"/>
              </a:rPr>
              <a:t>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39555" y="5636831"/>
            <a:ext cx="81978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0065" algn="l"/>
              </a:tabLst>
            </a:pPr>
            <a:r>
              <a:rPr dirty="0" sz="2400" spc="-1540">
                <a:latin typeface="Times New Roman"/>
                <a:cs typeface="Times New Roman"/>
              </a:rPr>
              <a:t>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1</a:t>
            </a:r>
            <a:r>
              <a:rPr dirty="0" sz="1400" spc="270">
                <a:latin typeface="Times New Roman"/>
                <a:cs typeface="Times New Roman"/>
              </a:rPr>
              <a:t> </a:t>
            </a:r>
            <a:r>
              <a:rPr dirty="0" sz="2400" spc="-1540">
                <a:latin typeface="Times New Roman"/>
                <a:cs typeface="Times New Roman"/>
              </a:rPr>
              <a:t>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571140" y="3275266"/>
            <a:ext cx="2731135" cy="1323340"/>
            <a:chOff x="2571140" y="3275266"/>
            <a:chExt cx="2731135" cy="1323340"/>
          </a:xfrm>
        </p:grpSpPr>
        <p:sp>
          <p:nvSpPr>
            <p:cNvPr id="10" name="object 10" descr=""/>
            <p:cNvSpPr/>
            <p:nvPr/>
          </p:nvSpPr>
          <p:spPr>
            <a:xfrm>
              <a:off x="4274438" y="3275266"/>
              <a:ext cx="594995" cy="595630"/>
            </a:xfrm>
            <a:custGeom>
              <a:avLst/>
              <a:gdLst/>
              <a:ahLst/>
              <a:cxnLst/>
              <a:rect l="l" t="t" r="r" b="b"/>
              <a:pathLst>
                <a:path w="594995" h="595629">
                  <a:moveTo>
                    <a:pt x="594423" y="0"/>
                  </a:moveTo>
                  <a:lnTo>
                    <a:pt x="0" y="0"/>
                  </a:lnTo>
                  <a:lnTo>
                    <a:pt x="0" y="595312"/>
                  </a:lnTo>
                  <a:lnTo>
                    <a:pt x="594423" y="595312"/>
                  </a:lnTo>
                  <a:lnTo>
                    <a:pt x="594423" y="585787"/>
                  </a:lnTo>
                  <a:lnTo>
                    <a:pt x="19050" y="585787"/>
                  </a:lnTo>
                  <a:lnTo>
                    <a:pt x="9525" y="576262"/>
                  </a:lnTo>
                  <a:lnTo>
                    <a:pt x="19050" y="576262"/>
                  </a:lnTo>
                  <a:lnTo>
                    <a:pt x="19050" y="19050"/>
                  </a:lnTo>
                  <a:lnTo>
                    <a:pt x="9525" y="19050"/>
                  </a:lnTo>
                  <a:lnTo>
                    <a:pt x="19050" y="9525"/>
                  </a:lnTo>
                  <a:lnTo>
                    <a:pt x="594423" y="9525"/>
                  </a:lnTo>
                  <a:lnTo>
                    <a:pt x="594423" y="0"/>
                  </a:lnTo>
                  <a:close/>
                </a:path>
                <a:path w="594995" h="595629">
                  <a:moveTo>
                    <a:pt x="19050" y="576262"/>
                  </a:moveTo>
                  <a:lnTo>
                    <a:pt x="9525" y="576262"/>
                  </a:lnTo>
                  <a:lnTo>
                    <a:pt x="19050" y="585787"/>
                  </a:lnTo>
                  <a:lnTo>
                    <a:pt x="19050" y="576262"/>
                  </a:lnTo>
                  <a:close/>
                </a:path>
                <a:path w="594995" h="595629">
                  <a:moveTo>
                    <a:pt x="575373" y="576262"/>
                  </a:moveTo>
                  <a:lnTo>
                    <a:pt x="19050" y="576262"/>
                  </a:lnTo>
                  <a:lnTo>
                    <a:pt x="19050" y="585787"/>
                  </a:lnTo>
                  <a:lnTo>
                    <a:pt x="575373" y="585787"/>
                  </a:lnTo>
                  <a:lnTo>
                    <a:pt x="575373" y="576262"/>
                  </a:lnTo>
                  <a:close/>
                </a:path>
                <a:path w="594995" h="595629">
                  <a:moveTo>
                    <a:pt x="575373" y="9525"/>
                  </a:moveTo>
                  <a:lnTo>
                    <a:pt x="575373" y="585787"/>
                  </a:lnTo>
                  <a:lnTo>
                    <a:pt x="584898" y="576262"/>
                  </a:lnTo>
                  <a:lnTo>
                    <a:pt x="594423" y="576262"/>
                  </a:lnTo>
                  <a:lnTo>
                    <a:pt x="594423" y="19050"/>
                  </a:lnTo>
                  <a:lnTo>
                    <a:pt x="584898" y="19050"/>
                  </a:lnTo>
                  <a:lnTo>
                    <a:pt x="575373" y="9525"/>
                  </a:lnTo>
                  <a:close/>
                </a:path>
                <a:path w="594995" h="595629">
                  <a:moveTo>
                    <a:pt x="594423" y="576262"/>
                  </a:moveTo>
                  <a:lnTo>
                    <a:pt x="584898" y="576262"/>
                  </a:lnTo>
                  <a:lnTo>
                    <a:pt x="575373" y="585787"/>
                  </a:lnTo>
                  <a:lnTo>
                    <a:pt x="594423" y="585787"/>
                  </a:lnTo>
                  <a:lnTo>
                    <a:pt x="594423" y="576262"/>
                  </a:lnTo>
                  <a:close/>
                </a:path>
                <a:path w="594995" h="595629">
                  <a:moveTo>
                    <a:pt x="19050" y="9525"/>
                  </a:moveTo>
                  <a:lnTo>
                    <a:pt x="9525" y="19050"/>
                  </a:lnTo>
                  <a:lnTo>
                    <a:pt x="19050" y="19050"/>
                  </a:lnTo>
                  <a:lnTo>
                    <a:pt x="19050" y="9525"/>
                  </a:lnTo>
                  <a:close/>
                </a:path>
                <a:path w="594995" h="595629">
                  <a:moveTo>
                    <a:pt x="575373" y="9525"/>
                  </a:moveTo>
                  <a:lnTo>
                    <a:pt x="19050" y="9525"/>
                  </a:lnTo>
                  <a:lnTo>
                    <a:pt x="19050" y="19050"/>
                  </a:lnTo>
                  <a:lnTo>
                    <a:pt x="575373" y="19050"/>
                  </a:lnTo>
                  <a:lnTo>
                    <a:pt x="575373" y="9525"/>
                  </a:lnTo>
                  <a:close/>
                </a:path>
                <a:path w="594995" h="595629">
                  <a:moveTo>
                    <a:pt x="594423" y="9525"/>
                  </a:moveTo>
                  <a:lnTo>
                    <a:pt x="575373" y="9525"/>
                  </a:lnTo>
                  <a:lnTo>
                    <a:pt x="584898" y="19050"/>
                  </a:lnTo>
                  <a:lnTo>
                    <a:pt x="594423" y="19050"/>
                  </a:lnTo>
                  <a:lnTo>
                    <a:pt x="594423" y="952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1140" y="3825443"/>
              <a:ext cx="1689455" cy="77289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849812" y="3275266"/>
              <a:ext cx="452755" cy="595630"/>
            </a:xfrm>
            <a:custGeom>
              <a:avLst/>
              <a:gdLst/>
              <a:ahLst/>
              <a:cxnLst/>
              <a:rect l="l" t="t" r="r" b="b"/>
              <a:pathLst>
                <a:path w="452754" h="595629">
                  <a:moveTo>
                    <a:pt x="452437" y="0"/>
                  </a:moveTo>
                  <a:lnTo>
                    <a:pt x="0" y="0"/>
                  </a:lnTo>
                  <a:lnTo>
                    <a:pt x="0" y="595312"/>
                  </a:lnTo>
                  <a:lnTo>
                    <a:pt x="452437" y="595312"/>
                  </a:lnTo>
                  <a:lnTo>
                    <a:pt x="452437" y="585787"/>
                  </a:lnTo>
                  <a:lnTo>
                    <a:pt x="19050" y="585787"/>
                  </a:lnTo>
                  <a:lnTo>
                    <a:pt x="9525" y="576262"/>
                  </a:lnTo>
                  <a:lnTo>
                    <a:pt x="19050" y="576262"/>
                  </a:lnTo>
                  <a:lnTo>
                    <a:pt x="19050" y="19050"/>
                  </a:lnTo>
                  <a:lnTo>
                    <a:pt x="9525" y="19050"/>
                  </a:lnTo>
                  <a:lnTo>
                    <a:pt x="19050" y="9525"/>
                  </a:lnTo>
                  <a:lnTo>
                    <a:pt x="452437" y="9525"/>
                  </a:lnTo>
                  <a:lnTo>
                    <a:pt x="452437" y="0"/>
                  </a:lnTo>
                  <a:close/>
                </a:path>
                <a:path w="452754" h="595629">
                  <a:moveTo>
                    <a:pt x="19050" y="576262"/>
                  </a:moveTo>
                  <a:lnTo>
                    <a:pt x="9525" y="576262"/>
                  </a:lnTo>
                  <a:lnTo>
                    <a:pt x="19050" y="585787"/>
                  </a:lnTo>
                  <a:lnTo>
                    <a:pt x="19050" y="576262"/>
                  </a:lnTo>
                  <a:close/>
                </a:path>
                <a:path w="452754" h="595629">
                  <a:moveTo>
                    <a:pt x="433387" y="576262"/>
                  </a:moveTo>
                  <a:lnTo>
                    <a:pt x="19050" y="576262"/>
                  </a:lnTo>
                  <a:lnTo>
                    <a:pt x="19050" y="585787"/>
                  </a:lnTo>
                  <a:lnTo>
                    <a:pt x="433387" y="585787"/>
                  </a:lnTo>
                  <a:lnTo>
                    <a:pt x="433387" y="576262"/>
                  </a:lnTo>
                  <a:close/>
                </a:path>
                <a:path w="452754" h="595629">
                  <a:moveTo>
                    <a:pt x="433387" y="9525"/>
                  </a:moveTo>
                  <a:lnTo>
                    <a:pt x="433387" y="585787"/>
                  </a:lnTo>
                  <a:lnTo>
                    <a:pt x="442912" y="576262"/>
                  </a:lnTo>
                  <a:lnTo>
                    <a:pt x="452437" y="576262"/>
                  </a:lnTo>
                  <a:lnTo>
                    <a:pt x="452437" y="19050"/>
                  </a:lnTo>
                  <a:lnTo>
                    <a:pt x="442912" y="19050"/>
                  </a:lnTo>
                  <a:lnTo>
                    <a:pt x="433387" y="9525"/>
                  </a:lnTo>
                  <a:close/>
                </a:path>
                <a:path w="452754" h="595629">
                  <a:moveTo>
                    <a:pt x="452437" y="576262"/>
                  </a:moveTo>
                  <a:lnTo>
                    <a:pt x="442912" y="576262"/>
                  </a:lnTo>
                  <a:lnTo>
                    <a:pt x="433387" y="585787"/>
                  </a:lnTo>
                  <a:lnTo>
                    <a:pt x="452437" y="585787"/>
                  </a:lnTo>
                  <a:lnTo>
                    <a:pt x="452437" y="576262"/>
                  </a:lnTo>
                  <a:close/>
                </a:path>
                <a:path w="452754" h="595629">
                  <a:moveTo>
                    <a:pt x="19050" y="9525"/>
                  </a:moveTo>
                  <a:lnTo>
                    <a:pt x="9525" y="19050"/>
                  </a:lnTo>
                  <a:lnTo>
                    <a:pt x="19050" y="19050"/>
                  </a:lnTo>
                  <a:lnTo>
                    <a:pt x="19050" y="9525"/>
                  </a:lnTo>
                  <a:close/>
                </a:path>
                <a:path w="452754" h="595629">
                  <a:moveTo>
                    <a:pt x="433387" y="9525"/>
                  </a:moveTo>
                  <a:lnTo>
                    <a:pt x="19050" y="9525"/>
                  </a:lnTo>
                  <a:lnTo>
                    <a:pt x="19050" y="19050"/>
                  </a:lnTo>
                  <a:lnTo>
                    <a:pt x="433387" y="19050"/>
                  </a:lnTo>
                  <a:lnTo>
                    <a:pt x="433387" y="9525"/>
                  </a:lnTo>
                  <a:close/>
                </a:path>
                <a:path w="452754" h="595629">
                  <a:moveTo>
                    <a:pt x="452437" y="9525"/>
                  </a:moveTo>
                  <a:lnTo>
                    <a:pt x="433387" y="9525"/>
                  </a:lnTo>
                  <a:lnTo>
                    <a:pt x="442912" y="19050"/>
                  </a:lnTo>
                  <a:lnTo>
                    <a:pt x="452437" y="19050"/>
                  </a:lnTo>
                  <a:lnTo>
                    <a:pt x="452437" y="952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5155565" y="4541773"/>
            <a:ext cx="35972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  <a:latin typeface="Tahoma"/>
                <a:cs typeface="Tahoma"/>
              </a:rPr>
              <a:t>Neighborhood</a:t>
            </a:r>
            <a:r>
              <a:rPr dirty="0" sz="2800" spc="-15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function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8000" y="3832707"/>
            <a:ext cx="1617421" cy="83822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5514085" y="5593003"/>
            <a:ext cx="201930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i="1">
                <a:latin typeface="Times New Roman"/>
                <a:cs typeface="Times New Roman"/>
              </a:rPr>
              <a:t>j</a:t>
            </a:r>
            <a:r>
              <a:rPr dirty="0" sz="1500" spc="-235" i="1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,</a:t>
            </a:r>
            <a:r>
              <a:rPr dirty="0" sz="1500" spc="-25" i="1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16" name="object 16" descr=""/>
          <p:cNvSpPr txBox="1"/>
          <p:nvPr/>
        </p:nvSpPr>
        <p:spPr>
          <a:xfrm>
            <a:off x="7527276" y="4970246"/>
            <a:ext cx="38227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24572" sz="3900" i="1">
                <a:latin typeface="Times New Roman"/>
                <a:cs typeface="Times New Roman"/>
              </a:rPr>
              <a:t>d</a:t>
            </a:r>
            <a:r>
              <a:rPr dirty="0" baseline="-24572" sz="3900" spc="-465" i="1">
                <a:latin typeface="Times New Roman"/>
                <a:cs typeface="Times New Roman"/>
              </a:rPr>
              <a:t> </a:t>
            </a:r>
            <a:r>
              <a:rPr dirty="0" sz="1500" spc="-5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905561" y="5100218"/>
            <a:ext cx="151892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78585" algn="l"/>
              </a:tabLst>
            </a:pPr>
            <a:r>
              <a:rPr dirty="0" sz="2600" spc="85">
                <a:latin typeface="Times New Roman"/>
                <a:cs typeface="Times New Roman"/>
              </a:rPr>
              <a:t>(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664">
                <a:latin typeface="Times New Roman"/>
                <a:cs typeface="Times New Roman"/>
              </a:rPr>
              <a:t>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304535" y="5369623"/>
            <a:ext cx="3145790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41325" algn="l"/>
                <a:tab pos="2475865" algn="l"/>
                <a:tab pos="2926715" algn="l"/>
              </a:tabLst>
            </a:pPr>
            <a:r>
              <a:rPr dirty="0" sz="2600" spc="-50" i="1">
                <a:latin typeface="Times New Roman"/>
                <a:cs typeface="Times New Roman"/>
              </a:rPr>
              <a:t>h</a:t>
            </a:r>
            <a:r>
              <a:rPr dirty="0" sz="2600" i="1">
                <a:latin typeface="Times New Roman"/>
                <a:cs typeface="Times New Roman"/>
              </a:rPr>
              <a:t>	</a:t>
            </a:r>
            <a:r>
              <a:rPr dirty="0" sz="2600" spc="50">
                <a:latin typeface="Times New Roman"/>
                <a:cs typeface="Times New Roman"/>
              </a:rPr>
              <a:t>(</a:t>
            </a:r>
            <a:r>
              <a:rPr dirty="0" sz="2600" spc="50" i="1">
                <a:latin typeface="Times New Roman"/>
                <a:cs typeface="Times New Roman"/>
              </a:rPr>
              <a:t>t</a:t>
            </a:r>
            <a:r>
              <a:rPr dirty="0" sz="2600" spc="50">
                <a:latin typeface="Times New Roman"/>
                <a:cs typeface="Times New Roman"/>
              </a:rPr>
              <a:t>)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=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350">
                <a:latin typeface="Times New Roman"/>
                <a:cs typeface="Times New Roman"/>
              </a:rPr>
              <a:t>exp</a:t>
            </a:r>
            <a:r>
              <a:rPr dirty="0" baseline="-29914" sz="3900" spc="-525">
                <a:latin typeface="Times New Roman"/>
                <a:cs typeface="Times New Roman"/>
              </a:rPr>
              <a:t></a:t>
            </a:r>
            <a:r>
              <a:rPr dirty="0" baseline="-29914" sz="3900" spc="-375">
                <a:latin typeface="Times New Roman"/>
                <a:cs typeface="Times New Roman"/>
              </a:rPr>
              <a:t> </a:t>
            </a:r>
            <a:r>
              <a:rPr dirty="0" sz="2600" spc="130">
                <a:latin typeface="Times New Roman"/>
                <a:cs typeface="Times New Roman"/>
              </a:rPr>
              <a:t>–</a:t>
            </a:r>
            <a:r>
              <a:rPr dirty="0" sz="2600" spc="-254">
                <a:latin typeface="Times New Roman"/>
                <a:cs typeface="Times New Roman"/>
              </a:rPr>
              <a:t> </a:t>
            </a:r>
            <a:r>
              <a:rPr dirty="0" u="heavy" baseline="48148" sz="22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j</a:t>
            </a:r>
            <a:r>
              <a:rPr dirty="0" baseline="48148" sz="2250" spc="-352" i="1">
                <a:latin typeface="Times New Roman"/>
                <a:cs typeface="Times New Roman"/>
              </a:rPr>
              <a:t> </a:t>
            </a:r>
            <a:r>
              <a:rPr dirty="0" u="heavy" baseline="48148" sz="2250" spc="-37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,</a:t>
            </a:r>
            <a:r>
              <a:rPr dirty="0" u="heavy" baseline="48148" sz="2250" spc="-37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baseline="48148" sz="22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baseline="48148" sz="2250" i="1">
                <a:latin typeface="Times New Roman"/>
                <a:cs typeface="Times New Roman"/>
              </a:rPr>
              <a:t> </a:t>
            </a:r>
            <a:r>
              <a:rPr dirty="0" baseline="-29914" sz="3900" spc="-2422">
                <a:latin typeface="Times New Roman"/>
                <a:cs typeface="Times New Roman"/>
              </a:rPr>
              <a:t></a:t>
            </a:r>
            <a:endParaRPr baseline="-29914" sz="39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905561" y="5752642"/>
            <a:ext cx="153035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1664">
                <a:latin typeface="Times New Roman"/>
                <a:cs typeface="Times New Roman"/>
              </a:rPr>
              <a:t>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06983" y="5610916"/>
            <a:ext cx="1143000" cy="443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600">
                <a:latin typeface="Times New Roman"/>
                <a:cs typeface="Times New Roman"/>
              </a:rPr>
              <a:t>2</a:t>
            </a:r>
            <a:r>
              <a:rPr dirty="0" sz="2750" i="1">
                <a:latin typeface="Times New Roman"/>
                <a:cs typeface="Times New Roman"/>
              </a:rPr>
              <a:t>σ</a:t>
            </a:r>
            <a:r>
              <a:rPr dirty="0" sz="2750" spc="-190" i="1">
                <a:latin typeface="Times New Roman"/>
                <a:cs typeface="Times New Roman"/>
              </a:rPr>
              <a:t> </a:t>
            </a:r>
            <a:r>
              <a:rPr dirty="0" baseline="42592" sz="2250">
                <a:latin typeface="Times New Roman"/>
                <a:cs typeface="Times New Roman"/>
              </a:rPr>
              <a:t>2</a:t>
            </a:r>
            <a:r>
              <a:rPr dirty="0" baseline="42592" sz="2250" spc="-89">
                <a:latin typeface="Times New Roman"/>
                <a:cs typeface="Times New Roman"/>
              </a:rPr>
              <a:t> </a:t>
            </a:r>
            <a:r>
              <a:rPr dirty="0" sz="2600" spc="50">
                <a:latin typeface="Times New Roman"/>
                <a:cs typeface="Times New Roman"/>
              </a:rPr>
              <a:t>(</a:t>
            </a:r>
            <a:r>
              <a:rPr dirty="0" sz="2600" spc="50" i="1">
                <a:latin typeface="Times New Roman"/>
                <a:cs typeface="Times New Roman"/>
              </a:rPr>
              <a:t>t</a:t>
            </a:r>
            <a:r>
              <a:rPr dirty="0" sz="2600" spc="50">
                <a:latin typeface="Times New Roman"/>
                <a:cs typeface="Times New Roman"/>
              </a:rPr>
              <a:t>)</a:t>
            </a:r>
            <a:r>
              <a:rPr dirty="0" sz="2600" spc="-114">
                <a:latin typeface="Times New Roman"/>
                <a:cs typeface="Times New Roman"/>
              </a:rPr>
              <a:t> </a:t>
            </a:r>
            <a:r>
              <a:rPr dirty="0" baseline="-21367" sz="3900" spc="-2497">
                <a:latin typeface="Times New Roman"/>
                <a:cs typeface="Times New Roman"/>
              </a:rPr>
              <a:t></a:t>
            </a:r>
            <a:endParaRPr baseline="-21367" sz="3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Adaptive</a:t>
            </a:r>
            <a:r>
              <a:rPr dirty="0" sz="4400" spc="-145"/>
              <a:t> </a:t>
            </a:r>
            <a:r>
              <a:rPr dirty="0" sz="4400" spc="-10"/>
              <a:t>Process</a:t>
            </a:r>
            <a:endParaRPr sz="4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76820" y="2627463"/>
            <a:ext cx="3298825" cy="1723389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2800">
                <a:latin typeface="Tahoma"/>
                <a:cs typeface="Tahoma"/>
              </a:rPr>
              <a:t>Possible</a:t>
            </a:r>
            <a:r>
              <a:rPr dirty="0" sz="2800" spc="-13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options:</a:t>
            </a:r>
            <a:endParaRPr sz="2800">
              <a:latin typeface="Tahoma"/>
              <a:cs typeface="Tahoma"/>
            </a:endParaRPr>
          </a:p>
          <a:p>
            <a:pPr marL="1391285">
              <a:lnSpc>
                <a:spcPct val="100000"/>
              </a:lnSpc>
              <a:spcBef>
                <a:spcPts val="805"/>
              </a:spcBef>
            </a:pPr>
            <a:r>
              <a:rPr dirty="0" sz="2500" spc="135" i="1">
                <a:latin typeface="Times New Roman"/>
                <a:cs typeface="Times New Roman"/>
              </a:rPr>
              <a:t>η</a:t>
            </a:r>
            <a:r>
              <a:rPr dirty="0" sz="2350" spc="135">
                <a:latin typeface="Times New Roman"/>
                <a:cs typeface="Times New Roman"/>
              </a:rPr>
              <a:t>(</a:t>
            </a:r>
            <a:r>
              <a:rPr dirty="0" sz="2350" spc="135" i="1">
                <a:latin typeface="Times New Roman"/>
                <a:cs typeface="Times New Roman"/>
              </a:rPr>
              <a:t>t</a:t>
            </a:r>
            <a:r>
              <a:rPr dirty="0" sz="2350" spc="135">
                <a:latin typeface="Times New Roman"/>
                <a:cs typeface="Times New Roman"/>
              </a:rPr>
              <a:t>)</a:t>
            </a:r>
            <a:r>
              <a:rPr dirty="0" sz="2350" spc="-5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=</a:t>
            </a:r>
            <a:r>
              <a:rPr dirty="0" sz="2350" spc="-35">
                <a:latin typeface="Times New Roman"/>
                <a:cs typeface="Times New Roman"/>
              </a:rPr>
              <a:t> </a:t>
            </a:r>
            <a:r>
              <a:rPr dirty="0" sz="2350" spc="70">
                <a:latin typeface="Times New Roman"/>
                <a:cs typeface="Times New Roman"/>
              </a:rPr>
              <a:t>–</a:t>
            </a:r>
            <a:r>
              <a:rPr dirty="0" sz="2350" spc="70" i="1">
                <a:latin typeface="Times New Roman"/>
                <a:cs typeface="Times New Roman"/>
              </a:rPr>
              <a:t>at</a:t>
            </a:r>
            <a:r>
              <a:rPr dirty="0" sz="2350" spc="-65" i="1">
                <a:latin typeface="Times New Roman"/>
                <a:cs typeface="Times New Roman"/>
              </a:rPr>
              <a:t> </a:t>
            </a:r>
            <a:r>
              <a:rPr dirty="0" sz="2350" spc="-35">
                <a:latin typeface="Times New Roman"/>
                <a:cs typeface="Times New Roman"/>
              </a:rPr>
              <a:t>+</a:t>
            </a:r>
            <a:r>
              <a:rPr dirty="0" sz="2350" spc="-220">
                <a:latin typeface="Times New Roman"/>
                <a:cs typeface="Times New Roman"/>
              </a:rPr>
              <a:t> </a:t>
            </a:r>
            <a:r>
              <a:rPr dirty="0" sz="2350" spc="-50" i="1">
                <a:latin typeface="Times New Roman"/>
                <a:cs typeface="Times New Roman"/>
              </a:rPr>
              <a:t>b</a:t>
            </a:r>
            <a:endParaRPr sz="2350">
              <a:latin typeface="Times New Roman"/>
              <a:cs typeface="Times New Roman"/>
            </a:endParaRPr>
          </a:p>
          <a:p>
            <a:pPr marL="1247775">
              <a:lnSpc>
                <a:spcPct val="100000"/>
              </a:lnSpc>
              <a:spcBef>
                <a:spcPts val="2660"/>
              </a:spcBef>
            </a:pPr>
            <a:r>
              <a:rPr dirty="0" sz="2200" spc="114" i="1">
                <a:latin typeface="Times New Roman"/>
                <a:cs typeface="Times New Roman"/>
              </a:rPr>
              <a:t>η</a:t>
            </a:r>
            <a:r>
              <a:rPr dirty="0" sz="2100" spc="114">
                <a:latin typeface="Times New Roman"/>
                <a:cs typeface="Times New Roman"/>
              </a:rPr>
              <a:t>(</a:t>
            </a:r>
            <a:r>
              <a:rPr dirty="0" sz="2100" spc="114" i="1">
                <a:latin typeface="Times New Roman"/>
                <a:cs typeface="Times New Roman"/>
              </a:rPr>
              <a:t>t</a:t>
            </a:r>
            <a:r>
              <a:rPr dirty="0" sz="2100" spc="114">
                <a:latin typeface="Times New Roman"/>
                <a:cs typeface="Times New Roman"/>
              </a:rPr>
              <a:t>)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=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exp(–</a:t>
            </a:r>
            <a:r>
              <a:rPr dirty="0" sz="2100" i="1">
                <a:latin typeface="Times New Roman"/>
                <a:cs typeface="Times New Roman"/>
              </a:rPr>
              <a:t>at</a:t>
            </a:r>
            <a:r>
              <a:rPr dirty="0" sz="2100">
                <a:latin typeface="Times New Roman"/>
                <a:cs typeface="Times New Roman"/>
              </a:rPr>
              <a:t>)</a:t>
            </a:r>
            <a:r>
              <a:rPr dirty="0" sz="2100" spc="-110">
                <a:latin typeface="Times New Roman"/>
                <a:cs typeface="Times New Roman"/>
              </a:rPr>
              <a:t> </a:t>
            </a:r>
            <a:r>
              <a:rPr dirty="0" sz="2100" spc="-45">
                <a:latin typeface="Times New Roman"/>
                <a:cs typeface="Times New Roman"/>
              </a:rPr>
              <a:t>+</a:t>
            </a:r>
            <a:r>
              <a:rPr dirty="0" sz="2100" spc="-140">
                <a:latin typeface="Times New Roman"/>
                <a:cs typeface="Times New Roman"/>
              </a:rPr>
              <a:t> </a:t>
            </a:r>
            <a:r>
              <a:rPr dirty="0" sz="2100" spc="-50" i="1">
                <a:latin typeface="Times New Roman"/>
                <a:cs typeface="Times New Roman"/>
              </a:rPr>
              <a:t>b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1331" y="3099371"/>
            <a:ext cx="3450990" cy="2563988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130435" y="4980559"/>
            <a:ext cx="266065" cy="0"/>
          </a:xfrm>
          <a:custGeom>
            <a:avLst/>
            <a:gdLst/>
            <a:ahLst/>
            <a:cxnLst/>
            <a:rect l="l" t="t" r="r" b="b"/>
            <a:pathLst>
              <a:path w="266064" h="0">
                <a:moveTo>
                  <a:pt x="0" y="0"/>
                </a:moveTo>
                <a:lnTo>
                  <a:pt x="265874" y="0"/>
                </a:lnTo>
              </a:path>
            </a:pathLst>
          </a:custGeom>
          <a:ln w="11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136722" y="4979593"/>
            <a:ext cx="24574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25" i="1">
                <a:latin typeface="Times New Roman"/>
                <a:cs typeface="Times New Roman"/>
              </a:rPr>
              <a:t>at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2329751" y="4745634"/>
            <a:ext cx="1500505" cy="37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62965" algn="l"/>
              </a:tabLst>
            </a:pPr>
            <a:r>
              <a:rPr dirty="0" sz="2300" spc="140" i="1">
                <a:latin typeface="Times New Roman"/>
                <a:cs typeface="Times New Roman"/>
              </a:rPr>
              <a:t>η</a:t>
            </a:r>
            <a:r>
              <a:rPr dirty="0" sz="2150" spc="140">
                <a:latin typeface="Times New Roman"/>
                <a:cs typeface="Times New Roman"/>
              </a:rPr>
              <a:t>(</a:t>
            </a:r>
            <a:r>
              <a:rPr dirty="0" sz="2150" spc="140" i="1">
                <a:latin typeface="Times New Roman"/>
                <a:cs typeface="Times New Roman"/>
              </a:rPr>
              <a:t>t</a:t>
            </a:r>
            <a:r>
              <a:rPr dirty="0" sz="2150" spc="140">
                <a:latin typeface="Times New Roman"/>
                <a:cs typeface="Times New Roman"/>
              </a:rPr>
              <a:t>)</a:t>
            </a:r>
            <a:r>
              <a:rPr dirty="0" sz="2150" spc="-30">
                <a:latin typeface="Times New Roman"/>
                <a:cs typeface="Times New Roman"/>
              </a:rPr>
              <a:t> </a:t>
            </a:r>
            <a:r>
              <a:rPr dirty="0" sz="2150" spc="-50">
                <a:latin typeface="Times New Roman"/>
                <a:cs typeface="Times New Roman"/>
              </a:rPr>
              <a:t>=</a:t>
            </a: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baseline="36175" sz="3225">
                <a:latin typeface="Times New Roman"/>
                <a:cs typeface="Times New Roman"/>
              </a:rPr>
              <a:t>1</a:t>
            </a:r>
            <a:r>
              <a:rPr dirty="0" baseline="36175" sz="3225" spc="622">
                <a:latin typeface="Times New Roman"/>
                <a:cs typeface="Times New Roman"/>
              </a:rPr>
              <a:t> </a:t>
            </a:r>
            <a:r>
              <a:rPr dirty="0" sz="2150">
                <a:latin typeface="Times New Roman"/>
                <a:cs typeface="Times New Roman"/>
              </a:rPr>
              <a:t>+</a:t>
            </a:r>
            <a:r>
              <a:rPr dirty="0" sz="2150" spc="-204">
                <a:latin typeface="Times New Roman"/>
                <a:cs typeface="Times New Roman"/>
              </a:rPr>
              <a:t> </a:t>
            </a:r>
            <a:r>
              <a:rPr dirty="0" sz="2150" spc="-50" i="1">
                <a:latin typeface="Times New Roman"/>
                <a:cs typeface="Times New Roman"/>
              </a:rPr>
              <a:t>b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Learning</a:t>
            </a:r>
            <a:r>
              <a:rPr dirty="0" sz="4400" spc="-105"/>
              <a:t> </a:t>
            </a:r>
            <a:r>
              <a:rPr dirty="0" sz="4400" spc="-20"/>
              <a:t>Rate</a:t>
            </a:r>
            <a:endParaRPr sz="4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055023" y="2310828"/>
            <a:ext cx="3178175" cy="1306830"/>
          </a:xfrm>
          <a:custGeom>
            <a:avLst/>
            <a:gdLst/>
            <a:ahLst/>
            <a:cxnLst/>
            <a:rect l="l" t="t" r="r" b="b"/>
            <a:pathLst>
              <a:path w="3178175" h="1306829">
                <a:moveTo>
                  <a:pt x="2170112" y="0"/>
                </a:moveTo>
                <a:lnTo>
                  <a:pt x="2160587" y="0"/>
                </a:lnTo>
                <a:lnTo>
                  <a:pt x="2160587" y="9525"/>
                </a:lnTo>
                <a:lnTo>
                  <a:pt x="2160587" y="431800"/>
                </a:lnTo>
                <a:lnTo>
                  <a:pt x="514350" y="431800"/>
                </a:lnTo>
                <a:lnTo>
                  <a:pt x="514350" y="9525"/>
                </a:lnTo>
                <a:lnTo>
                  <a:pt x="2160587" y="9525"/>
                </a:lnTo>
                <a:lnTo>
                  <a:pt x="2160587" y="0"/>
                </a:lnTo>
                <a:lnTo>
                  <a:pt x="504825" y="0"/>
                </a:lnTo>
                <a:lnTo>
                  <a:pt x="504825" y="441325"/>
                </a:lnTo>
                <a:lnTo>
                  <a:pt x="2170112" y="441325"/>
                </a:lnTo>
                <a:lnTo>
                  <a:pt x="2170112" y="436562"/>
                </a:lnTo>
                <a:lnTo>
                  <a:pt x="2170112" y="431800"/>
                </a:lnTo>
                <a:lnTo>
                  <a:pt x="2170112" y="9525"/>
                </a:lnTo>
                <a:lnTo>
                  <a:pt x="2170112" y="4762"/>
                </a:lnTo>
                <a:lnTo>
                  <a:pt x="2170112" y="0"/>
                </a:lnTo>
                <a:close/>
              </a:path>
              <a:path w="3178175" h="1306829">
                <a:moveTo>
                  <a:pt x="3178175" y="792162"/>
                </a:moveTo>
                <a:lnTo>
                  <a:pt x="3168650" y="792162"/>
                </a:lnTo>
                <a:lnTo>
                  <a:pt x="3168650" y="801687"/>
                </a:lnTo>
                <a:lnTo>
                  <a:pt x="3168650" y="1296987"/>
                </a:lnTo>
                <a:lnTo>
                  <a:pt x="9525" y="1296987"/>
                </a:lnTo>
                <a:lnTo>
                  <a:pt x="9525" y="801687"/>
                </a:lnTo>
                <a:lnTo>
                  <a:pt x="3168650" y="801687"/>
                </a:lnTo>
                <a:lnTo>
                  <a:pt x="3168650" y="792162"/>
                </a:lnTo>
                <a:lnTo>
                  <a:pt x="0" y="792162"/>
                </a:lnTo>
                <a:lnTo>
                  <a:pt x="0" y="1306512"/>
                </a:lnTo>
                <a:lnTo>
                  <a:pt x="3178175" y="1306512"/>
                </a:lnTo>
                <a:lnTo>
                  <a:pt x="3178175" y="1301750"/>
                </a:lnTo>
                <a:lnTo>
                  <a:pt x="3178175" y="1296987"/>
                </a:lnTo>
                <a:lnTo>
                  <a:pt x="3178175" y="801687"/>
                </a:lnTo>
                <a:lnTo>
                  <a:pt x="3178175" y="796925"/>
                </a:lnTo>
                <a:lnTo>
                  <a:pt x="3178175" y="792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118840" y="2364486"/>
            <a:ext cx="3051175" cy="1159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4659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0000FF"/>
                </a:solidFill>
                <a:latin typeface="Tahoma"/>
                <a:cs typeface="Tahoma"/>
              </a:rPr>
              <a:t>Initialization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Draw</a:t>
            </a:r>
            <a:r>
              <a:rPr dirty="0" sz="20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an</a:t>
            </a:r>
            <a:r>
              <a:rPr dirty="0" sz="20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dirty="0" sz="20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sample</a:t>
            </a:r>
            <a:r>
              <a:rPr dirty="0" sz="20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spc="-50" b="1">
                <a:solidFill>
                  <a:srgbClr val="0000FF"/>
                </a:solidFill>
                <a:latin typeface="Tahoma"/>
                <a:cs typeface="Tahoma"/>
              </a:rPr>
              <a:t>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975523" y="3823715"/>
            <a:ext cx="5788025" cy="775970"/>
          </a:xfrm>
          <a:custGeom>
            <a:avLst/>
            <a:gdLst/>
            <a:ahLst/>
            <a:cxnLst/>
            <a:rect l="l" t="t" r="r" b="b"/>
            <a:pathLst>
              <a:path w="5788025" h="775970">
                <a:moveTo>
                  <a:pt x="5788025" y="0"/>
                </a:moveTo>
                <a:lnTo>
                  <a:pt x="0" y="0"/>
                </a:lnTo>
                <a:lnTo>
                  <a:pt x="0" y="775728"/>
                </a:lnTo>
                <a:lnTo>
                  <a:pt x="5788025" y="775728"/>
                </a:lnTo>
                <a:lnTo>
                  <a:pt x="5788025" y="770966"/>
                </a:lnTo>
                <a:lnTo>
                  <a:pt x="9525" y="770966"/>
                </a:lnTo>
                <a:lnTo>
                  <a:pt x="4762" y="766203"/>
                </a:lnTo>
                <a:lnTo>
                  <a:pt x="9525" y="766203"/>
                </a:lnTo>
                <a:lnTo>
                  <a:pt x="9525" y="9524"/>
                </a:lnTo>
                <a:lnTo>
                  <a:pt x="4762" y="9524"/>
                </a:lnTo>
                <a:lnTo>
                  <a:pt x="9525" y="4762"/>
                </a:lnTo>
                <a:lnTo>
                  <a:pt x="5788025" y="4762"/>
                </a:lnTo>
                <a:lnTo>
                  <a:pt x="5788025" y="0"/>
                </a:lnTo>
                <a:close/>
              </a:path>
              <a:path w="5788025" h="775970">
                <a:moveTo>
                  <a:pt x="9525" y="766203"/>
                </a:moveTo>
                <a:lnTo>
                  <a:pt x="4762" y="766203"/>
                </a:lnTo>
                <a:lnTo>
                  <a:pt x="9525" y="770966"/>
                </a:lnTo>
                <a:lnTo>
                  <a:pt x="9525" y="766203"/>
                </a:lnTo>
                <a:close/>
              </a:path>
              <a:path w="5788025" h="775970">
                <a:moveTo>
                  <a:pt x="5778500" y="766203"/>
                </a:moveTo>
                <a:lnTo>
                  <a:pt x="9525" y="766203"/>
                </a:lnTo>
                <a:lnTo>
                  <a:pt x="9525" y="770966"/>
                </a:lnTo>
                <a:lnTo>
                  <a:pt x="5778500" y="770966"/>
                </a:lnTo>
                <a:lnTo>
                  <a:pt x="5778500" y="766203"/>
                </a:lnTo>
                <a:close/>
              </a:path>
              <a:path w="5788025" h="775970">
                <a:moveTo>
                  <a:pt x="5778500" y="4762"/>
                </a:moveTo>
                <a:lnTo>
                  <a:pt x="5778500" y="770966"/>
                </a:lnTo>
                <a:lnTo>
                  <a:pt x="5783262" y="766203"/>
                </a:lnTo>
                <a:lnTo>
                  <a:pt x="5788025" y="766203"/>
                </a:lnTo>
                <a:lnTo>
                  <a:pt x="5788025" y="9524"/>
                </a:lnTo>
                <a:lnTo>
                  <a:pt x="5783262" y="9524"/>
                </a:lnTo>
                <a:lnTo>
                  <a:pt x="5778500" y="4762"/>
                </a:lnTo>
                <a:close/>
              </a:path>
              <a:path w="5788025" h="775970">
                <a:moveTo>
                  <a:pt x="5788025" y="766203"/>
                </a:moveTo>
                <a:lnTo>
                  <a:pt x="5783262" y="766203"/>
                </a:lnTo>
                <a:lnTo>
                  <a:pt x="5778500" y="770966"/>
                </a:lnTo>
                <a:lnTo>
                  <a:pt x="5788025" y="770966"/>
                </a:lnTo>
                <a:lnTo>
                  <a:pt x="5788025" y="766203"/>
                </a:lnTo>
                <a:close/>
              </a:path>
              <a:path w="5788025" h="775970">
                <a:moveTo>
                  <a:pt x="9525" y="4762"/>
                </a:moveTo>
                <a:lnTo>
                  <a:pt x="4762" y="9524"/>
                </a:lnTo>
                <a:lnTo>
                  <a:pt x="9525" y="9524"/>
                </a:lnTo>
                <a:lnTo>
                  <a:pt x="9525" y="4762"/>
                </a:lnTo>
                <a:close/>
              </a:path>
              <a:path w="5788025" h="775970">
                <a:moveTo>
                  <a:pt x="5778500" y="4762"/>
                </a:moveTo>
                <a:lnTo>
                  <a:pt x="9525" y="4762"/>
                </a:lnTo>
                <a:lnTo>
                  <a:pt x="9525" y="9524"/>
                </a:lnTo>
                <a:lnTo>
                  <a:pt x="5778500" y="9524"/>
                </a:lnTo>
                <a:lnTo>
                  <a:pt x="5778500" y="4762"/>
                </a:lnTo>
                <a:close/>
              </a:path>
              <a:path w="5788025" h="775970">
                <a:moveTo>
                  <a:pt x="5788025" y="4762"/>
                </a:moveTo>
                <a:lnTo>
                  <a:pt x="5778500" y="4762"/>
                </a:lnTo>
                <a:lnTo>
                  <a:pt x="5783262" y="9524"/>
                </a:lnTo>
                <a:lnTo>
                  <a:pt x="5788025" y="9524"/>
                </a:lnTo>
                <a:lnTo>
                  <a:pt x="5788025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059025" y="3891978"/>
            <a:ext cx="225806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Winner</a:t>
            </a:r>
            <a:r>
              <a:rPr dirty="0" sz="20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00FF"/>
                </a:solidFill>
                <a:latin typeface="Tahoma"/>
                <a:cs typeface="Tahoma"/>
              </a:rPr>
              <a:t>neuron</a:t>
            </a:r>
            <a:r>
              <a:rPr dirty="0" sz="2000" spc="-3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000" spc="-25" b="1">
                <a:solidFill>
                  <a:srgbClr val="0000FF"/>
                </a:solidFill>
                <a:latin typeface="Tahoma"/>
                <a:cs typeface="Tahoma"/>
              </a:rPr>
              <a:t>j*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046960" y="4903215"/>
            <a:ext cx="5410200" cy="1522730"/>
          </a:xfrm>
          <a:custGeom>
            <a:avLst/>
            <a:gdLst/>
            <a:ahLst/>
            <a:cxnLst/>
            <a:rect l="l" t="t" r="r" b="b"/>
            <a:pathLst>
              <a:path w="5410200" h="1522729">
                <a:moveTo>
                  <a:pt x="5410200" y="0"/>
                </a:moveTo>
                <a:lnTo>
                  <a:pt x="0" y="0"/>
                </a:lnTo>
                <a:lnTo>
                  <a:pt x="0" y="1522412"/>
                </a:lnTo>
                <a:lnTo>
                  <a:pt x="5410200" y="1522412"/>
                </a:lnTo>
                <a:lnTo>
                  <a:pt x="5410200" y="1517650"/>
                </a:lnTo>
                <a:lnTo>
                  <a:pt x="9525" y="1517650"/>
                </a:lnTo>
                <a:lnTo>
                  <a:pt x="4762" y="1512887"/>
                </a:lnTo>
                <a:lnTo>
                  <a:pt x="9525" y="1512887"/>
                </a:lnTo>
                <a:lnTo>
                  <a:pt x="9525" y="9524"/>
                </a:lnTo>
                <a:lnTo>
                  <a:pt x="4762" y="9524"/>
                </a:lnTo>
                <a:lnTo>
                  <a:pt x="9525" y="4762"/>
                </a:lnTo>
                <a:lnTo>
                  <a:pt x="5410200" y="4762"/>
                </a:lnTo>
                <a:lnTo>
                  <a:pt x="5410200" y="0"/>
                </a:lnTo>
                <a:close/>
              </a:path>
              <a:path w="5410200" h="1522729">
                <a:moveTo>
                  <a:pt x="9525" y="1512887"/>
                </a:moveTo>
                <a:lnTo>
                  <a:pt x="4762" y="1512887"/>
                </a:lnTo>
                <a:lnTo>
                  <a:pt x="9525" y="1517650"/>
                </a:lnTo>
                <a:lnTo>
                  <a:pt x="9525" y="1512887"/>
                </a:lnTo>
                <a:close/>
              </a:path>
              <a:path w="5410200" h="1522729">
                <a:moveTo>
                  <a:pt x="5400675" y="1512887"/>
                </a:moveTo>
                <a:lnTo>
                  <a:pt x="9525" y="1512887"/>
                </a:lnTo>
                <a:lnTo>
                  <a:pt x="9525" y="1517650"/>
                </a:lnTo>
                <a:lnTo>
                  <a:pt x="5400675" y="1517650"/>
                </a:lnTo>
                <a:lnTo>
                  <a:pt x="5400675" y="1512887"/>
                </a:lnTo>
                <a:close/>
              </a:path>
              <a:path w="5410200" h="1522729">
                <a:moveTo>
                  <a:pt x="5400675" y="4762"/>
                </a:moveTo>
                <a:lnTo>
                  <a:pt x="5400675" y="1517650"/>
                </a:lnTo>
                <a:lnTo>
                  <a:pt x="5405437" y="1512887"/>
                </a:lnTo>
                <a:lnTo>
                  <a:pt x="5410200" y="1512887"/>
                </a:lnTo>
                <a:lnTo>
                  <a:pt x="5410200" y="9524"/>
                </a:lnTo>
                <a:lnTo>
                  <a:pt x="5405437" y="9524"/>
                </a:lnTo>
                <a:lnTo>
                  <a:pt x="5400675" y="4762"/>
                </a:lnTo>
                <a:close/>
              </a:path>
              <a:path w="5410200" h="1522729">
                <a:moveTo>
                  <a:pt x="5410200" y="1512887"/>
                </a:moveTo>
                <a:lnTo>
                  <a:pt x="5405437" y="1512887"/>
                </a:lnTo>
                <a:lnTo>
                  <a:pt x="5400675" y="1517650"/>
                </a:lnTo>
                <a:lnTo>
                  <a:pt x="5410200" y="1517650"/>
                </a:lnTo>
                <a:lnTo>
                  <a:pt x="5410200" y="1512887"/>
                </a:lnTo>
                <a:close/>
              </a:path>
              <a:path w="5410200" h="1522729">
                <a:moveTo>
                  <a:pt x="9525" y="4762"/>
                </a:moveTo>
                <a:lnTo>
                  <a:pt x="4762" y="9524"/>
                </a:lnTo>
                <a:lnTo>
                  <a:pt x="9525" y="9524"/>
                </a:lnTo>
                <a:lnTo>
                  <a:pt x="9525" y="4762"/>
                </a:lnTo>
                <a:close/>
              </a:path>
              <a:path w="5410200" h="1522729">
                <a:moveTo>
                  <a:pt x="5400675" y="4762"/>
                </a:moveTo>
                <a:lnTo>
                  <a:pt x="9525" y="4762"/>
                </a:lnTo>
                <a:lnTo>
                  <a:pt x="9525" y="9524"/>
                </a:lnTo>
                <a:lnTo>
                  <a:pt x="5400675" y="9524"/>
                </a:lnTo>
                <a:lnTo>
                  <a:pt x="5400675" y="4762"/>
                </a:lnTo>
                <a:close/>
              </a:path>
              <a:path w="5410200" h="1522729">
                <a:moveTo>
                  <a:pt x="5410200" y="4762"/>
                </a:moveTo>
                <a:lnTo>
                  <a:pt x="5400675" y="4762"/>
                </a:lnTo>
                <a:lnTo>
                  <a:pt x="5405437" y="9524"/>
                </a:lnTo>
                <a:lnTo>
                  <a:pt x="5410200" y="9524"/>
                </a:lnTo>
                <a:lnTo>
                  <a:pt x="5410200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130463" y="4925123"/>
            <a:ext cx="9423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0000FF"/>
                </a:solidFill>
                <a:latin typeface="Tahoma"/>
                <a:cs typeface="Tahoma"/>
              </a:rPr>
              <a:t>Update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33344" y="5052059"/>
            <a:ext cx="4177665" cy="41338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43180">
              <a:lnSpc>
                <a:spcPts val="2490"/>
              </a:lnSpc>
            </a:pPr>
            <a:r>
              <a:rPr dirty="0" sz="2050">
                <a:latin typeface="Times New Roman"/>
                <a:cs typeface="Times New Roman"/>
              </a:rPr>
              <a:t>w</a:t>
            </a:r>
            <a:r>
              <a:rPr dirty="0" sz="2050" spc="-135">
                <a:latin typeface="Times New Roman"/>
                <a:cs typeface="Times New Roman"/>
              </a:rPr>
              <a:t> </a:t>
            </a:r>
            <a:r>
              <a:rPr dirty="0" baseline="-25462" sz="1800" i="1">
                <a:latin typeface="Times New Roman"/>
                <a:cs typeface="Times New Roman"/>
              </a:rPr>
              <a:t>j </a:t>
            </a:r>
            <a:r>
              <a:rPr dirty="0" sz="2050">
                <a:latin typeface="Times New Roman"/>
                <a:cs typeface="Times New Roman"/>
              </a:rPr>
              <a:t>(</a:t>
            </a:r>
            <a:r>
              <a:rPr dirty="0" sz="2050" i="1">
                <a:latin typeface="Times New Roman"/>
                <a:cs typeface="Times New Roman"/>
              </a:rPr>
              <a:t>t</a:t>
            </a:r>
            <a:r>
              <a:rPr dirty="0" sz="2050" spc="-50" i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+1)</a:t>
            </a:r>
            <a:r>
              <a:rPr dirty="0" sz="2050" spc="-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=</a:t>
            </a:r>
            <a:r>
              <a:rPr dirty="0" sz="2050" spc="-5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</a:t>
            </a:r>
            <a:r>
              <a:rPr dirty="0" sz="2050" spc="-130">
                <a:latin typeface="Times New Roman"/>
                <a:cs typeface="Times New Roman"/>
              </a:rPr>
              <a:t> </a:t>
            </a:r>
            <a:r>
              <a:rPr dirty="0" baseline="-25462" sz="1800" i="1">
                <a:latin typeface="Times New Roman"/>
                <a:cs typeface="Times New Roman"/>
              </a:rPr>
              <a:t>j </a:t>
            </a:r>
            <a:r>
              <a:rPr dirty="0" sz="2050">
                <a:latin typeface="Times New Roman"/>
                <a:cs typeface="Times New Roman"/>
              </a:rPr>
              <a:t>(</a:t>
            </a:r>
            <a:r>
              <a:rPr dirty="0" sz="2050" i="1">
                <a:latin typeface="Times New Roman"/>
                <a:cs typeface="Times New Roman"/>
              </a:rPr>
              <a:t>t</a:t>
            </a:r>
            <a:r>
              <a:rPr dirty="0" sz="2050">
                <a:latin typeface="Times New Roman"/>
                <a:cs typeface="Times New Roman"/>
              </a:rPr>
              <a:t>)</a:t>
            </a:r>
            <a:r>
              <a:rPr dirty="0" sz="2050" spc="-170">
                <a:latin typeface="Times New Roman"/>
                <a:cs typeface="Times New Roman"/>
              </a:rPr>
              <a:t> </a:t>
            </a:r>
            <a:r>
              <a:rPr dirty="0" sz="2050" spc="95">
                <a:latin typeface="Times New Roman"/>
                <a:cs typeface="Times New Roman"/>
              </a:rPr>
              <a:t>+</a:t>
            </a:r>
            <a:r>
              <a:rPr dirty="0" sz="2150" spc="95" i="1">
                <a:latin typeface="Times New Roman"/>
                <a:cs typeface="Times New Roman"/>
              </a:rPr>
              <a:t>η</a:t>
            </a:r>
            <a:r>
              <a:rPr dirty="0" sz="2050" spc="95">
                <a:latin typeface="Times New Roman"/>
                <a:cs typeface="Times New Roman"/>
              </a:rPr>
              <a:t>(</a:t>
            </a:r>
            <a:r>
              <a:rPr dirty="0" sz="2050" spc="95" i="1">
                <a:latin typeface="Times New Roman"/>
                <a:cs typeface="Times New Roman"/>
              </a:rPr>
              <a:t>t</a:t>
            </a:r>
            <a:r>
              <a:rPr dirty="0" sz="2050" spc="95">
                <a:latin typeface="Times New Roman"/>
                <a:cs typeface="Times New Roman"/>
              </a:rPr>
              <a:t>)</a:t>
            </a:r>
            <a:r>
              <a:rPr dirty="0" sz="2050" spc="95" i="1">
                <a:latin typeface="Times New Roman"/>
                <a:cs typeface="Times New Roman"/>
              </a:rPr>
              <a:t>h</a:t>
            </a:r>
            <a:r>
              <a:rPr dirty="0" baseline="-25462" sz="1800" spc="142" i="1">
                <a:latin typeface="Times New Roman"/>
                <a:cs typeface="Times New Roman"/>
              </a:rPr>
              <a:t>j</a:t>
            </a:r>
            <a:r>
              <a:rPr dirty="0" baseline="-25462" sz="1800" spc="-284" i="1">
                <a:latin typeface="Times New Roman"/>
                <a:cs typeface="Times New Roman"/>
              </a:rPr>
              <a:t> </a:t>
            </a:r>
            <a:r>
              <a:rPr dirty="0" baseline="-25462" sz="1800">
                <a:latin typeface="Times New Roman"/>
                <a:cs typeface="Times New Roman"/>
              </a:rPr>
              <a:t>,</a:t>
            </a:r>
            <a:r>
              <a:rPr dirty="0" baseline="-25462" sz="1800" i="1">
                <a:latin typeface="Times New Roman"/>
                <a:cs typeface="Times New Roman"/>
              </a:rPr>
              <a:t>i</a:t>
            </a:r>
            <a:r>
              <a:rPr dirty="0" baseline="-25462" sz="1800" spc="-37" i="1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(</a:t>
            </a:r>
            <a:r>
              <a:rPr dirty="0" sz="2050" i="1">
                <a:latin typeface="Times New Roman"/>
                <a:cs typeface="Times New Roman"/>
              </a:rPr>
              <a:t>t</a:t>
            </a:r>
            <a:r>
              <a:rPr dirty="0" sz="2050">
                <a:latin typeface="Times New Roman"/>
                <a:cs typeface="Times New Roman"/>
              </a:rPr>
              <a:t>)(x</a:t>
            </a:r>
            <a:r>
              <a:rPr dirty="0" sz="2050" spc="-95">
                <a:latin typeface="Times New Roman"/>
                <a:cs typeface="Times New Roman"/>
              </a:rPr>
              <a:t> </a:t>
            </a:r>
            <a:r>
              <a:rPr dirty="0" sz="2050" spc="110">
                <a:latin typeface="Times New Roman"/>
                <a:cs typeface="Times New Roman"/>
              </a:rPr>
              <a:t>–</a:t>
            </a:r>
            <a:r>
              <a:rPr dirty="0" sz="2050" spc="-13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w</a:t>
            </a:r>
            <a:r>
              <a:rPr dirty="0" sz="2050" spc="-135">
                <a:latin typeface="Times New Roman"/>
                <a:cs typeface="Times New Roman"/>
              </a:rPr>
              <a:t> </a:t>
            </a:r>
            <a:r>
              <a:rPr dirty="0" baseline="-25462" sz="1800" i="1">
                <a:latin typeface="Times New Roman"/>
                <a:cs typeface="Times New Roman"/>
              </a:rPr>
              <a:t>j </a:t>
            </a:r>
            <a:r>
              <a:rPr dirty="0" sz="2050" spc="-20">
                <a:latin typeface="Times New Roman"/>
                <a:cs typeface="Times New Roman"/>
              </a:rPr>
              <a:t>(</a:t>
            </a:r>
            <a:r>
              <a:rPr dirty="0" sz="2050" spc="-20" i="1">
                <a:latin typeface="Times New Roman"/>
                <a:cs typeface="Times New Roman"/>
              </a:rPr>
              <a:t>t</a:t>
            </a:r>
            <a:r>
              <a:rPr dirty="0" sz="2050" spc="-20">
                <a:latin typeface="Times New Roman"/>
                <a:cs typeface="Times New Roman"/>
              </a:rPr>
              <a:t>))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855942" y="5812535"/>
            <a:ext cx="172085" cy="0"/>
          </a:xfrm>
          <a:custGeom>
            <a:avLst/>
            <a:gdLst/>
            <a:ahLst/>
            <a:cxnLst/>
            <a:rect l="l" t="t" r="r" b="b"/>
            <a:pathLst>
              <a:path w="172084" h="0">
                <a:moveTo>
                  <a:pt x="0" y="0"/>
                </a:moveTo>
                <a:lnTo>
                  <a:pt x="172034" y="0"/>
                </a:lnTo>
              </a:path>
            </a:pathLst>
          </a:custGeom>
          <a:ln w="862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163195" y="5785980"/>
            <a:ext cx="85725" cy="168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50">
                <a:latin typeface="Times New Roman"/>
                <a:cs typeface="Times New Roman"/>
              </a:rPr>
              <a:t>0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89776" y="5502312"/>
            <a:ext cx="554990" cy="271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62915" algn="l"/>
              </a:tabLst>
            </a:pPr>
            <a:r>
              <a:rPr dirty="0" sz="1600" spc="30">
                <a:latin typeface="Times New Roman"/>
                <a:cs typeface="Times New Roman"/>
              </a:rPr>
              <a:t>(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1600" spc="-1045">
                <a:latin typeface="Times New Roman"/>
                <a:cs typeface="Times New Roman"/>
              </a:rPr>
              <a:t>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00395" y="5636204"/>
            <a:ext cx="108204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85" i="1">
                <a:latin typeface="Times New Roman"/>
                <a:cs typeface="Times New Roman"/>
              </a:rPr>
              <a:t>η</a:t>
            </a:r>
            <a:r>
              <a:rPr dirty="0" sz="1600" spc="85">
                <a:latin typeface="Times New Roman"/>
                <a:cs typeface="Times New Roman"/>
              </a:rPr>
              <a:t>(</a:t>
            </a:r>
            <a:r>
              <a:rPr dirty="0" sz="1600" spc="85" i="1">
                <a:latin typeface="Times New Roman"/>
                <a:cs typeface="Times New Roman"/>
              </a:rPr>
              <a:t>t</a:t>
            </a:r>
            <a:r>
              <a:rPr dirty="0" sz="1600" spc="85">
                <a:latin typeface="Times New Roman"/>
                <a:cs typeface="Times New Roman"/>
              </a:rPr>
              <a:t>)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=</a:t>
            </a:r>
            <a:r>
              <a:rPr dirty="0" sz="1600" spc="-260">
                <a:latin typeface="Times New Roman"/>
                <a:cs typeface="Times New Roman"/>
              </a:rPr>
              <a:t> </a:t>
            </a:r>
            <a:r>
              <a:rPr dirty="0" sz="1700" spc="130" i="1">
                <a:latin typeface="Times New Roman"/>
                <a:cs typeface="Times New Roman"/>
              </a:rPr>
              <a:t>η</a:t>
            </a:r>
            <a:r>
              <a:rPr dirty="0" sz="1700" spc="459" i="1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exp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63499" y="5516867"/>
            <a:ext cx="337820" cy="271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36458" sz="2400" spc="120">
                <a:latin typeface="Times New Roman"/>
                <a:cs typeface="Times New Roman"/>
              </a:rPr>
              <a:t>–</a:t>
            </a:r>
            <a:r>
              <a:rPr dirty="0" baseline="-36458" sz="2400" spc="487">
                <a:latin typeface="Times New Roman"/>
                <a:cs typeface="Times New Roman"/>
              </a:rPr>
              <a:t> </a:t>
            </a:r>
            <a:r>
              <a:rPr dirty="0" sz="1600" spc="-60" i="1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564376" y="5680933"/>
            <a:ext cx="6057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2575" algn="l"/>
              </a:tabLst>
            </a:pPr>
            <a:r>
              <a:rPr dirty="0" sz="1600" spc="-1045">
                <a:latin typeface="Times New Roman"/>
                <a:cs typeface="Times New Roman"/>
              </a:rPr>
              <a:t>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baseline="-29411" sz="2550" spc="135" i="1">
                <a:latin typeface="Times New Roman"/>
                <a:cs typeface="Times New Roman"/>
              </a:rPr>
              <a:t>τ</a:t>
            </a:r>
            <a:r>
              <a:rPr dirty="0" baseline="-29411" sz="2550" spc="727" i="1">
                <a:latin typeface="Times New Roman"/>
                <a:cs typeface="Times New Roman"/>
              </a:rPr>
              <a:t> </a:t>
            </a:r>
            <a:r>
              <a:rPr dirty="0" sz="1600" spc="-1045">
                <a:latin typeface="Times New Roman"/>
                <a:cs typeface="Times New Roman"/>
              </a:rPr>
              <a:t>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589776" y="5863386"/>
            <a:ext cx="554990" cy="271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55600" algn="l"/>
              </a:tabLst>
            </a:pPr>
            <a:r>
              <a:rPr dirty="0" sz="1600" spc="-1045">
                <a:latin typeface="Times New Roman"/>
                <a:cs typeface="Times New Roman"/>
              </a:rPr>
              <a:t></a:t>
            </a:r>
            <a:r>
              <a:rPr dirty="0" sz="1600">
                <a:latin typeface="Times New Roman"/>
                <a:cs typeface="Times New Roman"/>
              </a:rPr>
              <a:t>	</a:t>
            </a:r>
            <a:r>
              <a:rPr dirty="0" sz="950">
                <a:latin typeface="Times New Roman"/>
                <a:cs typeface="Times New Roman"/>
              </a:rPr>
              <a:t>1</a:t>
            </a:r>
            <a:r>
              <a:rPr dirty="0" sz="950" spc="125">
                <a:latin typeface="Times New Roman"/>
                <a:cs typeface="Times New Roman"/>
              </a:rPr>
              <a:t> </a:t>
            </a:r>
            <a:r>
              <a:rPr dirty="0" sz="1600" spc="-1045">
                <a:latin typeface="Times New Roman"/>
                <a:cs typeface="Times New Roman"/>
              </a:rPr>
              <a:t>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445622" y="5789040"/>
            <a:ext cx="620395" cy="0"/>
          </a:xfrm>
          <a:custGeom>
            <a:avLst/>
            <a:gdLst/>
            <a:ahLst/>
            <a:cxnLst/>
            <a:rect l="l" t="t" r="r" b="b"/>
            <a:pathLst>
              <a:path w="620395" h="0">
                <a:moveTo>
                  <a:pt x="0" y="0"/>
                </a:moveTo>
                <a:lnTo>
                  <a:pt x="620090" y="0"/>
                </a:lnTo>
              </a:path>
            </a:pathLst>
          </a:custGeom>
          <a:ln w="93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745316" y="5589142"/>
            <a:ext cx="14478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i="1">
                <a:latin typeface="Times New Roman"/>
                <a:cs typeface="Times New Roman"/>
              </a:rPr>
              <a:t>j</a:t>
            </a:r>
            <a:r>
              <a:rPr dirty="0" sz="1000" spc="-145" i="1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,</a:t>
            </a:r>
            <a:r>
              <a:rPr dirty="0" sz="1000" spc="-25" i="1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207435" y="5760504"/>
            <a:ext cx="144780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i="1">
                <a:latin typeface="Times New Roman"/>
                <a:cs typeface="Times New Roman"/>
              </a:rPr>
              <a:t>j</a:t>
            </a:r>
            <a:r>
              <a:rPr dirty="0" sz="1000" spc="-145" i="1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,</a:t>
            </a:r>
            <a:r>
              <a:rPr dirty="0" sz="1000" spc="-25" i="1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573117" y="5336628"/>
            <a:ext cx="28448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25396" sz="2625" i="1">
                <a:latin typeface="Times New Roman"/>
                <a:cs typeface="Times New Roman"/>
              </a:rPr>
              <a:t>d</a:t>
            </a:r>
            <a:r>
              <a:rPr dirty="0" baseline="-25396" sz="2625" spc="-300" i="1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422800" y="5773376"/>
            <a:ext cx="667385" cy="308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750">
                <a:latin typeface="Times New Roman"/>
                <a:cs typeface="Times New Roman"/>
              </a:rPr>
              <a:t>2</a:t>
            </a:r>
            <a:r>
              <a:rPr dirty="0" sz="1850" i="1">
                <a:latin typeface="Times New Roman"/>
                <a:cs typeface="Times New Roman"/>
              </a:rPr>
              <a:t>σ</a:t>
            </a:r>
            <a:r>
              <a:rPr dirty="0" sz="1850" spc="-100" i="1">
                <a:latin typeface="Times New Roman"/>
                <a:cs typeface="Times New Roman"/>
              </a:rPr>
              <a:t> </a:t>
            </a:r>
            <a:r>
              <a:rPr dirty="0" baseline="44444" sz="1500">
                <a:latin typeface="Times New Roman"/>
                <a:cs typeface="Times New Roman"/>
              </a:rPr>
              <a:t>2</a:t>
            </a:r>
            <a:r>
              <a:rPr dirty="0" baseline="44444" sz="1500" spc="-67">
                <a:latin typeface="Times New Roman"/>
                <a:cs typeface="Times New Roman"/>
              </a:rPr>
              <a:t> </a:t>
            </a:r>
            <a:r>
              <a:rPr dirty="0" sz="1750" spc="-25">
                <a:latin typeface="Times New Roman"/>
                <a:cs typeface="Times New Roman"/>
              </a:rPr>
              <a:t>(</a:t>
            </a:r>
            <a:r>
              <a:rPr dirty="0" sz="1750" spc="-25" i="1">
                <a:latin typeface="Times New Roman"/>
                <a:cs typeface="Times New Roman"/>
              </a:rPr>
              <a:t>t</a:t>
            </a:r>
            <a:r>
              <a:rPr dirty="0" sz="1750" spc="-25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156938" y="5425249"/>
            <a:ext cx="11176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35">
                <a:latin typeface="Times New Roman"/>
                <a:cs typeface="Times New Roman"/>
              </a:rPr>
              <a:t>(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081142" y="5425249"/>
            <a:ext cx="11176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1135">
                <a:latin typeface="Times New Roman"/>
                <a:cs typeface="Times New Roman"/>
              </a:rPr>
              <a:t>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056382" y="5608942"/>
            <a:ext cx="1388745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313055" algn="l"/>
              </a:tabLst>
            </a:pPr>
            <a:r>
              <a:rPr dirty="0" sz="1750" spc="-50" i="1">
                <a:latin typeface="Times New Roman"/>
                <a:cs typeface="Times New Roman"/>
              </a:rPr>
              <a:t>h</a:t>
            </a:r>
            <a:r>
              <a:rPr dirty="0" sz="1750" i="1">
                <a:latin typeface="Times New Roman"/>
                <a:cs typeface="Times New Roman"/>
              </a:rPr>
              <a:t>	</a:t>
            </a:r>
            <a:r>
              <a:rPr dirty="0" sz="1750">
                <a:latin typeface="Times New Roman"/>
                <a:cs typeface="Times New Roman"/>
              </a:rPr>
              <a:t>(</a:t>
            </a:r>
            <a:r>
              <a:rPr dirty="0" sz="1750" i="1">
                <a:latin typeface="Times New Roman"/>
                <a:cs typeface="Times New Roman"/>
              </a:rPr>
              <a:t>t</a:t>
            </a:r>
            <a:r>
              <a:rPr dirty="0" sz="1750">
                <a:latin typeface="Times New Roman"/>
                <a:cs typeface="Times New Roman"/>
              </a:rPr>
              <a:t>)</a:t>
            </a:r>
            <a:r>
              <a:rPr dirty="0" sz="1750" spc="10">
                <a:latin typeface="Times New Roman"/>
                <a:cs typeface="Times New Roman"/>
              </a:rPr>
              <a:t> </a:t>
            </a:r>
            <a:r>
              <a:rPr dirty="0" sz="1750">
                <a:latin typeface="Times New Roman"/>
                <a:cs typeface="Times New Roman"/>
              </a:rPr>
              <a:t>=</a:t>
            </a:r>
            <a:r>
              <a:rPr dirty="0" sz="1750" spc="-40">
                <a:latin typeface="Times New Roman"/>
                <a:cs typeface="Times New Roman"/>
              </a:rPr>
              <a:t> </a:t>
            </a:r>
            <a:r>
              <a:rPr dirty="0" sz="1750" spc="-10">
                <a:latin typeface="Times New Roman"/>
                <a:cs typeface="Times New Roman"/>
              </a:rPr>
              <a:t>exp</a:t>
            </a:r>
            <a:r>
              <a:rPr dirty="0" sz="1750" spc="-195">
                <a:latin typeface="Times New Roman"/>
                <a:cs typeface="Times New Roman"/>
              </a:rPr>
              <a:t> </a:t>
            </a:r>
            <a:r>
              <a:rPr dirty="0" baseline="-30158" sz="2625" spc="-1627">
                <a:latin typeface="Times New Roman"/>
                <a:cs typeface="Times New Roman"/>
              </a:rPr>
              <a:t></a:t>
            </a:r>
            <a:r>
              <a:rPr dirty="0" baseline="-30158" sz="2625" spc="-300">
                <a:latin typeface="Times New Roman"/>
                <a:cs typeface="Times New Roman"/>
              </a:rPr>
              <a:t> </a:t>
            </a:r>
            <a:r>
              <a:rPr dirty="0" sz="1750" spc="35">
                <a:latin typeface="Times New Roman"/>
                <a:cs typeface="Times New Roman"/>
              </a:rPr>
              <a:t>–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081142" y="5728665"/>
            <a:ext cx="11176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1135">
                <a:latin typeface="Times New Roman"/>
                <a:cs typeface="Times New Roman"/>
              </a:rPr>
              <a:t>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156938" y="5870092"/>
            <a:ext cx="11176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1135">
                <a:latin typeface="Times New Roman"/>
                <a:cs typeface="Times New Roman"/>
              </a:rPr>
              <a:t>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081142" y="5870092"/>
            <a:ext cx="111760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 spc="-1135">
                <a:latin typeface="Times New Roman"/>
                <a:cs typeface="Times New Roman"/>
              </a:rPr>
              <a:t>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610398" y="2747391"/>
            <a:ext cx="5008880" cy="2962275"/>
            <a:chOff x="1610398" y="2747391"/>
            <a:chExt cx="5008880" cy="2962275"/>
          </a:xfrm>
        </p:grpSpPr>
        <p:sp>
          <p:nvSpPr>
            <p:cNvPr id="28" name="object 28" descr=""/>
            <p:cNvSpPr/>
            <p:nvPr/>
          </p:nvSpPr>
          <p:spPr>
            <a:xfrm>
              <a:off x="1610398" y="2747390"/>
              <a:ext cx="2784475" cy="2962910"/>
            </a:xfrm>
            <a:custGeom>
              <a:avLst/>
              <a:gdLst/>
              <a:ahLst/>
              <a:cxnLst/>
              <a:rect l="l" t="t" r="r" b="b"/>
              <a:pathLst>
                <a:path w="2784475" h="2962910">
                  <a:moveTo>
                    <a:pt x="1449387" y="576262"/>
                  </a:moveTo>
                  <a:lnTo>
                    <a:pt x="1430337" y="566737"/>
                  </a:lnTo>
                  <a:lnTo>
                    <a:pt x="1373187" y="538162"/>
                  </a:lnTo>
                  <a:lnTo>
                    <a:pt x="1373187" y="566737"/>
                  </a:lnTo>
                  <a:lnTo>
                    <a:pt x="9525" y="566737"/>
                  </a:lnTo>
                  <a:lnTo>
                    <a:pt x="9525" y="576262"/>
                  </a:lnTo>
                  <a:lnTo>
                    <a:pt x="0" y="576262"/>
                  </a:lnTo>
                  <a:lnTo>
                    <a:pt x="0" y="2952762"/>
                  </a:lnTo>
                  <a:lnTo>
                    <a:pt x="9525" y="2952762"/>
                  </a:lnTo>
                  <a:lnTo>
                    <a:pt x="9525" y="2962287"/>
                  </a:lnTo>
                  <a:lnTo>
                    <a:pt x="441325" y="2962287"/>
                  </a:lnTo>
                  <a:lnTo>
                    <a:pt x="441325" y="2943237"/>
                  </a:lnTo>
                  <a:lnTo>
                    <a:pt x="19050" y="2943237"/>
                  </a:lnTo>
                  <a:lnTo>
                    <a:pt x="19050" y="585787"/>
                  </a:lnTo>
                  <a:lnTo>
                    <a:pt x="1373187" y="585787"/>
                  </a:lnTo>
                  <a:lnTo>
                    <a:pt x="1373187" y="614362"/>
                  </a:lnTo>
                  <a:lnTo>
                    <a:pt x="1430337" y="585787"/>
                  </a:lnTo>
                  <a:lnTo>
                    <a:pt x="1449387" y="576262"/>
                  </a:lnTo>
                  <a:close/>
                </a:path>
                <a:path w="2784475" h="2962910">
                  <a:moveTo>
                    <a:pt x="2711450" y="1004887"/>
                  </a:moveTo>
                  <a:lnTo>
                    <a:pt x="2682875" y="1004887"/>
                  </a:lnTo>
                  <a:lnTo>
                    <a:pt x="2682875" y="792162"/>
                  </a:lnTo>
                  <a:lnTo>
                    <a:pt x="2663825" y="792162"/>
                  </a:lnTo>
                  <a:lnTo>
                    <a:pt x="2663825" y="1004887"/>
                  </a:lnTo>
                  <a:lnTo>
                    <a:pt x="2635250" y="1004887"/>
                  </a:lnTo>
                  <a:lnTo>
                    <a:pt x="2673350" y="1081087"/>
                  </a:lnTo>
                  <a:lnTo>
                    <a:pt x="2701925" y="1023937"/>
                  </a:lnTo>
                  <a:lnTo>
                    <a:pt x="2711450" y="1004887"/>
                  </a:lnTo>
                  <a:close/>
                </a:path>
                <a:path w="2784475" h="2962910">
                  <a:moveTo>
                    <a:pt x="2711450" y="284162"/>
                  </a:moveTo>
                  <a:lnTo>
                    <a:pt x="2682875" y="284162"/>
                  </a:lnTo>
                  <a:lnTo>
                    <a:pt x="2682875" y="0"/>
                  </a:lnTo>
                  <a:lnTo>
                    <a:pt x="2663825" y="0"/>
                  </a:lnTo>
                  <a:lnTo>
                    <a:pt x="2663825" y="284162"/>
                  </a:lnTo>
                  <a:lnTo>
                    <a:pt x="2635250" y="284162"/>
                  </a:lnTo>
                  <a:lnTo>
                    <a:pt x="2673350" y="360362"/>
                  </a:lnTo>
                  <a:lnTo>
                    <a:pt x="2701925" y="303212"/>
                  </a:lnTo>
                  <a:lnTo>
                    <a:pt x="2711450" y="284162"/>
                  </a:lnTo>
                  <a:close/>
                </a:path>
                <a:path w="2784475" h="2962910">
                  <a:moveTo>
                    <a:pt x="2784475" y="2085975"/>
                  </a:moveTo>
                  <a:lnTo>
                    <a:pt x="2755900" y="2085975"/>
                  </a:lnTo>
                  <a:lnTo>
                    <a:pt x="2755900" y="1873250"/>
                  </a:lnTo>
                  <a:lnTo>
                    <a:pt x="2736850" y="1873250"/>
                  </a:lnTo>
                  <a:lnTo>
                    <a:pt x="2736850" y="2085975"/>
                  </a:lnTo>
                  <a:lnTo>
                    <a:pt x="2708275" y="2085975"/>
                  </a:lnTo>
                  <a:lnTo>
                    <a:pt x="2746375" y="2162175"/>
                  </a:lnTo>
                  <a:lnTo>
                    <a:pt x="2774950" y="2105025"/>
                  </a:lnTo>
                  <a:lnTo>
                    <a:pt x="2784475" y="20859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9390" y="4188460"/>
              <a:ext cx="69850" cy="279400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707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Summary</a:t>
            </a:r>
            <a:endParaRPr sz="4400"/>
          </a:p>
        </p:txBody>
      </p:sp>
      <p:sp>
        <p:nvSpPr>
          <p:cNvPr id="31" name="object 31" descr=""/>
          <p:cNvSpPr txBox="1"/>
          <p:nvPr/>
        </p:nvSpPr>
        <p:spPr>
          <a:xfrm>
            <a:off x="4747259" y="4065904"/>
            <a:ext cx="12700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60">
                <a:latin typeface="Cambria"/>
                <a:cs typeface="Cambria"/>
              </a:rPr>
              <a:t/>
            </a:r>
            <a:endParaRPr sz="130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474084" y="4150359"/>
            <a:ext cx="3032760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800" spc="-605">
                <a:latin typeface="Cambria"/>
                <a:cs typeface="Cambria"/>
              </a:rPr>
              <a:t>𝑎𝑟𝑔</a:t>
            </a:r>
            <a:r>
              <a:rPr dirty="0" baseline="-17094" sz="1950" spc="-907">
                <a:latin typeface="Cambria"/>
                <a:cs typeface="Cambria"/>
              </a:rPr>
              <a:t/>
            </a:r>
            <a:r>
              <a:rPr dirty="0" sz="1800" spc="-605">
                <a:latin typeface="Cambria"/>
                <a:cs typeface="Cambria"/>
              </a:rPr>
              <a:t>(</a:t>
            </a:r>
            <a:r>
              <a:rPr dirty="0" sz="1800" spc="40">
                <a:latin typeface="Cambria"/>
                <a:cs typeface="Cambria"/>
              </a:rPr>
              <a:t> </a:t>
            </a:r>
            <a:r>
              <a:rPr dirty="0" sz="1800" spc="-590">
                <a:latin typeface="Cambria"/>
                <a:cs typeface="Cambria"/>
              </a:rPr>
              <a:t/>
            </a:r>
            <a:r>
              <a:rPr dirty="0" baseline="-17094" sz="1950" spc="-885">
                <a:latin typeface="Cambria"/>
                <a:cs typeface="Cambria"/>
              </a:rPr>
              <a:t/>
            </a:r>
            <a:r>
              <a:rPr dirty="0" baseline="-17094" sz="1950" spc="37">
                <a:latin typeface="Cambria"/>
                <a:cs typeface="Cambria"/>
              </a:rPr>
              <a:t> </a:t>
            </a:r>
            <a:r>
              <a:rPr dirty="0" sz="1800" spc="-365">
                <a:latin typeface="Cambria"/>
                <a:cs typeface="Cambria"/>
              </a:rPr>
              <a:t>)</a:t>
            </a:r>
            <a:r>
              <a:rPr dirty="0" sz="1800" spc="465">
                <a:latin typeface="Cambria"/>
                <a:cs typeface="Cambria"/>
              </a:rPr>
              <a:t> </a:t>
            </a:r>
            <a:r>
              <a:rPr dirty="0" sz="1800" spc="-885">
                <a:solidFill>
                  <a:srgbClr val="FF0000"/>
                </a:solidFill>
                <a:latin typeface="Cambria"/>
                <a:cs typeface="Cambria"/>
              </a:rPr>
              <a:t>𝑎</a:t>
            </a:r>
            <a:r>
              <a:rPr dirty="0" sz="1800" spc="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800" spc="-655">
                <a:latin typeface="Cambria"/>
                <a:cs typeface="Cambria"/>
              </a:rPr>
              <a:t>𝑎𝑟𝑔</a:t>
            </a:r>
            <a:r>
              <a:rPr dirty="0" baseline="-17094" sz="1950" spc="-982">
                <a:latin typeface="Cambria"/>
                <a:cs typeface="Cambria"/>
              </a:rPr>
              <a:t/>
            </a:r>
            <a:r>
              <a:rPr dirty="0" sz="1800" spc="-655">
                <a:latin typeface="Cambria"/>
                <a:cs typeface="Cambria"/>
              </a:rPr>
              <a:t>(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673850" y="4149725"/>
            <a:ext cx="78041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800" spc="-850">
                <a:latin typeface="Cambria"/>
                <a:cs typeface="Cambria"/>
              </a:rPr>
              <a:t/>
            </a:r>
            <a:r>
              <a:rPr dirty="0" sz="1800" spc="235">
                <a:latin typeface="Cambria"/>
                <a:cs typeface="Cambria"/>
              </a:rPr>
              <a:t> </a:t>
            </a:r>
            <a:r>
              <a:rPr dirty="0" sz="1800" spc="360">
                <a:latin typeface="Cambria"/>
                <a:cs typeface="Cambria"/>
              </a:rPr>
              <a:t>−</a:t>
            </a:r>
            <a:r>
              <a:rPr dirty="0" sz="1800" spc="229">
                <a:latin typeface="Cambria"/>
                <a:cs typeface="Cambria"/>
              </a:rPr>
              <a:t> </a:t>
            </a:r>
            <a:r>
              <a:rPr dirty="0" sz="1800" spc="-615">
                <a:latin typeface="Cambria"/>
                <a:cs typeface="Cambria"/>
              </a:rPr>
              <a:t/>
            </a:r>
            <a:r>
              <a:rPr dirty="0" baseline="-17094" sz="1950" spc="-922">
                <a:latin typeface="Cambria"/>
                <a:cs typeface="Cambria"/>
              </a:rPr>
              <a:t/>
            </a:r>
            <a:endParaRPr baseline="-17094" sz="1950">
              <a:latin typeface="Cambria"/>
              <a:cs typeface="Cambria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4900" y="4188459"/>
            <a:ext cx="69850" cy="279400"/>
          </a:xfrm>
          <a:prstGeom prst="rect">
            <a:avLst/>
          </a:prstGeom>
        </p:spPr>
      </p:pic>
      <p:sp>
        <p:nvSpPr>
          <p:cNvPr id="35" name="object 35" descr=""/>
          <p:cNvSpPr txBox="1"/>
          <p:nvPr/>
        </p:nvSpPr>
        <p:spPr>
          <a:xfrm>
            <a:off x="7605394" y="4150359"/>
            <a:ext cx="129539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80">
                <a:latin typeface="Cambria"/>
                <a:cs typeface="Cambria"/>
              </a:rPr>
              <a:t>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62952" y="2068956"/>
            <a:ext cx="6350000" cy="28524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375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Approximate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the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input</a:t>
            </a:r>
            <a:r>
              <a:rPr dirty="0" sz="3200" spc="-10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space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Topological</a:t>
            </a:r>
            <a:r>
              <a:rPr dirty="0" sz="3200" spc="-13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ordering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Char char="■"/>
              <a:tabLst>
                <a:tab pos="354965" algn="l"/>
              </a:tabLst>
            </a:pPr>
            <a:r>
              <a:rPr dirty="0" sz="3200">
                <a:latin typeface="Tahoma"/>
                <a:cs typeface="Tahoma"/>
              </a:rPr>
              <a:t>Density</a:t>
            </a:r>
            <a:r>
              <a:rPr dirty="0" sz="3200" spc="-13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matching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9375"/>
              <a:buChar char="■"/>
              <a:tabLst>
                <a:tab pos="355600" algn="l"/>
              </a:tabLst>
            </a:pPr>
            <a:r>
              <a:rPr dirty="0" sz="3200">
                <a:latin typeface="Tahoma"/>
                <a:cs typeface="Tahoma"/>
              </a:rPr>
              <a:t>Feature</a:t>
            </a:r>
            <a:r>
              <a:rPr dirty="0" sz="3200" spc="-9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selection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(features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of</a:t>
            </a:r>
            <a:r>
              <a:rPr dirty="0" sz="3200" spc="-9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the </a:t>
            </a:r>
            <a:r>
              <a:rPr dirty="0" sz="3200">
                <a:latin typeface="Tahoma"/>
                <a:cs typeface="Tahoma"/>
              </a:rPr>
              <a:t>underlying</a:t>
            </a:r>
            <a:r>
              <a:rPr dirty="0" sz="3200" spc="-18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distribution)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23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0289" y="679767"/>
            <a:ext cx="463042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11120" algn="l"/>
              </a:tabLst>
            </a:pPr>
            <a:r>
              <a:rPr dirty="0" sz="4400" spc="-10"/>
              <a:t>Property</a:t>
            </a:r>
            <a:r>
              <a:rPr dirty="0" sz="4400"/>
              <a:t>	of</a:t>
            </a:r>
            <a:r>
              <a:rPr dirty="0" sz="4400" spc="-30"/>
              <a:t> </a:t>
            </a:r>
            <a:r>
              <a:rPr dirty="0" sz="4400" spc="-25"/>
              <a:t>SOM</a:t>
            </a:r>
            <a:endParaRPr sz="4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2740" y="2309253"/>
            <a:ext cx="4878705" cy="3641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3075" indent="-214629">
              <a:lnSpc>
                <a:spcPct val="100000"/>
              </a:lnSpc>
              <a:spcBef>
                <a:spcPts val="100"/>
              </a:spcBef>
              <a:buSzPct val="64583"/>
              <a:buChar char="•"/>
              <a:tabLst>
                <a:tab pos="47307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initialize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K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prototype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vectors</a:t>
            </a:r>
            <a:endParaRPr sz="2400">
              <a:latin typeface="Tahoma"/>
              <a:cs typeface="Tahoma"/>
            </a:endParaRPr>
          </a:p>
          <a:p>
            <a:pPr marL="465455" indent="-214629">
              <a:lnSpc>
                <a:spcPct val="100000"/>
              </a:lnSpc>
              <a:spcBef>
                <a:spcPts val="1745"/>
              </a:spcBef>
              <a:buSzPct val="64583"/>
              <a:buChar char="•"/>
              <a:tabLst>
                <a:tab pos="46545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present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a</a:t>
            </a:r>
            <a:r>
              <a:rPr dirty="0" sz="2400" spc="-2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single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example</a:t>
            </a:r>
            <a:endParaRPr sz="2400">
              <a:latin typeface="Tahoma"/>
              <a:cs typeface="Tahoma"/>
            </a:endParaRPr>
          </a:p>
          <a:p>
            <a:pPr marL="447675" marR="424815" indent="-214629">
              <a:lnSpc>
                <a:spcPct val="106400"/>
              </a:lnSpc>
              <a:spcBef>
                <a:spcPts val="1785"/>
              </a:spcBef>
              <a:buSzPct val="64583"/>
              <a:buChar char="•"/>
              <a:tabLst>
                <a:tab pos="50736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identify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closest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prototype, 	i.e.,</a:t>
            </a:r>
            <a:r>
              <a:rPr dirty="0" sz="2400" spc="-10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5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so-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called</a:t>
            </a:r>
            <a:r>
              <a:rPr dirty="0" sz="2400" spc="-10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500" spc="-70" b="1" i="1">
                <a:solidFill>
                  <a:srgbClr val="000066"/>
                </a:solidFill>
                <a:latin typeface="Verdana"/>
                <a:cs typeface="Verdana"/>
              </a:rPr>
              <a:t>winner</a:t>
            </a:r>
            <a:endParaRPr sz="2500">
              <a:latin typeface="Verdana"/>
              <a:cs typeface="Verdana"/>
            </a:endParaRPr>
          </a:p>
          <a:p>
            <a:pPr marL="441325" marR="667385" indent="-214629">
              <a:lnSpc>
                <a:spcPct val="100000"/>
              </a:lnSpc>
              <a:spcBef>
                <a:spcPts val="1295"/>
              </a:spcBef>
              <a:buSzPct val="64583"/>
              <a:buChar char="•"/>
              <a:tabLst>
                <a:tab pos="51244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move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winner</a:t>
            </a:r>
            <a:r>
              <a:rPr dirty="0" sz="24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000066"/>
                </a:solidFill>
                <a:latin typeface="Tahoma"/>
                <a:cs typeface="Tahoma"/>
              </a:rPr>
              <a:t>even </a:t>
            </a:r>
            <a:r>
              <a:rPr dirty="0" sz="2400" spc="-20">
                <a:solidFill>
                  <a:srgbClr val="000066"/>
                </a:solidFill>
                <a:latin typeface="Tahoma"/>
                <a:cs typeface="Tahoma"/>
              </a:rPr>
              <a:t>	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closer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towards</a:t>
            </a:r>
            <a:r>
              <a:rPr dirty="0" sz="2400" spc="-5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example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Intuitively</a:t>
            </a:r>
            <a:r>
              <a:rPr dirty="0" sz="24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clear,</a:t>
            </a:r>
            <a:r>
              <a:rPr dirty="0" sz="24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plausible</a:t>
            </a:r>
            <a:r>
              <a:rPr dirty="0" sz="2400" spc="-8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procedure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5440" y="5924626"/>
            <a:ext cx="76530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4515" indent="-55181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56451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places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prototypes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in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areas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with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high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density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of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20">
                <a:solidFill>
                  <a:srgbClr val="000066"/>
                </a:solidFill>
                <a:latin typeface="Tahoma"/>
                <a:cs typeface="Tahoma"/>
              </a:rPr>
              <a:t>data</a:t>
            </a:r>
            <a:endParaRPr sz="2400">
              <a:latin typeface="Tahoma"/>
              <a:cs typeface="Tahoma"/>
            </a:endParaRPr>
          </a:p>
          <a:p>
            <a:pPr marL="564515" indent="-551815">
              <a:lnSpc>
                <a:spcPct val="100000"/>
              </a:lnSpc>
              <a:buFont typeface="Times New Roman"/>
              <a:buChar char="•"/>
              <a:tabLst>
                <a:tab pos="564515" algn="l"/>
              </a:tabLst>
            </a:pP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identifies</a:t>
            </a:r>
            <a:r>
              <a:rPr dirty="0" sz="2400" spc="-4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most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relevant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combinations</a:t>
            </a:r>
            <a:r>
              <a:rPr dirty="0" sz="2400" spc="-4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66"/>
                </a:solidFill>
                <a:latin typeface="Tahoma"/>
                <a:cs typeface="Tahoma"/>
              </a:rPr>
              <a:t>of</a:t>
            </a:r>
            <a:r>
              <a:rPr dirty="0" sz="2400" spc="-3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66"/>
                </a:solidFill>
                <a:latin typeface="Tahoma"/>
                <a:cs typeface="Tahoma"/>
              </a:rPr>
              <a:t>features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657274" y="3776535"/>
            <a:ext cx="794385" cy="972819"/>
            <a:chOff x="7657274" y="3776535"/>
            <a:chExt cx="794385" cy="97281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9074" y="4482236"/>
              <a:ext cx="362013" cy="26701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28711" y="4237761"/>
              <a:ext cx="152463" cy="15113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84756" y="4292472"/>
              <a:ext cx="153136" cy="1524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9381" y="3776535"/>
              <a:ext cx="153136" cy="1524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2749" y="4179023"/>
              <a:ext cx="152463" cy="15113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7274" y="3791673"/>
              <a:ext cx="561555" cy="432511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2149" y="3110636"/>
            <a:ext cx="152463" cy="151129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5852286" y="3228848"/>
            <a:ext cx="1506855" cy="1442720"/>
            <a:chOff x="5852286" y="3228848"/>
            <a:chExt cx="1506855" cy="1442720"/>
          </a:xfrm>
        </p:grpSpPr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06424" y="3418611"/>
              <a:ext cx="152463" cy="15112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52286" y="3228848"/>
              <a:ext cx="1370076" cy="130291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1561" y="4520336"/>
              <a:ext cx="152463" cy="151130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42999" y="4558436"/>
            <a:ext cx="152463" cy="15113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58761" y="2939186"/>
            <a:ext cx="152463" cy="151129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185864" y="3142564"/>
            <a:ext cx="246379" cy="1485900"/>
          </a:xfrm>
          <a:custGeom>
            <a:avLst/>
            <a:gdLst/>
            <a:ahLst/>
            <a:cxnLst/>
            <a:rect l="l" t="t" r="r" b="b"/>
            <a:pathLst>
              <a:path w="246379" h="1485900">
                <a:moveTo>
                  <a:pt x="176961" y="1437173"/>
                </a:moveTo>
                <a:lnTo>
                  <a:pt x="123583" y="1460499"/>
                </a:lnTo>
                <a:lnTo>
                  <a:pt x="121132" y="1473199"/>
                </a:lnTo>
                <a:lnTo>
                  <a:pt x="116128" y="1473199"/>
                </a:lnTo>
                <a:lnTo>
                  <a:pt x="116370" y="1485899"/>
                </a:lnTo>
                <a:lnTo>
                  <a:pt x="137248" y="1485899"/>
                </a:lnTo>
                <a:lnTo>
                  <a:pt x="218763" y="1447799"/>
                </a:lnTo>
                <a:lnTo>
                  <a:pt x="186461" y="1447799"/>
                </a:lnTo>
                <a:lnTo>
                  <a:pt x="176961" y="1437173"/>
                </a:lnTo>
                <a:close/>
              </a:path>
              <a:path w="246379" h="1485900">
                <a:moveTo>
                  <a:pt x="188978" y="1431922"/>
                </a:moveTo>
                <a:lnTo>
                  <a:pt x="176961" y="1437173"/>
                </a:lnTo>
                <a:lnTo>
                  <a:pt x="186461" y="1447799"/>
                </a:lnTo>
                <a:lnTo>
                  <a:pt x="210032" y="1447799"/>
                </a:lnTo>
                <a:lnTo>
                  <a:pt x="188978" y="1431922"/>
                </a:lnTo>
                <a:close/>
              </a:path>
              <a:path w="246379" h="1485900">
                <a:moveTo>
                  <a:pt x="210769" y="1422399"/>
                </a:moveTo>
                <a:lnTo>
                  <a:pt x="188978" y="1431922"/>
                </a:lnTo>
                <a:lnTo>
                  <a:pt x="210032" y="1447799"/>
                </a:lnTo>
                <a:lnTo>
                  <a:pt x="210769" y="1422399"/>
                </a:lnTo>
                <a:close/>
              </a:path>
              <a:path w="246379" h="1485900">
                <a:moveTo>
                  <a:pt x="218452" y="1422399"/>
                </a:moveTo>
                <a:lnTo>
                  <a:pt x="210769" y="1422399"/>
                </a:lnTo>
                <a:lnTo>
                  <a:pt x="210032" y="1447799"/>
                </a:lnTo>
                <a:lnTo>
                  <a:pt x="216738" y="1447799"/>
                </a:lnTo>
                <a:lnTo>
                  <a:pt x="218452" y="1422399"/>
                </a:lnTo>
                <a:close/>
              </a:path>
              <a:path w="246379" h="1485900">
                <a:moveTo>
                  <a:pt x="215236" y="1416530"/>
                </a:moveTo>
                <a:lnTo>
                  <a:pt x="218452" y="1422399"/>
                </a:lnTo>
                <a:lnTo>
                  <a:pt x="216738" y="1447799"/>
                </a:lnTo>
                <a:lnTo>
                  <a:pt x="218763" y="1447799"/>
                </a:lnTo>
                <a:lnTo>
                  <a:pt x="245935" y="1435099"/>
                </a:lnTo>
                <a:lnTo>
                  <a:pt x="215236" y="1416530"/>
                </a:lnTo>
                <a:close/>
              </a:path>
              <a:path w="246379" h="1485900">
                <a:moveTo>
                  <a:pt x="159512" y="1409699"/>
                </a:moveTo>
                <a:lnTo>
                  <a:pt x="76174" y="1409699"/>
                </a:lnTo>
                <a:lnTo>
                  <a:pt x="84683" y="1422399"/>
                </a:lnTo>
                <a:lnTo>
                  <a:pt x="112204" y="1422399"/>
                </a:lnTo>
                <a:lnTo>
                  <a:pt x="122008" y="1435099"/>
                </a:lnTo>
                <a:lnTo>
                  <a:pt x="175107" y="1435099"/>
                </a:lnTo>
                <a:lnTo>
                  <a:pt x="176961" y="1437173"/>
                </a:lnTo>
                <a:lnTo>
                  <a:pt x="188978" y="1431922"/>
                </a:lnTo>
                <a:lnTo>
                  <a:pt x="159512" y="1409699"/>
                </a:lnTo>
                <a:close/>
              </a:path>
              <a:path w="246379" h="1485900">
                <a:moveTo>
                  <a:pt x="138277" y="1358899"/>
                </a:moveTo>
                <a:lnTo>
                  <a:pt x="129451" y="1358899"/>
                </a:lnTo>
                <a:lnTo>
                  <a:pt x="126682" y="1371599"/>
                </a:lnTo>
                <a:lnTo>
                  <a:pt x="119113" y="1371599"/>
                </a:lnTo>
                <a:lnTo>
                  <a:pt x="119329" y="1384299"/>
                </a:lnTo>
                <a:lnTo>
                  <a:pt x="125831" y="1384299"/>
                </a:lnTo>
                <a:lnTo>
                  <a:pt x="188978" y="1431922"/>
                </a:lnTo>
                <a:lnTo>
                  <a:pt x="210769" y="1422399"/>
                </a:lnTo>
                <a:lnTo>
                  <a:pt x="218452" y="1422399"/>
                </a:lnTo>
                <a:lnTo>
                  <a:pt x="215236" y="1416530"/>
                </a:lnTo>
                <a:lnTo>
                  <a:pt x="140957" y="1371599"/>
                </a:lnTo>
                <a:lnTo>
                  <a:pt x="138277" y="1358899"/>
                </a:lnTo>
                <a:close/>
              </a:path>
              <a:path w="246379" h="1485900">
                <a:moveTo>
                  <a:pt x="211493" y="1409699"/>
                </a:moveTo>
                <a:lnTo>
                  <a:pt x="203944" y="1409699"/>
                </a:lnTo>
                <a:lnTo>
                  <a:pt x="215236" y="1416530"/>
                </a:lnTo>
                <a:lnTo>
                  <a:pt x="211493" y="1409699"/>
                </a:lnTo>
                <a:close/>
              </a:path>
              <a:path w="246379" h="1485900">
                <a:moveTo>
                  <a:pt x="129501" y="1396999"/>
                </a:moveTo>
                <a:lnTo>
                  <a:pt x="52298" y="1396999"/>
                </a:lnTo>
                <a:lnTo>
                  <a:pt x="59728" y="1409699"/>
                </a:lnTo>
                <a:lnTo>
                  <a:pt x="139204" y="1409699"/>
                </a:lnTo>
                <a:lnTo>
                  <a:pt x="129501" y="1396999"/>
                </a:lnTo>
                <a:close/>
              </a:path>
              <a:path w="246379" h="1485900">
                <a:moveTo>
                  <a:pt x="95504" y="1384299"/>
                </a:moveTo>
                <a:lnTo>
                  <a:pt x="39243" y="1384299"/>
                </a:lnTo>
                <a:lnTo>
                  <a:pt x="45262" y="1396999"/>
                </a:lnTo>
                <a:lnTo>
                  <a:pt x="103911" y="1396999"/>
                </a:lnTo>
                <a:lnTo>
                  <a:pt x="95504" y="1384299"/>
                </a:lnTo>
                <a:close/>
              </a:path>
              <a:path w="246379" h="1485900">
                <a:moveTo>
                  <a:pt x="67563" y="1371599"/>
                </a:moveTo>
                <a:lnTo>
                  <a:pt x="22047" y="1371599"/>
                </a:lnTo>
                <a:lnTo>
                  <a:pt x="26695" y="1384299"/>
                </a:lnTo>
                <a:lnTo>
                  <a:pt x="74447" y="1384299"/>
                </a:lnTo>
                <a:lnTo>
                  <a:pt x="67563" y="1371599"/>
                </a:lnTo>
                <a:close/>
              </a:path>
              <a:path w="246379" h="1485900">
                <a:moveTo>
                  <a:pt x="51206" y="1358899"/>
                </a:moveTo>
                <a:lnTo>
                  <a:pt x="12966" y="1358899"/>
                </a:lnTo>
                <a:lnTo>
                  <a:pt x="16611" y="1371599"/>
                </a:lnTo>
                <a:lnTo>
                  <a:pt x="56781" y="1371599"/>
                </a:lnTo>
                <a:lnTo>
                  <a:pt x="51206" y="1358899"/>
                </a:lnTo>
                <a:close/>
              </a:path>
              <a:path w="246379" h="1485900">
                <a:moveTo>
                  <a:pt x="39192" y="1346199"/>
                </a:moveTo>
                <a:lnTo>
                  <a:pt x="6032" y="1346199"/>
                </a:lnTo>
                <a:lnTo>
                  <a:pt x="8623" y="1358899"/>
                </a:lnTo>
                <a:lnTo>
                  <a:pt x="43345" y="1358899"/>
                </a:lnTo>
                <a:lnTo>
                  <a:pt x="39192" y="1346199"/>
                </a:lnTo>
                <a:close/>
              </a:path>
              <a:path w="246379" h="1485900">
                <a:moveTo>
                  <a:pt x="31711" y="1333499"/>
                </a:moveTo>
                <a:lnTo>
                  <a:pt x="1562" y="1333499"/>
                </a:lnTo>
                <a:lnTo>
                  <a:pt x="3035" y="1346199"/>
                </a:lnTo>
                <a:lnTo>
                  <a:pt x="34290" y="1346199"/>
                </a:lnTo>
                <a:lnTo>
                  <a:pt x="31711" y="1333499"/>
                </a:lnTo>
                <a:close/>
              </a:path>
              <a:path w="246379" h="1485900">
                <a:moveTo>
                  <a:pt x="28701" y="114300"/>
                </a:moveTo>
                <a:lnTo>
                  <a:pt x="0" y="114300"/>
                </a:lnTo>
                <a:lnTo>
                  <a:pt x="0" y="1320799"/>
                </a:lnTo>
                <a:lnTo>
                  <a:pt x="215" y="1333499"/>
                </a:lnTo>
                <a:lnTo>
                  <a:pt x="28879" y="1333499"/>
                </a:lnTo>
                <a:lnTo>
                  <a:pt x="28625" y="1320799"/>
                </a:lnTo>
                <a:lnTo>
                  <a:pt x="28473" y="1320799"/>
                </a:lnTo>
                <a:lnTo>
                  <a:pt x="28448" y="127000"/>
                </a:lnTo>
                <a:lnTo>
                  <a:pt x="28701" y="114300"/>
                </a:lnTo>
                <a:close/>
              </a:path>
              <a:path w="246379" h="1485900">
                <a:moveTo>
                  <a:pt x="32232" y="101600"/>
                </a:moveTo>
                <a:lnTo>
                  <a:pt x="3035" y="101600"/>
                </a:lnTo>
                <a:lnTo>
                  <a:pt x="1562" y="114300"/>
                </a:lnTo>
                <a:lnTo>
                  <a:pt x="30200" y="114300"/>
                </a:lnTo>
                <a:lnTo>
                  <a:pt x="32232" y="101600"/>
                </a:lnTo>
                <a:close/>
              </a:path>
              <a:path w="246379" h="1485900">
                <a:moveTo>
                  <a:pt x="39839" y="88900"/>
                </a:moveTo>
                <a:lnTo>
                  <a:pt x="6032" y="88900"/>
                </a:lnTo>
                <a:lnTo>
                  <a:pt x="5499" y="101600"/>
                </a:lnTo>
                <a:lnTo>
                  <a:pt x="36194" y="101600"/>
                </a:lnTo>
                <a:lnTo>
                  <a:pt x="39839" y="88900"/>
                </a:lnTo>
                <a:close/>
              </a:path>
              <a:path w="246379" h="1485900">
                <a:moveTo>
                  <a:pt x="51816" y="76200"/>
                </a:moveTo>
                <a:lnTo>
                  <a:pt x="12966" y="76200"/>
                </a:lnTo>
                <a:lnTo>
                  <a:pt x="12331" y="88900"/>
                </a:lnTo>
                <a:lnTo>
                  <a:pt x="46697" y="88900"/>
                </a:lnTo>
                <a:lnTo>
                  <a:pt x="51816" y="76200"/>
                </a:lnTo>
                <a:close/>
              </a:path>
              <a:path w="246379" h="1485900">
                <a:moveTo>
                  <a:pt x="68110" y="63500"/>
                </a:moveTo>
                <a:lnTo>
                  <a:pt x="26695" y="63500"/>
                </a:lnTo>
                <a:lnTo>
                  <a:pt x="22047" y="76200"/>
                </a:lnTo>
                <a:lnTo>
                  <a:pt x="61645" y="76200"/>
                </a:lnTo>
                <a:lnTo>
                  <a:pt x="68110" y="63500"/>
                </a:lnTo>
                <a:close/>
              </a:path>
              <a:path w="246379" h="1485900">
                <a:moveTo>
                  <a:pt x="74447" y="63500"/>
                </a:moveTo>
                <a:lnTo>
                  <a:pt x="68110" y="63500"/>
                </a:lnTo>
                <a:lnTo>
                  <a:pt x="67563" y="76200"/>
                </a:lnTo>
                <a:lnTo>
                  <a:pt x="74447" y="63500"/>
                </a:lnTo>
                <a:close/>
              </a:path>
              <a:path w="246379" h="1485900">
                <a:moveTo>
                  <a:pt x="95961" y="50800"/>
                </a:moveTo>
                <a:lnTo>
                  <a:pt x="38646" y="50800"/>
                </a:lnTo>
                <a:lnTo>
                  <a:pt x="33058" y="63500"/>
                </a:lnTo>
                <a:lnTo>
                  <a:pt x="87909" y="63500"/>
                </a:lnTo>
                <a:lnTo>
                  <a:pt x="95961" y="50800"/>
                </a:lnTo>
                <a:close/>
              </a:path>
              <a:path w="246379" h="1485900">
                <a:moveTo>
                  <a:pt x="129895" y="38100"/>
                </a:moveTo>
                <a:lnTo>
                  <a:pt x="60248" y="38100"/>
                </a:lnTo>
                <a:lnTo>
                  <a:pt x="52844" y="50800"/>
                </a:lnTo>
                <a:lnTo>
                  <a:pt x="120484" y="50800"/>
                </a:lnTo>
                <a:lnTo>
                  <a:pt x="129895" y="38100"/>
                </a:lnTo>
                <a:close/>
              </a:path>
              <a:path w="246379" h="1485900">
                <a:moveTo>
                  <a:pt x="189915" y="25400"/>
                </a:moveTo>
                <a:lnTo>
                  <a:pt x="84226" y="25400"/>
                </a:lnTo>
                <a:lnTo>
                  <a:pt x="76174" y="38100"/>
                </a:lnTo>
                <a:lnTo>
                  <a:pt x="178917" y="38100"/>
                </a:lnTo>
                <a:lnTo>
                  <a:pt x="189915" y="25400"/>
                </a:lnTo>
                <a:close/>
              </a:path>
              <a:path w="246379" h="1485900">
                <a:moveTo>
                  <a:pt x="245770" y="0"/>
                </a:moveTo>
                <a:lnTo>
                  <a:pt x="174752" y="0"/>
                </a:lnTo>
                <a:lnTo>
                  <a:pt x="163626" y="12700"/>
                </a:lnTo>
                <a:lnTo>
                  <a:pt x="111798" y="12700"/>
                </a:lnTo>
                <a:lnTo>
                  <a:pt x="102704" y="25400"/>
                </a:lnTo>
                <a:lnTo>
                  <a:pt x="246100" y="25400"/>
                </a:lnTo>
                <a:lnTo>
                  <a:pt x="245770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953452" y="456031"/>
            <a:ext cx="8928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800000"/>
                </a:solidFill>
                <a:latin typeface="Tahoma"/>
                <a:cs typeface="Tahoma"/>
              </a:rPr>
              <a:t>Recall: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953452" y="760831"/>
            <a:ext cx="81991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Unsupervised</a:t>
            </a:r>
            <a:r>
              <a:rPr dirty="0" spc="-130"/>
              <a:t> </a:t>
            </a:r>
            <a:r>
              <a:rPr dirty="0"/>
              <a:t>Competitive</a:t>
            </a:r>
            <a:r>
              <a:rPr dirty="0" spc="-125"/>
              <a:t> </a:t>
            </a:r>
            <a:r>
              <a:rPr dirty="0" spc="-10"/>
              <a:t>Learning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28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038847" y="2128088"/>
            <a:ext cx="5454015" cy="3649345"/>
            <a:chOff x="1038847" y="2128088"/>
            <a:chExt cx="5454015" cy="3649345"/>
          </a:xfrm>
        </p:grpSpPr>
        <p:sp>
          <p:nvSpPr>
            <p:cNvPr id="3" name="object 3" descr=""/>
            <p:cNvSpPr/>
            <p:nvPr/>
          </p:nvSpPr>
          <p:spPr>
            <a:xfrm>
              <a:off x="1038847" y="2128088"/>
              <a:ext cx="5454015" cy="3649345"/>
            </a:xfrm>
            <a:custGeom>
              <a:avLst/>
              <a:gdLst/>
              <a:ahLst/>
              <a:cxnLst/>
              <a:rect l="l" t="t" r="r" b="b"/>
              <a:pathLst>
                <a:path w="5454015" h="3649345">
                  <a:moveTo>
                    <a:pt x="5453430" y="0"/>
                  </a:moveTo>
                  <a:lnTo>
                    <a:pt x="0" y="0"/>
                  </a:lnTo>
                  <a:lnTo>
                    <a:pt x="0" y="3649040"/>
                  </a:lnTo>
                  <a:lnTo>
                    <a:pt x="5453430" y="3649040"/>
                  </a:lnTo>
                  <a:lnTo>
                    <a:pt x="5453430" y="3644277"/>
                  </a:lnTo>
                  <a:lnTo>
                    <a:pt x="9525" y="3644277"/>
                  </a:lnTo>
                  <a:lnTo>
                    <a:pt x="4762" y="3639515"/>
                  </a:lnTo>
                  <a:lnTo>
                    <a:pt x="9525" y="3639515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5453430" y="4762"/>
                  </a:lnTo>
                  <a:lnTo>
                    <a:pt x="5453430" y="0"/>
                  </a:lnTo>
                  <a:close/>
                </a:path>
                <a:path w="5454015" h="3649345">
                  <a:moveTo>
                    <a:pt x="9525" y="3639515"/>
                  </a:moveTo>
                  <a:lnTo>
                    <a:pt x="4762" y="3639515"/>
                  </a:lnTo>
                  <a:lnTo>
                    <a:pt x="9525" y="3644277"/>
                  </a:lnTo>
                  <a:lnTo>
                    <a:pt x="9525" y="3639515"/>
                  </a:lnTo>
                  <a:close/>
                </a:path>
                <a:path w="5454015" h="3649345">
                  <a:moveTo>
                    <a:pt x="5443905" y="3639515"/>
                  </a:moveTo>
                  <a:lnTo>
                    <a:pt x="9525" y="3639515"/>
                  </a:lnTo>
                  <a:lnTo>
                    <a:pt x="9525" y="3644277"/>
                  </a:lnTo>
                  <a:lnTo>
                    <a:pt x="5443905" y="3644277"/>
                  </a:lnTo>
                  <a:lnTo>
                    <a:pt x="5443905" y="3639515"/>
                  </a:lnTo>
                  <a:close/>
                </a:path>
                <a:path w="5454015" h="3649345">
                  <a:moveTo>
                    <a:pt x="5443905" y="4762"/>
                  </a:moveTo>
                  <a:lnTo>
                    <a:pt x="5443905" y="3644277"/>
                  </a:lnTo>
                  <a:lnTo>
                    <a:pt x="5448668" y="3639515"/>
                  </a:lnTo>
                  <a:lnTo>
                    <a:pt x="5453430" y="3639515"/>
                  </a:lnTo>
                  <a:lnTo>
                    <a:pt x="5453430" y="9525"/>
                  </a:lnTo>
                  <a:lnTo>
                    <a:pt x="5448668" y="9525"/>
                  </a:lnTo>
                  <a:lnTo>
                    <a:pt x="5443905" y="4762"/>
                  </a:lnTo>
                  <a:close/>
                </a:path>
                <a:path w="5454015" h="3649345">
                  <a:moveTo>
                    <a:pt x="5453430" y="3639515"/>
                  </a:moveTo>
                  <a:lnTo>
                    <a:pt x="5448668" y="3639515"/>
                  </a:lnTo>
                  <a:lnTo>
                    <a:pt x="5443905" y="3644277"/>
                  </a:lnTo>
                  <a:lnTo>
                    <a:pt x="5453430" y="3644277"/>
                  </a:lnTo>
                  <a:lnTo>
                    <a:pt x="5453430" y="3639515"/>
                  </a:lnTo>
                  <a:close/>
                </a:path>
                <a:path w="5454015" h="3649345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5454015" h="3649345">
                  <a:moveTo>
                    <a:pt x="5443905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5443905" y="9525"/>
                  </a:lnTo>
                  <a:lnTo>
                    <a:pt x="5443905" y="4762"/>
                  </a:lnTo>
                  <a:close/>
                </a:path>
                <a:path w="5454015" h="3649345">
                  <a:moveTo>
                    <a:pt x="5453430" y="4762"/>
                  </a:moveTo>
                  <a:lnTo>
                    <a:pt x="5443905" y="4762"/>
                  </a:lnTo>
                  <a:lnTo>
                    <a:pt x="5448668" y="9525"/>
                  </a:lnTo>
                  <a:lnTo>
                    <a:pt x="5453430" y="9525"/>
                  </a:lnTo>
                  <a:lnTo>
                    <a:pt x="5453430" y="4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940" y="2162555"/>
              <a:ext cx="5314188" cy="361035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0045" y="2925559"/>
              <a:ext cx="101320" cy="9245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1783" y="3302228"/>
              <a:ext cx="101320" cy="9245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8439" y="3067418"/>
              <a:ext cx="230936" cy="15115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5439" y="3336467"/>
              <a:ext cx="203936" cy="17548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10631" y="4393361"/>
              <a:ext cx="230936" cy="9220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1783" y="4593920"/>
              <a:ext cx="101320" cy="92202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3702" y="4593920"/>
              <a:ext cx="101320" cy="9220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3702" y="4417822"/>
              <a:ext cx="101320" cy="92202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4782" y="3747642"/>
              <a:ext cx="128320" cy="23406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51399" y="4065346"/>
              <a:ext cx="101320" cy="92456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87456" y="4183011"/>
              <a:ext cx="101320" cy="92202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677923" y="5373623"/>
            <a:ext cx="1042669" cy="39941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588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55"/>
              </a:spcBef>
            </a:pPr>
            <a:r>
              <a:rPr dirty="0" sz="1300" spc="-20">
                <a:latin typeface="Tahoma"/>
                <a:cs typeface="Tahoma"/>
              </a:rPr>
              <a:t>Data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3720084" y="5373623"/>
            <a:ext cx="2032000" cy="399415"/>
          </a:xfrm>
          <a:custGeom>
            <a:avLst/>
            <a:gdLst/>
            <a:ahLst/>
            <a:cxnLst/>
            <a:rect l="l" t="t" r="r" b="b"/>
            <a:pathLst>
              <a:path w="2032000" h="399414">
                <a:moveTo>
                  <a:pt x="2031491" y="0"/>
                </a:moveTo>
                <a:lnTo>
                  <a:pt x="0" y="0"/>
                </a:lnTo>
                <a:lnTo>
                  <a:pt x="0" y="399288"/>
                </a:lnTo>
                <a:lnTo>
                  <a:pt x="2031491" y="399288"/>
                </a:lnTo>
                <a:lnTo>
                  <a:pt x="20314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798417" y="5457672"/>
            <a:ext cx="120650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latin typeface="Tahoma"/>
                <a:cs typeface="Tahoma"/>
              </a:rPr>
              <a:t>Voronoi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10">
                <a:latin typeface="Tahoma"/>
                <a:cs typeface="Tahoma"/>
              </a:rPr>
              <a:t>diagram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34833" y="6008370"/>
            <a:ext cx="6304915" cy="560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1400"/>
              </a:lnSpc>
              <a:spcBef>
                <a:spcPts val="105"/>
              </a:spcBef>
            </a:pP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Voronoi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diagram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partitioning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plane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into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regions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based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on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distance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points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in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specific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subset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plane.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For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each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seed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there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is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corresponding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region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consisting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of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all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points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closer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that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seed</a:t>
            </a:r>
            <a:r>
              <a:rPr dirty="0" sz="1150" spc="1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Times New Roman"/>
                <a:cs typeface="Times New Roman"/>
              </a:rPr>
              <a:t>than </a:t>
            </a:r>
            <a:r>
              <a:rPr dirty="0" sz="1150">
                <a:latin typeface="Times New Roman"/>
                <a:cs typeface="Times New Roman"/>
              </a:rPr>
              <a:t>to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any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other.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These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regions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are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>
                <a:latin typeface="Times New Roman"/>
                <a:cs typeface="Times New Roman"/>
              </a:rPr>
              <a:t>called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-25">
                <a:latin typeface="Times New Roman"/>
                <a:cs typeface="Times New Roman"/>
              </a:rPr>
              <a:t>Voronoi</a:t>
            </a:r>
            <a:r>
              <a:rPr dirty="0" sz="1150" spc="5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cells.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07022" y="2015832"/>
            <a:ext cx="1189990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333333"/>
                </a:solidFill>
                <a:latin typeface="Tahoma"/>
                <a:cs typeface="Tahoma"/>
              </a:rPr>
              <a:t>encoding</a:t>
            </a:r>
            <a:r>
              <a:rPr dirty="0" sz="1300" spc="-4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Tahoma"/>
                <a:cs typeface="Tahoma"/>
              </a:rPr>
              <a:t>region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07022" y="5529681"/>
            <a:ext cx="9417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333333"/>
                </a:solidFill>
                <a:latin typeface="Tahoma"/>
                <a:cs typeface="Tahoma"/>
              </a:rPr>
              <a:t>code</a:t>
            </a:r>
            <a:r>
              <a:rPr dirty="0" sz="1300" spc="-15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Tahoma"/>
                <a:cs typeface="Tahoma"/>
              </a:rPr>
              <a:t>vectors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253223" y="3543388"/>
            <a:ext cx="110934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333333"/>
                </a:solidFill>
                <a:latin typeface="Tahoma"/>
                <a:cs typeface="Tahoma"/>
              </a:rPr>
              <a:t>partition</a:t>
            </a:r>
            <a:r>
              <a:rPr dirty="0" sz="1300" spc="-3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333333"/>
                </a:solidFill>
                <a:latin typeface="Tahoma"/>
                <a:cs typeface="Tahoma"/>
              </a:rPr>
              <a:t>of</a:t>
            </a:r>
            <a:r>
              <a:rPr dirty="0" sz="1300" spc="-30">
                <a:solidFill>
                  <a:srgbClr val="333333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333333"/>
                </a:solidFill>
                <a:latin typeface="Tahoma"/>
                <a:cs typeface="Tahoma"/>
              </a:rPr>
              <a:t>the </a:t>
            </a:r>
            <a:r>
              <a:rPr dirty="0" sz="1300" spc="-10">
                <a:solidFill>
                  <a:srgbClr val="333333"/>
                </a:solidFill>
                <a:latin typeface="Tahoma"/>
                <a:cs typeface="Tahoma"/>
              </a:rPr>
              <a:t>space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713958" y="2142058"/>
            <a:ext cx="1405890" cy="3519804"/>
            <a:chOff x="5713958" y="2142058"/>
            <a:chExt cx="1405890" cy="3519804"/>
          </a:xfrm>
        </p:grpSpPr>
        <p:sp>
          <p:nvSpPr>
            <p:cNvPr id="24" name="object 24" descr=""/>
            <p:cNvSpPr/>
            <p:nvPr/>
          </p:nvSpPr>
          <p:spPr>
            <a:xfrm>
              <a:off x="5713958" y="2142057"/>
              <a:ext cx="1090295" cy="3519804"/>
            </a:xfrm>
            <a:custGeom>
              <a:avLst/>
              <a:gdLst/>
              <a:ahLst/>
              <a:cxnLst/>
              <a:rect l="l" t="t" r="r" b="b"/>
              <a:pathLst>
                <a:path w="1090295" h="3519804">
                  <a:moveTo>
                    <a:pt x="1090295" y="3519208"/>
                  </a:moveTo>
                  <a:lnTo>
                    <a:pt x="1088148" y="3509060"/>
                  </a:lnTo>
                  <a:lnTo>
                    <a:pt x="1067549" y="3411575"/>
                  </a:lnTo>
                  <a:lnTo>
                    <a:pt x="1066736" y="3409048"/>
                  </a:lnTo>
                  <a:lnTo>
                    <a:pt x="1056462" y="3401580"/>
                  </a:lnTo>
                  <a:lnTo>
                    <a:pt x="1053744" y="3401580"/>
                  </a:lnTo>
                  <a:lnTo>
                    <a:pt x="1042416" y="3414191"/>
                  </a:lnTo>
                  <a:lnTo>
                    <a:pt x="1042695" y="3416833"/>
                  </a:lnTo>
                  <a:lnTo>
                    <a:pt x="1051204" y="3457168"/>
                  </a:lnTo>
                  <a:lnTo>
                    <a:pt x="1056347" y="3481463"/>
                  </a:lnTo>
                  <a:lnTo>
                    <a:pt x="1056424" y="3481844"/>
                  </a:lnTo>
                  <a:lnTo>
                    <a:pt x="1051204" y="3457168"/>
                  </a:lnTo>
                  <a:lnTo>
                    <a:pt x="18821" y="2318169"/>
                  </a:lnTo>
                  <a:lnTo>
                    <a:pt x="0" y="2335225"/>
                  </a:lnTo>
                  <a:lnTo>
                    <a:pt x="1032395" y="3474250"/>
                  </a:lnTo>
                  <a:lnTo>
                    <a:pt x="993241" y="3461867"/>
                  </a:lnTo>
                  <a:lnTo>
                    <a:pt x="990536" y="3461296"/>
                  </a:lnTo>
                  <a:lnTo>
                    <a:pt x="987831" y="3461296"/>
                  </a:lnTo>
                  <a:lnTo>
                    <a:pt x="976553" y="3474021"/>
                  </a:lnTo>
                  <a:lnTo>
                    <a:pt x="976845" y="3476663"/>
                  </a:lnTo>
                  <a:lnTo>
                    <a:pt x="985418" y="3486023"/>
                  </a:lnTo>
                  <a:lnTo>
                    <a:pt x="1090295" y="3519208"/>
                  </a:lnTo>
                  <a:close/>
                </a:path>
                <a:path w="1090295" h="3519804">
                  <a:moveTo>
                    <a:pt x="1090295" y="20154"/>
                  </a:moveTo>
                  <a:lnTo>
                    <a:pt x="1071765" y="16738"/>
                  </a:lnTo>
                  <a:lnTo>
                    <a:pt x="982129" y="203"/>
                  </a:lnTo>
                  <a:lnTo>
                    <a:pt x="979474" y="0"/>
                  </a:lnTo>
                  <a:lnTo>
                    <a:pt x="967155" y="11709"/>
                  </a:lnTo>
                  <a:lnTo>
                    <a:pt x="967232" y="14363"/>
                  </a:lnTo>
                  <a:lnTo>
                    <a:pt x="1018057" y="32664"/>
                  </a:lnTo>
                  <a:lnTo>
                    <a:pt x="221894" y="319481"/>
                  </a:lnTo>
                  <a:lnTo>
                    <a:pt x="230492" y="343382"/>
                  </a:lnTo>
                  <a:lnTo>
                    <a:pt x="1026680" y="56565"/>
                  </a:lnTo>
                  <a:lnTo>
                    <a:pt x="1000213" y="88188"/>
                  </a:lnTo>
                  <a:lnTo>
                    <a:pt x="998728" y="90385"/>
                  </a:lnTo>
                  <a:lnTo>
                    <a:pt x="997737" y="92849"/>
                  </a:lnTo>
                  <a:lnTo>
                    <a:pt x="997280" y="95465"/>
                  </a:lnTo>
                  <a:lnTo>
                    <a:pt x="997381" y="98120"/>
                  </a:lnTo>
                  <a:lnTo>
                    <a:pt x="1010412" y="109029"/>
                  </a:lnTo>
                  <a:lnTo>
                    <a:pt x="1013040" y="108661"/>
                  </a:lnTo>
                  <a:lnTo>
                    <a:pt x="1015530" y="107746"/>
                  </a:lnTo>
                  <a:lnTo>
                    <a:pt x="1017778" y="106337"/>
                  </a:lnTo>
                  <a:lnTo>
                    <a:pt x="1019683" y="104482"/>
                  </a:lnTo>
                  <a:lnTo>
                    <a:pt x="1090295" y="20154"/>
                  </a:lnTo>
                  <a:close/>
                </a:path>
              </a:pathLst>
            </a:custGeom>
            <a:solidFill>
              <a:srgbClr val="00E4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804660" y="2276856"/>
              <a:ext cx="314960" cy="3168650"/>
            </a:xfrm>
            <a:custGeom>
              <a:avLst/>
              <a:gdLst/>
              <a:ahLst/>
              <a:cxnLst/>
              <a:rect l="l" t="t" r="r" b="b"/>
              <a:pathLst>
                <a:path w="314959" h="3168650">
                  <a:moveTo>
                    <a:pt x="0" y="0"/>
                  </a:moveTo>
                  <a:lnTo>
                    <a:pt x="0" y="3168396"/>
                  </a:lnTo>
                  <a:lnTo>
                    <a:pt x="16033" y="3164705"/>
                  </a:lnTo>
                  <a:lnTo>
                    <a:pt x="46652" y="3136279"/>
                  </a:lnTo>
                  <a:lnTo>
                    <a:pt x="74806" y="3082180"/>
                  </a:lnTo>
                  <a:lnTo>
                    <a:pt x="99854" y="3005270"/>
                  </a:lnTo>
                  <a:lnTo>
                    <a:pt x="111013" y="2959155"/>
                  </a:lnTo>
                  <a:lnTo>
                    <a:pt x="121156" y="2908411"/>
                  </a:lnTo>
                  <a:lnTo>
                    <a:pt x="130203" y="2853396"/>
                  </a:lnTo>
                  <a:lnTo>
                    <a:pt x="138072" y="2794467"/>
                  </a:lnTo>
                  <a:lnTo>
                    <a:pt x="144685" y="2731982"/>
                  </a:lnTo>
                  <a:lnTo>
                    <a:pt x="149962" y="2666299"/>
                  </a:lnTo>
                  <a:lnTo>
                    <a:pt x="153822" y="2597776"/>
                  </a:lnTo>
                  <a:lnTo>
                    <a:pt x="156185" y="2526770"/>
                  </a:lnTo>
                  <a:lnTo>
                    <a:pt x="156972" y="2453640"/>
                  </a:lnTo>
                  <a:lnTo>
                    <a:pt x="156972" y="2243328"/>
                  </a:lnTo>
                  <a:lnTo>
                    <a:pt x="157812" y="2170226"/>
                  </a:lnTo>
                  <a:lnTo>
                    <a:pt x="160222" y="2099246"/>
                  </a:lnTo>
                  <a:lnTo>
                    <a:pt x="164124" y="2030746"/>
                  </a:lnTo>
                  <a:lnTo>
                    <a:pt x="169438" y="1965083"/>
                  </a:lnTo>
                  <a:lnTo>
                    <a:pt x="176086" y="1902615"/>
                  </a:lnTo>
                  <a:lnTo>
                    <a:pt x="183989" y="1843701"/>
                  </a:lnTo>
                  <a:lnTo>
                    <a:pt x="193067" y="1788699"/>
                  </a:lnTo>
                  <a:lnTo>
                    <a:pt x="203242" y="1737966"/>
                  </a:lnTo>
                  <a:lnTo>
                    <a:pt x="214435" y="1691861"/>
                  </a:lnTo>
                  <a:lnTo>
                    <a:pt x="226567" y="1650741"/>
                  </a:lnTo>
                  <a:lnTo>
                    <a:pt x="253332" y="1584892"/>
                  </a:lnTo>
                  <a:lnTo>
                    <a:pt x="282905" y="1543281"/>
                  </a:lnTo>
                  <a:lnTo>
                    <a:pt x="314655" y="1528775"/>
                  </a:lnTo>
                  <a:lnTo>
                    <a:pt x="298547" y="1525089"/>
                  </a:lnTo>
                  <a:lnTo>
                    <a:pt x="267807" y="1496679"/>
                  </a:lnTo>
                  <a:lnTo>
                    <a:pt x="239559" y="1442618"/>
                  </a:lnTo>
                  <a:lnTo>
                    <a:pt x="214435" y="1365782"/>
                  </a:lnTo>
                  <a:lnTo>
                    <a:pt x="203242" y="1319723"/>
                  </a:lnTo>
                  <a:lnTo>
                    <a:pt x="193067" y="1269050"/>
                  </a:lnTo>
                  <a:lnTo>
                    <a:pt x="183989" y="1214121"/>
                  </a:lnTo>
                  <a:lnTo>
                    <a:pt x="176086" y="1155297"/>
                  </a:lnTo>
                  <a:lnTo>
                    <a:pt x="169438" y="1092938"/>
                  </a:lnTo>
                  <a:lnTo>
                    <a:pt x="164124" y="1027403"/>
                  </a:lnTo>
                  <a:lnTo>
                    <a:pt x="160222" y="959052"/>
                  </a:lnTo>
                  <a:lnTo>
                    <a:pt x="157812" y="888244"/>
                  </a:lnTo>
                  <a:lnTo>
                    <a:pt x="156972" y="815340"/>
                  </a:lnTo>
                  <a:lnTo>
                    <a:pt x="156972" y="714756"/>
                  </a:lnTo>
                  <a:lnTo>
                    <a:pt x="156185" y="641623"/>
                  </a:lnTo>
                  <a:lnTo>
                    <a:pt x="153822" y="570615"/>
                  </a:lnTo>
                  <a:lnTo>
                    <a:pt x="149962" y="502090"/>
                  </a:lnTo>
                  <a:lnTo>
                    <a:pt x="144685" y="436406"/>
                  </a:lnTo>
                  <a:lnTo>
                    <a:pt x="138072" y="373920"/>
                  </a:lnTo>
                  <a:lnTo>
                    <a:pt x="130203" y="314990"/>
                  </a:lnTo>
                  <a:lnTo>
                    <a:pt x="121156" y="259974"/>
                  </a:lnTo>
                  <a:lnTo>
                    <a:pt x="111013" y="209230"/>
                  </a:lnTo>
                  <a:lnTo>
                    <a:pt x="99854" y="163116"/>
                  </a:lnTo>
                  <a:lnTo>
                    <a:pt x="87758" y="121989"/>
                  </a:lnTo>
                  <a:lnTo>
                    <a:pt x="61077" y="56129"/>
                  </a:lnTo>
                  <a:lnTo>
                    <a:pt x="31611" y="14511"/>
                  </a:lnTo>
                  <a:lnTo>
                    <a:pt x="16033" y="36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803974" y="2274976"/>
              <a:ext cx="308610" cy="3175000"/>
            </a:xfrm>
            <a:custGeom>
              <a:avLst/>
              <a:gdLst/>
              <a:ahLst/>
              <a:cxnLst/>
              <a:rect l="l" t="t" r="r" b="b"/>
              <a:pathLst>
                <a:path w="308609" h="3175000">
                  <a:moveTo>
                    <a:pt x="14604" y="3162300"/>
                  </a:moveTo>
                  <a:lnTo>
                    <a:pt x="10617" y="3175000"/>
                  </a:lnTo>
                  <a:lnTo>
                    <a:pt x="14185" y="3175000"/>
                  </a:lnTo>
                  <a:lnTo>
                    <a:pt x="14604" y="3162300"/>
                  </a:lnTo>
                  <a:close/>
                </a:path>
                <a:path w="308609" h="3175000">
                  <a:moveTo>
                    <a:pt x="35255" y="3162300"/>
                  </a:moveTo>
                  <a:lnTo>
                    <a:pt x="18148" y="3162300"/>
                  </a:lnTo>
                  <a:lnTo>
                    <a:pt x="14185" y="3175000"/>
                  </a:lnTo>
                  <a:lnTo>
                    <a:pt x="31153" y="3175000"/>
                  </a:lnTo>
                  <a:lnTo>
                    <a:pt x="35255" y="3162300"/>
                  </a:lnTo>
                  <a:close/>
                </a:path>
                <a:path w="308609" h="3175000">
                  <a:moveTo>
                    <a:pt x="47155" y="3149600"/>
                  </a:moveTo>
                  <a:lnTo>
                    <a:pt x="32499" y="3149600"/>
                  </a:lnTo>
                  <a:lnTo>
                    <a:pt x="28676" y="3162300"/>
                  </a:lnTo>
                  <a:lnTo>
                    <a:pt x="43256" y="3162300"/>
                  </a:lnTo>
                  <a:lnTo>
                    <a:pt x="47155" y="3149600"/>
                  </a:lnTo>
                  <a:close/>
                </a:path>
                <a:path w="308609" h="3175000">
                  <a:moveTo>
                    <a:pt x="54787" y="3136900"/>
                  </a:moveTo>
                  <a:lnTo>
                    <a:pt x="43179" y="3136900"/>
                  </a:lnTo>
                  <a:lnTo>
                    <a:pt x="39573" y="3149600"/>
                  </a:lnTo>
                  <a:lnTo>
                    <a:pt x="51003" y="3149600"/>
                  </a:lnTo>
                  <a:lnTo>
                    <a:pt x="54787" y="3136900"/>
                  </a:lnTo>
                  <a:close/>
                </a:path>
                <a:path w="308609" h="3175000">
                  <a:moveTo>
                    <a:pt x="62191" y="3124200"/>
                  </a:moveTo>
                  <a:lnTo>
                    <a:pt x="53848" y="3124200"/>
                  </a:lnTo>
                  <a:lnTo>
                    <a:pt x="50317" y="3136900"/>
                  </a:lnTo>
                  <a:lnTo>
                    <a:pt x="58521" y="3136900"/>
                  </a:lnTo>
                  <a:lnTo>
                    <a:pt x="62191" y="3124200"/>
                  </a:lnTo>
                  <a:close/>
                </a:path>
                <a:path w="308609" h="3175000">
                  <a:moveTo>
                    <a:pt x="79781" y="3086100"/>
                  </a:moveTo>
                  <a:lnTo>
                    <a:pt x="70967" y="3086100"/>
                  </a:lnTo>
                  <a:lnTo>
                    <a:pt x="67640" y="3098800"/>
                  </a:lnTo>
                  <a:lnTo>
                    <a:pt x="64262" y="3098800"/>
                  </a:lnTo>
                  <a:lnTo>
                    <a:pt x="60858" y="3111500"/>
                  </a:lnTo>
                  <a:lnTo>
                    <a:pt x="57403" y="3124200"/>
                  </a:lnTo>
                  <a:lnTo>
                    <a:pt x="65811" y="3124200"/>
                  </a:lnTo>
                  <a:lnTo>
                    <a:pt x="69380" y="3111500"/>
                  </a:lnTo>
                  <a:lnTo>
                    <a:pt x="72898" y="3111500"/>
                  </a:lnTo>
                  <a:lnTo>
                    <a:pt x="76365" y="3098800"/>
                  </a:lnTo>
                  <a:lnTo>
                    <a:pt x="79781" y="3086100"/>
                  </a:lnTo>
                  <a:close/>
                </a:path>
                <a:path w="308609" h="3175000">
                  <a:moveTo>
                    <a:pt x="254762" y="1600200"/>
                  </a:moveTo>
                  <a:lnTo>
                    <a:pt x="242709" y="1600200"/>
                  </a:lnTo>
                  <a:lnTo>
                    <a:pt x="239255" y="1612900"/>
                  </a:lnTo>
                  <a:lnTo>
                    <a:pt x="235839" y="1625600"/>
                  </a:lnTo>
                  <a:lnTo>
                    <a:pt x="232486" y="1625600"/>
                  </a:lnTo>
                  <a:lnTo>
                    <a:pt x="229184" y="1638300"/>
                  </a:lnTo>
                  <a:lnTo>
                    <a:pt x="225932" y="1651000"/>
                  </a:lnTo>
                  <a:lnTo>
                    <a:pt x="222732" y="1663700"/>
                  </a:lnTo>
                  <a:lnTo>
                    <a:pt x="219595" y="1663700"/>
                  </a:lnTo>
                  <a:lnTo>
                    <a:pt x="216509" y="1676400"/>
                  </a:lnTo>
                  <a:lnTo>
                    <a:pt x="210540" y="1701800"/>
                  </a:lnTo>
                  <a:lnTo>
                    <a:pt x="204787" y="1727200"/>
                  </a:lnTo>
                  <a:lnTo>
                    <a:pt x="199301" y="1739900"/>
                  </a:lnTo>
                  <a:lnTo>
                    <a:pt x="194068" y="1765300"/>
                  </a:lnTo>
                  <a:lnTo>
                    <a:pt x="189090" y="1790700"/>
                  </a:lnTo>
                  <a:lnTo>
                    <a:pt x="184403" y="1828800"/>
                  </a:lnTo>
                  <a:lnTo>
                    <a:pt x="179997" y="1854200"/>
                  </a:lnTo>
                  <a:lnTo>
                    <a:pt x="175895" y="1879600"/>
                  </a:lnTo>
                  <a:lnTo>
                    <a:pt x="172097" y="1905000"/>
                  </a:lnTo>
                  <a:lnTo>
                    <a:pt x="168605" y="1943100"/>
                  </a:lnTo>
                  <a:lnTo>
                    <a:pt x="165442" y="1968500"/>
                  </a:lnTo>
                  <a:lnTo>
                    <a:pt x="162623" y="2006600"/>
                  </a:lnTo>
                  <a:lnTo>
                    <a:pt x="160134" y="2032000"/>
                  </a:lnTo>
                  <a:lnTo>
                    <a:pt x="158013" y="2070100"/>
                  </a:lnTo>
                  <a:lnTo>
                    <a:pt x="156248" y="2108200"/>
                  </a:lnTo>
                  <a:lnTo>
                    <a:pt x="154863" y="2146300"/>
                  </a:lnTo>
                  <a:lnTo>
                    <a:pt x="153860" y="2171700"/>
                  </a:lnTo>
                  <a:lnTo>
                    <a:pt x="153250" y="2209800"/>
                  </a:lnTo>
                  <a:lnTo>
                    <a:pt x="153047" y="2247900"/>
                  </a:lnTo>
                  <a:lnTo>
                    <a:pt x="153047" y="2463800"/>
                  </a:lnTo>
                  <a:lnTo>
                    <a:pt x="152844" y="2501900"/>
                  </a:lnTo>
                  <a:lnTo>
                    <a:pt x="152234" y="2540000"/>
                  </a:lnTo>
                  <a:lnTo>
                    <a:pt x="151231" y="2565400"/>
                  </a:lnTo>
                  <a:lnTo>
                    <a:pt x="149847" y="2603500"/>
                  </a:lnTo>
                  <a:lnTo>
                    <a:pt x="148094" y="2641600"/>
                  </a:lnTo>
                  <a:lnTo>
                    <a:pt x="145973" y="2679700"/>
                  </a:lnTo>
                  <a:lnTo>
                    <a:pt x="143510" y="2705100"/>
                  </a:lnTo>
                  <a:lnTo>
                    <a:pt x="140690" y="2743200"/>
                  </a:lnTo>
                  <a:lnTo>
                    <a:pt x="137541" y="2768600"/>
                  </a:lnTo>
                  <a:lnTo>
                    <a:pt x="134073" y="2806700"/>
                  </a:lnTo>
                  <a:lnTo>
                    <a:pt x="130289" y="2832100"/>
                  </a:lnTo>
                  <a:lnTo>
                    <a:pt x="126199" y="2857500"/>
                  </a:lnTo>
                  <a:lnTo>
                    <a:pt x="121818" y="2882900"/>
                  </a:lnTo>
                  <a:lnTo>
                    <a:pt x="117157" y="2921000"/>
                  </a:lnTo>
                  <a:lnTo>
                    <a:pt x="112217" y="2946400"/>
                  </a:lnTo>
                  <a:lnTo>
                    <a:pt x="107022" y="2971800"/>
                  </a:lnTo>
                  <a:lnTo>
                    <a:pt x="101587" y="2984500"/>
                  </a:lnTo>
                  <a:lnTo>
                    <a:pt x="95897" y="3009900"/>
                  </a:lnTo>
                  <a:lnTo>
                    <a:pt x="89966" y="3035300"/>
                  </a:lnTo>
                  <a:lnTo>
                    <a:pt x="86931" y="3048000"/>
                  </a:lnTo>
                  <a:lnTo>
                    <a:pt x="83832" y="3048000"/>
                  </a:lnTo>
                  <a:lnTo>
                    <a:pt x="80695" y="3060700"/>
                  </a:lnTo>
                  <a:lnTo>
                    <a:pt x="77495" y="3073400"/>
                  </a:lnTo>
                  <a:lnTo>
                    <a:pt x="74256" y="3086100"/>
                  </a:lnTo>
                  <a:lnTo>
                    <a:pt x="83134" y="3086100"/>
                  </a:lnTo>
                  <a:lnTo>
                    <a:pt x="86436" y="3073400"/>
                  </a:lnTo>
                  <a:lnTo>
                    <a:pt x="89687" y="3060700"/>
                  </a:lnTo>
                  <a:lnTo>
                    <a:pt x="92875" y="3060700"/>
                  </a:lnTo>
                  <a:lnTo>
                    <a:pt x="96012" y="3048000"/>
                  </a:lnTo>
                  <a:lnTo>
                    <a:pt x="99098" y="3035300"/>
                  </a:lnTo>
                  <a:lnTo>
                    <a:pt x="105079" y="3009900"/>
                  </a:lnTo>
                  <a:lnTo>
                    <a:pt x="110820" y="2997200"/>
                  </a:lnTo>
                  <a:lnTo>
                    <a:pt x="121551" y="2946400"/>
                  </a:lnTo>
                  <a:lnTo>
                    <a:pt x="131216" y="2895600"/>
                  </a:lnTo>
                  <a:lnTo>
                    <a:pt x="135610" y="2857500"/>
                  </a:lnTo>
                  <a:lnTo>
                    <a:pt x="139725" y="2832100"/>
                  </a:lnTo>
                  <a:lnTo>
                    <a:pt x="143522" y="2806700"/>
                  </a:lnTo>
                  <a:lnTo>
                    <a:pt x="147015" y="2768600"/>
                  </a:lnTo>
                  <a:lnTo>
                    <a:pt x="150164" y="2743200"/>
                  </a:lnTo>
                  <a:lnTo>
                    <a:pt x="152996" y="2705100"/>
                  </a:lnTo>
                  <a:lnTo>
                    <a:pt x="155473" y="2679700"/>
                  </a:lnTo>
                  <a:lnTo>
                    <a:pt x="157606" y="2641600"/>
                  </a:lnTo>
                  <a:lnTo>
                    <a:pt x="159359" y="2603500"/>
                  </a:lnTo>
                  <a:lnTo>
                    <a:pt x="160756" y="2565400"/>
                  </a:lnTo>
                  <a:lnTo>
                    <a:pt x="161759" y="2540000"/>
                  </a:lnTo>
                  <a:lnTo>
                    <a:pt x="162369" y="2501900"/>
                  </a:lnTo>
                  <a:lnTo>
                    <a:pt x="162572" y="2463800"/>
                  </a:lnTo>
                  <a:lnTo>
                    <a:pt x="162572" y="2247900"/>
                  </a:lnTo>
                  <a:lnTo>
                    <a:pt x="162775" y="2209800"/>
                  </a:lnTo>
                  <a:lnTo>
                    <a:pt x="164376" y="2146300"/>
                  </a:lnTo>
                  <a:lnTo>
                    <a:pt x="165760" y="2108200"/>
                  </a:lnTo>
                  <a:lnTo>
                    <a:pt x="167525" y="2070100"/>
                  </a:lnTo>
                  <a:lnTo>
                    <a:pt x="169633" y="2044700"/>
                  </a:lnTo>
                  <a:lnTo>
                    <a:pt x="172110" y="2006600"/>
                  </a:lnTo>
                  <a:lnTo>
                    <a:pt x="174929" y="1968500"/>
                  </a:lnTo>
                  <a:lnTo>
                    <a:pt x="178079" y="1943100"/>
                  </a:lnTo>
                  <a:lnTo>
                    <a:pt x="181546" y="1905000"/>
                  </a:lnTo>
                  <a:lnTo>
                    <a:pt x="189420" y="1854200"/>
                  </a:lnTo>
                  <a:lnTo>
                    <a:pt x="198462" y="1803400"/>
                  </a:lnTo>
                  <a:lnTo>
                    <a:pt x="208584" y="1752600"/>
                  </a:lnTo>
                  <a:lnTo>
                    <a:pt x="219722" y="1701800"/>
                  </a:lnTo>
                  <a:lnTo>
                    <a:pt x="225640" y="1676400"/>
                  </a:lnTo>
                  <a:lnTo>
                    <a:pt x="228688" y="1676400"/>
                  </a:lnTo>
                  <a:lnTo>
                    <a:pt x="231775" y="1663700"/>
                  </a:lnTo>
                  <a:lnTo>
                    <a:pt x="234924" y="1651000"/>
                  </a:lnTo>
                  <a:lnTo>
                    <a:pt x="238112" y="1638300"/>
                  </a:lnTo>
                  <a:lnTo>
                    <a:pt x="241363" y="1638300"/>
                  </a:lnTo>
                  <a:lnTo>
                    <a:pt x="244652" y="1625600"/>
                  </a:lnTo>
                  <a:lnTo>
                    <a:pt x="247980" y="1612900"/>
                  </a:lnTo>
                  <a:lnTo>
                    <a:pt x="251345" y="1612900"/>
                  </a:lnTo>
                  <a:lnTo>
                    <a:pt x="254762" y="1600200"/>
                  </a:lnTo>
                  <a:close/>
                </a:path>
                <a:path w="308609" h="3175000">
                  <a:moveTo>
                    <a:pt x="261696" y="1587500"/>
                  </a:moveTo>
                  <a:lnTo>
                    <a:pt x="249796" y="1587500"/>
                  </a:lnTo>
                  <a:lnTo>
                    <a:pt x="246227" y="1600200"/>
                  </a:lnTo>
                  <a:lnTo>
                    <a:pt x="258216" y="1600200"/>
                  </a:lnTo>
                  <a:lnTo>
                    <a:pt x="261696" y="1587500"/>
                  </a:lnTo>
                  <a:close/>
                </a:path>
                <a:path w="308609" h="3175000">
                  <a:moveTo>
                    <a:pt x="268859" y="1574800"/>
                  </a:moveTo>
                  <a:lnTo>
                    <a:pt x="257098" y="1574800"/>
                  </a:lnTo>
                  <a:lnTo>
                    <a:pt x="253428" y="1587500"/>
                  </a:lnTo>
                  <a:lnTo>
                    <a:pt x="265290" y="1587500"/>
                  </a:lnTo>
                  <a:lnTo>
                    <a:pt x="268859" y="1574800"/>
                  </a:lnTo>
                  <a:close/>
                </a:path>
                <a:path w="308609" h="3175000">
                  <a:moveTo>
                    <a:pt x="276047" y="1562100"/>
                  </a:moveTo>
                  <a:lnTo>
                    <a:pt x="264617" y="1562100"/>
                  </a:lnTo>
                  <a:lnTo>
                    <a:pt x="260832" y="1574800"/>
                  </a:lnTo>
                  <a:lnTo>
                    <a:pt x="272440" y="1574800"/>
                  </a:lnTo>
                  <a:lnTo>
                    <a:pt x="276047" y="1562100"/>
                  </a:lnTo>
                  <a:close/>
                </a:path>
                <a:path w="308609" h="3175000">
                  <a:moveTo>
                    <a:pt x="286943" y="1549400"/>
                  </a:moveTo>
                  <a:lnTo>
                    <a:pt x="276326" y="1549400"/>
                  </a:lnTo>
                  <a:lnTo>
                    <a:pt x="272364" y="1562100"/>
                  </a:lnTo>
                  <a:lnTo>
                    <a:pt x="283108" y="1562100"/>
                  </a:lnTo>
                  <a:lnTo>
                    <a:pt x="286943" y="1549400"/>
                  </a:lnTo>
                  <a:close/>
                </a:path>
                <a:path w="308609" h="3175000">
                  <a:moveTo>
                    <a:pt x="301015" y="1524000"/>
                  </a:moveTo>
                  <a:lnTo>
                    <a:pt x="284467" y="1524000"/>
                  </a:lnTo>
                  <a:lnTo>
                    <a:pt x="288645" y="1536700"/>
                  </a:lnTo>
                  <a:lnTo>
                    <a:pt x="284467" y="1549400"/>
                  </a:lnTo>
                  <a:lnTo>
                    <a:pt x="304533" y="1549400"/>
                  </a:lnTo>
                  <a:lnTo>
                    <a:pt x="308546" y="1536700"/>
                  </a:lnTo>
                  <a:lnTo>
                    <a:pt x="305003" y="1536700"/>
                  </a:lnTo>
                  <a:lnTo>
                    <a:pt x="301015" y="1524000"/>
                  </a:lnTo>
                  <a:close/>
                </a:path>
                <a:path w="308609" h="3175000">
                  <a:moveTo>
                    <a:pt x="304533" y="1524000"/>
                  </a:moveTo>
                  <a:lnTo>
                    <a:pt x="305003" y="1536700"/>
                  </a:lnTo>
                  <a:lnTo>
                    <a:pt x="308546" y="1536700"/>
                  </a:lnTo>
                  <a:lnTo>
                    <a:pt x="304533" y="1524000"/>
                  </a:lnTo>
                  <a:close/>
                </a:path>
                <a:path w="308609" h="3175000">
                  <a:moveTo>
                    <a:pt x="283108" y="1511300"/>
                  </a:moveTo>
                  <a:lnTo>
                    <a:pt x="272364" y="1511300"/>
                  </a:lnTo>
                  <a:lnTo>
                    <a:pt x="276326" y="1524000"/>
                  </a:lnTo>
                  <a:lnTo>
                    <a:pt x="286943" y="1524000"/>
                  </a:lnTo>
                  <a:lnTo>
                    <a:pt x="283108" y="1511300"/>
                  </a:lnTo>
                  <a:close/>
                </a:path>
                <a:path w="308609" h="3175000">
                  <a:moveTo>
                    <a:pt x="272326" y="1498600"/>
                  </a:moveTo>
                  <a:lnTo>
                    <a:pt x="260832" y="1498600"/>
                  </a:lnTo>
                  <a:lnTo>
                    <a:pt x="264617" y="1511300"/>
                  </a:lnTo>
                  <a:lnTo>
                    <a:pt x="276047" y="1511300"/>
                  </a:lnTo>
                  <a:lnTo>
                    <a:pt x="272326" y="1498600"/>
                  </a:lnTo>
                  <a:close/>
                </a:path>
                <a:path w="308609" h="3175000">
                  <a:moveTo>
                    <a:pt x="265214" y="1485900"/>
                  </a:moveTo>
                  <a:lnTo>
                    <a:pt x="253428" y="1485900"/>
                  </a:lnTo>
                  <a:lnTo>
                    <a:pt x="257098" y="1498600"/>
                  </a:lnTo>
                  <a:lnTo>
                    <a:pt x="268757" y="1498600"/>
                  </a:lnTo>
                  <a:lnTo>
                    <a:pt x="265214" y="1485900"/>
                  </a:lnTo>
                  <a:close/>
                </a:path>
                <a:path w="308609" h="3175000">
                  <a:moveTo>
                    <a:pt x="258279" y="1473200"/>
                  </a:moveTo>
                  <a:lnTo>
                    <a:pt x="246227" y="1473200"/>
                  </a:lnTo>
                  <a:lnTo>
                    <a:pt x="249796" y="1485900"/>
                  </a:lnTo>
                  <a:lnTo>
                    <a:pt x="261772" y="1485900"/>
                  </a:lnTo>
                  <a:lnTo>
                    <a:pt x="258279" y="1473200"/>
                  </a:lnTo>
                  <a:close/>
                </a:path>
                <a:path w="308609" h="3175000">
                  <a:moveTo>
                    <a:pt x="69380" y="63500"/>
                  </a:moveTo>
                  <a:lnTo>
                    <a:pt x="57340" y="63500"/>
                  </a:lnTo>
                  <a:lnTo>
                    <a:pt x="60794" y="76200"/>
                  </a:lnTo>
                  <a:lnTo>
                    <a:pt x="64223" y="76200"/>
                  </a:lnTo>
                  <a:lnTo>
                    <a:pt x="67602" y="88900"/>
                  </a:lnTo>
                  <a:lnTo>
                    <a:pt x="70929" y="101600"/>
                  </a:lnTo>
                  <a:lnTo>
                    <a:pt x="74231" y="101600"/>
                  </a:lnTo>
                  <a:lnTo>
                    <a:pt x="77470" y="114300"/>
                  </a:lnTo>
                  <a:lnTo>
                    <a:pt x="80670" y="127000"/>
                  </a:lnTo>
                  <a:lnTo>
                    <a:pt x="83820" y="127000"/>
                  </a:lnTo>
                  <a:lnTo>
                    <a:pt x="86906" y="139700"/>
                  </a:lnTo>
                  <a:lnTo>
                    <a:pt x="89941" y="152400"/>
                  </a:lnTo>
                  <a:lnTo>
                    <a:pt x="95859" y="177800"/>
                  </a:lnTo>
                  <a:lnTo>
                    <a:pt x="101561" y="190500"/>
                  </a:lnTo>
                  <a:lnTo>
                    <a:pt x="112204" y="241300"/>
                  </a:lnTo>
                  <a:lnTo>
                    <a:pt x="121805" y="292100"/>
                  </a:lnTo>
                  <a:lnTo>
                    <a:pt x="130276" y="355600"/>
                  </a:lnTo>
                  <a:lnTo>
                    <a:pt x="134061" y="381000"/>
                  </a:lnTo>
                  <a:lnTo>
                    <a:pt x="137541" y="419100"/>
                  </a:lnTo>
                  <a:lnTo>
                    <a:pt x="140677" y="444500"/>
                  </a:lnTo>
                  <a:lnTo>
                    <a:pt x="143497" y="482600"/>
                  </a:lnTo>
                  <a:lnTo>
                    <a:pt x="145973" y="508000"/>
                  </a:lnTo>
                  <a:lnTo>
                    <a:pt x="148094" y="546100"/>
                  </a:lnTo>
                  <a:lnTo>
                    <a:pt x="149847" y="584200"/>
                  </a:lnTo>
                  <a:lnTo>
                    <a:pt x="151231" y="609600"/>
                  </a:lnTo>
                  <a:lnTo>
                    <a:pt x="152234" y="647700"/>
                  </a:lnTo>
                  <a:lnTo>
                    <a:pt x="152844" y="685800"/>
                  </a:lnTo>
                  <a:lnTo>
                    <a:pt x="153047" y="723900"/>
                  </a:lnTo>
                  <a:lnTo>
                    <a:pt x="153047" y="825500"/>
                  </a:lnTo>
                  <a:lnTo>
                    <a:pt x="153250" y="863600"/>
                  </a:lnTo>
                  <a:lnTo>
                    <a:pt x="153860" y="901700"/>
                  </a:lnTo>
                  <a:lnTo>
                    <a:pt x="154863" y="927100"/>
                  </a:lnTo>
                  <a:lnTo>
                    <a:pt x="156248" y="965200"/>
                  </a:lnTo>
                  <a:lnTo>
                    <a:pt x="158013" y="1003300"/>
                  </a:lnTo>
                  <a:lnTo>
                    <a:pt x="160134" y="1041400"/>
                  </a:lnTo>
                  <a:lnTo>
                    <a:pt x="162623" y="1066800"/>
                  </a:lnTo>
                  <a:lnTo>
                    <a:pt x="165442" y="1104900"/>
                  </a:lnTo>
                  <a:lnTo>
                    <a:pt x="168605" y="1130300"/>
                  </a:lnTo>
                  <a:lnTo>
                    <a:pt x="172097" y="1168400"/>
                  </a:lnTo>
                  <a:lnTo>
                    <a:pt x="175895" y="1193800"/>
                  </a:lnTo>
                  <a:lnTo>
                    <a:pt x="179997" y="1219200"/>
                  </a:lnTo>
                  <a:lnTo>
                    <a:pt x="184403" y="1257300"/>
                  </a:lnTo>
                  <a:lnTo>
                    <a:pt x="189090" y="1282700"/>
                  </a:lnTo>
                  <a:lnTo>
                    <a:pt x="194068" y="1308100"/>
                  </a:lnTo>
                  <a:lnTo>
                    <a:pt x="199301" y="1333500"/>
                  </a:lnTo>
                  <a:lnTo>
                    <a:pt x="204787" y="1358900"/>
                  </a:lnTo>
                  <a:lnTo>
                    <a:pt x="210540" y="1371600"/>
                  </a:lnTo>
                  <a:lnTo>
                    <a:pt x="216509" y="1397000"/>
                  </a:lnTo>
                  <a:lnTo>
                    <a:pt x="219595" y="1409700"/>
                  </a:lnTo>
                  <a:lnTo>
                    <a:pt x="222732" y="1422400"/>
                  </a:lnTo>
                  <a:lnTo>
                    <a:pt x="225932" y="1422400"/>
                  </a:lnTo>
                  <a:lnTo>
                    <a:pt x="229184" y="1435100"/>
                  </a:lnTo>
                  <a:lnTo>
                    <a:pt x="232486" y="1447800"/>
                  </a:lnTo>
                  <a:lnTo>
                    <a:pt x="235839" y="1447800"/>
                  </a:lnTo>
                  <a:lnTo>
                    <a:pt x="239255" y="1460500"/>
                  </a:lnTo>
                  <a:lnTo>
                    <a:pt x="242709" y="1473200"/>
                  </a:lnTo>
                  <a:lnTo>
                    <a:pt x="254812" y="1473200"/>
                  </a:lnTo>
                  <a:lnTo>
                    <a:pt x="251396" y="1460500"/>
                  </a:lnTo>
                  <a:lnTo>
                    <a:pt x="248018" y="1460500"/>
                  </a:lnTo>
                  <a:lnTo>
                    <a:pt x="244678" y="1447800"/>
                  </a:lnTo>
                  <a:lnTo>
                    <a:pt x="241388" y="1435100"/>
                  </a:lnTo>
                  <a:lnTo>
                    <a:pt x="238150" y="1435100"/>
                  </a:lnTo>
                  <a:lnTo>
                    <a:pt x="234950" y="1422400"/>
                  </a:lnTo>
                  <a:lnTo>
                    <a:pt x="231800" y="1409700"/>
                  </a:lnTo>
                  <a:lnTo>
                    <a:pt x="228701" y="1409700"/>
                  </a:lnTo>
                  <a:lnTo>
                    <a:pt x="225678" y="1397000"/>
                  </a:lnTo>
                  <a:lnTo>
                    <a:pt x="219748" y="1371600"/>
                  </a:lnTo>
                  <a:lnTo>
                    <a:pt x="214058" y="1346200"/>
                  </a:lnTo>
                  <a:lnTo>
                    <a:pt x="208610" y="1320800"/>
                  </a:lnTo>
                  <a:lnTo>
                    <a:pt x="203415" y="1308100"/>
                  </a:lnTo>
                  <a:lnTo>
                    <a:pt x="198475" y="1282700"/>
                  </a:lnTo>
                  <a:lnTo>
                    <a:pt x="193814" y="1244600"/>
                  </a:lnTo>
                  <a:lnTo>
                    <a:pt x="189433" y="1219200"/>
                  </a:lnTo>
                  <a:lnTo>
                    <a:pt x="185343" y="1193800"/>
                  </a:lnTo>
                  <a:lnTo>
                    <a:pt x="181559" y="1168400"/>
                  </a:lnTo>
                  <a:lnTo>
                    <a:pt x="178079" y="1130300"/>
                  </a:lnTo>
                  <a:lnTo>
                    <a:pt x="174929" y="1104900"/>
                  </a:lnTo>
                  <a:lnTo>
                    <a:pt x="172123" y="1066800"/>
                  </a:lnTo>
                  <a:lnTo>
                    <a:pt x="169646" y="1028700"/>
                  </a:lnTo>
                  <a:lnTo>
                    <a:pt x="167525" y="1003300"/>
                  </a:lnTo>
                  <a:lnTo>
                    <a:pt x="165773" y="965200"/>
                  </a:lnTo>
                  <a:lnTo>
                    <a:pt x="164388" y="927100"/>
                  </a:lnTo>
                  <a:lnTo>
                    <a:pt x="163385" y="901700"/>
                  </a:lnTo>
                  <a:lnTo>
                    <a:pt x="162775" y="863600"/>
                  </a:lnTo>
                  <a:lnTo>
                    <a:pt x="162572" y="825500"/>
                  </a:lnTo>
                  <a:lnTo>
                    <a:pt x="162572" y="723900"/>
                  </a:lnTo>
                  <a:lnTo>
                    <a:pt x="162369" y="685800"/>
                  </a:lnTo>
                  <a:lnTo>
                    <a:pt x="161759" y="647700"/>
                  </a:lnTo>
                  <a:lnTo>
                    <a:pt x="160756" y="609600"/>
                  </a:lnTo>
                  <a:lnTo>
                    <a:pt x="159359" y="584200"/>
                  </a:lnTo>
                  <a:lnTo>
                    <a:pt x="157606" y="546100"/>
                  </a:lnTo>
                  <a:lnTo>
                    <a:pt x="155473" y="508000"/>
                  </a:lnTo>
                  <a:lnTo>
                    <a:pt x="152996" y="482600"/>
                  </a:lnTo>
                  <a:lnTo>
                    <a:pt x="150164" y="444500"/>
                  </a:lnTo>
                  <a:lnTo>
                    <a:pt x="147015" y="406400"/>
                  </a:lnTo>
                  <a:lnTo>
                    <a:pt x="143522" y="381000"/>
                  </a:lnTo>
                  <a:lnTo>
                    <a:pt x="139725" y="355600"/>
                  </a:lnTo>
                  <a:lnTo>
                    <a:pt x="135610" y="317500"/>
                  </a:lnTo>
                  <a:lnTo>
                    <a:pt x="126517" y="266700"/>
                  </a:lnTo>
                  <a:lnTo>
                    <a:pt x="116319" y="215900"/>
                  </a:lnTo>
                  <a:lnTo>
                    <a:pt x="105079" y="165100"/>
                  </a:lnTo>
                  <a:lnTo>
                    <a:pt x="99098" y="152400"/>
                  </a:lnTo>
                  <a:lnTo>
                    <a:pt x="96012" y="139700"/>
                  </a:lnTo>
                  <a:lnTo>
                    <a:pt x="92875" y="127000"/>
                  </a:lnTo>
                  <a:lnTo>
                    <a:pt x="89687" y="114300"/>
                  </a:lnTo>
                  <a:lnTo>
                    <a:pt x="86436" y="114300"/>
                  </a:lnTo>
                  <a:lnTo>
                    <a:pt x="83134" y="101600"/>
                  </a:lnTo>
                  <a:lnTo>
                    <a:pt x="79781" y="88900"/>
                  </a:lnTo>
                  <a:lnTo>
                    <a:pt x="76365" y="88900"/>
                  </a:lnTo>
                  <a:lnTo>
                    <a:pt x="72898" y="76200"/>
                  </a:lnTo>
                  <a:lnTo>
                    <a:pt x="69380" y="63500"/>
                  </a:lnTo>
                  <a:close/>
                </a:path>
                <a:path w="308609" h="3175000">
                  <a:moveTo>
                    <a:pt x="62191" y="50800"/>
                  </a:moveTo>
                  <a:lnTo>
                    <a:pt x="50406" y="50800"/>
                  </a:lnTo>
                  <a:lnTo>
                    <a:pt x="53924" y="63500"/>
                  </a:lnTo>
                  <a:lnTo>
                    <a:pt x="65811" y="63500"/>
                  </a:lnTo>
                  <a:lnTo>
                    <a:pt x="62191" y="50800"/>
                  </a:lnTo>
                  <a:close/>
                </a:path>
                <a:path w="308609" h="3175000">
                  <a:moveTo>
                    <a:pt x="54787" y="38100"/>
                  </a:moveTo>
                  <a:lnTo>
                    <a:pt x="43294" y="38100"/>
                  </a:lnTo>
                  <a:lnTo>
                    <a:pt x="46863" y="50800"/>
                  </a:lnTo>
                  <a:lnTo>
                    <a:pt x="58521" y="50800"/>
                  </a:lnTo>
                  <a:lnTo>
                    <a:pt x="54787" y="38100"/>
                  </a:lnTo>
                  <a:close/>
                </a:path>
                <a:path w="308609" h="3175000">
                  <a:moveTo>
                    <a:pt x="43256" y="25400"/>
                  </a:moveTo>
                  <a:lnTo>
                    <a:pt x="32321" y="25400"/>
                  </a:lnTo>
                  <a:lnTo>
                    <a:pt x="36106" y="38100"/>
                  </a:lnTo>
                  <a:lnTo>
                    <a:pt x="47155" y="38100"/>
                  </a:lnTo>
                  <a:lnTo>
                    <a:pt x="43256" y="25400"/>
                  </a:lnTo>
                  <a:close/>
                </a:path>
                <a:path w="308609" h="3175000">
                  <a:moveTo>
                    <a:pt x="31153" y="12700"/>
                  </a:moveTo>
                  <a:lnTo>
                    <a:pt x="17792" y="12700"/>
                  </a:lnTo>
                  <a:lnTo>
                    <a:pt x="21717" y="25400"/>
                  </a:lnTo>
                  <a:lnTo>
                    <a:pt x="35255" y="25400"/>
                  </a:lnTo>
                  <a:lnTo>
                    <a:pt x="31153" y="12700"/>
                  </a:lnTo>
                  <a:close/>
                </a:path>
                <a:path w="308609" h="3175000">
                  <a:moveTo>
                    <a:pt x="13944" y="0"/>
                  </a:moveTo>
                  <a:lnTo>
                    <a:pt x="546" y="0"/>
                  </a:lnTo>
                  <a:lnTo>
                    <a:pt x="0" y="12700"/>
                  </a:lnTo>
                  <a:lnTo>
                    <a:pt x="18364" y="12700"/>
                  </a:lnTo>
                  <a:lnTo>
                    <a:pt x="13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29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60325">
              <a:lnSpc>
                <a:spcPts val="2395"/>
              </a:lnSpc>
              <a:spcBef>
                <a:spcPts val="105"/>
              </a:spcBef>
            </a:pPr>
            <a:r>
              <a:rPr dirty="0" sz="2000" spc="-10"/>
              <a:t>Recall:</a:t>
            </a:r>
            <a:endParaRPr sz="2000"/>
          </a:p>
          <a:p>
            <a:pPr marL="60325">
              <a:lnSpc>
                <a:spcPts val="4315"/>
              </a:lnSpc>
            </a:pPr>
            <a:r>
              <a:rPr dirty="0"/>
              <a:t>Vector</a:t>
            </a:r>
            <a:r>
              <a:rPr dirty="0" spc="-90"/>
              <a:t> </a:t>
            </a:r>
            <a:r>
              <a:rPr dirty="0" spc="-10"/>
              <a:t>Quantization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3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More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50"/>
              <a:t> </a:t>
            </a:r>
            <a:r>
              <a:rPr dirty="0"/>
              <a:t>Vector</a:t>
            </a:r>
            <a:r>
              <a:rPr dirty="0" spc="-60"/>
              <a:t> </a:t>
            </a:r>
            <a:r>
              <a:rPr dirty="0" spc="-10"/>
              <a:t>Quantization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6836" y="2249944"/>
            <a:ext cx="8247380" cy="3743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0" marR="277495" indent="-342900">
              <a:lnSpc>
                <a:spcPts val="3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</a:tabLst>
            </a:pP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VQ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techniques,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local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Voronoi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centers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are </a:t>
            </a:r>
            <a:r>
              <a:rPr dirty="0" sz="2400">
                <a:latin typeface="Tahoma"/>
                <a:cs typeface="Tahoma"/>
              </a:rPr>
              <a:t>formed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represent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00FF"/>
                </a:solidFill>
                <a:latin typeface="Tahoma"/>
                <a:cs typeface="Tahoma"/>
              </a:rPr>
              <a:t>input</a:t>
            </a:r>
            <a:r>
              <a:rPr dirty="0" sz="2400" spc="-4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0000FF"/>
                </a:solidFill>
                <a:latin typeface="Tahoma"/>
                <a:cs typeface="Tahoma"/>
              </a:rPr>
              <a:t>vectors</a:t>
            </a:r>
            <a:r>
              <a:rPr dirty="0" sz="2400" spc="-1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381000" marR="316230" indent="-342900">
              <a:lnSpc>
                <a:spcPct val="102899"/>
              </a:lnSpc>
              <a:spcBef>
                <a:spcPts val="1010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  <a:tab pos="2442845" algn="l"/>
                <a:tab pos="6274435" algn="l"/>
              </a:tabLst>
            </a:pP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500" spc="-325" i="1">
                <a:latin typeface="Verdana"/>
                <a:cs typeface="Verdana"/>
              </a:rPr>
              <a:t>M</a:t>
            </a:r>
            <a:r>
              <a:rPr dirty="0" sz="2500" i="1">
                <a:latin typeface="Verdana"/>
                <a:cs typeface="Verdana"/>
              </a:rPr>
              <a:t>	</a:t>
            </a:r>
            <a:r>
              <a:rPr dirty="0" sz="2400">
                <a:latin typeface="Tahoma"/>
                <a:cs typeface="Tahoma"/>
              </a:rPr>
              <a:t>reference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vectors,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{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baseline="-17921" sz="2325">
                <a:latin typeface="Tahoma"/>
                <a:cs typeface="Tahoma"/>
              </a:rPr>
              <a:t>1</a:t>
            </a:r>
            <a:r>
              <a:rPr dirty="0" sz="2400">
                <a:latin typeface="Tahoma"/>
                <a:cs typeface="Tahoma"/>
              </a:rPr>
              <a:t>,…,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baseline="-17921" sz="2325">
                <a:latin typeface="Tahoma"/>
                <a:cs typeface="Tahoma"/>
              </a:rPr>
              <a:t>M</a:t>
            </a:r>
            <a:r>
              <a:rPr dirty="0" sz="2400">
                <a:latin typeface="Tahoma"/>
                <a:cs typeface="Tahoma"/>
              </a:rPr>
              <a:t>},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input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 spc="3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considered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being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500" spc="-235" i="1">
                <a:solidFill>
                  <a:srgbClr val="0000FF"/>
                </a:solidFill>
                <a:latin typeface="Verdana"/>
                <a:cs typeface="Verdana"/>
              </a:rPr>
              <a:t>best</a:t>
            </a:r>
            <a:r>
              <a:rPr dirty="0" sz="2500" spc="-13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75" i="1">
                <a:solidFill>
                  <a:srgbClr val="0000FF"/>
                </a:solidFill>
                <a:latin typeface="Verdana"/>
                <a:cs typeface="Verdana"/>
              </a:rPr>
              <a:t>matched</a:t>
            </a:r>
            <a:r>
              <a:rPr dirty="0" sz="2500" i="1">
                <a:solidFill>
                  <a:srgbClr val="0000FF"/>
                </a:solidFill>
                <a:latin typeface="Verdana"/>
                <a:cs typeface="Verdana"/>
              </a:rPr>
              <a:t>	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baseline="-17921" sz="2325">
                <a:latin typeface="Tahoma"/>
                <a:cs typeface="Tahoma"/>
              </a:rPr>
              <a:t>k</a:t>
            </a:r>
            <a:r>
              <a:rPr dirty="0" baseline="-17921" sz="2325" spc="367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sense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appropriately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defined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distortion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measure </a:t>
            </a:r>
            <a:r>
              <a:rPr dirty="0" sz="2400">
                <a:latin typeface="Tahoma"/>
                <a:cs typeface="Tahoma"/>
              </a:rPr>
              <a:t>such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squared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Euclidean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distance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||</a:t>
            </a:r>
            <a:r>
              <a:rPr dirty="0" sz="2400" spc="-10" b="1">
                <a:latin typeface="Tahoma"/>
                <a:cs typeface="Tahoma"/>
              </a:rPr>
              <a:t>x</a:t>
            </a:r>
            <a:r>
              <a:rPr dirty="0" sz="2400" spc="-10">
                <a:latin typeface="Tahoma"/>
                <a:cs typeface="Tahoma"/>
              </a:rPr>
              <a:t>-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baseline="-17921" sz="2325">
                <a:latin typeface="Tahoma"/>
                <a:cs typeface="Tahoma"/>
              </a:rPr>
              <a:t>k</a:t>
            </a:r>
            <a:r>
              <a:rPr dirty="0" sz="2400">
                <a:latin typeface="Tahoma"/>
                <a:cs typeface="Tahoma"/>
              </a:rPr>
              <a:t>||</a:t>
            </a:r>
            <a:r>
              <a:rPr dirty="0" baseline="21505" sz="2325">
                <a:latin typeface="Tahoma"/>
                <a:cs typeface="Tahoma"/>
              </a:rPr>
              <a:t>2</a:t>
            </a:r>
            <a:r>
              <a:rPr dirty="0" baseline="21505" sz="2325" spc="3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is </a:t>
            </a:r>
            <a:r>
              <a:rPr dirty="0" sz="2400" spc="-10">
                <a:latin typeface="Tahoma"/>
                <a:cs typeface="Tahoma"/>
              </a:rPr>
              <a:t>minimal.</a:t>
            </a:r>
            <a:endParaRPr sz="2400">
              <a:latin typeface="Tahoma"/>
              <a:cs typeface="Tahoma"/>
            </a:endParaRPr>
          </a:p>
          <a:p>
            <a:pPr marL="381000" marR="30480" indent="-342900">
              <a:lnSpc>
                <a:spcPct val="104200"/>
              </a:lnSpc>
              <a:spcBef>
                <a:spcPts val="1200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reference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partition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space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</a:t>
            </a:r>
            <a:r>
              <a:rPr dirty="0" baseline="21505" sz="2325">
                <a:latin typeface="Tahoma"/>
                <a:cs typeface="Tahoma"/>
              </a:rPr>
              <a:t>L</a:t>
            </a:r>
            <a:r>
              <a:rPr dirty="0" baseline="21505" sz="2325" spc="367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Voronoi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cells/polygons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defined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906523" y="6092952"/>
            <a:ext cx="5546090" cy="558165"/>
          </a:xfrm>
          <a:custGeom>
            <a:avLst/>
            <a:gdLst/>
            <a:ahLst/>
            <a:cxnLst/>
            <a:rect l="l" t="t" r="r" b="b"/>
            <a:pathLst>
              <a:path w="5546090" h="558165">
                <a:moveTo>
                  <a:pt x="5545835" y="0"/>
                </a:moveTo>
                <a:lnTo>
                  <a:pt x="0" y="0"/>
                </a:lnTo>
                <a:lnTo>
                  <a:pt x="0" y="557784"/>
                </a:lnTo>
                <a:lnTo>
                  <a:pt x="5545835" y="557784"/>
                </a:lnTo>
                <a:lnTo>
                  <a:pt x="5545835" y="0"/>
                </a:lnTo>
                <a:close/>
              </a:path>
            </a:pathLst>
          </a:custGeom>
          <a:solidFill>
            <a:srgbClr val="FFFF00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888617" y="6111646"/>
            <a:ext cx="5560695" cy="50863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ts val="2585"/>
              </a:lnSpc>
              <a:spcBef>
                <a:spcPts val="115"/>
              </a:spcBef>
              <a:tabLst>
                <a:tab pos="466725" algn="l"/>
                <a:tab pos="3259454" algn="l"/>
                <a:tab pos="4731385" algn="l"/>
              </a:tabLst>
            </a:pPr>
            <a:r>
              <a:rPr dirty="0" sz="2750" spc="-50" i="1">
                <a:latin typeface="Times New Roman"/>
                <a:cs typeface="Times New Roman"/>
              </a:rPr>
              <a:t>V</a:t>
            </a:r>
            <a:r>
              <a:rPr dirty="0" sz="2750" i="1">
                <a:latin typeface="Times New Roman"/>
                <a:cs typeface="Times New Roman"/>
              </a:rPr>
              <a:t>	</a:t>
            </a:r>
            <a:r>
              <a:rPr dirty="0" sz="2750" spc="-55">
                <a:latin typeface="Times New Roman"/>
                <a:cs typeface="Times New Roman"/>
              </a:rPr>
              <a:t>=</a:t>
            </a:r>
            <a:r>
              <a:rPr dirty="0" sz="2750" spc="-300">
                <a:latin typeface="Times New Roman"/>
                <a:cs typeface="Times New Roman"/>
              </a:rPr>
              <a:t> </a:t>
            </a:r>
            <a:r>
              <a:rPr dirty="0" sz="2750" spc="-25">
                <a:latin typeface="Times New Roman"/>
                <a:cs typeface="Times New Roman"/>
              </a:rPr>
              <a:t>{x</a:t>
            </a:r>
            <a:r>
              <a:rPr dirty="0" sz="2750" spc="-260">
                <a:latin typeface="Times New Roman"/>
                <a:cs typeface="Times New Roman"/>
              </a:rPr>
              <a:t> </a:t>
            </a:r>
            <a:r>
              <a:rPr dirty="0" sz="2750" spc="855">
                <a:latin typeface="Times New Roman"/>
                <a:cs typeface="Times New Roman"/>
              </a:rPr>
              <a:t>ϵ</a:t>
            </a:r>
            <a:r>
              <a:rPr dirty="0" sz="2750" spc="-250">
                <a:latin typeface="Times New Roman"/>
                <a:cs typeface="Times New Roman"/>
              </a:rPr>
              <a:t> </a:t>
            </a:r>
            <a:r>
              <a:rPr dirty="0" sz="2750" spc="114" i="1">
                <a:latin typeface="Times New Roman"/>
                <a:cs typeface="Times New Roman"/>
              </a:rPr>
              <a:t>R</a:t>
            </a:r>
            <a:r>
              <a:rPr dirty="0" baseline="43402" sz="2400" spc="172" i="1">
                <a:latin typeface="Times New Roman"/>
                <a:cs typeface="Times New Roman"/>
              </a:rPr>
              <a:t>L</a:t>
            </a:r>
            <a:r>
              <a:rPr dirty="0" baseline="43402" sz="2400" spc="547" i="1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|</a:t>
            </a:r>
            <a:r>
              <a:rPr dirty="0" sz="2750" spc="28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||</a:t>
            </a:r>
            <a:r>
              <a:rPr dirty="0" sz="2750" spc="-120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x</a:t>
            </a:r>
            <a:r>
              <a:rPr dirty="0" sz="2750" spc="-130">
                <a:latin typeface="Times New Roman"/>
                <a:cs typeface="Times New Roman"/>
              </a:rPr>
              <a:t> </a:t>
            </a:r>
            <a:r>
              <a:rPr dirty="0" sz="2750" spc="135">
                <a:latin typeface="Times New Roman"/>
                <a:cs typeface="Times New Roman"/>
              </a:rPr>
              <a:t>–</a:t>
            </a:r>
            <a:r>
              <a:rPr dirty="0" sz="2750" spc="-165">
                <a:latin typeface="Times New Roman"/>
                <a:cs typeface="Times New Roman"/>
              </a:rPr>
              <a:t> </a:t>
            </a:r>
            <a:r>
              <a:rPr dirty="0" sz="2750" spc="-50">
                <a:latin typeface="Times New Roman"/>
                <a:cs typeface="Times New Roman"/>
              </a:rPr>
              <a:t>w</a:t>
            </a:r>
            <a:r>
              <a:rPr dirty="0" sz="2750">
                <a:latin typeface="Times New Roman"/>
                <a:cs typeface="Times New Roman"/>
              </a:rPr>
              <a:t>	</a:t>
            </a:r>
            <a:r>
              <a:rPr dirty="0" sz="2750" spc="-285">
                <a:latin typeface="Times New Roman"/>
                <a:cs typeface="Times New Roman"/>
              </a:rPr>
              <a:t>||||</a:t>
            </a:r>
            <a:r>
              <a:rPr dirty="0" sz="2750" spc="-114">
                <a:latin typeface="Times New Roman"/>
                <a:cs typeface="Times New Roman"/>
              </a:rPr>
              <a:t> </a:t>
            </a:r>
            <a:r>
              <a:rPr dirty="0" sz="2750">
                <a:latin typeface="Times New Roman"/>
                <a:cs typeface="Times New Roman"/>
              </a:rPr>
              <a:t>x</a:t>
            </a:r>
            <a:r>
              <a:rPr dirty="0" sz="2750" spc="-125">
                <a:latin typeface="Times New Roman"/>
                <a:cs typeface="Times New Roman"/>
              </a:rPr>
              <a:t> </a:t>
            </a:r>
            <a:r>
              <a:rPr dirty="0" sz="2750" spc="135">
                <a:latin typeface="Times New Roman"/>
                <a:cs typeface="Times New Roman"/>
              </a:rPr>
              <a:t>–</a:t>
            </a:r>
            <a:r>
              <a:rPr dirty="0" sz="2750" spc="-160">
                <a:latin typeface="Times New Roman"/>
                <a:cs typeface="Times New Roman"/>
              </a:rPr>
              <a:t> </a:t>
            </a:r>
            <a:r>
              <a:rPr dirty="0" sz="2750" spc="-50">
                <a:latin typeface="Times New Roman"/>
                <a:cs typeface="Times New Roman"/>
              </a:rPr>
              <a:t>w</a:t>
            </a:r>
            <a:r>
              <a:rPr dirty="0" sz="2750">
                <a:latin typeface="Times New Roman"/>
                <a:cs typeface="Times New Roman"/>
              </a:rPr>
              <a:t>	||,</a:t>
            </a:r>
            <a:r>
              <a:rPr dirty="0" sz="2750" spc="-434">
                <a:latin typeface="Times New Roman"/>
                <a:cs typeface="Times New Roman"/>
              </a:rPr>
              <a:t> </a:t>
            </a:r>
            <a:r>
              <a:rPr dirty="0" sz="2750" spc="165">
                <a:latin typeface="Times New Roman"/>
                <a:cs typeface="Times New Roman"/>
              </a:rPr>
              <a:t>6</a:t>
            </a:r>
            <a:r>
              <a:rPr dirty="0" sz="2750" spc="165" i="1">
                <a:latin typeface="Times New Roman"/>
                <a:cs typeface="Times New Roman"/>
              </a:rPr>
              <a:t>l</a:t>
            </a:r>
            <a:r>
              <a:rPr dirty="0" sz="2750" spc="165">
                <a:latin typeface="Times New Roman"/>
                <a:cs typeface="Times New Roman"/>
              </a:rPr>
              <a:t>}</a:t>
            </a:r>
            <a:endParaRPr sz="2750">
              <a:latin typeface="Times New Roman"/>
              <a:cs typeface="Times New Roman"/>
            </a:endParaRPr>
          </a:p>
          <a:p>
            <a:pPr marL="241300">
              <a:lnSpc>
                <a:spcPts val="1205"/>
              </a:lnSpc>
              <a:tabLst>
                <a:tab pos="3054985" algn="l"/>
                <a:tab pos="4565650" algn="l"/>
              </a:tabLst>
            </a:pPr>
            <a:r>
              <a:rPr dirty="0" sz="1600" spc="-50" i="1">
                <a:latin typeface="Times New Roman"/>
                <a:cs typeface="Times New Roman"/>
              </a:rPr>
              <a:t>k</a:t>
            </a:r>
            <a:r>
              <a:rPr dirty="0" sz="1600" i="1">
                <a:latin typeface="Times New Roman"/>
                <a:cs typeface="Times New Roman"/>
              </a:rPr>
              <a:t>	</a:t>
            </a:r>
            <a:r>
              <a:rPr dirty="0" sz="1600" spc="-50" i="1">
                <a:latin typeface="Times New Roman"/>
                <a:cs typeface="Times New Roman"/>
              </a:rPr>
              <a:t>k</a:t>
            </a:r>
            <a:r>
              <a:rPr dirty="0" sz="1600" i="1">
                <a:latin typeface="Times New Roman"/>
                <a:cs typeface="Times New Roman"/>
              </a:rPr>
              <a:t>	</a:t>
            </a:r>
            <a:r>
              <a:rPr dirty="0" sz="1600" spc="-50" i="1">
                <a:latin typeface="Times New Roman"/>
                <a:cs typeface="Times New Roman"/>
              </a:rPr>
              <a:t>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896998" y="6083427"/>
            <a:ext cx="5565140" cy="577215"/>
          </a:xfrm>
          <a:custGeom>
            <a:avLst/>
            <a:gdLst/>
            <a:ahLst/>
            <a:cxnLst/>
            <a:rect l="l" t="t" r="r" b="b"/>
            <a:pathLst>
              <a:path w="5565140" h="577215">
                <a:moveTo>
                  <a:pt x="5564885" y="0"/>
                </a:moveTo>
                <a:lnTo>
                  <a:pt x="0" y="0"/>
                </a:lnTo>
                <a:lnTo>
                  <a:pt x="0" y="576834"/>
                </a:lnTo>
                <a:lnTo>
                  <a:pt x="5564885" y="576834"/>
                </a:lnTo>
                <a:lnTo>
                  <a:pt x="5564885" y="572071"/>
                </a:lnTo>
                <a:lnTo>
                  <a:pt x="9525" y="572071"/>
                </a:lnTo>
                <a:lnTo>
                  <a:pt x="4762" y="567309"/>
                </a:lnTo>
                <a:lnTo>
                  <a:pt x="9525" y="567309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5564885" y="4762"/>
                </a:lnTo>
                <a:lnTo>
                  <a:pt x="5564885" y="0"/>
                </a:lnTo>
                <a:close/>
              </a:path>
              <a:path w="5565140" h="577215">
                <a:moveTo>
                  <a:pt x="9525" y="567309"/>
                </a:moveTo>
                <a:lnTo>
                  <a:pt x="4762" y="567309"/>
                </a:lnTo>
                <a:lnTo>
                  <a:pt x="9525" y="572071"/>
                </a:lnTo>
                <a:lnTo>
                  <a:pt x="9525" y="567309"/>
                </a:lnTo>
                <a:close/>
              </a:path>
              <a:path w="5565140" h="577215">
                <a:moveTo>
                  <a:pt x="5555360" y="567309"/>
                </a:moveTo>
                <a:lnTo>
                  <a:pt x="9525" y="567309"/>
                </a:lnTo>
                <a:lnTo>
                  <a:pt x="9525" y="572071"/>
                </a:lnTo>
                <a:lnTo>
                  <a:pt x="5555360" y="572071"/>
                </a:lnTo>
                <a:lnTo>
                  <a:pt x="5555360" y="567309"/>
                </a:lnTo>
                <a:close/>
              </a:path>
              <a:path w="5565140" h="577215">
                <a:moveTo>
                  <a:pt x="5555360" y="4762"/>
                </a:moveTo>
                <a:lnTo>
                  <a:pt x="5555360" y="572071"/>
                </a:lnTo>
                <a:lnTo>
                  <a:pt x="5560123" y="567309"/>
                </a:lnTo>
                <a:lnTo>
                  <a:pt x="5564885" y="567309"/>
                </a:lnTo>
                <a:lnTo>
                  <a:pt x="5564885" y="9525"/>
                </a:lnTo>
                <a:lnTo>
                  <a:pt x="5560123" y="9525"/>
                </a:lnTo>
                <a:lnTo>
                  <a:pt x="5555360" y="4762"/>
                </a:lnTo>
                <a:close/>
              </a:path>
              <a:path w="5565140" h="577215">
                <a:moveTo>
                  <a:pt x="5564885" y="567309"/>
                </a:moveTo>
                <a:lnTo>
                  <a:pt x="5560123" y="567309"/>
                </a:lnTo>
                <a:lnTo>
                  <a:pt x="5555360" y="572071"/>
                </a:lnTo>
                <a:lnTo>
                  <a:pt x="5564885" y="572071"/>
                </a:lnTo>
                <a:lnTo>
                  <a:pt x="5564885" y="567309"/>
                </a:lnTo>
                <a:close/>
              </a:path>
              <a:path w="5565140" h="577215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5565140" h="577215">
                <a:moveTo>
                  <a:pt x="5555360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5555360" y="9525"/>
                </a:lnTo>
                <a:lnTo>
                  <a:pt x="5555360" y="4762"/>
                </a:lnTo>
                <a:close/>
              </a:path>
              <a:path w="5565140" h="577215">
                <a:moveTo>
                  <a:pt x="5564885" y="4762"/>
                </a:moveTo>
                <a:lnTo>
                  <a:pt x="5555360" y="4762"/>
                </a:lnTo>
                <a:lnTo>
                  <a:pt x="5560123" y="9525"/>
                </a:lnTo>
                <a:lnTo>
                  <a:pt x="5564885" y="9525"/>
                </a:lnTo>
                <a:lnTo>
                  <a:pt x="5564885" y="47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4708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Vector</a:t>
            </a:r>
            <a:r>
              <a:rPr dirty="0" spc="-90"/>
              <a:t> </a:t>
            </a:r>
            <a:r>
              <a:rPr dirty="0" spc="-10"/>
              <a:t>Quantizer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445" rIns="0" bIns="0" rtlCol="0" vert="horz">
            <a:spAutoFit/>
          </a:bodyPr>
          <a:lstStyle/>
          <a:p>
            <a:pPr marL="355600" marR="104775" indent="-342900">
              <a:lnSpc>
                <a:spcPct val="102200"/>
              </a:lnSpc>
              <a:spcBef>
                <a:spcPts val="3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/>
              <a:t>The</a:t>
            </a:r>
            <a:r>
              <a:rPr dirty="0" spc="-20"/>
              <a:t> </a:t>
            </a:r>
            <a:r>
              <a:rPr dirty="0"/>
              <a:t>collection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10"/>
              <a:t>possible </a:t>
            </a:r>
            <a:r>
              <a:rPr dirty="0"/>
              <a:t>reference</a:t>
            </a:r>
            <a:r>
              <a:rPr dirty="0" spc="-30"/>
              <a:t> </a:t>
            </a:r>
            <a:r>
              <a:rPr dirty="0"/>
              <a:t>vectors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called</a:t>
            </a:r>
            <a:r>
              <a:rPr dirty="0" spc="-35"/>
              <a:t> </a:t>
            </a:r>
            <a:r>
              <a:rPr dirty="0" spc="-25"/>
              <a:t>the </a:t>
            </a:r>
            <a:r>
              <a:rPr dirty="0" sz="2500" spc="-250" b="1" i="1">
                <a:solidFill>
                  <a:srgbClr val="FF0000"/>
                </a:solidFill>
                <a:latin typeface="Verdana"/>
                <a:cs typeface="Verdana"/>
              </a:rPr>
              <a:t>codebook</a:t>
            </a:r>
            <a:r>
              <a:rPr dirty="0" sz="2500" spc="-95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of</a:t>
            </a:r>
            <a:r>
              <a:rPr dirty="0" spc="20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 spc="-10"/>
              <a:t>quantizer,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its</a:t>
            </a:r>
            <a:r>
              <a:rPr dirty="0" spc="-20"/>
              <a:t> </a:t>
            </a:r>
            <a:r>
              <a:rPr dirty="0"/>
              <a:t>members</a:t>
            </a:r>
            <a:r>
              <a:rPr dirty="0" spc="-25"/>
              <a:t> </a:t>
            </a:r>
            <a:r>
              <a:rPr dirty="0"/>
              <a:t>are</a:t>
            </a:r>
            <a:r>
              <a:rPr dirty="0" spc="-15"/>
              <a:t> </a:t>
            </a:r>
            <a:r>
              <a:rPr dirty="0" spc="-10"/>
              <a:t>called </a:t>
            </a:r>
            <a:r>
              <a:rPr dirty="0" sz="2500" spc="-250" b="1" i="1">
                <a:solidFill>
                  <a:srgbClr val="FF0000"/>
                </a:solidFill>
                <a:latin typeface="Verdana"/>
                <a:cs typeface="Verdana"/>
              </a:rPr>
              <a:t>code</a:t>
            </a:r>
            <a:r>
              <a:rPr dirty="0" sz="2500" spc="-125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500" spc="-75" b="1" i="1">
                <a:solidFill>
                  <a:srgbClr val="FF0000"/>
                </a:solidFill>
                <a:latin typeface="Verdana"/>
                <a:cs typeface="Verdana"/>
              </a:rPr>
              <a:t>vectors</a:t>
            </a:r>
            <a:r>
              <a:rPr dirty="0" spc="-75"/>
              <a:t>.</a:t>
            </a:r>
            <a:endParaRPr sz="2500">
              <a:latin typeface="Verdana"/>
              <a:cs typeface="Verdana"/>
            </a:endParaRPr>
          </a:p>
          <a:p>
            <a:pPr marL="355600" marR="5080" indent="-342900">
              <a:lnSpc>
                <a:spcPct val="102699"/>
              </a:lnSpc>
              <a:spcBef>
                <a:spcPts val="20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/>
              <a:t>The</a:t>
            </a:r>
            <a:r>
              <a:rPr dirty="0" spc="-30"/>
              <a:t> </a:t>
            </a:r>
            <a:r>
              <a:rPr dirty="0"/>
              <a:t>SOM</a:t>
            </a:r>
            <a:r>
              <a:rPr dirty="0" spc="-30"/>
              <a:t> </a:t>
            </a:r>
            <a:r>
              <a:rPr dirty="0"/>
              <a:t>algorithm</a:t>
            </a:r>
            <a:r>
              <a:rPr dirty="0" spc="-35"/>
              <a:t> </a:t>
            </a:r>
            <a:r>
              <a:rPr dirty="0" spc="-10"/>
              <a:t>provides </a:t>
            </a:r>
            <a:r>
              <a:rPr dirty="0" sz="2500" spc="-254" i="1">
                <a:solidFill>
                  <a:srgbClr val="0000FF"/>
                </a:solidFill>
                <a:latin typeface="Verdana"/>
                <a:cs typeface="Verdana"/>
              </a:rPr>
              <a:t>an</a:t>
            </a:r>
            <a:r>
              <a:rPr dirty="0" sz="2500" spc="-13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40" i="1">
                <a:solidFill>
                  <a:srgbClr val="0000FF"/>
                </a:solidFill>
                <a:latin typeface="Verdana"/>
                <a:cs typeface="Verdana"/>
              </a:rPr>
              <a:t>approximation</a:t>
            </a:r>
            <a:r>
              <a:rPr dirty="0" sz="2500" spc="-12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65" i="1">
                <a:solidFill>
                  <a:srgbClr val="0000FF"/>
                </a:solidFill>
                <a:latin typeface="Verdana"/>
                <a:cs typeface="Verdana"/>
              </a:rPr>
              <a:t>method</a:t>
            </a:r>
            <a:r>
              <a:rPr dirty="0" sz="2500" spc="-13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pc="-25"/>
              <a:t>for </a:t>
            </a:r>
            <a:r>
              <a:rPr dirty="0"/>
              <a:t>computing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Voronoi</a:t>
            </a:r>
            <a:r>
              <a:rPr dirty="0" spc="-20"/>
              <a:t> </a:t>
            </a:r>
            <a:r>
              <a:rPr dirty="0" spc="-10"/>
              <a:t>vectors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unsupervised</a:t>
            </a:r>
            <a:r>
              <a:rPr dirty="0" spc="-35"/>
              <a:t> </a:t>
            </a:r>
            <a:r>
              <a:rPr dirty="0" spc="-10"/>
              <a:t>manner.</a:t>
            </a:r>
            <a:endParaRPr sz="250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73836" y="2087879"/>
            <a:ext cx="7054215" cy="4077970"/>
            <a:chOff x="973836" y="2087879"/>
            <a:chExt cx="7054215" cy="4077970"/>
          </a:xfrm>
        </p:grpSpPr>
        <p:sp>
          <p:nvSpPr>
            <p:cNvPr id="5" name="object 5" descr=""/>
            <p:cNvSpPr/>
            <p:nvPr/>
          </p:nvSpPr>
          <p:spPr>
            <a:xfrm>
              <a:off x="5076825" y="2924174"/>
              <a:ext cx="2951480" cy="3242310"/>
            </a:xfrm>
            <a:custGeom>
              <a:avLst/>
              <a:gdLst/>
              <a:ahLst/>
              <a:cxnLst/>
              <a:rect l="l" t="t" r="r" b="b"/>
              <a:pathLst>
                <a:path w="2951479" h="3242310">
                  <a:moveTo>
                    <a:pt x="146735" y="2289975"/>
                  </a:moveTo>
                  <a:lnTo>
                    <a:pt x="140703" y="2271903"/>
                  </a:lnTo>
                  <a:lnTo>
                    <a:pt x="68427" y="2296020"/>
                  </a:lnTo>
                  <a:lnTo>
                    <a:pt x="74447" y="2314079"/>
                  </a:lnTo>
                  <a:lnTo>
                    <a:pt x="146735" y="2289975"/>
                  </a:lnTo>
                  <a:close/>
                </a:path>
                <a:path w="2951479" h="3242310">
                  <a:moveTo>
                    <a:pt x="273215" y="2247735"/>
                  </a:moveTo>
                  <a:lnTo>
                    <a:pt x="267182" y="2229662"/>
                  </a:lnTo>
                  <a:lnTo>
                    <a:pt x="194906" y="2253792"/>
                  </a:lnTo>
                  <a:lnTo>
                    <a:pt x="200939" y="2271865"/>
                  </a:lnTo>
                  <a:lnTo>
                    <a:pt x="273215" y="2247735"/>
                  </a:lnTo>
                  <a:close/>
                </a:path>
                <a:path w="2951479" h="3242310">
                  <a:moveTo>
                    <a:pt x="399707" y="2205507"/>
                  </a:moveTo>
                  <a:lnTo>
                    <a:pt x="393674" y="2187435"/>
                  </a:lnTo>
                  <a:lnTo>
                    <a:pt x="321398" y="2211565"/>
                  </a:lnTo>
                  <a:lnTo>
                    <a:pt x="327431" y="2229637"/>
                  </a:lnTo>
                  <a:lnTo>
                    <a:pt x="399707" y="2205507"/>
                  </a:lnTo>
                  <a:close/>
                </a:path>
                <a:path w="2951479" h="3242310">
                  <a:moveTo>
                    <a:pt x="526199" y="2163280"/>
                  </a:moveTo>
                  <a:lnTo>
                    <a:pt x="520166" y="2145207"/>
                  </a:lnTo>
                  <a:lnTo>
                    <a:pt x="447890" y="2169337"/>
                  </a:lnTo>
                  <a:lnTo>
                    <a:pt x="453923" y="2187410"/>
                  </a:lnTo>
                  <a:lnTo>
                    <a:pt x="526199" y="2163280"/>
                  </a:lnTo>
                  <a:close/>
                </a:path>
                <a:path w="2951479" h="3242310">
                  <a:moveTo>
                    <a:pt x="652691" y="2121052"/>
                  </a:moveTo>
                  <a:lnTo>
                    <a:pt x="646658" y="2102993"/>
                  </a:lnTo>
                  <a:lnTo>
                    <a:pt x="574370" y="2127110"/>
                  </a:lnTo>
                  <a:lnTo>
                    <a:pt x="580402" y="2145182"/>
                  </a:lnTo>
                  <a:lnTo>
                    <a:pt x="652691" y="2121052"/>
                  </a:lnTo>
                  <a:close/>
                </a:path>
                <a:path w="2951479" h="3242310">
                  <a:moveTo>
                    <a:pt x="779170" y="2078837"/>
                  </a:moveTo>
                  <a:lnTo>
                    <a:pt x="773137" y="2060765"/>
                  </a:lnTo>
                  <a:lnTo>
                    <a:pt x="700862" y="2084895"/>
                  </a:lnTo>
                  <a:lnTo>
                    <a:pt x="706894" y="2102954"/>
                  </a:lnTo>
                  <a:lnTo>
                    <a:pt x="779170" y="2078837"/>
                  </a:lnTo>
                  <a:close/>
                </a:path>
                <a:path w="2951479" h="3242310">
                  <a:moveTo>
                    <a:pt x="848639" y="412394"/>
                  </a:moveTo>
                  <a:lnTo>
                    <a:pt x="799439" y="354215"/>
                  </a:lnTo>
                  <a:lnTo>
                    <a:pt x="784885" y="366509"/>
                  </a:lnTo>
                  <a:lnTo>
                    <a:pt x="834097" y="424688"/>
                  </a:lnTo>
                  <a:lnTo>
                    <a:pt x="848639" y="412394"/>
                  </a:lnTo>
                  <a:close/>
                </a:path>
                <a:path w="2951479" h="3242310">
                  <a:moveTo>
                    <a:pt x="905662" y="2036610"/>
                  </a:moveTo>
                  <a:lnTo>
                    <a:pt x="899629" y="2018538"/>
                  </a:lnTo>
                  <a:lnTo>
                    <a:pt x="827354" y="2042668"/>
                  </a:lnTo>
                  <a:lnTo>
                    <a:pt x="833386" y="2060740"/>
                  </a:lnTo>
                  <a:lnTo>
                    <a:pt x="905662" y="2036610"/>
                  </a:lnTo>
                  <a:close/>
                </a:path>
                <a:path w="2951479" h="3242310">
                  <a:moveTo>
                    <a:pt x="934758" y="514210"/>
                  </a:moveTo>
                  <a:lnTo>
                    <a:pt x="885545" y="456031"/>
                  </a:lnTo>
                  <a:lnTo>
                    <a:pt x="871004" y="468325"/>
                  </a:lnTo>
                  <a:lnTo>
                    <a:pt x="920216" y="526516"/>
                  </a:lnTo>
                  <a:lnTo>
                    <a:pt x="934758" y="514210"/>
                  </a:lnTo>
                  <a:close/>
                </a:path>
                <a:path w="2951479" h="3242310">
                  <a:moveTo>
                    <a:pt x="1020864" y="616026"/>
                  </a:moveTo>
                  <a:lnTo>
                    <a:pt x="971664" y="557847"/>
                  </a:lnTo>
                  <a:lnTo>
                    <a:pt x="957110" y="570141"/>
                  </a:lnTo>
                  <a:lnTo>
                    <a:pt x="1006322" y="628345"/>
                  </a:lnTo>
                  <a:lnTo>
                    <a:pt x="1020864" y="616026"/>
                  </a:lnTo>
                  <a:close/>
                </a:path>
                <a:path w="2951479" h="3242310">
                  <a:moveTo>
                    <a:pt x="1032154" y="1994382"/>
                  </a:moveTo>
                  <a:lnTo>
                    <a:pt x="1026121" y="1976310"/>
                  </a:lnTo>
                  <a:lnTo>
                    <a:pt x="953833" y="2000440"/>
                  </a:lnTo>
                  <a:lnTo>
                    <a:pt x="959866" y="2018512"/>
                  </a:lnTo>
                  <a:lnTo>
                    <a:pt x="1032154" y="1994382"/>
                  </a:lnTo>
                  <a:close/>
                </a:path>
                <a:path w="2951479" h="3242310">
                  <a:moveTo>
                    <a:pt x="1106982" y="717842"/>
                  </a:moveTo>
                  <a:lnTo>
                    <a:pt x="1057770" y="659663"/>
                  </a:lnTo>
                  <a:lnTo>
                    <a:pt x="1043228" y="671969"/>
                  </a:lnTo>
                  <a:lnTo>
                    <a:pt x="1092441" y="730148"/>
                  </a:lnTo>
                  <a:lnTo>
                    <a:pt x="1106982" y="717842"/>
                  </a:lnTo>
                  <a:close/>
                </a:path>
                <a:path w="2951479" h="3242310">
                  <a:moveTo>
                    <a:pt x="1193101" y="819658"/>
                  </a:moveTo>
                  <a:lnTo>
                    <a:pt x="1143889" y="761479"/>
                  </a:lnTo>
                  <a:lnTo>
                    <a:pt x="1129347" y="773785"/>
                  </a:lnTo>
                  <a:lnTo>
                    <a:pt x="1178547" y="831964"/>
                  </a:lnTo>
                  <a:lnTo>
                    <a:pt x="1193101" y="819658"/>
                  </a:lnTo>
                  <a:close/>
                </a:path>
                <a:path w="2951479" h="3242310">
                  <a:moveTo>
                    <a:pt x="1217828" y="2004288"/>
                  </a:moveTo>
                  <a:lnTo>
                    <a:pt x="1159306" y="1937372"/>
                  </a:lnTo>
                  <a:lnTo>
                    <a:pt x="1150937" y="1944687"/>
                  </a:lnTo>
                  <a:lnTo>
                    <a:pt x="1147927" y="1935657"/>
                  </a:lnTo>
                  <a:lnTo>
                    <a:pt x="1080325" y="1958213"/>
                  </a:lnTo>
                  <a:lnTo>
                    <a:pt x="1086358" y="1976285"/>
                  </a:lnTo>
                  <a:lnTo>
                    <a:pt x="1146289" y="1956282"/>
                  </a:lnTo>
                  <a:lnTo>
                    <a:pt x="1201102" y="2018919"/>
                  </a:lnTo>
                  <a:lnTo>
                    <a:pt x="1217828" y="2004288"/>
                  </a:lnTo>
                  <a:close/>
                </a:path>
                <a:path w="2951479" h="3242310">
                  <a:moveTo>
                    <a:pt x="1221460" y="1856422"/>
                  </a:moveTo>
                  <a:lnTo>
                    <a:pt x="1205623" y="1845830"/>
                  </a:lnTo>
                  <a:lnTo>
                    <a:pt x="1163243" y="1909165"/>
                  </a:lnTo>
                  <a:lnTo>
                    <a:pt x="1179080" y="1919757"/>
                  </a:lnTo>
                  <a:lnTo>
                    <a:pt x="1221460" y="1856422"/>
                  </a:lnTo>
                  <a:close/>
                </a:path>
                <a:path w="2951479" h="3242310">
                  <a:moveTo>
                    <a:pt x="1279207" y="921473"/>
                  </a:moveTo>
                  <a:lnTo>
                    <a:pt x="1229995" y="863295"/>
                  </a:lnTo>
                  <a:lnTo>
                    <a:pt x="1215453" y="875601"/>
                  </a:lnTo>
                  <a:lnTo>
                    <a:pt x="1264666" y="933780"/>
                  </a:lnTo>
                  <a:lnTo>
                    <a:pt x="1279207" y="921473"/>
                  </a:lnTo>
                  <a:close/>
                </a:path>
                <a:path w="2951479" h="3242310">
                  <a:moveTo>
                    <a:pt x="1320253" y="2121395"/>
                  </a:moveTo>
                  <a:lnTo>
                    <a:pt x="1261732" y="2054479"/>
                  </a:lnTo>
                  <a:lnTo>
                    <a:pt x="1244993" y="2069109"/>
                  </a:lnTo>
                  <a:lnTo>
                    <a:pt x="1303528" y="2136025"/>
                  </a:lnTo>
                  <a:lnTo>
                    <a:pt x="1320253" y="2121395"/>
                  </a:lnTo>
                  <a:close/>
                </a:path>
                <a:path w="2951479" h="3242310">
                  <a:moveTo>
                    <a:pt x="1443926" y="1523936"/>
                  </a:moveTo>
                  <a:lnTo>
                    <a:pt x="1428089" y="1513344"/>
                  </a:lnTo>
                  <a:lnTo>
                    <a:pt x="1385722" y="1576679"/>
                  </a:lnTo>
                  <a:lnTo>
                    <a:pt x="1401546" y="1587271"/>
                  </a:lnTo>
                  <a:lnTo>
                    <a:pt x="1443926" y="1523936"/>
                  </a:lnTo>
                  <a:close/>
                </a:path>
                <a:path w="2951479" h="3242310">
                  <a:moveTo>
                    <a:pt x="1451419" y="1125118"/>
                  </a:moveTo>
                  <a:lnTo>
                    <a:pt x="1402232" y="1066927"/>
                  </a:lnTo>
                  <a:lnTo>
                    <a:pt x="1387678" y="1079233"/>
                  </a:lnTo>
                  <a:lnTo>
                    <a:pt x="1436878" y="1137412"/>
                  </a:lnTo>
                  <a:lnTo>
                    <a:pt x="1451419" y="1125118"/>
                  </a:lnTo>
                  <a:close/>
                </a:path>
                <a:path w="2951479" h="3242310">
                  <a:moveTo>
                    <a:pt x="1518081" y="1413116"/>
                  </a:moveTo>
                  <a:lnTo>
                    <a:pt x="1502257" y="1402524"/>
                  </a:lnTo>
                  <a:lnTo>
                    <a:pt x="1459877" y="1465846"/>
                  </a:lnTo>
                  <a:lnTo>
                    <a:pt x="1475714" y="1476438"/>
                  </a:lnTo>
                  <a:lnTo>
                    <a:pt x="1518081" y="1413116"/>
                  </a:lnTo>
                  <a:close/>
                </a:path>
                <a:path w="2951479" h="3242310">
                  <a:moveTo>
                    <a:pt x="1525104" y="2355596"/>
                  </a:moveTo>
                  <a:lnTo>
                    <a:pt x="1466557" y="2288692"/>
                  </a:lnTo>
                  <a:lnTo>
                    <a:pt x="1449832" y="2303310"/>
                  </a:lnTo>
                  <a:lnTo>
                    <a:pt x="1508379" y="2370226"/>
                  </a:lnTo>
                  <a:lnTo>
                    <a:pt x="1525104" y="2355596"/>
                  </a:lnTo>
                  <a:close/>
                </a:path>
                <a:path w="2951479" h="3242310">
                  <a:moveTo>
                    <a:pt x="1537550" y="1226934"/>
                  </a:moveTo>
                  <a:lnTo>
                    <a:pt x="1488338" y="1168742"/>
                  </a:lnTo>
                  <a:lnTo>
                    <a:pt x="1473796" y="1181049"/>
                  </a:lnTo>
                  <a:lnTo>
                    <a:pt x="1523009" y="1239227"/>
                  </a:lnTo>
                  <a:lnTo>
                    <a:pt x="1537550" y="1226934"/>
                  </a:lnTo>
                  <a:close/>
                </a:path>
                <a:path w="2951479" h="3242310">
                  <a:moveTo>
                    <a:pt x="1627530" y="2472690"/>
                  </a:moveTo>
                  <a:lnTo>
                    <a:pt x="1568996" y="2405773"/>
                  </a:lnTo>
                  <a:lnTo>
                    <a:pt x="1552270" y="2420416"/>
                  </a:lnTo>
                  <a:lnTo>
                    <a:pt x="1610791" y="2487333"/>
                  </a:lnTo>
                  <a:lnTo>
                    <a:pt x="1627530" y="2472690"/>
                  </a:lnTo>
                  <a:close/>
                </a:path>
                <a:path w="2951479" h="3242310">
                  <a:moveTo>
                    <a:pt x="1661121" y="1296949"/>
                  </a:moveTo>
                  <a:lnTo>
                    <a:pt x="1658747" y="1278051"/>
                  </a:lnTo>
                  <a:lnTo>
                    <a:pt x="1588262" y="1286903"/>
                  </a:lnTo>
                  <a:lnTo>
                    <a:pt x="1584325" y="1282255"/>
                  </a:lnTo>
                  <a:lnTo>
                    <a:pt x="1584325" y="1296987"/>
                  </a:lnTo>
                  <a:lnTo>
                    <a:pt x="1584325" y="1282255"/>
                  </a:lnTo>
                  <a:lnTo>
                    <a:pt x="1574444" y="1270571"/>
                  </a:lnTo>
                  <a:lnTo>
                    <a:pt x="1559902" y="1282865"/>
                  </a:lnTo>
                  <a:lnTo>
                    <a:pt x="1572399" y="1297660"/>
                  </a:lnTo>
                  <a:lnTo>
                    <a:pt x="1534020" y="1355026"/>
                  </a:lnTo>
                  <a:lnTo>
                    <a:pt x="1549869" y="1365618"/>
                  </a:lnTo>
                  <a:lnTo>
                    <a:pt x="1589811" y="1305902"/>
                  </a:lnTo>
                  <a:lnTo>
                    <a:pt x="1661121" y="1296949"/>
                  </a:lnTo>
                  <a:close/>
                </a:path>
                <a:path w="2951479" h="3242310">
                  <a:moveTo>
                    <a:pt x="1729955" y="2589796"/>
                  </a:moveTo>
                  <a:lnTo>
                    <a:pt x="1671421" y="2522880"/>
                  </a:lnTo>
                  <a:lnTo>
                    <a:pt x="1654695" y="2537510"/>
                  </a:lnTo>
                  <a:lnTo>
                    <a:pt x="1713217" y="2604427"/>
                  </a:lnTo>
                  <a:lnTo>
                    <a:pt x="1729955" y="2589796"/>
                  </a:lnTo>
                  <a:close/>
                </a:path>
                <a:path w="2951479" h="3242310">
                  <a:moveTo>
                    <a:pt x="1793430" y="1280337"/>
                  </a:moveTo>
                  <a:lnTo>
                    <a:pt x="1791055" y="1261440"/>
                  </a:lnTo>
                  <a:lnTo>
                    <a:pt x="1715452" y="1270927"/>
                  </a:lnTo>
                  <a:lnTo>
                    <a:pt x="1717827" y="1289824"/>
                  </a:lnTo>
                  <a:lnTo>
                    <a:pt x="1793430" y="1280337"/>
                  </a:lnTo>
                  <a:close/>
                </a:path>
                <a:path w="2951479" h="3242310">
                  <a:moveTo>
                    <a:pt x="1832368" y="2706916"/>
                  </a:moveTo>
                  <a:lnTo>
                    <a:pt x="1773847" y="2639987"/>
                  </a:lnTo>
                  <a:lnTo>
                    <a:pt x="1757121" y="2654617"/>
                  </a:lnTo>
                  <a:lnTo>
                    <a:pt x="1815642" y="2721546"/>
                  </a:lnTo>
                  <a:lnTo>
                    <a:pt x="1832368" y="2706916"/>
                  </a:lnTo>
                  <a:close/>
                </a:path>
                <a:path w="2951479" h="3242310">
                  <a:moveTo>
                    <a:pt x="1925739" y="1263738"/>
                  </a:moveTo>
                  <a:lnTo>
                    <a:pt x="1923364" y="1244828"/>
                  </a:lnTo>
                  <a:lnTo>
                    <a:pt x="1847761" y="1254328"/>
                  </a:lnTo>
                  <a:lnTo>
                    <a:pt x="1850136" y="1273225"/>
                  </a:lnTo>
                  <a:lnTo>
                    <a:pt x="1925739" y="1263738"/>
                  </a:lnTo>
                  <a:close/>
                </a:path>
                <a:path w="2951479" h="3242310">
                  <a:moveTo>
                    <a:pt x="1934794" y="2824010"/>
                  </a:moveTo>
                  <a:lnTo>
                    <a:pt x="1876272" y="2757093"/>
                  </a:lnTo>
                  <a:lnTo>
                    <a:pt x="1859546" y="2771737"/>
                  </a:lnTo>
                  <a:lnTo>
                    <a:pt x="1918068" y="2838640"/>
                  </a:lnTo>
                  <a:lnTo>
                    <a:pt x="1934794" y="2824010"/>
                  </a:lnTo>
                  <a:close/>
                </a:path>
                <a:path w="2951479" h="3242310">
                  <a:moveTo>
                    <a:pt x="2037219" y="2941116"/>
                  </a:moveTo>
                  <a:lnTo>
                    <a:pt x="1978698" y="2874200"/>
                  </a:lnTo>
                  <a:lnTo>
                    <a:pt x="1961959" y="2888831"/>
                  </a:lnTo>
                  <a:lnTo>
                    <a:pt x="2020493" y="2955747"/>
                  </a:lnTo>
                  <a:lnTo>
                    <a:pt x="2037219" y="2941116"/>
                  </a:lnTo>
                  <a:close/>
                </a:path>
                <a:path w="2951479" h="3242310">
                  <a:moveTo>
                    <a:pt x="2058047" y="1247127"/>
                  </a:moveTo>
                  <a:lnTo>
                    <a:pt x="2055685" y="1228229"/>
                  </a:lnTo>
                  <a:lnTo>
                    <a:pt x="1980069" y="1237716"/>
                  </a:lnTo>
                  <a:lnTo>
                    <a:pt x="1982444" y="1256614"/>
                  </a:lnTo>
                  <a:lnTo>
                    <a:pt x="2058047" y="1247127"/>
                  </a:lnTo>
                  <a:close/>
                </a:path>
                <a:path w="2951479" h="3242310">
                  <a:moveTo>
                    <a:pt x="2139645" y="3058223"/>
                  </a:moveTo>
                  <a:lnTo>
                    <a:pt x="2081123" y="2991307"/>
                  </a:lnTo>
                  <a:lnTo>
                    <a:pt x="2064385" y="3005937"/>
                  </a:lnTo>
                  <a:lnTo>
                    <a:pt x="2122919" y="3072854"/>
                  </a:lnTo>
                  <a:lnTo>
                    <a:pt x="2139645" y="3058223"/>
                  </a:lnTo>
                  <a:close/>
                </a:path>
                <a:path w="2951479" h="3242310">
                  <a:moveTo>
                    <a:pt x="2190369" y="1230515"/>
                  </a:moveTo>
                  <a:lnTo>
                    <a:pt x="2187994" y="1211618"/>
                  </a:lnTo>
                  <a:lnTo>
                    <a:pt x="2112391" y="1221105"/>
                  </a:lnTo>
                  <a:lnTo>
                    <a:pt x="2114753" y="1240002"/>
                  </a:lnTo>
                  <a:lnTo>
                    <a:pt x="2190369" y="1230515"/>
                  </a:lnTo>
                  <a:close/>
                </a:path>
                <a:path w="2951479" h="3242310">
                  <a:moveTo>
                    <a:pt x="2322677" y="1213916"/>
                  </a:moveTo>
                  <a:lnTo>
                    <a:pt x="2320302" y="1195006"/>
                  </a:lnTo>
                  <a:lnTo>
                    <a:pt x="2244699" y="1204493"/>
                  </a:lnTo>
                  <a:lnTo>
                    <a:pt x="2247074" y="1223403"/>
                  </a:lnTo>
                  <a:lnTo>
                    <a:pt x="2322677" y="1213916"/>
                  </a:lnTo>
                  <a:close/>
                </a:path>
                <a:path w="2951479" h="3242310">
                  <a:moveTo>
                    <a:pt x="2454986" y="1197305"/>
                  </a:moveTo>
                  <a:lnTo>
                    <a:pt x="2452611" y="1178407"/>
                  </a:lnTo>
                  <a:lnTo>
                    <a:pt x="2377008" y="1187894"/>
                  </a:lnTo>
                  <a:lnTo>
                    <a:pt x="2379383" y="1206792"/>
                  </a:lnTo>
                  <a:lnTo>
                    <a:pt x="2454986" y="1197305"/>
                  </a:lnTo>
                  <a:close/>
                </a:path>
                <a:path w="2951479" h="3242310">
                  <a:moveTo>
                    <a:pt x="2587294" y="1180693"/>
                  </a:moveTo>
                  <a:lnTo>
                    <a:pt x="2584932" y="1161796"/>
                  </a:lnTo>
                  <a:lnTo>
                    <a:pt x="2509316" y="1171282"/>
                  </a:lnTo>
                  <a:lnTo>
                    <a:pt x="2511691" y="1190180"/>
                  </a:lnTo>
                  <a:lnTo>
                    <a:pt x="2587294" y="1180693"/>
                  </a:lnTo>
                  <a:close/>
                </a:path>
                <a:path w="2951479" h="3242310">
                  <a:moveTo>
                    <a:pt x="2719616" y="1164094"/>
                  </a:moveTo>
                  <a:lnTo>
                    <a:pt x="2717241" y="1145184"/>
                  </a:lnTo>
                  <a:lnTo>
                    <a:pt x="2641638" y="1154671"/>
                  </a:lnTo>
                  <a:lnTo>
                    <a:pt x="2644000" y="1173581"/>
                  </a:lnTo>
                  <a:lnTo>
                    <a:pt x="2719616" y="1164094"/>
                  </a:lnTo>
                  <a:close/>
                </a:path>
                <a:path w="2951479" h="3242310">
                  <a:moveTo>
                    <a:pt x="2951162" y="1800225"/>
                  </a:moveTo>
                  <a:lnTo>
                    <a:pt x="2941637" y="1795462"/>
                  </a:lnTo>
                  <a:lnTo>
                    <a:pt x="2874962" y="1762125"/>
                  </a:lnTo>
                  <a:lnTo>
                    <a:pt x="2874962" y="1795462"/>
                  </a:lnTo>
                  <a:lnTo>
                    <a:pt x="1373187" y="1795462"/>
                  </a:lnTo>
                  <a:lnTo>
                    <a:pt x="1373187" y="76200"/>
                  </a:lnTo>
                  <a:lnTo>
                    <a:pt x="1406525" y="76200"/>
                  </a:lnTo>
                  <a:lnTo>
                    <a:pt x="1397000" y="57150"/>
                  </a:lnTo>
                  <a:lnTo>
                    <a:pt x="1368425" y="0"/>
                  </a:lnTo>
                  <a:lnTo>
                    <a:pt x="1330325" y="76200"/>
                  </a:lnTo>
                  <a:lnTo>
                    <a:pt x="1363662" y="76200"/>
                  </a:lnTo>
                  <a:lnTo>
                    <a:pt x="1363662" y="1021334"/>
                  </a:lnTo>
                  <a:lnTo>
                    <a:pt x="1316113" y="965111"/>
                  </a:lnTo>
                  <a:lnTo>
                    <a:pt x="1301572" y="977417"/>
                  </a:lnTo>
                  <a:lnTo>
                    <a:pt x="1350772" y="1035596"/>
                  </a:lnTo>
                  <a:lnTo>
                    <a:pt x="1363662" y="1024699"/>
                  </a:lnTo>
                  <a:lnTo>
                    <a:pt x="1363662" y="1630692"/>
                  </a:lnTo>
                  <a:lnTo>
                    <a:pt x="1353934" y="1624177"/>
                  </a:lnTo>
                  <a:lnTo>
                    <a:pt x="1311567" y="1687512"/>
                  </a:lnTo>
                  <a:lnTo>
                    <a:pt x="1327391" y="1698104"/>
                  </a:lnTo>
                  <a:lnTo>
                    <a:pt x="1363662" y="1643900"/>
                  </a:lnTo>
                  <a:lnTo>
                    <a:pt x="1363662" y="1795462"/>
                  </a:lnTo>
                  <a:lnTo>
                    <a:pt x="1262240" y="1795462"/>
                  </a:lnTo>
                  <a:lnTo>
                    <a:pt x="1295615" y="1745602"/>
                  </a:lnTo>
                  <a:lnTo>
                    <a:pt x="1279779" y="1735010"/>
                  </a:lnTo>
                  <a:lnTo>
                    <a:pt x="1239316" y="1795462"/>
                  </a:lnTo>
                  <a:lnTo>
                    <a:pt x="0" y="1795462"/>
                  </a:lnTo>
                  <a:lnTo>
                    <a:pt x="0" y="1804987"/>
                  </a:lnTo>
                  <a:lnTo>
                    <a:pt x="1247343" y="1804987"/>
                  </a:lnTo>
                  <a:lnTo>
                    <a:pt x="1253236" y="1808924"/>
                  </a:lnTo>
                  <a:lnTo>
                    <a:pt x="1255864" y="1804987"/>
                  </a:lnTo>
                  <a:lnTo>
                    <a:pt x="1363662" y="1804987"/>
                  </a:lnTo>
                  <a:lnTo>
                    <a:pt x="1363662" y="2172004"/>
                  </a:lnTo>
                  <a:lnTo>
                    <a:pt x="1347419" y="2186203"/>
                  </a:lnTo>
                  <a:lnTo>
                    <a:pt x="1363662" y="2204783"/>
                  </a:lnTo>
                  <a:lnTo>
                    <a:pt x="1363662" y="3241687"/>
                  </a:lnTo>
                  <a:lnTo>
                    <a:pt x="1373187" y="3241687"/>
                  </a:lnTo>
                  <a:lnTo>
                    <a:pt x="1373187" y="2215667"/>
                  </a:lnTo>
                  <a:lnTo>
                    <a:pt x="1405953" y="2253119"/>
                  </a:lnTo>
                  <a:lnTo>
                    <a:pt x="1422679" y="2238489"/>
                  </a:lnTo>
                  <a:lnTo>
                    <a:pt x="1373187" y="2181910"/>
                  </a:lnTo>
                  <a:lnTo>
                    <a:pt x="1373187" y="1804987"/>
                  </a:lnTo>
                  <a:lnTo>
                    <a:pt x="2874962" y="1804987"/>
                  </a:lnTo>
                  <a:lnTo>
                    <a:pt x="2874962" y="1838325"/>
                  </a:lnTo>
                  <a:lnTo>
                    <a:pt x="2941637" y="1804987"/>
                  </a:lnTo>
                  <a:lnTo>
                    <a:pt x="2951162" y="1800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3836" y="2087879"/>
              <a:ext cx="5473065" cy="548640"/>
            </a:xfrm>
            <a:custGeom>
              <a:avLst/>
              <a:gdLst/>
              <a:ahLst/>
              <a:cxnLst/>
              <a:rect l="l" t="t" r="r" b="b"/>
              <a:pathLst>
                <a:path w="5473065" h="548639">
                  <a:moveTo>
                    <a:pt x="5472684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5472684" y="548640"/>
                  </a:lnTo>
                  <a:lnTo>
                    <a:pt x="5472684" y="0"/>
                  </a:lnTo>
                  <a:close/>
                </a:path>
              </a:pathLst>
            </a:custGeom>
            <a:solidFill>
              <a:srgbClr val="FFFF00">
                <a:alpha val="360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42873" y="2104974"/>
            <a:ext cx="549783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ts val="2520"/>
              </a:lnSpc>
              <a:spcBef>
                <a:spcPts val="125"/>
              </a:spcBef>
              <a:tabLst>
                <a:tab pos="473709" algn="l"/>
                <a:tab pos="3227705" algn="l"/>
                <a:tab pos="4679315" algn="l"/>
              </a:tabLst>
            </a:pPr>
            <a:r>
              <a:rPr dirty="0" sz="2700" spc="-50" i="1">
                <a:latin typeface="Times New Roman"/>
                <a:cs typeface="Times New Roman"/>
              </a:rPr>
              <a:t>V</a:t>
            </a:r>
            <a:r>
              <a:rPr dirty="0" sz="2700" i="1">
                <a:latin typeface="Times New Roman"/>
                <a:cs typeface="Times New Roman"/>
              </a:rPr>
              <a:t>	</a:t>
            </a:r>
            <a:r>
              <a:rPr dirty="0" sz="2700" spc="-40">
                <a:latin typeface="Times New Roman"/>
                <a:cs typeface="Times New Roman"/>
              </a:rPr>
              <a:t>=</a:t>
            </a:r>
            <a:r>
              <a:rPr dirty="0" sz="2700" spc="-29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{x</a:t>
            </a:r>
            <a:r>
              <a:rPr dirty="0" sz="2700" spc="-254">
                <a:latin typeface="Times New Roman"/>
                <a:cs typeface="Times New Roman"/>
              </a:rPr>
              <a:t> </a:t>
            </a:r>
            <a:r>
              <a:rPr dirty="0" sz="2700" spc="844">
                <a:latin typeface="Times New Roman"/>
                <a:cs typeface="Times New Roman"/>
              </a:rPr>
              <a:t>ϵ</a:t>
            </a:r>
            <a:r>
              <a:rPr dirty="0" sz="2700" spc="-240">
                <a:latin typeface="Times New Roman"/>
                <a:cs typeface="Times New Roman"/>
              </a:rPr>
              <a:t> </a:t>
            </a:r>
            <a:r>
              <a:rPr dirty="0" sz="2700" spc="110" i="1">
                <a:latin typeface="Times New Roman"/>
                <a:cs typeface="Times New Roman"/>
              </a:rPr>
              <a:t>R</a:t>
            </a:r>
            <a:r>
              <a:rPr dirty="0" baseline="41666" sz="2400" spc="165" i="1">
                <a:latin typeface="Times New Roman"/>
                <a:cs typeface="Times New Roman"/>
              </a:rPr>
              <a:t>L</a:t>
            </a:r>
            <a:r>
              <a:rPr dirty="0" baseline="41666" sz="2400" spc="525" i="1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|</a:t>
            </a:r>
            <a:r>
              <a:rPr dirty="0" sz="2700" spc="28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||</a:t>
            </a:r>
            <a:r>
              <a:rPr dirty="0" sz="2700" spc="-11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x</a:t>
            </a:r>
            <a:r>
              <a:rPr dirty="0" sz="2700" spc="-125">
                <a:latin typeface="Times New Roman"/>
                <a:cs typeface="Times New Roman"/>
              </a:rPr>
              <a:t> </a:t>
            </a:r>
            <a:r>
              <a:rPr dirty="0" sz="2700" spc="135">
                <a:latin typeface="Times New Roman"/>
                <a:cs typeface="Times New Roman"/>
              </a:rPr>
              <a:t>–</a:t>
            </a:r>
            <a:r>
              <a:rPr dirty="0" sz="2700" spc="-155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Times New Roman"/>
                <a:cs typeface="Times New Roman"/>
              </a:rPr>
              <a:t>w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-275">
                <a:latin typeface="Times New Roman"/>
                <a:cs typeface="Times New Roman"/>
              </a:rPr>
              <a:t>||||</a:t>
            </a:r>
            <a:r>
              <a:rPr dirty="0" sz="2700" spc="-110">
                <a:latin typeface="Times New Roman"/>
                <a:cs typeface="Times New Roman"/>
              </a:rPr>
              <a:t> </a:t>
            </a:r>
            <a:r>
              <a:rPr dirty="0" sz="2700">
                <a:latin typeface="Times New Roman"/>
                <a:cs typeface="Times New Roman"/>
              </a:rPr>
              <a:t>x</a:t>
            </a:r>
            <a:r>
              <a:rPr dirty="0" sz="2700" spc="-125">
                <a:latin typeface="Times New Roman"/>
                <a:cs typeface="Times New Roman"/>
              </a:rPr>
              <a:t> </a:t>
            </a:r>
            <a:r>
              <a:rPr dirty="0" sz="2700" spc="135">
                <a:latin typeface="Times New Roman"/>
                <a:cs typeface="Times New Roman"/>
              </a:rPr>
              <a:t>–</a:t>
            </a:r>
            <a:r>
              <a:rPr dirty="0" sz="2700" spc="-155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Times New Roman"/>
                <a:cs typeface="Times New Roman"/>
              </a:rPr>
              <a:t>w</a:t>
            </a:r>
            <a:r>
              <a:rPr dirty="0" sz="2700">
                <a:latin typeface="Times New Roman"/>
                <a:cs typeface="Times New Roman"/>
              </a:rPr>
              <a:t>	||,</a:t>
            </a:r>
            <a:r>
              <a:rPr dirty="0" sz="2700" spc="-409">
                <a:latin typeface="Times New Roman"/>
                <a:cs typeface="Times New Roman"/>
              </a:rPr>
              <a:t> </a:t>
            </a:r>
            <a:r>
              <a:rPr dirty="0" sz="2700" spc="160">
                <a:latin typeface="Times New Roman"/>
                <a:cs typeface="Times New Roman"/>
              </a:rPr>
              <a:t>6</a:t>
            </a:r>
            <a:r>
              <a:rPr dirty="0" sz="2700" spc="160" i="1">
                <a:latin typeface="Times New Roman"/>
                <a:cs typeface="Times New Roman"/>
              </a:rPr>
              <a:t>l</a:t>
            </a:r>
            <a:r>
              <a:rPr dirty="0" sz="2700" spc="160">
                <a:latin typeface="Times New Roman"/>
                <a:cs typeface="Times New Roman"/>
              </a:rPr>
              <a:t>}</a:t>
            </a:r>
            <a:endParaRPr sz="2700">
              <a:latin typeface="Times New Roman"/>
              <a:cs typeface="Times New Roman"/>
            </a:endParaRPr>
          </a:p>
          <a:p>
            <a:pPr marL="251460">
              <a:lnSpc>
                <a:spcPts val="1200"/>
              </a:lnSpc>
              <a:tabLst>
                <a:tab pos="3025775" algn="l"/>
                <a:tab pos="4515485" algn="l"/>
              </a:tabLst>
            </a:pPr>
            <a:r>
              <a:rPr dirty="0" sz="1600" spc="-50" i="1">
                <a:latin typeface="Times New Roman"/>
                <a:cs typeface="Times New Roman"/>
              </a:rPr>
              <a:t>k</a:t>
            </a:r>
            <a:r>
              <a:rPr dirty="0" sz="1600" i="1">
                <a:latin typeface="Times New Roman"/>
                <a:cs typeface="Times New Roman"/>
              </a:rPr>
              <a:t>	</a:t>
            </a:r>
            <a:r>
              <a:rPr dirty="0" sz="1600" spc="-50" i="1">
                <a:latin typeface="Times New Roman"/>
                <a:cs typeface="Times New Roman"/>
              </a:rPr>
              <a:t>k</a:t>
            </a:r>
            <a:r>
              <a:rPr dirty="0" sz="1600" i="1">
                <a:latin typeface="Times New Roman"/>
                <a:cs typeface="Times New Roman"/>
              </a:rPr>
              <a:t>	</a:t>
            </a:r>
            <a:r>
              <a:rPr dirty="0" sz="1600" spc="-50" i="1">
                <a:latin typeface="Times New Roman"/>
                <a:cs typeface="Times New Roman"/>
              </a:rPr>
              <a:t>l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64311" y="2060448"/>
            <a:ext cx="8076565" cy="1593215"/>
            <a:chOff x="964311" y="2060448"/>
            <a:chExt cx="8076565" cy="1593215"/>
          </a:xfrm>
        </p:grpSpPr>
        <p:sp>
          <p:nvSpPr>
            <p:cNvPr id="9" name="object 9" descr=""/>
            <p:cNvSpPr/>
            <p:nvPr/>
          </p:nvSpPr>
          <p:spPr>
            <a:xfrm>
              <a:off x="964311" y="2078355"/>
              <a:ext cx="5492115" cy="567690"/>
            </a:xfrm>
            <a:custGeom>
              <a:avLst/>
              <a:gdLst/>
              <a:ahLst/>
              <a:cxnLst/>
              <a:rect l="l" t="t" r="r" b="b"/>
              <a:pathLst>
                <a:path w="5492115" h="567689">
                  <a:moveTo>
                    <a:pt x="5491734" y="0"/>
                  </a:moveTo>
                  <a:lnTo>
                    <a:pt x="0" y="0"/>
                  </a:lnTo>
                  <a:lnTo>
                    <a:pt x="0" y="567690"/>
                  </a:lnTo>
                  <a:lnTo>
                    <a:pt x="5491734" y="567690"/>
                  </a:lnTo>
                  <a:lnTo>
                    <a:pt x="5491734" y="562927"/>
                  </a:lnTo>
                  <a:lnTo>
                    <a:pt x="9525" y="562927"/>
                  </a:lnTo>
                  <a:lnTo>
                    <a:pt x="4762" y="558165"/>
                  </a:lnTo>
                  <a:lnTo>
                    <a:pt x="9525" y="558165"/>
                  </a:lnTo>
                  <a:lnTo>
                    <a:pt x="9525" y="9525"/>
                  </a:lnTo>
                  <a:lnTo>
                    <a:pt x="4762" y="9525"/>
                  </a:lnTo>
                  <a:lnTo>
                    <a:pt x="9525" y="4762"/>
                  </a:lnTo>
                  <a:lnTo>
                    <a:pt x="5491734" y="4762"/>
                  </a:lnTo>
                  <a:lnTo>
                    <a:pt x="5491734" y="0"/>
                  </a:lnTo>
                  <a:close/>
                </a:path>
                <a:path w="5492115" h="567689">
                  <a:moveTo>
                    <a:pt x="9525" y="558165"/>
                  </a:moveTo>
                  <a:lnTo>
                    <a:pt x="4762" y="558165"/>
                  </a:lnTo>
                  <a:lnTo>
                    <a:pt x="9525" y="562927"/>
                  </a:lnTo>
                  <a:lnTo>
                    <a:pt x="9525" y="558165"/>
                  </a:lnTo>
                  <a:close/>
                </a:path>
                <a:path w="5492115" h="567689">
                  <a:moveTo>
                    <a:pt x="5482209" y="558165"/>
                  </a:moveTo>
                  <a:lnTo>
                    <a:pt x="9525" y="558165"/>
                  </a:lnTo>
                  <a:lnTo>
                    <a:pt x="9525" y="562927"/>
                  </a:lnTo>
                  <a:lnTo>
                    <a:pt x="5482209" y="562927"/>
                  </a:lnTo>
                  <a:lnTo>
                    <a:pt x="5482209" y="558165"/>
                  </a:lnTo>
                  <a:close/>
                </a:path>
                <a:path w="5492115" h="567689">
                  <a:moveTo>
                    <a:pt x="5482209" y="4762"/>
                  </a:moveTo>
                  <a:lnTo>
                    <a:pt x="5482209" y="562927"/>
                  </a:lnTo>
                  <a:lnTo>
                    <a:pt x="5486971" y="558165"/>
                  </a:lnTo>
                  <a:lnTo>
                    <a:pt x="5491734" y="558165"/>
                  </a:lnTo>
                  <a:lnTo>
                    <a:pt x="5491734" y="9525"/>
                  </a:lnTo>
                  <a:lnTo>
                    <a:pt x="5486971" y="9525"/>
                  </a:lnTo>
                  <a:lnTo>
                    <a:pt x="5482209" y="4762"/>
                  </a:lnTo>
                  <a:close/>
                </a:path>
                <a:path w="5492115" h="567689">
                  <a:moveTo>
                    <a:pt x="5491734" y="558165"/>
                  </a:moveTo>
                  <a:lnTo>
                    <a:pt x="5486971" y="558165"/>
                  </a:lnTo>
                  <a:lnTo>
                    <a:pt x="5482209" y="562927"/>
                  </a:lnTo>
                  <a:lnTo>
                    <a:pt x="5491734" y="562927"/>
                  </a:lnTo>
                  <a:lnTo>
                    <a:pt x="5491734" y="558165"/>
                  </a:lnTo>
                  <a:close/>
                </a:path>
                <a:path w="5492115" h="567689">
                  <a:moveTo>
                    <a:pt x="9525" y="4762"/>
                  </a:moveTo>
                  <a:lnTo>
                    <a:pt x="4762" y="9525"/>
                  </a:lnTo>
                  <a:lnTo>
                    <a:pt x="9525" y="9525"/>
                  </a:lnTo>
                  <a:lnTo>
                    <a:pt x="9525" y="4762"/>
                  </a:lnTo>
                  <a:close/>
                </a:path>
                <a:path w="5492115" h="567689">
                  <a:moveTo>
                    <a:pt x="5482209" y="4762"/>
                  </a:moveTo>
                  <a:lnTo>
                    <a:pt x="9525" y="4762"/>
                  </a:lnTo>
                  <a:lnTo>
                    <a:pt x="9525" y="9525"/>
                  </a:lnTo>
                  <a:lnTo>
                    <a:pt x="5482209" y="9525"/>
                  </a:lnTo>
                  <a:lnTo>
                    <a:pt x="5482209" y="4762"/>
                  </a:lnTo>
                  <a:close/>
                </a:path>
                <a:path w="5492115" h="567689">
                  <a:moveTo>
                    <a:pt x="5491734" y="4762"/>
                  </a:moveTo>
                  <a:lnTo>
                    <a:pt x="5482209" y="4762"/>
                  </a:lnTo>
                  <a:lnTo>
                    <a:pt x="5486971" y="9525"/>
                  </a:lnTo>
                  <a:lnTo>
                    <a:pt x="5491734" y="9525"/>
                  </a:lnTo>
                  <a:lnTo>
                    <a:pt x="5491734" y="476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42303" y="2060448"/>
              <a:ext cx="2794000" cy="1567180"/>
            </a:xfrm>
            <a:custGeom>
              <a:avLst/>
              <a:gdLst/>
              <a:ahLst/>
              <a:cxnLst/>
              <a:rect l="l" t="t" r="r" b="b"/>
              <a:pathLst>
                <a:path w="2794000" h="1567179">
                  <a:moveTo>
                    <a:pt x="2566416" y="0"/>
                  </a:moveTo>
                  <a:lnTo>
                    <a:pt x="717803" y="0"/>
                  </a:lnTo>
                  <a:lnTo>
                    <a:pt x="672021" y="4676"/>
                  </a:lnTo>
                  <a:lnTo>
                    <a:pt x="629352" y="18002"/>
                  </a:lnTo>
                  <a:lnTo>
                    <a:pt x="590725" y="39067"/>
                  </a:lnTo>
                  <a:lnTo>
                    <a:pt x="557069" y="66960"/>
                  </a:lnTo>
                  <a:lnTo>
                    <a:pt x="529313" y="100771"/>
                  </a:lnTo>
                  <a:lnTo>
                    <a:pt x="508384" y="139588"/>
                  </a:lnTo>
                  <a:lnTo>
                    <a:pt x="495213" y="182501"/>
                  </a:lnTo>
                  <a:lnTo>
                    <a:pt x="490727" y="228600"/>
                  </a:lnTo>
                  <a:lnTo>
                    <a:pt x="490727" y="798576"/>
                  </a:lnTo>
                  <a:lnTo>
                    <a:pt x="0" y="1566671"/>
                  </a:lnTo>
                  <a:lnTo>
                    <a:pt x="490727" y="1139952"/>
                  </a:lnTo>
                  <a:lnTo>
                    <a:pt x="490283" y="1140485"/>
                  </a:lnTo>
                  <a:lnTo>
                    <a:pt x="494915" y="1186449"/>
                  </a:lnTo>
                  <a:lnTo>
                    <a:pt x="508197" y="1229259"/>
                  </a:lnTo>
                  <a:lnTo>
                    <a:pt x="529204" y="1267999"/>
                  </a:lnTo>
                  <a:lnTo>
                    <a:pt x="557014" y="1301753"/>
                  </a:lnTo>
                  <a:lnTo>
                    <a:pt x="590702" y="1329602"/>
                  </a:lnTo>
                  <a:lnTo>
                    <a:pt x="629345" y="1350629"/>
                  </a:lnTo>
                  <a:lnTo>
                    <a:pt x="672020" y="1363918"/>
                  </a:lnTo>
                  <a:lnTo>
                    <a:pt x="717803" y="1368552"/>
                  </a:lnTo>
                  <a:lnTo>
                    <a:pt x="2566416" y="1368552"/>
                  </a:lnTo>
                  <a:lnTo>
                    <a:pt x="2612136" y="1363917"/>
                  </a:lnTo>
                  <a:lnTo>
                    <a:pt x="2654760" y="1350621"/>
                  </a:lnTo>
                  <a:lnTo>
                    <a:pt x="2693360" y="1329573"/>
                  </a:lnTo>
                  <a:lnTo>
                    <a:pt x="2727007" y="1301686"/>
                  </a:lnTo>
                  <a:lnTo>
                    <a:pt x="2754772" y="1267869"/>
                  </a:lnTo>
                  <a:lnTo>
                    <a:pt x="2775727" y="1229034"/>
                  </a:lnTo>
                  <a:lnTo>
                    <a:pt x="2788943" y="1186091"/>
                  </a:lnTo>
                  <a:lnTo>
                    <a:pt x="2793492" y="1139952"/>
                  </a:lnTo>
                  <a:lnTo>
                    <a:pt x="2793746" y="1140485"/>
                  </a:lnTo>
                  <a:lnTo>
                    <a:pt x="2793492" y="798576"/>
                  </a:lnTo>
                  <a:lnTo>
                    <a:pt x="2793492" y="228600"/>
                  </a:lnTo>
                  <a:lnTo>
                    <a:pt x="2788943" y="182501"/>
                  </a:lnTo>
                  <a:lnTo>
                    <a:pt x="2775727" y="139588"/>
                  </a:lnTo>
                  <a:lnTo>
                    <a:pt x="2754772" y="100771"/>
                  </a:lnTo>
                  <a:lnTo>
                    <a:pt x="2727007" y="66960"/>
                  </a:lnTo>
                  <a:lnTo>
                    <a:pt x="2693360" y="39067"/>
                  </a:lnTo>
                  <a:lnTo>
                    <a:pt x="2654760" y="18002"/>
                  </a:lnTo>
                  <a:lnTo>
                    <a:pt x="2612136" y="4676"/>
                  </a:lnTo>
                  <a:lnTo>
                    <a:pt x="2566416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20383" y="2065553"/>
              <a:ext cx="2820670" cy="1587500"/>
            </a:xfrm>
            <a:custGeom>
              <a:avLst/>
              <a:gdLst/>
              <a:ahLst/>
              <a:cxnLst/>
              <a:rect l="l" t="t" r="r" b="b"/>
              <a:pathLst>
                <a:path w="2820670" h="1587500">
                  <a:moveTo>
                    <a:pt x="517258" y="215900"/>
                  </a:moveTo>
                  <a:lnTo>
                    <a:pt x="507746" y="215900"/>
                  </a:lnTo>
                  <a:lnTo>
                    <a:pt x="507517" y="228600"/>
                  </a:lnTo>
                  <a:lnTo>
                    <a:pt x="507441" y="800100"/>
                  </a:lnTo>
                  <a:lnTo>
                    <a:pt x="508190" y="800100"/>
                  </a:lnTo>
                  <a:lnTo>
                    <a:pt x="0" y="1587500"/>
                  </a:lnTo>
                  <a:lnTo>
                    <a:pt x="22158" y="1568387"/>
                  </a:lnTo>
                  <a:lnTo>
                    <a:pt x="18618" y="1562100"/>
                  </a:lnTo>
                  <a:lnTo>
                    <a:pt x="52355" y="1532868"/>
                  </a:lnTo>
                  <a:lnTo>
                    <a:pt x="516966" y="800100"/>
                  </a:lnTo>
                  <a:lnTo>
                    <a:pt x="516966" y="228600"/>
                  </a:lnTo>
                  <a:lnTo>
                    <a:pt x="517258" y="215900"/>
                  </a:lnTo>
                  <a:close/>
                </a:path>
                <a:path w="2820670" h="1587500">
                  <a:moveTo>
                    <a:pt x="39099" y="1553774"/>
                  </a:moveTo>
                  <a:lnTo>
                    <a:pt x="22158" y="1568387"/>
                  </a:lnTo>
                  <a:lnTo>
                    <a:pt x="25768" y="1574800"/>
                  </a:lnTo>
                  <a:lnTo>
                    <a:pt x="39099" y="1553774"/>
                  </a:lnTo>
                  <a:close/>
                </a:path>
                <a:path w="2820670" h="1587500">
                  <a:moveTo>
                    <a:pt x="52355" y="1532868"/>
                  </a:moveTo>
                  <a:lnTo>
                    <a:pt x="18618" y="1562100"/>
                  </a:lnTo>
                  <a:lnTo>
                    <a:pt x="22158" y="1568387"/>
                  </a:lnTo>
                  <a:lnTo>
                    <a:pt x="39099" y="1553774"/>
                  </a:lnTo>
                  <a:lnTo>
                    <a:pt x="52355" y="1532868"/>
                  </a:lnTo>
                  <a:close/>
                </a:path>
                <a:path w="2820670" h="1587500">
                  <a:moveTo>
                    <a:pt x="516966" y="1130300"/>
                  </a:moveTo>
                  <a:lnTo>
                    <a:pt x="52355" y="1532868"/>
                  </a:lnTo>
                  <a:lnTo>
                    <a:pt x="39099" y="1553774"/>
                  </a:lnTo>
                  <a:lnTo>
                    <a:pt x="507601" y="1149664"/>
                  </a:lnTo>
                  <a:lnTo>
                    <a:pt x="507441" y="1143000"/>
                  </a:lnTo>
                  <a:lnTo>
                    <a:pt x="517042" y="1143000"/>
                  </a:lnTo>
                  <a:lnTo>
                    <a:pt x="516966" y="1130300"/>
                  </a:lnTo>
                  <a:close/>
                </a:path>
                <a:path w="2820670" h="1587500">
                  <a:moveTo>
                    <a:pt x="2656840" y="1358900"/>
                  </a:moveTo>
                  <a:lnTo>
                    <a:pt x="671029" y="1358900"/>
                  </a:lnTo>
                  <a:lnTo>
                    <a:pt x="682078" y="1371600"/>
                  </a:lnTo>
                  <a:lnTo>
                    <a:pt x="2645791" y="1371600"/>
                  </a:lnTo>
                  <a:lnTo>
                    <a:pt x="2656840" y="1358900"/>
                  </a:lnTo>
                  <a:close/>
                </a:path>
                <a:path w="2820670" h="1587500">
                  <a:moveTo>
                    <a:pt x="663371" y="1346200"/>
                  </a:moveTo>
                  <a:lnTo>
                    <a:pt x="639318" y="1346200"/>
                  </a:lnTo>
                  <a:lnTo>
                    <a:pt x="649643" y="1358900"/>
                  </a:lnTo>
                  <a:lnTo>
                    <a:pt x="673976" y="1358900"/>
                  </a:lnTo>
                  <a:lnTo>
                    <a:pt x="663371" y="1346200"/>
                  </a:lnTo>
                  <a:close/>
                </a:path>
                <a:path w="2820670" h="1587500">
                  <a:moveTo>
                    <a:pt x="2688551" y="1346200"/>
                  </a:moveTo>
                  <a:lnTo>
                    <a:pt x="2664498" y="1346200"/>
                  </a:lnTo>
                  <a:lnTo>
                    <a:pt x="2653893" y="1358900"/>
                  </a:lnTo>
                  <a:lnTo>
                    <a:pt x="2678226" y="1358900"/>
                  </a:lnTo>
                  <a:lnTo>
                    <a:pt x="2688551" y="1346200"/>
                  </a:lnTo>
                  <a:close/>
                </a:path>
                <a:path w="2820670" h="1587500">
                  <a:moveTo>
                    <a:pt x="633729" y="1333500"/>
                  </a:moveTo>
                  <a:lnTo>
                    <a:pt x="610082" y="1333500"/>
                  </a:lnTo>
                  <a:lnTo>
                    <a:pt x="619531" y="1346200"/>
                  </a:lnTo>
                  <a:lnTo>
                    <a:pt x="643559" y="1346200"/>
                  </a:lnTo>
                  <a:lnTo>
                    <a:pt x="633729" y="1333500"/>
                  </a:lnTo>
                  <a:close/>
                </a:path>
                <a:path w="2820670" h="1587500">
                  <a:moveTo>
                    <a:pt x="2717787" y="1333500"/>
                  </a:moveTo>
                  <a:lnTo>
                    <a:pt x="2694139" y="1333500"/>
                  </a:lnTo>
                  <a:lnTo>
                    <a:pt x="2684310" y="1346200"/>
                  </a:lnTo>
                  <a:lnTo>
                    <a:pt x="2708338" y="1346200"/>
                  </a:lnTo>
                  <a:lnTo>
                    <a:pt x="2717787" y="1333500"/>
                  </a:lnTo>
                  <a:close/>
                </a:path>
                <a:path w="2820670" h="1587500">
                  <a:moveTo>
                    <a:pt x="598144" y="1308100"/>
                  </a:moveTo>
                  <a:lnTo>
                    <a:pt x="583717" y="1308100"/>
                  </a:lnTo>
                  <a:lnTo>
                    <a:pt x="592162" y="1320800"/>
                  </a:lnTo>
                  <a:lnTo>
                    <a:pt x="600964" y="1333500"/>
                  </a:lnTo>
                  <a:lnTo>
                    <a:pt x="624573" y="1333500"/>
                  </a:lnTo>
                  <a:lnTo>
                    <a:pt x="615327" y="1320800"/>
                  </a:lnTo>
                  <a:lnTo>
                    <a:pt x="606755" y="1320800"/>
                  </a:lnTo>
                  <a:lnTo>
                    <a:pt x="598144" y="1308100"/>
                  </a:lnTo>
                  <a:close/>
                </a:path>
                <a:path w="2820670" h="1587500">
                  <a:moveTo>
                    <a:pt x="2744152" y="1308100"/>
                  </a:moveTo>
                  <a:lnTo>
                    <a:pt x="2729725" y="1308100"/>
                  </a:lnTo>
                  <a:lnTo>
                    <a:pt x="2721114" y="1320800"/>
                  </a:lnTo>
                  <a:lnTo>
                    <a:pt x="2712542" y="1320800"/>
                  </a:lnTo>
                  <a:lnTo>
                    <a:pt x="2703296" y="1333500"/>
                  </a:lnTo>
                  <a:lnTo>
                    <a:pt x="2726905" y="1333500"/>
                  </a:lnTo>
                  <a:lnTo>
                    <a:pt x="2735706" y="1320800"/>
                  </a:lnTo>
                  <a:lnTo>
                    <a:pt x="2744152" y="1308100"/>
                  </a:lnTo>
                  <a:close/>
                </a:path>
                <a:path w="2820670" h="1587500">
                  <a:moveTo>
                    <a:pt x="582282" y="1295400"/>
                  </a:moveTo>
                  <a:lnTo>
                    <a:pt x="567918" y="1295400"/>
                  </a:lnTo>
                  <a:lnTo>
                    <a:pt x="575627" y="1308100"/>
                  </a:lnTo>
                  <a:lnTo>
                    <a:pt x="590207" y="1308100"/>
                  </a:lnTo>
                  <a:lnTo>
                    <a:pt x="582282" y="1295400"/>
                  </a:lnTo>
                  <a:close/>
                </a:path>
                <a:path w="2820670" h="1587500">
                  <a:moveTo>
                    <a:pt x="2759938" y="1295400"/>
                  </a:moveTo>
                  <a:lnTo>
                    <a:pt x="2745587" y="1295400"/>
                  </a:lnTo>
                  <a:lnTo>
                    <a:pt x="2737662" y="1308100"/>
                  </a:lnTo>
                  <a:lnTo>
                    <a:pt x="2752242" y="1308100"/>
                  </a:lnTo>
                  <a:lnTo>
                    <a:pt x="2759938" y="1295400"/>
                  </a:lnTo>
                  <a:close/>
                </a:path>
                <a:path w="2820670" h="1587500">
                  <a:moveTo>
                    <a:pt x="521474" y="1181100"/>
                  </a:moveTo>
                  <a:lnTo>
                    <a:pt x="511073" y="1181100"/>
                  </a:lnTo>
                  <a:lnTo>
                    <a:pt x="512178" y="1193800"/>
                  </a:lnTo>
                  <a:lnTo>
                    <a:pt x="514769" y="1193800"/>
                  </a:lnTo>
                  <a:lnTo>
                    <a:pt x="517905" y="1206500"/>
                  </a:lnTo>
                  <a:lnTo>
                    <a:pt x="521563" y="1219200"/>
                  </a:lnTo>
                  <a:lnTo>
                    <a:pt x="525741" y="1231900"/>
                  </a:lnTo>
                  <a:lnTo>
                    <a:pt x="530402" y="1244600"/>
                  </a:lnTo>
                  <a:lnTo>
                    <a:pt x="535546" y="1257300"/>
                  </a:lnTo>
                  <a:lnTo>
                    <a:pt x="541147" y="1257300"/>
                  </a:lnTo>
                  <a:lnTo>
                    <a:pt x="547204" y="1270000"/>
                  </a:lnTo>
                  <a:lnTo>
                    <a:pt x="553730" y="1282765"/>
                  </a:lnTo>
                  <a:lnTo>
                    <a:pt x="560603" y="1295400"/>
                  </a:lnTo>
                  <a:lnTo>
                    <a:pt x="575043" y="1295400"/>
                  </a:lnTo>
                  <a:lnTo>
                    <a:pt x="567917" y="1282765"/>
                  </a:lnTo>
                  <a:lnTo>
                    <a:pt x="568067" y="1282765"/>
                  </a:lnTo>
                  <a:lnTo>
                    <a:pt x="561251" y="1270000"/>
                  </a:lnTo>
                  <a:lnTo>
                    <a:pt x="555167" y="1270000"/>
                  </a:lnTo>
                  <a:lnTo>
                    <a:pt x="549224" y="1257300"/>
                  </a:lnTo>
                  <a:lnTo>
                    <a:pt x="543852" y="1244600"/>
                  </a:lnTo>
                  <a:lnTo>
                    <a:pt x="538937" y="1244600"/>
                  </a:lnTo>
                  <a:lnTo>
                    <a:pt x="534466" y="1231900"/>
                  </a:lnTo>
                  <a:lnTo>
                    <a:pt x="530478" y="1219200"/>
                  </a:lnTo>
                  <a:lnTo>
                    <a:pt x="526973" y="1206500"/>
                  </a:lnTo>
                  <a:lnTo>
                    <a:pt x="523963" y="1193800"/>
                  </a:lnTo>
                  <a:lnTo>
                    <a:pt x="521474" y="1181100"/>
                  </a:lnTo>
                  <a:close/>
                </a:path>
                <a:path w="2820670" h="1587500">
                  <a:moveTo>
                    <a:pt x="2774139" y="1282765"/>
                  </a:moveTo>
                  <a:lnTo>
                    <a:pt x="2759952" y="1282765"/>
                  </a:lnTo>
                  <a:lnTo>
                    <a:pt x="2752813" y="1295400"/>
                  </a:lnTo>
                  <a:lnTo>
                    <a:pt x="2767266" y="1295400"/>
                  </a:lnTo>
                  <a:lnTo>
                    <a:pt x="2774139" y="1282765"/>
                  </a:lnTo>
                  <a:close/>
                </a:path>
                <a:path w="2820670" h="1587500">
                  <a:moveTo>
                    <a:pt x="568067" y="1282765"/>
                  </a:moveTo>
                  <a:lnTo>
                    <a:pt x="567917" y="1282765"/>
                  </a:lnTo>
                  <a:lnTo>
                    <a:pt x="570653" y="1287616"/>
                  </a:lnTo>
                  <a:lnTo>
                    <a:pt x="568067" y="1282765"/>
                  </a:lnTo>
                  <a:close/>
                </a:path>
                <a:path w="2820670" h="1587500">
                  <a:moveTo>
                    <a:pt x="2816796" y="1181100"/>
                  </a:moveTo>
                  <a:lnTo>
                    <a:pt x="2806357" y="1181100"/>
                  </a:lnTo>
                  <a:lnTo>
                    <a:pt x="2803842" y="1193800"/>
                  </a:lnTo>
                  <a:lnTo>
                    <a:pt x="2800832" y="1206500"/>
                  </a:lnTo>
                  <a:lnTo>
                    <a:pt x="2797314" y="1219200"/>
                  </a:lnTo>
                  <a:lnTo>
                    <a:pt x="2793314" y="1231900"/>
                  </a:lnTo>
                  <a:lnTo>
                    <a:pt x="2788831" y="1244600"/>
                  </a:lnTo>
                  <a:lnTo>
                    <a:pt x="2783903" y="1244600"/>
                  </a:lnTo>
                  <a:lnTo>
                    <a:pt x="2778518" y="1257300"/>
                  </a:lnTo>
                  <a:lnTo>
                    <a:pt x="2772702" y="1270000"/>
                  </a:lnTo>
                  <a:lnTo>
                    <a:pt x="2766618" y="1270000"/>
                  </a:lnTo>
                  <a:lnTo>
                    <a:pt x="2757211" y="1287616"/>
                  </a:lnTo>
                  <a:lnTo>
                    <a:pt x="2759952" y="1282765"/>
                  </a:lnTo>
                  <a:lnTo>
                    <a:pt x="2774141" y="1282765"/>
                  </a:lnTo>
                  <a:lnTo>
                    <a:pt x="2780665" y="1270000"/>
                  </a:lnTo>
                  <a:lnTo>
                    <a:pt x="2786722" y="1257300"/>
                  </a:lnTo>
                  <a:lnTo>
                    <a:pt x="2792323" y="1257300"/>
                  </a:lnTo>
                  <a:lnTo>
                    <a:pt x="2797467" y="1244600"/>
                  </a:lnTo>
                  <a:lnTo>
                    <a:pt x="2802128" y="1231900"/>
                  </a:lnTo>
                  <a:lnTo>
                    <a:pt x="2806306" y="1219200"/>
                  </a:lnTo>
                  <a:lnTo>
                    <a:pt x="2809963" y="1206500"/>
                  </a:lnTo>
                  <a:lnTo>
                    <a:pt x="2813100" y="1193800"/>
                  </a:lnTo>
                  <a:lnTo>
                    <a:pt x="2815691" y="1193800"/>
                  </a:lnTo>
                  <a:lnTo>
                    <a:pt x="2816796" y="1181100"/>
                  </a:lnTo>
                  <a:close/>
                </a:path>
                <a:path w="2820670" h="1587500">
                  <a:moveTo>
                    <a:pt x="518769" y="1168400"/>
                  </a:moveTo>
                  <a:lnTo>
                    <a:pt x="509308" y="1168400"/>
                  </a:lnTo>
                  <a:lnTo>
                    <a:pt x="510120" y="1181100"/>
                  </a:lnTo>
                  <a:lnTo>
                    <a:pt x="519544" y="1181100"/>
                  </a:lnTo>
                  <a:lnTo>
                    <a:pt x="518769" y="1168400"/>
                  </a:lnTo>
                  <a:close/>
                </a:path>
                <a:path w="2820670" h="1587500">
                  <a:moveTo>
                    <a:pt x="2818561" y="1168400"/>
                  </a:moveTo>
                  <a:lnTo>
                    <a:pt x="2809113" y="1168400"/>
                  </a:lnTo>
                  <a:lnTo>
                    <a:pt x="2808338" y="1181100"/>
                  </a:lnTo>
                  <a:lnTo>
                    <a:pt x="2817749" y="1181100"/>
                  </a:lnTo>
                  <a:lnTo>
                    <a:pt x="2818561" y="1168400"/>
                  </a:lnTo>
                  <a:close/>
                </a:path>
                <a:path w="2820670" h="1587500">
                  <a:moveTo>
                    <a:pt x="517626" y="1155700"/>
                  </a:moveTo>
                  <a:lnTo>
                    <a:pt x="508114" y="1155700"/>
                  </a:lnTo>
                  <a:lnTo>
                    <a:pt x="508647" y="1168400"/>
                  </a:lnTo>
                  <a:lnTo>
                    <a:pt x="518121" y="1168400"/>
                  </a:lnTo>
                  <a:lnTo>
                    <a:pt x="517626" y="1155700"/>
                  </a:lnTo>
                  <a:close/>
                </a:path>
                <a:path w="2820670" h="1587500">
                  <a:moveTo>
                    <a:pt x="2819755" y="1155700"/>
                  </a:moveTo>
                  <a:lnTo>
                    <a:pt x="2810255" y="1155700"/>
                  </a:lnTo>
                  <a:lnTo>
                    <a:pt x="2809760" y="1168400"/>
                  </a:lnTo>
                  <a:lnTo>
                    <a:pt x="2819222" y="1168400"/>
                  </a:lnTo>
                  <a:lnTo>
                    <a:pt x="2819755" y="1155700"/>
                  </a:lnTo>
                  <a:close/>
                </a:path>
                <a:path w="2820670" h="1587500">
                  <a:moveTo>
                    <a:pt x="517042" y="1143000"/>
                  </a:moveTo>
                  <a:lnTo>
                    <a:pt x="515327" y="1143000"/>
                  </a:lnTo>
                  <a:lnTo>
                    <a:pt x="507601" y="1149664"/>
                  </a:lnTo>
                  <a:lnTo>
                    <a:pt x="507746" y="1155700"/>
                  </a:lnTo>
                  <a:lnTo>
                    <a:pt x="517258" y="1155700"/>
                  </a:lnTo>
                  <a:lnTo>
                    <a:pt x="517155" y="1149664"/>
                  </a:lnTo>
                  <a:lnTo>
                    <a:pt x="517042" y="1143000"/>
                  </a:lnTo>
                  <a:close/>
                </a:path>
                <a:path w="2820670" h="1587500">
                  <a:moveTo>
                    <a:pt x="2820123" y="215900"/>
                  </a:moveTo>
                  <a:lnTo>
                    <a:pt x="2810611" y="215900"/>
                  </a:lnTo>
                  <a:lnTo>
                    <a:pt x="2810611" y="1155700"/>
                  </a:lnTo>
                  <a:lnTo>
                    <a:pt x="2820123" y="1155700"/>
                  </a:lnTo>
                  <a:lnTo>
                    <a:pt x="2820232" y="1149664"/>
                  </a:lnTo>
                  <a:lnTo>
                    <a:pt x="2820352" y="228600"/>
                  </a:lnTo>
                  <a:lnTo>
                    <a:pt x="2820123" y="215900"/>
                  </a:lnTo>
                  <a:close/>
                </a:path>
                <a:path w="2820670" h="1587500">
                  <a:moveTo>
                    <a:pt x="515327" y="1143000"/>
                  </a:moveTo>
                  <a:lnTo>
                    <a:pt x="507441" y="1143000"/>
                  </a:lnTo>
                  <a:lnTo>
                    <a:pt x="507601" y="1149664"/>
                  </a:lnTo>
                  <a:lnTo>
                    <a:pt x="515327" y="1143000"/>
                  </a:lnTo>
                  <a:close/>
                </a:path>
                <a:path w="2820670" h="1587500">
                  <a:moveTo>
                    <a:pt x="518109" y="203200"/>
                  </a:moveTo>
                  <a:lnTo>
                    <a:pt x="508647" y="203200"/>
                  </a:lnTo>
                  <a:lnTo>
                    <a:pt x="508114" y="215900"/>
                  </a:lnTo>
                  <a:lnTo>
                    <a:pt x="517613" y="215900"/>
                  </a:lnTo>
                  <a:lnTo>
                    <a:pt x="518109" y="203200"/>
                  </a:lnTo>
                  <a:close/>
                </a:path>
                <a:path w="2820670" h="1587500">
                  <a:moveTo>
                    <a:pt x="2819222" y="203200"/>
                  </a:moveTo>
                  <a:lnTo>
                    <a:pt x="2809748" y="203200"/>
                  </a:lnTo>
                  <a:lnTo>
                    <a:pt x="2810243" y="215900"/>
                  </a:lnTo>
                  <a:lnTo>
                    <a:pt x="2819755" y="215900"/>
                  </a:lnTo>
                  <a:lnTo>
                    <a:pt x="2819222" y="203200"/>
                  </a:lnTo>
                  <a:close/>
                </a:path>
                <a:path w="2820670" h="1587500">
                  <a:moveTo>
                    <a:pt x="519531" y="190500"/>
                  </a:moveTo>
                  <a:lnTo>
                    <a:pt x="510120" y="190500"/>
                  </a:lnTo>
                  <a:lnTo>
                    <a:pt x="509308" y="203200"/>
                  </a:lnTo>
                  <a:lnTo>
                    <a:pt x="518756" y="203200"/>
                  </a:lnTo>
                  <a:lnTo>
                    <a:pt x="519531" y="190500"/>
                  </a:lnTo>
                  <a:close/>
                </a:path>
                <a:path w="2820670" h="1587500">
                  <a:moveTo>
                    <a:pt x="2817749" y="190500"/>
                  </a:moveTo>
                  <a:lnTo>
                    <a:pt x="2808325" y="190500"/>
                  </a:lnTo>
                  <a:lnTo>
                    <a:pt x="2809100" y="203200"/>
                  </a:lnTo>
                  <a:lnTo>
                    <a:pt x="2818561" y="203200"/>
                  </a:lnTo>
                  <a:lnTo>
                    <a:pt x="2817749" y="190500"/>
                  </a:lnTo>
                  <a:close/>
                </a:path>
                <a:path w="2820670" h="1587500">
                  <a:moveTo>
                    <a:pt x="575043" y="76200"/>
                  </a:moveTo>
                  <a:lnTo>
                    <a:pt x="560603" y="76200"/>
                  </a:lnTo>
                  <a:lnTo>
                    <a:pt x="553662" y="88963"/>
                  </a:lnTo>
                  <a:lnTo>
                    <a:pt x="547204" y="101600"/>
                  </a:lnTo>
                  <a:lnTo>
                    <a:pt x="541147" y="114300"/>
                  </a:lnTo>
                  <a:lnTo>
                    <a:pt x="535546" y="114300"/>
                  </a:lnTo>
                  <a:lnTo>
                    <a:pt x="530402" y="127000"/>
                  </a:lnTo>
                  <a:lnTo>
                    <a:pt x="525741" y="139700"/>
                  </a:lnTo>
                  <a:lnTo>
                    <a:pt x="521563" y="152400"/>
                  </a:lnTo>
                  <a:lnTo>
                    <a:pt x="517905" y="165100"/>
                  </a:lnTo>
                  <a:lnTo>
                    <a:pt x="514769" y="165100"/>
                  </a:lnTo>
                  <a:lnTo>
                    <a:pt x="512178" y="177800"/>
                  </a:lnTo>
                  <a:lnTo>
                    <a:pt x="511073" y="190500"/>
                  </a:lnTo>
                  <a:lnTo>
                    <a:pt x="521512" y="190500"/>
                  </a:lnTo>
                  <a:lnTo>
                    <a:pt x="524027" y="177800"/>
                  </a:lnTo>
                  <a:lnTo>
                    <a:pt x="527037" y="165100"/>
                  </a:lnTo>
                  <a:lnTo>
                    <a:pt x="530555" y="152400"/>
                  </a:lnTo>
                  <a:lnTo>
                    <a:pt x="534555" y="139700"/>
                  </a:lnTo>
                  <a:lnTo>
                    <a:pt x="539038" y="127000"/>
                  </a:lnTo>
                  <a:lnTo>
                    <a:pt x="543966" y="127000"/>
                  </a:lnTo>
                  <a:lnTo>
                    <a:pt x="549351" y="114300"/>
                  </a:lnTo>
                  <a:lnTo>
                    <a:pt x="555167" y="101600"/>
                  </a:lnTo>
                  <a:lnTo>
                    <a:pt x="561251" y="101600"/>
                  </a:lnTo>
                  <a:lnTo>
                    <a:pt x="567999" y="88963"/>
                  </a:lnTo>
                  <a:lnTo>
                    <a:pt x="567844" y="88963"/>
                  </a:lnTo>
                  <a:lnTo>
                    <a:pt x="575043" y="76200"/>
                  </a:lnTo>
                  <a:close/>
                </a:path>
                <a:path w="2820670" h="1587500">
                  <a:moveTo>
                    <a:pt x="2757211" y="83983"/>
                  </a:moveTo>
                  <a:lnTo>
                    <a:pt x="2766618" y="101600"/>
                  </a:lnTo>
                  <a:lnTo>
                    <a:pt x="2772829" y="101600"/>
                  </a:lnTo>
                  <a:lnTo>
                    <a:pt x="2778632" y="114300"/>
                  </a:lnTo>
                  <a:lnTo>
                    <a:pt x="2784005" y="127000"/>
                  </a:lnTo>
                  <a:lnTo>
                    <a:pt x="2788932" y="127000"/>
                  </a:lnTo>
                  <a:lnTo>
                    <a:pt x="2793403" y="139700"/>
                  </a:lnTo>
                  <a:lnTo>
                    <a:pt x="2797390" y="152400"/>
                  </a:lnTo>
                  <a:lnTo>
                    <a:pt x="2800896" y="165100"/>
                  </a:lnTo>
                  <a:lnTo>
                    <a:pt x="2803905" y="177800"/>
                  </a:lnTo>
                  <a:lnTo>
                    <a:pt x="2806395" y="190500"/>
                  </a:lnTo>
                  <a:lnTo>
                    <a:pt x="2816796" y="190500"/>
                  </a:lnTo>
                  <a:lnTo>
                    <a:pt x="2815691" y="177800"/>
                  </a:lnTo>
                  <a:lnTo>
                    <a:pt x="2813100" y="165100"/>
                  </a:lnTo>
                  <a:lnTo>
                    <a:pt x="2809963" y="165100"/>
                  </a:lnTo>
                  <a:lnTo>
                    <a:pt x="2806306" y="152400"/>
                  </a:lnTo>
                  <a:lnTo>
                    <a:pt x="2802128" y="139700"/>
                  </a:lnTo>
                  <a:lnTo>
                    <a:pt x="2797467" y="127000"/>
                  </a:lnTo>
                  <a:lnTo>
                    <a:pt x="2792323" y="114300"/>
                  </a:lnTo>
                  <a:lnTo>
                    <a:pt x="2786722" y="114300"/>
                  </a:lnTo>
                  <a:lnTo>
                    <a:pt x="2780665" y="101600"/>
                  </a:lnTo>
                  <a:lnTo>
                    <a:pt x="2774207" y="88963"/>
                  </a:lnTo>
                  <a:lnTo>
                    <a:pt x="2760025" y="88963"/>
                  </a:lnTo>
                  <a:lnTo>
                    <a:pt x="2757211" y="83983"/>
                  </a:lnTo>
                  <a:close/>
                </a:path>
                <a:path w="2820670" h="1587500">
                  <a:moveTo>
                    <a:pt x="570658" y="83983"/>
                  </a:moveTo>
                  <a:lnTo>
                    <a:pt x="567844" y="88963"/>
                  </a:lnTo>
                  <a:lnTo>
                    <a:pt x="567999" y="88963"/>
                  </a:lnTo>
                  <a:lnTo>
                    <a:pt x="570658" y="83983"/>
                  </a:lnTo>
                  <a:close/>
                </a:path>
                <a:path w="2820670" h="1587500">
                  <a:moveTo>
                    <a:pt x="2767266" y="76200"/>
                  </a:moveTo>
                  <a:lnTo>
                    <a:pt x="2752813" y="76200"/>
                  </a:lnTo>
                  <a:lnTo>
                    <a:pt x="2760025" y="88963"/>
                  </a:lnTo>
                  <a:lnTo>
                    <a:pt x="2774209" y="88963"/>
                  </a:lnTo>
                  <a:lnTo>
                    <a:pt x="2767266" y="76200"/>
                  </a:lnTo>
                  <a:close/>
                </a:path>
                <a:path w="2820670" h="1587500">
                  <a:moveTo>
                    <a:pt x="598255" y="50882"/>
                  </a:moveTo>
                  <a:lnTo>
                    <a:pt x="583664" y="50882"/>
                  </a:lnTo>
                  <a:lnTo>
                    <a:pt x="575582" y="63574"/>
                  </a:lnTo>
                  <a:lnTo>
                    <a:pt x="567918" y="76200"/>
                  </a:lnTo>
                  <a:lnTo>
                    <a:pt x="582282" y="76200"/>
                  </a:lnTo>
                  <a:lnTo>
                    <a:pt x="590160" y="63574"/>
                  </a:lnTo>
                  <a:lnTo>
                    <a:pt x="589993" y="63574"/>
                  </a:lnTo>
                  <a:lnTo>
                    <a:pt x="598255" y="50882"/>
                  </a:lnTo>
                  <a:close/>
                </a:path>
                <a:path w="2820670" h="1587500">
                  <a:moveTo>
                    <a:pt x="2733847" y="57385"/>
                  </a:moveTo>
                  <a:lnTo>
                    <a:pt x="2745587" y="76200"/>
                  </a:lnTo>
                  <a:lnTo>
                    <a:pt x="2759938" y="76200"/>
                  </a:lnTo>
                  <a:lnTo>
                    <a:pt x="2752287" y="63574"/>
                  </a:lnTo>
                  <a:lnTo>
                    <a:pt x="2737876" y="63574"/>
                  </a:lnTo>
                  <a:lnTo>
                    <a:pt x="2733847" y="57385"/>
                  </a:lnTo>
                  <a:close/>
                </a:path>
                <a:path w="2820670" h="1587500">
                  <a:moveTo>
                    <a:pt x="594022" y="57385"/>
                  </a:moveTo>
                  <a:lnTo>
                    <a:pt x="589993" y="63574"/>
                  </a:lnTo>
                  <a:lnTo>
                    <a:pt x="590160" y="63574"/>
                  </a:lnTo>
                  <a:lnTo>
                    <a:pt x="594022" y="57385"/>
                  </a:lnTo>
                  <a:close/>
                </a:path>
                <a:path w="2820670" h="1587500">
                  <a:moveTo>
                    <a:pt x="611391" y="43961"/>
                  </a:moveTo>
                  <a:lnTo>
                    <a:pt x="606519" y="50882"/>
                  </a:lnTo>
                  <a:lnTo>
                    <a:pt x="598308" y="50882"/>
                  </a:lnTo>
                  <a:lnTo>
                    <a:pt x="598224" y="57385"/>
                  </a:lnTo>
                  <a:lnTo>
                    <a:pt x="598143" y="63574"/>
                  </a:lnTo>
                  <a:lnTo>
                    <a:pt x="602290" y="57385"/>
                  </a:lnTo>
                  <a:lnTo>
                    <a:pt x="611391" y="43961"/>
                  </a:lnTo>
                  <a:close/>
                </a:path>
                <a:path w="2820670" h="1587500">
                  <a:moveTo>
                    <a:pt x="2716478" y="43961"/>
                  </a:moveTo>
                  <a:lnTo>
                    <a:pt x="2729775" y="63574"/>
                  </a:lnTo>
                  <a:lnTo>
                    <a:pt x="2729645" y="57385"/>
                  </a:lnTo>
                  <a:lnTo>
                    <a:pt x="2729561" y="50882"/>
                  </a:lnTo>
                  <a:lnTo>
                    <a:pt x="2721350" y="50882"/>
                  </a:lnTo>
                  <a:lnTo>
                    <a:pt x="2716478" y="43961"/>
                  </a:lnTo>
                  <a:close/>
                </a:path>
                <a:path w="2820670" h="1587500">
                  <a:moveTo>
                    <a:pt x="2744205" y="50882"/>
                  </a:moveTo>
                  <a:lnTo>
                    <a:pt x="2729613" y="50882"/>
                  </a:lnTo>
                  <a:lnTo>
                    <a:pt x="2737876" y="63574"/>
                  </a:lnTo>
                  <a:lnTo>
                    <a:pt x="2752289" y="63574"/>
                  </a:lnTo>
                  <a:lnTo>
                    <a:pt x="2744205" y="50882"/>
                  </a:lnTo>
                  <a:close/>
                </a:path>
                <a:path w="2820670" h="1587500">
                  <a:moveTo>
                    <a:pt x="615518" y="38100"/>
                  </a:moveTo>
                  <a:lnTo>
                    <a:pt x="600964" y="38100"/>
                  </a:lnTo>
                  <a:lnTo>
                    <a:pt x="592105" y="50882"/>
                  </a:lnTo>
                  <a:lnTo>
                    <a:pt x="606519" y="50882"/>
                  </a:lnTo>
                  <a:lnTo>
                    <a:pt x="615518" y="38100"/>
                  </a:lnTo>
                  <a:close/>
                </a:path>
                <a:path w="2820670" h="1587500">
                  <a:moveTo>
                    <a:pt x="2726905" y="38100"/>
                  </a:moveTo>
                  <a:lnTo>
                    <a:pt x="2712351" y="38100"/>
                  </a:lnTo>
                  <a:lnTo>
                    <a:pt x="2721350" y="50882"/>
                  </a:lnTo>
                  <a:lnTo>
                    <a:pt x="2735764" y="50882"/>
                  </a:lnTo>
                  <a:lnTo>
                    <a:pt x="2726905" y="38100"/>
                  </a:lnTo>
                  <a:close/>
                </a:path>
                <a:path w="2820670" h="1587500">
                  <a:moveTo>
                    <a:pt x="643559" y="25400"/>
                  </a:moveTo>
                  <a:lnTo>
                    <a:pt x="619531" y="25400"/>
                  </a:lnTo>
                  <a:lnTo>
                    <a:pt x="610082" y="38100"/>
                  </a:lnTo>
                  <a:lnTo>
                    <a:pt x="633729" y="38100"/>
                  </a:lnTo>
                  <a:lnTo>
                    <a:pt x="643559" y="25400"/>
                  </a:lnTo>
                  <a:close/>
                </a:path>
                <a:path w="2820670" h="1587500">
                  <a:moveTo>
                    <a:pt x="2708338" y="25400"/>
                  </a:moveTo>
                  <a:lnTo>
                    <a:pt x="2684310" y="25400"/>
                  </a:lnTo>
                  <a:lnTo>
                    <a:pt x="2694139" y="38100"/>
                  </a:lnTo>
                  <a:lnTo>
                    <a:pt x="2717787" y="38100"/>
                  </a:lnTo>
                  <a:lnTo>
                    <a:pt x="2708338" y="25400"/>
                  </a:lnTo>
                  <a:close/>
                </a:path>
                <a:path w="2820670" h="1587500">
                  <a:moveTo>
                    <a:pt x="673976" y="12700"/>
                  </a:moveTo>
                  <a:lnTo>
                    <a:pt x="649643" y="12700"/>
                  </a:lnTo>
                  <a:lnTo>
                    <a:pt x="639318" y="25400"/>
                  </a:lnTo>
                  <a:lnTo>
                    <a:pt x="663371" y="25400"/>
                  </a:lnTo>
                  <a:lnTo>
                    <a:pt x="673976" y="12700"/>
                  </a:lnTo>
                  <a:close/>
                </a:path>
                <a:path w="2820670" h="1587500">
                  <a:moveTo>
                    <a:pt x="2678226" y="12700"/>
                  </a:moveTo>
                  <a:lnTo>
                    <a:pt x="2653893" y="12700"/>
                  </a:lnTo>
                  <a:lnTo>
                    <a:pt x="2664498" y="25400"/>
                  </a:lnTo>
                  <a:lnTo>
                    <a:pt x="2688551" y="25400"/>
                  </a:lnTo>
                  <a:lnTo>
                    <a:pt x="2678226" y="12700"/>
                  </a:lnTo>
                  <a:close/>
                </a:path>
                <a:path w="2820670" h="1587500">
                  <a:moveTo>
                    <a:pt x="734441" y="0"/>
                  </a:moveTo>
                  <a:lnTo>
                    <a:pt x="682078" y="0"/>
                  </a:lnTo>
                  <a:lnTo>
                    <a:pt x="671029" y="12700"/>
                  </a:lnTo>
                  <a:lnTo>
                    <a:pt x="728713" y="12700"/>
                  </a:lnTo>
                  <a:lnTo>
                    <a:pt x="734441" y="0"/>
                  </a:lnTo>
                  <a:close/>
                </a:path>
                <a:path w="2820670" h="1587500">
                  <a:moveTo>
                    <a:pt x="2645791" y="0"/>
                  </a:moveTo>
                  <a:lnTo>
                    <a:pt x="2593314" y="0"/>
                  </a:lnTo>
                  <a:lnTo>
                    <a:pt x="2599042" y="12700"/>
                  </a:lnTo>
                  <a:lnTo>
                    <a:pt x="2656840" y="12700"/>
                  </a:lnTo>
                  <a:lnTo>
                    <a:pt x="26457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955790" y="4474845"/>
            <a:ext cx="25336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370">
                <a:solidFill>
                  <a:srgbClr val="0000FF"/>
                </a:solidFill>
                <a:latin typeface="Times New Roman"/>
                <a:cs typeface="Times New Roman"/>
              </a:rPr>
              <a:t>•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811327" y="2195322"/>
            <a:ext cx="2066289" cy="1675764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79375" marR="5080">
              <a:lnSpc>
                <a:spcPts val="1400"/>
              </a:lnSpc>
              <a:spcBef>
                <a:spcPts val="275"/>
              </a:spcBef>
            </a:pPr>
            <a:r>
              <a:rPr dirty="0" sz="1300" b="1">
                <a:latin typeface="Tahoma"/>
                <a:cs typeface="Tahoma"/>
              </a:rPr>
              <a:t>input</a:t>
            </a:r>
            <a:r>
              <a:rPr dirty="0" sz="1300" spc="-30" b="1">
                <a:latin typeface="Tahoma"/>
                <a:cs typeface="Tahoma"/>
              </a:rPr>
              <a:t> </a:t>
            </a:r>
            <a:r>
              <a:rPr dirty="0" sz="1300" b="1">
                <a:latin typeface="Tahoma"/>
                <a:cs typeface="Tahoma"/>
              </a:rPr>
              <a:t>space</a:t>
            </a:r>
            <a:r>
              <a:rPr dirty="0" sz="1300" spc="-30" b="1">
                <a:latin typeface="Tahoma"/>
                <a:cs typeface="Tahoma"/>
              </a:rPr>
              <a:t> </a:t>
            </a:r>
            <a:r>
              <a:rPr dirty="0" sz="1300" b="1">
                <a:latin typeface="Tahoma"/>
                <a:cs typeface="Tahoma"/>
              </a:rPr>
              <a:t>is</a:t>
            </a:r>
            <a:r>
              <a:rPr dirty="0" sz="1300" spc="-30" b="1">
                <a:latin typeface="Tahoma"/>
                <a:cs typeface="Tahoma"/>
              </a:rPr>
              <a:t> </a:t>
            </a:r>
            <a:r>
              <a:rPr dirty="0" sz="1300" spc="-10" b="1">
                <a:latin typeface="Tahoma"/>
                <a:cs typeface="Tahoma"/>
              </a:rPr>
              <a:t>divided </a:t>
            </a:r>
            <a:r>
              <a:rPr dirty="0" sz="1300" b="1">
                <a:latin typeface="Tahoma"/>
                <a:cs typeface="Tahoma"/>
              </a:rPr>
              <a:t>into</a:t>
            </a:r>
            <a:r>
              <a:rPr dirty="0" sz="1300" spc="-40" b="1">
                <a:latin typeface="Tahoma"/>
                <a:cs typeface="Tahoma"/>
              </a:rPr>
              <a:t> </a:t>
            </a:r>
            <a:r>
              <a:rPr dirty="0" sz="1300" b="1">
                <a:latin typeface="Tahoma"/>
                <a:cs typeface="Tahoma"/>
              </a:rPr>
              <a:t>a</a:t>
            </a:r>
            <a:r>
              <a:rPr dirty="0" sz="1300" spc="-30" b="1">
                <a:latin typeface="Tahoma"/>
                <a:cs typeface="Tahoma"/>
              </a:rPr>
              <a:t> </a:t>
            </a:r>
            <a:r>
              <a:rPr dirty="0" sz="1300" b="1">
                <a:latin typeface="Tahoma"/>
                <a:cs typeface="Tahoma"/>
              </a:rPr>
              <a:t>number</a:t>
            </a:r>
            <a:r>
              <a:rPr dirty="0" sz="1300" spc="-30" b="1">
                <a:latin typeface="Tahoma"/>
                <a:cs typeface="Tahoma"/>
              </a:rPr>
              <a:t> </a:t>
            </a:r>
            <a:r>
              <a:rPr dirty="0" sz="1300" spc="-25" b="1">
                <a:latin typeface="Tahoma"/>
                <a:cs typeface="Tahoma"/>
              </a:rPr>
              <a:t>of </a:t>
            </a:r>
            <a:r>
              <a:rPr dirty="0" sz="1300" b="1">
                <a:latin typeface="Tahoma"/>
                <a:cs typeface="Tahoma"/>
              </a:rPr>
              <a:t>distinct</a:t>
            </a:r>
            <a:r>
              <a:rPr dirty="0" sz="1300" spc="-45" b="1">
                <a:latin typeface="Tahoma"/>
                <a:cs typeface="Tahoma"/>
              </a:rPr>
              <a:t> </a:t>
            </a:r>
            <a:r>
              <a:rPr dirty="0" sz="1300" b="1">
                <a:latin typeface="Tahoma"/>
                <a:cs typeface="Tahoma"/>
              </a:rPr>
              <a:t>regions,</a:t>
            </a:r>
            <a:r>
              <a:rPr dirty="0" sz="1300" spc="-50" b="1">
                <a:latin typeface="Tahoma"/>
                <a:cs typeface="Tahoma"/>
              </a:rPr>
              <a:t> </a:t>
            </a:r>
            <a:r>
              <a:rPr dirty="0" sz="1300" b="1">
                <a:latin typeface="Tahoma"/>
                <a:cs typeface="Tahoma"/>
              </a:rPr>
              <a:t>and</a:t>
            </a:r>
            <a:r>
              <a:rPr dirty="0" sz="1300" spc="-40" b="1">
                <a:latin typeface="Tahoma"/>
                <a:cs typeface="Tahoma"/>
              </a:rPr>
              <a:t> </a:t>
            </a:r>
            <a:r>
              <a:rPr dirty="0" sz="1300" spc="-25" b="1">
                <a:latin typeface="Tahoma"/>
                <a:cs typeface="Tahoma"/>
              </a:rPr>
              <a:t>for </a:t>
            </a:r>
            <a:r>
              <a:rPr dirty="0" sz="1300" b="1">
                <a:latin typeface="Tahoma"/>
                <a:cs typeface="Tahoma"/>
              </a:rPr>
              <a:t>each</a:t>
            </a:r>
            <a:r>
              <a:rPr dirty="0" sz="1300" spc="-40" b="1">
                <a:latin typeface="Tahoma"/>
                <a:cs typeface="Tahoma"/>
              </a:rPr>
              <a:t> </a:t>
            </a:r>
            <a:r>
              <a:rPr dirty="0" sz="1300" b="1">
                <a:latin typeface="Tahoma"/>
                <a:cs typeface="Tahoma"/>
              </a:rPr>
              <a:t>region</a:t>
            </a:r>
            <a:r>
              <a:rPr dirty="0" sz="1300" spc="-35" b="1">
                <a:latin typeface="Tahoma"/>
                <a:cs typeface="Tahoma"/>
              </a:rPr>
              <a:t> </a:t>
            </a:r>
            <a:r>
              <a:rPr dirty="0" sz="1300" spc="-50" b="1">
                <a:latin typeface="Tahoma"/>
                <a:cs typeface="Tahoma"/>
              </a:rPr>
              <a:t>a </a:t>
            </a:r>
            <a:r>
              <a:rPr dirty="0" sz="1300" spc="-10" b="1">
                <a:latin typeface="Tahoma"/>
                <a:cs typeface="Tahoma"/>
              </a:rPr>
              <a:t>reconstruction </a:t>
            </a:r>
            <a:r>
              <a:rPr dirty="0" sz="1300" b="1">
                <a:latin typeface="Tahoma"/>
                <a:cs typeface="Tahoma"/>
              </a:rPr>
              <a:t>vector</a:t>
            </a:r>
            <a:r>
              <a:rPr dirty="0" sz="1300" spc="-5" b="1">
                <a:latin typeface="Tahoma"/>
                <a:cs typeface="Tahoma"/>
              </a:rPr>
              <a:t> </a:t>
            </a:r>
            <a:r>
              <a:rPr dirty="0" sz="1300" spc="-25" b="1">
                <a:latin typeface="Tahoma"/>
                <a:cs typeface="Tahoma"/>
              </a:rPr>
              <a:t>is </a:t>
            </a:r>
            <a:r>
              <a:rPr dirty="0" sz="1300" spc="-10" b="1">
                <a:latin typeface="Tahoma"/>
                <a:cs typeface="Tahoma"/>
              </a:rPr>
              <a:t>defined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ts val="4415"/>
              </a:lnSpc>
            </a:pPr>
            <a:r>
              <a:rPr dirty="0" sz="3900" spc="370">
                <a:solidFill>
                  <a:srgbClr val="0000FF"/>
                </a:solidFill>
                <a:latin typeface="Times New Roman"/>
                <a:cs typeface="Times New Roman"/>
              </a:rPr>
              <a:t>•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30240" y="3971607"/>
            <a:ext cx="25336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370">
                <a:solidFill>
                  <a:srgbClr val="0000FF"/>
                </a:solidFill>
                <a:latin typeface="Times New Roman"/>
                <a:cs typeface="Times New Roman"/>
              </a:rPr>
              <a:t>•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874702" y="5267007"/>
            <a:ext cx="25336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370">
                <a:solidFill>
                  <a:srgbClr val="0000FF"/>
                </a:solidFill>
                <a:latin typeface="Times New Roman"/>
                <a:cs typeface="Times New Roman"/>
              </a:rPr>
              <a:t>•</a:t>
            </a:r>
            <a:endParaRPr sz="390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137960" y="5751398"/>
            <a:ext cx="2255520" cy="635000"/>
            <a:chOff x="6137960" y="5751398"/>
            <a:chExt cx="2255520" cy="635000"/>
          </a:xfrm>
        </p:grpSpPr>
        <p:sp>
          <p:nvSpPr>
            <p:cNvPr id="17" name="object 17" descr=""/>
            <p:cNvSpPr/>
            <p:nvPr/>
          </p:nvSpPr>
          <p:spPr>
            <a:xfrm>
              <a:off x="6172199" y="5768340"/>
              <a:ext cx="2216150" cy="614680"/>
            </a:xfrm>
            <a:custGeom>
              <a:avLst/>
              <a:gdLst/>
              <a:ahLst/>
              <a:cxnLst/>
              <a:rect l="l" t="t" r="r" b="b"/>
              <a:pathLst>
                <a:path w="2216150" h="614679">
                  <a:moveTo>
                    <a:pt x="0" y="0"/>
                  </a:moveTo>
                  <a:lnTo>
                    <a:pt x="487679" y="318516"/>
                  </a:lnTo>
                  <a:lnTo>
                    <a:pt x="487679" y="528828"/>
                  </a:lnTo>
                  <a:lnTo>
                    <a:pt x="494108" y="561847"/>
                  </a:lnTo>
                  <a:lnTo>
                    <a:pt x="512044" y="588807"/>
                  </a:lnTo>
                  <a:lnTo>
                    <a:pt x="538754" y="607112"/>
                  </a:lnTo>
                  <a:lnTo>
                    <a:pt x="571500" y="614172"/>
                  </a:lnTo>
                  <a:lnTo>
                    <a:pt x="2132076" y="614172"/>
                  </a:lnTo>
                  <a:lnTo>
                    <a:pt x="2164786" y="607112"/>
                  </a:lnTo>
                  <a:lnTo>
                    <a:pt x="2191483" y="588807"/>
                  </a:lnTo>
                  <a:lnTo>
                    <a:pt x="2209432" y="561847"/>
                  </a:lnTo>
                  <a:lnTo>
                    <a:pt x="2215896" y="528828"/>
                  </a:lnTo>
                  <a:lnTo>
                    <a:pt x="2215896" y="192024"/>
                  </a:lnTo>
                  <a:lnTo>
                    <a:pt x="2216150" y="192722"/>
                  </a:lnTo>
                  <a:lnTo>
                    <a:pt x="2209539" y="159965"/>
                  </a:lnTo>
                  <a:lnTo>
                    <a:pt x="2191515" y="133180"/>
                  </a:lnTo>
                  <a:lnTo>
                    <a:pt x="2164790" y="115036"/>
                  </a:lnTo>
                  <a:lnTo>
                    <a:pt x="2132076" y="108204"/>
                  </a:lnTo>
                  <a:lnTo>
                    <a:pt x="571500" y="108204"/>
                  </a:lnTo>
                  <a:lnTo>
                    <a:pt x="538754" y="115025"/>
                  </a:lnTo>
                  <a:lnTo>
                    <a:pt x="512044" y="133092"/>
                  </a:lnTo>
                  <a:lnTo>
                    <a:pt x="494108" y="159671"/>
                  </a:lnTo>
                  <a:lnTo>
                    <a:pt x="487679" y="192024"/>
                  </a:lnTo>
                  <a:lnTo>
                    <a:pt x="487362" y="192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137960" y="5751398"/>
              <a:ext cx="2255520" cy="635000"/>
            </a:xfrm>
            <a:custGeom>
              <a:avLst/>
              <a:gdLst/>
              <a:ahLst/>
              <a:cxnLst/>
              <a:rect l="l" t="t" r="r" b="b"/>
              <a:pathLst>
                <a:path w="2255520" h="635000">
                  <a:moveTo>
                    <a:pt x="516840" y="338950"/>
                  </a:moveTo>
                  <a:lnTo>
                    <a:pt x="516953" y="551179"/>
                  </a:lnTo>
                  <a:lnTo>
                    <a:pt x="520839" y="572769"/>
                  </a:lnTo>
                  <a:lnTo>
                    <a:pt x="522236" y="577849"/>
                  </a:lnTo>
                  <a:lnTo>
                    <a:pt x="534504" y="599439"/>
                  </a:lnTo>
                  <a:lnTo>
                    <a:pt x="537133" y="603249"/>
                  </a:lnTo>
                  <a:lnTo>
                    <a:pt x="539927" y="607059"/>
                  </a:lnTo>
                  <a:lnTo>
                    <a:pt x="542874" y="609599"/>
                  </a:lnTo>
                  <a:lnTo>
                    <a:pt x="546037" y="612231"/>
                  </a:lnTo>
                  <a:lnTo>
                    <a:pt x="549186" y="615949"/>
                  </a:lnTo>
                  <a:lnTo>
                    <a:pt x="552538" y="618489"/>
                  </a:lnTo>
                  <a:lnTo>
                    <a:pt x="556031" y="621029"/>
                  </a:lnTo>
                  <a:lnTo>
                    <a:pt x="559638" y="622299"/>
                  </a:lnTo>
                  <a:lnTo>
                    <a:pt x="563359" y="624839"/>
                  </a:lnTo>
                  <a:lnTo>
                    <a:pt x="567194" y="627379"/>
                  </a:lnTo>
                  <a:lnTo>
                    <a:pt x="571131" y="628649"/>
                  </a:lnTo>
                  <a:lnTo>
                    <a:pt x="579297" y="631189"/>
                  </a:lnTo>
                  <a:lnTo>
                    <a:pt x="592201" y="634999"/>
                  </a:lnTo>
                  <a:lnTo>
                    <a:pt x="2179789" y="634999"/>
                  </a:lnTo>
                  <a:lnTo>
                    <a:pt x="2192693" y="631189"/>
                  </a:lnTo>
                  <a:lnTo>
                    <a:pt x="2200859" y="628649"/>
                  </a:lnTo>
                  <a:lnTo>
                    <a:pt x="2204796" y="627379"/>
                  </a:lnTo>
                  <a:lnTo>
                    <a:pt x="2206713" y="626109"/>
                  </a:lnTo>
                  <a:lnTo>
                    <a:pt x="597738" y="626109"/>
                  </a:lnTo>
                  <a:lnTo>
                    <a:pt x="593521" y="624839"/>
                  </a:lnTo>
                  <a:lnTo>
                    <a:pt x="589851" y="624839"/>
                  </a:lnTo>
                  <a:lnTo>
                    <a:pt x="585774" y="623569"/>
                  </a:lnTo>
                  <a:lnTo>
                    <a:pt x="586016" y="623569"/>
                  </a:lnTo>
                  <a:lnTo>
                    <a:pt x="582015" y="622299"/>
                  </a:lnTo>
                  <a:lnTo>
                    <a:pt x="582244" y="622299"/>
                  </a:lnTo>
                  <a:lnTo>
                    <a:pt x="578332" y="621029"/>
                  </a:lnTo>
                  <a:lnTo>
                    <a:pt x="578548" y="621029"/>
                  </a:lnTo>
                  <a:lnTo>
                    <a:pt x="574738" y="619759"/>
                  </a:lnTo>
                  <a:lnTo>
                    <a:pt x="574954" y="619759"/>
                  </a:lnTo>
                  <a:lnTo>
                    <a:pt x="571220" y="618489"/>
                  </a:lnTo>
                  <a:lnTo>
                    <a:pt x="571436" y="618489"/>
                  </a:lnTo>
                  <a:lnTo>
                    <a:pt x="568199" y="617358"/>
                  </a:lnTo>
                  <a:lnTo>
                    <a:pt x="568037" y="617358"/>
                  </a:lnTo>
                  <a:lnTo>
                    <a:pt x="567873" y="617123"/>
                  </a:lnTo>
                  <a:lnTo>
                    <a:pt x="564476" y="614679"/>
                  </a:lnTo>
                  <a:lnTo>
                    <a:pt x="564680" y="614679"/>
                  </a:lnTo>
                  <a:lnTo>
                    <a:pt x="561386" y="612231"/>
                  </a:lnTo>
                  <a:lnTo>
                    <a:pt x="561747" y="612231"/>
                  </a:lnTo>
                  <a:lnTo>
                    <a:pt x="558593" y="611039"/>
                  </a:lnTo>
                  <a:lnTo>
                    <a:pt x="558379" y="611039"/>
                  </a:lnTo>
                  <a:lnTo>
                    <a:pt x="558226" y="610777"/>
                  </a:lnTo>
                  <a:lnTo>
                    <a:pt x="555167" y="608329"/>
                  </a:lnTo>
                  <a:lnTo>
                    <a:pt x="555332" y="608329"/>
                  </a:lnTo>
                  <a:lnTo>
                    <a:pt x="552284" y="605789"/>
                  </a:lnTo>
                  <a:lnTo>
                    <a:pt x="552450" y="605789"/>
                  </a:lnTo>
                  <a:lnTo>
                    <a:pt x="549528" y="603249"/>
                  </a:lnTo>
                  <a:lnTo>
                    <a:pt x="549694" y="603249"/>
                  </a:lnTo>
                  <a:lnTo>
                    <a:pt x="547312" y="601084"/>
                  </a:lnTo>
                  <a:lnTo>
                    <a:pt x="543949" y="596234"/>
                  </a:lnTo>
                  <a:lnTo>
                    <a:pt x="542519" y="594822"/>
                  </a:lnTo>
                  <a:lnTo>
                    <a:pt x="542244" y="594429"/>
                  </a:lnTo>
                  <a:lnTo>
                    <a:pt x="540634" y="591819"/>
                  </a:lnTo>
                  <a:lnTo>
                    <a:pt x="539978" y="591819"/>
                  </a:lnTo>
                  <a:lnTo>
                    <a:pt x="537794" y="588009"/>
                  </a:lnTo>
                  <a:lnTo>
                    <a:pt x="535889" y="584199"/>
                  </a:lnTo>
                  <a:lnTo>
                    <a:pt x="534136" y="581659"/>
                  </a:lnTo>
                  <a:lnTo>
                    <a:pt x="526367" y="340359"/>
                  </a:lnTo>
                  <a:lnTo>
                    <a:pt x="518998" y="340359"/>
                  </a:lnTo>
                  <a:lnTo>
                    <a:pt x="516840" y="338950"/>
                  </a:lnTo>
                  <a:close/>
                </a:path>
                <a:path w="2255520" h="635000">
                  <a:moveTo>
                    <a:pt x="2232139" y="590549"/>
                  </a:moveTo>
                  <a:lnTo>
                    <a:pt x="2229504" y="594822"/>
                  </a:lnTo>
                  <a:lnTo>
                    <a:pt x="2227907" y="596428"/>
                  </a:lnTo>
                  <a:lnTo>
                    <a:pt x="2224678" y="601084"/>
                  </a:lnTo>
                  <a:lnTo>
                    <a:pt x="2222296" y="603249"/>
                  </a:lnTo>
                  <a:lnTo>
                    <a:pt x="2222461" y="603249"/>
                  </a:lnTo>
                  <a:lnTo>
                    <a:pt x="2219540" y="605789"/>
                  </a:lnTo>
                  <a:lnTo>
                    <a:pt x="2219705" y="605789"/>
                  </a:lnTo>
                  <a:lnTo>
                    <a:pt x="2216658" y="608329"/>
                  </a:lnTo>
                  <a:lnTo>
                    <a:pt x="2216823" y="608329"/>
                  </a:lnTo>
                  <a:lnTo>
                    <a:pt x="2213764" y="610777"/>
                  </a:lnTo>
                  <a:lnTo>
                    <a:pt x="2213611" y="611039"/>
                  </a:lnTo>
                  <a:lnTo>
                    <a:pt x="2213436" y="611039"/>
                  </a:lnTo>
                  <a:lnTo>
                    <a:pt x="2210289" y="612231"/>
                  </a:lnTo>
                  <a:lnTo>
                    <a:pt x="2210604" y="612231"/>
                  </a:lnTo>
                  <a:lnTo>
                    <a:pt x="2207310" y="614679"/>
                  </a:lnTo>
                  <a:lnTo>
                    <a:pt x="2207501" y="614679"/>
                  </a:lnTo>
                  <a:lnTo>
                    <a:pt x="2204116" y="617123"/>
                  </a:lnTo>
                  <a:lnTo>
                    <a:pt x="2203953" y="617358"/>
                  </a:lnTo>
                  <a:lnTo>
                    <a:pt x="2203791" y="617358"/>
                  </a:lnTo>
                  <a:lnTo>
                    <a:pt x="2200554" y="618489"/>
                  </a:lnTo>
                  <a:lnTo>
                    <a:pt x="2200770" y="618489"/>
                  </a:lnTo>
                  <a:lnTo>
                    <a:pt x="2197036" y="619759"/>
                  </a:lnTo>
                  <a:lnTo>
                    <a:pt x="2197252" y="619759"/>
                  </a:lnTo>
                  <a:lnTo>
                    <a:pt x="2193429" y="621029"/>
                  </a:lnTo>
                  <a:lnTo>
                    <a:pt x="2193658" y="621029"/>
                  </a:lnTo>
                  <a:lnTo>
                    <a:pt x="2189746" y="622299"/>
                  </a:lnTo>
                  <a:lnTo>
                    <a:pt x="2189975" y="622299"/>
                  </a:lnTo>
                  <a:lnTo>
                    <a:pt x="2185974" y="623569"/>
                  </a:lnTo>
                  <a:lnTo>
                    <a:pt x="2186216" y="623569"/>
                  </a:lnTo>
                  <a:lnTo>
                    <a:pt x="2182139" y="624839"/>
                  </a:lnTo>
                  <a:lnTo>
                    <a:pt x="2178469" y="624839"/>
                  </a:lnTo>
                  <a:lnTo>
                    <a:pt x="2174252" y="626109"/>
                  </a:lnTo>
                  <a:lnTo>
                    <a:pt x="2206713" y="626109"/>
                  </a:lnTo>
                  <a:lnTo>
                    <a:pt x="2208631" y="624839"/>
                  </a:lnTo>
                  <a:lnTo>
                    <a:pt x="2212352" y="622299"/>
                  </a:lnTo>
                  <a:lnTo>
                    <a:pt x="2215959" y="621029"/>
                  </a:lnTo>
                  <a:lnTo>
                    <a:pt x="2219452" y="618489"/>
                  </a:lnTo>
                  <a:lnTo>
                    <a:pt x="2220945" y="617358"/>
                  </a:lnTo>
                  <a:lnTo>
                    <a:pt x="2203953" y="617358"/>
                  </a:lnTo>
                  <a:lnTo>
                    <a:pt x="2204116" y="617123"/>
                  </a:lnTo>
                  <a:lnTo>
                    <a:pt x="2221255" y="617123"/>
                  </a:lnTo>
                  <a:lnTo>
                    <a:pt x="2222804" y="615949"/>
                  </a:lnTo>
                  <a:lnTo>
                    <a:pt x="2225953" y="612231"/>
                  </a:lnTo>
                  <a:lnTo>
                    <a:pt x="2227368" y="611039"/>
                  </a:lnTo>
                  <a:lnTo>
                    <a:pt x="2213611" y="611039"/>
                  </a:lnTo>
                  <a:lnTo>
                    <a:pt x="2213764" y="610777"/>
                  </a:lnTo>
                  <a:lnTo>
                    <a:pt x="2227686" y="610777"/>
                  </a:lnTo>
                  <a:lnTo>
                    <a:pt x="2229116" y="609599"/>
                  </a:lnTo>
                  <a:lnTo>
                    <a:pt x="2232063" y="607059"/>
                  </a:lnTo>
                  <a:lnTo>
                    <a:pt x="2234844" y="603249"/>
                  </a:lnTo>
                  <a:lnTo>
                    <a:pt x="2237486" y="599439"/>
                  </a:lnTo>
                  <a:lnTo>
                    <a:pt x="2239892" y="596971"/>
                  </a:lnTo>
                  <a:lnTo>
                    <a:pt x="2240248" y="596428"/>
                  </a:lnTo>
                  <a:lnTo>
                    <a:pt x="2242273" y="593089"/>
                  </a:lnTo>
                  <a:lnTo>
                    <a:pt x="2242989" y="591819"/>
                  </a:lnTo>
                  <a:lnTo>
                    <a:pt x="2232012" y="591819"/>
                  </a:lnTo>
                  <a:lnTo>
                    <a:pt x="2232139" y="590549"/>
                  </a:lnTo>
                  <a:close/>
                </a:path>
                <a:path w="2255520" h="635000">
                  <a:moveTo>
                    <a:pt x="567873" y="617123"/>
                  </a:moveTo>
                  <a:lnTo>
                    <a:pt x="568037" y="617358"/>
                  </a:lnTo>
                  <a:lnTo>
                    <a:pt x="568199" y="617358"/>
                  </a:lnTo>
                  <a:lnTo>
                    <a:pt x="567873" y="617123"/>
                  </a:lnTo>
                  <a:close/>
                </a:path>
                <a:path w="2255520" h="635000">
                  <a:moveTo>
                    <a:pt x="558226" y="610777"/>
                  </a:moveTo>
                  <a:lnTo>
                    <a:pt x="558379" y="611039"/>
                  </a:lnTo>
                  <a:lnTo>
                    <a:pt x="558554" y="611039"/>
                  </a:lnTo>
                  <a:lnTo>
                    <a:pt x="558226" y="610777"/>
                  </a:lnTo>
                  <a:close/>
                </a:path>
                <a:path w="2255520" h="635000">
                  <a:moveTo>
                    <a:pt x="544098" y="596428"/>
                  </a:moveTo>
                  <a:lnTo>
                    <a:pt x="544460" y="596971"/>
                  </a:lnTo>
                  <a:lnTo>
                    <a:pt x="544633" y="596971"/>
                  </a:lnTo>
                  <a:lnTo>
                    <a:pt x="544098" y="596428"/>
                  </a:lnTo>
                  <a:close/>
                </a:path>
                <a:path w="2255520" h="635000">
                  <a:moveTo>
                    <a:pt x="2227892" y="596428"/>
                  </a:moveTo>
                  <a:lnTo>
                    <a:pt x="2227357" y="596971"/>
                  </a:lnTo>
                  <a:lnTo>
                    <a:pt x="2227517" y="596971"/>
                  </a:lnTo>
                  <a:lnTo>
                    <a:pt x="2227892" y="596428"/>
                  </a:lnTo>
                  <a:close/>
                </a:path>
                <a:path w="2255520" h="635000">
                  <a:moveTo>
                    <a:pt x="539851" y="590549"/>
                  </a:moveTo>
                  <a:lnTo>
                    <a:pt x="539978" y="591819"/>
                  </a:lnTo>
                  <a:lnTo>
                    <a:pt x="540634" y="591819"/>
                  </a:lnTo>
                  <a:lnTo>
                    <a:pt x="539851" y="590549"/>
                  </a:lnTo>
                  <a:close/>
                </a:path>
                <a:path w="2255520" h="635000">
                  <a:moveTo>
                    <a:pt x="2248166" y="175259"/>
                  </a:moveTo>
                  <a:lnTo>
                    <a:pt x="2237752" y="175259"/>
                  </a:lnTo>
                  <a:lnTo>
                    <a:pt x="2239441" y="179069"/>
                  </a:lnTo>
                  <a:lnTo>
                    <a:pt x="2240851" y="182879"/>
                  </a:lnTo>
                  <a:lnTo>
                    <a:pt x="2245525" y="205739"/>
                  </a:lnTo>
                  <a:lnTo>
                    <a:pt x="2245512" y="551179"/>
                  </a:lnTo>
                  <a:lnTo>
                    <a:pt x="2236000" y="584199"/>
                  </a:lnTo>
                  <a:lnTo>
                    <a:pt x="2234082" y="588009"/>
                  </a:lnTo>
                  <a:lnTo>
                    <a:pt x="2232012" y="591819"/>
                  </a:lnTo>
                  <a:lnTo>
                    <a:pt x="2242989" y="591819"/>
                  </a:lnTo>
                  <a:lnTo>
                    <a:pt x="2251151" y="572769"/>
                  </a:lnTo>
                  <a:lnTo>
                    <a:pt x="2252357" y="568959"/>
                  </a:lnTo>
                  <a:lnTo>
                    <a:pt x="2253348" y="565149"/>
                  </a:lnTo>
                  <a:lnTo>
                    <a:pt x="2254694" y="556259"/>
                  </a:lnTo>
                  <a:lnTo>
                    <a:pt x="2255037" y="551179"/>
                  </a:lnTo>
                  <a:lnTo>
                    <a:pt x="2255037" y="205739"/>
                  </a:lnTo>
                  <a:lnTo>
                    <a:pt x="2249754" y="180339"/>
                  </a:lnTo>
                  <a:lnTo>
                    <a:pt x="2248166" y="175259"/>
                  </a:lnTo>
                  <a:close/>
                </a:path>
                <a:path w="2255520" h="635000">
                  <a:moveTo>
                    <a:pt x="516839" y="336549"/>
                  </a:moveTo>
                  <a:lnTo>
                    <a:pt x="516840" y="338950"/>
                  </a:lnTo>
                  <a:lnTo>
                    <a:pt x="518998" y="340359"/>
                  </a:lnTo>
                  <a:lnTo>
                    <a:pt x="516839" y="336549"/>
                  </a:lnTo>
                  <a:close/>
                </a:path>
                <a:path w="2255520" h="635000">
                  <a:moveTo>
                    <a:pt x="526365" y="336549"/>
                  </a:moveTo>
                  <a:lnTo>
                    <a:pt x="516839" y="336549"/>
                  </a:lnTo>
                  <a:lnTo>
                    <a:pt x="518998" y="340359"/>
                  </a:lnTo>
                  <a:lnTo>
                    <a:pt x="526367" y="340359"/>
                  </a:lnTo>
                  <a:lnTo>
                    <a:pt x="526365" y="336549"/>
                  </a:lnTo>
                  <a:close/>
                </a:path>
                <a:path w="2255520" h="635000">
                  <a:moveTo>
                    <a:pt x="33851" y="23387"/>
                  </a:moveTo>
                  <a:lnTo>
                    <a:pt x="516840" y="338950"/>
                  </a:lnTo>
                  <a:lnTo>
                    <a:pt x="516839" y="336549"/>
                  </a:lnTo>
                  <a:lnTo>
                    <a:pt x="526365" y="336549"/>
                  </a:lnTo>
                  <a:lnTo>
                    <a:pt x="526364" y="334009"/>
                  </a:lnTo>
                  <a:lnTo>
                    <a:pt x="77567" y="40587"/>
                  </a:lnTo>
                  <a:lnTo>
                    <a:pt x="33851" y="23387"/>
                  </a:lnTo>
                  <a:close/>
                </a:path>
                <a:path w="2255520" h="635000">
                  <a:moveTo>
                    <a:pt x="37687" y="14513"/>
                  </a:moveTo>
                  <a:lnTo>
                    <a:pt x="77567" y="40587"/>
                  </a:lnTo>
                  <a:lnTo>
                    <a:pt x="526364" y="217169"/>
                  </a:lnTo>
                  <a:lnTo>
                    <a:pt x="526364" y="210819"/>
                  </a:lnTo>
                  <a:lnTo>
                    <a:pt x="516839" y="210819"/>
                  </a:lnTo>
                  <a:lnTo>
                    <a:pt x="516953" y="205739"/>
                  </a:lnTo>
                  <a:lnTo>
                    <a:pt x="517119" y="203285"/>
                  </a:lnTo>
                  <a:lnTo>
                    <a:pt x="37687" y="14513"/>
                  </a:lnTo>
                  <a:close/>
                </a:path>
                <a:path w="2255520" h="635000">
                  <a:moveTo>
                    <a:pt x="517119" y="203285"/>
                  </a:moveTo>
                  <a:lnTo>
                    <a:pt x="516953" y="205739"/>
                  </a:lnTo>
                  <a:lnTo>
                    <a:pt x="516839" y="210819"/>
                  </a:lnTo>
                  <a:lnTo>
                    <a:pt x="523354" y="205739"/>
                  </a:lnTo>
                  <a:lnTo>
                    <a:pt x="517119" y="203285"/>
                  </a:lnTo>
                  <a:close/>
                </a:path>
                <a:path w="2255520" h="635000">
                  <a:moveTo>
                    <a:pt x="571292" y="138531"/>
                  </a:moveTo>
                  <a:lnTo>
                    <a:pt x="552449" y="138531"/>
                  </a:lnTo>
                  <a:lnTo>
                    <a:pt x="550141" y="141153"/>
                  </a:lnTo>
                  <a:lnTo>
                    <a:pt x="549062" y="142337"/>
                  </a:lnTo>
                  <a:lnTo>
                    <a:pt x="545960" y="144779"/>
                  </a:lnTo>
                  <a:lnTo>
                    <a:pt x="542874" y="147319"/>
                  </a:lnTo>
                  <a:lnTo>
                    <a:pt x="539927" y="151129"/>
                  </a:lnTo>
                  <a:lnTo>
                    <a:pt x="537569" y="153273"/>
                  </a:lnTo>
                  <a:lnTo>
                    <a:pt x="537079" y="153748"/>
                  </a:lnTo>
                  <a:lnTo>
                    <a:pt x="534504" y="157479"/>
                  </a:lnTo>
                  <a:lnTo>
                    <a:pt x="531981" y="160096"/>
                  </a:lnTo>
                  <a:lnTo>
                    <a:pt x="522236" y="180339"/>
                  </a:lnTo>
                  <a:lnTo>
                    <a:pt x="520839" y="184149"/>
                  </a:lnTo>
                  <a:lnTo>
                    <a:pt x="517119" y="203285"/>
                  </a:lnTo>
                  <a:lnTo>
                    <a:pt x="523354" y="205739"/>
                  </a:lnTo>
                  <a:lnTo>
                    <a:pt x="516839" y="210819"/>
                  </a:lnTo>
                  <a:lnTo>
                    <a:pt x="526364" y="210819"/>
                  </a:lnTo>
                  <a:lnTo>
                    <a:pt x="526465" y="205739"/>
                  </a:lnTo>
                  <a:lnTo>
                    <a:pt x="526670" y="203285"/>
                  </a:lnTo>
                  <a:lnTo>
                    <a:pt x="534238" y="175259"/>
                  </a:lnTo>
                  <a:lnTo>
                    <a:pt x="534754" y="175259"/>
                  </a:lnTo>
                  <a:lnTo>
                    <a:pt x="535990" y="172719"/>
                  </a:lnTo>
                  <a:lnTo>
                    <a:pt x="537908" y="168909"/>
                  </a:lnTo>
                  <a:lnTo>
                    <a:pt x="539978" y="166369"/>
                  </a:lnTo>
                  <a:lnTo>
                    <a:pt x="542403" y="162212"/>
                  </a:lnTo>
                  <a:lnTo>
                    <a:pt x="544048" y="160542"/>
                  </a:lnTo>
                  <a:lnTo>
                    <a:pt x="547052" y="156209"/>
                  </a:lnTo>
                  <a:lnTo>
                    <a:pt x="547831" y="156209"/>
                  </a:lnTo>
                  <a:lnTo>
                    <a:pt x="549636" y="153748"/>
                  </a:lnTo>
                  <a:lnTo>
                    <a:pt x="549438" y="153748"/>
                  </a:lnTo>
                  <a:lnTo>
                    <a:pt x="552450" y="151129"/>
                  </a:lnTo>
                  <a:lnTo>
                    <a:pt x="552284" y="151129"/>
                  </a:lnTo>
                  <a:lnTo>
                    <a:pt x="555332" y="148589"/>
                  </a:lnTo>
                  <a:lnTo>
                    <a:pt x="555167" y="148589"/>
                  </a:lnTo>
                  <a:lnTo>
                    <a:pt x="558342" y="146049"/>
                  </a:lnTo>
                  <a:lnTo>
                    <a:pt x="559803" y="146049"/>
                  </a:lnTo>
                  <a:lnTo>
                    <a:pt x="561454" y="144779"/>
                  </a:lnTo>
                  <a:lnTo>
                    <a:pt x="561263" y="144779"/>
                  </a:lnTo>
                  <a:lnTo>
                    <a:pt x="564549" y="142337"/>
                  </a:lnTo>
                  <a:lnTo>
                    <a:pt x="564153" y="142337"/>
                  </a:lnTo>
                  <a:lnTo>
                    <a:pt x="567494" y="141153"/>
                  </a:lnTo>
                  <a:lnTo>
                    <a:pt x="567940" y="140874"/>
                  </a:lnTo>
                  <a:lnTo>
                    <a:pt x="571292" y="138531"/>
                  </a:lnTo>
                  <a:close/>
                </a:path>
                <a:path w="2255520" h="635000">
                  <a:moveTo>
                    <a:pt x="534754" y="175259"/>
                  </a:moveTo>
                  <a:lnTo>
                    <a:pt x="534238" y="175259"/>
                  </a:lnTo>
                  <a:lnTo>
                    <a:pt x="534136" y="176529"/>
                  </a:lnTo>
                  <a:lnTo>
                    <a:pt x="534754" y="175259"/>
                  </a:lnTo>
                  <a:close/>
                </a:path>
                <a:path w="2255520" h="635000">
                  <a:moveTo>
                    <a:pt x="2236605" y="156209"/>
                  </a:moveTo>
                  <a:lnTo>
                    <a:pt x="2224938" y="156209"/>
                  </a:lnTo>
                  <a:lnTo>
                    <a:pt x="2227942" y="160542"/>
                  </a:lnTo>
                  <a:lnTo>
                    <a:pt x="2228041" y="160685"/>
                  </a:lnTo>
                  <a:lnTo>
                    <a:pt x="2229586" y="162212"/>
                  </a:lnTo>
                  <a:lnTo>
                    <a:pt x="2232139" y="166369"/>
                  </a:lnTo>
                  <a:lnTo>
                    <a:pt x="2234196" y="168909"/>
                  </a:lnTo>
                  <a:lnTo>
                    <a:pt x="2236101" y="172719"/>
                  </a:lnTo>
                  <a:lnTo>
                    <a:pt x="2237854" y="176529"/>
                  </a:lnTo>
                  <a:lnTo>
                    <a:pt x="2237752" y="175259"/>
                  </a:lnTo>
                  <a:lnTo>
                    <a:pt x="2248166" y="175259"/>
                  </a:lnTo>
                  <a:lnTo>
                    <a:pt x="2246388" y="171449"/>
                  </a:lnTo>
                  <a:lnTo>
                    <a:pt x="2244420" y="167639"/>
                  </a:lnTo>
                  <a:lnTo>
                    <a:pt x="2242273" y="163829"/>
                  </a:lnTo>
                  <a:lnTo>
                    <a:pt x="2240008" y="160096"/>
                  </a:lnTo>
                  <a:lnTo>
                    <a:pt x="2237486" y="157479"/>
                  </a:lnTo>
                  <a:lnTo>
                    <a:pt x="2236605" y="156209"/>
                  </a:lnTo>
                  <a:close/>
                </a:path>
                <a:path w="2255520" h="635000">
                  <a:moveTo>
                    <a:pt x="544488" y="160096"/>
                  </a:moveTo>
                  <a:lnTo>
                    <a:pt x="544358" y="160096"/>
                  </a:lnTo>
                  <a:lnTo>
                    <a:pt x="544048" y="160542"/>
                  </a:lnTo>
                  <a:lnTo>
                    <a:pt x="544488" y="160096"/>
                  </a:lnTo>
                  <a:close/>
                </a:path>
                <a:path w="2255520" h="635000">
                  <a:moveTo>
                    <a:pt x="2227632" y="160096"/>
                  </a:moveTo>
                  <a:lnTo>
                    <a:pt x="2227502" y="160096"/>
                  </a:lnTo>
                  <a:lnTo>
                    <a:pt x="2227942" y="160542"/>
                  </a:lnTo>
                  <a:lnTo>
                    <a:pt x="2227632" y="160096"/>
                  </a:lnTo>
                  <a:close/>
                </a:path>
                <a:path w="2255520" h="635000">
                  <a:moveTo>
                    <a:pt x="547831" y="156209"/>
                  </a:moveTo>
                  <a:lnTo>
                    <a:pt x="547052" y="156209"/>
                  </a:lnTo>
                  <a:lnTo>
                    <a:pt x="546900" y="157479"/>
                  </a:lnTo>
                  <a:lnTo>
                    <a:pt x="547831" y="156209"/>
                  </a:lnTo>
                  <a:close/>
                </a:path>
                <a:path w="2255520" h="635000">
                  <a:moveTo>
                    <a:pt x="2222006" y="153273"/>
                  </a:moveTo>
                  <a:lnTo>
                    <a:pt x="2225090" y="157479"/>
                  </a:lnTo>
                  <a:lnTo>
                    <a:pt x="2224938" y="156209"/>
                  </a:lnTo>
                  <a:lnTo>
                    <a:pt x="2236605" y="156209"/>
                  </a:lnTo>
                  <a:lnTo>
                    <a:pt x="2234898" y="153748"/>
                  </a:lnTo>
                  <a:lnTo>
                    <a:pt x="2222552" y="153748"/>
                  </a:lnTo>
                  <a:lnTo>
                    <a:pt x="2222006" y="153273"/>
                  </a:lnTo>
                  <a:close/>
                </a:path>
                <a:path w="2255520" h="635000">
                  <a:moveTo>
                    <a:pt x="549984" y="153273"/>
                  </a:moveTo>
                  <a:lnTo>
                    <a:pt x="549438" y="153748"/>
                  </a:lnTo>
                  <a:lnTo>
                    <a:pt x="549636" y="153748"/>
                  </a:lnTo>
                  <a:lnTo>
                    <a:pt x="549984" y="153273"/>
                  </a:lnTo>
                  <a:close/>
                </a:path>
                <a:path w="2255520" h="635000">
                  <a:moveTo>
                    <a:pt x="2227573" y="146049"/>
                  </a:moveTo>
                  <a:lnTo>
                    <a:pt x="2213648" y="146049"/>
                  </a:lnTo>
                  <a:lnTo>
                    <a:pt x="2216823" y="148589"/>
                  </a:lnTo>
                  <a:lnTo>
                    <a:pt x="2216658" y="148589"/>
                  </a:lnTo>
                  <a:lnTo>
                    <a:pt x="2219705" y="151129"/>
                  </a:lnTo>
                  <a:lnTo>
                    <a:pt x="2219540" y="151129"/>
                  </a:lnTo>
                  <a:lnTo>
                    <a:pt x="2222552" y="153748"/>
                  </a:lnTo>
                  <a:lnTo>
                    <a:pt x="2234930" y="153748"/>
                  </a:lnTo>
                  <a:lnTo>
                    <a:pt x="2232063" y="151129"/>
                  </a:lnTo>
                  <a:lnTo>
                    <a:pt x="2229116" y="147319"/>
                  </a:lnTo>
                  <a:lnTo>
                    <a:pt x="2227573" y="146049"/>
                  </a:lnTo>
                  <a:close/>
                </a:path>
                <a:path w="2255520" h="635000">
                  <a:moveTo>
                    <a:pt x="559803" y="146049"/>
                  </a:moveTo>
                  <a:lnTo>
                    <a:pt x="558342" y="146049"/>
                  </a:lnTo>
                  <a:lnTo>
                    <a:pt x="558152" y="147319"/>
                  </a:lnTo>
                  <a:lnTo>
                    <a:pt x="559803" y="146049"/>
                  </a:lnTo>
                  <a:close/>
                </a:path>
                <a:path w="2255520" h="635000">
                  <a:moveTo>
                    <a:pt x="2219541" y="138531"/>
                  </a:moveTo>
                  <a:lnTo>
                    <a:pt x="2200705" y="138531"/>
                  </a:lnTo>
                  <a:lnTo>
                    <a:pt x="2204449" y="141153"/>
                  </a:lnTo>
                  <a:lnTo>
                    <a:pt x="2207781" y="142337"/>
                  </a:lnTo>
                  <a:lnTo>
                    <a:pt x="2207441" y="142337"/>
                  </a:lnTo>
                  <a:lnTo>
                    <a:pt x="2210727" y="144779"/>
                  </a:lnTo>
                  <a:lnTo>
                    <a:pt x="2210536" y="144779"/>
                  </a:lnTo>
                  <a:lnTo>
                    <a:pt x="2213838" y="147319"/>
                  </a:lnTo>
                  <a:lnTo>
                    <a:pt x="2213648" y="146049"/>
                  </a:lnTo>
                  <a:lnTo>
                    <a:pt x="2227573" y="146049"/>
                  </a:lnTo>
                  <a:lnTo>
                    <a:pt x="2226030" y="144779"/>
                  </a:lnTo>
                  <a:lnTo>
                    <a:pt x="2222928" y="142337"/>
                  </a:lnTo>
                  <a:lnTo>
                    <a:pt x="2221849" y="141153"/>
                  </a:lnTo>
                  <a:lnTo>
                    <a:pt x="2219541" y="138531"/>
                  </a:lnTo>
                  <a:close/>
                </a:path>
                <a:path w="2255520" h="635000">
                  <a:moveTo>
                    <a:pt x="567940" y="140874"/>
                  </a:moveTo>
                  <a:lnTo>
                    <a:pt x="567547" y="141153"/>
                  </a:lnTo>
                  <a:lnTo>
                    <a:pt x="567743" y="141153"/>
                  </a:lnTo>
                  <a:lnTo>
                    <a:pt x="567940" y="140874"/>
                  </a:lnTo>
                  <a:close/>
                </a:path>
                <a:path w="2255520" h="635000">
                  <a:moveTo>
                    <a:pt x="2204050" y="140874"/>
                  </a:moveTo>
                  <a:lnTo>
                    <a:pt x="2204247" y="141153"/>
                  </a:lnTo>
                  <a:lnTo>
                    <a:pt x="2204449" y="141153"/>
                  </a:lnTo>
                  <a:lnTo>
                    <a:pt x="2204050" y="140874"/>
                  </a:lnTo>
                  <a:close/>
                </a:path>
                <a:path w="2255520" h="635000">
                  <a:moveTo>
                    <a:pt x="2179789" y="121919"/>
                  </a:moveTo>
                  <a:lnTo>
                    <a:pt x="592201" y="121919"/>
                  </a:lnTo>
                  <a:lnTo>
                    <a:pt x="587819" y="123189"/>
                  </a:lnTo>
                  <a:lnTo>
                    <a:pt x="556031" y="137159"/>
                  </a:lnTo>
                  <a:lnTo>
                    <a:pt x="552260" y="138531"/>
                  </a:lnTo>
                  <a:lnTo>
                    <a:pt x="570922" y="138531"/>
                  </a:lnTo>
                  <a:lnTo>
                    <a:pt x="574954" y="137159"/>
                  </a:lnTo>
                  <a:lnTo>
                    <a:pt x="574738" y="137159"/>
                  </a:lnTo>
                  <a:lnTo>
                    <a:pt x="578548" y="135889"/>
                  </a:lnTo>
                  <a:lnTo>
                    <a:pt x="578332" y="135889"/>
                  </a:lnTo>
                  <a:lnTo>
                    <a:pt x="582244" y="134619"/>
                  </a:lnTo>
                  <a:lnTo>
                    <a:pt x="582015" y="134619"/>
                  </a:lnTo>
                  <a:lnTo>
                    <a:pt x="586016" y="133349"/>
                  </a:lnTo>
                  <a:lnTo>
                    <a:pt x="585774" y="133349"/>
                  </a:lnTo>
                  <a:lnTo>
                    <a:pt x="589851" y="132079"/>
                  </a:lnTo>
                  <a:lnTo>
                    <a:pt x="593521" y="132079"/>
                  </a:lnTo>
                  <a:lnTo>
                    <a:pt x="597738" y="130809"/>
                  </a:lnTo>
                  <a:lnTo>
                    <a:pt x="2206713" y="130809"/>
                  </a:lnTo>
                  <a:lnTo>
                    <a:pt x="2204796" y="129539"/>
                  </a:lnTo>
                  <a:lnTo>
                    <a:pt x="2196820" y="126999"/>
                  </a:lnTo>
                  <a:lnTo>
                    <a:pt x="2188464" y="124459"/>
                  </a:lnTo>
                  <a:lnTo>
                    <a:pt x="2179789" y="121919"/>
                  </a:lnTo>
                  <a:close/>
                </a:path>
                <a:path w="2255520" h="635000">
                  <a:moveTo>
                    <a:pt x="2206713" y="130809"/>
                  </a:moveTo>
                  <a:lnTo>
                    <a:pt x="2174252" y="130809"/>
                  </a:lnTo>
                  <a:lnTo>
                    <a:pt x="2178469" y="132079"/>
                  </a:lnTo>
                  <a:lnTo>
                    <a:pt x="2182139" y="132079"/>
                  </a:lnTo>
                  <a:lnTo>
                    <a:pt x="2186216" y="133349"/>
                  </a:lnTo>
                  <a:lnTo>
                    <a:pt x="2185974" y="133349"/>
                  </a:lnTo>
                  <a:lnTo>
                    <a:pt x="2189975" y="134619"/>
                  </a:lnTo>
                  <a:lnTo>
                    <a:pt x="2189746" y="134619"/>
                  </a:lnTo>
                  <a:lnTo>
                    <a:pt x="2193658" y="135889"/>
                  </a:lnTo>
                  <a:lnTo>
                    <a:pt x="2193429" y="135889"/>
                  </a:lnTo>
                  <a:lnTo>
                    <a:pt x="2197252" y="137159"/>
                  </a:lnTo>
                  <a:lnTo>
                    <a:pt x="2197036" y="137159"/>
                  </a:lnTo>
                  <a:lnTo>
                    <a:pt x="2201068" y="138531"/>
                  </a:lnTo>
                  <a:lnTo>
                    <a:pt x="2219730" y="138531"/>
                  </a:lnTo>
                  <a:lnTo>
                    <a:pt x="2215959" y="137159"/>
                  </a:lnTo>
                  <a:lnTo>
                    <a:pt x="2212352" y="134619"/>
                  </a:lnTo>
                  <a:lnTo>
                    <a:pt x="2208631" y="132079"/>
                  </a:lnTo>
                  <a:lnTo>
                    <a:pt x="2206713" y="130809"/>
                  </a:lnTo>
                  <a:close/>
                </a:path>
                <a:path w="2255520" h="635000">
                  <a:moveTo>
                    <a:pt x="36766" y="14151"/>
                  </a:moveTo>
                  <a:lnTo>
                    <a:pt x="32640" y="22596"/>
                  </a:lnTo>
                  <a:lnTo>
                    <a:pt x="33851" y="23387"/>
                  </a:lnTo>
                  <a:lnTo>
                    <a:pt x="77567" y="40587"/>
                  </a:lnTo>
                  <a:lnTo>
                    <a:pt x="37687" y="14513"/>
                  </a:lnTo>
                  <a:lnTo>
                    <a:pt x="36766" y="14151"/>
                  </a:lnTo>
                  <a:close/>
                </a:path>
                <a:path w="2255520" h="635000">
                  <a:moveTo>
                    <a:pt x="32640" y="22596"/>
                  </a:moveTo>
                  <a:lnTo>
                    <a:pt x="32512" y="22859"/>
                  </a:lnTo>
                  <a:lnTo>
                    <a:pt x="33851" y="23387"/>
                  </a:lnTo>
                  <a:lnTo>
                    <a:pt x="32640" y="22596"/>
                  </a:lnTo>
                  <a:close/>
                </a:path>
                <a:path w="2255520" h="635000">
                  <a:moveTo>
                    <a:pt x="825" y="0"/>
                  </a:moveTo>
                  <a:lnTo>
                    <a:pt x="0" y="1269"/>
                  </a:lnTo>
                  <a:lnTo>
                    <a:pt x="32640" y="22596"/>
                  </a:lnTo>
                  <a:lnTo>
                    <a:pt x="36766" y="14151"/>
                  </a:lnTo>
                  <a:lnTo>
                    <a:pt x="825" y="0"/>
                  </a:lnTo>
                  <a:close/>
                </a:path>
                <a:path w="2255520" h="635000">
                  <a:moveTo>
                    <a:pt x="36855" y="13969"/>
                  </a:moveTo>
                  <a:lnTo>
                    <a:pt x="36766" y="14151"/>
                  </a:lnTo>
                  <a:lnTo>
                    <a:pt x="37687" y="14513"/>
                  </a:lnTo>
                  <a:lnTo>
                    <a:pt x="36855" y="13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879145" y="5991733"/>
            <a:ext cx="128841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80" b="1">
                <a:latin typeface="Times New Roman"/>
                <a:cs typeface="Times New Roman"/>
              </a:rPr>
              <a:t>Code</a:t>
            </a:r>
            <a:r>
              <a:rPr dirty="0" sz="1550" spc="250" b="1">
                <a:latin typeface="Times New Roman"/>
                <a:cs typeface="Times New Roman"/>
              </a:rPr>
              <a:t> </a:t>
            </a:r>
            <a:r>
              <a:rPr dirty="0" sz="1550" spc="95" b="1">
                <a:latin typeface="Times New Roman"/>
                <a:cs typeface="Times New Roman"/>
              </a:rPr>
              <a:t>vectors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439150" y="6507075"/>
            <a:ext cx="283845" cy="24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z="1400" spc="-25">
                <a:latin typeface="Tahoma"/>
                <a:cs typeface="Tahoma"/>
              </a:rPr>
              <a:t>31</a:t>
            </a:fld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4708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dirty="0" spc="-85"/>
              <a:t> </a:t>
            </a:r>
            <a:r>
              <a:rPr dirty="0"/>
              <a:t>Vector</a:t>
            </a:r>
            <a:r>
              <a:rPr dirty="0" spc="-85"/>
              <a:t> </a:t>
            </a:r>
            <a:r>
              <a:rPr dirty="0"/>
              <a:t>Quantizer</a:t>
            </a:r>
            <a:r>
              <a:rPr dirty="0" spc="-85"/>
              <a:t> </a:t>
            </a:r>
            <a:r>
              <a:rPr dirty="0" spc="-10"/>
              <a:t>(LVQ)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822930" y="2480246"/>
            <a:ext cx="948055" cy="843280"/>
          </a:xfrm>
          <a:custGeom>
            <a:avLst/>
            <a:gdLst/>
            <a:ahLst/>
            <a:cxnLst/>
            <a:rect l="l" t="t" r="r" b="b"/>
            <a:pathLst>
              <a:path w="948054" h="843279">
                <a:moveTo>
                  <a:pt x="947686" y="0"/>
                </a:moveTo>
                <a:lnTo>
                  <a:pt x="0" y="0"/>
                </a:lnTo>
                <a:lnTo>
                  <a:pt x="0" y="842848"/>
                </a:lnTo>
                <a:lnTo>
                  <a:pt x="947686" y="842848"/>
                </a:lnTo>
                <a:lnTo>
                  <a:pt x="947686" y="838085"/>
                </a:lnTo>
                <a:lnTo>
                  <a:pt x="9525" y="838085"/>
                </a:lnTo>
                <a:lnTo>
                  <a:pt x="4762" y="833323"/>
                </a:lnTo>
                <a:lnTo>
                  <a:pt x="9525" y="833323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947686" y="4762"/>
                </a:lnTo>
                <a:lnTo>
                  <a:pt x="947686" y="0"/>
                </a:lnTo>
                <a:close/>
              </a:path>
              <a:path w="948054" h="843279">
                <a:moveTo>
                  <a:pt x="9525" y="833323"/>
                </a:moveTo>
                <a:lnTo>
                  <a:pt x="4762" y="833323"/>
                </a:lnTo>
                <a:lnTo>
                  <a:pt x="9525" y="838085"/>
                </a:lnTo>
                <a:lnTo>
                  <a:pt x="9525" y="833323"/>
                </a:lnTo>
                <a:close/>
              </a:path>
              <a:path w="948054" h="843279">
                <a:moveTo>
                  <a:pt x="938161" y="833323"/>
                </a:moveTo>
                <a:lnTo>
                  <a:pt x="9525" y="833323"/>
                </a:lnTo>
                <a:lnTo>
                  <a:pt x="9525" y="838085"/>
                </a:lnTo>
                <a:lnTo>
                  <a:pt x="938161" y="838085"/>
                </a:lnTo>
                <a:lnTo>
                  <a:pt x="938161" y="833323"/>
                </a:lnTo>
                <a:close/>
              </a:path>
              <a:path w="948054" h="843279">
                <a:moveTo>
                  <a:pt x="938161" y="4762"/>
                </a:moveTo>
                <a:lnTo>
                  <a:pt x="938161" y="838085"/>
                </a:lnTo>
                <a:lnTo>
                  <a:pt x="942924" y="833323"/>
                </a:lnTo>
                <a:lnTo>
                  <a:pt x="947686" y="833323"/>
                </a:lnTo>
                <a:lnTo>
                  <a:pt x="947686" y="9525"/>
                </a:lnTo>
                <a:lnTo>
                  <a:pt x="942924" y="9525"/>
                </a:lnTo>
                <a:lnTo>
                  <a:pt x="938161" y="4762"/>
                </a:lnTo>
                <a:close/>
              </a:path>
              <a:path w="948054" h="843279">
                <a:moveTo>
                  <a:pt x="947686" y="833323"/>
                </a:moveTo>
                <a:lnTo>
                  <a:pt x="942924" y="833323"/>
                </a:lnTo>
                <a:lnTo>
                  <a:pt x="938161" y="838085"/>
                </a:lnTo>
                <a:lnTo>
                  <a:pt x="947686" y="838085"/>
                </a:lnTo>
                <a:lnTo>
                  <a:pt x="947686" y="833323"/>
                </a:lnTo>
                <a:close/>
              </a:path>
              <a:path w="948054" h="843279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948054" h="843279">
                <a:moveTo>
                  <a:pt x="938161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938161" y="9525"/>
                </a:lnTo>
                <a:lnTo>
                  <a:pt x="938161" y="4762"/>
                </a:lnTo>
                <a:close/>
              </a:path>
              <a:path w="948054" h="843279">
                <a:moveTo>
                  <a:pt x="947686" y="4762"/>
                </a:moveTo>
                <a:lnTo>
                  <a:pt x="938161" y="4762"/>
                </a:lnTo>
                <a:lnTo>
                  <a:pt x="942924" y="9525"/>
                </a:lnTo>
                <a:lnTo>
                  <a:pt x="947686" y="9525"/>
                </a:lnTo>
                <a:lnTo>
                  <a:pt x="947686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980728" y="2771394"/>
            <a:ext cx="631190" cy="34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-25" b="1">
                <a:latin typeface="Tahoma"/>
                <a:cs typeface="Tahoma"/>
              </a:rPr>
              <a:t>SOM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409859" y="2480246"/>
            <a:ext cx="1090930" cy="843280"/>
          </a:xfrm>
          <a:custGeom>
            <a:avLst/>
            <a:gdLst/>
            <a:ahLst/>
            <a:cxnLst/>
            <a:rect l="l" t="t" r="r" b="b"/>
            <a:pathLst>
              <a:path w="1090929" h="843279">
                <a:moveTo>
                  <a:pt x="1090790" y="0"/>
                </a:moveTo>
                <a:lnTo>
                  <a:pt x="0" y="0"/>
                </a:lnTo>
                <a:lnTo>
                  <a:pt x="0" y="842848"/>
                </a:lnTo>
                <a:lnTo>
                  <a:pt x="1090790" y="842848"/>
                </a:lnTo>
                <a:lnTo>
                  <a:pt x="1090790" y="838085"/>
                </a:lnTo>
                <a:lnTo>
                  <a:pt x="9525" y="838085"/>
                </a:lnTo>
                <a:lnTo>
                  <a:pt x="4762" y="833323"/>
                </a:lnTo>
                <a:lnTo>
                  <a:pt x="9525" y="833323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1090790" y="4762"/>
                </a:lnTo>
                <a:lnTo>
                  <a:pt x="1090790" y="0"/>
                </a:lnTo>
                <a:close/>
              </a:path>
              <a:path w="1090929" h="843279">
                <a:moveTo>
                  <a:pt x="9525" y="833323"/>
                </a:moveTo>
                <a:lnTo>
                  <a:pt x="4762" y="833323"/>
                </a:lnTo>
                <a:lnTo>
                  <a:pt x="9525" y="838085"/>
                </a:lnTo>
                <a:lnTo>
                  <a:pt x="9525" y="833323"/>
                </a:lnTo>
                <a:close/>
              </a:path>
              <a:path w="1090929" h="843279">
                <a:moveTo>
                  <a:pt x="1081265" y="833323"/>
                </a:moveTo>
                <a:lnTo>
                  <a:pt x="9525" y="833323"/>
                </a:lnTo>
                <a:lnTo>
                  <a:pt x="9525" y="838085"/>
                </a:lnTo>
                <a:lnTo>
                  <a:pt x="1081265" y="838085"/>
                </a:lnTo>
                <a:lnTo>
                  <a:pt x="1081265" y="833323"/>
                </a:lnTo>
                <a:close/>
              </a:path>
              <a:path w="1090929" h="843279">
                <a:moveTo>
                  <a:pt x="1081265" y="4762"/>
                </a:moveTo>
                <a:lnTo>
                  <a:pt x="1081265" y="838085"/>
                </a:lnTo>
                <a:lnTo>
                  <a:pt x="1086027" y="833323"/>
                </a:lnTo>
                <a:lnTo>
                  <a:pt x="1090790" y="833323"/>
                </a:lnTo>
                <a:lnTo>
                  <a:pt x="1090790" y="9525"/>
                </a:lnTo>
                <a:lnTo>
                  <a:pt x="1086027" y="9525"/>
                </a:lnTo>
                <a:lnTo>
                  <a:pt x="1081265" y="4762"/>
                </a:lnTo>
                <a:close/>
              </a:path>
              <a:path w="1090929" h="843279">
                <a:moveTo>
                  <a:pt x="1090790" y="833323"/>
                </a:moveTo>
                <a:lnTo>
                  <a:pt x="1086027" y="833323"/>
                </a:lnTo>
                <a:lnTo>
                  <a:pt x="1081265" y="838085"/>
                </a:lnTo>
                <a:lnTo>
                  <a:pt x="1090790" y="838085"/>
                </a:lnTo>
                <a:lnTo>
                  <a:pt x="1090790" y="833323"/>
                </a:lnTo>
                <a:close/>
              </a:path>
              <a:path w="1090929" h="843279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1090929" h="843279">
                <a:moveTo>
                  <a:pt x="1081265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1081265" y="9525"/>
                </a:lnTo>
                <a:lnTo>
                  <a:pt x="1081265" y="4762"/>
                </a:lnTo>
                <a:close/>
              </a:path>
              <a:path w="1090929" h="843279">
                <a:moveTo>
                  <a:pt x="1090790" y="4762"/>
                </a:moveTo>
                <a:lnTo>
                  <a:pt x="1081265" y="4762"/>
                </a:lnTo>
                <a:lnTo>
                  <a:pt x="1086027" y="9525"/>
                </a:lnTo>
                <a:lnTo>
                  <a:pt x="1090790" y="9525"/>
                </a:lnTo>
                <a:lnTo>
                  <a:pt x="1090790" y="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675606" y="2771394"/>
            <a:ext cx="558165" cy="34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-25" b="1">
                <a:latin typeface="Tahoma"/>
                <a:cs typeface="Tahoma"/>
              </a:rPr>
              <a:t>LVQ</a:t>
            </a:r>
            <a:endParaRPr sz="205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2174163" y="2630728"/>
            <a:ext cx="4043679" cy="458470"/>
            <a:chOff x="2174163" y="2630728"/>
            <a:chExt cx="4043679" cy="458470"/>
          </a:xfrm>
        </p:grpSpPr>
        <p:sp>
          <p:nvSpPr>
            <p:cNvPr id="8" name="object 8" descr=""/>
            <p:cNvSpPr/>
            <p:nvPr/>
          </p:nvSpPr>
          <p:spPr>
            <a:xfrm>
              <a:off x="2179320" y="2764535"/>
              <a:ext cx="647700" cy="277495"/>
            </a:xfrm>
            <a:custGeom>
              <a:avLst/>
              <a:gdLst/>
              <a:ahLst/>
              <a:cxnLst/>
              <a:rect l="l" t="t" r="r" b="b"/>
              <a:pathLst>
                <a:path w="647700" h="277494">
                  <a:moveTo>
                    <a:pt x="440436" y="0"/>
                  </a:moveTo>
                  <a:lnTo>
                    <a:pt x="440436" y="70103"/>
                  </a:lnTo>
                  <a:lnTo>
                    <a:pt x="0" y="70103"/>
                  </a:lnTo>
                  <a:lnTo>
                    <a:pt x="0" y="208787"/>
                  </a:lnTo>
                  <a:lnTo>
                    <a:pt x="440436" y="208787"/>
                  </a:lnTo>
                  <a:lnTo>
                    <a:pt x="440436" y="277367"/>
                  </a:lnTo>
                  <a:lnTo>
                    <a:pt x="647700" y="138684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174163" y="2755925"/>
              <a:ext cx="662305" cy="295910"/>
            </a:xfrm>
            <a:custGeom>
              <a:avLst/>
              <a:gdLst/>
              <a:ahLst/>
              <a:cxnLst/>
              <a:rect l="l" t="t" r="r" b="b"/>
              <a:pathLst>
                <a:path w="662305" h="295910">
                  <a:moveTo>
                    <a:pt x="440436" y="217233"/>
                  </a:moveTo>
                  <a:lnTo>
                    <a:pt x="440436" y="295567"/>
                  </a:lnTo>
                  <a:lnTo>
                    <a:pt x="453771" y="286677"/>
                  </a:lnTo>
                  <a:lnTo>
                    <a:pt x="449961" y="286677"/>
                  </a:lnTo>
                  <a:lnTo>
                    <a:pt x="442556" y="282714"/>
                  </a:lnTo>
                  <a:lnTo>
                    <a:pt x="449961" y="277778"/>
                  </a:lnTo>
                  <a:lnTo>
                    <a:pt x="449961" y="221996"/>
                  </a:lnTo>
                  <a:lnTo>
                    <a:pt x="445198" y="221996"/>
                  </a:lnTo>
                  <a:lnTo>
                    <a:pt x="440436" y="217233"/>
                  </a:lnTo>
                  <a:close/>
                </a:path>
                <a:path w="662305" h="295910">
                  <a:moveTo>
                    <a:pt x="449961" y="277778"/>
                  </a:moveTo>
                  <a:lnTo>
                    <a:pt x="442556" y="282714"/>
                  </a:lnTo>
                  <a:lnTo>
                    <a:pt x="449961" y="286677"/>
                  </a:lnTo>
                  <a:lnTo>
                    <a:pt x="449961" y="277778"/>
                  </a:lnTo>
                  <a:close/>
                </a:path>
                <a:path w="662305" h="295910">
                  <a:moveTo>
                    <a:pt x="644944" y="147789"/>
                  </a:moveTo>
                  <a:lnTo>
                    <a:pt x="449961" y="277778"/>
                  </a:lnTo>
                  <a:lnTo>
                    <a:pt x="449961" y="286677"/>
                  </a:lnTo>
                  <a:lnTo>
                    <a:pt x="453771" y="286677"/>
                  </a:lnTo>
                  <a:lnTo>
                    <a:pt x="656170" y="151752"/>
                  </a:lnTo>
                  <a:lnTo>
                    <a:pt x="650887" y="151752"/>
                  </a:lnTo>
                  <a:lnTo>
                    <a:pt x="644944" y="147789"/>
                  </a:lnTo>
                  <a:close/>
                </a:path>
                <a:path w="662305" h="295910">
                  <a:moveTo>
                    <a:pt x="440436" y="73583"/>
                  </a:moveTo>
                  <a:lnTo>
                    <a:pt x="0" y="73583"/>
                  </a:lnTo>
                  <a:lnTo>
                    <a:pt x="0" y="221996"/>
                  </a:lnTo>
                  <a:lnTo>
                    <a:pt x="440436" y="221996"/>
                  </a:lnTo>
                  <a:lnTo>
                    <a:pt x="440436" y="217233"/>
                  </a:lnTo>
                  <a:lnTo>
                    <a:pt x="9525" y="217233"/>
                  </a:lnTo>
                  <a:lnTo>
                    <a:pt x="4762" y="212471"/>
                  </a:lnTo>
                  <a:lnTo>
                    <a:pt x="9525" y="212471"/>
                  </a:lnTo>
                  <a:lnTo>
                    <a:pt x="9525" y="83108"/>
                  </a:lnTo>
                  <a:lnTo>
                    <a:pt x="4762" y="83108"/>
                  </a:lnTo>
                  <a:lnTo>
                    <a:pt x="9525" y="78346"/>
                  </a:lnTo>
                  <a:lnTo>
                    <a:pt x="440436" y="78346"/>
                  </a:lnTo>
                  <a:lnTo>
                    <a:pt x="440436" y="73583"/>
                  </a:lnTo>
                  <a:close/>
                </a:path>
                <a:path w="662305" h="295910">
                  <a:moveTo>
                    <a:pt x="449961" y="212471"/>
                  </a:moveTo>
                  <a:lnTo>
                    <a:pt x="9525" y="212471"/>
                  </a:lnTo>
                  <a:lnTo>
                    <a:pt x="9525" y="217233"/>
                  </a:lnTo>
                  <a:lnTo>
                    <a:pt x="440436" y="217233"/>
                  </a:lnTo>
                  <a:lnTo>
                    <a:pt x="445198" y="221996"/>
                  </a:lnTo>
                  <a:lnTo>
                    <a:pt x="449961" y="221996"/>
                  </a:lnTo>
                  <a:lnTo>
                    <a:pt x="449961" y="212471"/>
                  </a:lnTo>
                  <a:close/>
                </a:path>
                <a:path w="662305" h="295910">
                  <a:moveTo>
                    <a:pt x="9525" y="212471"/>
                  </a:moveTo>
                  <a:lnTo>
                    <a:pt x="4762" y="212471"/>
                  </a:lnTo>
                  <a:lnTo>
                    <a:pt x="9525" y="217233"/>
                  </a:lnTo>
                  <a:lnTo>
                    <a:pt x="9525" y="212471"/>
                  </a:lnTo>
                  <a:close/>
                </a:path>
                <a:path w="662305" h="295910">
                  <a:moveTo>
                    <a:pt x="650887" y="143827"/>
                  </a:moveTo>
                  <a:lnTo>
                    <a:pt x="644944" y="147789"/>
                  </a:lnTo>
                  <a:lnTo>
                    <a:pt x="650887" y="151752"/>
                  </a:lnTo>
                  <a:lnTo>
                    <a:pt x="650887" y="143827"/>
                  </a:lnTo>
                  <a:close/>
                </a:path>
                <a:path w="662305" h="295910">
                  <a:moveTo>
                    <a:pt x="656171" y="143827"/>
                  </a:moveTo>
                  <a:lnTo>
                    <a:pt x="650887" y="143827"/>
                  </a:lnTo>
                  <a:lnTo>
                    <a:pt x="650887" y="151752"/>
                  </a:lnTo>
                  <a:lnTo>
                    <a:pt x="656170" y="151752"/>
                  </a:lnTo>
                  <a:lnTo>
                    <a:pt x="662114" y="147789"/>
                  </a:lnTo>
                  <a:lnTo>
                    <a:pt x="656171" y="143827"/>
                  </a:lnTo>
                  <a:close/>
                </a:path>
                <a:path w="662305" h="295910">
                  <a:moveTo>
                    <a:pt x="453789" y="8902"/>
                  </a:moveTo>
                  <a:lnTo>
                    <a:pt x="449961" y="8902"/>
                  </a:lnTo>
                  <a:lnTo>
                    <a:pt x="449961" y="17801"/>
                  </a:lnTo>
                  <a:lnTo>
                    <a:pt x="644944" y="147789"/>
                  </a:lnTo>
                  <a:lnTo>
                    <a:pt x="650887" y="143827"/>
                  </a:lnTo>
                  <a:lnTo>
                    <a:pt x="656171" y="143827"/>
                  </a:lnTo>
                  <a:lnTo>
                    <a:pt x="453789" y="8902"/>
                  </a:lnTo>
                  <a:close/>
                </a:path>
                <a:path w="662305" h="295910">
                  <a:moveTo>
                    <a:pt x="9525" y="78346"/>
                  </a:moveTo>
                  <a:lnTo>
                    <a:pt x="4762" y="83108"/>
                  </a:lnTo>
                  <a:lnTo>
                    <a:pt x="9525" y="83108"/>
                  </a:lnTo>
                  <a:lnTo>
                    <a:pt x="9525" y="78346"/>
                  </a:lnTo>
                  <a:close/>
                </a:path>
                <a:path w="662305" h="295910">
                  <a:moveTo>
                    <a:pt x="449961" y="73583"/>
                  </a:moveTo>
                  <a:lnTo>
                    <a:pt x="445198" y="73583"/>
                  </a:lnTo>
                  <a:lnTo>
                    <a:pt x="440436" y="78346"/>
                  </a:lnTo>
                  <a:lnTo>
                    <a:pt x="9525" y="78346"/>
                  </a:lnTo>
                  <a:lnTo>
                    <a:pt x="9525" y="83108"/>
                  </a:lnTo>
                  <a:lnTo>
                    <a:pt x="449961" y="83108"/>
                  </a:lnTo>
                  <a:lnTo>
                    <a:pt x="449961" y="73583"/>
                  </a:lnTo>
                  <a:close/>
                </a:path>
                <a:path w="662305" h="295910">
                  <a:moveTo>
                    <a:pt x="440436" y="0"/>
                  </a:moveTo>
                  <a:lnTo>
                    <a:pt x="440436" y="78346"/>
                  </a:lnTo>
                  <a:lnTo>
                    <a:pt x="445198" y="73583"/>
                  </a:lnTo>
                  <a:lnTo>
                    <a:pt x="449961" y="73583"/>
                  </a:lnTo>
                  <a:lnTo>
                    <a:pt x="449961" y="17801"/>
                  </a:lnTo>
                  <a:lnTo>
                    <a:pt x="442556" y="12865"/>
                  </a:lnTo>
                  <a:lnTo>
                    <a:pt x="449961" y="8902"/>
                  </a:lnTo>
                  <a:lnTo>
                    <a:pt x="453789" y="8902"/>
                  </a:lnTo>
                  <a:lnTo>
                    <a:pt x="440436" y="0"/>
                  </a:lnTo>
                  <a:close/>
                </a:path>
                <a:path w="662305" h="295910">
                  <a:moveTo>
                    <a:pt x="449961" y="8902"/>
                  </a:moveTo>
                  <a:lnTo>
                    <a:pt x="442556" y="12865"/>
                  </a:lnTo>
                  <a:lnTo>
                    <a:pt x="449961" y="17801"/>
                  </a:lnTo>
                  <a:lnTo>
                    <a:pt x="449961" y="89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765803" y="2763011"/>
              <a:ext cx="649605" cy="277495"/>
            </a:xfrm>
            <a:custGeom>
              <a:avLst/>
              <a:gdLst/>
              <a:ahLst/>
              <a:cxnLst/>
              <a:rect l="l" t="t" r="r" b="b"/>
              <a:pathLst>
                <a:path w="649604" h="277494">
                  <a:moveTo>
                    <a:pt x="440436" y="0"/>
                  </a:moveTo>
                  <a:lnTo>
                    <a:pt x="440436" y="68579"/>
                  </a:lnTo>
                  <a:lnTo>
                    <a:pt x="0" y="68579"/>
                  </a:lnTo>
                  <a:lnTo>
                    <a:pt x="0" y="208787"/>
                  </a:lnTo>
                  <a:lnTo>
                    <a:pt x="440436" y="208787"/>
                  </a:lnTo>
                  <a:lnTo>
                    <a:pt x="440436" y="277367"/>
                  </a:lnTo>
                  <a:lnTo>
                    <a:pt x="649224" y="138684"/>
                  </a:lnTo>
                  <a:lnTo>
                    <a:pt x="440436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61092" y="2630728"/>
              <a:ext cx="2456815" cy="458470"/>
            </a:xfrm>
            <a:custGeom>
              <a:avLst/>
              <a:gdLst/>
              <a:ahLst/>
              <a:cxnLst/>
              <a:rect l="l" t="t" r="r" b="b"/>
              <a:pathLst>
                <a:path w="2456815" h="458469">
                  <a:moveTo>
                    <a:pt x="662114" y="270941"/>
                  </a:moveTo>
                  <a:lnTo>
                    <a:pt x="656170" y="266979"/>
                  </a:lnTo>
                  <a:lnTo>
                    <a:pt x="644931" y="259486"/>
                  </a:lnTo>
                  <a:lnTo>
                    <a:pt x="644931" y="270941"/>
                  </a:lnTo>
                  <a:lnTo>
                    <a:pt x="449961" y="400939"/>
                  </a:lnTo>
                  <a:lnTo>
                    <a:pt x="449961" y="345147"/>
                  </a:lnTo>
                  <a:lnTo>
                    <a:pt x="449961" y="335622"/>
                  </a:lnTo>
                  <a:lnTo>
                    <a:pt x="9525" y="335622"/>
                  </a:lnTo>
                  <a:lnTo>
                    <a:pt x="9525" y="206260"/>
                  </a:lnTo>
                  <a:lnTo>
                    <a:pt x="449961" y="206260"/>
                  </a:lnTo>
                  <a:lnTo>
                    <a:pt x="449961" y="196735"/>
                  </a:lnTo>
                  <a:lnTo>
                    <a:pt x="449961" y="140957"/>
                  </a:lnTo>
                  <a:lnTo>
                    <a:pt x="644931" y="270941"/>
                  </a:lnTo>
                  <a:lnTo>
                    <a:pt x="644931" y="259486"/>
                  </a:lnTo>
                  <a:lnTo>
                    <a:pt x="453783" y="132054"/>
                  </a:lnTo>
                  <a:lnTo>
                    <a:pt x="440436" y="123151"/>
                  </a:lnTo>
                  <a:lnTo>
                    <a:pt x="440436" y="196735"/>
                  </a:lnTo>
                  <a:lnTo>
                    <a:pt x="0" y="196735"/>
                  </a:lnTo>
                  <a:lnTo>
                    <a:pt x="0" y="345147"/>
                  </a:lnTo>
                  <a:lnTo>
                    <a:pt x="440436" y="345147"/>
                  </a:lnTo>
                  <a:lnTo>
                    <a:pt x="440436" y="418731"/>
                  </a:lnTo>
                  <a:lnTo>
                    <a:pt x="453783" y="409829"/>
                  </a:lnTo>
                  <a:lnTo>
                    <a:pt x="656170" y="274904"/>
                  </a:lnTo>
                  <a:lnTo>
                    <a:pt x="662114" y="270941"/>
                  </a:lnTo>
                  <a:close/>
                </a:path>
                <a:path w="2456815" h="458469">
                  <a:moveTo>
                    <a:pt x="2456700" y="420039"/>
                  </a:moveTo>
                  <a:lnTo>
                    <a:pt x="2447175" y="415277"/>
                  </a:lnTo>
                  <a:lnTo>
                    <a:pt x="2380500" y="381939"/>
                  </a:lnTo>
                  <a:lnTo>
                    <a:pt x="2380500" y="415277"/>
                  </a:lnTo>
                  <a:lnTo>
                    <a:pt x="1734794" y="415277"/>
                  </a:lnTo>
                  <a:lnTo>
                    <a:pt x="1734794" y="424802"/>
                  </a:lnTo>
                  <a:lnTo>
                    <a:pt x="2380500" y="424802"/>
                  </a:lnTo>
                  <a:lnTo>
                    <a:pt x="2380500" y="458139"/>
                  </a:lnTo>
                  <a:lnTo>
                    <a:pt x="2447175" y="424802"/>
                  </a:lnTo>
                  <a:lnTo>
                    <a:pt x="2456700" y="420039"/>
                  </a:lnTo>
                  <a:close/>
                </a:path>
                <a:path w="2456815" h="458469">
                  <a:moveTo>
                    <a:pt x="2456700" y="223964"/>
                  </a:moveTo>
                  <a:lnTo>
                    <a:pt x="2447175" y="219202"/>
                  </a:lnTo>
                  <a:lnTo>
                    <a:pt x="2380500" y="185864"/>
                  </a:lnTo>
                  <a:lnTo>
                    <a:pt x="2380500" y="219202"/>
                  </a:lnTo>
                  <a:lnTo>
                    <a:pt x="1734794" y="219202"/>
                  </a:lnTo>
                  <a:lnTo>
                    <a:pt x="1734794" y="228727"/>
                  </a:lnTo>
                  <a:lnTo>
                    <a:pt x="2380500" y="228727"/>
                  </a:lnTo>
                  <a:lnTo>
                    <a:pt x="2380500" y="262064"/>
                  </a:lnTo>
                  <a:lnTo>
                    <a:pt x="2447175" y="228727"/>
                  </a:lnTo>
                  <a:lnTo>
                    <a:pt x="2456700" y="223964"/>
                  </a:lnTo>
                  <a:close/>
                </a:path>
                <a:path w="2456815" h="458469">
                  <a:moveTo>
                    <a:pt x="2456700" y="38100"/>
                  </a:moveTo>
                  <a:lnTo>
                    <a:pt x="2447175" y="33337"/>
                  </a:lnTo>
                  <a:lnTo>
                    <a:pt x="2380500" y="0"/>
                  </a:lnTo>
                  <a:lnTo>
                    <a:pt x="2380500" y="33337"/>
                  </a:lnTo>
                  <a:lnTo>
                    <a:pt x="1734794" y="33337"/>
                  </a:lnTo>
                  <a:lnTo>
                    <a:pt x="1734794" y="42862"/>
                  </a:lnTo>
                  <a:lnTo>
                    <a:pt x="2380500" y="42862"/>
                  </a:lnTo>
                  <a:lnTo>
                    <a:pt x="2380500" y="76200"/>
                  </a:lnTo>
                  <a:lnTo>
                    <a:pt x="2447175" y="42862"/>
                  </a:lnTo>
                  <a:lnTo>
                    <a:pt x="24567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130463" y="2476169"/>
            <a:ext cx="63309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-10" b="1">
                <a:latin typeface="Tahoma"/>
                <a:cs typeface="Tahoma"/>
              </a:rPr>
              <a:t>input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835677" y="3311575"/>
            <a:ext cx="166370" cy="381635"/>
            <a:chOff x="4835677" y="3311575"/>
            <a:chExt cx="166370" cy="381635"/>
          </a:xfrm>
        </p:grpSpPr>
        <p:sp>
          <p:nvSpPr>
            <p:cNvPr id="14" name="object 14" descr=""/>
            <p:cNvSpPr/>
            <p:nvPr/>
          </p:nvSpPr>
          <p:spPr>
            <a:xfrm>
              <a:off x="4847843" y="3317747"/>
              <a:ext cx="142240" cy="370840"/>
            </a:xfrm>
            <a:custGeom>
              <a:avLst/>
              <a:gdLst/>
              <a:ahLst/>
              <a:cxnLst/>
              <a:rect l="l" t="t" r="r" b="b"/>
              <a:pathLst>
                <a:path w="142239" h="370839">
                  <a:moveTo>
                    <a:pt x="70103" y="0"/>
                  </a:moveTo>
                  <a:lnTo>
                    <a:pt x="0" y="73151"/>
                  </a:lnTo>
                  <a:lnTo>
                    <a:pt x="35051" y="73151"/>
                  </a:lnTo>
                  <a:lnTo>
                    <a:pt x="35051" y="370331"/>
                  </a:lnTo>
                  <a:lnTo>
                    <a:pt x="106679" y="370331"/>
                  </a:lnTo>
                  <a:lnTo>
                    <a:pt x="106679" y="73151"/>
                  </a:lnTo>
                  <a:lnTo>
                    <a:pt x="141731" y="73151"/>
                  </a:lnTo>
                  <a:lnTo>
                    <a:pt x="70103" y="0"/>
                  </a:lnTo>
                  <a:close/>
                </a:path>
              </a:pathLst>
            </a:custGeom>
            <a:solidFill>
              <a:srgbClr val="00E4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35677" y="3311575"/>
              <a:ext cx="166370" cy="381635"/>
            </a:xfrm>
            <a:custGeom>
              <a:avLst/>
              <a:gdLst/>
              <a:ahLst/>
              <a:cxnLst/>
              <a:rect l="l" t="t" r="r" b="b"/>
              <a:pathLst>
                <a:path w="166370" h="381635">
                  <a:moveTo>
                    <a:pt x="42468" y="78701"/>
                  </a:moveTo>
                  <a:lnTo>
                    <a:pt x="42468" y="381203"/>
                  </a:lnTo>
                  <a:lnTo>
                    <a:pt x="123545" y="381203"/>
                  </a:lnTo>
                  <a:lnTo>
                    <a:pt x="123545" y="376440"/>
                  </a:lnTo>
                  <a:lnTo>
                    <a:pt x="51993" y="376440"/>
                  </a:lnTo>
                  <a:lnTo>
                    <a:pt x="47231" y="371678"/>
                  </a:lnTo>
                  <a:lnTo>
                    <a:pt x="51993" y="371678"/>
                  </a:lnTo>
                  <a:lnTo>
                    <a:pt x="51993" y="83464"/>
                  </a:lnTo>
                  <a:lnTo>
                    <a:pt x="47231" y="83464"/>
                  </a:lnTo>
                  <a:lnTo>
                    <a:pt x="42468" y="78701"/>
                  </a:lnTo>
                  <a:close/>
                </a:path>
                <a:path w="166370" h="381635">
                  <a:moveTo>
                    <a:pt x="51993" y="371678"/>
                  </a:moveTo>
                  <a:lnTo>
                    <a:pt x="47231" y="371678"/>
                  </a:lnTo>
                  <a:lnTo>
                    <a:pt x="51993" y="376440"/>
                  </a:lnTo>
                  <a:lnTo>
                    <a:pt x="51993" y="371678"/>
                  </a:lnTo>
                  <a:close/>
                </a:path>
                <a:path w="166370" h="381635">
                  <a:moveTo>
                    <a:pt x="114020" y="371678"/>
                  </a:moveTo>
                  <a:lnTo>
                    <a:pt x="51993" y="371678"/>
                  </a:lnTo>
                  <a:lnTo>
                    <a:pt x="51993" y="376440"/>
                  </a:lnTo>
                  <a:lnTo>
                    <a:pt x="114020" y="376440"/>
                  </a:lnTo>
                  <a:lnTo>
                    <a:pt x="114020" y="371678"/>
                  </a:lnTo>
                  <a:close/>
                </a:path>
                <a:path w="166370" h="381635">
                  <a:moveTo>
                    <a:pt x="143098" y="73939"/>
                  </a:moveTo>
                  <a:lnTo>
                    <a:pt x="114020" y="73939"/>
                  </a:lnTo>
                  <a:lnTo>
                    <a:pt x="114020" y="376440"/>
                  </a:lnTo>
                  <a:lnTo>
                    <a:pt x="118783" y="371678"/>
                  </a:lnTo>
                  <a:lnTo>
                    <a:pt x="123545" y="371678"/>
                  </a:lnTo>
                  <a:lnTo>
                    <a:pt x="123545" y="83464"/>
                  </a:lnTo>
                  <a:lnTo>
                    <a:pt x="118783" y="83464"/>
                  </a:lnTo>
                  <a:lnTo>
                    <a:pt x="123545" y="78701"/>
                  </a:lnTo>
                  <a:lnTo>
                    <a:pt x="147834" y="78701"/>
                  </a:lnTo>
                  <a:lnTo>
                    <a:pt x="143098" y="73939"/>
                  </a:lnTo>
                  <a:close/>
                </a:path>
                <a:path w="166370" h="381635">
                  <a:moveTo>
                    <a:pt x="123545" y="371678"/>
                  </a:moveTo>
                  <a:lnTo>
                    <a:pt x="118783" y="371678"/>
                  </a:lnTo>
                  <a:lnTo>
                    <a:pt x="114020" y="376440"/>
                  </a:lnTo>
                  <a:lnTo>
                    <a:pt x="123545" y="376440"/>
                  </a:lnTo>
                  <a:lnTo>
                    <a:pt x="123545" y="371678"/>
                  </a:lnTo>
                  <a:close/>
                </a:path>
                <a:path w="166370" h="381635">
                  <a:moveTo>
                    <a:pt x="83007" y="0"/>
                  </a:moveTo>
                  <a:lnTo>
                    <a:pt x="0" y="83464"/>
                  </a:lnTo>
                  <a:lnTo>
                    <a:pt x="42468" y="83464"/>
                  </a:lnTo>
                  <a:lnTo>
                    <a:pt x="42468" y="82067"/>
                  </a:lnTo>
                  <a:lnTo>
                    <a:pt x="14820" y="82067"/>
                  </a:lnTo>
                  <a:lnTo>
                    <a:pt x="11455" y="73939"/>
                  </a:lnTo>
                  <a:lnTo>
                    <a:pt x="22904" y="73939"/>
                  </a:lnTo>
                  <a:lnTo>
                    <a:pt x="83006" y="13506"/>
                  </a:lnTo>
                  <a:lnTo>
                    <a:pt x="79628" y="10109"/>
                  </a:lnTo>
                  <a:lnTo>
                    <a:pt x="93061" y="10109"/>
                  </a:lnTo>
                  <a:lnTo>
                    <a:pt x="83007" y="0"/>
                  </a:lnTo>
                  <a:close/>
                </a:path>
                <a:path w="166370" h="381635">
                  <a:moveTo>
                    <a:pt x="51993" y="78701"/>
                  </a:moveTo>
                  <a:lnTo>
                    <a:pt x="42468" y="78701"/>
                  </a:lnTo>
                  <a:lnTo>
                    <a:pt x="47231" y="83464"/>
                  </a:lnTo>
                  <a:lnTo>
                    <a:pt x="51993" y="83464"/>
                  </a:lnTo>
                  <a:lnTo>
                    <a:pt x="51993" y="78701"/>
                  </a:lnTo>
                  <a:close/>
                </a:path>
                <a:path w="166370" h="381635">
                  <a:moveTo>
                    <a:pt x="123545" y="78701"/>
                  </a:moveTo>
                  <a:lnTo>
                    <a:pt x="118783" y="83464"/>
                  </a:lnTo>
                  <a:lnTo>
                    <a:pt x="123545" y="83464"/>
                  </a:lnTo>
                  <a:lnTo>
                    <a:pt x="123545" y="78701"/>
                  </a:lnTo>
                  <a:close/>
                </a:path>
                <a:path w="166370" h="381635">
                  <a:moveTo>
                    <a:pt x="147834" y="78701"/>
                  </a:moveTo>
                  <a:lnTo>
                    <a:pt x="123545" y="78701"/>
                  </a:lnTo>
                  <a:lnTo>
                    <a:pt x="123545" y="83464"/>
                  </a:lnTo>
                  <a:lnTo>
                    <a:pt x="166014" y="83464"/>
                  </a:lnTo>
                  <a:lnTo>
                    <a:pt x="164625" y="82067"/>
                  </a:lnTo>
                  <a:lnTo>
                    <a:pt x="151180" y="82067"/>
                  </a:lnTo>
                  <a:lnTo>
                    <a:pt x="147834" y="78701"/>
                  </a:lnTo>
                  <a:close/>
                </a:path>
                <a:path w="166370" h="381635">
                  <a:moveTo>
                    <a:pt x="22904" y="73939"/>
                  </a:moveTo>
                  <a:lnTo>
                    <a:pt x="11455" y="73939"/>
                  </a:lnTo>
                  <a:lnTo>
                    <a:pt x="14820" y="82067"/>
                  </a:lnTo>
                  <a:lnTo>
                    <a:pt x="22904" y="73939"/>
                  </a:lnTo>
                  <a:close/>
                </a:path>
                <a:path w="166370" h="381635">
                  <a:moveTo>
                    <a:pt x="51993" y="73939"/>
                  </a:moveTo>
                  <a:lnTo>
                    <a:pt x="22904" y="73939"/>
                  </a:lnTo>
                  <a:lnTo>
                    <a:pt x="14820" y="82067"/>
                  </a:lnTo>
                  <a:lnTo>
                    <a:pt x="42468" y="82067"/>
                  </a:lnTo>
                  <a:lnTo>
                    <a:pt x="42468" y="78701"/>
                  </a:lnTo>
                  <a:lnTo>
                    <a:pt x="51993" y="78701"/>
                  </a:lnTo>
                  <a:lnTo>
                    <a:pt x="51993" y="73939"/>
                  </a:lnTo>
                  <a:close/>
                </a:path>
                <a:path w="166370" h="381635">
                  <a:moveTo>
                    <a:pt x="93061" y="10109"/>
                  </a:moveTo>
                  <a:lnTo>
                    <a:pt x="86385" y="10109"/>
                  </a:lnTo>
                  <a:lnTo>
                    <a:pt x="83006" y="13506"/>
                  </a:lnTo>
                  <a:lnTo>
                    <a:pt x="151180" y="82067"/>
                  </a:lnTo>
                  <a:lnTo>
                    <a:pt x="154559" y="73939"/>
                  </a:lnTo>
                  <a:lnTo>
                    <a:pt x="156541" y="73939"/>
                  </a:lnTo>
                  <a:lnTo>
                    <a:pt x="93061" y="10109"/>
                  </a:lnTo>
                  <a:close/>
                </a:path>
                <a:path w="166370" h="381635">
                  <a:moveTo>
                    <a:pt x="156541" y="73939"/>
                  </a:moveTo>
                  <a:lnTo>
                    <a:pt x="154559" y="73939"/>
                  </a:lnTo>
                  <a:lnTo>
                    <a:pt x="151180" y="82067"/>
                  </a:lnTo>
                  <a:lnTo>
                    <a:pt x="164625" y="82067"/>
                  </a:lnTo>
                  <a:lnTo>
                    <a:pt x="156541" y="73939"/>
                  </a:lnTo>
                  <a:close/>
                </a:path>
                <a:path w="166370" h="381635">
                  <a:moveTo>
                    <a:pt x="86385" y="10109"/>
                  </a:moveTo>
                  <a:lnTo>
                    <a:pt x="79628" y="10109"/>
                  </a:lnTo>
                  <a:lnTo>
                    <a:pt x="83006" y="13506"/>
                  </a:lnTo>
                  <a:lnTo>
                    <a:pt x="86385" y="101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02272" y="3421837"/>
            <a:ext cx="8087995" cy="19570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608830">
              <a:lnSpc>
                <a:spcPct val="100000"/>
              </a:lnSpc>
              <a:spcBef>
                <a:spcPts val="125"/>
              </a:spcBef>
            </a:pPr>
            <a:r>
              <a:rPr dirty="0" sz="1800" spc="-10" b="1">
                <a:solidFill>
                  <a:srgbClr val="0000FF"/>
                </a:solidFill>
                <a:latin typeface="Tahoma"/>
                <a:cs typeface="Tahoma"/>
              </a:rPr>
              <a:t>teacher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45"/>
              </a:spcBef>
            </a:pPr>
            <a:endParaRPr sz="1800">
              <a:latin typeface="Tahoma"/>
              <a:cs typeface="Tahoma"/>
            </a:endParaRPr>
          </a:p>
          <a:p>
            <a:pPr marL="355600" marR="5080" indent="-342900">
              <a:lnSpc>
                <a:spcPct val="104200"/>
              </a:lnSpc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LVQ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supervised</a:t>
            </a:r>
            <a:r>
              <a:rPr dirty="0" sz="24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learning</a:t>
            </a:r>
            <a:r>
              <a:rPr dirty="0" sz="24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technique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uses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solidFill>
                  <a:srgbClr val="0000FF"/>
                </a:solidFill>
                <a:latin typeface="Tahoma"/>
                <a:cs typeface="Tahoma"/>
              </a:rPr>
              <a:t>class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information</a:t>
            </a:r>
            <a:r>
              <a:rPr dirty="0" sz="2400" spc="-2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move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Voronoi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slightly,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to </a:t>
            </a:r>
            <a:r>
              <a:rPr dirty="0" sz="2400">
                <a:latin typeface="Tahoma"/>
                <a:cs typeface="Tahoma"/>
              </a:rPr>
              <a:t>improve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quality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classifier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decision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regions.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439150" y="6507075"/>
            <a:ext cx="283845" cy="24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z="1400" spc="-25">
                <a:latin typeface="Tahoma"/>
                <a:cs typeface="Tahoma"/>
              </a:rPr>
              <a:t>31</a:t>
            </a:fld>
            <a:endParaRPr sz="14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96533" y="2557869"/>
            <a:ext cx="706120" cy="580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5"/>
              </a:spcBef>
            </a:pPr>
            <a:r>
              <a:rPr dirty="0" sz="1800" spc="-10" b="1">
                <a:latin typeface="Tahoma"/>
                <a:cs typeface="Tahoma"/>
              </a:rPr>
              <a:t>class labels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69072" y="6144374"/>
            <a:ext cx="688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75" b="1"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1363" y="1989874"/>
            <a:ext cx="8584565" cy="4180204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366395" indent="-340995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buChar char="■"/>
              <a:tabLst>
                <a:tab pos="366395" algn="l"/>
              </a:tabLst>
            </a:pP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 spc="3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picked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random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0">
                <a:latin typeface="Tahoma"/>
                <a:cs typeface="Tahoma"/>
              </a:rPr>
              <a:t> space.</a:t>
            </a:r>
            <a:endParaRPr sz="2400">
              <a:latin typeface="Tahoma"/>
              <a:cs typeface="Tahoma"/>
            </a:endParaRPr>
          </a:p>
          <a:p>
            <a:pPr algn="just" marL="365760" marR="17780" indent="-34099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67665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labels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x</a:t>
            </a:r>
            <a:r>
              <a:rPr dirty="0" sz="2400" spc="2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Voronoi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vector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dirty="0" sz="2400" spc="1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agree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Voronoi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moved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in</a:t>
            </a:r>
            <a:r>
              <a:rPr dirty="0" sz="2400" spc="-2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the</a:t>
            </a:r>
            <a:r>
              <a:rPr dirty="0" sz="2400" spc="-2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direction</a:t>
            </a:r>
            <a:r>
              <a:rPr dirty="0" sz="2400" spc="-30" b="1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of </a:t>
            </a:r>
            <a:r>
              <a:rPr dirty="0" sz="2400" spc="-25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x.</a:t>
            </a:r>
            <a:endParaRPr sz="2400">
              <a:latin typeface="Tahoma"/>
              <a:cs typeface="Tahoma"/>
            </a:endParaRPr>
          </a:p>
          <a:p>
            <a:pPr marL="367665" marR="586105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67665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labels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x</a:t>
            </a:r>
            <a:r>
              <a:rPr dirty="0" sz="2400" spc="3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Voronoi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w</a:t>
            </a:r>
            <a:r>
              <a:rPr dirty="0" sz="2400" spc="2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0000FF"/>
                </a:solidFill>
                <a:latin typeface="Tahoma"/>
                <a:cs typeface="Tahoma"/>
              </a:rPr>
              <a:t>disagree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Voronoi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moved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away </a:t>
            </a:r>
            <a:r>
              <a:rPr dirty="0" sz="2400" b="1">
                <a:latin typeface="Tahoma"/>
                <a:cs typeface="Tahoma"/>
              </a:rPr>
              <a:t>from</a:t>
            </a:r>
            <a:r>
              <a:rPr dirty="0" sz="2400" spc="-2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x.</a:t>
            </a:r>
            <a:endParaRPr sz="2400">
              <a:latin typeface="Tahoma"/>
              <a:cs typeface="Tahoma"/>
            </a:endParaRPr>
          </a:p>
          <a:p>
            <a:pPr marL="1327150">
              <a:lnSpc>
                <a:spcPts val="2845"/>
              </a:lnSpc>
              <a:spcBef>
                <a:spcPts val="880"/>
              </a:spcBef>
            </a:pPr>
            <a:r>
              <a:rPr dirty="0" sz="2400" spc="55" b="1">
                <a:latin typeface="Times New Roman"/>
                <a:cs typeface="Times New Roman"/>
              </a:rPr>
              <a:t>if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 spc="210" b="1">
                <a:latin typeface="Times New Roman"/>
                <a:cs typeface="Times New Roman"/>
              </a:rPr>
              <a:t>the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 spc="195" b="1">
                <a:latin typeface="Times New Roman"/>
                <a:cs typeface="Times New Roman"/>
              </a:rPr>
              <a:t>winner</a:t>
            </a:r>
            <a:r>
              <a:rPr dirty="0" sz="2400" spc="375" b="1">
                <a:latin typeface="Times New Roman"/>
                <a:cs typeface="Times New Roman"/>
              </a:rPr>
              <a:t> </a:t>
            </a:r>
            <a:r>
              <a:rPr dirty="0" sz="2400" spc="120" b="1">
                <a:latin typeface="Times New Roman"/>
                <a:cs typeface="Times New Roman"/>
              </a:rPr>
              <a:t>belongs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 spc="225" b="1">
                <a:latin typeface="Times New Roman"/>
                <a:cs typeface="Times New Roman"/>
              </a:rPr>
              <a:t>to</a:t>
            </a:r>
            <a:r>
              <a:rPr dirty="0" sz="2400" spc="365" b="1">
                <a:latin typeface="Times New Roman"/>
                <a:cs typeface="Times New Roman"/>
              </a:rPr>
              <a:t> </a:t>
            </a:r>
            <a:r>
              <a:rPr dirty="0" sz="2400" spc="210" b="1">
                <a:latin typeface="Times New Roman"/>
                <a:cs typeface="Times New Roman"/>
              </a:rPr>
              <a:t>the</a:t>
            </a:r>
            <a:r>
              <a:rPr dirty="0" sz="2400" spc="375" b="1">
                <a:latin typeface="Times New Roman"/>
                <a:cs typeface="Times New Roman"/>
              </a:rPr>
              <a:t> </a:t>
            </a:r>
            <a:r>
              <a:rPr dirty="0" sz="2400" spc="160" b="1">
                <a:latin typeface="Times New Roman"/>
                <a:cs typeface="Times New Roman"/>
              </a:rPr>
              <a:t>right</a:t>
            </a:r>
            <a:r>
              <a:rPr dirty="0" sz="2400" spc="365" b="1">
                <a:latin typeface="Times New Roman"/>
                <a:cs typeface="Times New Roman"/>
              </a:rPr>
              <a:t> </a:t>
            </a:r>
            <a:r>
              <a:rPr dirty="0" sz="2400" spc="75" b="1">
                <a:latin typeface="Times New Roman"/>
                <a:cs typeface="Times New Roman"/>
              </a:rPr>
              <a:t>class</a:t>
            </a:r>
            <a:endParaRPr sz="2400">
              <a:latin typeface="Times New Roman"/>
              <a:cs typeface="Times New Roman"/>
            </a:endParaRPr>
          </a:p>
          <a:p>
            <a:pPr algn="ctr" marL="62230">
              <a:lnSpc>
                <a:spcPts val="3625"/>
              </a:lnSpc>
            </a:pPr>
            <a:r>
              <a:rPr dirty="0" sz="2900" spc="50">
                <a:latin typeface="Times New Roman"/>
                <a:cs typeface="Times New Roman"/>
              </a:rPr>
              <a:t>w</a:t>
            </a:r>
            <a:r>
              <a:rPr dirty="0" baseline="42483" sz="2550" spc="75" i="1">
                <a:latin typeface="Times New Roman"/>
                <a:cs typeface="Times New Roman"/>
              </a:rPr>
              <a:t>new</a:t>
            </a:r>
            <a:r>
              <a:rPr dirty="0" baseline="42483" sz="2550" spc="60" i="1">
                <a:latin typeface="Times New Roman"/>
                <a:cs typeface="Times New Roman"/>
              </a:rPr>
              <a:t>  </a:t>
            </a:r>
            <a:r>
              <a:rPr dirty="0" sz="2900">
                <a:latin typeface="Times New Roman"/>
                <a:cs typeface="Times New Roman"/>
              </a:rPr>
              <a:t>= </a:t>
            </a:r>
            <a:r>
              <a:rPr dirty="0" sz="2900" spc="50">
                <a:latin typeface="Times New Roman"/>
                <a:cs typeface="Times New Roman"/>
              </a:rPr>
              <a:t>w</a:t>
            </a:r>
            <a:r>
              <a:rPr dirty="0" baseline="42483" sz="2550" spc="75" i="1">
                <a:latin typeface="Times New Roman"/>
                <a:cs typeface="Times New Roman"/>
              </a:rPr>
              <a:t>old</a:t>
            </a:r>
            <a:r>
              <a:rPr dirty="0" baseline="42483" sz="2550" spc="89" i="1">
                <a:latin typeface="Times New Roman"/>
                <a:cs typeface="Times New Roman"/>
              </a:rPr>
              <a:t>  </a:t>
            </a:r>
            <a:r>
              <a:rPr dirty="0" sz="2900" spc="180">
                <a:latin typeface="Times New Roman"/>
                <a:cs typeface="Times New Roman"/>
              </a:rPr>
              <a:t>+</a:t>
            </a:r>
            <a:r>
              <a:rPr dirty="0" sz="3050" spc="180" i="1">
                <a:latin typeface="Times New Roman"/>
                <a:cs typeface="Times New Roman"/>
              </a:rPr>
              <a:t>η</a:t>
            </a:r>
            <a:r>
              <a:rPr dirty="0" sz="2900" spc="180">
                <a:latin typeface="Times New Roman"/>
                <a:cs typeface="Times New Roman"/>
              </a:rPr>
              <a:t>(x</a:t>
            </a:r>
            <a:r>
              <a:rPr dirty="0" sz="2900" spc="-140">
                <a:latin typeface="Times New Roman"/>
                <a:cs typeface="Times New Roman"/>
              </a:rPr>
              <a:t> </a:t>
            </a:r>
            <a:r>
              <a:rPr dirty="0" sz="2900" spc="145">
                <a:latin typeface="Times New Roman"/>
                <a:cs typeface="Times New Roman"/>
              </a:rPr>
              <a:t>–</a:t>
            </a:r>
            <a:r>
              <a:rPr dirty="0" sz="2900" spc="-185">
                <a:latin typeface="Times New Roman"/>
                <a:cs typeface="Times New Roman"/>
              </a:rPr>
              <a:t> </a:t>
            </a:r>
            <a:r>
              <a:rPr dirty="0" sz="2900" spc="60">
                <a:latin typeface="Times New Roman"/>
                <a:cs typeface="Times New Roman"/>
              </a:rPr>
              <a:t>w)</a:t>
            </a:r>
            <a:endParaRPr sz="2900">
              <a:latin typeface="Times New Roman"/>
              <a:cs typeface="Times New Roman"/>
            </a:endParaRPr>
          </a:p>
          <a:p>
            <a:pPr marL="1327150">
              <a:lnSpc>
                <a:spcPct val="100000"/>
              </a:lnSpc>
              <a:spcBef>
                <a:spcPts val="600"/>
              </a:spcBef>
            </a:pPr>
            <a:r>
              <a:rPr dirty="0" sz="2400" spc="55" b="1">
                <a:latin typeface="Times New Roman"/>
                <a:cs typeface="Times New Roman"/>
              </a:rPr>
              <a:t>if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 spc="210" b="1">
                <a:latin typeface="Times New Roman"/>
                <a:cs typeface="Times New Roman"/>
              </a:rPr>
              <a:t>the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 spc="195" b="1">
                <a:latin typeface="Times New Roman"/>
                <a:cs typeface="Times New Roman"/>
              </a:rPr>
              <a:t>winner</a:t>
            </a:r>
            <a:r>
              <a:rPr dirty="0" sz="2400" spc="375" b="1">
                <a:latin typeface="Times New Roman"/>
                <a:cs typeface="Times New Roman"/>
              </a:rPr>
              <a:t> </a:t>
            </a:r>
            <a:r>
              <a:rPr dirty="0" sz="2400" spc="120" b="1">
                <a:latin typeface="Times New Roman"/>
                <a:cs typeface="Times New Roman"/>
              </a:rPr>
              <a:t>belongs</a:t>
            </a:r>
            <a:r>
              <a:rPr dirty="0" sz="2400" spc="370" b="1">
                <a:latin typeface="Times New Roman"/>
                <a:cs typeface="Times New Roman"/>
              </a:rPr>
              <a:t> </a:t>
            </a:r>
            <a:r>
              <a:rPr dirty="0" sz="2400" spc="225" b="1">
                <a:latin typeface="Times New Roman"/>
                <a:cs typeface="Times New Roman"/>
              </a:rPr>
              <a:t>to</a:t>
            </a:r>
            <a:r>
              <a:rPr dirty="0" sz="2400" spc="365" b="1">
                <a:latin typeface="Times New Roman"/>
                <a:cs typeface="Times New Roman"/>
              </a:rPr>
              <a:t> </a:t>
            </a:r>
            <a:r>
              <a:rPr dirty="0" sz="2400" spc="210" b="1">
                <a:latin typeface="Times New Roman"/>
                <a:cs typeface="Times New Roman"/>
              </a:rPr>
              <a:t>the</a:t>
            </a:r>
            <a:r>
              <a:rPr dirty="0" sz="2400" spc="375" b="1">
                <a:latin typeface="Times New Roman"/>
                <a:cs typeface="Times New Roman"/>
              </a:rPr>
              <a:t> </a:t>
            </a:r>
            <a:r>
              <a:rPr dirty="0" sz="2400" spc="200" b="1">
                <a:latin typeface="Times New Roman"/>
                <a:cs typeface="Times New Roman"/>
              </a:rPr>
              <a:t>wrong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74289" y="6227815"/>
            <a:ext cx="3117215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650" spc="60">
                <a:latin typeface="Times New Roman"/>
                <a:cs typeface="Times New Roman"/>
              </a:rPr>
              <a:t>w</a:t>
            </a:r>
            <a:r>
              <a:rPr dirty="0" baseline="43010" sz="2325" spc="89" i="1">
                <a:latin typeface="Times New Roman"/>
                <a:cs typeface="Times New Roman"/>
              </a:rPr>
              <a:t>new</a:t>
            </a:r>
            <a:r>
              <a:rPr dirty="0" baseline="43010" sz="2325" spc="735" i="1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=</a:t>
            </a:r>
            <a:r>
              <a:rPr dirty="0" sz="2650" spc="-1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w</a:t>
            </a:r>
            <a:r>
              <a:rPr dirty="0" baseline="43010" sz="2325" spc="89" i="1">
                <a:latin typeface="Times New Roman"/>
                <a:cs typeface="Times New Roman"/>
              </a:rPr>
              <a:t>old</a:t>
            </a:r>
            <a:r>
              <a:rPr dirty="0" baseline="43010" sz="2325" spc="97" i="1">
                <a:latin typeface="Times New Roman"/>
                <a:cs typeface="Times New Roman"/>
              </a:rPr>
              <a:t>  </a:t>
            </a:r>
            <a:r>
              <a:rPr dirty="0" sz="2650" spc="200">
                <a:latin typeface="Times New Roman"/>
                <a:cs typeface="Times New Roman"/>
              </a:rPr>
              <a:t>–</a:t>
            </a:r>
            <a:r>
              <a:rPr dirty="0" sz="2800" spc="200" i="1">
                <a:latin typeface="Times New Roman"/>
                <a:cs typeface="Times New Roman"/>
              </a:rPr>
              <a:t>η</a:t>
            </a:r>
            <a:r>
              <a:rPr dirty="0" sz="2650" spc="200">
                <a:latin typeface="Times New Roman"/>
                <a:cs typeface="Times New Roman"/>
              </a:rPr>
              <a:t>(x</a:t>
            </a:r>
            <a:r>
              <a:rPr dirty="0" sz="2650" spc="-100">
                <a:latin typeface="Times New Roman"/>
                <a:cs typeface="Times New Roman"/>
              </a:rPr>
              <a:t> </a:t>
            </a:r>
            <a:r>
              <a:rPr dirty="0" sz="2650" spc="145">
                <a:latin typeface="Times New Roman"/>
                <a:cs typeface="Times New Roman"/>
              </a:rPr>
              <a:t>–</a:t>
            </a:r>
            <a:r>
              <a:rPr dirty="0" sz="2650" spc="-185">
                <a:latin typeface="Times New Roman"/>
                <a:cs typeface="Times New Roman"/>
              </a:rPr>
              <a:t> </a:t>
            </a:r>
            <a:r>
              <a:rPr dirty="0" sz="2650" spc="60">
                <a:latin typeface="Times New Roman"/>
                <a:cs typeface="Times New Roman"/>
              </a:rPr>
              <a:t>w)</a:t>
            </a:r>
            <a:endParaRPr sz="2650">
              <a:latin typeface="Times New Roman"/>
              <a:cs typeface="Times New Roman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531048" y="4866208"/>
            <a:ext cx="6366510" cy="1887855"/>
            <a:chOff x="1531048" y="4866208"/>
            <a:chExt cx="6366510" cy="1887855"/>
          </a:xfrm>
        </p:grpSpPr>
        <p:sp>
          <p:nvSpPr>
            <p:cNvPr id="6" name="object 6" descr=""/>
            <p:cNvSpPr/>
            <p:nvPr/>
          </p:nvSpPr>
          <p:spPr>
            <a:xfrm>
              <a:off x="1543812" y="4878323"/>
              <a:ext cx="6339840" cy="1862455"/>
            </a:xfrm>
            <a:custGeom>
              <a:avLst/>
              <a:gdLst/>
              <a:ahLst/>
              <a:cxnLst/>
              <a:rect l="l" t="t" r="r" b="b"/>
              <a:pathLst>
                <a:path w="6339840" h="1862454">
                  <a:moveTo>
                    <a:pt x="6339840" y="0"/>
                  </a:moveTo>
                  <a:lnTo>
                    <a:pt x="0" y="0"/>
                  </a:lnTo>
                  <a:lnTo>
                    <a:pt x="0" y="1862328"/>
                  </a:lnTo>
                  <a:lnTo>
                    <a:pt x="6339840" y="1862328"/>
                  </a:lnTo>
                  <a:lnTo>
                    <a:pt x="6339840" y="0"/>
                  </a:lnTo>
                  <a:close/>
                </a:path>
              </a:pathLst>
            </a:custGeom>
            <a:solidFill>
              <a:srgbClr val="0000FF">
                <a:alpha val="5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1048" y="4866208"/>
              <a:ext cx="6366510" cy="1887855"/>
            </a:xfrm>
            <a:custGeom>
              <a:avLst/>
              <a:gdLst/>
              <a:ahLst/>
              <a:cxnLst/>
              <a:rect l="l" t="t" r="r" b="b"/>
              <a:pathLst>
                <a:path w="6366509" h="1887854">
                  <a:moveTo>
                    <a:pt x="6353314" y="0"/>
                  </a:moveTo>
                  <a:lnTo>
                    <a:pt x="12700" y="0"/>
                  </a:lnTo>
                  <a:lnTo>
                    <a:pt x="10223" y="241"/>
                  </a:lnTo>
                  <a:lnTo>
                    <a:pt x="0" y="12700"/>
                  </a:lnTo>
                  <a:lnTo>
                    <a:pt x="0" y="1875155"/>
                  </a:lnTo>
                  <a:lnTo>
                    <a:pt x="12700" y="1887855"/>
                  </a:lnTo>
                  <a:lnTo>
                    <a:pt x="6353314" y="1887855"/>
                  </a:lnTo>
                  <a:lnTo>
                    <a:pt x="6366014" y="1875155"/>
                  </a:lnTo>
                  <a:lnTo>
                    <a:pt x="25400" y="1875155"/>
                  </a:lnTo>
                  <a:lnTo>
                    <a:pt x="12700" y="1862455"/>
                  </a:lnTo>
                  <a:lnTo>
                    <a:pt x="25400" y="1862455"/>
                  </a:lnTo>
                  <a:lnTo>
                    <a:pt x="25400" y="25400"/>
                  </a:lnTo>
                  <a:lnTo>
                    <a:pt x="12700" y="25400"/>
                  </a:lnTo>
                  <a:lnTo>
                    <a:pt x="25400" y="12700"/>
                  </a:lnTo>
                  <a:lnTo>
                    <a:pt x="6366014" y="12700"/>
                  </a:lnTo>
                  <a:lnTo>
                    <a:pt x="6365773" y="10210"/>
                  </a:lnTo>
                  <a:lnTo>
                    <a:pt x="6355791" y="241"/>
                  </a:lnTo>
                  <a:lnTo>
                    <a:pt x="6353314" y="0"/>
                  </a:lnTo>
                  <a:close/>
                </a:path>
                <a:path w="6366509" h="1887854">
                  <a:moveTo>
                    <a:pt x="25400" y="1862455"/>
                  </a:moveTo>
                  <a:lnTo>
                    <a:pt x="12700" y="1862455"/>
                  </a:lnTo>
                  <a:lnTo>
                    <a:pt x="25400" y="1875155"/>
                  </a:lnTo>
                  <a:lnTo>
                    <a:pt x="25400" y="1862455"/>
                  </a:lnTo>
                  <a:close/>
                </a:path>
                <a:path w="6366509" h="1887854">
                  <a:moveTo>
                    <a:pt x="6340614" y="1862455"/>
                  </a:moveTo>
                  <a:lnTo>
                    <a:pt x="25400" y="1862455"/>
                  </a:lnTo>
                  <a:lnTo>
                    <a:pt x="25400" y="1875155"/>
                  </a:lnTo>
                  <a:lnTo>
                    <a:pt x="6340614" y="1875155"/>
                  </a:lnTo>
                  <a:lnTo>
                    <a:pt x="6340614" y="1862455"/>
                  </a:lnTo>
                  <a:close/>
                </a:path>
                <a:path w="6366509" h="1887854">
                  <a:moveTo>
                    <a:pt x="6340614" y="12700"/>
                  </a:moveTo>
                  <a:lnTo>
                    <a:pt x="6340614" y="1875155"/>
                  </a:lnTo>
                  <a:lnTo>
                    <a:pt x="6353314" y="1862455"/>
                  </a:lnTo>
                  <a:lnTo>
                    <a:pt x="6366014" y="1862455"/>
                  </a:lnTo>
                  <a:lnTo>
                    <a:pt x="6366014" y="25400"/>
                  </a:lnTo>
                  <a:lnTo>
                    <a:pt x="6353314" y="25400"/>
                  </a:lnTo>
                  <a:lnTo>
                    <a:pt x="6340614" y="12700"/>
                  </a:lnTo>
                  <a:close/>
                </a:path>
                <a:path w="6366509" h="1887854">
                  <a:moveTo>
                    <a:pt x="6366014" y="1862455"/>
                  </a:moveTo>
                  <a:lnTo>
                    <a:pt x="6353314" y="1862455"/>
                  </a:lnTo>
                  <a:lnTo>
                    <a:pt x="6340614" y="1875155"/>
                  </a:lnTo>
                  <a:lnTo>
                    <a:pt x="6366014" y="1875155"/>
                  </a:lnTo>
                  <a:lnTo>
                    <a:pt x="6366014" y="1862455"/>
                  </a:lnTo>
                  <a:close/>
                </a:path>
                <a:path w="6366509" h="1887854">
                  <a:moveTo>
                    <a:pt x="25400" y="12700"/>
                  </a:moveTo>
                  <a:lnTo>
                    <a:pt x="12700" y="25400"/>
                  </a:lnTo>
                  <a:lnTo>
                    <a:pt x="25400" y="25400"/>
                  </a:lnTo>
                  <a:lnTo>
                    <a:pt x="25400" y="12700"/>
                  </a:lnTo>
                  <a:close/>
                </a:path>
                <a:path w="6366509" h="1887854">
                  <a:moveTo>
                    <a:pt x="6340614" y="12700"/>
                  </a:moveTo>
                  <a:lnTo>
                    <a:pt x="25400" y="12700"/>
                  </a:lnTo>
                  <a:lnTo>
                    <a:pt x="25400" y="25400"/>
                  </a:lnTo>
                  <a:lnTo>
                    <a:pt x="6340614" y="25400"/>
                  </a:lnTo>
                  <a:lnTo>
                    <a:pt x="6340614" y="12700"/>
                  </a:lnTo>
                  <a:close/>
                </a:path>
                <a:path w="6366509" h="1887854">
                  <a:moveTo>
                    <a:pt x="6366014" y="12700"/>
                  </a:moveTo>
                  <a:lnTo>
                    <a:pt x="6340614" y="12700"/>
                  </a:lnTo>
                  <a:lnTo>
                    <a:pt x="6353314" y="25400"/>
                  </a:lnTo>
                  <a:lnTo>
                    <a:pt x="6366014" y="25400"/>
                  </a:lnTo>
                  <a:lnTo>
                    <a:pt x="6366014" y="12700"/>
                  </a:lnTo>
                  <a:close/>
                </a:path>
              </a:pathLst>
            </a:custGeom>
            <a:solidFill>
              <a:srgbClr val="00A77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4708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LVQ1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830913" y="2967608"/>
            <a:ext cx="3156585" cy="2918460"/>
            <a:chOff x="5830913" y="2967608"/>
            <a:chExt cx="3156585" cy="29184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9626" y="4079786"/>
              <a:ext cx="153784" cy="15366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4989" y="4320425"/>
              <a:ext cx="202920" cy="20193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8364" y="3383800"/>
              <a:ext cx="202920" cy="20192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64552" y="3117100"/>
              <a:ext cx="202920" cy="20192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34350" y="3957967"/>
              <a:ext cx="225285" cy="22478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8812" y="3021342"/>
              <a:ext cx="225285" cy="22478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935980" y="3054095"/>
              <a:ext cx="3028315" cy="2776855"/>
            </a:xfrm>
            <a:custGeom>
              <a:avLst/>
              <a:gdLst/>
              <a:ahLst/>
              <a:cxnLst/>
              <a:rect l="l" t="t" r="r" b="b"/>
              <a:pathLst>
                <a:path w="3028315" h="2776854">
                  <a:moveTo>
                    <a:pt x="3028188" y="0"/>
                  </a:moveTo>
                  <a:lnTo>
                    <a:pt x="0" y="0"/>
                  </a:lnTo>
                  <a:lnTo>
                    <a:pt x="0" y="2776728"/>
                  </a:lnTo>
                  <a:lnTo>
                    <a:pt x="3028188" y="2776728"/>
                  </a:lnTo>
                  <a:lnTo>
                    <a:pt x="3028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0220" y="3951477"/>
              <a:ext cx="165239" cy="16763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87957" y="5068061"/>
              <a:ext cx="377050" cy="30603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83831" y="3430155"/>
              <a:ext cx="165239" cy="16763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97331" y="3797934"/>
              <a:ext cx="165239" cy="16763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24330" y="4776127"/>
              <a:ext cx="165607" cy="16763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38867" y="5159057"/>
              <a:ext cx="165485" cy="16764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82597" y="4841773"/>
              <a:ext cx="166687" cy="16891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81508" y="3571633"/>
              <a:ext cx="543648" cy="85270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53353" y="4324934"/>
              <a:ext cx="735723" cy="65105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58746" y="4225658"/>
              <a:ext cx="166750" cy="168910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86648" y="3913568"/>
              <a:ext cx="330382" cy="34773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52245" y="4243425"/>
              <a:ext cx="796747" cy="63019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85179" y="5113566"/>
              <a:ext cx="165239" cy="16764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17449" y="4556213"/>
              <a:ext cx="165239" cy="16763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30913" y="4173283"/>
              <a:ext cx="165265" cy="16763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22454" y="4946738"/>
              <a:ext cx="165468" cy="16763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46519" y="3225418"/>
              <a:ext cx="165239" cy="16763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51536" y="3655745"/>
              <a:ext cx="165493" cy="16763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87910" y="3744848"/>
              <a:ext cx="165239" cy="16763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240153" y="3397935"/>
              <a:ext cx="165239" cy="16763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12239" y="2967608"/>
              <a:ext cx="384695" cy="33825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458009" y="3388055"/>
              <a:ext cx="529208" cy="52064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821636" y="3138220"/>
              <a:ext cx="165582" cy="16763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933019" y="4772329"/>
              <a:ext cx="165455" cy="16763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50874" y="5030152"/>
              <a:ext cx="165455" cy="16763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641477" y="4944846"/>
              <a:ext cx="528866" cy="941095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50874" y="5375173"/>
              <a:ext cx="165455" cy="167640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447040" y="2339352"/>
            <a:ext cx="5237480" cy="3916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3540" marR="690880" indent="-272415">
              <a:lnSpc>
                <a:spcPct val="100000"/>
              </a:lnSpc>
              <a:spcBef>
                <a:spcPts val="95"/>
              </a:spcBef>
              <a:buChar char="•"/>
              <a:tabLst>
                <a:tab pos="444500" algn="l"/>
              </a:tabLst>
            </a:pP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Initialize</a:t>
            </a:r>
            <a:r>
              <a:rPr dirty="0" sz="2800" spc="-1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prototype</a:t>
            </a:r>
            <a:r>
              <a:rPr dirty="0" sz="2800" spc="-1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000066"/>
                </a:solidFill>
                <a:latin typeface="Tahoma"/>
                <a:cs typeface="Tahoma"/>
              </a:rPr>
              <a:t>vectors </a:t>
            </a:r>
            <a:r>
              <a:rPr dirty="0" sz="2800" spc="-10">
                <a:solidFill>
                  <a:srgbClr val="000066"/>
                </a:solidFill>
                <a:latin typeface="Tahoma"/>
                <a:cs typeface="Tahoma"/>
              </a:rPr>
              <a:t>	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(for</a:t>
            </a:r>
            <a:r>
              <a:rPr dirty="0" sz="2800" spc="-10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different</a:t>
            </a:r>
            <a:r>
              <a:rPr dirty="0" sz="2800" spc="-10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000066"/>
                </a:solidFill>
                <a:latin typeface="Tahoma"/>
                <a:cs typeface="Tahoma"/>
              </a:rPr>
              <a:t>classes)</a:t>
            </a:r>
            <a:endParaRPr sz="2800">
              <a:latin typeface="Tahoma"/>
              <a:cs typeface="Tahoma"/>
            </a:endParaRPr>
          </a:p>
          <a:p>
            <a:pPr marL="351790" indent="-272415">
              <a:lnSpc>
                <a:spcPct val="100000"/>
              </a:lnSpc>
              <a:spcBef>
                <a:spcPts val="1040"/>
              </a:spcBef>
              <a:buChar char="•"/>
              <a:tabLst>
                <a:tab pos="351790" algn="l"/>
              </a:tabLst>
            </a:pP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Present</a:t>
            </a:r>
            <a:r>
              <a:rPr dirty="0" sz="2800" spc="-5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a</a:t>
            </a:r>
            <a:r>
              <a:rPr dirty="0" sz="2800" spc="-5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single</a:t>
            </a:r>
            <a:r>
              <a:rPr dirty="0" sz="2800" spc="-5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000066"/>
                </a:solidFill>
                <a:latin typeface="Tahoma"/>
                <a:cs typeface="Tahoma"/>
              </a:rPr>
              <a:t>example</a:t>
            </a:r>
            <a:endParaRPr sz="2800">
              <a:latin typeface="Tahoma"/>
              <a:cs typeface="Tahoma"/>
            </a:endParaRPr>
          </a:p>
          <a:p>
            <a:pPr marL="316865" indent="-272415">
              <a:lnSpc>
                <a:spcPts val="3310"/>
              </a:lnSpc>
              <a:spcBef>
                <a:spcPts val="1839"/>
              </a:spcBef>
              <a:buChar char="•"/>
              <a:tabLst>
                <a:tab pos="316865" algn="l"/>
              </a:tabLst>
            </a:pP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Identify</a:t>
            </a:r>
            <a:r>
              <a:rPr dirty="0" sz="2800" spc="-10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closest</a:t>
            </a:r>
            <a:r>
              <a:rPr dirty="0" sz="2800" spc="-10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correct</a:t>
            </a:r>
            <a:endParaRPr sz="2800">
              <a:latin typeface="Tahoma"/>
              <a:cs typeface="Tahoma"/>
            </a:endParaRPr>
          </a:p>
          <a:p>
            <a:pPr marL="377825">
              <a:lnSpc>
                <a:spcPts val="3429"/>
              </a:lnSpc>
            </a:pP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and</a:t>
            </a:r>
            <a:r>
              <a:rPr dirty="0" sz="2800" spc="-6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closest</a:t>
            </a:r>
            <a:r>
              <a:rPr dirty="0" sz="2800" spc="-3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900" spc="-275" i="1">
                <a:solidFill>
                  <a:srgbClr val="FF0000"/>
                </a:solidFill>
                <a:latin typeface="Verdana"/>
                <a:cs typeface="Verdana"/>
              </a:rPr>
              <a:t>wrong</a:t>
            </a:r>
            <a:r>
              <a:rPr dirty="0" sz="2900" spc="-140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800" spc="-10">
                <a:solidFill>
                  <a:srgbClr val="000066"/>
                </a:solidFill>
                <a:latin typeface="Tahoma"/>
                <a:cs typeface="Tahoma"/>
              </a:rPr>
              <a:t>prototypes</a:t>
            </a:r>
            <a:endParaRPr sz="2800">
              <a:latin typeface="Tahoma"/>
              <a:cs typeface="Tahoma"/>
            </a:endParaRPr>
          </a:p>
          <a:p>
            <a:pPr marL="285115" marR="5080" indent="-272415">
              <a:lnSpc>
                <a:spcPts val="3360"/>
              </a:lnSpc>
              <a:spcBef>
                <a:spcPts val="955"/>
              </a:spcBef>
              <a:buChar char="•"/>
              <a:tabLst>
                <a:tab pos="346075" algn="l"/>
              </a:tabLst>
            </a:pP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Move</a:t>
            </a:r>
            <a:r>
              <a:rPr dirty="0" sz="2800" spc="-10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the</a:t>
            </a:r>
            <a:r>
              <a:rPr dirty="0" sz="2800" spc="-10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corresponding</a:t>
            </a:r>
            <a:r>
              <a:rPr dirty="0" sz="2800" spc="-10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900" spc="-270" i="1">
                <a:solidFill>
                  <a:srgbClr val="FF0000"/>
                </a:solidFill>
                <a:latin typeface="Verdana"/>
                <a:cs typeface="Verdana"/>
              </a:rPr>
              <a:t>winner </a:t>
            </a:r>
            <a:r>
              <a:rPr dirty="0" sz="2900" spc="-270" i="1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towards</a:t>
            </a:r>
            <a:r>
              <a:rPr dirty="0" sz="28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/</a:t>
            </a:r>
            <a:r>
              <a:rPr dirty="0" sz="28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away</a:t>
            </a:r>
            <a:r>
              <a:rPr dirty="0" sz="28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>
                <a:solidFill>
                  <a:srgbClr val="000066"/>
                </a:solidFill>
                <a:latin typeface="Tahoma"/>
                <a:cs typeface="Tahoma"/>
              </a:rPr>
              <a:t>from</a:t>
            </a:r>
            <a:r>
              <a:rPr dirty="0" sz="2800" spc="-85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dirty="0" sz="2800" spc="-25">
                <a:solidFill>
                  <a:srgbClr val="000066"/>
                </a:solidFill>
                <a:latin typeface="Tahoma"/>
                <a:cs typeface="Tahoma"/>
              </a:rPr>
              <a:t>the </a:t>
            </a:r>
            <a:r>
              <a:rPr dirty="0" sz="2800" spc="-25">
                <a:solidFill>
                  <a:srgbClr val="000066"/>
                </a:solidFill>
                <a:latin typeface="Tahoma"/>
                <a:cs typeface="Tahoma"/>
              </a:rPr>
              <a:t>	</a:t>
            </a:r>
            <a:r>
              <a:rPr dirty="0" sz="2800" spc="-10">
                <a:solidFill>
                  <a:srgbClr val="000066"/>
                </a:solidFill>
                <a:latin typeface="Tahoma"/>
                <a:cs typeface="Tahoma"/>
              </a:rPr>
              <a:t>example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119176" y="3700500"/>
            <a:ext cx="232410" cy="1524000"/>
          </a:xfrm>
          <a:custGeom>
            <a:avLst/>
            <a:gdLst/>
            <a:ahLst/>
            <a:cxnLst/>
            <a:rect l="l" t="t" r="r" b="b"/>
            <a:pathLst>
              <a:path w="232410" h="1524000">
                <a:moveTo>
                  <a:pt x="165999" y="1473981"/>
                </a:moveTo>
                <a:lnTo>
                  <a:pt x="109613" y="1498600"/>
                </a:lnTo>
                <a:lnTo>
                  <a:pt x="107162" y="1511300"/>
                </a:lnTo>
                <a:lnTo>
                  <a:pt x="102146" y="1511300"/>
                </a:lnTo>
                <a:lnTo>
                  <a:pt x="102374" y="1524000"/>
                </a:lnTo>
                <a:lnTo>
                  <a:pt x="123228" y="1524000"/>
                </a:lnTo>
                <a:lnTo>
                  <a:pt x="204828" y="1485900"/>
                </a:lnTo>
                <a:lnTo>
                  <a:pt x="176034" y="1485900"/>
                </a:lnTo>
                <a:lnTo>
                  <a:pt x="165999" y="1473981"/>
                </a:lnTo>
                <a:close/>
              </a:path>
              <a:path w="232410" h="1524000">
                <a:moveTo>
                  <a:pt x="175070" y="1470020"/>
                </a:moveTo>
                <a:lnTo>
                  <a:pt x="165999" y="1473981"/>
                </a:lnTo>
                <a:lnTo>
                  <a:pt x="176034" y="1485900"/>
                </a:lnTo>
                <a:lnTo>
                  <a:pt x="196100" y="1485900"/>
                </a:lnTo>
                <a:lnTo>
                  <a:pt x="175070" y="1470020"/>
                </a:lnTo>
                <a:close/>
              </a:path>
              <a:path w="232410" h="1524000">
                <a:moveTo>
                  <a:pt x="196875" y="1460500"/>
                </a:moveTo>
                <a:lnTo>
                  <a:pt x="175070" y="1470020"/>
                </a:lnTo>
                <a:lnTo>
                  <a:pt x="196100" y="1485900"/>
                </a:lnTo>
                <a:lnTo>
                  <a:pt x="196875" y="1460500"/>
                </a:lnTo>
                <a:close/>
              </a:path>
              <a:path w="232410" h="1524000">
                <a:moveTo>
                  <a:pt x="204546" y="1460500"/>
                </a:moveTo>
                <a:lnTo>
                  <a:pt x="196875" y="1460500"/>
                </a:lnTo>
                <a:lnTo>
                  <a:pt x="196100" y="1485900"/>
                </a:lnTo>
                <a:lnTo>
                  <a:pt x="202831" y="1485900"/>
                </a:lnTo>
                <a:lnTo>
                  <a:pt x="204546" y="1460500"/>
                </a:lnTo>
                <a:close/>
              </a:path>
              <a:path w="232410" h="1524000">
                <a:moveTo>
                  <a:pt x="190083" y="1447800"/>
                </a:moveTo>
                <a:lnTo>
                  <a:pt x="189318" y="1447800"/>
                </a:lnTo>
                <a:lnTo>
                  <a:pt x="200050" y="1460500"/>
                </a:lnTo>
                <a:lnTo>
                  <a:pt x="204546" y="1460500"/>
                </a:lnTo>
                <a:lnTo>
                  <a:pt x="202831" y="1485900"/>
                </a:lnTo>
                <a:lnTo>
                  <a:pt x="204828" y="1485900"/>
                </a:lnTo>
                <a:lnTo>
                  <a:pt x="232029" y="1473200"/>
                </a:lnTo>
                <a:lnTo>
                  <a:pt x="190083" y="1447800"/>
                </a:lnTo>
                <a:close/>
              </a:path>
              <a:path w="232410" h="1524000">
                <a:moveTo>
                  <a:pt x="145641" y="1447800"/>
                </a:moveTo>
                <a:lnTo>
                  <a:pt x="72110" y="1447800"/>
                </a:lnTo>
                <a:lnTo>
                  <a:pt x="80136" y="1460500"/>
                </a:lnTo>
                <a:lnTo>
                  <a:pt x="106083" y="1460500"/>
                </a:lnTo>
                <a:lnTo>
                  <a:pt x="115315" y="1473200"/>
                </a:lnTo>
                <a:lnTo>
                  <a:pt x="165341" y="1473200"/>
                </a:lnTo>
                <a:lnTo>
                  <a:pt x="165999" y="1473981"/>
                </a:lnTo>
                <a:lnTo>
                  <a:pt x="175070" y="1470020"/>
                </a:lnTo>
                <a:lnTo>
                  <a:pt x="145641" y="1447800"/>
                </a:lnTo>
                <a:close/>
              </a:path>
              <a:path w="232410" h="1524000">
                <a:moveTo>
                  <a:pt x="124485" y="1397000"/>
                </a:moveTo>
                <a:lnTo>
                  <a:pt x="115658" y="1397000"/>
                </a:lnTo>
                <a:lnTo>
                  <a:pt x="112890" y="1409700"/>
                </a:lnTo>
                <a:lnTo>
                  <a:pt x="105308" y="1409700"/>
                </a:lnTo>
                <a:lnTo>
                  <a:pt x="105511" y="1422400"/>
                </a:lnTo>
                <a:lnTo>
                  <a:pt x="112001" y="1422400"/>
                </a:lnTo>
                <a:lnTo>
                  <a:pt x="175070" y="1470020"/>
                </a:lnTo>
                <a:lnTo>
                  <a:pt x="196875" y="1460500"/>
                </a:lnTo>
                <a:lnTo>
                  <a:pt x="200050" y="1460500"/>
                </a:lnTo>
                <a:lnTo>
                  <a:pt x="189318" y="1447800"/>
                </a:lnTo>
                <a:lnTo>
                  <a:pt x="190083" y="1447800"/>
                </a:lnTo>
                <a:lnTo>
                  <a:pt x="127165" y="1409700"/>
                </a:lnTo>
                <a:lnTo>
                  <a:pt x="124485" y="1397000"/>
                </a:lnTo>
                <a:close/>
              </a:path>
              <a:path w="232410" h="1524000">
                <a:moveTo>
                  <a:pt x="122808" y="1435100"/>
                </a:moveTo>
                <a:lnTo>
                  <a:pt x="49542" y="1435100"/>
                </a:lnTo>
                <a:lnTo>
                  <a:pt x="56553" y="1447800"/>
                </a:lnTo>
                <a:lnTo>
                  <a:pt x="131927" y="1447800"/>
                </a:lnTo>
                <a:lnTo>
                  <a:pt x="122808" y="1435100"/>
                </a:lnTo>
                <a:close/>
              </a:path>
              <a:path w="232410" h="1524000">
                <a:moveTo>
                  <a:pt x="83845" y="1422400"/>
                </a:moveTo>
                <a:lnTo>
                  <a:pt x="31394" y="1422400"/>
                </a:lnTo>
                <a:lnTo>
                  <a:pt x="36639" y="1435100"/>
                </a:lnTo>
                <a:lnTo>
                  <a:pt x="91414" y="1435100"/>
                </a:lnTo>
                <a:lnTo>
                  <a:pt x="83845" y="1422400"/>
                </a:lnTo>
                <a:close/>
              </a:path>
              <a:path w="232410" h="1524000">
                <a:moveTo>
                  <a:pt x="59283" y="1409700"/>
                </a:moveTo>
                <a:lnTo>
                  <a:pt x="20319" y="1409700"/>
                </a:lnTo>
                <a:lnTo>
                  <a:pt x="20967" y="1422400"/>
                </a:lnTo>
                <a:lnTo>
                  <a:pt x="65354" y="1422400"/>
                </a:lnTo>
                <a:lnTo>
                  <a:pt x="59283" y="1409700"/>
                </a:lnTo>
                <a:close/>
              </a:path>
              <a:path w="232410" h="1524000">
                <a:moveTo>
                  <a:pt x="45339" y="1397000"/>
                </a:moveTo>
                <a:lnTo>
                  <a:pt x="8788" y="1397000"/>
                </a:lnTo>
                <a:lnTo>
                  <a:pt x="11722" y="1409700"/>
                </a:lnTo>
                <a:lnTo>
                  <a:pt x="50152" y="1409700"/>
                </a:lnTo>
                <a:lnTo>
                  <a:pt x="45339" y="1397000"/>
                </a:lnTo>
                <a:close/>
              </a:path>
              <a:path w="232410" h="1524000">
                <a:moveTo>
                  <a:pt x="35585" y="1384300"/>
                </a:moveTo>
                <a:lnTo>
                  <a:pt x="3314" y="1384300"/>
                </a:lnTo>
                <a:lnTo>
                  <a:pt x="5232" y="1397000"/>
                </a:lnTo>
                <a:lnTo>
                  <a:pt x="39014" y="1397000"/>
                </a:lnTo>
                <a:lnTo>
                  <a:pt x="35585" y="1384300"/>
                </a:lnTo>
                <a:close/>
              </a:path>
              <a:path w="232410" h="1524000">
                <a:moveTo>
                  <a:pt x="29095" y="1371600"/>
                </a:moveTo>
                <a:lnTo>
                  <a:pt x="762" y="1371600"/>
                </a:lnTo>
                <a:lnTo>
                  <a:pt x="1257" y="1384300"/>
                </a:lnTo>
                <a:lnTo>
                  <a:pt x="30480" y="1384300"/>
                </a:lnTo>
                <a:lnTo>
                  <a:pt x="29095" y="1371600"/>
                </a:lnTo>
                <a:close/>
              </a:path>
              <a:path w="232410" h="1524000">
                <a:moveTo>
                  <a:pt x="30048" y="1371600"/>
                </a:moveTo>
                <a:lnTo>
                  <a:pt x="30480" y="1384300"/>
                </a:lnTo>
                <a:lnTo>
                  <a:pt x="31965" y="1384300"/>
                </a:lnTo>
                <a:lnTo>
                  <a:pt x="30048" y="1371600"/>
                </a:lnTo>
                <a:close/>
              </a:path>
              <a:path w="232410" h="1524000">
                <a:moveTo>
                  <a:pt x="28701" y="101600"/>
                </a:moveTo>
                <a:lnTo>
                  <a:pt x="0" y="101600"/>
                </a:lnTo>
                <a:lnTo>
                  <a:pt x="0" y="1371600"/>
                </a:lnTo>
                <a:lnTo>
                  <a:pt x="28613" y="1371600"/>
                </a:lnTo>
                <a:lnTo>
                  <a:pt x="28460" y="114300"/>
                </a:lnTo>
                <a:lnTo>
                  <a:pt x="28701" y="101600"/>
                </a:lnTo>
                <a:close/>
              </a:path>
              <a:path w="232410" h="1524000">
                <a:moveTo>
                  <a:pt x="33870" y="88900"/>
                </a:moveTo>
                <a:lnTo>
                  <a:pt x="2882" y="88900"/>
                </a:lnTo>
                <a:lnTo>
                  <a:pt x="1498" y="101600"/>
                </a:lnTo>
                <a:lnTo>
                  <a:pt x="31432" y="101600"/>
                </a:lnTo>
                <a:lnTo>
                  <a:pt x="33870" y="88900"/>
                </a:lnTo>
                <a:close/>
              </a:path>
              <a:path w="232410" h="1524000">
                <a:moveTo>
                  <a:pt x="42265" y="76200"/>
                </a:moveTo>
                <a:lnTo>
                  <a:pt x="8191" y="76200"/>
                </a:lnTo>
                <a:lnTo>
                  <a:pt x="5765" y="88900"/>
                </a:lnTo>
                <a:lnTo>
                  <a:pt x="38366" y="88900"/>
                </a:lnTo>
                <a:lnTo>
                  <a:pt x="42265" y="76200"/>
                </a:lnTo>
                <a:close/>
              </a:path>
              <a:path w="232410" h="1524000">
                <a:moveTo>
                  <a:pt x="54787" y="63500"/>
                </a:moveTo>
                <a:lnTo>
                  <a:pt x="15773" y="63500"/>
                </a:lnTo>
                <a:lnTo>
                  <a:pt x="12357" y="76200"/>
                </a:lnTo>
                <a:lnTo>
                  <a:pt x="49542" y="76200"/>
                </a:lnTo>
                <a:lnTo>
                  <a:pt x="54787" y="63500"/>
                </a:lnTo>
                <a:close/>
              </a:path>
              <a:path w="232410" h="1524000">
                <a:moveTo>
                  <a:pt x="77609" y="50800"/>
                </a:moveTo>
                <a:lnTo>
                  <a:pt x="25336" y="50800"/>
                </a:lnTo>
                <a:lnTo>
                  <a:pt x="20967" y="63500"/>
                </a:lnTo>
                <a:lnTo>
                  <a:pt x="70764" y="63500"/>
                </a:lnTo>
                <a:lnTo>
                  <a:pt x="77609" y="50800"/>
                </a:lnTo>
                <a:close/>
              </a:path>
              <a:path w="232410" h="1524000">
                <a:moveTo>
                  <a:pt x="106654" y="38100"/>
                </a:moveTo>
                <a:lnTo>
                  <a:pt x="42900" y="38100"/>
                </a:lnTo>
                <a:lnTo>
                  <a:pt x="37236" y="50800"/>
                </a:lnTo>
                <a:lnTo>
                  <a:pt x="98425" y="50800"/>
                </a:lnTo>
                <a:lnTo>
                  <a:pt x="106654" y="38100"/>
                </a:lnTo>
                <a:close/>
              </a:path>
              <a:path w="232410" h="1524000">
                <a:moveTo>
                  <a:pt x="150215" y="25400"/>
                </a:moveTo>
                <a:lnTo>
                  <a:pt x="63931" y="25400"/>
                </a:lnTo>
                <a:lnTo>
                  <a:pt x="57073" y="38100"/>
                </a:lnTo>
                <a:lnTo>
                  <a:pt x="140563" y="38100"/>
                </a:lnTo>
                <a:lnTo>
                  <a:pt x="150215" y="25400"/>
                </a:lnTo>
                <a:close/>
              </a:path>
              <a:path w="232410" h="1524000">
                <a:moveTo>
                  <a:pt x="231863" y="0"/>
                </a:moveTo>
                <a:lnTo>
                  <a:pt x="134213" y="0"/>
                </a:lnTo>
                <a:lnTo>
                  <a:pt x="124434" y="12700"/>
                </a:lnTo>
                <a:lnTo>
                  <a:pt x="88036" y="12700"/>
                </a:lnTo>
                <a:lnTo>
                  <a:pt x="80136" y="25400"/>
                </a:lnTo>
                <a:lnTo>
                  <a:pt x="232194" y="25400"/>
                </a:lnTo>
                <a:lnTo>
                  <a:pt x="231863" y="0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3123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LVQ2</a:t>
            </a:r>
          </a:p>
        </p:txBody>
      </p:sp>
      <p:sp>
        <p:nvSpPr>
          <p:cNvPr id="40" name="object 40" descr=""/>
          <p:cNvSpPr txBox="1"/>
          <p:nvPr/>
        </p:nvSpPr>
        <p:spPr>
          <a:xfrm>
            <a:off x="8648700" y="6427700"/>
            <a:ext cx="220345" cy="24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34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86447" y="1720646"/>
            <a:ext cx="7515225" cy="455930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>
                <a:latin typeface="Tahoma"/>
                <a:cs typeface="Tahoma"/>
              </a:rPr>
              <a:t>Stopping</a:t>
            </a:r>
            <a:r>
              <a:rPr dirty="0" sz="2800" spc="-9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criteria</a:t>
            </a:r>
            <a:endParaRPr sz="28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Codebook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stabilized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maximum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number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epochs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been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reached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 spc="-10">
                <a:latin typeface="Tahoma"/>
                <a:cs typeface="Tahoma"/>
              </a:rPr>
              <a:t>Advantages</a:t>
            </a:r>
            <a:endParaRPr sz="28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Appear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plausible,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intuitive,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flexible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Fast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easy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implement</a:t>
            </a:r>
            <a:endParaRPr sz="2400">
              <a:latin typeface="Tahoma"/>
              <a:cs typeface="Tahoma"/>
            </a:endParaRPr>
          </a:p>
          <a:p>
            <a:pPr lvl="1" marL="755650" marR="74422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Frequently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applied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variety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problems </a:t>
            </a:r>
            <a:r>
              <a:rPr dirty="0" sz="2400">
                <a:latin typeface="Tahoma"/>
                <a:cs typeface="Tahoma"/>
              </a:rPr>
              <a:t>involving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classification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structured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data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 sz="2800" spc="-10">
                <a:latin typeface="Tahoma"/>
                <a:cs typeface="Tahoma"/>
              </a:rPr>
              <a:t>Disadvantages</a:t>
            </a:r>
            <a:endParaRPr sz="28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Not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stable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overlapping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classes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43647" y="6326889"/>
            <a:ext cx="4210685" cy="39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dirty="0" sz="1300" spc="145">
                <a:solidFill>
                  <a:srgbClr val="FF0000"/>
                </a:solidFill>
                <a:latin typeface="Tahoma"/>
                <a:cs typeface="Tahoma"/>
              </a:rPr>
              <a:t>■</a:t>
            </a:r>
            <a:r>
              <a:rPr dirty="0" sz="13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Very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sensitive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initialization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648700" y="6427700"/>
            <a:ext cx="220345" cy="24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7484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LVQ</a:t>
            </a:r>
            <a:r>
              <a:rPr dirty="0" spc="-60"/>
              <a:t> </a:t>
            </a:r>
            <a:r>
              <a:rPr dirty="0" spc="-10"/>
              <a:t>Discussion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3390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536189" y="5018087"/>
            <a:ext cx="1087755" cy="5422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solidFill>
                  <a:srgbClr val="000044"/>
                </a:solidFill>
                <a:latin typeface="Tahoma"/>
                <a:cs typeface="Tahoma"/>
              </a:rPr>
              <a:t>VISIT </a:t>
            </a:r>
            <a:r>
              <a:rPr dirty="0" sz="155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155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1290"/>
              </a:spcBef>
            </a:pPr>
            <a:r>
              <a:rPr dirty="0" u="sng" sz="75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  <a:hlinkClick r:id="rId4"/>
              </a:rPr>
              <a:t>WWW.XJTLU.EDU.CN</a:t>
            </a:r>
            <a:endParaRPr sz="7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5467" y="4603759"/>
            <a:ext cx="898658" cy="89865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7817" y="5968276"/>
            <a:ext cx="1815007" cy="37664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68623" y="5953061"/>
            <a:ext cx="324332" cy="40802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99132" y="2828544"/>
            <a:ext cx="4732020" cy="1146175"/>
          </a:xfrm>
          <a:prstGeom prst="rect"/>
          <a:solidFill>
            <a:srgbClr val="000544"/>
          </a:solidFill>
        </p:spPr>
        <p:txBody>
          <a:bodyPr wrap="square" lIns="0" tIns="286385" rIns="0" bIns="0" rtlCol="0" vert="horz">
            <a:spAutoFit/>
          </a:bodyPr>
          <a:lstStyle/>
          <a:p>
            <a:pPr marL="1145540">
              <a:lnSpc>
                <a:spcPct val="100000"/>
              </a:lnSpc>
              <a:spcBef>
                <a:spcPts val="2255"/>
              </a:spcBef>
            </a:pPr>
            <a:r>
              <a:rPr dirty="0" sz="3900" spc="-455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dirty="0" sz="39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900" spc="-54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39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558795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60" h="66039">
                <a:moveTo>
                  <a:pt x="289560" y="0"/>
                </a:moveTo>
                <a:lnTo>
                  <a:pt x="0" y="0"/>
                </a:lnTo>
                <a:lnTo>
                  <a:pt x="0" y="65532"/>
                </a:lnTo>
                <a:lnTo>
                  <a:pt x="289560" y="65532"/>
                </a:lnTo>
                <a:lnTo>
                  <a:pt x="289560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728777" y="5011737"/>
            <a:ext cx="1205865" cy="548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b="1">
                <a:solidFill>
                  <a:srgbClr val="000044"/>
                </a:solidFill>
                <a:latin typeface="Tahoma"/>
                <a:cs typeface="Tahoma"/>
              </a:rPr>
              <a:t>FOLLOW</a:t>
            </a:r>
            <a:r>
              <a:rPr dirty="0" sz="1550" spc="2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155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155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  <a:spcBef>
                <a:spcPts val="1340"/>
              </a:spcBef>
            </a:pPr>
            <a:r>
              <a:rPr dirty="0" sz="750" spc="50" b="1">
                <a:solidFill>
                  <a:srgbClr val="BA55A0"/>
                </a:solidFill>
                <a:latin typeface="Tahoma"/>
                <a:cs typeface="Tahoma"/>
              </a:rPr>
              <a:t>@XJTLU</a:t>
            </a:r>
            <a:endParaRPr sz="75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751319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59" h="66039">
                <a:moveTo>
                  <a:pt x="289559" y="0"/>
                </a:moveTo>
                <a:lnTo>
                  <a:pt x="0" y="0"/>
                </a:lnTo>
                <a:lnTo>
                  <a:pt x="0" y="65532"/>
                </a:lnTo>
                <a:lnTo>
                  <a:pt x="289559" y="65532"/>
                </a:lnTo>
                <a:lnTo>
                  <a:pt x="289559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5622035" y="4570476"/>
            <a:ext cx="1036319" cy="975360"/>
            <a:chOff x="5622035" y="4570476"/>
            <a:chExt cx="1036319" cy="975360"/>
          </a:xfrm>
        </p:grpSpPr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22035" y="4570476"/>
              <a:ext cx="1036319" cy="4922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9655" y="5077968"/>
              <a:ext cx="492251" cy="467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73723" y="5053584"/>
              <a:ext cx="483107" cy="49225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8648700" y="6427700"/>
            <a:ext cx="220345" cy="24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36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2025-12-08T08:28:16Z</dcterms:created>
  <dcterms:modified xsi:type="dcterms:W3CDTF">2025-12-08T08:28:16Z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LastSaved">
    <vt:filetime>2025-12-08T00:00:00Z</vt:filetime>
  </property>
  <property fmtid="{D5CDD505-2E9C-101B-9397-08002B2CF9AE}" pid="4" name="Producer">
    <vt:lpwstr>iOS Version 26.1 (Build 23B85) Quartz PDFContext</vt:lpwstr>
  </property>
</Properties>
</file>