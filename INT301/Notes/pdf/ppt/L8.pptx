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7576" y="1098803"/>
            <a:ext cx="382905" cy="474345"/>
          </a:xfrm>
          <a:custGeom>
            <a:avLst/>
            <a:gdLst/>
            <a:ahLst/>
            <a:cxnLst/>
            <a:rect l="l" t="t" r="r" b="b"/>
            <a:pathLst>
              <a:path w="382905" h="474344">
                <a:moveTo>
                  <a:pt x="0" y="473963"/>
                </a:moveTo>
                <a:lnTo>
                  <a:pt x="382523" y="473963"/>
                </a:lnTo>
                <a:lnTo>
                  <a:pt x="382523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100" y="1098803"/>
            <a:ext cx="329184" cy="47396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41019" y="1520951"/>
            <a:ext cx="370840" cy="474345"/>
          </a:xfrm>
          <a:custGeom>
            <a:avLst/>
            <a:gdLst/>
            <a:ahLst/>
            <a:cxnLst/>
            <a:rect l="l" t="t" r="r" b="b"/>
            <a:pathLst>
              <a:path w="370840" h="474344">
                <a:moveTo>
                  <a:pt x="0" y="473963"/>
                </a:moveTo>
                <a:lnTo>
                  <a:pt x="370332" y="473963"/>
                </a:lnTo>
                <a:lnTo>
                  <a:pt x="370332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1351" y="1520951"/>
            <a:ext cx="368807" cy="47396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492" y="1447799"/>
            <a:ext cx="560832" cy="422148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62000" y="990599"/>
            <a:ext cx="32384" cy="1053465"/>
          </a:xfrm>
          <a:custGeom>
            <a:avLst/>
            <a:gdLst/>
            <a:ahLst/>
            <a:cxnLst/>
            <a:rect l="l" t="t" r="r" b="b"/>
            <a:pathLst>
              <a:path w="32384" h="1053464">
                <a:moveTo>
                  <a:pt x="32004" y="822960"/>
                </a:moveTo>
                <a:lnTo>
                  <a:pt x="0" y="822960"/>
                </a:lnTo>
                <a:lnTo>
                  <a:pt x="0" y="1053084"/>
                </a:lnTo>
                <a:lnTo>
                  <a:pt x="32004" y="1053084"/>
                </a:lnTo>
                <a:lnTo>
                  <a:pt x="32004" y="822960"/>
                </a:lnTo>
                <a:close/>
              </a:path>
              <a:path w="32384" h="1053464">
                <a:moveTo>
                  <a:pt x="32004" y="0"/>
                </a:moveTo>
                <a:lnTo>
                  <a:pt x="0" y="0"/>
                </a:lnTo>
                <a:lnTo>
                  <a:pt x="0" y="790956"/>
                </a:lnTo>
                <a:lnTo>
                  <a:pt x="32004" y="790956"/>
                </a:lnTo>
                <a:lnTo>
                  <a:pt x="32004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3483" y="1781555"/>
            <a:ext cx="8226552" cy="320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2059" y="111759"/>
            <a:ext cx="8799880" cy="1531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9845" y="2008009"/>
            <a:ext cx="8234680" cy="1987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Relationship Id="rId19" Type="http://schemas.openxmlformats.org/officeDocument/2006/relationships/image" Target="../media/image42.png"/><Relationship Id="rId20" Type="http://schemas.openxmlformats.org/officeDocument/2006/relationships/image" Target="../media/image43.png"/><Relationship Id="rId21" Type="http://schemas.openxmlformats.org/officeDocument/2006/relationships/image" Target="../media/image44.png"/><Relationship Id="rId22" Type="http://schemas.openxmlformats.org/officeDocument/2006/relationships/image" Target="../media/image45.png"/><Relationship Id="rId23" Type="http://schemas.openxmlformats.org/officeDocument/2006/relationships/image" Target="../media/image46.png"/><Relationship Id="rId24" Type="http://schemas.openxmlformats.org/officeDocument/2006/relationships/image" Target="../media/image47.png"/><Relationship Id="rId25" Type="http://schemas.openxmlformats.org/officeDocument/2006/relationships/image" Target="../media/image48.png"/><Relationship Id="rId26" Type="http://schemas.openxmlformats.org/officeDocument/2006/relationships/image" Target="../media/image49.png"/><Relationship Id="rId27" Type="http://schemas.openxmlformats.org/officeDocument/2006/relationships/image" Target="../media/image50.png"/><Relationship Id="rId28" Type="http://schemas.openxmlformats.org/officeDocument/2006/relationships/image" Target="../media/image51.png"/><Relationship Id="rId29" Type="http://schemas.openxmlformats.org/officeDocument/2006/relationships/image" Target="../media/image5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Relationship Id="rId14" Type="http://schemas.openxmlformats.org/officeDocument/2006/relationships/image" Target="../media/image65.png"/><Relationship Id="rId15" Type="http://schemas.openxmlformats.org/officeDocument/2006/relationships/image" Target="../media/image6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jp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jp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Relationship Id="rId11" Type="http://schemas.openxmlformats.org/officeDocument/2006/relationships/image" Target="../media/image76.png"/><Relationship Id="rId12" Type="http://schemas.openxmlformats.org/officeDocument/2006/relationships/image" Target="../media/image77.png"/><Relationship Id="rId13" Type="http://schemas.openxmlformats.org/officeDocument/2006/relationships/image" Target="../media/image78.png"/><Relationship Id="rId14" Type="http://schemas.openxmlformats.org/officeDocument/2006/relationships/image" Target="../media/image79.png"/><Relationship Id="rId15" Type="http://schemas.openxmlformats.org/officeDocument/2006/relationships/image" Target="../media/image8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Relationship Id="rId10" Type="http://schemas.openxmlformats.org/officeDocument/2006/relationships/image" Target="../media/image89.png"/><Relationship Id="rId11" Type="http://schemas.openxmlformats.org/officeDocument/2006/relationships/image" Target="../media/image90.png"/><Relationship Id="rId12" Type="http://schemas.openxmlformats.org/officeDocument/2006/relationships/image" Target="../media/image91.png"/><Relationship Id="rId13" Type="http://schemas.openxmlformats.org/officeDocument/2006/relationships/image" Target="../media/image92.png"/><Relationship Id="rId14" Type="http://schemas.openxmlformats.org/officeDocument/2006/relationships/image" Target="../media/image9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png"/><Relationship Id="rId10" Type="http://schemas.openxmlformats.org/officeDocument/2006/relationships/image" Target="../media/image102.png"/><Relationship Id="rId11" Type="http://schemas.openxmlformats.org/officeDocument/2006/relationships/image" Target="../media/image103.png"/><Relationship Id="rId12" Type="http://schemas.openxmlformats.org/officeDocument/2006/relationships/image" Target="../media/image104.png"/><Relationship Id="rId13" Type="http://schemas.openxmlformats.org/officeDocument/2006/relationships/image" Target="../media/image105.png"/><Relationship Id="rId14" Type="http://schemas.openxmlformats.org/officeDocument/2006/relationships/image" Target="../media/image106.png"/><Relationship Id="rId15" Type="http://schemas.openxmlformats.org/officeDocument/2006/relationships/image" Target="../media/image107.png"/><Relationship Id="rId16" Type="http://schemas.openxmlformats.org/officeDocument/2006/relationships/image" Target="../media/image108.png"/><Relationship Id="rId17" Type="http://schemas.openxmlformats.org/officeDocument/2006/relationships/image" Target="../media/image109.png"/><Relationship Id="rId18" Type="http://schemas.openxmlformats.org/officeDocument/2006/relationships/image" Target="../media/image110.png"/><Relationship Id="rId19" Type="http://schemas.openxmlformats.org/officeDocument/2006/relationships/image" Target="../media/image111.png"/><Relationship Id="rId20" Type="http://schemas.openxmlformats.org/officeDocument/2006/relationships/image" Target="../media/image112.png"/><Relationship Id="rId21" Type="http://schemas.openxmlformats.org/officeDocument/2006/relationships/image" Target="../media/image113.png"/><Relationship Id="rId22" Type="http://schemas.openxmlformats.org/officeDocument/2006/relationships/image" Target="../media/image114.png"/><Relationship Id="rId23" Type="http://schemas.openxmlformats.org/officeDocument/2006/relationships/image" Target="../media/image115.png"/><Relationship Id="rId24" Type="http://schemas.openxmlformats.org/officeDocument/2006/relationships/image" Target="../media/image11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123.png"/><Relationship Id="rId9" Type="http://schemas.openxmlformats.org/officeDocument/2006/relationships/image" Target="../media/image124.png"/><Relationship Id="rId10" Type="http://schemas.openxmlformats.org/officeDocument/2006/relationships/image" Target="../media/image125.png"/><Relationship Id="rId11" Type="http://schemas.openxmlformats.org/officeDocument/2006/relationships/image" Target="../media/image126.png"/><Relationship Id="rId12" Type="http://schemas.openxmlformats.org/officeDocument/2006/relationships/image" Target="../media/image127.png"/><Relationship Id="rId13" Type="http://schemas.openxmlformats.org/officeDocument/2006/relationships/image" Target="../media/image128.png"/><Relationship Id="rId14" Type="http://schemas.openxmlformats.org/officeDocument/2006/relationships/image" Target="../media/image129.png"/><Relationship Id="rId15" Type="http://schemas.openxmlformats.org/officeDocument/2006/relationships/image" Target="../media/image130.png"/><Relationship Id="rId16" Type="http://schemas.openxmlformats.org/officeDocument/2006/relationships/image" Target="../media/image131.png"/><Relationship Id="rId17" Type="http://schemas.openxmlformats.org/officeDocument/2006/relationships/image" Target="../media/image132.png"/><Relationship Id="rId18" Type="http://schemas.openxmlformats.org/officeDocument/2006/relationships/image" Target="../media/image133.png"/><Relationship Id="rId19" Type="http://schemas.openxmlformats.org/officeDocument/2006/relationships/image" Target="../media/image134.png"/><Relationship Id="rId20" Type="http://schemas.openxmlformats.org/officeDocument/2006/relationships/image" Target="../media/image135.png"/><Relationship Id="rId21" Type="http://schemas.openxmlformats.org/officeDocument/2006/relationships/image" Target="../media/image136.png"/><Relationship Id="rId22" Type="http://schemas.openxmlformats.org/officeDocument/2006/relationships/image" Target="../media/image13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8.png"/><Relationship Id="rId6" Type="http://schemas.openxmlformats.org/officeDocument/2006/relationships/image" Target="../media/image139.png"/><Relationship Id="rId7" Type="http://schemas.openxmlformats.org/officeDocument/2006/relationships/image" Target="../media/image140.png"/><Relationship Id="rId8" Type="http://schemas.openxmlformats.org/officeDocument/2006/relationships/image" Target="../media/image141.png"/><Relationship Id="rId9" Type="http://schemas.openxmlformats.org/officeDocument/2006/relationships/image" Target="../media/image142.png"/><Relationship Id="rId10" Type="http://schemas.openxmlformats.org/officeDocument/2006/relationships/image" Target="../media/image143.png"/><Relationship Id="rId11" Type="http://schemas.openxmlformats.org/officeDocument/2006/relationships/image" Target="../media/image14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5.png"/><Relationship Id="rId3" Type="http://schemas.openxmlformats.org/officeDocument/2006/relationships/image" Target="../media/image146.png"/><Relationship Id="rId4" Type="http://schemas.openxmlformats.org/officeDocument/2006/relationships/image" Target="../media/image147.png"/><Relationship Id="rId5" Type="http://schemas.openxmlformats.org/officeDocument/2006/relationships/image" Target="../media/image148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9.jpg"/><Relationship Id="rId3" Type="http://schemas.openxmlformats.org/officeDocument/2006/relationships/image" Target="../media/image150.jpg"/><Relationship Id="rId4" Type="http://schemas.openxmlformats.org/officeDocument/2006/relationships/image" Target="../media/image151.jpg"/><Relationship Id="rId5" Type="http://schemas.openxmlformats.org/officeDocument/2006/relationships/image" Target="../media/image152.png"/><Relationship Id="rId6" Type="http://schemas.openxmlformats.org/officeDocument/2006/relationships/image" Target="../media/image153.png"/><Relationship Id="rId7" Type="http://schemas.openxmlformats.org/officeDocument/2006/relationships/image" Target="../media/image154.png"/><Relationship Id="rId8" Type="http://schemas.openxmlformats.org/officeDocument/2006/relationships/image" Target="../media/image155.png"/><Relationship Id="rId9" Type="http://schemas.openxmlformats.org/officeDocument/2006/relationships/image" Target="../media/image156.png"/><Relationship Id="rId10" Type="http://schemas.openxmlformats.org/officeDocument/2006/relationships/image" Target="../media/image157.png"/><Relationship Id="rId11" Type="http://schemas.openxmlformats.org/officeDocument/2006/relationships/image" Target="../media/image158.png"/><Relationship Id="rId12" Type="http://schemas.openxmlformats.org/officeDocument/2006/relationships/image" Target="../media/image159.png"/><Relationship Id="rId13" Type="http://schemas.openxmlformats.org/officeDocument/2006/relationships/image" Target="../media/image160.png"/><Relationship Id="rId14" Type="http://schemas.openxmlformats.org/officeDocument/2006/relationships/image" Target="../media/image161.png"/><Relationship Id="rId15" Type="http://schemas.openxmlformats.org/officeDocument/2006/relationships/image" Target="../media/image162.png"/><Relationship Id="rId16" Type="http://schemas.openxmlformats.org/officeDocument/2006/relationships/image" Target="../media/image163.png"/><Relationship Id="rId17" Type="http://schemas.openxmlformats.org/officeDocument/2006/relationships/image" Target="../media/image164.png"/><Relationship Id="rId18" Type="http://schemas.openxmlformats.org/officeDocument/2006/relationships/image" Target="../media/image165.png"/><Relationship Id="rId19" Type="http://schemas.openxmlformats.org/officeDocument/2006/relationships/image" Target="../media/image166.png"/><Relationship Id="rId20" Type="http://schemas.openxmlformats.org/officeDocument/2006/relationships/image" Target="../media/image167.png"/><Relationship Id="rId21" Type="http://schemas.openxmlformats.org/officeDocument/2006/relationships/image" Target="../media/image168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9.png"/><Relationship Id="rId3" Type="http://schemas.openxmlformats.org/officeDocument/2006/relationships/image" Target="../media/image170.png"/><Relationship Id="rId4" Type="http://schemas.openxmlformats.org/officeDocument/2006/relationships/image" Target="../media/image171.png"/><Relationship Id="rId5" Type="http://schemas.openxmlformats.org/officeDocument/2006/relationships/image" Target="../media/image17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73.png"/><Relationship Id="rId6" Type="http://schemas.openxmlformats.org/officeDocument/2006/relationships/image" Target="../media/image174.png"/><Relationship Id="rId7" Type="http://schemas.openxmlformats.org/officeDocument/2006/relationships/image" Target="../media/image175.png"/><Relationship Id="rId8" Type="http://schemas.openxmlformats.org/officeDocument/2006/relationships/image" Target="../media/image176.png"/><Relationship Id="rId9" Type="http://schemas.openxmlformats.org/officeDocument/2006/relationships/image" Target="../media/image177.png"/><Relationship Id="rId10" Type="http://schemas.openxmlformats.org/officeDocument/2006/relationships/image" Target="../media/image178.png"/><Relationship Id="rId11" Type="http://schemas.openxmlformats.org/officeDocument/2006/relationships/image" Target="../media/image179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0.png"/><Relationship Id="rId3" Type="http://schemas.openxmlformats.org/officeDocument/2006/relationships/image" Target="../media/image181.png"/><Relationship Id="rId4" Type="http://schemas.openxmlformats.org/officeDocument/2006/relationships/image" Target="../media/image182.png"/><Relationship Id="rId5" Type="http://schemas.openxmlformats.org/officeDocument/2006/relationships/image" Target="../media/image183.png"/><Relationship Id="rId6" Type="http://schemas.openxmlformats.org/officeDocument/2006/relationships/image" Target="../media/image184.png"/><Relationship Id="rId7" Type="http://schemas.openxmlformats.org/officeDocument/2006/relationships/image" Target="../media/image185.png"/><Relationship Id="rId8" Type="http://schemas.openxmlformats.org/officeDocument/2006/relationships/image" Target="../media/image186.png"/><Relationship Id="rId9" Type="http://schemas.openxmlformats.org/officeDocument/2006/relationships/image" Target="../media/image187.png"/><Relationship Id="rId10" Type="http://schemas.openxmlformats.org/officeDocument/2006/relationships/image" Target="../media/image188.png"/><Relationship Id="rId11" Type="http://schemas.openxmlformats.org/officeDocument/2006/relationships/image" Target="../media/image189.png"/><Relationship Id="rId12" Type="http://schemas.openxmlformats.org/officeDocument/2006/relationships/image" Target="../media/image190.png"/><Relationship Id="rId13" Type="http://schemas.openxmlformats.org/officeDocument/2006/relationships/image" Target="../media/image191.png"/><Relationship Id="rId14" Type="http://schemas.openxmlformats.org/officeDocument/2006/relationships/image" Target="../media/image192.png"/><Relationship Id="rId15" Type="http://schemas.openxmlformats.org/officeDocument/2006/relationships/image" Target="../media/image193.png"/><Relationship Id="rId16" Type="http://schemas.openxmlformats.org/officeDocument/2006/relationships/image" Target="../media/image194.png"/><Relationship Id="rId17" Type="http://schemas.openxmlformats.org/officeDocument/2006/relationships/image" Target="../media/image195.png"/><Relationship Id="rId18" Type="http://schemas.openxmlformats.org/officeDocument/2006/relationships/image" Target="../media/image196.png"/><Relationship Id="rId19" Type="http://schemas.openxmlformats.org/officeDocument/2006/relationships/image" Target="../media/image197.png"/><Relationship Id="rId20" Type="http://schemas.openxmlformats.org/officeDocument/2006/relationships/image" Target="../media/image198.png"/><Relationship Id="rId21" Type="http://schemas.openxmlformats.org/officeDocument/2006/relationships/image" Target="../media/image199.png"/><Relationship Id="rId22" Type="http://schemas.openxmlformats.org/officeDocument/2006/relationships/image" Target="../media/image200.png"/><Relationship Id="rId23" Type="http://schemas.openxmlformats.org/officeDocument/2006/relationships/image" Target="../media/image201.png"/><Relationship Id="rId24" Type="http://schemas.openxmlformats.org/officeDocument/2006/relationships/image" Target="../media/image202.png"/><Relationship Id="rId25" Type="http://schemas.openxmlformats.org/officeDocument/2006/relationships/image" Target="../media/image203.png"/><Relationship Id="rId26" Type="http://schemas.openxmlformats.org/officeDocument/2006/relationships/image" Target="../media/image204.png"/><Relationship Id="rId27" Type="http://schemas.openxmlformats.org/officeDocument/2006/relationships/image" Target="../media/image205.png"/><Relationship Id="rId28" Type="http://schemas.openxmlformats.org/officeDocument/2006/relationships/image" Target="../media/image206.png"/><Relationship Id="rId29" Type="http://schemas.openxmlformats.org/officeDocument/2006/relationships/image" Target="../media/image207.png"/><Relationship Id="rId30" Type="http://schemas.openxmlformats.org/officeDocument/2006/relationships/image" Target="../media/image208.png"/><Relationship Id="rId31" Type="http://schemas.openxmlformats.org/officeDocument/2006/relationships/image" Target="../media/image209.png"/><Relationship Id="rId32" Type="http://schemas.openxmlformats.org/officeDocument/2006/relationships/image" Target="../media/image210.png"/><Relationship Id="rId33" Type="http://schemas.openxmlformats.org/officeDocument/2006/relationships/image" Target="../media/image211.png"/><Relationship Id="rId34" Type="http://schemas.openxmlformats.org/officeDocument/2006/relationships/image" Target="../media/image212.png"/><Relationship Id="rId35" Type="http://schemas.openxmlformats.org/officeDocument/2006/relationships/image" Target="../media/image213.png"/><Relationship Id="rId36" Type="http://schemas.openxmlformats.org/officeDocument/2006/relationships/image" Target="../media/image214.png"/><Relationship Id="rId37" Type="http://schemas.openxmlformats.org/officeDocument/2006/relationships/image" Target="../media/image215.png"/><Relationship Id="rId38" Type="http://schemas.openxmlformats.org/officeDocument/2006/relationships/image" Target="../media/image216.png"/><Relationship Id="rId39" Type="http://schemas.openxmlformats.org/officeDocument/2006/relationships/image" Target="../media/image217.png"/><Relationship Id="rId40" Type="http://schemas.openxmlformats.org/officeDocument/2006/relationships/image" Target="../media/image218.png"/><Relationship Id="rId41" Type="http://schemas.openxmlformats.org/officeDocument/2006/relationships/image" Target="../media/image219.png"/><Relationship Id="rId42" Type="http://schemas.openxmlformats.org/officeDocument/2006/relationships/image" Target="../media/image220.png"/><Relationship Id="rId43" Type="http://schemas.openxmlformats.org/officeDocument/2006/relationships/image" Target="../media/image221.png"/><Relationship Id="rId44" Type="http://schemas.openxmlformats.org/officeDocument/2006/relationships/image" Target="../media/image222.png"/><Relationship Id="rId45" Type="http://schemas.openxmlformats.org/officeDocument/2006/relationships/image" Target="../media/image223.png"/><Relationship Id="rId46" Type="http://schemas.openxmlformats.org/officeDocument/2006/relationships/image" Target="../media/image224.png"/><Relationship Id="rId47" Type="http://schemas.openxmlformats.org/officeDocument/2006/relationships/image" Target="../media/image225.png"/><Relationship Id="rId48" Type="http://schemas.openxmlformats.org/officeDocument/2006/relationships/image" Target="../media/image226.png"/><Relationship Id="rId49" Type="http://schemas.openxmlformats.org/officeDocument/2006/relationships/image" Target="../media/image227.png"/><Relationship Id="rId50" Type="http://schemas.openxmlformats.org/officeDocument/2006/relationships/image" Target="../media/image228.png"/><Relationship Id="rId51" Type="http://schemas.openxmlformats.org/officeDocument/2006/relationships/image" Target="../media/image229.png"/><Relationship Id="rId52" Type="http://schemas.openxmlformats.org/officeDocument/2006/relationships/image" Target="../media/image230.png"/><Relationship Id="rId53" Type="http://schemas.openxmlformats.org/officeDocument/2006/relationships/image" Target="../media/image231.png"/><Relationship Id="rId54" Type="http://schemas.openxmlformats.org/officeDocument/2006/relationships/image" Target="../media/image232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3.png"/><Relationship Id="rId3" Type="http://schemas.openxmlformats.org/officeDocument/2006/relationships/image" Target="../media/image234.png"/><Relationship Id="rId4" Type="http://schemas.openxmlformats.org/officeDocument/2006/relationships/image" Target="../media/image235.png"/><Relationship Id="rId5" Type="http://schemas.openxmlformats.org/officeDocument/2006/relationships/image" Target="../media/image236.png"/><Relationship Id="rId6" Type="http://schemas.openxmlformats.org/officeDocument/2006/relationships/image" Target="../media/image237.png"/><Relationship Id="rId7" Type="http://schemas.openxmlformats.org/officeDocument/2006/relationships/image" Target="../media/image238.png"/><Relationship Id="rId8" Type="http://schemas.openxmlformats.org/officeDocument/2006/relationships/image" Target="../media/image239.png"/><Relationship Id="rId9" Type="http://schemas.openxmlformats.org/officeDocument/2006/relationships/image" Target="../media/image240.png"/><Relationship Id="rId10" Type="http://schemas.openxmlformats.org/officeDocument/2006/relationships/image" Target="../media/image241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2.png"/><Relationship Id="rId3" Type="http://schemas.openxmlformats.org/officeDocument/2006/relationships/image" Target="../media/image243.png"/><Relationship Id="rId4" Type="http://schemas.openxmlformats.org/officeDocument/2006/relationships/image" Target="../media/image244.png"/><Relationship Id="rId5" Type="http://schemas.openxmlformats.org/officeDocument/2006/relationships/image" Target="../media/image245.png"/><Relationship Id="rId6" Type="http://schemas.openxmlformats.org/officeDocument/2006/relationships/image" Target="../media/image246.png"/><Relationship Id="rId7" Type="http://schemas.openxmlformats.org/officeDocument/2006/relationships/image" Target="../media/image247.png"/><Relationship Id="rId8" Type="http://schemas.openxmlformats.org/officeDocument/2006/relationships/image" Target="../media/image248.png"/><Relationship Id="rId9" Type="http://schemas.openxmlformats.org/officeDocument/2006/relationships/image" Target="../media/image249.png"/><Relationship Id="rId10" Type="http://schemas.openxmlformats.org/officeDocument/2006/relationships/image" Target="../media/image250.png"/><Relationship Id="rId11" Type="http://schemas.openxmlformats.org/officeDocument/2006/relationships/image" Target="../media/image251.png"/><Relationship Id="rId12" Type="http://schemas.openxmlformats.org/officeDocument/2006/relationships/image" Target="../media/image252.png"/><Relationship Id="rId13" Type="http://schemas.openxmlformats.org/officeDocument/2006/relationships/image" Target="../media/image253.png"/><Relationship Id="rId14" Type="http://schemas.openxmlformats.org/officeDocument/2006/relationships/image" Target="../media/image254.png"/><Relationship Id="rId15" Type="http://schemas.openxmlformats.org/officeDocument/2006/relationships/image" Target="../media/image255.png"/><Relationship Id="rId16" Type="http://schemas.openxmlformats.org/officeDocument/2006/relationships/image" Target="../media/image256.png"/><Relationship Id="rId17" Type="http://schemas.openxmlformats.org/officeDocument/2006/relationships/image" Target="../media/image257.png"/><Relationship Id="rId18" Type="http://schemas.openxmlformats.org/officeDocument/2006/relationships/image" Target="../media/image258.png"/><Relationship Id="rId19" Type="http://schemas.openxmlformats.org/officeDocument/2006/relationships/image" Target="../media/image259.png"/><Relationship Id="rId20" Type="http://schemas.openxmlformats.org/officeDocument/2006/relationships/image" Target="../media/image260.png"/><Relationship Id="rId21" Type="http://schemas.openxmlformats.org/officeDocument/2006/relationships/image" Target="../media/image261.png"/><Relationship Id="rId22" Type="http://schemas.openxmlformats.org/officeDocument/2006/relationships/image" Target="../media/image262.png"/><Relationship Id="rId23" Type="http://schemas.openxmlformats.org/officeDocument/2006/relationships/image" Target="../media/image263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4.png"/><Relationship Id="rId3" Type="http://schemas.openxmlformats.org/officeDocument/2006/relationships/image" Target="../media/image265.png"/><Relationship Id="rId4" Type="http://schemas.openxmlformats.org/officeDocument/2006/relationships/image" Target="../media/image266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7.png"/><Relationship Id="rId3" Type="http://schemas.openxmlformats.org/officeDocument/2006/relationships/image" Target="../media/image268.png"/><Relationship Id="rId4" Type="http://schemas.openxmlformats.org/officeDocument/2006/relationships/image" Target="../media/image269.png"/><Relationship Id="rId5" Type="http://schemas.openxmlformats.org/officeDocument/2006/relationships/image" Target="../media/image270.png"/><Relationship Id="rId6" Type="http://schemas.openxmlformats.org/officeDocument/2006/relationships/image" Target="../media/image271.png"/><Relationship Id="rId7" Type="http://schemas.openxmlformats.org/officeDocument/2006/relationships/image" Target="../media/image272.png"/><Relationship Id="rId8" Type="http://schemas.openxmlformats.org/officeDocument/2006/relationships/image" Target="../media/image273.png"/><Relationship Id="rId9" Type="http://schemas.openxmlformats.org/officeDocument/2006/relationships/image" Target="../media/image274.png"/><Relationship Id="rId10" Type="http://schemas.openxmlformats.org/officeDocument/2006/relationships/image" Target="../media/image275.png"/><Relationship Id="rId11" Type="http://schemas.openxmlformats.org/officeDocument/2006/relationships/image" Target="../media/image276.png"/><Relationship Id="rId12" Type="http://schemas.openxmlformats.org/officeDocument/2006/relationships/image" Target="../media/image277.png"/><Relationship Id="rId13" Type="http://schemas.openxmlformats.org/officeDocument/2006/relationships/image" Target="../media/image278.png"/><Relationship Id="rId14" Type="http://schemas.openxmlformats.org/officeDocument/2006/relationships/image" Target="../media/image279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0.png"/><Relationship Id="rId3" Type="http://schemas.openxmlformats.org/officeDocument/2006/relationships/image" Target="../media/image281.png"/><Relationship Id="rId4" Type="http://schemas.openxmlformats.org/officeDocument/2006/relationships/image" Target="../media/image282.png"/><Relationship Id="rId5" Type="http://schemas.openxmlformats.org/officeDocument/2006/relationships/image" Target="../media/image283.png"/><Relationship Id="rId6" Type="http://schemas.openxmlformats.org/officeDocument/2006/relationships/image" Target="../media/image284.png"/><Relationship Id="rId7" Type="http://schemas.openxmlformats.org/officeDocument/2006/relationships/image" Target="../media/image285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6.png"/><Relationship Id="rId3" Type="http://schemas.openxmlformats.org/officeDocument/2006/relationships/image" Target="../media/image287.png"/><Relationship Id="rId4" Type="http://schemas.openxmlformats.org/officeDocument/2006/relationships/image" Target="../media/image288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9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0.png"/><Relationship Id="rId3" Type="http://schemas.openxmlformats.org/officeDocument/2006/relationships/image" Target="../media/image291.png"/><Relationship Id="rId4" Type="http://schemas.openxmlformats.org/officeDocument/2006/relationships/image" Target="../media/image292.png"/><Relationship Id="rId5" Type="http://schemas.openxmlformats.org/officeDocument/2006/relationships/image" Target="../media/image293.png"/><Relationship Id="rId6" Type="http://schemas.openxmlformats.org/officeDocument/2006/relationships/image" Target="../media/image294.png"/><Relationship Id="rId7" Type="http://schemas.openxmlformats.org/officeDocument/2006/relationships/image" Target="../media/image295.png"/><Relationship Id="rId8" Type="http://schemas.openxmlformats.org/officeDocument/2006/relationships/image" Target="../media/image296.png"/><Relationship Id="rId9" Type="http://schemas.openxmlformats.org/officeDocument/2006/relationships/image" Target="../media/image297.png"/><Relationship Id="rId10" Type="http://schemas.openxmlformats.org/officeDocument/2006/relationships/image" Target="../media/image298.png"/><Relationship Id="rId11" Type="http://schemas.openxmlformats.org/officeDocument/2006/relationships/image" Target="../media/image299.png"/><Relationship Id="rId12" Type="http://schemas.openxmlformats.org/officeDocument/2006/relationships/image" Target="../media/image300.png"/><Relationship Id="rId13" Type="http://schemas.openxmlformats.org/officeDocument/2006/relationships/image" Target="../media/image301.png"/><Relationship Id="rId14" Type="http://schemas.openxmlformats.org/officeDocument/2006/relationships/image" Target="../media/image302.png"/><Relationship Id="rId15" Type="http://schemas.openxmlformats.org/officeDocument/2006/relationships/image" Target="../media/image303.png"/><Relationship Id="rId16" Type="http://schemas.openxmlformats.org/officeDocument/2006/relationships/image" Target="../media/image304.png"/><Relationship Id="rId17" Type="http://schemas.openxmlformats.org/officeDocument/2006/relationships/image" Target="../media/image305.png"/><Relationship Id="rId18" Type="http://schemas.openxmlformats.org/officeDocument/2006/relationships/image" Target="../media/image306.png"/><Relationship Id="rId19" Type="http://schemas.openxmlformats.org/officeDocument/2006/relationships/image" Target="../media/image307.png"/><Relationship Id="rId20" Type="http://schemas.openxmlformats.org/officeDocument/2006/relationships/image" Target="../media/image308.png"/><Relationship Id="rId21" Type="http://schemas.openxmlformats.org/officeDocument/2006/relationships/image" Target="../media/image309.png"/><Relationship Id="rId22" Type="http://schemas.openxmlformats.org/officeDocument/2006/relationships/image" Target="../media/image310.png"/><Relationship Id="rId23" Type="http://schemas.openxmlformats.org/officeDocument/2006/relationships/image" Target="../media/image311.png"/><Relationship Id="rId24" Type="http://schemas.openxmlformats.org/officeDocument/2006/relationships/image" Target="../media/image312.png"/><Relationship Id="rId25" Type="http://schemas.openxmlformats.org/officeDocument/2006/relationships/image" Target="../media/image313.png"/><Relationship Id="rId26" Type="http://schemas.openxmlformats.org/officeDocument/2006/relationships/image" Target="../media/image314.png"/><Relationship Id="rId27" Type="http://schemas.openxmlformats.org/officeDocument/2006/relationships/image" Target="../media/image315.png"/><Relationship Id="rId28" Type="http://schemas.openxmlformats.org/officeDocument/2006/relationships/image" Target="../media/image316.png"/><Relationship Id="rId29" Type="http://schemas.openxmlformats.org/officeDocument/2006/relationships/image" Target="../media/image317.png"/><Relationship Id="rId30" Type="http://schemas.openxmlformats.org/officeDocument/2006/relationships/image" Target="../media/image318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9.png"/><Relationship Id="rId3" Type="http://schemas.openxmlformats.org/officeDocument/2006/relationships/image" Target="../media/image320.png"/><Relationship Id="rId4" Type="http://schemas.openxmlformats.org/officeDocument/2006/relationships/image" Target="../media/image321.png"/><Relationship Id="rId5" Type="http://schemas.openxmlformats.org/officeDocument/2006/relationships/image" Target="../media/image322.png"/><Relationship Id="rId6" Type="http://schemas.openxmlformats.org/officeDocument/2006/relationships/image" Target="../media/image323.png"/><Relationship Id="rId7" Type="http://schemas.openxmlformats.org/officeDocument/2006/relationships/image" Target="../media/image324.png"/><Relationship Id="rId8" Type="http://schemas.openxmlformats.org/officeDocument/2006/relationships/image" Target="../media/image325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6.png"/><Relationship Id="rId3" Type="http://schemas.openxmlformats.org/officeDocument/2006/relationships/image" Target="../media/image327.png"/><Relationship Id="rId4" Type="http://schemas.openxmlformats.org/officeDocument/2006/relationships/image" Target="../media/image328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9.png"/><Relationship Id="rId3" Type="http://schemas.openxmlformats.org/officeDocument/2006/relationships/image" Target="../media/image330.png"/><Relationship Id="rId4" Type="http://schemas.openxmlformats.org/officeDocument/2006/relationships/image" Target="../media/image331.png"/><Relationship Id="rId5" Type="http://schemas.openxmlformats.org/officeDocument/2006/relationships/image" Target="../media/image332.png"/><Relationship Id="rId6" Type="http://schemas.openxmlformats.org/officeDocument/2006/relationships/image" Target="../media/image333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4.png"/><Relationship Id="rId3" Type="http://schemas.openxmlformats.org/officeDocument/2006/relationships/image" Target="../media/image335.png"/><Relationship Id="rId4" Type="http://schemas.openxmlformats.org/officeDocument/2006/relationships/image" Target="../media/image336.png"/><Relationship Id="rId5" Type="http://schemas.openxmlformats.org/officeDocument/2006/relationships/image" Target="../media/image337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8.png"/><Relationship Id="rId3" Type="http://schemas.openxmlformats.org/officeDocument/2006/relationships/image" Target="../media/image339.png"/><Relationship Id="rId4" Type="http://schemas.openxmlformats.org/officeDocument/2006/relationships/image" Target="../media/image340.png"/><Relationship Id="rId5" Type="http://schemas.openxmlformats.org/officeDocument/2006/relationships/image" Target="../media/image341.png"/><Relationship Id="rId6" Type="http://schemas.openxmlformats.org/officeDocument/2006/relationships/image" Target="../media/image342.png"/><Relationship Id="rId7" Type="http://schemas.openxmlformats.org/officeDocument/2006/relationships/image" Target="../media/image343.png"/><Relationship Id="rId8" Type="http://schemas.openxmlformats.org/officeDocument/2006/relationships/image" Target="../media/image344.png"/><Relationship Id="rId9" Type="http://schemas.openxmlformats.org/officeDocument/2006/relationships/image" Target="../media/image345.png"/><Relationship Id="rId10" Type="http://schemas.openxmlformats.org/officeDocument/2006/relationships/image" Target="../media/image346.png"/><Relationship Id="rId11" Type="http://schemas.openxmlformats.org/officeDocument/2006/relationships/image" Target="../media/image347.png"/><Relationship Id="rId12" Type="http://schemas.openxmlformats.org/officeDocument/2006/relationships/image" Target="../media/image348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49.png"/><Relationship Id="rId6" Type="http://schemas.openxmlformats.org/officeDocument/2006/relationships/image" Target="../media/image350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1.png"/><Relationship Id="rId3" Type="http://schemas.openxmlformats.org/officeDocument/2006/relationships/image" Target="../media/image352.png"/><Relationship Id="rId4" Type="http://schemas.openxmlformats.org/officeDocument/2006/relationships/image" Target="../media/image353.png"/><Relationship Id="rId5" Type="http://schemas.openxmlformats.org/officeDocument/2006/relationships/image" Target="../media/image354.png"/><Relationship Id="rId6" Type="http://schemas.openxmlformats.org/officeDocument/2006/relationships/image" Target="../media/image355.png"/><Relationship Id="rId7" Type="http://schemas.openxmlformats.org/officeDocument/2006/relationships/image" Target="../media/image356.png"/><Relationship Id="rId8" Type="http://schemas.openxmlformats.org/officeDocument/2006/relationships/image" Target="../media/image357.png"/><Relationship Id="rId9" Type="http://schemas.openxmlformats.org/officeDocument/2006/relationships/image" Target="../media/image358.png"/><Relationship Id="rId10" Type="http://schemas.openxmlformats.org/officeDocument/2006/relationships/image" Target="../media/image359.png"/><Relationship Id="rId11" Type="http://schemas.openxmlformats.org/officeDocument/2006/relationships/image" Target="../media/image360.png"/><Relationship Id="rId12" Type="http://schemas.openxmlformats.org/officeDocument/2006/relationships/image" Target="../media/image361.png"/><Relationship Id="rId13" Type="http://schemas.openxmlformats.org/officeDocument/2006/relationships/image" Target="../media/image362.png"/><Relationship Id="rId14" Type="http://schemas.openxmlformats.org/officeDocument/2006/relationships/image" Target="../media/image363.png"/><Relationship Id="rId15" Type="http://schemas.openxmlformats.org/officeDocument/2006/relationships/image" Target="../media/image364.png"/><Relationship Id="rId16" Type="http://schemas.openxmlformats.org/officeDocument/2006/relationships/image" Target="../media/image365.png"/><Relationship Id="rId17" Type="http://schemas.openxmlformats.org/officeDocument/2006/relationships/image" Target="../media/image366.png"/><Relationship Id="rId18" Type="http://schemas.openxmlformats.org/officeDocument/2006/relationships/image" Target="../media/image367.png"/><Relationship Id="rId19" Type="http://schemas.openxmlformats.org/officeDocument/2006/relationships/image" Target="../media/image368.png"/><Relationship Id="rId20" Type="http://schemas.openxmlformats.org/officeDocument/2006/relationships/image" Target="../media/image369.png"/><Relationship Id="rId21" Type="http://schemas.openxmlformats.org/officeDocument/2006/relationships/image" Target="../media/image370.png"/><Relationship Id="rId22" Type="http://schemas.openxmlformats.org/officeDocument/2006/relationships/image" Target="../media/image371.png"/><Relationship Id="rId23" Type="http://schemas.openxmlformats.org/officeDocument/2006/relationships/image" Target="../media/image372.png"/><Relationship Id="rId24" Type="http://schemas.openxmlformats.org/officeDocument/2006/relationships/image" Target="../media/image373.png"/><Relationship Id="rId25" Type="http://schemas.openxmlformats.org/officeDocument/2006/relationships/image" Target="../media/image374.png"/><Relationship Id="rId26" Type="http://schemas.openxmlformats.org/officeDocument/2006/relationships/image" Target="../media/image375.png"/><Relationship Id="rId27" Type="http://schemas.openxmlformats.org/officeDocument/2006/relationships/image" Target="../media/image376.png"/><Relationship Id="rId28" Type="http://schemas.openxmlformats.org/officeDocument/2006/relationships/image" Target="../media/image377.png"/><Relationship Id="rId29" Type="http://schemas.openxmlformats.org/officeDocument/2006/relationships/image" Target="../media/image378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9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0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1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2.jpg"/><Relationship Id="rId3" Type="http://schemas.openxmlformats.org/officeDocument/2006/relationships/image" Target="../media/image383.jpg"/><Relationship Id="rId4" Type="http://schemas.openxmlformats.org/officeDocument/2006/relationships/image" Target="../media/image384.jpg"/><Relationship Id="rId5" Type="http://schemas.openxmlformats.org/officeDocument/2006/relationships/image" Target="../media/image385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6.png"/><Relationship Id="rId3" Type="http://schemas.openxmlformats.org/officeDocument/2006/relationships/image" Target="../media/image387.png"/><Relationship Id="rId4" Type="http://schemas.openxmlformats.org/officeDocument/2006/relationships/image" Target="../media/image388.png"/><Relationship Id="rId5" Type="http://schemas.openxmlformats.org/officeDocument/2006/relationships/image" Target="../media/image389.png"/><Relationship Id="rId6" Type="http://schemas.openxmlformats.org/officeDocument/2006/relationships/image" Target="../media/image390.png"/><Relationship Id="rId7" Type="http://schemas.openxmlformats.org/officeDocument/2006/relationships/image" Target="../media/image391.png"/><Relationship Id="rId8" Type="http://schemas.openxmlformats.org/officeDocument/2006/relationships/image" Target="../media/image392.png"/><Relationship Id="rId9" Type="http://schemas.openxmlformats.org/officeDocument/2006/relationships/image" Target="../media/image393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4.jpg"/><Relationship Id="rId3" Type="http://schemas.openxmlformats.org/officeDocument/2006/relationships/image" Target="../media/image395.jpg"/><Relationship Id="rId4" Type="http://schemas.openxmlformats.org/officeDocument/2006/relationships/image" Target="../media/image396.jpg"/><Relationship Id="rId5" Type="http://schemas.openxmlformats.org/officeDocument/2006/relationships/image" Target="../media/image397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8.png"/><Relationship Id="rId3" Type="http://schemas.openxmlformats.org/officeDocument/2006/relationships/image" Target="../media/image399.png"/><Relationship Id="rId4" Type="http://schemas.openxmlformats.org/officeDocument/2006/relationships/image" Target="../media/image400.png"/><Relationship Id="rId5" Type="http://schemas.openxmlformats.org/officeDocument/2006/relationships/image" Target="../media/image401.png"/><Relationship Id="rId6" Type="http://schemas.openxmlformats.org/officeDocument/2006/relationships/image" Target="../media/image402.png"/><Relationship Id="rId7" Type="http://schemas.openxmlformats.org/officeDocument/2006/relationships/image" Target="../media/image403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4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5.png"/><Relationship Id="rId3" Type="http://schemas.openxmlformats.org/officeDocument/2006/relationships/image" Target="../media/image406.png"/><Relationship Id="rId4" Type="http://schemas.openxmlformats.org/officeDocument/2006/relationships/image" Target="../media/image407.png"/><Relationship Id="rId5" Type="http://schemas.openxmlformats.org/officeDocument/2006/relationships/image" Target="../media/image408.png"/><Relationship Id="rId6" Type="http://schemas.openxmlformats.org/officeDocument/2006/relationships/image" Target="../media/image409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410.png"/><Relationship Id="rId7" Type="http://schemas.openxmlformats.org/officeDocument/2006/relationships/image" Target="../media/image411.png"/><Relationship Id="rId8" Type="http://schemas.openxmlformats.org/officeDocument/2006/relationships/image" Target="../media/image412.png"/><Relationship Id="rId9" Type="http://schemas.openxmlformats.org/officeDocument/2006/relationships/image" Target="../media/image413.png"/><Relationship Id="rId10" Type="http://schemas.openxmlformats.org/officeDocument/2006/relationships/image" Target="../media/image414.png"/><Relationship Id="rId11" Type="http://schemas.openxmlformats.org/officeDocument/2006/relationships/image" Target="../media/image415.png"/><Relationship Id="rId12" Type="http://schemas.openxmlformats.org/officeDocument/2006/relationships/image" Target="../media/image416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7.jpg"/><Relationship Id="rId3" Type="http://schemas.openxmlformats.org/officeDocument/2006/relationships/image" Target="../media/image6.png"/><Relationship Id="rId4" Type="http://schemas.openxmlformats.org/officeDocument/2006/relationships/hyperlink" Target="http://WWW.XJTLU.EDU.CN/" TargetMode="External"/><Relationship Id="rId5" Type="http://schemas.openxmlformats.org/officeDocument/2006/relationships/image" Target="../media/image418.jpg"/><Relationship Id="rId6" Type="http://schemas.openxmlformats.org/officeDocument/2006/relationships/image" Target="../media/image419.png"/><Relationship Id="rId7" Type="http://schemas.openxmlformats.org/officeDocument/2006/relationships/image" Target="../media/image420.png"/><Relationship Id="rId8" Type="http://schemas.openxmlformats.org/officeDocument/2006/relationships/image" Target="../media/image421.jpg"/><Relationship Id="rId9" Type="http://schemas.openxmlformats.org/officeDocument/2006/relationships/image" Target="../media/image422.jpg"/><Relationship Id="rId10" Type="http://schemas.openxmlformats.org/officeDocument/2006/relationships/image" Target="../media/image42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476859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82917" y="4955857"/>
            <a:ext cx="55035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0" b="1">
                <a:solidFill>
                  <a:srgbClr val="000044"/>
                </a:solidFill>
                <a:latin typeface="Arial"/>
                <a:cs typeface="Arial"/>
              </a:rPr>
              <a:t>RADIAL-</a:t>
            </a:r>
            <a:r>
              <a:rPr dirty="0" sz="2800" spc="-400" b="1">
                <a:solidFill>
                  <a:srgbClr val="000044"/>
                </a:solidFill>
                <a:latin typeface="Arial"/>
                <a:cs typeface="Arial"/>
              </a:rPr>
              <a:t>BASIS</a:t>
            </a:r>
            <a:r>
              <a:rPr dirty="0" sz="2800" spc="-120" b="1">
                <a:solidFill>
                  <a:srgbClr val="000044"/>
                </a:solidFill>
                <a:latin typeface="Arial"/>
                <a:cs typeface="Arial"/>
              </a:rPr>
              <a:t> </a:t>
            </a:r>
            <a:r>
              <a:rPr dirty="0" sz="2800" spc="-285" b="1">
                <a:solidFill>
                  <a:srgbClr val="000044"/>
                </a:solidFill>
                <a:latin typeface="Arial"/>
                <a:cs typeface="Arial"/>
              </a:rPr>
              <a:t>FUNCTION</a:t>
            </a:r>
            <a:r>
              <a:rPr dirty="0" sz="2800" spc="-114" b="1">
                <a:solidFill>
                  <a:srgbClr val="000044"/>
                </a:solidFill>
                <a:latin typeface="Arial"/>
                <a:cs typeface="Arial"/>
              </a:rPr>
              <a:t> </a:t>
            </a:r>
            <a:r>
              <a:rPr dirty="0" sz="2800" spc="-395" b="1">
                <a:solidFill>
                  <a:srgbClr val="000044"/>
                </a:solidFill>
                <a:latin typeface="Arial"/>
                <a:cs typeface="Arial"/>
              </a:rPr>
              <a:t>NETWORKS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5940" y="5505132"/>
            <a:ext cx="3703954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b="1">
                <a:latin typeface="Arial"/>
                <a:cs typeface="Arial"/>
              </a:rPr>
              <a:t>INT301</a:t>
            </a:r>
            <a:r>
              <a:rPr dirty="0" sz="1550" spc="42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Bio-computation, Week 8, </a:t>
            </a:r>
            <a:r>
              <a:rPr dirty="0" sz="1550" spc="-20" b="1">
                <a:latin typeface="Arial"/>
                <a:cs typeface="Arial"/>
              </a:rPr>
              <a:t>2025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641541"/>
            <a:ext cx="9144000" cy="21645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32292" y="5929884"/>
            <a:ext cx="355092" cy="44500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745855" y="6427787"/>
            <a:ext cx="12318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0220" y="2023427"/>
            <a:ext cx="8163559" cy="4749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50240" indent="342265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most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common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tasks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performed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by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neural </a:t>
            </a:r>
            <a:r>
              <a:rPr dirty="0" sz="2800">
                <a:latin typeface="Arial MT"/>
                <a:cs typeface="Arial MT"/>
              </a:rPr>
              <a:t>networks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b="1">
                <a:solidFill>
                  <a:srgbClr val="0000FF"/>
                </a:solidFill>
                <a:latin typeface="Arial"/>
                <a:cs typeface="Arial"/>
              </a:rPr>
              <a:t>classification</a:t>
            </a:r>
            <a:r>
              <a:rPr dirty="0" sz="2800" spc="-9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10" b="1">
                <a:solidFill>
                  <a:srgbClr val="0000FF"/>
                </a:solidFill>
                <a:latin typeface="Arial"/>
                <a:cs typeface="Arial"/>
              </a:rPr>
              <a:t>prediction</a:t>
            </a:r>
            <a:r>
              <a:rPr dirty="0" sz="2800" spc="-10"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  <a:p>
            <a:pPr marL="12700" marR="5080" indent="342265">
              <a:lnSpc>
                <a:spcPct val="100000"/>
              </a:lnSpc>
              <a:spcBef>
                <a:spcPts val="1200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These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tasks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involve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input-</a:t>
            </a:r>
            <a:r>
              <a:rPr dirty="0" sz="2800">
                <a:latin typeface="Arial MT"/>
                <a:cs typeface="Arial MT"/>
              </a:rPr>
              <a:t>output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mappings</a:t>
            </a:r>
            <a:r>
              <a:rPr dirty="0" sz="2800">
                <a:latin typeface="Arial MT"/>
                <a:cs typeface="Arial MT"/>
              </a:rPr>
              <a:t>,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and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network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designed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2800" spc="-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learn</a:t>
            </a:r>
            <a:r>
              <a:rPr dirty="0" sz="2800" spc="-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2800" spc="-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mapping</a:t>
            </a:r>
            <a:r>
              <a:rPr dirty="0" sz="2800" spc="-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spc="-20">
                <a:latin typeface="Arial MT"/>
                <a:cs typeface="Arial MT"/>
              </a:rPr>
              <a:t>from </a:t>
            </a:r>
            <a:r>
              <a:rPr dirty="0" sz="2800">
                <a:latin typeface="Arial MT"/>
                <a:cs typeface="Arial MT"/>
              </a:rPr>
              <a:t>knowledge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problem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environment.</a:t>
            </a:r>
            <a:endParaRPr sz="2800">
              <a:latin typeface="Arial MT"/>
              <a:cs typeface="Arial MT"/>
            </a:endParaRPr>
          </a:p>
          <a:p>
            <a:pPr marL="12700" marR="885190" indent="342265">
              <a:lnSpc>
                <a:spcPct val="100000"/>
              </a:lnSpc>
              <a:spcBef>
                <a:spcPts val="1200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Thus,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design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neural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network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can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be </a:t>
            </a:r>
            <a:r>
              <a:rPr dirty="0" sz="2800">
                <a:latin typeface="Arial MT"/>
                <a:cs typeface="Arial MT"/>
              </a:rPr>
              <a:t>viewed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u="heavy" sz="280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curve-</a:t>
            </a:r>
            <a:r>
              <a:rPr dirty="0" u="heavy" sz="280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fitting</a:t>
            </a:r>
            <a:r>
              <a:rPr dirty="0" sz="2800" spc="-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or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u="heavy" sz="280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function</a:t>
            </a:r>
            <a:r>
              <a:rPr dirty="0" sz="28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u="heavy" sz="280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approximation</a:t>
            </a:r>
            <a:r>
              <a:rPr dirty="0" sz="2800" spc="-17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spc="-10">
                <a:latin typeface="Arial MT"/>
                <a:cs typeface="Arial MT"/>
              </a:rPr>
              <a:t>problem.</a:t>
            </a:r>
            <a:endParaRPr sz="2800">
              <a:latin typeface="Arial MT"/>
              <a:cs typeface="Arial MT"/>
            </a:endParaRPr>
          </a:p>
          <a:p>
            <a:pPr marL="12700" marR="454025" indent="342265">
              <a:lnSpc>
                <a:spcPct val="100000"/>
              </a:lnSpc>
              <a:spcBef>
                <a:spcPts val="1200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This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viewpoint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motivation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radial-</a:t>
            </a:r>
            <a:r>
              <a:rPr dirty="0" sz="2800" spc="-10">
                <a:latin typeface="Arial MT"/>
                <a:cs typeface="Arial MT"/>
              </a:rPr>
              <a:t>basis </a:t>
            </a:r>
            <a:r>
              <a:rPr dirty="0" sz="2800">
                <a:latin typeface="Arial MT"/>
                <a:cs typeface="Arial MT"/>
              </a:rPr>
              <a:t>function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networks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095294" y="691514"/>
            <a:ext cx="325691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155" b="1">
                <a:solidFill>
                  <a:srgbClr val="800000"/>
                </a:solidFill>
                <a:latin typeface="Arial"/>
                <a:cs typeface="Arial"/>
              </a:rPr>
              <a:t>Introduction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745855" y="6427787"/>
            <a:ext cx="12318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ahoma"/>
                <a:cs typeface="Tahoma"/>
              </a:rPr>
              <a:t>2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26206" y="451362"/>
            <a:ext cx="3184525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">
                <a:latin typeface="Microsoft JhengHei UI"/>
                <a:cs typeface="Microsoft JhengHei UI"/>
              </a:rPr>
              <a:t>神经⽹络执⾏的最常⻅任务是分类和预测。</a:t>
            </a:r>
            <a:endParaRPr sz="1300">
              <a:latin typeface="Microsoft JhengHei UI"/>
              <a:cs typeface="Microsoft JhengHei U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30728" y="754482"/>
            <a:ext cx="2006600" cy="3746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650" b="1">
                <a:latin typeface="Microsoft JhengHei UI"/>
                <a:cs typeface="Microsoft JhengHei UI"/>
              </a:rPr>
              <a:t>分类 </a:t>
            </a:r>
            <a:r>
              <a:rPr dirty="0" sz="650" b="1">
                <a:latin typeface="Times New Roman"/>
                <a:cs typeface="Times New Roman"/>
              </a:rPr>
              <a:t>(Classification)</a:t>
            </a:r>
            <a:r>
              <a:rPr dirty="0" sz="650" spc="5" b="1">
                <a:latin typeface="Microsoft JhengHei UI"/>
                <a:cs typeface="Microsoft JhengHei UI"/>
              </a:rPr>
              <a:t>： </a:t>
            </a:r>
            <a:r>
              <a:rPr dirty="0" sz="650">
                <a:latin typeface="Microsoft JhengHei UI"/>
                <a:cs typeface="Microsoft JhengHei UI"/>
              </a:rPr>
              <a:t>就是给事物</a:t>
            </a:r>
            <a:r>
              <a:rPr dirty="0" sz="650">
                <a:latin typeface="Times New Roman"/>
                <a:cs typeface="Times New Roman"/>
              </a:rPr>
              <a:t>“</a:t>
            </a:r>
            <a:r>
              <a:rPr dirty="0" sz="650">
                <a:latin typeface="Microsoft JhengHei UI"/>
                <a:cs typeface="Microsoft JhengHei UI"/>
              </a:rPr>
              <a:t>贴标签</a:t>
            </a:r>
            <a:r>
              <a:rPr dirty="0" sz="650">
                <a:latin typeface="Times New Roman"/>
                <a:cs typeface="Times New Roman"/>
              </a:rPr>
              <a:t>”</a:t>
            </a:r>
            <a:r>
              <a:rPr dirty="0" sz="650" spc="-10">
                <a:latin typeface="Microsoft JhengHei UI"/>
                <a:cs typeface="Microsoft JhengHei UI"/>
              </a:rPr>
              <a:t>。⽐如，给</a:t>
            </a:r>
            <a:endParaRPr sz="6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>
                <a:latin typeface="Microsoft JhengHei UI"/>
                <a:cs typeface="Microsoft JhengHei UI"/>
              </a:rPr>
              <a:t>⼀张图⽚打上</a:t>
            </a:r>
            <a:r>
              <a:rPr dirty="0" sz="650">
                <a:latin typeface="Times New Roman"/>
                <a:cs typeface="Times New Roman"/>
              </a:rPr>
              <a:t>“</a:t>
            </a:r>
            <a:r>
              <a:rPr dirty="0" sz="650">
                <a:latin typeface="Microsoft JhengHei UI"/>
                <a:cs typeface="Microsoft JhengHei UI"/>
              </a:rPr>
              <a:t>猫</a:t>
            </a:r>
            <a:r>
              <a:rPr dirty="0" sz="650">
                <a:latin typeface="Times New Roman"/>
                <a:cs typeface="Times New Roman"/>
              </a:rPr>
              <a:t>”</a:t>
            </a:r>
            <a:r>
              <a:rPr dirty="0" sz="650">
                <a:latin typeface="Microsoft JhengHei UI"/>
                <a:cs typeface="Microsoft JhengHei UI"/>
              </a:rPr>
              <a:t>或</a:t>
            </a:r>
            <a:r>
              <a:rPr dirty="0" sz="650">
                <a:latin typeface="Times New Roman"/>
                <a:cs typeface="Times New Roman"/>
              </a:rPr>
              <a:t>“</a:t>
            </a:r>
            <a:r>
              <a:rPr dirty="0" sz="650">
                <a:latin typeface="Microsoft JhengHei UI"/>
                <a:cs typeface="Microsoft JhengHei UI"/>
              </a:rPr>
              <a:t>狗</a:t>
            </a:r>
            <a:r>
              <a:rPr dirty="0" sz="650">
                <a:latin typeface="Times New Roman"/>
                <a:cs typeface="Times New Roman"/>
              </a:rPr>
              <a:t>”</a:t>
            </a:r>
            <a:r>
              <a:rPr dirty="0" sz="650" spc="-5">
                <a:latin typeface="Microsoft JhengHei UI"/>
                <a:cs typeface="Microsoft JhengHei UI"/>
              </a:rPr>
              <a:t>的标签；或者判断⼀封邮件是</a:t>
            </a:r>
            <a:endParaRPr sz="6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>
                <a:latin typeface="Times New Roman"/>
                <a:cs typeface="Times New Roman"/>
              </a:rPr>
              <a:t>“</a:t>
            </a:r>
            <a:r>
              <a:rPr dirty="0" sz="650">
                <a:latin typeface="Microsoft JhengHei UI"/>
                <a:cs typeface="Microsoft JhengHei UI"/>
              </a:rPr>
              <a:t>垃圾邮件</a:t>
            </a:r>
            <a:r>
              <a:rPr dirty="0" sz="650">
                <a:latin typeface="Times New Roman"/>
                <a:cs typeface="Times New Roman"/>
              </a:rPr>
              <a:t>”</a:t>
            </a:r>
            <a:r>
              <a:rPr dirty="0" sz="650">
                <a:latin typeface="Microsoft JhengHei UI"/>
                <a:cs typeface="Microsoft JhengHei UI"/>
              </a:rPr>
              <a:t>还是</a:t>
            </a:r>
            <a:r>
              <a:rPr dirty="0" sz="650">
                <a:latin typeface="Times New Roman"/>
                <a:cs typeface="Times New Roman"/>
              </a:rPr>
              <a:t>“</a:t>
            </a:r>
            <a:r>
              <a:rPr dirty="0" sz="650">
                <a:latin typeface="Microsoft JhengHei UI"/>
                <a:cs typeface="Microsoft JhengHei UI"/>
              </a:rPr>
              <a:t>⾮垃圾邮件</a:t>
            </a:r>
            <a:r>
              <a:rPr dirty="0" sz="650">
                <a:latin typeface="Times New Roman"/>
                <a:cs typeface="Times New Roman"/>
              </a:rPr>
              <a:t>”</a:t>
            </a:r>
            <a:r>
              <a:rPr dirty="0" sz="650" spc="-50">
                <a:latin typeface="Microsoft JhengHei UI"/>
                <a:cs typeface="Microsoft JhengHei UI"/>
              </a:rPr>
              <a:t>。</a:t>
            </a:r>
            <a:endParaRPr sz="650">
              <a:latin typeface="Microsoft JhengHei UI"/>
              <a:cs typeface="Microsoft JhengHei U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30728" y="1282333"/>
            <a:ext cx="2020570" cy="3746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650" b="1">
                <a:latin typeface="Microsoft JhengHei UI"/>
                <a:cs typeface="Microsoft JhengHei UI"/>
              </a:rPr>
              <a:t>预测 </a:t>
            </a:r>
            <a:r>
              <a:rPr dirty="0" sz="650" b="1">
                <a:latin typeface="Times New Roman"/>
                <a:cs typeface="Times New Roman"/>
              </a:rPr>
              <a:t>(Prediction)</a:t>
            </a:r>
            <a:r>
              <a:rPr dirty="0" sz="650" b="1">
                <a:latin typeface="Microsoft JhengHei UI"/>
                <a:cs typeface="Microsoft JhengHei UI"/>
              </a:rPr>
              <a:t>： </a:t>
            </a:r>
            <a:r>
              <a:rPr dirty="0" sz="650">
                <a:latin typeface="Microsoft JhengHei UI"/>
                <a:cs typeface="Microsoft JhengHei UI"/>
              </a:rPr>
              <a:t>通常指</a:t>
            </a:r>
            <a:r>
              <a:rPr dirty="0" sz="650">
                <a:latin typeface="Times New Roman"/>
                <a:cs typeface="Times New Roman"/>
              </a:rPr>
              <a:t>“</a:t>
            </a:r>
            <a:r>
              <a:rPr dirty="0" sz="650">
                <a:latin typeface="Microsoft JhengHei UI"/>
                <a:cs typeface="Microsoft JhengHei UI"/>
              </a:rPr>
              <a:t>回归</a:t>
            </a:r>
            <a:r>
              <a:rPr dirty="0" sz="650">
                <a:latin typeface="Times New Roman"/>
                <a:cs typeface="Times New Roman"/>
              </a:rPr>
              <a:t>”(Regression)</a:t>
            </a:r>
            <a:r>
              <a:rPr dirty="0" sz="650" spc="-15">
                <a:latin typeface="Microsoft JhengHei UI"/>
                <a:cs typeface="Microsoft JhengHei UI"/>
              </a:rPr>
              <a:t>，即预测</a:t>
            </a:r>
            <a:endParaRPr sz="650">
              <a:latin typeface="Microsoft JhengHei UI"/>
              <a:cs typeface="Microsoft JhengHei UI"/>
            </a:endParaRPr>
          </a:p>
          <a:p>
            <a:pPr marL="12700" marR="5080">
              <a:lnSpc>
                <a:spcPct val="117500"/>
              </a:lnSpc>
            </a:pPr>
            <a:r>
              <a:rPr dirty="0" sz="650">
                <a:latin typeface="Microsoft JhengHei UI"/>
                <a:cs typeface="Microsoft JhengHei UI"/>
              </a:rPr>
              <a:t>⼀个</a:t>
            </a:r>
            <a:r>
              <a:rPr dirty="0" sz="650" b="1">
                <a:latin typeface="Microsoft JhengHei UI"/>
                <a:cs typeface="Microsoft JhengHei UI"/>
              </a:rPr>
              <a:t>连续的数值</a:t>
            </a:r>
            <a:r>
              <a:rPr dirty="0" sz="650" spc="-5">
                <a:latin typeface="Microsoft JhengHei UI"/>
                <a:cs typeface="Microsoft JhengHei UI"/>
              </a:rPr>
              <a:t>。⽐如，根据房屋的⾯积、地段来预测</a:t>
            </a:r>
            <a:r>
              <a:rPr dirty="0" sz="650">
                <a:latin typeface="Microsoft JhengHei UI"/>
                <a:cs typeface="Microsoft JhengHei UI"/>
              </a:rPr>
              <a:t>它的</a:t>
            </a:r>
            <a:r>
              <a:rPr dirty="0" sz="650">
                <a:latin typeface="Times New Roman"/>
                <a:cs typeface="Times New Roman"/>
              </a:rPr>
              <a:t>“</a:t>
            </a:r>
            <a:r>
              <a:rPr dirty="0" sz="650">
                <a:latin typeface="Microsoft JhengHei UI"/>
                <a:cs typeface="Microsoft JhengHei UI"/>
              </a:rPr>
              <a:t>价格</a:t>
            </a:r>
            <a:r>
              <a:rPr dirty="0" sz="650">
                <a:latin typeface="Times New Roman"/>
                <a:cs typeface="Times New Roman"/>
              </a:rPr>
              <a:t>”</a:t>
            </a:r>
            <a:r>
              <a:rPr dirty="0" sz="650">
                <a:latin typeface="Microsoft JhengHei UI"/>
                <a:cs typeface="Microsoft JhengHei UI"/>
              </a:rPr>
              <a:t>；或者预测明天的</a:t>
            </a:r>
            <a:r>
              <a:rPr dirty="0" sz="650">
                <a:latin typeface="Times New Roman"/>
                <a:cs typeface="Times New Roman"/>
              </a:rPr>
              <a:t>“</a:t>
            </a:r>
            <a:r>
              <a:rPr dirty="0" sz="650">
                <a:latin typeface="Microsoft JhengHei UI"/>
                <a:cs typeface="Microsoft JhengHei UI"/>
              </a:rPr>
              <a:t>股票价格</a:t>
            </a:r>
            <a:r>
              <a:rPr dirty="0" sz="650">
                <a:latin typeface="Times New Roman"/>
                <a:cs typeface="Times New Roman"/>
              </a:rPr>
              <a:t>”</a:t>
            </a:r>
            <a:r>
              <a:rPr dirty="0" sz="650" spc="-50">
                <a:latin typeface="Microsoft JhengHei UI"/>
                <a:cs typeface="Microsoft JhengHei UI"/>
              </a:rPr>
              <a:t>。</a:t>
            </a:r>
            <a:endParaRPr sz="650">
              <a:latin typeface="Microsoft JhengHei UI"/>
              <a:cs typeface="Microsoft JhengHei U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511133" y="241238"/>
            <a:ext cx="2272665" cy="115189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14604">
              <a:lnSpc>
                <a:spcPct val="117300"/>
              </a:lnSpc>
              <a:spcBef>
                <a:spcPts val="80"/>
              </a:spcBef>
            </a:pPr>
            <a:r>
              <a:rPr dirty="0" sz="1100" spc="-25">
                <a:latin typeface="Microsoft JhengHei UI"/>
                <a:cs typeface="Microsoft JhengHei UI"/>
              </a:rPr>
              <a:t>神经⽹络的设计可以被看作是⼀个</a:t>
            </a:r>
            <a:r>
              <a:rPr dirty="0" sz="1100" spc="500">
                <a:latin typeface="Microsoft JhengHei UI"/>
                <a:cs typeface="Microsoft JhengHei UI"/>
              </a:rPr>
              <a:t>  </a:t>
            </a:r>
            <a:r>
              <a:rPr dirty="0" sz="1100" spc="-5">
                <a:latin typeface="Microsoft JhengHei UI"/>
                <a:cs typeface="Microsoft JhengHei UI"/>
              </a:rPr>
              <a:t>“曲线拟合”或“函数逼近”的问题。</a:t>
            </a:r>
            <a:r>
              <a:rPr dirty="0" sz="1100" spc="500">
                <a:latin typeface="Microsoft JhengHei UI"/>
                <a:cs typeface="Microsoft JhengHei UI"/>
              </a:rPr>
              <a:t> </a:t>
            </a:r>
            <a:r>
              <a:rPr dirty="0" sz="1000" spc="-5">
                <a:latin typeface="Microsoft JhengHei UI"/>
                <a:cs typeface="Microsoft JhengHei UI"/>
              </a:rPr>
              <a:t>训练⼀个神经⽹络，本质上就是在寻找</a:t>
            </a:r>
            <a:endParaRPr sz="1000">
              <a:latin typeface="Microsoft JhengHei UI"/>
              <a:cs typeface="Microsoft JhengHei UI"/>
            </a:endParaRPr>
          </a:p>
          <a:p>
            <a:pPr marL="12700" marR="5080">
              <a:lnSpc>
                <a:spcPct val="120900"/>
              </a:lnSpc>
            </a:pPr>
            <a:r>
              <a:rPr dirty="0" sz="1000" spc="35">
                <a:latin typeface="Microsoft JhengHei UI"/>
                <a:cs typeface="Microsoft JhengHei UI"/>
              </a:rPr>
              <a:t>⼀个⾮常复杂的函数 </a:t>
            </a:r>
            <a:r>
              <a:rPr dirty="0" sz="1000">
                <a:latin typeface="Microsoft JhengHei UI"/>
                <a:cs typeface="Microsoft JhengHei UI"/>
              </a:rPr>
              <a:t>f，</a:t>
            </a:r>
            <a:r>
              <a:rPr dirty="0" sz="1000" spc="55">
                <a:latin typeface="Microsoft JhengHei UI"/>
                <a:cs typeface="Microsoft JhengHei UI"/>
              </a:rPr>
              <a:t>让这个函数 </a:t>
            </a:r>
            <a:r>
              <a:rPr dirty="0" sz="1000" spc="-50">
                <a:latin typeface="Microsoft JhengHei UI"/>
                <a:cs typeface="Microsoft JhengHei UI"/>
              </a:rPr>
              <a:t>f</a:t>
            </a:r>
            <a:r>
              <a:rPr dirty="0" sz="1000" spc="30">
                <a:latin typeface="Microsoft JhengHei UI"/>
                <a:cs typeface="Microsoft JhengHei UI"/>
              </a:rPr>
              <a:t>能够尽可能地“拟合”我们所有的训练数</a:t>
            </a:r>
            <a:r>
              <a:rPr dirty="0" sz="1000" spc="-50">
                <a:latin typeface="Microsoft JhengHei UI"/>
                <a:cs typeface="Microsoft JhengHei UI"/>
              </a:rPr>
              <a:t>据</a:t>
            </a:r>
            <a:endParaRPr sz="1000">
              <a:latin typeface="Microsoft JhengHei UI"/>
              <a:cs typeface="Microsoft JhengHei U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371892" y="1562632"/>
            <a:ext cx="4982845" cy="413384"/>
          </a:xfrm>
          <a:prstGeom prst="rect">
            <a:avLst/>
          </a:prstGeom>
        </p:spPr>
        <p:txBody>
          <a:bodyPr wrap="square" lIns="0" tIns="393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dirty="0" sz="1100" spc="-20">
                <a:latin typeface="Microsoft JhengHei UI"/>
                <a:cs typeface="Microsoft JhengHei UI"/>
              </a:rPr>
              <a:t>与其像传统神经⽹络（</a:t>
            </a:r>
            <a:r>
              <a:rPr dirty="0" sz="1100" spc="25">
                <a:latin typeface="Microsoft JhengHei UI"/>
                <a:cs typeface="Microsoft JhengHei UI"/>
              </a:rPr>
              <a:t>如多层感知机 </a:t>
            </a:r>
            <a:r>
              <a:rPr dirty="0" sz="1100">
                <a:latin typeface="Microsoft JhengHei UI"/>
                <a:cs typeface="Microsoft JhengHei UI"/>
              </a:rPr>
              <a:t>MLP）那样模拟“神经元激活”，RBF</a:t>
            </a:r>
            <a:r>
              <a:rPr dirty="0" sz="1100" spc="55">
                <a:latin typeface="Microsoft JhengHei UI"/>
                <a:cs typeface="Microsoft JhengHei UI"/>
              </a:rPr>
              <a:t> ⽹络从</a:t>
            </a:r>
            <a:endParaRPr sz="11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100" spc="-5">
                <a:latin typeface="Microsoft JhengHei UI"/>
                <a:cs typeface="Microsoft JhengHei UI"/>
              </a:rPr>
              <a:t>⼀开始就在数学上被设计为⼀个强⼤的“通⽤函数逼近器”。</a:t>
            </a:r>
            <a:endParaRPr sz="1100">
              <a:latin typeface="Microsoft JhengHei UI"/>
              <a:cs typeface="Microsoft JhengHei UI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547066" y="633747"/>
            <a:ext cx="577215" cy="36830"/>
          </a:xfrm>
          <a:custGeom>
            <a:avLst/>
            <a:gdLst/>
            <a:ahLst/>
            <a:cxnLst/>
            <a:rect l="l" t="t" r="r" b="b"/>
            <a:pathLst>
              <a:path w="577215" h="36829">
                <a:moveTo>
                  <a:pt x="6089" y="20493"/>
                </a:moveTo>
                <a:lnTo>
                  <a:pt x="5901" y="20493"/>
                </a:lnTo>
                <a:lnTo>
                  <a:pt x="3187" y="21953"/>
                </a:lnTo>
                <a:lnTo>
                  <a:pt x="0" y="27884"/>
                </a:lnTo>
                <a:lnTo>
                  <a:pt x="34" y="28163"/>
                </a:lnTo>
                <a:lnTo>
                  <a:pt x="156" y="29141"/>
                </a:lnTo>
                <a:lnTo>
                  <a:pt x="273" y="30081"/>
                </a:lnTo>
                <a:lnTo>
                  <a:pt x="330" y="30538"/>
                </a:lnTo>
                <a:lnTo>
                  <a:pt x="435" y="31275"/>
                </a:lnTo>
                <a:lnTo>
                  <a:pt x="3505" y="36139"/>
                </a:lnTo>
                <a:lnTo>
                  <a:pt x="6350" y="36787"/>
                </a:lnTo>
                <a:lnTo>
                  <a:pt x="9740" y="34640"/>
                </a:lnTo>
                <a:lnTo>
                  <a:pt x="10528" y="33332"/>
                </a:lnTo>
                <a:lnTo>
                  <a:pt x="10630" y="32024"/>
                </a:lnTo>
                <a:lnTo>
                  <a:pt x="8851" y="32024"/>
                </a:lnTo>
                <a:lnTo>
                  <a:pt x="5981" y="30081"/>
                </a:lnTo>
                <a:lnTo>
                  <a:pt x="4271" y="23909"/>
                </a:lnTo>
                <a:lnTo>
                  <a:pt x="4229" y="23756"/>
                </a:lnTo>
                <a:lnTo>
                  <a:pt x="6089" y="20493"/>
                </a:lnTo>
                <a:close/>
              </a:path>
              <a:path w="577215" h="36829">
                <a:moveTo>
                  <a:pt x="13510" y="18435"/>
                </a:moveTo>
                <a:lnTo>
                  <a:pt x="12924" y="18435"/>
                </a:lnTo>
                <a:lnTo>
                  <a:pt x="5511" y="20493"/>
                </a:lnTo>
                <a:lnTo>
                  <a:pt x="6089" y="20493"/>
                </a:lnTo>
                <a:lnTo>
                  <a:pt x="4229" y="23756"/>
                </a:lnTo>
                <a:lnTo>
                  <a:pt x="5981" y="30081"/>
                </a:lnTo>
                <a:lnTo>
                  <a:pt x="8851" y="32024"/>
                </a:lnTo>
                <a:lnTo>
                  <a:pt x="15370" y="31275"/>
                </a:lnTo>
                <a:lnTo>
                  <a:pt x="17856" y="28163"/>
                </a:lnTo>
                <a:lnTo>
                  <a:pt x="17482" y="24890"/>
                </a:lnTo>
                <a:lnTo>
                  <a:pt x="17370" y="23909"/>
                </a:lnTo>
                <a:lnTo>
                  <a:pt x="17297" y="23274"/>
                </a:lnTo>
                <a:lnTo>
                  <a:pt x="17221" y="22601"/>
                </a:lnTo>
                <a:lnTo>
                  <a:pt x="17128" y="21792"/>
                </a:lnTo>
                <a:lnTo>
                  <a:pt x="17068" y="21267"/>
                </a:lnTo>
                <a:lnTo>
                  <a:pt x="13510" y="18435"/>
                </a:lnTo>
                <a:close/>
              </a:path>
              <a:path w="577215" h="36829">
                <a:moveTo>
                  <a:pt x="15379" y="31275"/>
                </a:moveTo>
                <a:lnTo>
                  <a:pt x="8851" y="32024"/>
                </a:lnTo>
                <a:lnTo>
                  <a:pt x="10630" y="32024"/>
                </a:lnTo>
                <a:lnTo>
                  <a:pt x="10642" y="31872"/>
                </a:lnTo>
                <a:lnTo>
                  <a:pt x="10306" y="31872"/>
                </a:lnTo>
                <a:lnTo>
                  <a:pt x="15379" y="31275"/>
                </a:lnTo>
                <a:close/>
              </a:path>
              <a:path w="577215" h="36829">
                <a:moveTo>
                  <a:pt x="68017" y="11887"/>
                </a:moveTo>
                <a:lnTo>
                  <a:pt x="50703" y="13782"/>
                </a:lnTo>
                <a:lnTo>
                  <a:pt x="20586" y="17419"/>
                </a:lnTo>
                <a:lnTo>
                  <a:pt x="14020" y="18435"/>
                </a:lnTo>
                <a:lnTo>
                  <a:pt x="17077" y="18435"/>
                </a:lnTo>
                <a:lnTo>
                  <a:pt x="9611" y="19286"/>
                </a:lnTo>
                <a:lnTo>
                  <a:pt x="14579" y="19286"/>
                </a:lnTo>
                <a:lnTo>
                  <a:pt x="17068" y="21267"/>
                </a:lnTo>
                <a:lnTo>
                  <a:pt x="17639" y="26265"/>
                </a:lnTo>
                <a:lnTo>
                  <a:pt x="17713" y="26914"/>
                </a:lnTo>
                <a:lnTo>
                  <a:pt x="17824" y="27884"/>
                </a:lnTo>
                <a:lnTo>
                  <a:pt x="17856" y="28163"/>
                </a:lnTo>
                <a:lnTo>
                  <a:pt x="15379" y="31275"/>
                </a:lnTo>
                <a:lnTo>
                  <a:pt x="18148" y="30957"/>
                </a:lnTo>
                <a:lnTo>
                  <a:pt x="24409" y="30538"/>
                </a:lnTo>
                <a:lnTo>
                  <a:pt x="69504" y="26914"/>
                </a:lnTo>
                <a:lnTo>
                  <a:pt x="65874" y="23909"/>
                </a:lnTo>
                <a:lnTo>
                  <a:pt x="65807" y="23274"/>
                </a:lnTo>
                <a:lnTo>
                  <a:pt x="65736" y="22601"/>
                </a:lnTo>
                <a:lnTo>
                  <a:pt x="65650" y="21792"/>
                </a:lnTo>
                <a:lnTo>
                  <a:pt x="65569" y="21026"/>
                </a:lnTo>
                <a:lnTo>
                  <a:pt x="65513" y="20493"/>
                </a:lnTo>
                <a:lnTo>
                  <a:pt x="65409" y="19515"/>
                </a:lnTo>
                <a:lnTo>
                  <a:pt x="65295" y="18435"/>
                </a:lnTo>
                <a:lnTo>
                  <a:pt x="65188" y="17419"/>
                </a:lnTo>
                <a:lnTo>
                  <a:pt x="65139" y="16962"/>
                </a:lnTo>
                <a:lnTo>
                  <a:pt x="65014" y="15781"/>
                </a:lnTo>
                <a:lnTo>
                  <a:pt x="64998" y="15628"/>
                </a:lnTo>
                <a:lnTo>
                  <a:pt x="68017" y="11887"/>
                </a:lnTo>
                <a:close/>
              </a:path>
              <a:path w="577215" h="36829">
                <a:moveTo>
                  <a:pt x="76537" y="11034"/>
                </a:moveTo>
                <a:lnTo>
                  <a:pt x="72415" y="11412"/>
                </a:lnTo>
                <a:lnTo>
                  <a:pt x="68017" y="11887"/>
                </a:lnTo>
                <a:lnTo>
                  <a:pt x="64998" y="15628"/>
                </a:lnTo>
                <a:lnTo>
                  <a:pt x="65014" y="15781"/>
                </a:lnTo>
                <a:lnTo>
                  <a:pt x="65139" y="16962"/>
                </a:lnTo>
                <a:lnTo>
                  <a:pt x="65188" y="17419"/>
                </a:lnTo>
                <a:lnTo>
                  <a:pt x="65295" y="18435"/>
                </a:lnTo>
                <a:lnTo>
                  <a:pt x="65409" y="19515"/>
                </a:lnTo>
                <a:lnTo>
                  <a:pt x="65513" y="20493"/>
                </a:lnTo>
                <a:lnTo>
                  <a:pt x="65569" y="21026"/>
                </a:lnTo>
                <a:lnTo>
                  <a:pt x="65650" y="21792"/>
                </a:lnTo>
                <a:lnTo>
                  <a:pt x="65736" y="22601"/>
                </a:lnTo>
                <a:lnTo>
                  <a:pt x="65807" y="23274"/>
                </a:lnTo>
                <a:lnTo>
                  <a:pt x="65874" y="23909"/>
                </a:lnTo>
                <a:lnTo>
                  <a:pt x="69504" y="26914"/>
                </a:lnTo>
                <a:lnTo>
                  <a:pt x="77781" y="26265"/>
                </a:lnTo>
                <a:lnTo>
                  <a:pt x="80924" y="22601"/>
                </a:lnTo>
                <a:lnTo>
                  <a:pt x="80800" y="21026"/>
                </a:lnTo>
                <a:lnTo>
                  <a:pt x="80681" y="19515"/>
                </a:lnTo>
                <a:lnTo>
                  <a:pt x="80596" y="18435"/>
                </a:lnTo>
                <a:lnTo>
                  <a:pt x="80480" y="16962"/>
                </a:lnTo>
                <a:lnTo>
                  <a:pt x="80375" y="15628"/>
                </a:lnTo>
                <a:lnTo>
                  <a:pt x="80263" y="14219"/>
                </a:lnTo>
                <a:lnTo>
                  <a:pt x="76537" y="11034"/>
                </a:lnTo>
                <a:close/>
              </a:path>
              <a:path w="577215" h="36829">
                <a:moveTo>
                  <a:pt x="152441" y="11034"/>
                </a:moveTo>
                <a:lnTo>
                  <a:pt x="76537" y="11034"/>
                </a:lnTo>
                <a:lnTo>
                  <a:pt x="80263" y="14219"/>
                </a:lnTo>
                <a:lnTo>
                  <a:pt x="80375" y="15628"/>
                </a:lnTo>
                <a:lnTo>
                  <a:pt x="80480" y="16962"/>
                </a:lnTo>
                <a:lnTo>
                  <a:pt x="80596" y="18435"/>
                </a:lnTo>
                <a:lnTo>
                  <a:pt x="80681" y="19515"/>
                </a:lnTo>
                <a:lnTo>
                  <a:pt x="80800" y="21026"/>
                </a:lnTo>
                <a:lnTo>
                  <a:pt x="80924" y="22601"/>
                </a:lnTo>
                <a:lnTo>
                  <a:pt x="77781" y="26265"/>
                </a:lnTo>
                <a:lnTo>
                  <a:pt x="139535" y="21792"/>
                </a:lnTo>
                <a:lnTo>
                  <a:pt x="161531" y="20493"/>
                </a:lnTo>
                <a:lnTo>
                  <a:pt x="156559" y="20493"/>
                </a:lnTo>
                <a:lnTo>
                  <a:pt x="152831" y="17178"/>
                </a:lnTo>
                <a:lnTo>
                  <a:pt x="152733" y="15628"/>
                </a:lnTo>
                <a:lnTo>
                  <a:pt x="152616" y="13782"/>
                </a:lnTo>
                <a:lnTo>
                  <a:pt x="152495" y="11887"/>
                </a:lnTo>
                <a:lnTo>
                  <a:pt x="152441" y="11034"/>
                </a:lnTo>
                <a:close/>
              </a:path>
              <a:path w="577215" h="36829">
                <a:moveTo>
                  <a:pt x="313259" y="0"/>
                </a:moveTo>
                <a:lnTo>
                  <a:pt x="281639" y="0"/>
                </a:lnTo>
                <a:lnTo>
                  <a:pt x="285483" y="3868"/>
                </a:lnTo>
                <a:lnTo>
                  <a:pt x="285412" y="13782"/>
                </a:lnTo>
                <a:lnTo>
                  <a:pt x="281330" y="17877"/>
                </a:lnTo>
                <a:lnTo>
                  <a:pt x="313673" y="17877"/>
                </a:lnTo>
                <a:lnTo>
                  <a:pt x="336162" y="18435"/>
                </a:lnTo>
                <a:lnTo>
                  <a:pt x="333440" y="18435"/>
                </a:lnTo>
                <a:lnTo>
                  <a:pt x="360577" y="19825"/>
                </a:lnTo>
                <a:lnTo>
                  <a:pt x="358206" y="19825"/>
                </a:lnTo>
                <a:lnTo>
                  <a:pt x="387677" y="20493"/>
                </a:lnTo>
                <a:lnTo>
                  <a:pt x="441370" y="21026"/>
                </a:lnTo>
                <a:lnTo>
                  <a:pt x="450951" y="21026"/>
                </a:lnTo>
                <a:lnTo>
                  <a:pt x="449440" y="19515"/>
                </a:lnTo>
                <a:lnTo>
                  <a:pt x="353669" y="19515"/>
                </a:lnTo>
                <a:lnTo>
                  <a:pt x="353930" y="19286"/>
                </a:lnTo>
                <a:lnTo>
                  <a:pt x="344193" y="19286"/>
                </a:lnTo>
                <a:lnTo>
                  <a:pt x="340105" y="14612"/>
                </a:lnTo>
                <a:lnTo>
                  <a:pt x="340160" y="13782"/>
                </a:lnTo>
                <a:lnTo>
                  <a:pt x="340285" y="11887"/>
                </a:lnTo>
                <a:lnTo>
                  <a:pt x="340341" y="11034"/>
                </a:lnTo>
                <a:lnTo>
                  <a:pt x="340467" y="9121"/>
                </a:lnTo>
                <a:lnTo>
                  <a:pt x="340573" y="7513"/>
                </a:lnTo>
                <a:lnTo>
                  <a:pt x="340689" y="5764"/>
                </a:lnTo>
                <a:lnTo>
                  <a:pt x="340738" y="5021"/>
                </a:lnTo>
                <a:lnTo>
                  <a:pt x="340482" y="5021"/>
                </a:lnTo>
                <a:lnTo>
                  <a:pt x="344857" y="1182"/>
                </a:lnTo>
                <a:lnTo>
                  <a:pt x="346019" y="1182"/>
                </a:lnTo>
                <a:lnTo>
                  <a:pt x="332041" y="477"/>
                </a:lnTo>
                <a:lnTo>
                  <a:pt x="332491" y="477"/>
                </a:lnTo>
                <a:lnTo>
                  <a:pt x="313259" y="0"/>
                </a:lnTo>
                <a:close/>
              </a:path>
              <a:path w="577215" h="36829">
                <a:moveTo>
                  <a:pt x="461001" y="2844"/>
                </a:moveTo>
                <a:lnTo>
                  <a:pt x="450896" y="2844"/>
                </a:lnTo>
                <a:lnTo>
                  <a:pt x="447799" y="5951"/>
                </a:lnTo>
                <a:lnTo>
                  <a:pt x="446849" y="6953"/>
                </a:lnTo>
                <a:lnTo>
                  <a:pt x="446887" y="16962"/>
                </a:lnTo>
                <a:lnTo>
                  <a:pt x="450951" y="21026"/>
                </a:lnTo>
                <a:lnTo>
                  <a:pt x="460946" y="21026"/>
                </a:lnTo>
                <a:lnTo>
                  <a:pt x="465035" y="16962"/>
                </a:lnTo>
                <a:lnTo>
                  <a:pt x="465061" y="6953"/>
                </a:lnTo>
                <a:lnTo>
                  <a:pt x="464099" y="5951"/>
                </a:lnTo>
                <a:lnTo>
                  <a:pt x="461001" y="2844"/>
                </a:lnTo>
                <a:close/>
              </a:path>
              <a:path w="577215" h="36829">
                <a:moveTo>
                  <a:pt x="473358" y="2844"/>
                </a:moveTo>
                <a:lnTo>
                  <a:pt x="461001" y="2844"/>
                </a:lnTo>
                <a:lnTo>
                  <a:pt x="464099" y="5951"/>
                </a:lnTo>
                <a:lnTo>
                  <a:pt x="465061" y="6953"/>
                </a:lnTo>
                <a:lnTo>
                  <a:pt x="465035" y="16962"/>
                </a:lnTo>
                <a:lnTo>
                  <a:pt x="460946" y="21026"/>
                </a:lnTo>
                <a:lnTo>
                  <a:pt x="496971" y="21026"/>
                </a:lnTo>
                <a:lnTo>
                  <a:pt x="536823" y="20493"/>
                </a:lnTo>
                <a:lnTo>
                  <a:pt x="538871" y="20493"/>
                </a:lnTo>
                <a:lnTo>
                  <a:pt x="555351" y="19825"/>
                </a:lnTo>
                <a:lnTo>
                  <a:pt x="556137" y="19825"/>
                </a:lnTo>
                <a:lnTo>
                  <a:pt x="564856" y="19286"/>
                </a:lnTo>
                <a:lnTo>
                  <a:pt x="565373" y="19286"/>
                </a:lnTo>
                <a:lnTo>
                  <a:pt x="577106" y="18435"/>
                </a:lnTo>
                <a:lnTo>
                  <a:pt x="572016" y="18435"/>
                </a:lnTo>
                <a:lnTo>
                  <a:pt x="574166" y="15933"/>
                </a:lnTo>
                <a:lnTo>
                  <a:pt x="574068" y="14612"/>
                </a:lnTo>
                <a:lnTo>
                  <a:pt x="574006" y="13782"/>
                </a:lnTo>
                <a:lnTo>
                  <a:pt x="573917" y="12596"/>
                </a:lnTo>
                <a:lnTo>
                  <a:pt x="573801" y="11034"/>
                </a:lnTo>
                <a:lnTo>
                  <a:pt x="549119" y="5021"/>
                </a:lnTo>
                <a:lnTo>
                  <a:pt x="550039" y="5021"/>
                </a:lnTo>
                <a:lnTo>
                  <a:pt x="537116" y="4300"/>
                </a:lnTo>
                <a:lnTo>
                  <a:pt x="537363" y="4300"/>
                </a:lnTo>
                <a:lnTo>
                  <a:pt x="526851" y="3868"/>
                </a:lnTo>
                <a:lnTo>
                  <a:pt x="527301" y="3868"/>
                </a:lnTo>
                <a:lnTo>
                  <a:pt x="512080" y="3410"/>
                </a:lnTo>
                <a:lnTo>
                  <a:pt x="514789" y="3410"/>
                </a:lnTo>
                <a:lnTo>
                  <a:pt x="473358" y="2844"/>
                </a:lnTo>
                <a:close/>
              </a:path>
              <a:path w="577215" h="36829">
                <a:moveTo>
                  <a:pt x="166109" y="3868"/>
                </a:moveTo>
                <a:lnTo>
                  <a:pt x="155709" y="3868"/>
                </a:lnTo>
                <a:lnTo>
                  <a:pt x="152234" y="7780"/>
                </a:lnTo>
                <a:lnTo>
                  <a:pt x="152320" y="9121"/>
                </a:lnTo>
                <a:lnTo>
                  <a:pt x="152441" y="11034"/>
                </a:lnTo>
                <a:lnTo>
                  <a:pt x="152495" y="11887"/>
                </a:lnTo>
                <a:lnTo>
                  <a:pt x="152616" y="13782"/>
                </a:lnTo>
                <a:lnTo>
                  <a:pt x="152733" y="15628"/>
                </a:lnTo>
                <a:lnTo>
                  <a:pt x="152831" y="17178"/>
                </a:lnTo>
                <a:lnTo>
                  <a:pt x="156559" y="20493"/>
                </a:lnTo>
                <a:lnTo>
                  <a:pt x="166015" y="20493"/>
                </a:lnTo>
                <a:lnTo>
                  <a:pt x="169862" y="16200"/>
                </a:lnTo>
                <a:lnTo>
                  <a:pt x="169745" y="14028"/>
                </a:lnTo>
                <a:lnTo>
                  <a:pt x="169629" y="11887"/>
                </a:lnTo>
                <a:lnTo>
                  <a:pt x="169518" y="9812"/>
                </a:lnTo>
                <a:lnTo>
                  <a:pt x="169394" y="7513"/>
                </a:lnTo>
                <a:lnTo>
                  <a:pt x="169363" y="6953"/>
                </a:lnTo>
                <a:lnTo>
                  <a:pt x="169551" y="6953"/>
                </a:lnTo>
                <a:lnTo>
                  <a:pt x="166109" y="3868"/>
                </a:lnTo>
                <a:close/>
              </a:path>
              <a:path w="577215" h="36829">
                <a:moveTo>
                  <a:pt x="203597" y="3157"/>
                </a:moveTo>
                <a:lnTo>
                  <a:pt x="165315" y="3157"/>
                </a:lnTo>
                <a:lnTo>
                  <a:pt x="169551" y="6953"/>
                </a:lnTo>
                <a:lnTo>
                  <a:pt x="169363" y="6953"/>
                </a:lnTo>
                <a:lnTo>
                  <a:pt x="169394" y="7513"/>
                </a:lnTo>
                <a:lnTo>
                  <a:pt x="169518" y="9812"/>
                </a:lnTo>
                <a:lnTo>
                  <a:pt x="169629" y="11887"/>
                </a:lnTo>
                <a:lnTo>
                  <a:pt x="169745" y="14028"/>
                </a:lnTo>
                <a:lnTo>
                  <a:pt x="169862" y="16200"/>
                </a:lnTo>
                <a:lnTo>
                  <a:pt x="166015" y="20493"/>
                </a:lnTo>
                <a:lnTo>
                  <a:pt x="161531" y="20493"/>
                </a:lnTo>
                <a:lnTo>
                  <a:pt x="184636" y="19286"/>
                </a:lnTo>
                <a:lnTo>
                  <a:pt x="184387" y="19286"/>
                </a:lnTo>
                <a:lnTo>
                  <a:pt x="203701" y="18435"/>
                </a:lnTo>
                <a:lnTo>
                  <a:pt x="206481" y="18435"/>
                </a:lnTo>
                <a:lnTo>
                  <a:pt x="202388" y="14612"/>
                </a:lnTo>
                <a:lnTo>
                  <a:pt x="202283" y="12596"/>
                </a:lnTo>
                <a:lnTo>
                  <a:pt x="202173" y="9812"/>
                </a:lnTo>
                <a:lnTo>
                  <a:pt x="202061" y="6953"/>
                </a:lnTo>
                <a:lnTo>
                  <a:pt x="201985" y="5021"/>
                </a:lnTo>
                <a:lnTo>
                  <a:pt x="202543" y="4300"/>
                </a:lnTo>
                <a:lnTo>
                  <a:pt x="203597" y="3157"/>
                </a:lnTo>
                <a:close/>
              </a:path>
              <a:path w="577215" h="36829">
                <a:moveTo>
                  <a:pt x="350429" y="19286"/>
                </a:moveTo>
                <a:lnTo>
                  <a:pt x="350130" y="19286"/>
                </a:lnTo>
                <a:lnTo>
                  <a:pt x="353669" y="19515"/>
                </a:lnTo>
                <a:lnTo>
                  <a:pt x="354735" y="19515"/>
                </a:lnTo>
                <a:lnTo>
                  <a:pt x="350429" y="19286"/>
                </a:lnTo>
                <a:close/>
              </a:path>
              <a:path w="577215" h="36829">
                <a:moveTo>
                  <a:pt x="349923" y="1379"/>
                </a:moveTo>
                <a:lnTo>
                  <a:pt x="354837" y="1709"/>
                </a:lnTo>
                <a:lnTo>
                  <a:pt x="358395" y="5764"/>
                </a:lnTo>
                <a:lnTo>
                  <a:pt x="358354" y="9121"/>
                </a:lnTo>
                <a:lnTo>
                  <a:pt x="358230" y="11034"/>
                </a:lnTo>
                <a:lnTo>
                  <a:pt x="358129" y="12596"/>
                </a:lnTo>
                <a:lnTo>
                  <a:pt x="358037" y="14028"/>
                </a:lnTo>
                <a:lnTo>
                  <a:pt x="357924" y="15781"/>
                </a:lnTo>
                <a:lnTo>
                  <a:pt x="353669" y="19515"/>
                </a:lnTo>
                <a:lnTo>
                  <a:pt x="449440" y="19515"/>
                </a:lnTo>
                <a:lnTo>
                  <a:pt x="446887" y="16962"/>
                </a:lnTo>
                <a:lnTo>
                  <a:pt x="446849" y="6953"/>
                </a:lnTo>
                <a:lnTo>
                  <a:pt x="447799" y="5951"/>
                </a:lnTo>
                <a:lnTo>
                  <a:pt x="450896" y="2844"/>
                </a:lnTo>
                <a:lnTo>
                  <a:pt x="418463" y="2844"/>
                </a:lnTo>
                <a:lnTo>
                  <a:pt x="375266" y="2386"/>
                </a:lnTo>
                <a:lnTo>
                  <a:pt x="378533" y="2386"/>
                </a:lnTo>
                <a:lnTo>
                  <a:pt x="368988" y="2198"/>
                </a:lnTo>
                <a:lnTo>
                  <a:pt x="359448" y="1886"/>
                </a:lnTo>
                <a:lnTo>
                  <a:pt x="349923" y="1379"/>
                </a:lnTo>
                <a:close/>
              </a:path>
              <a:path w="577215" h="36829">
                <a:moveTo>
                  <a:pt x="346019" y="1182"/>
                </a:moveTo>
                <a:lnTo>
                  <a:pt x="344857" y="1182"/>
                </a:lnTo>
                <a:lnTo>
                  <a:pt x="340482" y="5021"/>
                </a:lnTo>
                <a:lnTo>
                  <a:pt x="340738" y="5021"/>
                </a:lnTo>
                <a:lnTo>
                  <a:pt x="340689" y="5764"/>
                </a:lnTo>
                <a:lnTo>
                  <a:pt x="340573" y="7513"/>
                </a:lnTo>
                <a:lnTo>
                  <a:pt x="340467" y="9121"/>
                </a:lnTo>
                <a:lnTo>
                  <a:pt x="340341" y="11034"/>
                </a:lnTo>
                <a:lnTo>
                  <a:pt x="340285" y="11887"/>
                </a:lnTo>
                <a:lnTo>
                  <a:pt x="340160" y="13782"/>
                </a:lnTo>
                <a:lnTo>
                  <a:pt x="340105" y="14612"/>
                </a:lnTo>
                <a:lnTo>
                  <a:pt x="344193" y="19286"/>
                </a:lnTo>
                <a:lnTo>
                  <a:pt x="353930" y="19286"/>
                </a:lnTo>
                <a:lnTo>
                  <a:pt x="357924" y="15781"/>
                </a:lnTo>
                <a:lnTo>
                  <a:pt x="358037" y="14028"/>
                </a:lnTo>
                <a:lnTo>
                  <a:pt x="358129" y="12596"/>
                </a:lnTo>
                <a:lnTo>
                  <a:pt x="358230" y="11034"/>
                </a:lnTo>
                <a:lnTo>
                  <a:pt x="358354" y="9121"/>
                </a:lnTo>
                <a:lnTo>
                  <a:pt x="358458" y="7513"/>
                </a:lnTo>
                <a:lnTo>
                  <a:pt x="358559" y="5951"/>
                </a:lnTo>
                <a:lnTo>
                  <a:pt x="354837" y="1709"/>
                </a:lnTo>
                <a:lnTo>
                  <a:pt x="349923" y="1379"/>
                </a:lnTo>
                <a:lnTo>
                  <a:pt x="346019" y="1182"/>
                </a:lnTo>
                <a:close/>
              </a:path>
              <a:path w="577215" h="36829">
                <a:moveTo>
                  <a:pt x="215569" y="477"/>
                </a:moveTo>
                <a:lnTo>
                  <a:pt x="210479" y="621"/>
                </a:lnTo>
                <a:lnTo>
                  <a:pt x="210615" y="621"/>
                </a:lnTo>
                <a:lnTo>
                  <a:pt x="205737" y="838"/>
                </a:lnTo>
                <a:lnTo>
                  <a:pt x="202543" y="4300"/>
                </a:lnTo>
                <a:lnTo>
                  <a:pt x="201985" y="5021"/>
                </a:lnTo>
                <a:lnTo>
                  <a:pt x="202061" y="6953"/>
                </a:lnTo>
                <a:lnTo>
                  <a:pt x="202173" y="9812"/>
                </a:lnTo>
                <a:lnTo>
                  <a:pt x="202283" y="12596"/>
                </a:lnTo>
                <a:lnTo>
                  <a:pt x="202388" y="14612"/>
                </a:lnTo>
                <a:lnTo>
                  <a:pt x="206481" y="18435"/>
                </a:lnTo>
                <a:lnTo>
                  <a:pt x="203728" y="18435"/>
                </a:lnTo>
                <a:lnTo>
                  <a:pt x="223106" y="17877"/>
                </a:lnTo>
                <a:lnTo>
                  <a:pt x="216269" y="17877"/>
                </a:lnTo>
                <a:lnTo>
                  <a:pt x="219913" y="14028"/>
                </a:lnTo>
                <a:lnTo>
                  <a:pt x="219792" y="9812"/>
                </a:lnTo>
                <a:lnTo>
                  <a:pt x="219675" y="5764"/>
                </a:lnTo>
                <a:lnTo>
                  <a:pt x="219633" y="4300"/>
                </a:lnTo>
                <a:lnTo>
                  <a:pt x="215569" y="477"/>
                </a:lnTo>
                <a:close/>
              </a:path>
              <a:path w="577215" h="36829">
                <a:moveTo>
                  <a:pt x="227558" y="17877"/>
                </a:moveTo>
                <a:lnTo>
                  <a:pt x="223106" y="17877"/>
                </a:lnTo>
                <a:lnTo>
                  <a:pt x="203728" y="18435"/>
                </a:lnTo>
                <a:lnTo>
                  <a:pt x="200919" y="18435"/>
                </a:lnTo>
                <a:lnTo>
                  <a:pt x="227558" y="17877"/>
                </a:lnTo>
                <a:close/>
              </a:path>
              <a:path w="577215" h="36829">
                <a:moveTo>
                  <a:pt x="271508" y="0"/>
                </a:moveTo>
                <a:lnTo>
                  <a:pt x="238305" y="0"/>
                </a:lnTo>
                <a:lnTo>
                  <a:pt x="227095" y="141"/>
                </a:lnTo>
                <a:lnTo>
                  <a:pt x="215569" y="477"/>
                </a:lnTo>
                <a:lnTo>
                  <a:pt x="219633" y="4300"/>
                </a:lnTo>
                <a:lnTo>
                  <a:pt x="219675" y="5764"/>
                </a:lnTo>
                <a:lnTo>
                  <a:pt x="219792" y="9812"/>
                </a:lnTo>
                <a:lnTo>
                  <a:pt x="219913" y="14028"/>
                </a:lnTo>
                <a:lnTo>
                  <a:pt x="216269" y="17877"/>
                </a:lnTo>
                <a:lnTo>
                  <a:pt x="271845" y="17877"/>
                </a:lnTo>
                <a:lnTo>
                  <a:pt x="267724" y="13782"/>
                </a:lnTo>
                <a:lnTo>
                  <a:pt x="267652" y="3868"/>
                </a:lnTo>
                <a:lnTo>
                  <a:pt x="271508" y="0"/>
                </a:lnTo>
                <a:close/>
              </a:path>
              <a:path w="577215" h="36829">
                <a:moveTo>
                  <a:pt x="281639" y="0"/>
                </a:moveTo>
                <a:lnTo>
                  <a:pt x="271508" y="0"/>
                </a:lnTo>
                <a:lnTo>
                  <a:pt x="267652" y="3868"/>
                </a:lnTo>
                <a:lnTo>
                  <a:pt x="267724" y="13782"/>
                </a:lnTo>
                <a:lnTo>
                  <a:pt x="271845" y="17877"/>
                </a:lnTo>
                <a:lnTo>
                  <a:pt x="281330" y="17877"/>
                </a:lnTo>
                <a:lnTo>
                  <a:pt x="285412" y="13782"/>
                </a:lnTo>
                <a:lnTo>
                  <a:pt x="285483" y="3868"/>
                </a:lnTo>
                <a:lnTo>
                  <a:pt x="281639" y="0"/>
                </a:lnTo>
                <a:close/>
              </a:path>
              <a:path w="577215" h="36829">
                <a:moveTo>
                  <a:pt x="165315" y="3157"/>
                </a:moveTo>
                <a:lnTo>
                  <a:pt x="160620" y="3410"/>
                </a:lnTo>
                <a:lnTo>
                  <a:pt x="138402" y="5021"/>
                </a:lnTo>
                <a:lnTo>
                  <a:pt x="116314" y="6953"/>
                </a:lnTo>
                <a:lnTo>
                  <a:pt x="72484" y="11412"/>
                </a:lnTo>
                <a:lnTo>
                  <a:pt x="76537" y="11034"/>
                </a:lnTo>
                <a:lnTo>
                  <a:pt x="152441" y="11034"/>
                </a:lnTo>
                <a:lnTo>
                  <a:pt x="152320" y="9121"/>
                </a:lnTo>
                <a:lnTo>
                  <a:pt x="152234" y="7780"/>
                </a:lnTo>
                <a:lnTo>
                  <a:pt x="155709" y="3868"/>
                </a:lnTo>
                <a:lnTo>
                  <a:pt x="166109" y="3868"/>
                </a:lnTo>
                <a:lnTo>
                  <a:pt x="165315" y="3157"/>
                </a:lnTo>
                <a:close/>
              </a:path>
              <a:path w="577215" h="36829">
                <a:moveTo>
                  <a:pt x="205737" y="838"/>
                </a:moveTo>
                <a:lnTo>
                  <a:pt x="198086" y="1182"/>
                </a:lnTo>
                <a:lnTo>
                  <a:pt x="169280" y="2844"/>
                </a:lnTo>
                <a:lnTo>
                  <a:pt x="169480" y="2844"/>
                </a:lnTo>
                <a:lnTo>
                  <a:pt x="160604" y="3410"/>
                </a:lnTo>
                <a:lnTo>
                  <a:pt x="165315" y="3157"/>
                </a:lnTo>
                <a:lnTo>
                  <a:pt x="203597" y="3157"/>
                </a:lnTo>
                <a:lnTo>
                  <a:pt x="205737" y="838"/>
                </a:lnTo>
                <a:close/>
              </a:path>
              <a:path w="577215" h="36829">
                <a:moveTo>
                  <a:pt x="346867" y="1182"/>
                </a:moveTo>
                <a:lnTo>
                  <a:pt x="346019" y="1182"/>
                </a:lnTo>
                <a:lnTo>
                  <a:pt x="349923" y="1379"/>
                </a:lnTo>
                <a:lnTo>
                  <a:pt x="346867" y="1182"/>
                </a:lnTo>
                <a:close/>
              </a:path>
              <a:path w="577215" h="36829">
                <a:moveTo>
                  <a:pt x="210615" y="621"/>
                </a:moveTo>
                <a:lnTo>
                  <a:pt x="204973" y="838"/>
                </a:lnTo>
                <a:lnTo>
                  <a:pt x="205737" y="838"/>
                </a:lnTo>
                <a:lnTo>
                  <a:pt x="210615" y="6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7740" y="647687"/>
            <a:ext cx="558007" cy="32981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5755723" y="1176289"/>
            <a:ext cx="2286000" cy="838835"/>
            <a:chOff x="5755723" y="1176289"/>
            <a:chExt cx="2286000" cy="838835"/>
          </a:xfrm>
        </p:grpSpPr>
        <p:sp>
          <p:nvSpPr>
            <p:cNvPr id="13" name="object 13" descr=""/>
            <p:cNvSpPr/>
            <p:nvPr/>
          </p:nvSpPr>
          <p:spPr>
            <a:xfrm>
              <a:off x="5755723" y="2007816"/>
              <a:ext cx="1088390" cy="0"/>
            </a:xfrm>
            <a:custGeom>
              <a:avLst/>
              <a:gdLst/>
              <a:ahLst/>
              <a:cxnLst/>
              <a:rect l="l" t="t" r="r" b="b"/>
              <a:pathLst>
                <a:path w="1088390" h="0">
                  <a:moveTo>
                    <a:pt x="0" y="0"/>
                  </a:moveTo>
                  <a:lnTo>
                    <a:pt x="1088129" y="0"/>
                  </a:lnTo>
                </a:path>
              </a:pathLst>
            </a:custGeom>
            <a:ln w="14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6039" y="1203858"/>
              <a:ext cx="628827" cy="234086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70025" y="1176289"/>
              <a:ext cx="571195" cy="287639"/>
            </a:xfrm>
            <a:prstGeom prst="rect">
              <a:avLst/>
            </a:prstGeom>
          </p:spPr>
        </p:pic>
      </p:grpSp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13634" y="5471731"/>
            <a:ext cx="334913" cy="254981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61389" y="5460517"/>
            <a:ext cx="3907845" cy="6672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43483" y="990600"/>
            <a:ext cx="8227059" cy="1163955"/>
            <a:chOff x="443483" y="990600"/>
            <a:chExt cx="8227059" cy="1163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6913" y="1848459"/>
              <a:ext cx="381127" cy="30598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5630" y="1801113"/>
              <a:ext cx="1288389" cy="32136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25537" y="1790357"/>
              <a:ext cx="2837633" cy="31968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130988" y="2022246"/>
              <a:ext cx="13335" cy="35560"/>
            </a:xfrm>
            <a:custGeom>
              <a:avLst/>
              <a:gdLst/>
              <a:ahLst/>
              <a:cxnLst/>
              <a:rect l="l" t="t" r="r" b="b"/>
              <a:pathLst>
                <a:path w="13335" h="35560">
                  <a:moveTo>
                    <a:pt x="4876" y="0"/>
                  </a:moveTo>
                  <a:lnTo>
                    <a:pt x="1435" y="800"/>
                  </a:lnTo>
                  <a:lnTo>
                    <a:pt x="317" y="2184"/>
                  </a:lnTo>
                  <a:lnTo>
                    <a:pt x="215" y="12115"/>
                  </a:lnTo>
                  <a:lnTo>
                    <a:pt x="126" y="20421"/>
                  </a:lnTo>
                  <a:lnTo>
                    <a:pt x="0" y="32308"/>
                  </a:lnTo>
                  <a:lnTo>
                    <a:pt x="2932" y="35305"/>
                  </a:lnTo>
                  <a:lnTo>
                    <a:pt x="9994" y="35305"/>
                  </a:lnTo>
                  <a:lnTo>
                    <a:pt x="12915" y="32448"/>
                  </a:lnTo>
                  <a:lnTo>
                    <a:pt x="12788" y="27355"/>
                  </a:lnTo>
                  <a:lnTo>
                    <a:pt x="6743" y="1168"/>
                  </a:lnTo>
                  <a:lnTo>
                    <a:pt x="48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2418" y="1762455"/>
              <a:ext cx="2421483" cy="322173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8745855" y="6427787"/>
            <a:ext cx="12318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ahoma"/>
                <a:cs typeface="Tahoma"/>
              </a:rPr>
              <a:t>3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91463" y="271439"/>
            <a:ext cx="2907030" cy="49149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300">
                <a:latin typeface="Times New Roman"/>
                <a:cs typeface="Times New Roman"/>
              </a:rPr>
              <a:t>“</a:t>
            </a:r>
            <a:r>
              <a:rPr dirty="0" sz="1300">
                <a:latin typeface="Microsoft JhengHei UI"/>
                <a:cs typeface="Microsoft JhengHei UI"/>
              </a:rPr>
              <a:t>学习</a:t>
            </a:r>
            <a:r>
              <a:rPr dirty="0" sz="1300">
                <a:latin typeface="Times New Roman"/>
                <a:cs typeface="Times New Roman"/>
              </a:rPr>
              <a:t>”</a:t>
            </a:r>
            <a:r>
              <a:rPr dirty="0" sz="1300">
                <a:latin typeface="Microsoft JhengHei UI"/>
                <a:cs typeface="Microsoft JhengHei UI"/>
              </a:rPr>
              <a:t>等同于在空间中找到⼀个</a:t>
            </a:r>
            <a:r>
              <a:rPr dirty="0" sz="1300">
                <a:latin typeface="Times New Roman"/>
                <a:cs typeface="Times New Roman"/>
              </a:rPr>
              <a:t>“</a:t>
            </a:r>
            <a:r>
              <a:rPr dirty="0" sz="1300" spc="-20">
                <a:latin typeface="Microsoft JhengHei UI"/>
                <a:cs typeface="Microsoft JhengHei UI"/>
              </a:rPr>
              <a:t>插值表</a:t>
            </a:r>
            <a:endParaRPr sz="13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300">
                <a:latin typeface="Microsoft JhengHei UI"/>
                <a:cs typeface="Microsoft JhengHei UI"/>
              </a:rPr>
              <a:t>⾯</a:t>
            </a:r>
            <a:r>
              <a:rPr dirty="0" sz="1300">
                <a:latin typeface="Times New Roman"/>
                <a:cs typeface="Times New Roman"/>
              </a:rPr>
              <a:t>”</a:t>
            </a:r>
            <a:r>
              <a:rPr dirty="0" sz="1300">
                <a:latin typeface="Microsoft JhengHei UI"/>
                <a:cs typeface="Microsoft JhengHei UI"/>
              </a:rPr>
              <a:t>这个表⾯能</a:t>
            </a:r>
            <a:r>
              <a:rPr dirty="0" sz="1300">
                <a:latin typeface="Times New Roman"/>
                <a:cs typeface="Times New Roman"/>
              </a:rPr>
              <a:t>“</a:t>
            </a:r>
            <a:r>
              <a:rPr dirty="0" sz="1300">
                <a:latin typeface="Microsoft JhengHei UI"/>
                <a:cs typeface="Microsoft JhengHei UI"/>
              </a:rPr>
              <a:t>最佳拟合</a:t>
            </a:r>
            <a:r>
              <a:rPr dirty="0" sz="1300">
                <a:latin typeface="Times New Roman"/>
                <a:cs typeface="Times New Roman"/>
              </a:rPr>
              <a:t>”</a:t>
            </a:r>
            <a:r>
              <a:rPr dirty="0" sz="1300" spc="-15">
                <a:latin typeface="Microsoft JhengHei UI"/>
                <a:cs typeface="Microsoft JhengHei UI"/>
              </a:rPr>
              <a:t>训练数据</a:t>
            </a:r>
            <a:endParaRPr sz="1300">
              <a:latin typeface="Microsoft JhengHei UI"/>
              <a:cs typeface="Microsoft JhengHei U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706826" y="8419"/>
            <a:ext cx="1282700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>
                <a:latin typeface="Times New Roman"/>
                <a:cs typeface="Times New Roman"/>
              </a:rPr>
              <a:t>1.</a:t>
            </a:r>
            <a:r>
              <a:rPr dirty="0" sz="950" spc="40">
                <a:latin typeface="Times New Roman"/>
                <a:cs typeface="Times New Roman"/>
              </a:rPr>
              <a:t> </a:t>
            </a:r>
            <a:r>
              <a:rPr dirty="0" sz="950" spc="15">
                <a:latin typeface="Microsoft JhengHei UI"/>
                <a:cs typeface="Microsoft JhengHei UI"/>
              </a:rPr>
              <a:t>插值 </a:t>
            </a:r>
            <a:r>
              <a:rPr dirty="0" sz="950" spc="-10">
                <a:latin typeface="Times New Roman"/>
                <a:cs typeface="Times New Roman"/>
              </a:rPr>
              <a:t>(Interpolating)</a:t>
            </a:r>
            <a:r>
              <a:rPr dirty="0" sz="950" spc="-10">
                <a:latin typeface="Microsoft JhengHei UI"/>
                <a:cs typeface="Microsoft JhengHei UI"/>
              </a:rPr>
              <a:t>：</a:t>
            </a:r>
            <a:endParaRPr sz="950">
              <a:latin typeface="Microsoft JhengHei UI"/>
              <a:cs typeface="Microsoft JhengHei U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706826" y="266113"/>
            <a:ext cx="4888865" cy="690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>
                <a:latin typeface="Microsoft JhengHei UI"/>
                <a:cs typeface="Microsoft JhengHei UI"/>
              </a:rPr>
              <a:t>在严格的数学定义⾥，</a:t>
            </a:r>
            <a:r>
              <a:rPr dirty="0" sz="950">
                <a:latin typeface="Times New Roman"/>
                <a:cs typeface="Times New Roman"/>
              </a:rPr>
              <a:t>“</a:t>
            </a:r>
            <a:r>
              <a:rPr dirty="0" sz="950">
                <a:latin typeface="Microsoft JhengHei UI"/>
                <a:cs typeface="Microsoft JhengHei UI"/>
              </a:rPr>
              <a:t>插值</a:t>
            </a:r>
            <a:r>
              <a:rPr dirty="0" sz="950">
                <a:latin typeface="Times New Roman"/>
                <a:cs typeface="Times New Roman"/>
              </a:rPr>
              <a:t>”</a:t>
            </a:r>
            <a:r>
              <a:rPr dirty="0" sz="950" spc="-5">
                <a:latin typeface="Microsoft JhengHei UI"/>
                <a:cs typeface="Microsoft JhengHei UI"/>
              </a:rPr>
              <a:t>意味着这个表⾯必须精确地穿过每⼀个训练数据点。</a:t>
            </a:r>
            <a:endParaRPr sz="9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950">
                <a:latin typeface="Times New Roman"/>
                <a:cs typeface="Times New Roman"/>
              </a:rPr>
              <a:t>2.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 spc="10">
                <a:latin typeface="Microsoft JhengHei UI"/>
                <a:cs typeface="Microsoft JhengHei UI"/>
              </a:rPr>
              <a:t>最佳拟合 </a:t>
            </a:r>
            <a:r>
              <a:rPr dirty="0" sz="950">
                <a:latin typeface="Times New Roman"/>
                <a:cs typeface="Times New Roman"/>
              </a:rPr>
              <a:t>(Best</a:t>
            </a:r>
            <a:r>
              <a:rPr dirty="0" sz="950" spc="65">
                <a:latin typeface="Times New Roman"/>
                <a:cs typeface="Times New Roman"/>
              </a:rPr>
              <a:t> </a:t>
            </a:r>
            <a:r>
              <a:rPr dirty="0" sz="950" spc="-20">
                <a:latin typeface="Times New Roman"/>
                <a:cs typeface="Times New Roman"/>
              </a:rPr>
              <a:t>Fit)</a:t>
            </a:r>
            <a:r>
              <a:rPr dirty="0" sz="950" spc="-20">
                <a:latin typeface="Microsoft JhengHei UI"/>
                <a:cs typeface="Microsoft JhengHei UI"/>
              </a:rPr>
              <a:t>：</a:t>
            </a:r>
            <a:endParaRPr sz="9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950">
                <a:latin typeface="Microsoft JhengHei UI"/>
                <a:cs typeface="Microsoft JhengHei UI"/>
              </a:rPr>
              <a:t>这通常是⼀个更宽松、更实⽤的⽬标。它不要求表⾯穿过每⼀个点（</a:t>
            </a:r>
            <a:r>
              <a:rPr dirty="0" sz="950" spc="-10">
                <a:latin typeface="Microsoft JhengHei UI"/>
                <a:cs typeface="Microsoft JhengHei UI"/>
              </a:rPr>
              <a:t>因为数据点可能有噪</a:t>
            </a:r>
            <a:endParaRPr sz="950">
              <a:latin typeface="Microsoft JhengHei UI"/>
              <a:cs typeface="Microsoft JhengHei U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935426" y="956072"/>
            <a:ext cx="4140200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>
                <a:latin typeface="Microsoft JhengHei UI"/>
                <a:cs typeface="Microsoft JhengHei UI"/>
              </a:rPr>
              <a:t>声），</a:t>
            </a:r>
            <a:r>
              <a:rPr dirty="0" sz="950" spc="-5">
                <a:latin typeface="Microsoft JhengHei UI"/>
                <a:cs typeface="Microsoft JhengHei UI"/>
              </a:rPr>
              <a:t>⽽是要求这个表⾯尽可能地靠近所有点，以捕捉到数据的总体趋势。</a:t>
            </a:r>
            <a:endParaRPr sz="950">
              <a:latin typeface="Microsoft JhengHei UI"/>
              <a:cs typeface="Microsoft JhengHei U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127" y="969683"/>
            <a:ext cx="8289290" cy="4137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73760">
              <a:lnSpc>
                <a:spcPct val="100000"/>
              </a:lnSpc>
              <a:spcBef>
                <a:spcPts val="95"/>
              </a:spcBef>
            </a:pPr>
            <a:r>
              <a:rPr dirty="0" sz="4000" spc="75" b="1">
                <a:solidFill>
                  <a:srgbClr val="800000"/>
                </a:solidFill>
                <a:latin typeface="Arial"/>
                <a:cs typeface="Arial"/>
              </a:rPr>
              <a:t>The</a:t>
            </a:r>
            <a:r>
              <a:rPr dirty="0" sz="4000" spc="85" b="1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dirty="0" sz="4000" spc="180" b="1">
                <a:solidFill>
                  <a:srgbClr val="800000"/>
                </a:solidFill>
                <a:latin typeface="Arial"/>
                <a:cs typeface="Arial"/>
              </a:rPr>
              <a:t>Interpolation</a:t>
            </a:r>
            <a:r>
              <a:rPr dirty="0" sz="4000" spc="90" b="1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dirty="0" sz="4000" spc="80" b="1">
                <a:solidFill>
                  <a:srgbClr val="800000"/>
                </a:solidFill>
                <a:latin typeface="Arial"/>
                <a:cs typeface="Arial"/>
              </a:rPr>
              <a:t>Problem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4000">
              <a:latin typeface="Arial"/>
              <a:cs typeface="Arial"/>
            </a:endParaRPr>
          </a:p>
          <a:p>
            <a:pPr marL="1117600">
              <a:lnSpc>
                <a:spcPct val="100000"/>
              </a:lnSpc>
            </a:pPr>
            <a:r>
              <a:rPr dirty="0" sz="1100" spc="-10">
                <a:latin typeface="Times New Roman"/>
                <a:cs typeface="Times New Roman"/>
              </a:rPr>
              <a:t>“</a:t>
            </a:r>
            <a:r>
              <a:rPr dirty="0" sz="1100" spc="-20">
                <a:latin typeface="Microsoft JhengHei UI"/>
                <a:cs typeface="Microsoft JhengHei UI"/>
              </a:rPr>
              <a:t>最佳拟合</a:t>
            </a:r>
            <a:r>
              <a:rPr dirty="0" sz="1100" spc="-10">
                <a:latin typeface="Times New Roman"/>
                <a:cs typeface="Times New Roman"/>
              </a:rPr>
              <a:t>”</a:t>
            </a:r>
            <a:r>
              <a:rPr dirty="0" sz="1100" spc="-20">
                <a:latin typeface="Microsoft JhengHei UI"/>
                <a:cs typeface="Microsoft JhengHei UI"/>
              </a:rPr>
              <a:t>的曲⾯，就是那个能让这个</a:t>
            </a:r>
            <a:r>
              <a:rPr dirty="0" sz="1100" spc="-10">
                <a:latin typeface="Times New Roman"/>
                <a:cs typeface="Times New Roman"/>
              </a:rPr>
              <a:t>“</a:t>
            </a:r>
            <a:r>
              <a:rPr dirty="0" sz="1100" spc="-20">
                <a:latin typeface="Microsoft JhengHei UI"/>
                <a:cs typeface="Microsoft JhengHei UI"/>
              </a:rPr>
              <a:t>平均误差</a:t>
            </a:r>
            <a:r>
              <a:rPr dirty="0" sz="1100" spc="-10">
                <a:latin typeface="Times New Roman"/>
                <a:cs typeface="Times New Roman"/>
              </a:rPr>
              <a:t>”</a:t>
            </a:r>
            <a:r>
              <a:rPr dirty="0" sz="1100" spc="-10">
                <a:latin typeface="Microsoft JhengHei UI"/>
                <a:cs typeface="Microsoft JhengHei UI"/>
              </a:rPr>
              <a:t>（</a:t>
            </a:r>
            <a:r>
              <a:rPr dirty="0" sz="1100" spc="-20">
                <a:latin typeface="Microsoft JhengHei UI"/>
                <a:cs typeface="Microsoft JhengHei UI"/>
              </a:rPr>
              <a:t>即损失函数）</a:t>
            </a:r>
            <a:r>
              <a:rPr dirty="0" sz="1100" spc="-25">
                <a:latin typeface="Microsoft JhengHei UI"/>
                <a:cs typeface="Microsoft JhengHei UI"/>
              </a:rPr>
              <a:t>最⼩的曲⾯。</a:t>
            </a:r>
            <a:endParaRPr sz="1100">
              <a:latin typeface="Microsoft JhengHei UI"/>
              <a:cs typeface="Microsoft JhengHei UI"/>
            </a:endParaRPr>
          </a:p>
          <a:p>
            <a:pPr marL="355600" marR="5080" indent="-342900">
              <a:lnSpc>
                <a:spcPct val="100000"/>
              </a:lnSpc>
              <a:spcBef>
                <a:spcPts val="90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5600" algn="l"/>
              </a:tabLst>
            </a:pP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problem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i="1">
                <a:latin typeface="Arial"/>
                <a:cs typeface="Arial"/>
              </a:rPr>
              <a:t>of</a:t>
            </a:r>
            <a:r>
              <a:rPr dirty="0" sz="2800" spc="-40" i="1">
                <a:latin typeface="Arial"/>
                <a:cs typeface="Arial"/>
              </a:rPr>
              <a:t> </a:t>
            </a:r>
            <a:r>
              <a:rPr dirty="0" sz="2800" spc="-20" b="1" i="1">
                <a:solidFill>
                  <a:srgbClr val="3333CC"/>
                </a:solidFill>
                <a:latin typeface="Arial"/>
                <a:cs typeface="Arial"/>
              </a:rPr>
              <a:t>curve-</a:t>
            </a:r>
            <a:r>
              <a:rPr dirty="0" sz="2800" b="1" i="1">
                <a:solidFill>
                  <a:srgbClr val="3333CC"/>
                </a:solidFill>
                <a:latin typeface="Arial"/>
                <a:cs typeface="Arial"/>
              </a:rPr>
              <a:t>fitting</a:t>
            </a:r>
            <a:r>
              <a:rPr dirty="0" sz="2800" spc="-50" b="1" i="1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dirty="0" sz="2800" spc="-10" b="1" i="1">
                <a:solidFill>
                  <a:srgbClr val="3333CC"/>
                </a:solidFill>
                <a:latin typeface="Arial"/>
                <a:cs typeface="Arial"/>
              </a:rPr>
              <a:t>approximation </a:t>
            </a:r>
            <a:r>
              <a:rPr dirty="0" sz="2800" b="1" i="1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dirty="0" sz="2800" spc="-90" b="1" i="1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dirty="0" sz="2800" spc="-20" b="1" i="1">
                <a:solidFill>
                  <a:srgbClr val="3333CC"/>
                </a:solidFill>
                <a:latin typeface="Arial"/>
                <a:cs typeface="Arial"/>
              </a:rPr>
              <a:t>high-</a:t>
            </a:r>
            <a:r>
              <a:rPr dirty="0" sz="2800" b="1" i="1">
                <a:solidFill>
                  <a:srgbClr val="3333CC"/>
                </a:solidFill>
                <a:latin typeface="Arial"/>
                <a:cs typeface="Arial"/>
              </a:rPr>
              <a:t>dimensional</a:t>
            </a:r>
            <a:r>
              <a:rPr dirty="0" sz="2800" spc="-80" b="1" i="1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dirty="0" sz="2800" b="1" i="1">
                <a:solidFill>
                  <a:srgbClr val="3333CC"/>
                </a:solidFill>
                <a:latin typeface="Arial"/>
                <a:cs typeface="Arial"/>
              </a:rPr>
              <a:t>spaces)</a:t>
            </a:r>
            <a:r>
              <a:rPr dirty="0" sz="2800" i="1">
                <a:latin typeface="Arial"/>
                <a:cs typeface="Arial"/>
              </a:rPr>
              <a:t>,</a:t>
            </a:r>
            <a:r>
              <a:rPr dirty="0" sz="2800" spc="-85" i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learning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is </a:t>
            </a:r>
            <a:r>
              <a:rPr dirty="0" sz="2800">
                <a:latin typeface="Arial MT"/>
                <a:cs typeface="Arial MT"/>
              </a:rPr>
              <a:t>equivalent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finding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0000"/>
                </a:solidFill>
                <a:latin typeface="Arial MT"/>
                <a:cs typeface="Arial MT"/>
              </a:rPr>
              <a:t>interpolating</a:t>
            </a:r>
            <a:r>
              <a:rPr dirty="0" sz="2800" spc="-7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0000"/>
                </a:solidFill>
                <a:latin typeface="Arial MT"/>
                <a:cs typeface="Arial MT"/>
              </a:rPr>
              <a:t>surface</a:t>
            </a:r>
            <a:r>
              <a:rPr dirty="0" sz="2800" spc="-7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dirty="0" sz="2800" spc="-8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0000"/>
                </a:solidFill>
                <a:latin typeface="Arial MT"/>
                <a:cs typeface="Arial MT"/>
              </a:rPr>
              <a:t>the </a:t>
            </a:r>
            <a:r>
              <a:rPr dirty="0" sz="2800">
                <a:solidFill>
                  <a:srgbClr val="FF0000"/>
                </a:solidFill>
                <a:latin typeface="Arial MT"/>
                <a:cs typeface="Arial MT"/>
              </a:rPr>
              <a:t>space</a:t>
            </a:r>
            <a:r>
              <a:rPr dirty="0" sz="2800" spc="-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that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provides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best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fit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training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data, </a:t>
            </a:r>
            <a:r>
              <a:rPr dirty="0" sz="2800">
                <a:latin typeface="Arial MT"/>
                <a:cs typeface="Arial MT"/>
              </a:rPr>
              <a:t>measured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by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preselected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statistical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criteria.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4965" algn="l"/>
              </a:tabLst>
            </a:pPr>
            <a:r>
              <a:rPr dirty="0" sz="2800" spc="-20" b="1">
                <a:latin typeface="Arial"/>
                <a:cs typeface="Arial"/>
              </a:rPr>
              <a:t>Curve-</a:t>
            </a:r>
            <a:r>
              <a:rPr dirty="0" sz="2800" b="1">
                <a:latin typeface="Arial"/>
                <a:cs typeface="Arial"/>
              </a:rPr>
              <a:t>fitting</a:t>
            </a:r>
            <a:r>
              <a:rPr dirty="0" sz="2800" spc="-75" b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or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b="1">
                <a:latin typeface="Arial"/>
                <a:cs typeface="Arial"/>
              </a:rPr>
              <a:t>interpolation</a:t>
            </a:r>
            <a:r>
              <a:rPr dirty="0" sz="2800" spc="-70" b="1">
                <a:latin typeface="Arial"/>
                <a:cs typeface="Arial"/>
              </a:rPr>
              <a:t> </a:t>
            </a:r>
            <a:r>
              <a:rPr dirty="0" sz="2800" spc="-10">
                <a:latin typeface="Arial MT"/>
                <a:cs typeface="Arial MT"/>
              </a:rPr>
              <a:t>problem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6562" y="271957"/>
            <a:ext cx="580326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30">
                <a:latin typeface="Arial"/>
                <a:cs typeface="Arial"/>
              </a:rPr>
              <a:t>Radial-</a:t>
            </a:r>
            <a:r>
              <a:rPr dirty="0">
                <a:latin typeface="Arial"/>
                <a:cs typeface="Arial"/>
              </a:rPr>
              <a:t>Basis</a:t>
            </a:r>
            <a:r>
              <a:rPr dirty="0" spc="-210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Functions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36512" y="1124750"/>
            <a:ext cx="8571230" cy="5084445"/>
          </a:xfrm>
          <a:custGeom>
            <a:avLst/>
            <a:gdLst/>
            <a:ahLst/>
            <a:cxnLst/>
            <a:rect l="l" t="t" r="r" b="b"/>
            <a:pathLst>
              <a:path w="8571230" h="5084445">
                <a:moveTo>
                  <a:pt x="8570912" y="0"/>
                </a:moveTo>
                <a:lnTo>
                  <a:pt x="0" y="0"/>
                </a:lnTo>
                <a:lnTo>
                  <a:pt x="0" y="5084038"/>
                </a:lnTo>
                <a:lnTo>
                  <a:pt x="8570912" y="5084038"/>
                </a:lnTo>
                <a:lnTo>
                  <a:pt x="85709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15252" y="1142530"/>
            <a:ext cx="778827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Lucida Sans Unicode"/>
              <a:buChar char="■"/>
              <a:tabLst>
                <a:tab pos="355600" algn="l"/>
              </a:tabLst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 b="1" i="1">
                <a:solidFill>
                  <a:srgbClr val="0000FF"/>
                </a:solidFill>
                <a:latin typeface="Arial"/>
                <a:cs typeface="Arial"/>
              </a:rPr>
              <a:t>radial-</a:t>
            </a:r>
            <a:r>
              <a:rPr dirty="0" sz="2400" b="1" i="1">
                <a:solidFill>
                  <a:srgbClr val="0000FF"/>
                </a:solidFill>
                <a:latin typeface="Arial"/>
                <a:cs typeface="Arial"/>
              </a:rPr>
              <a:t>basis</a:t>
            </a:r>
            <a:r>
              <a:rPr dirty="0" sz="2400" spc="-6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b="1" i="1">
                <a:solidFill>
                  <a:srgbClr val="0000FF"/>
                </a:solidFill>
                <a:latin typeface="Arial"/>
                <a:cs typeface="Arial"/>
              </a:rPr>
              <a:t>functions</a:t>
            </a:r>
            <a:r>
              <a:rPr dirty="0" sz="2400" spc="-6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technique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suggests </a:t>
            </a:r>
            <a:r>
              <a:rPr dirty="0" sz="2400">
                <a:latin typeface="Arial MT"/>
                <a:cs typeface="Arial MT"/>
              </a:rPr>
              <a:t>constructing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interpolation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functions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F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following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58152" y="1874049"/>
            <a:ext cx="720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Arial MT"/>
                <a:cs typeface="Arial MT"/>
              </a:rPr>
              <a:t>form: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8152" y="2757970"/>
            <a:ext cx="94106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Arial MT"/>
                <a:cs typeface="Arial MT"/>
              </a:rPr>
              <a:t>where: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32752" y="3137687"/>
            <a:ext cx="77927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functions,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b="1">
                <a:latin typeface="Arial"/>
                <a:cs typeface="Arial"/>
              </a:rPr>
              <a:t>x</a:t>
            </a:r>
            <a:r>
              <a:rPr dirty="0" baseline="-17921" sz="2325" i="1">
                <a:latin typeface="Arial"/>
                <a:cs typeface="Arial"/>
              </a:rPr>
              <a:t>i</a:t>
            </a:r>
            <a:r>
              <a:rPr dirty="0" baseline="-17921" sz="2325" spc="277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centers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these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functions,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70">
                <a:latin typeface="Arial MT"/>
                <a:cs typeface="Arial MT"/>
              </a:rPr>
              <a:t>||</a:t>
            </a:r>
            <a:r>
              <a:rPr dirty="0" sz="2400" spc="-270">
                <a:latin typeface="Times New Roman"/>
                <a:cs typeface="Times New Roman"/>
              </a:rPr>
              <a:t></a:t>
            </a:r>
            <a:r>
              <a:rPr dirty="0" sz="2400" spc="-270">
                <a:latin typeface="Arial MT"/>
                <a:cs typeface="Arial MT"/>
              </a:rPr>
              <a:t>||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58152" y="3489477"/>
            <a:ext cx="27368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Euclidean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norm.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5252" y="3931437"/>
            <a:ext cx="814514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Lucida Sans Unicode"/>
              <a:buChar char="■"/>
              <a:tabLst>
                <a:tab pos="355600" algn="l"/>
              </a:tabLst>
            </a:pP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radial</a:t>
            </a:r>
            <a:r>
              <a:rPr dirty="0" sz="2400" spc="-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basis</a:t>
            </a:r>
            <a:r>
              <a:rPr dirty="0" sz="2400" spc="-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function</a:t>
            </a:r>
            <a:r>
              <a:rPr dirty="0" sz="2400" spc="-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(RBF)</a:t>
            </a:r>
            <a:r>
              <a:rPr dirty="0" sz="2400" spc="-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real-</a:t>
            </a:r>
            <a:r>
              <a:rPr dirty="0" sz="2400">
                <a:latin typeface="Arial MT"/>
                <a:cs typeface="Arial MT"/>
              </a:rPr>
              <a:t>valued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function </a:t>
            </a:r>
            <a:r>
              <a:rPr dirty="0" sz="2400">
                <a:latin typeface="Arial MT"/>
                <a:cs typeface="Arial MT"/>
              </a:rPr>
              <a:t>whose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value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depends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only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distance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origin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5252" y="4861077"/>
            <a:ext cx="16256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0">
                <a:solidFill>
                  <a:srgbClr val="3333CC"/>
                </a:solidFill>
                <a:latin typeface="Lucida Sans Unicode"/>
                <a:cs typeface="Lucida Sans Unicode"/>
              </a:rPr>
              <a:t>■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5252" y="6065037"/>
            <a:ext cx="77196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Lucida Sans Unicode"/>
              <a:buChar char="■"/>
              <a:tabLst>
                <a:tab pos="354965" algn="l"/>
              </a:tabLst>
            </a:pPr>
            <a:r>
              <a:rPr dirty="0" sz="2400">
                <a:latin typeface="Arial MT"/>
                <a:cs typeface="Arial MT"/>
              </a:rPr>
              <a:t>Any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function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satisfies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property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radial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basis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58152" y="6430797"/>
            <a:ext cx="10928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Arial MT"/>
                <a:cs typeface="Arial MT"/>
              </a:rPr>
              <a:t>function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223475" y="1923706"/>
            <a:ext cx="137795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 i="1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247099" y="1901231"/>
            <a:ext cx="2971800" cy="81661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05"/>
              </a:spcBef>
            </a:pPr>
            <a:r>
              <a:rPr dirty="0" sz="2250" i="1">
                <a:latin typeface="Times New Roman"/>
                <a:cs typeface="Times New Roman"/>
              </a:rPr>
              <a:t>F</a:t>
            </a:r>
            <a:r>
              <a:rPr dirty="0" sz="2250" spc="-320" i="1">
                <a:latin typeface="Times New Roman"/>
                <a:cs typeface="Times New Roman"/>
              </a:rPr>
              <a:t> </a:t>
            </a:r>
            <a:r>
              <a:rPr dirty="0" sz="2250" spc="65">
                <a:latin typeface="Times New Roman"/>
                <a:cs typeface="Times New Roman"/>
              </a:rPr>
              <a:t>(x)</a:t>
            </a:r>
            <a:r>
              <a:rPr dirty="0" sz="2250" spc="-3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=</a:t>
            </a:r>
            <a:r>
              <a:rPr dirty="0" sz="2250" spc="-50">
                <a:latin typeface="Times New Roman"/>
                <a:cs typeface="Times New Roman"/>
              </a:rPr>
              <a:t> </a:t>
            </a:r>
            <a:r>
              <a:rPr dirty="0" baseline="-8169" sz="5100" spc="644">
                <a:latin typeface="Times New Roman"/>
                <a:cs typeface="Times New Roman"/>
              </a:rPr>
              <a:t>Σ</a:t>
            </a:r>
            <a:r>
              <a:rPr dirty="0" baseline="-8169" sz="5100" spc="525">
                <a:latin typeface="Times New Roman"/>
                <a:cs typeface="Times New Roman"/>
              </a:rPr>
              <a:t> </a:t>
            </a:r>
            <a:r>
              <a:rPr dirty="0" sz="2250" spc="-85" i="1">
                <a:latin typeface="Times New Roman"/>
                <a:cs typeface="Times New Roman"/>
              </a:rPr>
              <a:t>w</a:t>
            </a:r>
            <a:r>
              <a:rPr dirty="0" baseline="-25641" sz="1950" spc="-127" i="1">
                <a:latin typeface="Times New Roman"/>
                <a:cs typeface="Times New Roman"/>
              </a:rPr>
              <a:t>i</a:t>
            </a:r>
            <a:r>
              <a:rPr dirty="0" sz="2350" spc="-85" i="1">
                <a:latin typeface="Times New Roman"/>
                <a:cs typeface="Times New Roman"/>
              </a:rPr>
              <a:t>ф</a:t>
            </a:r>
            <a:r>
              <a:rPr dirty="0" sz="2250" spc="-85">
                <a:latin typeface="Times New Roman"/>
                <a:cs typeface="Times New Roman"/>
              </a:rPr>
              <a:t>(||</a:t>
            </a:r>
            <a:r>
              <a:rPr dirty="0" sz="2250" spc="-9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x</a:t>
            </a:r>
            <a:r>
              <a:rPr dirty="0" sz="2250" spc="-100">
                <a:latin typeface="Times New Roman"/>
                <a:cs typeface="Times New Roman"/>
              </a:rPr>
              <a:t> </a:t>
            </a:r>
            <a:r>
              <a:rPr dirty="0" sz="2250" spc="110">
                <a:latin typeface="Times New Roman"/>
                <a:cs typeface="Times New Roman"/>
              </a:rPr>
              <a:t>–</a:t>
            </a:r>
            <a:r>
              <a:rPr dirty="0" sz="2250" spc="-145">
                <a:latin typeface="Times New Roman"/>
                <a:cs typeface="Times New Roman"/>
              </a:rPr>
              <a:t> </a:t>
            </a:r>
            <a:r>
              <a:rPr dirty="0" sz="2250" spc="65">
                <a:latin typeface="Times New Roman"/>
                <a:cs typeface="Times New Roman"/>
              </a:rPr>
              <a:t>x</a:t>
            </a:r>
            <a:r>
              <a:rPr dirty="0" baseline="-25641" sz="1950" spc="97" i="1">
                <a:latin typeface="Times New Roman"/>
                <a:cs typeface="Times New Roman"/>
              </a:rPr>
              <a:t>i</a:t>
            </a:r>
            <a:r>
              <a:rPr dirty="0" baseline="-25641" sz="1950" spc="472" i="1">
                <a:latin typeface="Times New Roman"/>
                <a:cs typeface="Times New Roman"/>
              </a:rPr>
              <a:t> </a:t>
            </a:r>
            <a:r>
              <a:rPr dirty="0" sz="2250" spc="-25">
                <a:latin typeface="Times New Roman"/>
                <a:cs typeface="Times New Roman"/>
              </a:rPr>
              <a:t>||)</a:t>
            </a:r>
            <a:endParaRPr sz="2250">
              <a:latin typeface="Times New Roman"/>
              <a:cs typeface="Times New Roman"/>
            </a:endParaRPr>
          </a:p>
          <a:p>
            <a:pPr marL="940435">
              <a:lnSpc>
                <a:spcPct val="100000"/>
              </a:lnSpc>
              <a:spcBef>
                <a:spcPts val="180"/>
              </a:spcBef>
            </a:pPr>
            <a:r>
              <a:rPr dirty="0" sz="1300" spc="-25" i="1">
                <a:latin typeface="Times New Roman"/>
                <a:cs typeface="Times New Roman"/>
              </a:rPr>
              <a:t>i</a:t>
            </a:r>
            <a:r>
              <a:rPr dirty="0" sz="1300" spc="-25">
                <a:latin typeface="Times New Roman"/>
                <a:cs typeface="Times New Roman"/>
              </a:rPr>
              <a:t>=1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2223135" y="1907667"/>
            <a:ext cx="3021330" cy="834390"/>
          </a:xfrm>
          <a:custGeom>
            <a:avLst/>
            <a:gdLst/>
            <a:ahLst/>
            <a:cxnLst/>
            <a:rect l="l" t="t" r="r" b="b"/>
            <a:pathLst>
              <a:path w="3021329" h="834389">
                <a:moveTo>
                  <a:pt x="3021329" y="0"/>
                </a:moveTo>
                <a:lnTo>
                  <a:pt x="0" y="0"/>
                </a:lnTo>
                <a:lnTo>
                  <a:pt x="0" y="834390"/>
                </a:lnTo>
                <a:lnTo>
                  <a:pt x="3021329" y="834390"/>
                </a:lnTo>
                <a:lnTo>
                  <a:pt x="3021329" y="829627"/>
                </a:lnTo>
                <a:lnTo>
                  <a:pt x="9525" y="829627"/>
                </a:lnTo>
                <a:lnTo>
                  <a:pt x="4762" y="824865"/>
                </a:lnTo>
                <a:lnTo>
                  <a:pt x="9525" y="824865"/>
                </a:lnTo>
                <a:lnTo>
                  <a:pt x="9525" y="9525"/>
                </a:lnTo>
                <a:lnTo>
                  <a:pt x="4762" y="9525"/>
                </a:lnTo>
                <a:lnTo>
                  <a:pt x="9525" y="4762"/>
                </a:lnTo>
                <a:lnTo>
                  <a:pt x="3021329" y="4762"/>
                </a:lnTo>
                <a:lnTo>
                  <a:pt x="3021329" y="0"/>
                </a:lnTo>
                <a:close/>
              </a:path>
              <a:path w="3021329" h="834389">
                <a:moveTo>
                  <a:pt x="9525" y="824865"/>
                </a:moveTo>
                <a:lnTo>
                  <a:pt x="4762" y="824865"/>
                </a:lnTo>
                <a:lnTo>
                  <a:pt x="9525" y="829627"/>
                </a:lnTo>
                <a:lnTo>
                  <a:pt x="9525" y="824865"/>
                </a:lnTo>
                <a:close/>
              </a:path>
              <a:path w="3021329" h="834389">
                <a:moveTo>
                  <a:pt x="3011804" y="824865"/>
                </a:moveTo>
                <a:lnTo>
                  <a:pt x="9525" y="824865"/>
                </a:lnTo>
                <a:lnTo>
                  <a:pt x="9525" y="829627"/>
                </a:lnTo>
                <a:lnTo>
                  <a:pt x="3011804" y="829627"/>
                </a:lnTo>
                <a:lnTo>
                  <a:pt x="3011804" y="824865"/>
                </a:lnTo>
                <a:close/>
              </a:path>
              <a:path w="3021329" h="834389">
                <a:moveTo>
                  <a:pt x="3011804" y="4762"/>
                </a:moveTo>
                <a:lnTo>
                  <a:pt x="3011804" y="829627"/>
                </a:lnTo>
                <a:lnTo>
                  <a:pt x="3016567" y="824865"/>
                </a:lnTo>
                <a:lnTo>
                  <a:pt x="3021329" y="824865"/>
                </a:lnTo>
                <a:lnTo>
                  <a:pt x="3021329" y="9525"/>
                </a:lnTo>
                <a:lnTo>
                  <a:pt x="3016567" y="9525"/>
                </a:lnTo>
                <a:lnTo>
                  <a:pt x="3011804" y="4762"/>
                </a:lnTo>
                <a:close/>
              </a:path>
              <a:path w="3021329" h="834389">
                <a:moveTo>
                  <a:pt x="3021329" y="824865"/>
                </a:moveTo>
                <a:lnTo>
                  <a:pt x="3016567" y="824865"/>
                </a:lnTo>
                <a:lnTo>
                  <a:pt x="3011804" y="829627"/>
                </a:lnTo>
                <a:lnTo>
                  <a:pt x="3021329" y="829627"/>
                </a:lnTo>
                <a:lnTo>
                  <a:pt x="3021329" y="824865"/>
                </a:lnTo>
                <a:close/>
              </a:path>
              <a:path w="3021329" h="834389">
                <a:moveTo>
                  <a:pt x="9525" y="4762"/>
                </a:moveTo>
                <a:lnTo>
                  <a:pt x="4762" y="9525"/>
                </a:lnTo>
                <a:lnTo>
                  <a:pt x="9525" y="9525"/>
                </a:lnTo>
                <a:lnTo>
                  <a:pt x="9525" y="4762"/>
                </a:lnTo>
                <a:close/>
              </a:path>
              <a:path w="3021329" h="834389">
                <a:moveTo>
                  <a:pt x="3011804" y="4762"/>
                </a:moveTo>
                <a:lnTo>
                  <a:pt x="9525" y="4762"/>
                </a:lnTo>
                <a:lnTo>
                  <a:pt x="9525" y="9525"/>
                </a:lnTo>
                <a:lnTo>
                  <a:pt x="3011804" y="9525"/>
                </a:lnTo>
                <a:lnTo>
                  <a:pt x="3011804" y="4762"/>
                </a:lnTo>
                <a:close/>
              </a:path>
              <a:path w="3021329" h="834389">
                <a:moveTo>
                  <a:pt x="3021329" y="4762"/>
                </a:moveTo>
                <a:lnTo>
                  <a:pt x="3011804" y="4762"/>
                </a:lnTo>
                <a:lnTo>
                  <a:pt x="3016567" y="9525"/>
                </a:lnTo>
                <a:lnTo>
                  <a:pt x="3021329" y="9525"/>
                </a:lnTo>
                <a:lnTo>
                  <a:pt x="3021329" y="4762"/>
                </a:lnTo>
                <a:close/>
              </a:path>
            </a:pathLst>
          </a:custGeom>
          <a:solidFill>
            <a:srgbClr val="00E4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643760" y="2740421"/>
            <a:ext cx="5925185" cy="4127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1599565" algn="l"/>
              </a:tabLst>
            </a:pPr>
            <a:r>
              <a:rPr dirty="0" baseline="6666" sz="3750" spc="-127" i="1">
                <a:latin typeface="Times New Roman"/>
                <a:cs typeface="Times New Roman"/>
              </a:rPr>
              <a:t>ф</a:t>
            </a:r>
            <a:r>
              <a:rPr dirty="0" baseline="6944" sz="3600" spc="-127">
                <a:latin typeface="Times New Roman"/>
                <a:cs typeface="Times New Roman"/>
              </a:rPr>
              <a:t>(||</a:t>
            </a:r>
            <a:r>
              <a:rPr dirty="0" baseline="6944" sz="3600" spc="-165">
                <a:latin typeface="Times New Roman"/>
                <a:cs typeface="Times New Roman"/>
              </a:rPr>
              <a:t> </a:t>
            </a:r>
            <a:r>
              <a:rPr dirty="0" baseline="6944" sz="3600">
                <a:latin typeface="Times New Roman"/>
                <a:cs typeface="Times New Roman"/>
              </a:rPr>
              <a:t>x</a:t>
            </a:r>
            <a:r>
              <a:rPr dirty="0" baseline="6944" sz="3600" spc="-217">
                <a:latin typeface="Times New Roman"/>
                <a:cs typeface="Times New Roman"/>
              </a:rPr>
              <a:t> </a:t>
            </a:r>
            <a:r>
              <a:rPr dirty="0" baseline="6944" sz="3600">
                <a:latin typeface="Times New Roman"/>
                <a:cs typeface="Times New Roman"/>
              </a:rPr>
              <a:t>-</a:t>
            </a:r>
            <a:r>
              <a:rPr dirty="0" baseline="6944" sz="3600" spc="-292">
                <a:latin typeface="Times New Roman"/>
                <a:cs typeface="Times New Roman"/>
              </a:rPr>
              <a:t> </a:t>
            </a:r>
            <a:r>
              <a:rPr dirty="0" baseline="6944" sz="3600" spc="112">
                <a:latin typeface="Times New Roman"/>
                <a:cs typeface="Times New Roman"/>
              </a:rPr>
              <a:t>x</a:t>
            </a:r>
            <a:r>
              <a:rPr dirty="0" baseline="-11904" sz="2100" spc="112" i="1">
                <a:latin typeface="Times New Roman"/>
                <a:cs typeface="Times New Roman"/>
              </a:rPr>
              <a:t>i</a:t>
            </a:r>
            <a:r>
              <a:rPr dirty="0" baseline="-11904" sz="2100" spc="532" i="1">
                <a:latin typeface="Times New Roman"/>
                <a:cs typeface="Times New Roman"/>
              </a:rPr>
              <a:t> </a:t>
            </a:r>
            <a:r>
              <a:rPr dirty="0" baseline="6944" sz="3600" spc="-37">
                <a:latin typeface="Times New Roman"/>
                <a:cs typeface="Times New Roman"/>
              </a:rPr>
              <a:t>||)</a:t>
            </a:r>
            <a:r>
              <a:rPr dirty="0" baseline="6944" sz="3600">
                <a:latin typeface="Times New Roman"/>
                <a:cs typeface="Times New Roman"/>
              </a:rPr>
              <a:t>	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set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nonlinear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radial-basis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293075" y="849604"/>
            <a:ext cx="7343775" cy="5180965"/>
            <a:chOff x="1293075" y="849604"/>
            <a:chExt cx="7343775" cy="5180965"/>
          </a:xfrm>
        </p:grpSpPr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2007" y="4750308"/>
              <a:ext cx="1802892" cy="310895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0527" y="5690616"/>
              <a:ext cx="2831592" cy="339852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3075" y="875766"/>
              <a:ext cx="2055012" cy="31716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69861" y="850442"/>
              <a:ext cx="1633481" cy="311937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83096" y="849604"/>
              <a:ext cx="1562584" cy="345342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1611" y="873721"/>
              <a:ext cx="1784946" cy="337464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71566" y="2128596"/>
              <a:ext cx="306095" cy="384810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8745855" y="6427787"/>
            <a:ext cx="12318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ahoma"/>
                <a:cs typeface="Tahoma"/>
              </a:rPr>
              <a:t>4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413573" y="3617990"/>
            <a:ext cx="5278755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35">
                <a:latin typeface="Microsoft JhengHei UI"/>
                <a:cs typeface="Microsoft JhengHei UI"/>
              </a:rPr>
              <a:t>⼀个 </a:t>
            </a:r>
            <a:r>
              <a:rPr dirty="0" sz="1300" spc="60">
                <a:latin typeface="Microsoft JhengHei UI"/>
                <a:cs typeface="Microsoft JhengHei UI"/>
              </a:rPr>
              <a:t>RBF</a:t>
            </a:r>
            <a:r>
              <a:rPr dirty="0" sz="1300">
                <a:latin typeface="Microsoft JhengHei UI"/>
                <a:cs typeface="Microsoft JhengHei UI"/>
              </a:rPr>
              <a:t> 是⼀个实值函数，它的值仅仅取决于（输⼊）</a:t>
            </a:r>
            <a:r>
              <a:rPr dirty="0" sz="1300" spc="-10">
                <a:latin typeface="Microsoft JhengHei UI"/>
                <a:cs typeface="Microsoft JhengHei UI"/>
              </a:rPr>
              <a:t>到原点的距离。</a:t>
            </a:r>
            <a:endParaRPr sz="1300">
              <a:latin typeface="Microsoft JhengHei UI"/>
              <a:cs typeface="Microsoft JhengHei UI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-4398610" y="3840543"/>
            <a:ext cx="24653240" cy="2361565"/>
            <a:chOff x="-4398610" y="3840543"/>
            <a:chExt cx="24653240" cy="2361565"/>
          </a:xfrm>
        </p:grpSpPr>
        <p:pic>
          <p:nvPicPr>
            <p:cNvPr id="28" name="object 2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-4398610" y="3840543"/>
              <a:ext cx="24652840" cy="94183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115252" y="4993938"/>
            <a:ext cx="8194040" cy="817244"/>
          </a:xfrm>
          <a:prstGeom prst="rect">
            <a:avLst/>
          </a:prstGeom>
        </p:spPr>
        <p:txBody>
          <a:bodyPr wrap="square" lIns="0" tIns="19939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70"/>
              </a:spcBef>
              <a:buClr>
                <a:srgbClr val="3333CC"/>
              </a:buClr>
              <a:buSzPct val="60416"/>
              <a:buFont typeface="Lucida Sans Unicode"/>
              <a:buChar char="■"/>
              <a:tabLst>
                <a:tab pos="354965" algn="l"/>
              </a:tabLst>
            </a:pPr>
            <a:r>
              <a:rPr dirty="0" u="heavy" sz="24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Alternative</a:t>
            </a:r>
            <a:r>
              <a:rPr dirty="0" u="heavy" sz="2400" spc="-6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form: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depends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distance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b="1" i="1">
                <a:solidFill>
                  <a:srgbClr val="0000FF"/>
                </a:solidFill>
                <a:latin typeface="Arial"/>
                <a:cs typeface="Arial"/>
              </a:rPr>
              <a:t>center</a:t>
            </a:r>
            <a:r>
              <a:rPr dirty="0" sz="2400" spc="-5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spc="-50" b="1" i="1">
                <a:solidFill>
                  <a:srgbClr val="0000FF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  <a:p>
            <a:pPr marL="487045">
              <a:lnSpc>
                <a:spcPct val="100000"/>
              </a:lnSpc>
              <a:spcBef>
                <a:spcPts val="675"/>
              </a:spcBef>
            </a:pPr>
            <a:r>
              <a:rPr dirty="0" sz="1000" spc="25">
                <a:latin typeface="Microsoft JhengHei UI"/>
                <a:cs typeface="Microsoft JhengHei UI"/>
              </a:rPr>
              <a:t>取决于到某个中⼼点 </a:t>
            </a:r>
            <a:r>
              <a:rPr dirty="0" sz="1000" spc="65">
                <a:latin typeface="Microsoft JhengHei UI"/>
                <a:cs typeface="Microsoft JhengHei UI"/>
              </a:rPr>
              <a:t>c</a:t>
            </a:r>
            <a:r>
              <a:rPr dirty="0" sz="1000" spc="40">
                <a:latin typeface="Microsoft JhengHei UI"/>
                <a:cs typeface="Microsoft JhengHei UI"/>
              </a:rPr>
              <a:t> 的距离。</a:t>
            </a:r>
            <a:endParaRPr sz="1000">
              <a:latin typeface="Microsoft JhengHei UI"/>
              <a:cs typeface="Microsoft JhengHei U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866386" y="6510198"/>
            <a:ext cx="5748020" cy="200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10">
                <a:latin typeface="Microsoft JhengHei UI"/>
                <a:cs typeface="Microsoft JhengHei UI"/>
              </a:rPr>
              <a:t>只要函数的值只跟“到中⼼的距离”有关，它就是 </a:t>
            </a:r>
            <a:r>
              <a:rPr dirty="0" sz="1150">
                <a:latin typeface="Microsoft JhengHei UI"/>
                <a:cs typeface="Microsoft JhengHei UI"/>
              </a:rPr>
              <a:t>RBF</a:t>
            </a:r>
            <a:r>
              <a:rPr dirty="0" sz="1150" spc="-5">
                <a:latin typeface="Microsoft JhengHei UI"/>
                <a:cs typeface="Microsoft JhengHei UI"/>
              </a:rPr>
              <a:t>。⾼斯函数只是其中最常⽤的⼀种。</a:t>
            </a:r>
            <a:endParaRPr sz="115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059" y="215965"/>
            <a:ext cx="331540" cy="19120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14" y="143281"/>
            <a:ext cx="1822821" cy="29025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3624" y="554424"/>
            <a:ext cx="333535" cy="335102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686435" y="713423"/>
            <a:ext cx="31750" cy="63500"/>
          </a:xfrm>
          <a:custGeom>
            <a:avLst/>
            <a:gdLst/>
            <a:ahLst/>
            <a:cxnLst/>
            <a:rect l="l" t="t" r="r" b="b"/>
            <a:pathLst>
              <a:path w="31750" h="63500">
                <a:moveTo>
                  <a:pt x="419" y="6223"/>
                </a:moveTo>
                <a:lnTo>
                  <a:pt x="38" y="7162"/>
                </a:lnTo>
                <a:lnTo>
                  <a:pt x="0" y="7950"/>
                </a:lnTo>
                <a:lnTo>
                  <a:pt x="330" y="8648"/>
                </a:lnTo>
                <a:lnTo>
                  <a:pt x="419" y="6223"/>
                </a:lnTo>
                <a:close/>
              </a:path>
              <a:path w="31750" h="63500">
                <a:moveTo>
                  <a:pt x="3873" y="635"/>
                </a:moveTo>
                <a:lnTo>
                  <a:pt x="3492" y="635"/>
                </a:lnTo>
                <a:lnTo>
                  <a:pt x="3111" y="1016"/>
                </a:lnTo>
                <a:lnTo>
                  <a:pt x="3873" y="635"/>
                </a:lnTo>
                <a:close/>
              </a:path>
              <a:path w="31750" h="63500">
                <a:moveTo>
                  <a:pt x="4381" y="12001"/>
                </a:moveTo>
                <a:lnTo>
                  <a:pt x="3136" y="11531"/>
                </a:lnTo>
                <a:lnTo>
                  <a:pt x="3594" y="12001"/>
                </a:lnTo>
                <a:lnTo>
                  <a:pt x="4381" y="12001"/>
                </a:lnTo>
                <a:close/>
              </a:path>
              <a:path w="31750" h="63500">
                <a:moveTo>
                  <a:pt x="25641" y="6007"/>
                </a:moveTo>
                <a:lnTo>
                  <a:pt x="25552" y="4318"/>
                </a:lnTo>
                <a:lnTo>
                  <a:pt x="25285" y="3149"/>
                </a:lnTo>
                <a:lnTo>
                  <a:pt x="25234" y="2933"/>
                </a:lnTo>
                <a:lnTo>
                  <a:pt x="25158" y="2578"/>
                </a:lnTo>
                <a:lnTo>
                  <a:pt x="25057" y="2171"/>
                </a:lnTo>
                <a:lnTo>
                  <a:pt x="24942" y="1651"/>
                </a:lnTo>
                <a:lnTo>
                  <a:pt x="24879" y="1371"/>
                </a:lnTo>
                <a:lnTo>
                  <a:pt x="23063" y="0"/>
                </a:lnTo>
                <a:lnTo>
                  <a:pt x="16243" y="254"/>
                </a:lnTo>
                <a:lnTo>
                  <a:pt x="12446" y="520"/>
                </a:lnTo>
                <a:lnTo>
                  <a:pt x="12446" y="3949"/>
                </a:lnTo>
                <a:lnTo>
                  <a:pt x="12166" y="3149"/>
                </a:lnTo>
                <a:lnTo>
                  <a:pt x="11849" y="2933"/>
                </a:lnTo>
                <a:lnTo>
                  <a:pt x="12217" y="3149"/>
                </a:lnTo>
                <a:lnTo>
                  <a:pt x="12446" y="3949"/>
                </a:lnTo>
                <a:lnTo>
                  <a:pt x="12446" y="520"/>
                </a:lnTo>
                <a:lnTo>
                  <a:pt x="10706" y="635"/>
                </a:lnTo>
                <a:lnTo>
                  <a:pt x="10706" y="11061"/>
                </a:lnTo>
                <a:lnTo>
                  <a:pt x="10706" y="635"/>
                </a:lnTo>
                <a:lnTo>
                  <a:pt x="10515" y="635"/>
                </a:lnTo>
                <a:lnTo>
                  <a:pt x="10515" y="11112"/>
                </a:lnTo>
                <a:lnTo>
                  <a:pt x="7239" y="12001"/>
                </a:lnTo>
                <a:lnTo>
                  <a:pt x="10490" y="11112"/>
                </a:lnTo>
                <a:lnTo>
                  <a:pt x="10515" y="635"/>
                </a:lnTo>
                <a:lnTo>
                  <a:pt x="7696" y="635"/>
                </a:lnTo>
                <a:lnTo>
                  <a:pt x="7264" y="635"/>
                </a:lnTo>
                <a:lnTo>
                  <a:pt x="9448" y="1320"/>
                </a:lnTo>
                <a:lnTo>
                  <a:pt x="5194" y="0"/>
                </a:lnTo>
                <a:lnTo>
                  <a:pt x="4622" y="254"/>
                </a:lnTo>
                <a:lnTo>
                  <a:pt x="3060" y="1066"/>
                </a:lnTo>
                <a:lnTo>
                  <a:pt x="2755" y="1371"/>
                </a:lnTo>
                <a:lnTo>
                  <a:pt x="2476" y="1371"/>
                </a:lnTo>
                <a:lnTo>
                  <a:pt x="1866" y="1651"/>
                </a:lnTo>
                <a:lnTo>
                  <a:pt x="1689" y="2171"/>
                </a:lnTo>
                <a:lnTo>
                  <a:pt x="2044" y="1651"/>
                </a:lnTo>
                <a:lnTo>
                  <a:pt x="1651" y="2489"/>
                </a:lnTo>
                <a:lnTo>
                  <a:pt x="1536" y="2641"/>
                </a:lnTo>
                <a:lnTo>
                  <a:pt x="1460" y="2882"/>
                </a:lnTo>
                <a:lnTo>
                  <a:pt x="1371" y="3149"/>
                </a:lnTo>
                <a:lnTo>
                  <a:pt x="1143" y="3594"/>
                </a:lnTo>
                <a:lnTo>
                  <a:pt x="1333" y="3149"/>
                </a:lnTo>
                <a:lnTo>
                  <a:pt x="1460" y="2882"/>
                </a:lnTo>
                <a:lnTo>
                  <a:pt x="1460" y="2717"/>
                </a:lnTo>
                <a:lnTo>
                  <a:pt x="1206" y="2933"/>
                </a:lnTo>
                <a:lnTo>
                  <a:pt x="990" y="3149"/>
                </a:lnTo>
                <a:lnTo>
                  <a:pt x="990" y="3937"/>
                </a:lnTo>
                <a:lnTo>
                  <a:pt x="800" y="4318"/>
                </a:lnTo>
                <a:lnTo>
                  <a:pt x="660" y="4699"/>
                </a:lnTo>
                <a:lnTo>
                  <a:pt x="571" y="5080"/>
                </a:lnTo>
                <a:lnTo>
                  <a:pt x="482" y="5461"/>
                </a:lnTo>
                <a:lnTo>
                  <a:pt x="736" y="5080"/>
                </a:lnTo>
                <a:lnTo>
                  <a:pt x="609" y="5461"/>
                </a:lnTo>
                <a:lnTo>
                  <a:pt x="546" y="5651"/>
                </a:lnTo>
                <a:lnTo>
                  <a:pt x="457" y="5829"/>
                </a:lnTo>
                <a:lnTo>
                  <a:pt x="330" y="8648"/>
                </a:lnTo>
                <a:lnTo>
                  <a:pt x="330" y="8801"/>
                </a:lnTo>
                <a:lnTo>
                  <a:pt x="876" y="9563"/>
                </a:lnTo>
                <a:lnTo>
                  <a:pt x="1231" y="10502"/>
                </a:lnTo>
                <a:lnTo>
                  <a:pt x="1435" y="10909"/>
                </a:lnTo>
                <a:lnTo>
                  <a:pt x="1993" y="11112"/>
                </a:lnTo>
                <a:lnTo>
                  <a:pt x="1295" y="10147"/>
                </a:lnTo>
                <a:lnTo>
                  <a:pt x="1854" y="10909"/>
                </a:lnTo>
                <a:lnTo>
                  <a:pt x="2044" y="11112"/>
                </a:lnTo>
                <a:lnTo>
                  <a:pt x="3136" y="11531"/>
                </a:lnTo>
                <a:lnTo>
                  <a:pt x="4381" y="12001"/>
                </a:lnTo>
                <a:lnTo>
                  <a:pt x="7200" y="13055"/>
                </a:lnTo>
                <a:lnTo>
                  <a:pt x="8077" y="12687"/>
                </a:lnTo>
                <a:lnTo>
                  <a:pt x="10985" y="13055"/>
                </a:lnTo>
                <a:lnTo>
                  <a:pt x="17030" y="13716"/>
                </a:lnTo>
                <a:lnTo>
                  <a:pt x="18935" y="12179"/>
                </a:lnTo>
                <a:lnTo>
                  <a:pt x="19050" y="11112"/>
                </a:lnTo>
                <a:lnTo>
                  <a:pt x="19126" y="10502"/>
                </a:lnTo>
                <a:lnTo>
                  <a:pt x="19240" y="9423"/>
                </a:lnTo>
                <a:lnTo>
                  <a:pt x="19265" y="9144"/>
                </a:lnTo>
                <a:lnTo>
                  <a:pt x="24434" y="7950"/>
                </a:lnTo>
                <a:lnTo>
                  <a:pt x="25641" y="6007"/>
                </a:lnTo>
                <a:close/>
              </a:path>
              <a:path w="31750" h="63500">
                <a:moveTo>
                  <a:pt x="31369" y="58648"/>
                </a:moveTo>
                <a:lnTo>
                  <a:pt x="30391" y="54787"/>
                </a:lnTo>
                <a:lnTo>
                  <a:pt x="29121" y="53936"/>
                </a:lnTo>
                <a:lnTo>
                  <a:pt x="28625" y="53594"/>
                </a:lnTo>
                <a:lnTo>
                  <a:pt x="25971" y="53936"/>
                </a:lnTo>
                <a:lnTo>
                  <a:pt x="27660" y="51930"/>
                </a:lnTo>
                <a:lnTo>
                  <a:pt x="27584" y="50838"/>
                </a:lnTo>
                <a:lnTo>
                  <a:pt x="27520" y="49885"/>
                </a:lnTo>
                <a:lnTo>
                  <a:pt x="25006" y="47688"/>
                </a:lnTo>
                <a:lnTo>
                  <a:pt x="23215" y="47688"/>
                </a:lnTo>
                <a:lnTo>
                  <a:pt x="19113" y="50838"/>
                </a:lnTo>
                <a:lnTo>
                  <a:pt x="14668" y="54419"/>
                </a:lnTo>
                <a:lnTo>
                  <a:pt x="18326" y="63309"/>
                </a:lnTo>
                <a:lnTo>
                  <a:pt x="24384" y="62166"/>
                </a:lnTo>
                <a:lnTo>
                  <a:pt x="30162" y="60693"/>
                </a:lnTo>
                <a:lnTo>
                  <a:pt x="31369" y="586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9725" y="557259"/>
            <a:ext cx="1127865" cy="3023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3007" y="1082614"/>
            <a:ext cx="315350" cy="19126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1598" y="943801"/>
            <a:ext cx="452968" cy="348809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1209251" y="547060"/>
            <a:ext cx="5184775" cy="767715"/>
            <a:chOff x="1209251" y="547060"/>
            <a:chExt cx="5184775" cy="767715"/>
          </a:xfrm>
        </p:grpSpPr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09251" y="962156"/>
              <a:ext cx="1066077" cy="35247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12681" y="547060"/>
              <a:ext cx="4381140" cy="699477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68095" y="919808"/>
            <a:ext cx="1665523" cy="3855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9634" y="1615473"/>
            <a:ext cx="120454" cy="148082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523348" y="1613127"/>
            <a:ext cx="19685" cy="17780"/>
          </a:xfrm>
          <a:custGeom>
            <a:avLst/>
            <a:gdLst/>
            <a:ahLst/>
            <a:cxnLst/>
            <a:rect l="l" t="t" r="r" b="b"/>
            <a:pathLst>
              <a:path w="19684" h="17780">
                <a:moveTo>
                  <a:pt x="14523" y="9158"/>
                </a:moveTo>
                <a:lnTo>
                  <a:pt x="11431" y="9158"/>
                </a:lnTo>
                <a:lnTo>
                  <a:pt x="9561" y="9438"/>
                </a:lnTo>
                <a:lnTo>
                  <a:pt x="9894" y="9438"/>
                </a:lnTo>
                <a:lnTo>
                  <a:pt x="9624" y="9927"/>
                </a:lnTo>
                <a:lnTo>
                  <a:pt x="9220" y="10405"/>
                </a:lnTo>
                <a:lnTo>
                  <a:pt x="6666" y="12468"/>
                </a:lnTo>
                <a:lnTo>
                  <a:pt x="3864" y="12468"/>
                </a:lnTo>
                <a:lnTo>
                  <a:pt x="4878" y="13739"/>
                </a:lnTo>
                <a:lnTo>
                  <a:pt x="9866" y="15509"/>
                </a:lnTo>
                <a:lnTo>
                  <a:pt x="16063" y="17508"/>
                </a:lnTo>
                <a:lnTo>
                  <a:pt x="18072" y="16487"/>
                </a:lnTo>
                <a:lnTo>
                  <a:pt x="19225" y="12924"/>
                </a:lnTo>
                <a:lnTo>
                  <a:pt x="19031" y="12468"/>
                </a:lnTo>
                <a:lnTo>
                  <a:pt x="6666" y="12468"/>
                </a:lnTo>
                <a:lnTo>
                  <a:pt x="3630" y="12153"/>
                </a:lnTo>
                <a:lnTo>
                  <a:pt x="18897" y="12153"/>
                </a:lnTo>
                <a:lnTo>
                  <a:pt x="18443" y="11089"/>
                </a:lnTo>
                <a:lnTo>
                  <a:pt x="15041" y="9438"/>
                </a:lnTo>
                <a:lnTo>
                  <a:pt x="14523" y="9158"/>
                </a:lnTo>
                <a:close/>
              </a:path>
              <a:path w="19684" h="17780">
                <a:moveTo>
                  <a:pt x="6751" y="1640"/>
                </a:moveTo>
                <a:lnTo>
                  <a:pt x="1686" y="3280"/>
                </a:lnTo>
                <a:lnTo>
                  <a:pt x="299" y="6006"/>
                </a:lnTo>
                <a:lnTo>
                  <a:pt x="1000" y="8167"/>
                </a:lnTo>
                <a:lnTo>
                  <a:pt x="1095" y="8460"/>
                </a:lnTo>
                <a:lnTo>
                  <a:pt x="1215" y="9158"/>
                </a:lnTo>
                <a:lnTo>
                  <a:pt x="3630" y="12153"/>
                </a:lnTo>
                <a:lnTo>
                  <a:pt x="6666" y="12468"/>
                </a:lnTo>
                <a:lnTo>
                  <a:pt x="9220" y="10405"/>
                </a:lnTo>
                <a:lnTo>
                  <a:pt x="9624" y="9927"/>
                </a:lnTo>
                <a:lnTo>
                  <a:pt x="9804" y="9601"/>
                </a:lnTo>
                <a:lnTo>
                  <a:pt x="9894" y="9438"/>
                </a:lnTo>
                <a:lnTo>
                  <a:pt x="9561" y="9438"/>
                </a:lnTo>
                <a:lnTo>
                  <a:pt x="11431" y="9158"/>
                </a:lnTo>
                <a:lnTo>
                  <a:pt x="14523" y="9158"/>
                </a:lnTo>
                <a:lnTo>
                  <a:pt x="13230" y="8460"/>
                </a:lnTo>
                <a:lnTo>
                  <a:pt x="11218" y="6755"/>
                </a:lnTo>
                <a:lnTo>
                  <a:pt x="10494" y="6190"/>
                </a:lnTo>
                <a:lnTo>
                  <a:pt x="9550" y="3280"/>
                </a:lnTo>
                <a:lnTo>
                  <a:pt x="9469" y="3030"/>
                </a:lnTo>
                <a:lnTo>
                  <a:pt x="6751" y="1640"/>
                </a:lnTo>
                <a:close/>
              </a:path>
              <a:path w="19684" h="17780">
                <a:moveTo>
                  <a:pt x="9859" y="0"/>
                </a:moveTo>
                <a:lnTo>
                  <a:pt x="4569" y="282"/>
                </a:lnTo>
                <a:lnTo>
                  <a:pt x="2374" y="1292"/>
                </a:lnTo>
                <a:lnTo>
                  <a:pt x="0" y="5506"/>
                </a:lnTo>
                <a:lnTo>
                  <a:pt x="415" y="8167"/>
                </a:lnTo>
                <a:lnTo>
                  <a:pt x="1215" y="9158"/>
                </a:lnTo>
                <a:lnTo>
                  <a:pt x="1095" y="8460"/>
                </a:lnTo>
                <a:lnTo>
                  <a:pt x="359" y="6190"/>
                </a:lnTo>
                <a:lnTo>
                  <a:pt x="299" y="6006"/>
                </a:lnTo>
                <a:lnTo>
                  <a:pt x="1686" y="3280"/>
                </a:lnTo>
                <a:lnTo>
                  <a:pt x="6751" y="1640"/>
                </a:lnTo>
                <a:lnTo>
                  <a:pt x="14897" y="1640"/>
                </a:lnTo>
                <a:lnTo>
                  <a:pt x="9859" y="0"/>
                </a:lnTo>
                <a:close/>
              </a:path>
              <a:path w="19684" h="17780">
                <a:moveTo>
                  <a:pt x="14897" y="1640"/>
                </a:moveTo>
                <a:lnTo>
                  <a:pt x="6751" y="1640"/>
                </a:lnTo>
                <a:lnTo>
                  <a:pt x="9469" y="3030"/>
                </a:lnTo>
                <a:lnTo>
                  <a:pt x="10434" y="6006"/>
                </a:lnTo>
                <a:lnTo>
                  <a:pt x="10494" y="6190"/>
                </a:lnTo>
                <a:lnTo>
                  <a:pt x="11218" y="6755"/>
                </a:lnTo>
                <a:lnTo>
                  <a:pt x="13230" y="8460"/>
                </a:lnTo>
                <a:lnTo>
                  <a:pt x="14523" y="9158"/>
                </a:lnTo>
                <a:lnTo>
                  <a:pt x="16599" y="9158"/>
                </a:lnTo>
                <a:lnTo>
                  <a:pt x="18362" y="7298"/>
                </a:lnTo>
                <a:lnTo>
                  <a:pt x="18265" y="3758"/>
                </a:lnTo>
                <a:lnTo>
                  <a:pt x="17266" y="2411"/>
                </a:lnTo>
                <a:lnTo>
                  <a:pt x="14897" y="16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22623" y="1675243"/>
            <a:ext cx="26670" cy="10160"/>
          </a:xfrm>
          <a:custGeom>
            <a:avLst/>
            <a:gdLst/>
            <a:ahLst/>
            <a:cxnLst/>
            <a:rect l="l" t="t" r="r" b="b"/>
            <a:pathLst>
              <a:path w="26670" h="10160">
                <a:moveTo>
                  <a:pt x="24312" y="0"/>
                </a:moveTo>
                <a:lnTo>
                  <a:pt x="13114" y="0"/>
                </a:lnTo>
                <a:lnTo>
                  <a:pt x="5931" y="803"/>
                </a:lnTo>
                <a:lnTo>
                  <a:pt x="0" y="1249"/>
                </a:lnTo>
                <a:lnTo>
                  <a:pt x="1275" y="1249"/>
                </a:lnTo>
                <a:lnTo>
                  <a:pt x="170" y="5278"/>
                </a:lnTo>
                <a:lnTo>
                  <a:pt x="242" y="6147"/>
                </a:lnTo>
                <a:lnTo>
                  <a:pt x="2045" y="10035"/>
                </a:lnTo>
                <a:lnTo>
                  <a:pt x="6668" y="9601"/>
                </a:lnTo>
                <a:lnTo>
                  <a:pt x="13886" y="9210"/>
                </a:lnTo>
                <a:lnTo>
                  <a:pt x="24880" y="7602"/>
                </a:lnTo>
                <a:lnTo>
                  <a:pt x="26422" y="5517"/>
                </a:lnTo>
                <a:lnTo>
                  <a:pt x="25785" y="1249"/>
                </a:lnTo>
                <a:lnTo>
                  <a:pt x="243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92953" y="1447004"/>
            <a:ext cx="1074871" cy="326088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89302" y="2005252"/>
            <a:ext cx="264771" cy="184337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46090" y="1876144"/>
            <a:ext cx="165026" cy="31288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76999" y="1904546"/>
            <a:ext cx="209085" cy="294231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68481" y="1906056"/>
            <a:ext cx="1673903" cy="283229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939682" y="2028313"/>
            <a:ext cx="566858" cy="159202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12123" y="2439855"/>
            <a:ext cx="57228" cy="205321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49031" y="2452302"/>
            <a:ext cx="495496" cy="200205"/>
          </a:xfrm>
          <a:prstGeom prst="rect">
            <a:avLst/>
          </a:prstGeom>
        </p:spPr>
      </p:pic>
      <p:sp>
        <p:nvSpPr>
          <p:cNvPr id="24" name="object 24" descr=""/>
          <p:cNvSpPr/>
          <p:nvPr/>
        </p:nvSpPr>
        <p:spPr>
          <a:xfrm>
            <a:off x="970074" y="2504219"/>
            <a:ext cx="13970" cy="19685"/>
          </a:xfrm>
          <a:custGeom>
            <a:avLst/>
            <a:gdLst/>
            <a:ahLst/>
            <a:cxnLst/>
            <a:rect l="l" t="t" r="r" b="b"/>
            <a:pathLst>
              <a:path w="13969" h="19685">
                <a:moveTo>
                  <a:pt x="7458" y="0"/>
                </a:moveTo>
                <a:lnTo>
                  <a:pt x="1788" y="1249"/>
                </a:lnTo>
                <a:lnTo>
                  <a:pt x="0" y="4062"/>
                </a:lnTo>
                <a:lnTo>
                  <a:pt x="782" y="7592"/>
                </a:lnTo>
                <a:lnTo>
                  <a:pt x="1079" y="8254"/>
                </a:lnTo>
                <a:lnTo>
                  <a:pt x="8908" y="19072"/>
                </a:lnTo>
                <a:lnTo>
                  <a:pt x="10771" y="19376"/>
                </a:lnTo>
                <a:lnTo>
                  <a:pt x="13067" y="17714"/>
                </a:lnTo>
                <a:lnTo>
                  <a:pt x="13523" y="16509"/>
                </a:lnTo>
                <a:lnTo>
                  <a:pt x="10264" y="1792"/>
                </a:lnTo>
                <a:lnTo>
                  <a:pt x="74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88788" y="2385440"/>
            <a:ext cx="723566" cy="243303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893370" y="2316601"/>
            <a:ext cx="1312965" cy="329628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327552" y="2360612"/>
            <a:ext cx="829231" cy="276896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269535" y="2433724"/>
            <a:ext cx="501176" cy="206901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06748" y="2805608"/>
            <a:ext cx="160134" cy="353100"/>
          </a:xfrm>
          <a:prstGeom prst="rect">
            <a:avLst/>
          </a:prstGeom>
        </p:spPr>
      </p:pic>
      <p:sp>
        <p:nvSpPr>
          <p:cNvPr id="30" name="object 30" descr=""/>
          <p:cNvSpPr/>
          <p:nvPr/>
        </p:nvSpPr>
        <p:spPr>
          <a:xfrm>
            <a:off x="627634" y="2902459"/>
            <a:ext cx="26034" cy="63500"/>
          </a:xfrm>
          <a:custGeom>
            <a:avLst/>
            <a:gdLst/>
            <a:ahLst/>
            <a:cxnLst/>
            <a:rect l="l" t="t" r="r" b="b"/>
            <a:pathLst>
              <a:path w="26034" h="63500">
                <a:moveTo>
                  <a:pt x="4991" y="59563"/>
                </a:moveTo>
                <a:lnTo>
                  <a:pt x="4889" y="58204"/>
                </a:lnTo>
                <a:lnTo>
                  <a:pt x="4800" y="57442"/>
                </a:lnTo>
                <a:lnTo>
                  <a:pt x="4699" y="56642"/>
                </a:lnTo>
                <a:lnTo>
                  <a:pt x="4495" y="57442"/>
                </a:lnTo>
                <a:lnTo>
                  <a:pt x="4991" y="59563"/>
                </a:lnTo>
                <a:close/>
              </a:path>
              <a:path w="26034" h="63500">
                <a:moveTo>
                  <a:pt x="14693" y="4889"/>
                </a:moveTo>
                <a:lnTo>
                  <a:pt x="13271" y="1714"/>
                </a:lnTo>
                <a:lnTo>
                  <a:pt x="8763" y="0"/>
                </a:lnTo>
                <a:lnTo>
                  <a:pt x="6908" y="203"/>
                </a:lnTo>
                <a:lnTo>
                  <a:pt x="431" y="4495"/>
                </a:lnTo>
                <a:lnTo>
                  <a:pt x="0" y="6604"/>
                </a:lnTo>
                <a:lnTo>
                  <a:pt x="1435" y="8763"/>
                </a:lnTo>
                <a:lnTo>
                  <a:pt x="1993" y="9207"/>
                </a:lnTo>
                <a:lnTo>
                  <a:pt x="9359" y="12001"/>
                </a:lnTo>
                <a:lnTo>
                  <a:pt x="12534" y="10579"/>
                </a:lnTo>
                <a:lnTo>
                  <a:pt x="14693" y="4889"/>
                </a:lnTo>
                <a:close/>
              </a:path>
              <a:path w="26034" h="63500">
                <a:moveTo>
                  <a:pt x="25920" y="56642"/>
                </a:moveTo>
                <a:lnTo>
                  <a:pt x="25819" y="55600"/>
                </a:lnTo>
                <a:lnTo>
                  <a:pt x="25120" y="53581"/>
                </a:lnTo>
                <a:lnTo>
                  <a:pt x="25057" y="53390"/>
                </a:lnTo>
                <a:lnTo>
                  <a:pt x="25196" y="53390"/>
                </a:lnTo>
                <a:lnTo>
                  <a:pt x="24130" y="52641"/>
                </a:lnTo>
                <a:lnTo>
                  <a:pt x="19088" y="52641"/>
                </a:lnTo>
                <a:lnTo>
                  <a:pt x="17259" y="51612"/>
                </a:lnTo>
                <a:lnTo>
                  <a:pt x="15671" y="51879"/>
                </a:lnTo>
                <a:lnTo>
                  <a:pt x="15671" y="59728"/>
                </a:lnTo>
                <a:lnTo>
                  <a:pt x="15443" y="58483"/>
                </a:lnTo>
                <a:lnTo>
                  <a:pt x="15481" y="58674"/>
                </a:lnTo>
                <a:lnTo>
                  <a:pt x="15544" y="59004"/>
                </a:lnTo>
                <a:lnTo>
                  <a:pt x="15646" y="59563"/>
                </a:lnTo>
                <a:lnTo>
                  <a:pt x="15671" y="59728"/>
                </a:lnTo>
                <a:lnTo>
                  <a:pt x="15671" y="51879"/>
                </a:lnTo>
                <a:lnTo>
                  <a:pt x="11112" y="52641"/>
                </a:lnTo>
                <a:lnTo>
                  <a:pt x="10655" y="52641"/>
                </a:lnTo>
                <a:lnTo>
                  <a:pt x="8369" y="53047"/>
                </a:lnTo>
                <a:lnTo>
                  <a:pt x="8039" y="53111"/>
                </a:lnTo>
                <a:lnTo>
                  <a:pt x="7810" y="53111"/>
                </a:lnTo>
                <a:lnTo>
                  <a:pt x="6680" y="53111"/>
                </a:lnTo>
                <a:lnTo>
                  <a:pt x="6451" y="53390"/>
                </a:lnTo>
                <a:lnTo>
                  <a:pt x="6375" y="53581"/>
                </a:lnTo>
                <a:lnTo>
                  <a:pt x="5791" y="54216"/>
                </a:lnTo>
                <a:lnTo>
                  <a:pt x="4978" y="55245"/>
                </a:lnTo>
                <a:lnTo>
                  <a:pt x="4597" y="55600"/>
                </a:lnTo>
                <a:lnTo>
                  <a:pt x="4660" y="56083"/>
                </a:lnTo>
                <a:lnTo>
                  <a:pt x="4864" y="55740"/>
                </a:lnTo>
                <a:lnTo>
                  <a:pt x="4660" y="56083"/>
                </a:lnTo>
                <a:lnTo>
                  <a:pt x="4711" y="56438"/>
                </a:lnTo>
                <a:lnTo>
                  <a:pt x="4813" y="56083"/>
                </a:lnTo>
                <a:lnTo>
                  <a:pt x="4749" y="56642"/>
                </a:lnTo>
                <a:lnTo>
                  <a:pt x="4902" y="57467"/>
                </a:lnTo>
                <a:lnTo>
                  <a:pt x="4940" y="58674"/>
                </a:lnTo>
                <a:lnTo>
                  <a:pt x="5041" y="59728"/>
                </a:lnTo>
                <a:lnTo>
                  <a:pt x="5194" y="60159"/>
                </a:lnTo>
                <a:lnTo>
                  <a:pt x="5384" y="60490"/>
                </a:lnTo>
                <a:lnTo>
                  <a:pt x="5308" y="59563"/>
                </a:lnTo>
                <a:lnTo>
                  <a:pt x="5410" y="60159"/>
                </a:lnTo>
                <a:lnTo>
                  <a:pt x="5524" y="60744"/>
                </a:lnTo>
                <a:lnTo>
                  <a:pt x="5194" y="60159"/>
                </a:lnTo>
                <a:lnTo>
                  <a:pt x="5232" y="61201"/>
                </a:lnTo>
                <a:lnTo>
                  <a:pt x="5676" y="61556"/>
                </a:lnTo>
                <a:lnTo>
                  <a:pt x="5575" y="61036"/>
                </a:lnTo>
                <a:lnTo>
                  <a:pt x="5702" y="61556"/>
                </a:lnTo>
                <a:lnTo>
                  <a:pt x="6464" y="62090"/>
                </a:lnTo>
                <a:lnTo>
                  <a:pt x="6794" y="62445"/>
                </a:lnTo>
                <a:lnTo>
                  <a:pt x="7353" y="62877"/>
                </a:lnTo>
                <a:lnTo>
                  <a:pt x="7696" y="63169"/>
                </a:lnTo>
                <a:lnTo>
                  <a:pt x="8077" y="63220"/>
                </a:lnTo>
                <a:lnTo>
                  <a:pt x="8305" y="63373"/>
                </a:lnTo>
                <a:lnTo>
                  <a:pt x="9169" y="63220"/>
                </a:lnTo>
                <a:lnTo>
                  <a:pt x="13436" y="62445"/>
                </a:lnTo>
                <a:lnTo>
                  <a:pt x="13792" y="62445"/>
                </a:lnTo>
                <a:lnTo>
                  <a:pt x="14033" y="62090"/>
                </a:lnTo>
                <a:lnTo>
                  <a:pt x="13804" y="62090"/>
                </a:lnTo>
                <a:lnTo>
                  <a:pt x="14097" y="62001"/>
                </a:lnTo>
                <a:lnTo>
                  <a:pt x="17843" y="60744"/>
                </a:lnTo>
                <a:lnTo>
                  <a:pt x="25158" y="58204"/>
                </a:lnTo>
                <a:lnTo>
                  <a:pt x="25920" y="566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object 31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36426" y="2750455"/>
            <a:ext cx="1252936" cy="342521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100682" y="2836172"/>
            <a:ext cx="338032" cy="276929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528255" y="2755103"/>
            <a:ext cx="1042997" cy="346985"/>
          </a:xfrm>
          <a:prstGeom prst="rect">
            <a:avLst/>
          </a:prstGeom>
        </p:spPr>
      </p:pic>
      <p:grpSp>
        <p:nvGrpSpPr>
          <p:cNvPr id="34" name="object 34" descr=""/>
          <p:cNvGrpSpPr/>
          <p:nvPr/>
        </p:nvGrpSpPr>
        <p:grpSpPr>
          <a:xfrm>
            <a:off x="5663786" y="1701179"/>
            <a:ext cx="3275329" cy="998855"/>
            <a:chOff x="5663786" y="1701179"/>
            <a:chExt cx="3275329" cy="998855"/>
          </a:xfrm>
        </p:grpSpPr>
        <p:pic>
          <p:nvPicPr>
            <p:cNvPr id="35" name="object 3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661244" y="1798063"/>
              <a:ext cx="281558" cy="228194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663786" y="1701179"/>
              <a:ext cx="3275239" cy="9983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58127" y="2149614"/>
            <a:ext cx="6076950" cy="87756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ts val="3354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 spc="55">
                <a:latin typeface="Tahoma"/>
                <a:cs typeface="Tahoma"/>
              </a:rPr>
              <a:t>Several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widely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used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60">
                <a:latin typeface="Tahoma"/>
                <a:cs typeface="Tahoma"/>
              </a:rPr>
              <a:t>basis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functions:</a:t>
            </a:r>
            <a:endParaRPr sz="2800">
              <a:latin typeface="Tahoma"/>
              <a:cs typeface="Tahoma"/>
            </a:endParaRPr>
          </a:p>
          <a:p>
            <a:pPr marL="469900">
              <a:lnSpc>
                <a:spcPts val="3354"/>
              </a:lnSpc>
              <a:tabLst>
                <a:tab pos="755015" algn="l"/>
              </a:tabLst>
            </a:pPr>
            <a:r>
              <a:rPr dirty="0" sz="1500" spc="-50">
                <a:solidFill>
                  <a:srgbClr val="FF0000"/>
                </a:solidFill>
                <a:latin typeface="Tahoma"/>
                <a:cs typeface="Tahoma"/>
              </a:rPr>
              <a:t>-</a:t>
            </a:r>
            <a:r>
              <a:rPr dirty="0" sz="150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dirty="0" sz="2800" spc="-10" b="1" i="1">
                <a:latin typeface="Arial"/>
                <a:cs typeface="Arial"/>
              </a:rPr>
              <a:t>multiquadratics</a:t>
            </a:r>
            <a:r>
              <a:rPr dirty="0" sz="2800" spc="-10" b="1">
                <a:latin typeface="Tahoma"/>
                <a:cs typeface="Tahoma"/>
              </a:rPr>
              <a:t>: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47127" y="3000563"/>
            <a:ext cx="3072765" cy="473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900" spc="-505" i="1">
                <a:latin typeface="Verdana"/>
                <a:cs typeface="Verdana"/>
              </a:rPr>
              <a:t>ф</a:t>
            </a:r>
            <a:r>
              <a:rPr dirty="0" sz="2800" spc="-505" i="1">
                <a:latin typeface="Arial"/>
                <a:cs typeface="Arial"/>
              </a:rPr>
              <a:t>(</a:t>
            </a:r>
            <a:r>
              <a:rPr dirty="0" sz="2800" i="1">
                <a:latin typeface="Arial"/>
                <a:cs typeface="Arial"/>
              </a:rPr>
              <a:t> x</a:t>
            </a:r>
            <a:r>
              <a:rPr dirty="0" sz="2800" spc="-2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)</a:t>
            </a:r>
            <a:r>
              <a:rPr dirty="0" sz="2800" spc="-1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=</a:t>
            </a:r>
            <a:r>
              <a:rPr dirty="0" sz="2800" spc="-1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(</a:t>
            </a:r>
            <a:r>
              <a:rPr dirty="0" sz="2800" spc="-1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x</a:t>
            </a:r>
            <a:r>
              <a:rPr dirty="0" baseline="21604" sz="2700" i="1">
                <a:latin typeface="Arial"/>
                <a:cs typeface="Arial"/>
              </a:rPr>
              <a:t>2</a:t>
            </a:r>
            <a:r>
              <a:rPr dirty="0" baseline="21604" sz="2700" spc="39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+</a:t>
            </a:r>
            <a:r>
              <a:rPr dirty="0" sz="2800" spc="-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d</a:t>
            </a:r>
            <a:r>
              <a:rPr dirty="0" baseline="21604" sz="2700" i="1">
                <a:latin typeface="Arial"/>
                <a:cs typeface="Arial"/>
              </a:rPr>
              <a:t>2</a:t>
            </a:r>
            <a:r>
              <a:rPr dirty="0" baseline="21604" sz="2700" spc="390" i="1">
                <a:latin typeface="Arial"/>
                <a:cs typeface="Arial"/>
              </a:rPr>
              <a:t> </a:t>
            </a:r>
            <a:r>
              <a:rPr dirty="0" sz="2800" spc="-20" i="1">
                <a:latin typeface="Arial"/>
                <a:cs typeface="Arial"/>
              </a:rPr>
              <a:t>)</a:t>
            </a:r>
            <a:r>
              <a:rPr dirty="0" baseline="21604" sz="2700" spc="-30" i="1">
                <a:latin typeface="Arial"/>
                <a:cs typeface="Arial"/>
              </a:rPr>
              <a:t>1/2</a:t>
            </a:r>
            <a:endParaRPr baseline="21604" sz="27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0127" y="3018294"/>
            <a:ext cx="210947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40">
                <a:latin typeface="Tahoma"/>
                <a:cs typeface="Tahoma"/>
              </a:rPr>
              <a:t>for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50">
                <a:latin typeface="Tahoma"/>
                <a:cs typeface="Tahoma"/>
              </a:rPr>
              <a:t>some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-90">
                <a:latin typeface="Tahoma"/>
                <a:cs typeface="Tahoma"/>
              </a:rPr>
              <a:t>d&gt;0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77227" y="3853954"/>
            <a:ext cx="6399530" cy="21761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5915" indent="-285115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SzPct val="53571"/>
              <a:buFont typeface="Tahoma"/>
              <a:buChar char="-"/>
              <a:tabLst>
                <a:tab pos="335915" algn="l"/>
              </a:tabLst>
            </a:pPr>
            <a:r>
              <a:rPr dirty="0" sz="2800" b="1" i="1">
                <a:latin typeface="Arial"/>
                <a:cs typeface="Arial"/>
              </a:rPr>
              <a:t>inverse</a:t>
            </a:r>
            <a:r>
              <a:rPr dirty="0" sz="2800" spc="-80" b="1" i="1">
                <a:latin typeface="Arial"/>
                <a:cs typeface="Arial"/>
              </a:rPr>
              <a:t> </a:t>
            </a:r>
            <a:r>
              <a:rPr dirty="0" sz="2800" spc="-10" b="1" i="1">
                <a:latin typeface="Arial"/>
                <a:cs typeface="Arial"/>
              </a:rPr>
              <a:t>multiquadratics</a:t>
            </a:r>
            <a:r>
              <a:rPr dirty="0" sz="2800" spc="-10">
                <a:latin typeface="Tahoma"/>
                <a:cs typeface="Tahoma"/>
              </a:rPr>
              <a:t>:</a:t>
            </a:r>
            <a:endParaRPr sz="2800">
              <a:latin typeface="Tahoma"/>
              <a:cs typeface="Tahoma"/>
            </a:endParaRPr>
          </a:p>
          <a:p>
            <a:pPr marL="507365">
              <a:lnSpc>
                <a:spcPct val="100000"/>
              </a:lnSpc>
              <a:spcBef>
                <a:spcPts val="25"/>
              </a:spcBef>
              <a:tabLst>
                <a:tab pos="4264025" algn="l"/>
              </a:tabLst>
            </a:pPr>
            <a:r>
              <a:rPr dirty="0" sz="2900" spc="-505" i="1">
                <a:latin typeface="Verdana"/>
                <a:cs typeface="Verdana"/>
              </a:rPr>
              <a:t>ф</a:t>
            </a:r>
            <a:r>
              <a:rPr dirty="0" sz="2800" spc="-505" i="1">
                <a:latin typeface="Arial"/>
                <a:cs typeface="Arial"/>
              </a:rPr>
              <a:t>(</a:t>
            </a:r>
            <a:r>
              <a:rPr dirty="0" sz="2800" i="1">
                <a:latin typeface="Arial"/>
                <a:cs typeface="Arial"/>
              </a:rPr>
              <a:t> x</a:t>
            </a:r>
            <a:r>
              <a:rPr dirty="0" sz="2800" spc="-2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)</a:t>
            </a:r>
            <a:r>
              <a:rPr dirty="0" sz="2800" spc="-1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=</a:t>
            </a:r>
            <a:r>
              <a:rPr dirty="0" sz="2800" spc="-1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1</a:t>
            </a:r>
            <a:r>
              <a:rPr dirty="0" sz="2800" spc="-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/</a:t>
            </a:r>
            <a:r>
              <a:rPr dirty="0" sz="2800" spc="-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(</a:t>
            </a:r>
            <a:r>
              <a:rPr dirty="0" sz="2800" spc="-1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x</a:t>
            </a:r>
            <a:r>
              <a:rPr dirty="0" baseline="21604" sz="2700" i="1">
                <a:latin typeface="Arial"/>
                <a:cs typeface="Arial"/>
              </a:rPr>
              <a:t>2</a:t>
            </a:r>
            <a:r>
              <a:rPr dirty="0" baseline="21604" sz="2700" spc="39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+</a:t>
            </a:r>
            <a:r>
              <a:rPr dirty="0" sz="2800" spc="-1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d</a:t>
            </a:r>
            <a:r>
              <a:rPr dirty="0" baseline="21604" sz="2700" i="1">
                <a:latin typeface="Arial"/>
                <a:cs typeface="Arial"/>
              </a:rPr>
              <a:t>2</a:t>
            </a:r>
            <a:r>
              <a:rPr dirty="0" baseline="21604" sz="2700" spc="397" i="1">
                <a:latin typeface="Arial"/>
                <a:cs typeface="Arial"/>
              </a:rPr>
              <a:t> </a:t>
            </a:r>
            <a:r>
              <a:rPr dirty="0" sz="2800" spc="-20" i="1">
                <a:latin typeface="Arial"/>
                <a:cs typeface="Arial"/>
              </a:rPr>
              <a:t>)</a:t>
            </a:r>
            <a:r>
              <a:rPr dirty="0" baseline="21604" sz="2700" spc="-30" i="1">
                <a:latin typeface="Arial"/>
                <a:cs typeface="Arial"/>
              </a:rPr>
              <a:t>1/2</a:t>
            </a:r>
            <a:r>
              <a:rPr dirty="0" baseline="21604" sz="2700" i="1">
                <a:latin typeface="Arial"/>
                <a:cs typeface="Arial"/>
              </a:rPr>
              <a:t>	</a:t>
            </a:r>
            <a:r>
              <a:rPr dirty="0" sz="2800" spc="-40">
                <a:latin typeface="Tahoma"/>
                <a:cs typeface="Tahoma"/>
              </a:rPr>
              <a:t>for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50">
                <a:latin typeface="Tahoma"/>
                <a:cs typeface="Tahoma"/>
              </a:rPr>
              <a:t>some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d&gt;0</a:t>
            </a:r>
            <a:endParaRPr sz="2800">
              <a:latin typeface="Tahoma"/>
              <a:cs typeface="Tahoma"/>
            </a:endParaRPr>
          </a:p>
          <a:p>
            <a:pPr marL="335915" indent="-285115">
              <a:lnSpc>
                <a:spcPct val="100000"/>
              </a:lnSpc>
              <a:spcBef>
                <a:spcPts val="3200"/>
              </a:spcBef>
              <a:buClr>
                <a:srgbClr val="FF0000"/>
              </a:buClr>
              <a:buSzPct val="53571"/>
              <a:buFont typeface="Tahoma"/>
              <a:buChar char="-"/>
              <a:tabLst>
                <a:tab pos="335915" algn="l"/>
              </a:tabLst>
            </a:pPr>
            <a:r>
              <a:rPr dirty="0" sz="2800" spc="-10" b="1" i="1">
                <a:latin typeface="Arial"/>
                <a:cs typeface="Arial"/>
              </a:rPr>
              <a:t>Gaussian</a:t>
            </a:r>
            <a:r>
              <a:rPr dirty="0" sz="2800" spc="-10" b="1">
                <a:latin typeface="Tahoma"/>
                <a:cs typeface="Tahoma"/>
              </a:rPr>
              <a:t>:</a:t>
            </a:r>
            <a:endParaRPr sz="2800">
              <a:latin typeface="Tahoma"/>
              <a:cs typeface="Tahoma"/>
            </a:endParaRPr>
          </a:p>
          <a:p>
            <a:pPr marL="435609">
              <a:lnSpc>
                <a:spcPct val="100000"/>
              </a:lnSpc>
              <a:spcBef>
                <a:spcPts val="25"/>
              </a:spcBef>
              <a:tabLst>
                <a:tab pos="4164965" algn="l"/>
              </a:tabLst>
            </a:pPr>
            <a:r>
              <a:rPr dirty="0" sz="2900" spc="-505" i="1">
                <a:latin typeface="Verdana"/>
                <a:cs typeface="Verdana"/>
              </a:rPr>
              <a:t>ф</a:t>
            </a:r>
            <a:r>
              <a:rPr dirty="0" sz="2800" spc="-505" i="1">
                <a:latin typeface="Arial"/>
                <a:cs typeface="Arial"/>
              </a:rPr>
              <a:t>(</a:t>
            </a:r>
            <a:r>
              <a:rPr dirty="0" sz="2800" i="1">
                <a:latin typeface="Arial"/>
                <a:cs typeface="Arial"/>
              </a:rPr>
              <a:t> x</a:t>
            </a:r>
            <a:r>
              <a:rPr dirty="0" sz="2800" spc="-6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)</a:t>
            </a:r>
            <a:r>
              <a:rPr dirty="0" sz="2800" spc="-3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=</a:t>
            </a:r>
            <a:r>
              <a:rPr dirty="0" sz="2800" spc="-2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exp(</a:t>
            </a:r>
            <a:r>
              <a:rPr dirty="0" sz="2800" spc="-3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-</a:t>
            </a:r>
            <a:r>
              <a:rPr dirty="0" sz="2800" spc="-3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x</a:t>
            </a:r>
            <a:r>
              <a:rPr dirty="0" baseline="21604" sz="2700" i="1">
                <a:latin typeface="Arial"/>
                <a:cs typeface="Arial"/>
              </a:rPr>
              <a:t>2</a:t>
            </a:r>
            <a:r>
              <a:rPr dirty="0" baseline="21604" sz="2700" spc="359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/</a:t>
            </a:r>
            <a:r>
              <a:rPr dirty="0" sz="2800" spc="-2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2</a:t>
            </a:r>
            <a:r>
              <a:rPr dirty="0" sz="2900" i="1">
                <a:latin typeface="Verdana"/>
                <a:cs typeface="Verdana"/>
              </a:rPr>
              <a:t>σ</a:t>
            </a:r>
            <a:r>
              <a:rPr dirty="0" baseline="21604" sz="2700" i="1">
                <a:latin typeface="Arial"/>
                <a:cs typeface="Arial"/>
              </a:rPr>
              <a:t>2</a:t>
            </a:r>
            <a:r>
              <a:rPr dirty="0" baseline="21604" sz="2700" spc="359" i="1">
                <a:latin typeface="Arial"/>
                <a:cs typeface="Arial"/>
              </a:rPr>
              <a:t> </a:t>
            </a:r>
            <a:r>
              <a:rPr dirty="0" sz="2800" spc="-50" i="1">
                <a:latin typeface="Arial"/>
                <a:cs typeface="Arial"/>
              </a:rPr>
              <a:t>)</a:t>
            </a:r>
            <a:r>
              <a:rPr dirty="0" sz="2800" i="1">
                <a:latin typeface="Arial"/>
                <a:cs typeface="Arial"/>
              </a:rPr>
              <a:t>	</a:t>
            </a:r>
            <a:r>
              <a:rPr dirty="0" sz="2800" spc="-40">
                <a:latin typeface="Tahoma"/>
                <a:cs typeface="Tahoma"/>
              </a:rPr>
              <a:t>for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50">
                <a:latin typeface="Tahoma"/>
                <a:cs typeface="Tahoma"/>
              </a:rPr>
              <a:t>some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900" spc="-25" i="1">
                <a:latin typeface="Verdana"/>
                <a:cs typeface="Verdana"/>
              </a:rPr>
              <a:t>σ</a:t>
            </a:r>
            <a:r>
              <a:rPr dirty="0" sz="2800" spc="-25">
                <a:latin typeface="Tahoma"/>
                <a:cs typeface="Tahoma"/>
              </a:rPr>
              <a:t>&gt;0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2340" rIns="0" bIns="0" rtlCol="0" vert="horz">
            <a:spAutoFit/>
          </a:bodyPr>
          <a:lstStyle/>
          <a:p>
            <a:pPr marL="117856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Radial-</a:t>
            </a:r>
            <a:r>
              <a:rPr dirty="0"/>
              <a:t>Basis</a:t>
            </a:r>
            <a:r>
              <a:rPr dirty="0" spc="-65"/>
              <a:t> </a:t>
            </a:r>
            <a:r>
              <a:rPr dirty="0" spc="-10"/>
              <a:t>Functions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8745855" y="6427787"/>
            <a:ext cx="12318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ahoma"/>
                <a:cs typeface="Tahoma"/>
              </a:rPr>
              <a:t>5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5839" y="2533637"/>
            <a:ext cx="1563928" cy="456501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6357391" y="1834807"/>
            <a:ext cx="2632075" cy="1706245"/>
            <a:chOff x="6357391" y="1834807"/>
            <a:chExt cx="2632075" cy="1706245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4845" y="1892566"/>
              <a:ext cx="716994" cy="25082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53396" y="1850783"/>
              <a:ext cx="379999" cy="29795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57391" y="1834807"/>
              <a:ext cx="2631833" cy="1705622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5285562" y="3716058"/>
            <a:ext cx="3858895" cy="1374775"/>
            <a:chOff x="5285562" y="3716058"/>
            <a:chExt cx="3858895" cy="1374775"/>
          </a:xfrm>
        </p:grpSpPr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85562" y="3732682"/>
              <a:ext cx="3858437" cy="1358023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61934" y="3716058"/>
              <a:ext cx="932472" cy="301015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4174439" y="6089775"/>
            <a:ext cx="1853564" cy="721995"/>
            <a:chOff x="4174439" y="6089775"/>
            <a:chExt cx="1853564" cy="721995"/>
          </a:xfrm>
        </p:grpSpPr>
        <p:sp>
          <p:nvSpPr>
            <p:cNvPr id="17" name="object 17" descr=""/>
            <p:cNvSpPr/>
            <p:nvPr/>
          </p:nvSpPr>
          <p:spPr>
            <a:xfrm>
              <a:off x="4188853" y="6353047"/>
              <a:ext cx="11430" cy="33020"/>
            </a:xfrm>
            <a:custGeom>
              <a:avLst/>
              <a:gdLst/>
              <a:ahLst/>
              <a:cxnLst/>
              <a:rect l="l" t="t" r="r" b="b"/>
              <a:pathLst>
                <a:path w="11429" h="33020">
                  <a:moveTo>
                    <a:pt x="8145" y="0"/>
                  </a:moveTo>
                  <a:lnTo>
                    <a:pt x="4292" y="0"/>
                  </a:lnTo>
                  <a:lnTo>
                    <a:pt x="2895" y="1327"/>
                  </a:lnTo>
                  <a:lnTo>
                    <a:pt x="0" y="29716"/>
                  </a:lnTo>
                  <a:lnTo>
                    <a:pt x="2133" y="32329"/>
                  </a:lnTo>
                  <a:lnTo>
                    <a:pt x="7975" y="32924"/>
                  </a:lnTo>
                  <a:lnTo>
                    <a:pt x="10591" y="30797"/>
                  </a:lnTo>
                  <a:lnTo>
                    <a:pt x="10883" y="27873"/>
                  </a:lnTo>
                  <a:lnTo>
                    <a:pt x="10909" y="27058"/>
                  </a:lnTo>
                  <a:lnTo>
                    <a:pt x="9677" y="3210"/>
                  </a:lnTo>
                  <a:lnTo>
                    <a:pt x="9577" y="1327"/>
                  </a:lnTo>
                  <a:lnTo>
                    <a:pt x="81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97003" y="6089775"/>
              <a:ext cx="444808" cy="34007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62930" y="6218509"/>
              <a:ext cx="117896" cy="144035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74439" y="6109576"/>
              <a:ext cx="1853514" cy="702098"/>
            </a:xfrm>
            <a:prstGeom prst="rect">
              <a:avLst/>
            </a:prstGeom>
          </p:spPr>
        </p:pic>
      </p:grpSp>
      <p:pic>
        <p:nvPicPr>
          <p:cNvPr id="21" name="object 2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62245" y="6091830"/>
            <a:ext cx="1030753" cy="685076"/>
          </a:xfrm>
          <a:prstGeom prst="rect">
            <a:avLst/>
          </a:prstGeom>
        </p:spPr>
      </p:pic>
      <p:sp>
        <p:nvSpPr>
          <p:cNvPr id="22" name="object 22" descr=""/>
          <p:cNvSpPr/>
          <p:nvPr/>
        </p:nvSpPr>
        <p:spPr>
          <a:xfrm>
            <a:off x="6199594" y="6339079"/>
            <a:ext cx="20955" cy="19685"/>
          </a:xfrm>
          <a:custGeom>
            <a:avLst/>
            <a:gdLst/>
            <a:ahLst/>
            <a:cxnLst/>
            <a:rect l="l" t="t" r="r" b="b"/>
            <a:pathLst>
              <a:path w="20954" h="19685">
                <a:moveTo>
                  <a:pt x="18072" y="0"/>
                </a:moveTo>
                <a:lnTo>
                  <a:pt x="15963" y="0"/>
                </a:lnTo>
                <a:lnTo>
                  <a:pt x="203" y="13394"/>
                </a:lnTo>
                <a:lnTo>
                  <a:pt x="0" y="15845"/>
                </a:lnTo>
                <a:lnTo>
                  <a:pt x="2781" y="19114"/>
                </a:lnTo>
                <a:lnTo>
                  <a:pt x="5232" y="19312"/>
                </a:lnTo>
                <a:lnTo>
                  <a:pt x="7048" y="17757"/>
                </a:lnTo>
                <a:lnTo>
                  <a:pt x="20548" y="4711"/>
                </a:lnTo>
                <a:lnTo>
                  <a:pt x="20586" y="2595"/>
                </a:lnTo>
                <a:lnTo>
                  <a:pt x="180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 descr=""/>
          <p:cNvGrpSpPr/>
          <p:nvPr/>
        </p:nvGrpSpPr>
        <p:grpSpPr>
          <a:xfrm>
            <a:off x="1962174" y="6106600"/>
            <a:ext cx="2147570" cy="697230"/>
            <a:chOff x="1962174" y="6106600"/>
            <a:chExt cx="2147570" cy="697230"/>
          </a:xfrm>
        </p:grpSpPr>
        <p:pic>
          <p:nvPicPr>
            <p:cNvPr id="24" name="object 2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62174" y="6106600"/>
              <a:ext cx="2147416" cy="697109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25726" y="6508723"/>
              <a:ext cx="173450" cy="220979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83443" y="6519962"/>
              <a:ext cx="661957" cy="254000"/>
            </a:xfrm>
            <a:prstGeom prst="rect">
              <a:avLst/>
            </a:prstGeom>
          </p:spPr>
        </p:pic>
      </p:grpSp>
      <p:pic>
        <p:nvPicPr>
          <p:cNvPr id="27" name="object 2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273927" y="6054326"/>
            <a:ext cx="2140133" cy="3474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9320" rIns="0" bIns="0" rtlCol="0" vert="horz">
            <a:spAutoFit/>
          </a:bodyPr>
          <a:lstStyle/>
          <a:p>
            <a:pPr marL="962025">
              <a:lnSpc>
                <a:spcPct val="100000"/>
              </a:lnSpc>
              <a:spcBef>
                <a:spcPts val="95"/>
              </a:spcBef>
            </a:pPr>
            <a:r>
              <a:rPr dirty="0"/>
              <a:t>Gaussian</a:t>
            </a:r>
            <a:r>
              <a:rPr dirty="0" spc="-160"/>
              <a:t> </a:t>
            </a:r>
            <a:r>
              <a:rPr dirty="0" spc="-10"/>
              <a:t>Function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411546" y="5477162"/>
            <a:ext cx="3225800" cy="1202690"/>
            <a:chOff x="5411546" y="5477162"/>
            <a:chExt cx="3225800" cy="120269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98975" y="5477162"/>
              <a:ext cx="2898897" cy="72476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1546" y="6058105"/>
              <a:ext cx="334093" cy="23173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5818035" y="6153696"/>
              <a:ext cx="13335" cy="84455"/>
            </a:xfrm>
            <a:custGeom>
              <a:avLst/>
              <a:gdLst/>
              <a:ahLst/>
              <a:cxnLst/>
              <a:rect l="l" t="t" r="r" b="b"/>
              <a:pathLst>
                <a:path w="13335" h="84454">
                  <a:moveTo>
                    <a:pt x="12115" y="80924"/>
                  </a:moveTo>
                  <a:lnTo>
                    <a:pt x="11861" y="78016"/>
                  </a:lnTo>
                  <a:lnTo>
                    <a:pt x="11823" y="77558"/>
                  </a:lnTo>
                  <a:lnTo>
                    <a:pt x="11734" y="77114"/>
                  </a:lnTo>
                  <a:lnTo>
                    <a:pt x="6311" y="61937"/>
                  </a:lnTo>
                  <a:lnTo>
                    <a:pt x="6235" y="61709"/>
                  </a:lnTo>
                  <a:lnTo>
                    <a:pt x="4241" y="60769"/>
                  </a:lnTo>
                  <a:lnTo>
                    <a:pt x="939" y="61937"/>
                  </a:lnTo>
                  <a:lnTo>
                    <a:pt x="0" y="63411"/>
                  </a:lnTo>
                  <a:lnTo>
                    <a:pt x="1473" y="80924"/>
                  </a:lnTo>
                  <a:lnTo>
                    <a:pt x="1562" y="81826"/>
                  </a:lnTo>
                  <a:lnTo>
                    <a:pt x="4127" y="83985"/>
                  </a:lnTo>
                  <a:lnTo>
                    <a:pt x="9956" y="83489"/>
                  </a:lnTo>
                  <a:lnTo>
                    <a:pt x="12115" y="80924"/>
                  </a:lnTo>
                  <a:close/>
                </a:path>
                <a:path w="13335" h="84454">
                  <a:moveTo>
                    <a:pt x="12738" y="5308"/>
                  </a:moveTo>
                  <a:lnTo>
                    <a:pt x="12509" y="2997"/>
                  </a:lnTo>
                  <a:lnTo>
                    <a:pt x="12420" y="2247"/>
                  </a:lnTo>
                  <a:lnTo>
                    <a:pt x="7937" y="0"/>
                  </a:lnTo>
                  <a:lnTo>
                    <a:pt x="5854" y="685"/>
                  </a:lnTo>
                  <a:lnTo>
                    <a:pt x="2489" y="2997"/>
                  </a:lnTo>
                  <a:lnTo>
                    <a:pt x="2070" y="5308"/>
                  </a:lnTo>
                  <a:lnTo>
                    <a:pt x="3733" y="7734"/>
                  </a:lnTo>
                  <a:lnTo>
                    <a:pt x="4483" y="8267"/>
                  </a:lnTo>
                  <a:lnTo>
                    <a:pt x="5359" y="8509"/>
                  </a:lnTo>
                  <a:lnTo>
                    <a:pt x="6731" y="10083"/>
                  </a:lnTo>
                  <a:lnTo>
                    <a:pt x="9144" y="10248"/>
                  </a:lnTo>
                  <a:lnTo>
                    <a:pt x="11137" y="8509"/>
                  </a:lnTo>
                  <a:lnTo>
                    <a:pt x="11468" y="8077"/>
                  </a:lnTo>
                  <a:lnTo>
                    <a:pt x="12738" y="53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7916" y="6012163"/>
              <a:ext cx="3209277" cy="667075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5894832" y="4869179"/>
            <a:ext cx="2478405" cy="375285"/>
            <a:chOff x="5894832" y="4869179"/>
            <a:chExt cx="2478405" cy="375285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12180" y="4869179"/>
              <a:ext cx="2360676" cy="199312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5894832" y="4873751"/>
              <a:ext cx="2426335" cy="370840"/>
            </a:xfrm>
            <a:custGeom>
              <a:avLst/>
              <a:gdLst/>
              <a:ahLst/>
              <a:cxnLst/>
              <a:rect l="l" t="t" r="r" b="b"/>
              <a:pathLst>
                <a:path w="2426334" h="370839">
                  <a:moveTo>
                    <a:pt x="2426208" y="0"/>
                  </a:moveTo>
                  <a:lnTo>
                    <a:pt x="0" y="0"/>
                  </a:lnTo>
                  <a:lnTo>
                    <a:pt x="0" y="370332"/>
                  </a:lnTo>
                  <a:lnTo>
                    <a:pt x="2426208" y="370332"/>
                  </a:lnTo>
                  <a:lnTo>
                    <a:pt x="24262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474027" y="2078354"/>
            <a:ext cx="42265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55">
                <a:latin typeface="Tahoma"/>
                <a:cs typeface="Tahoma"/>
              </a:rPr>
              <a:t>A</a:t>
            </a:r>
            <a:r>
              <a:rPr dirty="0" sz="2400" spc="-220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Gaussian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 spc="204">
                <a:latin typeface="Tahoma"/>
                <a:cs typeface="Tahoma"/>
              </a:rPr>
              <a:t>RBF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monotonically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74027" y="2444115"/>
            <a:ext cx="456501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84455">
              <a:lnSpc>
                <a:spcPct val="100000"/>
              </a:lnSpc>
              <a:spcBef>
                <a:spcPts val="100"/>
              </a:spcBef>
            </a:pPr>
            <a:r>
              <a:rPr dirty="0" sz="2400" spc="55">
                <a:latin typeface="Tahoma"/>
                <a:cs typeface="Tahoma"/>
              </a:rPr>
              <a:t>decreases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-55">
                <a:latin typeface="Tahoma"/>
                <a:cs typeface="Tahoma"/>
              </a:rPr>
              <a:t>with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distance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from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center.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Gaussian-</a:t>
            </a:r>
            <a:r>
              <a:rPr dirty="0" sz="2400" spc="-85">
                <a:latin typeface="Tahoma"/>
                <a:cs typeface="Tahoma"/>
              </a:rPr>
              <a:t>-</a:t>
            </a:r>
            <a:r>
              <a:rPr dirty="0" sz="2400">
                <a:latin typeface="Tahoma"/>
                <a:cs typeface="Tahoma"/>
              </a:rPr>
              <a:t>like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 spc="185">
                <a:latin typeface="Tahoma"/>
                <a:cs typeface="Tahoma"/>
              </a:rPr>
              <a:t>RBFs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are </a:t>
            </a:r>
            <a:r>
              <a:rPr dirty="0" sz="2400">
                <a:latin typeface="Tahoma"/>
                <a:cs typeface="Tahoma"/>
              </a:rPr>
              <a:t>local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(give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a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significant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response </a:t>
            </a:r>
            <a:r>
              <a:rPr dirty="0" sz="2400">
                <a:latin typeface="Tahoma"/>
                <a:cs typeface="Tahoma"/>
              </a:rPr>
              <a:t>only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a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neighborhood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near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 spc="-10">
                <a:latin typeface="Tahoma"/>
                <a:cs typeface="Tahoma"/>
              </a:rPr>
              <a:t>center)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more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commonly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74027" y="4272915"/>
            <a:ext cx="7715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used.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74027" y="5004434"/>
            <a:ext cx="448246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They are also more </a:t>
            </a:r>
            <a:r>
              <a:rPr dirty="0" sz="2400" spc="-10">
                <a:latin typeface="Tahoma"/>
                <a:cs typeface="Tahoma"/>
              </a:rPr>
              <a:t>biologically </a:t>
            </a:r>
            <a:r>
              <a:rPr dirty="0" sz="2400">
                <a:latin typeface="Tahoma"/>
                <a:cs typeface="Tahoma"/>
              </a:rPr>
              <a:t>plausible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because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their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response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74027" y="5735954"/>
            <a:ext cx="10591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10">
                <a:latin typeface="Tahoma"/>
                <a:cs typeface="Tahoma"/>
              </a:rPr>
              <a:t> </a:t>
            </a:r>
            <a:r>
              <a:rPr dirty="0" sz="2400" spc="-35">
                <a:latin typeface="Tahoma"/>
                <a:cs typeface="Tahoma"/>
              </a:rPr>
              <a:t>finite.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456123" y="2141029"/>
            <a:ext cx="3266440" cy="2570480"/>
            <a:chOff x="5456123" y="2141029"/>
            <a:chExt cx="3266440" cy="2570480"/>
          </a:xfrm>
        </p:grpSpPr>
        <p:sp>
          <p:nvSpPr>
            <p:cNvPr id="17" name="object 17" descr=""/>
            <p:cNvSpPr/>
            <p:nvPr/>
          </p:nvSpPr>
          <p:spPr>
            <a:xfrm>
              <a:off x="5459869" y="2144776"/>
              <a:ext cx="3259454" cy="0"/>
            </a:xfrm>
            <a:custGeom>
              <a:avLst/>
              <a:gdLst/>
              <a:ahLst/>
              <a:cxnLst/>
              <a:rect l="l" t="t" r="r" b="b"/>
              <a:pathLst>
                <a:path w="3259454" h="0">
                  <a:moveTo>
                    <a:pt x="0" y="0"/>
                  </a:moveTo>
                  <a:lnTo>
                    <a:pt x="32588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714968" y="2141029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459869" y="4707382"/>
              <a:ext cx="3259454" cy="0"/>
            </a:xfrm>
            <a:custGeom>
              <a:avLst/>
              <a:gdLst/>
              <a:ahLst/>
              <a:cxnLst/>
              <a:rect l="l" t="t" r="r" b="b"/>
              <a:pathLst>
                <a:path w="3259454" h="0">
                  <a:moveTo>
                    <a:pt x="0" y="0"/>
                  </a:moveTo>
                  <a:lnTo>
                    <a:pt x="32588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714968" y="4703635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718727" y="2144776"/>
              <a:ext cx="0" cy="2562860"/>
            </a:xfrm>
            <a:custGeom>
              <a:avLst/>
              <a:gdLst/>
              <a:ahLst/>
              <a:cxnLst/>
              <a:rect l="l" t="t" r="r" b="b"/>
              <a:pathLst>
                <a:path w="0" h="2562860">
                  <a:moveTo>
                    <a:pt x="0" y="25626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714968" y="2141029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459869" y="2144776"/>
              <a:ext cx="0" cy="2562860"/>
            </a:xfrm>
            <a:custGeom>
              <a:avLst/>
              <a:gdLst/>
              <a:ahLst/>
              <a:cxnLst/>
              <a:rect l="l" t="t" r="r" b="b"/>
              <a:pathLst>
                <a:path w="0" h="2562860">
                  <a:moveTo>
                    <a:pt x="0" y="25626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456123" y="2141029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459869" y="4707382"/>
              <a:ext cx="3259454" cy="0"/>
            </a:xfrm>
            <a:custGeom>
              <a:avLst/>
              <a:gdLst/>
              <a:ahLst/>
              <a:cxnLst/>
              <a:rect l="l" t="t" r="r" b="b"/>
              <a:pathLst>
                <a:path w="3259454" h="0">
                  <a:moveTo>
                    <a:pt x="0" y="0"/>
                  </a:moveTo>
                  <a:lnTo>
                    <a:pt x="32588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714968" y="4703635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459869" y="2144776"/>
              <a:ext cx="0" cy="2562860"/>
            </a:xfrm>
            <a:custGeom>
              <a:avLst/>
              <a:gdLst/>
              <a:ahLst/>
              <a:cxnLst/>
              <a:rect l="l" t="t" r="r" b="b"/>
              <a:pathLst>
                <a:path w="0" h="2562860">
                  <a:moveTo>
                    <a:pt x="0" y="25626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456123" y="2141029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459869" y="4669917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4">
                  <a:moveTo>
                    <a:pt x="0" y="374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456123" y="4666170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459869" y="2144776"/>
              <a:ext cx="0" cy="30480"/>
            </a:xfrm>
            <a:custGeom>
              <a:avLst/>
              <a:gdLst/>
              <a:ahLst/>
              <a:cxnLst/>
              <a:rect l="l" t="t" r="r" b="b"/>
              <a:pathLst>
                <a:path w="0" h="30480">
                  <a:moveTo>
                    <a:pt x="0" y="0"/>
                  </a:moveTo>
                  <a:lnTo>
                    <a:pt x="0" y="299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456123" y="2171001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782754" y="4669917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4">
                  <a:moveTo>
                    <a:pt x="0" y="374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778995" y="4666170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782754" y="2144776"/>
              <a:ext cx="0" cy="30480"/>
            </a:xfrm>
            <a:custGeom>
              <a:avLst/>
              <a:gdLst/>
              <a:ahLst/>
              <a:cxnLst/>
              <a:rect l="l" t="t" r="r" b="b"/>
              <a:pathLst>
                <a:path w="0" h="30480">
                  <a:moveTo>
                    <a:pt x="0" y="0"/>
                  </a:moveTo>
                  <a:lnTo>
                    <a:pt x="0" y="299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778995" y="2171001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105639" y="4669917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4">
                  <a:moveTo>
                    <a:pt x="0" y="374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101880" y="4666170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105639" y="2144776"/>
              <a:ext cx="0" cy="30480"/>
            </a:xfrm>
            <a:custGeom>
              <a:avLst/>
              <a:gdLst/>
              <a:ahLst/>
              <a:cxnLst/>
              <a:rect l="l" t="t" r="r" b="b"/>
              <a:pathLst>
                <a:path w="0" h="30480">
                  <a:moveTo>
                    <a:pt x="0" y="0"/>
                  </a:moveTo>
                  <a:lnTo>
                    <a:pt x="0" y="299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101880" y="2171001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436029" y="4669917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4">
                  <a:moveTo>
                    <a:pt x="0" y="374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432270" y="4666170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436029" y="2144776"/>
              <a:ext cx="0" cy="30480"/>
            </a:xfrm>
            <a:custGeom>
              <a:avLst/>
              <a:gdLst/>
              <a:ahLst/>
              <a:cxnLst/>
              <a:rect l="l" t="t" r="r" b="b"/>
              <a:pathLst>
                <a:path w="0" h="30480">
                  <a:moveTo>
                    <a:pt x="0" y="0"/>
                  </a:moveTo>
                  <a:lnTo>
                    <a:pt x="0" y="299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432270" y="2171001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758914" y="4669917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4">
                  <a:moveTo>
                    <a:pt x="0" y="374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755155" y="4666170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758914" y="2144776"/>
              <a:ext cx="0" cy="30480"/>
            </a:xfrm>
            <a:custGeom>
              <a:avLst/>
              <a:gdLst/>
              <a:ahLst/>
              <a:cxnLst/>
              <a:rect l="l" t="t" r="r" b="b"/>
              <a:pathLst>
                <a:path w="0" h="30480">
                  <a:moveTo>
                    <a:pt x="0" y="0"/>
                  </a:moveTo>
                  <a:lnTo>
                    <a:pt x="0" y="299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755155" y="2171001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089305" y="4669917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4">
                  <a:moveTo>
                    <a:pt x="0" y="374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085545" y="4666170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7089305" y="2144776"/>
              <a:ext cx="0" cy="30480"/>
            </a:xfrm>
            <a:custGeom>
              <a:avLst/>
              <a:gdLst/>
              <a:ahLst/>
              <a:cxnLst/>
              <a:rect l="l" t="t" r="r" b="b"/>
              <a:pathLst>
                <a:path w="0" h="30480">
                  <a:moveTo>
                    <a:pt x="0" y="0"/>
                  </a:moveTo>
                  <a:lnTo>
                    <a:pt x="0" y="299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7085545" y="2171001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7412177" y="4669917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4">
                  <a:moveTo>
                    <a:pt x="0" y="374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7408430" y="4666170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412177" y="2144776"/>
              <a:ext cx="0" cy="30480"/>
            </a:xfrm>
            <a:custGeom>
              <a:avLst/>
              <a:gdLst/>
              <a:ahLst/>
              <a:cxnLst/>
              <a:rect l="l" t="t" r="r" b="b"/>
              <a:pathLst>
                <a:path w="0" h="30480">
                  <a:moveTo>
                    <a:pt x="0" y="0"/>
                  </a:moveTo>
                  <a:lnTo>
                    <a:pt x="0" y="299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7408430" y="2171001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735061" y="4669917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4">
                  <a:moveTo>
                    <a:pt x="0" y="374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731302" y="4666170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7735061" y="2144776"/>
              <a:ext cx="0" cy="30480"/>
            </a:xfrm>
            <a:custGeom>
              <a:avLst/>
              <a:gdLst/>
              <a:ahLst/>
              <a:cxnLst/>
              <a:rect l="l" t="t" r="r" b="b"/>
              <a:pathLst>
                <a:path w="0" h="30480">
                  <a:moveTo>
                    <a:pt x="0" y="0"/>
                  </a:moveTo>
                  <a:lnTo>
                    <a:pt x="0" y="299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7731302" y="2171001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8065452" y="4669917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4">
                  <a:moveTo>
                    <a:pt x="0" y="374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8061693" y="4666170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8065452" y="2144776"/>
              <a:ext cx="0" cy="30480"/>
            </a:xfrm>
            <a:custGeom>
              <a:avLst/>
              <a:gdLst/>
              <a:ahLst/>
              <a:cxnLst/>
              <a:rect l="l" t="t" r="r" b="b"/>
              <a:pathLst>
                <a:path w="0" h="30480">
                  <a:moveTo>
                    <a:pt x="0" y="0"/>
                  </a:moveTo>
                  <a:lnTo>
                    <a:pt x="0" y="299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8061693" y="2171001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8388337" y="4669917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4">
                  <a:moveTo>
                    <a:pt x="0" y="374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8384578" y="4666170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8388337" y="2144776"/>
              <a:ext cx="0" cy="30480"/>
            </a:xfrm>
            <a:custGeom>
              <a:avLst/>
              <a:gdLst/>
              <a:ahLst/>
              <a:cxnLst/>
              <a:rect l="l" t="t" r="r" b="b"/>
              <a:pathLst>
                <a:path w="0" h="30480">
                  <a:moveTo>
                    <a:pt x="0" y="0"/>
                  </a:moveTo>
                  <a:lnTo>
                    <a:pt x="0" y="299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8384578" y="2171001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8718727" y="4669917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4">
                  <a:moveTo>
                    <a:pt x="0" y="374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8714968" y="4666170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8718727" y="2144776"/>
              <a:ext cx="0" cy="30480"/>
            </a:xfrm>
            <a:custGeom>
              <a:avLst/>
              <a:gdLst/>
              <a:ahLst/>
              <a:cxnLst/>
              <a:rect l="l" t="t" r="r" b="b"/>
              <a:pathLst>
                <a:path w="0" h="30480">
                  <a:moveTo>
                    <a:pt x="0" y="0"/>
                  </a:moveTo>
                  <a:lnTo>
                    <a:pt x="0" y="299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8714968" y="2171001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5459869" y="4707382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 h="0">
                  <a:moveTo>
                    <a:pt x="0" y="0"/>
                  </a:moveTo>
                  <a:lnTo>
                    <a:pt x="300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5486158" y="4703635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8681173" y="4707382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3755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8677427" y="4703635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5459869" y="4445127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 h="0">
                  <a:moveTo>
                    <a:pt x="0" y="0"/>
                  </a:moveTo>
                  <a:lnTo>
                    <a:pt x="300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5486158" y="4441380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2"/>
                  </a:lnTo>
                  <a:lnTo>
                    <a:pt x="7505" y="7492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8681173" y="4445127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3755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8677427" y="4441380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2"/>
                  </a:lnTo>
                  <a:lnTo>
                    <a:pt x="7505" y="7492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5459869" y="4190365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 h="0">
                  <a:moveTo>
                    <a:pt x="0" y="0"/>
                  </a:moveTo>
                  <a:lnTo>
                    <a:pt x="300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5486158" y="4186618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8681173" y="419036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3755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8677427" y="4186618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5459869" y="3935602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 h="0">
                  <a:moveTo>
                    <a:pt x="0" y="0"/>
                  </a:moveTo>
                  <a:lnTo>
                    <a:pt x="300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5486158" y="3931856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2"/>
                  </a:lnTo>
                  <a:lnTo>
                    <a:pt x="7505" y="7492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8681173" y="3935602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3755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8677427" y="3931856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2"/>
                  </a:lnTo>
                  <a:lnTo>
                    <a:pt x="7505" y="7492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5459869" y="3680841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 h="0">
                  <a:moveTo>
                    <a:pt x="0" y="0"/>
                  </a:moveTo>
                  <a:lnTo>
                    <a:pt x="300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5486158" y="3677094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8681173" y="3680841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3755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8677427" y="3677094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5459869" y="3426079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 h="0">
                  <a:moveTo>
                    <a:pt x="0" y="0"/>
                  </a:moveTo>
                  <a:lnTo>
                    <a:pt x="300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5486158" y="3422332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2"/>
                  </a:lnTo>
                  <a:lnTo>
                    <a:pt x="7505" y="7492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8681173" y="3426079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3755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8677427" y="3422332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2"/>
                  </a:lnTo>
                  <a:lnTo>
                    <a:pt x="7505" y="7492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5459869" y="3163824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 h="0">
                  <a:moveTo>
                    <a:pt x="0" y="0"/>
                  </a:moveTo>
                  <a:lnTo>
                    <a:pt x="300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5486158" y="3160077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8681173" y="3163824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3755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8677427" y="3160077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5459869" y="2909062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 h="0">
                  <a:moveTo>
                    <a:pt x="0" y="0"/>
                  </a:moveTo>
                  <a:lnTo>
                    <a:pt x="300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5486158" y="2905315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8681173" y="2909062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3755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8677427" y="2905315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5459869" y="2654300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 h="0">
                  <a:moveTo>
                    <a:pt x="0" y="0"/>
                  </a:moveTo>
                  <a:lnTo>
                    <a:pt x="300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5486158" y="2650553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8681173" y="2654300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3755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8677427" y="2650553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5459869" y="2399538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 h="0">
                  <a:moveTo>
                    <a:pt x="0" y="0"/>
                  </a:moveTo>
                  <a:lnTo>
                    <a:pt x="300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5486158" y="2395791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8681173" y="239953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3755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8677427" y="2395791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5459869" y="2144776"/>
              <a:ext cx="30480" cy="0"/>
            </a:xfrm>
            <a:custGeom>
              <a:avLst/>
              <a:gdLst/>
              <a:ahLst/>
              <a:cxnLst/>
              <a:rect l="l" t="t" r="r" b="b"/>
              <a:pathLst>
                <a:path w="30479" h="0">
                  <a:moveTo>
                    <a:pt x="0" y="0"/>
                  </a:moveTo>
                  <a:lnTo>
                    <a:pt x="300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5486158" y="2141029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8681173" y="214477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3755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8677427" y="2141029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5459869" y="2144776"/>
              <a:ext cx="3259454" cy="0"/>
            </a:xfrm>
            <a:custGeom>
              <a:avLst/>
              <a:gdLst/>
              <a:ahLst/>
              <a:cxnLst/>
              <a:rect l="l" t="t" r="r" b="b"/>
              <a:pathLst>
                <a:path w="3259454" h="0">
                  <a:moveTo>
                    <a:pt x="0" y="0"/>
                  </a:moveTo>
                  <a:lnTo>
                    <a:pt x="32588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8714968" y="2141029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5459869" y="4707382"/>
              <a:ext cx="3259454" cy="0"/>
            </a:xfrm>
            <a:custGeom>
              <a:avLst/>
              <a:gdLst/>
              <a:ahLst/>
              <a:cxnLst/>
              <a:rect l="l" t="t" r="r" b="b"/>
              <a:pathLst>
                <a:path w="3259454" h="0">
                  <a:moveTo>
                    <a:pt x="0" y="0"/>
                  </a:moveTo>
                  <a:lnTo>
                    <a:pt x="32588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8714968" y="4703635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20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8718727" y="2144776"/>
              <a:ext cx="0" cy="2562860"/>
            </a:xfrm>
            <a:custGeom>
              <a:avLst/>
              <a:gdLst/>
              <a:ahLst/>
              <a:cxnLst/>
              <a:rect l="l" t="t" r="r" b="b"/>
              <a:pathLst>
                <a:path w="0" h="2562860">
                  <a:moveTo>
                    <a:pt x="0" y="25626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8714968" y="2141029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5459869" y="2144776"/>
              <a:ext cx="0" cy="2562860"/>
            </a:xfrm>
            <a:custGeom>
              <a:avLst/>
              <a:gdLst/>
              <a:ahLst/>
              <a:cxnLst/>
              <a:rect l="l" t="t" r="r" b="b"/>
              <a:pathLst>
                <a:path w="0" h="2562860">
                  <a:moveTo>
                    <a:pt x="0" y="25626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5456123" y="2141029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7505" y="0"/>
                  </a:moveTo>
                  <a:lnTo>
                    <a:pt x="0" y="0"/>
                  </a:lnTo>
                  <a:lnTo>
                    <a:pt x="0" y="7493"/>
                  </a:lnTo>
                  <a:lnTo>
                    <a:pt x="7505" y="7493"/>
                  </a:lnTo>
                  <a:lnTo>
                    <a:pt x="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5459869" y="2144776"/>
              <a:ext cx="3259454" cy="2540635"/>
            </a:xfrm>
            <a:custGeom>
              <a:avLst/>
              <a:gdLst/>
              <a:ahLst/>
              <a:cxnLst/>
              <a:rect l="l" t="t" r="r" b="b"/>
              <a:pathLst>
                <a:path w="3259454" h="2540635">
                  <a:moveTo>
                    <a:pt x="0" y="2540127"/>
                  </a:moveTo>
                  <a:lnTo>
                    <a:pt x="0" y="2540127"/>
                  </a:lnTo>
                  <a:lnTo>
                    <a:pt x="37541" y="2540127"/>
                  </a:lnTo>
                  <a:lnTo>
                    <a:pt x="45059" y="2532634"/>
                  </a:lnTo>
                  <a:lnTo>
                    <a:pt x="90106" y="2532634"/>
                  </a:lnTo>
                  <a:lnTo>
                    <a:pt x="97624" y="2525141"/>
                  </a:lnTo>
                  <a:lnTo>
                    <a:pt x="105130" y="2525141"/>
                  </a:lnTo>
                  <a:lnTo>
                    <a:pt x="112636" y="2525141"/>
                  </a:lnTo>
                  <a:lnTo>
                    <a:pt x="120141" y="2525141"/>
                  </a:lnTo>
                  <a:lnTo>
                    <a:pt x="127647" y="2525141"/>
                  </a:lnTo>
                  <a:lnTo>
                    <a:pt x="135166" y="2517648"/>
                  </a:lnTo>
                  <a:lnTo>
                    <a:pt x="142671" y="2517648"/>
                  </a:lnTo>
                  <a:lnTo>
                    <a:pt x="150177" y="2517648"/>
                  </a:lnTo>
                  <a:lnTo>
                    <a:pt x="157695" y="2517648"/>
                  </a:lnTo>
                  <a:lnTo>
                    <a:pt x="165201" y="2510154"/>
                  </a:lnTo>
                  <a:lnTo>
                    <a:pt x="172707" y="2510154"/>
                  </a:lnTo>
                  <a:lnTo>
                    <a:pt x="180212" y="2510154"/>
                  </a:lnTo>
                  <a:lnTo>
                    <a:pt x="187731" y="2510154"/>
                  </a:lnTo>
                  <a:lnTo>
                    <a:pt x="195237" y="2502662"/>
                  </a:lnTo>
                  <a:lnTo>
                    <a:pt x="202742" y="2502662"/>
                  </a:lnTo>
                  <a:lnTo>
                    <a:pt x="210248" y="2502662"/>
                  </a:lnTo>
                  <a:lnTo>
                    <a:pt x="217754" y="2495169"/>
                  </a:lnTo>
                  <a:lnTo>
                    <a:pt x="225272" y="2495169"/>
                  </a:lnTo>
                  <a:lnTo>
                    <a:pt x="232778" y="2495169"/>
                  </a:lnTo>
                  <a:lnTo>
                    <a:pt x="240284" y="2487676"/>
                  </a:lnTo>
                  <a:lnTo>
                    <a:pt x="247789" y="2487676"/>
                  </a:lnTo>
                  <a:lnTo>
                    <a:pt x="255308" y="2480183"/>
                  </a:lnTo>
                  <a:lnTo>
                    <a:pt x="262813" y="2480183"/>
                  </a:lnTo>
                  <a:lnTo>
                    <a:pt x="270319" y="2480183"/>
                  </a:lnTo>
                  <a:lnTo>
                    <a:pt x="277837" y="2472690"/>
                  </a:lnTo>
                  <a:lnTo>
                    <a:pt x="285343" y="2472690"/>
                  </a:lnTo>
                  <a:lnTo>
                    <a:pt x="292849" y="2465197"/>
                  </a:lnTo>
                  <a:lnTo>
                    <a:pt x="300354" y="2465197"/>
                  </a:lnTo>
                  <a:lnTo>
                    <a:pt x="307860" y="2457704"/>
                  </a:lnTo>
                  <a:lnTo>
                    <a:pt x="315379" y="2457704"/>
                  </a:lnTo>
                  <a:lnTo>
                    <a:pt x="322884" y="2457704"/>
                  </a:lnTo>
                  <a:lnTo>
                    <a:pt x="330390" y="2450211"/>
                  </a:lnTo>
                  <a:lnTo>
                    <a:pt x="337896" y="2450211"/>
                  </a:lnTo>
                  <a:lnTo>
                    <a:pt x="345414" y="2442718"/>
                  </a:lnTo>
                  <a:lnTo>
                    <a:pt x="352920" y="2435225"/>
                  </a:lnTo>
                  <a:lnTo>
                    <a:pt x="360425" y="2435225"/>
                  </a:lnTo>
                  <a:lnTo>
                    <a:pt x="367944" y="2427732"/>
                  </a:lnTo>
                  <a:lnTo>
                    <a:pt x="375450" y="2427732"/>
                  </a:lnTo>
                  <a:lnTo>
                    <a:pt x="382955" y="2420239"/>
                  </a:lnTo>
                  <a:lnTo>
                    <a:pt x="390461" y="2412746"/>
                  </a:lnTo>
                  <a:lnTo>
                    <a:pt x="397967" y="2405253"/>
                  </a:lnTo>
                  <a:lnTo>
                    <a:pt x="405485" y="2405253"/>
                  </a:lnTo>
                  <a:lnTo>
                    <a:pt x="412991" y="2397760"/>
                  </a:lnTo>
                  <a:lnTo>
                    <a:pt x="420497" y="2390266"/>
                  </a:lnTo>
                  <a:lnTo>
                    <a:pt x="428002" y="2390266"/>
                  </a:lnTo>
                  <a:lnTo>
                    <a:pt x="435521" y="2382774"/>
                  </a:lnTo>
                  <a:lnTo>
                    <a:pt x="443026" y="2375281"/>
                  </a:lnTo>
                  <a:lnTo>
                    <a:pt x="450532" y="2367788"/>
                  </a:lnTo>
                  <a:lnTo>
                    <a:pt x="458050" y="2360295"/>
                  </a:lnTo>
                  <a:lnTo>
                    <a:pt x="465556" y="2352802"/>
                  </a:lnTo>
                  <a:lnTo>
                    <a:pt x="473062" y="2352802"/>
                  </a:lnTo>
                  <a:lnTo>
                    <a:pt x="480567" y="2345309"/>
                  </a:lnTo>
                  <a:lnTo>
                    <a:pt x="488073" y="2337816"/>
                  </a:lnTo>
                  <a:lnTo>
                    <a:pt x="488073" y="2330323"/>
                  </a:lnTo>
                  <a:lnTo>
                    <a:pt x="495592" y="2322829"/>
                  </a:lnTo>
                  <a:lnTo>
                    <a:pt x="510603" y="2315337"/>
                  </a:lnTo>
                  <a:lnTo>
                    <a:pt x="518109" y="2307844"/>
                  </a:lnTo>
                  <a:lnTo>
                    <a:pt x="533133" y="2292858"/>
                  </a:lnTo>
                  <a:lnTo>
                    <a:pt x="540638" y="2285365"/>
                  </a:lnTo>
                  <a:lnTo>
                    <a:pt x="548157" y="2270379"/>
                  </a:lnTo>
                  <a:lnTo>
                    <a:pt x="555663" y="2262886"/>
                  </a:lnTo>
                  <a:lnTo>
                    <a:pt x="570674" y="2247900"/>
                  </a:lnTo>
                  <a:lnTo>
                    <a:pt x="578192" y="2240407"/>
                  </a:lnTo>
                  <a:lnTo>
                    <a:pt x="585698" y="2217928"/>
                  </a:lnTo>
                  <a:lnTo>
                    <a:pt x="593204" y="2210435"/>
                  </a:lnTo>
                  <a:lnTo>
                    <a:pt x="608215" y="2195449"/>
                  </a:lnTo>
                  <a:lnTo>
                    <a:pt x="623239" y="2172970"/>
                  </a:lnTo>
                  <a:lnTo>
                    <a:pt x="638263" y="2157984"/>
                  </a:lnTo>
                  <a:lnTo>
                    <a:pt x="645769" y="2135504"/>
                  </a:lnTo>
                  <a:lnTo>
                    <a:pt x="660780" y="2113026"/>
                  </a:lnTo>
                  <a:lnTo>
                    <a:pt x="675805" y="2090547"/>
                  </a:lnTo>
                  <a:lnTo>
                    <a:pt x="690816" y="2068068"/>
                  </a:lnTo>
                  <a:lnTo>
                    <a:pt x="698322" y="2045589"/>
                  </a:lnTo>
                  <a:lnTo>
                    <a:pt x="713346" y="2023110"/>
                  </a:lnTo>
                  <a:lnTo>
                    <a:pt x="728370" y="2000631"/>
                  </a:lnTo>
                  <a:lnTo>
                    <a:pt x="735876" y="1978152"/>
                  </a:lnTo>
                  <a:lnTo>
                    <a:pt x="750887" y="1948179"/>
                  </a:lnTo>
                  <a:lnTo>
                    <a:pt x="765911" y="1925701"/>
                  </a:lnTo>
                  <a:lnTo>
                    <a:pt x="780923" y="1895728"/>
                  </a:lnTo>
                  <a:lnTo>
                    <a:pt x="788428" y="1865757"/>
                  </a:lnTo>
                  <a:lnTo>
                    <a:pt x="803452" y="1835785"/>
                  </a:lnTo>
                  <a:lnTo>
                    <a:pt x="818476" y="1813306"/>
                  </a:lnTo>
                  <a:lnTo>
                    <a:pt x="833488" y="1783334"/>
                  </a:lnTo>
                  <a:lnTo>
                    <a:pt x="840993" y="1745869"/>
                  </a:lnTo>
                  <a:lnTo>
                    <a:pt x="856018" y="1715897"/>
                  </a:lnTo>
                  <a:lnTo>
                    <a:pt x="871029" y="1685925"/>
                  </a:lnTo>
                  <a:lnTo>
                    <a:pt x="886053" y="1655952"/>
                  </a:lnTo>
                  <a:lnTo>
                    <a:pt x="893559" y="1618488"/>
                  </a:lnTo>
                  <a:lnTo>
                    <a:pt x="923594" y="1551051"/>
                  </a:lnTo>
                  <a:lnTo>
                    <a:pt x="931100" y="1513586"/>
                  </a:lnTo>
                  <a:lnTo>
                    <a:pt x="961136" y="1446149"/>
                  </a:lnTo>
                  <a:lnTo>
                    <a:pt x="983665" y="1371219"/>
                  </a:lnTo>
                  <a:lnTo>
                    <a:pt x="1013701" y="1296289"/>
                  </a:lnTo>
                  <a:lnTo>
                    <a:pt x="1036231" y="1221359"/>
                  </a:lnTo>
                  <a:lnTo>
                    <a:pt x="1066266" y="1138936"/>
                  </a:lnTo>
                  <a:lnTo>
                    <a:pt x="1118831" y="981582"/>
                  </a:lnTo>
                  <a:lnTo>
                    <a:pt x="1171384" y="824230"/>
                  </a:lnTo>
                  <a:lnTo>
                    <a:pt x="1193914" y="749300"/>
                  </a:lnTo>
                  <a:lnTo>
                    <a:pt x="1223949" y="674369"/>
                  </a:lnTo>
                  <a:lnTo>
                    <a:pt x="1246479" y="599440"/>
                  </a:lnTo>
                  <a:lnTo>
                    <a:pt x="1276515" y="532003"/>
                  </a:lnTo>
                  <a:lnTo>
                    <a:pt x="1299044" y="457073"/>
                  </a:lnTo>
                  <a:lnTo>
                    <a:pt x="1329067" y="397129"/>
                  </a:lnTo>
                  <a:lnTo>
                    <a:pt x="1351597" y="337185"/>
                  </a:lnTo>
                  <a:lnTo>
                    <a:pt x="1381633" y="277241"/>
                  </a:lnTo>
                  <a:lnTo>
                    <a:pt x="1404162" y="224790"/>
                  </a:lnTo>
                  <a:lnTo>
                    <a:pt x="1419174" y="194818"/>
                  </a:lnTo>
                  <a:lnTo>
                    <a:pt x="1441704" y="149860"/>
                  </a:lnTo>
                  <a:lnTo>
                    <a:pt x="1456728" y="134874"/>
                  </a:lnTo>
                  <a:lnTo>
                    <a:pt x="1479257" y="89916"/>
                  </a:lnTo>
                  <a:lnTo>
                    <a:pt x="1494269" y="74930"/>
                  </a:lnTo>
                  <a:lnTo>
                    <a:pt x="1524304" y="44957"/>
                  </a:lnTo>
                  <a:lnTo>
                    <a:pt x="1531810" y="37465"/>
                  </a:lnTo>
                  <a:lnTo>
                    <a:pt x="1561845" y="14986"/>
                  </a:lnTo>
                  <a:lnTo>
                    <a:pt x="1576870" y="7493"/>
                  </a:lnTo>
                </a:path>
                <a:path w="3259454" h="2540635">
                  <a:moveTo>
                    <a:pt x="1576870" y="7493"/>
                  </a:moveTo>
                  <a:lnTo>
                    <a:pt x="1599387" y="0"/>
                  </a:lnTo>
                  <a:lnTo>
                    <a:pt x="1614411" y="0"/>
                  </a:lnTo>
                  <a:lnTo>
                    <a:pt x="1636941" y="0"/>
                  </a:lnTo>
                  <a:lnTo>
                    <a:pt x="1651952" y="0"/>
                  </a:lnTo>
                  <a:lnTo>
                    <a:pt x="1674482" y="7493"/>
                  </a:lnTo>
                  <a:lnTo>
                    <a:pt x="1719529" y="37465"/>
                  </a:lnTo>
                  <a:lnTo>
                    <a:pt x="1757083" y="74930"/>
                  </a:lnTo>
                  <a:lnTo>
                    <a:pt x="1794624" y="134874"/>
                  </a:lnTo>
                  <a:lnTo>
                    <a:pt x="1809648" y="149860"/>
                  </a:lnTo>
                  <a:lnTo>
                    <a:pt x="1832165" y="194818"/>
                  </a:lnTo>
                  <a:lnTo>
                    <a:pt x="1862201" y="247269"/>
                  </a:lnTo>
                  <a:lnTo>
                    <a:pt x="1884730" y="307213"/>
                  </a:lnTo>
                  <a:lnTo>
                    <a:pt x="1914766" y="367156"/>
                  </a:lnTo>
                  <a:lnTo>
                    <a:pt x="1937296" y="427100"/>
                  </a:lnTo>
                  <a:lnTo>
                    <a:pt x="1967331" y="494538"/>
                  </a:lnTo>
                  <a:lnTo>
                    <a:pt x="1989861" y="561975"/>
                  </a:lnTo>
                  <a:lnTo>
                    <a:pt x="2019896" y="636905"/>
                  </a:lnTo>
                  <a:lnTo>
                    <a:pt x="2042414" y="711835"/>
                  </a:lnTo>
                  <a:lnTo>
                    <a:pt x="2094979" y="869188"/>
                  </a:lnTo>
                  <a:lnTo>
                    <a:pt x="2147544" y="1026541"/>
                  </a:lnTo>
                  <a:lnTo>
                    <a:pt x="2252662" y="1333753"/>
                  </a:lnTo>
                  <a:lnTo>
                    <a:pt x="2275192" y="1408684"/>
                  </a:lnTo>
                  <a:lnTo>
                    <a:pt x="2305227" y="1483614"/>
                  </a:lnTo>
                  <a:lnTo>
                    <a:pt x="2327757" y="1551051"/>
                  </a:lnTo>
                  <a:lnTo>
                    <a:pt x="2357793" y="1618488"/>
                  </a:lnTo>
                  <a:lnTo>
                    <a:pt x="2380322" y="1685925"/>
                  </a:lnTo>
                  <a:lnTo>
                    <a:pt x="2410358" y="1745869"/>
                  </a:lnTo>
                  <a:lnTo>
                    <a:pt x="2432875" y="1813306"/>
                  </a:lnTo>
                  <a:lnTo>
                    <a:pt x="2462911" y="1865757"/>
                  </a:lnTo>
                  <a:lnTo>
                    <a:pt x="2485440" y="1925701"/>
                  </a:lnTo>
                  <a:lnTo>
                    <a:pt x="2515476" y="1978152"/>
                  </a:lnTo>
                  <a:lnTo>
                    <a:pt x="2538006" y="2023110"/>
                  </a:lnTo>
                  <a:lnTo>
                    <a:pt x="2560535" y="2068068"/>
                  </a:lnTo>
                  <a:lnTo>
                    <a:pt x="2590571" y="2113026"/>
                  </a:lnTo>
                  <a:lnTo>
                    <a:pt x="2613088" y="2157984"/>
                  </a:lnTo>
                  <a:lnTo>
                    <a:pt x="2643123" y="2195449"/>
                  </a:lnTo>
                  <a:lnTo>
                    <a:pt x="2665653" y="2225421"/>
                  </a:lnTo>
                  <a:lnTo>
                    <a:pt x="2695689" y="2262886"/>
                  </a:lnTo>
                  <a:lnTo>
                    <a:pt x="2718219" y="2292858"/>
                  </a:lnTo>
                  <a:lnTo>
                    <a:pt x="2748254" y="2315337"/>
                  </a:lnTo>
                  <a:lnTo>
                    <a:pt x="2770784" y="2345309"/>
                  </a:lnTo>
                  <a:lnTo>
                    <a:pt x="2800819" y="2367788"/>
                  </a:lnTo>
                  <a:lnTo>
                    <a:pt x="2823337" y="2390266"/>
                  </a:lnTo>
                  <a:lnTo>
                    <a:pt x="2853372" y="2405253"/>
                  </a:lnTo>
                  <a:lnTo>
                    <a:pt x="2875902" y="2427732"/>
                  </a:lnTo>
                  <a:lnTo>
                    <a:pt x="2928467" y="2457704"/>
                  </a:lnTo>
                  <a:lnTo>
                    <a:pt x="2958503" y="2465197"/>
                  </a:lnTo>
                  <a:lnTo>
                    <a:pt x="3011068" y="2487676"/>
                  </a:lnTo>
                  <a:lnTo>
                    <a:pt x="3056115" y="2502662"/>
                  </a:lnTo>
                  <a:lnTo>
                    <a:pt x="3108680" y="2517648"/>
                  </a:lnTo>
                  <a:lnTo>
                    <a:pt x="3161245" y="2532634"/>
                  </a:lnTo>
                  <a:lnTo>
                    <a:pt x="3206292" y="2532634"/>
                  </a:lnTo>
                  <a:lnTo>
                    <a:pt x="3258858" y="2540127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6" name="object 126" descr=""/>
          <p:cNvSpPr txBox="1"/>
          <p:nvPr/>
        </p:nvSpPr>
        <p:spPr>
          <a:xfrm>
            <a:off x="5394604" y="4724653"/>
            <a:ext cx="470534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90195" algn="l"/>
              </a:tabLst>
            </a:pPr>
            <a:r>
              <a:rPr dirty="0" sz="750" spc="-45">
                <a:latin typeface="Tahoma"/>
                <a:cs typeface="Tahoma"/>
              </a:rPr>
              <a:t>-</a:t>
            </a:r>
            <a:r>
              <a:rPr dirty="0" sz="750" spc="-50">
                <a:latin typeface="Tahoma"/>
                <a:cs typeface="Tahoma"/>
              </a:rPr>
              <a:t>1</a:t>
            </a:r>
            <a:r>
              <a:rPr dirty="0" sz="750">
                <a:latin typeface="Tahoma"/>
                <a:cs typeface="Tahoma"/>
              </a:rPr>
              <a:t>	</a:t>
            </a:r>
            <a:r>
              <a:rPr dirty="0" sz="750" spc="-45">
                <a:latin typeface="Tahoma"/>
                <a:cs typeface="Tahoma"/>
              </a:rPr>
              <a:t>-</a:t>
            </a:r>
            <a:r>
              <a:rPr dirty="0" sz="750" spc="-25">
                <a:latin typeface="Tahoma"/>
                <a:cs typeface="Tahoma"/>
              </a:rPr>
              <a:t>0.8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27" name="object 127" descr=""/>
          <p:cNvSpPr txBox="1"/>
          <p:nvPr/>
        </p:nvSpPr>
        <p:spPr>
          <a:xfrm>
            <a:off x="5973127" y="4701784"/>
            <a:ext cx="2497455" cy="49339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295"/>
              </a:spcBef>
              <a:tabLst>
                <a:tab pos="365125" algn="l"/>
                <a:tab pos="687705" algn="l"/>
                <a:tab pos="1093470" algn="l"/>
                <a:tab pos="1370965" algn="l"/>
                <a:tab pos="1694180" algn="l"/>
                <a:tab pos="2024380" algn="l"/>
                <a:tab pos="2346960" algn="l"/>
              </a:tabLst>
            </a:pPr>
            <a:r>
              <a:rPr dirty="0" sz="750" spc="-45">
                <a:latin typeface="Tahoma"/>
                <a:cs typeface="Tahoma"/>
              </a:rPr>
              <a:t>-</a:t>
            </a:r>
            <a:r>
              <a:rPr dirty="0" sz="750" spc="-25">
                <a:latin typeface="Tahoma"/>
                <a:cs typeface="Tahoma"/>
              </a:rPr>
              <a:t>0.6</a:t>
            </a:r>
            <a:r>
              <a:rPr dirty="0" sz="750">
                <a:latin typeface="Tahoma"/>
                <a:cs typeface="Tahoma"/>
              </a:rPr>
              <a:t>	</a:t>
            </a:r>
            <a:r>
              <a:rPr dirty="0" sz="750" spc="-45">
                <a:latin typeface="Tahoma"/>
                <a:cs typeface="Tahoma"/>
              </a:rPr>
              <a:t>-</a:t>
            </a:r>
            <a:r>
              <a:rPr dirty="0" sz="750" spc="-25">
                <a:latin typeface="Tahoma"/>
                <a:cs typeface="Tahoma"/>
              </a:rPr>
              <a:t>0.4</a:t>
            </a:r>
            <a:r>
              <a:rPr dirty="0" sz="750">
                <a:latin typeface="Tahoma"/>
                <a:cs typeface="Tahoma"/>
              </a:rPr>
              <a:t>	</a:t>
            </a:r>
            <a:r>
              <a:rPr dirty="0" sz="750" spc="-45">
                <a:latin typeface="Tahoma"/>
                <a:cs typeface="Tahoma"/>
              </a:rPr>
              <a:t>-</a:t>
            </a:r>
            <a:r>
              <a:rPr dirty="0" sz="750" spc="-25">
                <a:latin typeface="Tahoma"/>
                <a:cs typeface="Tahoma"/>
              </a:rPr>
              <a:t>0.2</a:t>
            </a:r>
            <a:r>
              <a:rPr dirty="0" sz="750">
                <a:latin typeface="Tahoma"/>
                <a:cs typeface="Tahoma"/>
              </a:rPr>
              <a:t>	</a:t>
            </a:r>
            <a:r>
              <a:rPr dirty="0" sz="750" spc="-50">
                <a:latin typeface="Tahoma"/>
                <a:cs typeface="Tahoma"/>
              </a:rPr>
              <a:t>0</a:t>
            </a:r>
            <a:r>
              <a:rPr dirty="0" sz="750">
                <a:latin typeface="Tahoma"/>
                <a:cs typeface="Tahoma"/>
              </a:rPr>
              <a:t>	</a:t>
            </a:r>
            <a:r>
              <a:rPr dirty="0" sz="750" spc="-25">
                <a:latin typeface="Tahoma"/>
                <a:cs typeface="Tahoma"/>
              </a:rPr>
              <a:t>0.2</a:t>
            </a:r>
            <a:r>
              <a:rPr dirty="0" sz="750">
                <a:latin typeface="Tahoma"/>
                <a:cs typeface="Tahoma"/>
              </a:rPr>
              <a:t>	</a:t>
            </a:r>
            <a:r>
              <a:rPr dirty="0" sz="750" spc="-25">
                <a:latin typeface="Tahoma"/>
                <a:cs typeface="Tahoma"/>
              </a:rPr>
              <a:t>0.4</a:t>
            </a:r>
            <a:r>
              <a:rPr dirty="0" sz="750">
                <a:latin typeface="Tahoma"/>
                <a:cs typeface="Tahoma"/>
              </a:rPr>
              <a:t>	</a:t>
            </a:r>
            <a:r>
              <a:rPr dirty="0" sz="750" spc="-25">
                <a:latin typeface="Tahoma"/>
                <a:cs typeface="Tahoma"/>
              </a:rPr>
              <a:t>0.6</a:t>
            </a:r>
            <a:r>
              <a:rPr dirty="0" sz="750">
                <a:latin typeface="Tahoma"/>
                <a:cs typeface="Tahoma"/>
              </a:rPr>
              <a:t>	</a:t>
            </a:r>
            <a:r>
              <a:rPr dirty="0" sz="750" spc="-25">
                <a:latin typeface="Tahoma"/>
                <a:cs typeface="Tahoma"/>
              </a:rPr>
              <a:t>0.8</a:t>
            </a:r>
            <a:endParaRPr sz="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800" spc="70">
                <a:latin typeface="Tahoma"/>
                <a:cs typeface="Tahoma"/>
              </a:rPr>
              <a:t>c</a:t>
            </a:r>
            <a:r>
              <a:rPr dirty="0" sz="1800" spc="-60">
                <a:latin typeface="Tahoma"/>
                <a:cs typeface="Tahoma"/>
              </a:rPr>
              <a:t> </a:t>
            </a:r>
            <a:r>
              <a:rPr dirty="0" sz="1800" spc="-265">
                <a:latin typeface="Tahoma"/>
                <a:cs typeface="Tahoma"/>
              </a:rPr>
              <a:t>=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0</a:t>
            </a:r>
            <a:r>
              <a:rPr dirty="0" sz="1800" spc="4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radius</a:t>
            </a:r>
            <a:r>
              <a:rPr dirty="0" sz="1800" spc="-6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 spc="-265">
                <a:latin typeface="Tahoma"/>
                <a:cs typeface="Tahoma"/>
              </a:rPr>
              <a:t>=</a:t>
            </a:r>
            <a:r>
              <a:rPr dirty="0" sz="1800" spc="-60">
                <a:latin typeface="Tahoma"/>
                <a:cs typeface="Tahoma"/>
              </a:rPr>
              <a:t> </a:t>
            </a:r>
            <a:r>
              <a:rPr dirty="0" sz="1800" spc="-5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8" name="object 128" descr=""/>
          <p:cNvSpPr txBox="1"/>
          <p:nvPr/>
        </p:nvSpPr>
        <p:spPr>
          <a:xfrm>
            <a:off x="8683497" y="4724653"/>
            <a:ext cx="80010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-50">
                <a:latin typeface="Tahoma"/>
                <a:cs typeface="Tahoma"/>
              </a:rPr>
              <a:t>1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29" name="object 129" descr=""/>
          <p:cNvSpPr txBox="1"/>
          <p:nvPr/>
        </p:nvSpPr>
        <p:spPr>
          <a:xfrm>
            <a:off x="5364581" y="4642230"/>
            <a:ext cx="80010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-50">
                <a:latin typeface="Tahoma"/>
                <a:cs typeface="Tahoma"/>
              </a:rPr>
              <a:t>0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30" name="object 130" descr=""/>
          <p:cNvSpPr txBox="1"/>
          <p:nvPr/>
        </p:nvSpPr>
        <p:spPr>
          <a:xfrm>
            <a:off x="5281980" y="4379976"/>
            <a:ext cx="162560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-25">
                <a:latin typeface="Tahoma"/>
                <a:cs typeface="Tahoma"/>
              </a:rPr>
              <a:t>0.1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31" name="object 131" descr=""/>
          <p:cNvSpPr txBox="1"/>
          <p:nvPr/>
        </p:nvSpPr>
        <p:spPr>
          <a:xfrm>
            <a:off x="5281980" y="4125214"/>
            <a:ext cx="162560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-25">
                <a:latin typeface="Tahoma"/>
                <a:cs typeface="Tahoma"/>
              </a:rPr>
              <a:t>0.2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32" name="object 132" descr=""/>
          <p:cNvSpPr txBox="1"/>
          <p:nvPr/>
        </p:nvSpPr>
        <p:spPr>
          <a:xfrm>
            <a:off x="5281980" y="3870451"/>
            <a:ext cx="162560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-25">
                <a:latin typeface="Tahoma"/>
                <a:cs typeface="Tahoma"/>
              </a:rPr>
              <a:t>0.3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33" name="object 133" descr=""/>
          <p:cNvSpPr txBox="1"/>
          <p:nvPr/>
        </p:nvSpPr>
        <p:spPr>
          <a:xfrm>
            <a:off x="5281980" y="3615689"/>
            <a:ext cx="162560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-25">
                <a:latin typeface="Tahoma"/>
                <a:cs typeface="Tahoma"/>
              </a:rPr>
              <a:t>0.4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34" name="object 134" descr=""/>
          <p:cNvSpPr txBox="1"/>
          <p:nvPr/>
        </p:nvSpPr>
        <p:spPr>
          <a:xfrm>
            <a:off x="5281980" y="3360927"/>
            <a:ext cx="162560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-25">
                <a:latin typeface="Tahoma"/>
                <a:cs typeface="Tahoma"/>
              </a:rPr>
              <a:t>0.5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35" name="object 135" descr=""/>
          <p:cNvSpPr txBox="1"/>
          <p:nvPr/>
        </p:nvSpPr>
        <p:spPr>
          <a:xfrm>
            <a:off x="5281980" y="3098673"/>
            <a:ext cx="162560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-25">
                <a:latin typeface="Tahoma"/>
                <a:cs typeface="Tahoma"/>
              </a:rPr>
              <a:t>0.6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36" name="object 136" descr=""/>
          <p:cNvSpPr txBox="1"/>
          <p:nvPr/>
        </p:nvSpPr>
        <p:spPr>
          <a:xfrm>
            <a:off x="5281980" y="2843911"/>
            <a:ext cx="162560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-25">
                <a:latin typeface="Tahoma"/>
                <a:cs typeface="Tahoma"/>
              </a:rPr>
              <a:t>0.7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37" name="object 137" descr=""/>
          <p:cNvSpPr txBox="1"/>
          <p:nvPr/>
        </p:nvSpPr>
        <p:spPr>
          <a:xfrm>
            <a:off x="5281980" y="2589149"/>
            <a:ext cx="162560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-25">
                <a:latin typeface="Tahoma"/>
                <a:cs typeface="Tahoma"/>
              </a:rPr>
              <a:t>0.8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38" name="object 138" descr=""/>
          <p:cNvSpPr txBox="1"/>
          <p:nvPr/>
        </p:nvSpPr>
        <p:spPr>
          <a:xfrm>
            <a:off x="5281980" y="2334387"/>
            <a:ext cx="162560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-25">
                <a:latin typeface="Tahoma"/>
                <a:cs typeface="Tahoma"/>
              </a:rPr>
              <a:t>0.9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39" name="object 139" descr=""/>
          <p:cNvSpPr txBox="1"/>
          <p:nvPr/>
        </p:nvSpPr>
        <p:spPr>
          <a:xfrm>
            <a:off x="5364581" y="2079625"/>
            <a:ext cx="80010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-50">
                <a:latin typeface="Tahoma"/>
                <a:cs typeface="Tahoma"/>
              </a:rPr>
              <a:t>1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40" name="object 140" descr=""/>
          <p:cNvSpPr txBox="1"/>
          <p:nvPr/>
        </p:nvSpPr>
        <p:spPr>
          <a:xfrm>
            <a:off x="8745855" y="6427787"/>
            <a:ext cx="12318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ahoma"/>
                <a:cs typeface="Tahoma"/>
              </a:rPr>
              <a:t>6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1" name="object 141" descr=""/>
          <p:cNvSpPr txBox="1"/>
          <p:nvPr/>
        </p:nvSpPr>
        <p:spPr>
          <a:xfrm>
            <a:off x="1261946" y="1896153"/>
            <a:ext cx="4644390" cy="23367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140">
                <a:latin typeface="Microsoft JhengHei UI"/>
                <a:cs typeface="Microsoft JhengHei UI"/>
              </a:rPr>
              <a:t>⾼斯 </a:t>
            </a:r>
            <a:r>
              <a:rPr dirty="0" sz="1350" spc="70">
                <a:latin typeface="Microsoft JhengHei UI"/>
                <a:cs typeface="Microsoft JhengHei UI"/>
              </a:rPr>
              <a:t>RBF</a:t>
            </a:r>
            <a:r>
              <a:rPr dirty="0" sz="1350" spc="-5">
                <a:latin typeface="Microsoft JhengHei UI"/>
                <a:cs typeface="Microsoft JhengHei UI"/>
              </a:rPr>
              <a:t> 的函数值，随着与中⼼点距离的增加⽽“单调递减”</a:t>
            </a:r>
            <a:endParaRPr sz="1350">
              <a:latin typeface="Microsoft JhengHei UI"/>
              <a:cs typeface="Microsoft JhengHei UI"/>
            </a:endParaRPr>
          </a:p>
        </p:txBody>
      </p:sp>
      <p:sp>
        <p:nvSpPr>
          <p:cNvPr id="142" name="object 142" descr=""/>
          <p:cNvSpPr txBox="1"/>
          <p:nvPr/>
        </p:nvSpPr>
        <p:spPr>
          <a:xfrm>
            <a:off x="1367587" y="4359888"/>
            <a:ext cx="2864485" cy="4914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95"/>
              </a:spcBef>
            </a:pPr>
            <a:r>
              <a:rPr dirty="0" sz="1300" spc="15">
                <a:latin typeface="Microsoft JhengHei UI"/>
                <a:cs typeface="Microsoft JhengHei UI"/>
              </a:rPr>
              <a:t>类⾼斯 </a:t>
            </a:r>
            <a:r>
              <a:rPr dirty="0" sz="1300" spc="60">
                <a:latin typeface="Microsoft JhengHei UI"/>
                <a:cs typeface="Microsoft JhengHei UI"/>
              </a:rPr>
              <a:t>RBF</a:t>
            </a:r>
            <a:r>
              <a:rPr dirty="0" sz="1300">
                <a:latin typeface="Microsoft JhengHei UI"/>
                <a:cs typeface="Microsoft JhengHei UI"/>
              </a:rPr>
              <a:t> 是“局部”的（</a:t>
            </a:r>
            <a:r>
              <a:rPr dirty="0" sz="1300" spc="-10">
                <a:latin typeface="Microsoft JhengHei UI"/>
                <a:cs typeface="Microsoft JhengHei UI"/>
              </a:rPr>
              <a:t>即，只在靠</a:t>
            </a:r>
            <a:r>
              <a:rPr dirty="0" sz="1300">
                <a:latin typeface="Microsoft JhengHei UI"/>
                <a:cs typeface="Microsoft JhengHei UI"/>
              </a:rPr>
              <a:t>近中⼼的“邻域”内才会给出显著响应</a:t>
            </a:r>
            <a:r>
              <a:rPr dirty="0" sz="1300" spc="-50">
                <a:latin typeface="Microsoft JhengHei UI"/>
                <a:cs typeface="Microsoft JhengHei UI"/>
              </a:rPr>
              <a:t>）</a:t>
            </a:r>
            <a:endParaRPr sz="1300">
              <a:latin typeface="Microsoft JhengHei UI"/>
              <a:cs typeface="Microsoft JhengHei UI"/>
            </a:endParaRPr>
          </a:p>
        </p:txBody>
      </p:sp>
      <p:sp>
        <p:nvSpPr>
          <p:cNvPr id="143" name="object 143" descr=""/>
          <p:cNvSpPr txBox="1"/>
          <p:nvPr/>
        </p:nvSpPr>
        <p:spPr>
          <a:xfrm>
            <a:off x="1676939" y="5884776"/>
            <a:ext cx="3592829" cy="801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9800"/>
              </a:lnSpc>
              <a:spcBef>
                <a:spcPts val="95"/>
              </a:spcBef>
            </a:pPr>
            <a:r>
              <a:rPr dirty="0" sz="850" spc="60">
                <a:latin typeface="Microsoft JhengHei UI"/>
                <a:cs typeface="Microsoft JhengHei UI"/>
              </a:rPr>
              <a:t>局部” </a:t>
            </a:r>
            <a:r>
              <a:rPr dirty="0" sz="850">
                <a:latin typeface="Microsoft JhengHei UI"/>
                <a:cs typeface="Microsoft JhengHei UI"/>
              </a:rPr>
              <a:t>(local)</a:t>
            </a:r>
            <a:r>
              <a:rPr dirty="0" sz="850" spc="25">
                <a:latin typeface="Microsoft JhengHei UI"/>
                <a:cs typeface="Microsoft JhengHei UI"/>
              </a:rPr>
              <a:t> 意味着这个 </a:t>
            </a:r>
            <a:r>
              <a:rPr dirty="0" sz="850" spc="50">
                <a:latin typeface="Microsoft JhengHei UI"/>
                <a:cs typeface="Microsoft JhengHei UI"/>
              </a:rPr>
              <a:t>RBF</a:t>
            </a:r>
            <a:r>
              <a:rPr dirty="0" sz="850" spc="20">
                <a:latin typeface="Microsoft JhengHei UI"/>
                <a:cs typeface="Microsoft JhengHei UI"/>
              </a:rPr>
              <a:t> 神经元是⼀个“局部探测器”。它只关⼼那</a:t>
            </a:r>
            <a:r>
              <a:rPr dirty="0" sz="850" spc="25">
                <a:latin typeface="Microsoft JhengHei UI"/>
                <a:cs typeface="Microsoft JhengHei UI"/>
              </a:rPr>
              <a:t>些与它⾃⼰的“中⼼点 </a:t>
            </a:r>
            <a:r>
              <a:rPr dirty="0" sz="850" spc="15">
                <a:latin typeface="Microsoft JhengHei UI"/>
                <a:cs typeface="Microsoft JhengHei UI"/>
              </a:rPr>
              <a:t>c”</a:t>
            </a:r>
            <a:r>
              <a:rPr dirty="0" sz="850" spc="40">
                <a:latin typeface="Microsoft JhengHei UI"/>
                <a:cs typeface="Microsoft JhengHei UI"/>
              </a:rPr>
              <a:t>⾮常接近的输⼊ </a:t>
            </a:r>
            <a:r>
              <a:rPr dirty="0" sz="850" spc="10">
                <a:latin typeface="Microsoft JhengHei UI"/>
                <a:cs typeface="Microsoft JhengHei UI"/>
              </a:rPr>
              <a:t>x</a:t>
            </a:r>
            <a:r>
              <a:rPr dirty="0" sz="850" spc="30">
                <a:latin typeface="Microsoft JhengHei UI"/>
                <a:cs typeface="Microsoft JhengHei UI"/>
              </a:rPr>
              <a:t>。如果输⼊ </a:t>
            </a:r>
            <a:r>
              <a:rPr dirty="0" sz="850" spc="25">
                <a:latin typeface="Microsoft JhengHei UI"/>
                <a:cs typeface="Microsoft JhengHei UI"/>
              </a:rPr>
              <a:t>x 离它的中⼼ </a:t>
            </a:r>
            <a:r>
              <a:rPr dirty="0" sz="850" spc="50">
                <a:latin typeface="Microsoft JhengHei UI"/>
                <a:cs typeface="Microsoft JhengHei UI"/>
              </a:rPr>
              <a:t>c</a:t>
            </a:r>
            <a:r>
              <a:rPr dirty="0" sz="850" spc="45">
                <a:latin typeface="Microsoft JhengHei UI"/>
                <a:cs typeface="Microsoft JhengHei UI"/>
              </a:rPr>
              <a:t> 很</a:t>
            </a:r>
            <a:r>
              <a:rPr dirty="0" sz="850" spc="25">
                <a:latin typeface="Microsoft JhengHei UI"/>
                <a:cs typeface="Microsoft JhengHei UI"/>
              </a:rPr>
              <a:t>远，这个神经元就基本“不激活</a:t>
            </a:r>
            <a:r>
              <a:rPr dirty="0" sz="850" spc="20">
                <a:latin typeface="Microsoft JhengHei UI"/>
                <a:cs typeface="Microsoft JhengHei UI"/>
              </a:rPr>
              <a:t>”（</a:t>
            </a:r>
            <a:r>
              <a:rPr dirty="0" sz="850" spc="35">
                <a:latin typeface="Microsoft JhengHei UI"/>
                <a:cs typeface="Microsoft JhengHei UI"/>
              </a:rPr>
              <a:t>输出值接近 </a:t>
            </a:r>
            <a:r>
              <a:rPr dirty="0" sz="850" spc="20">
                <a:latin typeface="Microsoft JhengHei UI"/>
                <a:cs typeface="Microsoft JhengHei UI"/>
              </a:rPr>
              <a:t>0）</a:t>
            </a:r>
            <a:r>
              <a:rPr dirty="0" sz="850" spc="35">
                <a:latin typeface="Microsoft JhengHei UI"/>
                <a:cs typeface="Microsoft JhengHei UI"/>
              </a:rPr>
              <a:t>。这使得 </a:t>
            </a:r>
            <a:r>
              <a:rPr dirty="0" sz="850" spc="50">
                <a:latin typeface="Microsoft JhengHei UI"/>
                <a:cs typeface="Microsoft JhengHei UI"/>
              </a:rPr>
              <a:t>RBF</a:t>
            </a:r>
            <a:r>
              <a:rPr dirty="0" sz="850" spc="30">
                <a:latin typeface="Microsoft JhengHei UI"/>
                <a:cs typeface="Microsoft JhengHei UI"/>
              </a:rPr>
              <a:t> ⽹络⾮</a:t>
            </a:r>
            <a:r>
              <a:rPr dirty="0" sz="850" spc="15">
                <a:latin typeface="Microsoft JhengHei UI"/>
                <a:cs typeface="Microsoft JhengHei UI"/>
              </a:rPr>
              <a:t>常⾼效，因为它允许⽹络将⼀个复杂的问题分解为多个“局部”的⼩问题来解决。</a:t>
            </a:r>
            <a:endParaRPr sz="850">
              <a:latin typeface="Microsoft JhengHei UI"/>
              <a:cs typeface="Microsoft JhengHei UI"/>
            </a:endParaRPr>
          </a:p>
        </p:txBody>
      </p:sp>
      <p:grpSp>
        <p:nvGrpSpPr>
          <p:cNvPr id="144" name="object 144" descr=""/>
          <p:cNvGrpSpPr/>
          <p:nvPr/>
        </p:nvGrpSpPr>
        <p:grpSpPr>
          <a:xfrm>
            <a:off x="5867590" y="885139"/>
            <a:ext cx="3276600" cy="1204595"/>
            <a:chOff x="5867590" y="885139"/>
            <a:chExt cx="3276600" cy="1204595"/>
          </a:xfrm>
        </p:grpSpPr>
        <p:pic>
          <p:nvPicPr>
            <p:cNvPr id="145" name="object 14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63068" y="1722297"/>
              <a:ext cx="854621" cy="348526"/>
            </a:xfrm>
            <a:prstGeom prst="rect">
              <a:avLst/>
            </a:prstGeom>
          </p:spPr>
        </p:pic>
        <p:pic>
          <p:nvPicPr>
            <p:cNvPr id="146" name="object 14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77215" y="1784477"/>
              <a:ext cx="1666873" cy="304850"/>
            </a:xfrm>
            <a:prstGeom prst="rect">
              <a:avLst/>
            </a:prstGeom>
          </p:spPr>
        </p:pic>
        <p:pic>
          <p:nvPicPr>
            <p:cNvPr id="147" name="object 14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67590" y="885139"/>
              <a:ext cx="524738" cy="247954"/>
            </a:xfrm>
            <a:prstGeom prst="rect">
              <a:avLst/>
            </a:prstGeom>
          </p:spPr>
        </p:pic>
        <p:sp>
          <p:nvSpPr>
            <p:cNvPr id="148" name="object 148" descr=""/>
            <p:cNvSpPr/>
            <p:nvPr/>
          </p:nvSpPr>
          <p:spPr>
            <a:xfrm>
              <a:off x="6474143" y="986548"/>
              <a:ext cx="25400" cy="81280"/>
            </a:xfrm>
            <a:custGeom>
              <a:avLst/>
              <a:gdLst/>
              <a:ahLst/>
              <a:cxnLst/>
              <a:rect l="l" t="t" r="r" b="b"/>
              <a:pathLst>
                <a:path w="25400" h="81280">
                  <a:moveTo>
                    <a:pt x="18097" y="3289"/>
                  </a:moveTo>
                  <a:lnTo>
                    <a:pt x="16205" y="558"/>
                  </a:lnTo>
                  <a:lnTo>
                    <a:pt x="14808" y="0"/>
                  </a:lnTo>
                  <a:lnTo>
                    <a:pt x="1841" y="2692"/>
                  </a:lnTo>
                  <a:lnTo>
                    <a:pt x="0" y="5499"/>
                  </a:lnTo>
                  <a:lnTo>
                    <a:pt x="1181" y="11226"/>
                  </a:lnTo>
                  <a:lnTo>
                    <a:pt x="3987" y="13068"/>
                  </a:lnTo>
                  <a:lnTo>
                    <a:pt x="7556" y="12331"/>
                  </a:lnTo>
                  <a:lnTo>
                    <a:pt x="8216" y="12052"/>
                  </a:lnTo>
                  <a:lnTo>
                    <a:pt x="17640" y="5499"/>
                  </a:lnTo>
                  <a:lnTo>
                    <a:pt x="18097" y="3289"/>
                  </a:lnTo>
                  <a:close/>
                </a:path>
                <a:path w="25400" h="81280">
                  <a:moveTo>
                    <a:pt x="25171" y="76492"/>
                  </a:moveTo>
                  <a:lnTo>
                    <a:pt x="24422" y="73634"/>
                  </a:lnTo>
                  <a:lnTo>
                    <a:pt x="23723" y="72809"/>
                  </a:lnTo>
                  <a:lnTo>
                    <a:pt x="14312" y="68376"/>
                  </a:lnTo>
                  <a:lnTo>
                    <a:pt x="10896" y="69608"/>
                  </a:lnTo>
                  <a:lnTo>
                    <a:pt x="8191" y="75349"/>
                  </a:lnTo>
                  <a:lnTo>
                    <a:pt x="9423" y="78778"/>
                  </a:lnTo>
                  <a:lnTo>
                    <a:pt x="13779" y="80822"/>
                  </a:lnTo>
                  <a:lnTo>
                    <a:pt x="14897" y="80822"/>
                  </a:lnTo>
                  <a:lnTo>
                    <a:pt x="24066" y="78397"/>
                  </a:lnTo>
                  <a:lnTo>
                    <a:pt x="25171" y="764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9" name="object 14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76752" y="888064"/>
              <a:ext cx="909018" cy="296261"/>
            </a:xfrm>
            <a:prstGeom prst="rect">
              <a:avLst/>
            </a:prstGeom>
          </p:spPr>
        </p:pic>
        <p:pic>
          <p:nvPicPr>
            <p:cNvPr id="150" name="object 15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42925" y="885164"/>
              <a:ext cx="1121257" cy="627824"/>
            </a:xfrm>
            <a:prstGeom prst="rect">
              <a:avLst/>
            </a:prstGeom>
          </p:spPr>
        </p:pic>
        <p:pic>
          <p:nvPicPr>
            <p:cNvPr id="151" name="object 15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72271" y="920343"/>
              <a:ext cx="451154" cy="273842"/>
            </a:xfrm>
            <a:prstGeom prst="rect">
              <a:avLst/>
            </a:prstGeom>
          </p:spPr>
        </p:pic>
        <p:pic>
          <p:nvPicPr>
            <p:cNvPr id="152" name="object 15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48747" y="1261287"/>
              <a:ext cx="878438" cy="273443"/>
            </a:xfrm>
            <a:prstGeom prst="rect">
              <a:avLst/>
            </a:prstGeom>
          </p:spPr>
        </p:pic>
        <p:sp>
          <p:nvSpPr>
            <p:cNvPr id="153" name="object 153" descr=""/>
            <p:cNvSpPr/>
            <p:nvPr/>
          </p:nvSpPr>
          <p:spPr>
            <a:xfrm>
              <a:off x="8691931" y="1453565"/>
              <a:ext cx="31115" cy="28575"/>
            </a:xfrm>
            <a:custGeom>
              <a:avLst/>
              <a:gdLst/>
              <a:ahLst/>
              <a:cxnLst/>
              <a:rect l="l" t="t" r="r" b="b"/>
              <a:pathLst>
                <a:path w="31115" h="28575">
                  <a:moveTo>
                    <a:pt x="23761" y="0"/>
                  </a:moveTo>
                  <a:lnTo>
                    <a:pt x="21107" y="939"/>
                  </a:lnTo>
                  <a:lnTo>
                    <a:pt x="15659" y="9105"/>
                  </a:lnTo>
                  <a:lnTo>
                    <a:pt x="10718" y="14935"/>
                  </a:lnTo>
                  <a:lnTo>
                    <a:pt x="1231" y="19050"/>
                  </a:lnTo>
                  <a:lnTo>
                    <a:pt x="0" y="22174"/>
                  </a:lnTo>
                  <a:lnTo>
                    <a:pt x="1867" y="26466"/>
                  </a:lnTo>
                  <a:lnTo>
                    <a:pt x="1955" y="26669"/>
                  </a:lnTo>
                  <a:lnTo>
                    <a:pt x="3682" y="27889"/>
                  </a:lnTo>
                  <a:lnTo>
                    <a:pt x="11214" y="28448"/>
                  </a:lnTo>
                  <a:lnTo>
                    <a:pt x="16675" y="26466"/>
                  </a:lnTo>
                  <a:lnTo>
                    <a:pt x="25353" y="19050"/>
                  </a:lnTo>
                  <a:lnTo>
                    <a:pt x="28333" y="13614"/>
                  </a:lnTo>
                  <a:lnTo>
                    <a:pt x="31000" y="4940"/>
                  </a:lnTo>
                  <a:lnTo>
                    <a:pt x="29273" y="1689"/>
                  </a:lnTo>
                  <a:lnTo>
                    <a:pt x="237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4" name="object 15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849556" y="168287"/>
            <a:ext cx="615746" cy="241935"/>
          </a:xfrm>
          <a:prstGeom prst="rect">
            <a:avLst/>
          </a:prstGeom>
        </p:spPr>
      </p:pic>
      <p:pic>
        <p:nvPicPr>
          <p:cNvPr id="155" name="object 15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527368" y="105219"/>
            <a:ext cx="2407386" cy="666000"/>
          </a:xfrm>
          <a:prstGeom prst="rect">
            <a:avLst/>
          </a:prstGeom>
        </p:spPr>
      </p:pic>
      <p:grpSp>
        <p:nvGrpSpPr>
          <p:cNvPr id="156" name="object 156" descr=""/>
          <p:cNvGrpSpPr/>
          <p:nvPr/>
        </p:nvGrpSpPr>
        <p:grpSpPr>
          <a:xfrm>
            <a:off x="5909306" y="5169547"/>
            <a:ext cx="2402840" cy="66675"/>
            <a:chOff x="5909306" y="5169547"/>
            <a:chExt cx="2402840" cy="66675"/>
          </a:xfrm>
        </p:grpSpPr>
        <p:sp>
          <p:nvSpPr>
            <p:cNvPr id="157" name="object 157" descr=""/>
            <p:cNvSpPr/>
            <p:nvPr/>
          </p:nvSpPr>
          <p:spPr>
            <a:xfrm>
              <a:off x="5909306" y="5210649"/>
              <a:ext cx="808355" cy="24130"/>
            </a:xfrm>
            <a:custGeom>
              <a:avLst/>
              <a:gdLst/>
              <a:ahLst/>
              <a:cxnLst/>
              <a:rect l="l" t="t" r="r" b="b"/>
              <a:pathLst>
                <a:path w="808354" h="24129">
                  <a:moveTo>
                    <a:pt x="7699" y="5767"/>
                  </a:moveTo>
                  <a:lnTo>
                    <a:pt x="845" y="5767"/>
                  </a:lnTo>
                  <a:lnTo>
                    <a:pt x="48268" y="7049"/>
                  </a:lnTo>
                  <a:lnTo>
                    <a:pt x="31986" y="7049"/>
                  </a:lnTo>
                  <a:lnTo>
                    <a:pt x="29136" y="9749"/>
                  </a:lnTo>
                  <a:lnTo>
                    <a:pt x="29042" y="17572"/>
                  </a:lnTo>
                  <a:lnTo>
                    <a:pt x="31311" y="20223"/>
                  </a:lnTo>
                  <a:lnTo>
                    <a:pt x="31676" y="20620"/>
                  </a:lnTo>
                  <a:lnTo>
                    <a:pt x="43348" y="22119"/>
                  </a:lnTo>
                  <a:lnTo>
                    <a:pt x="54813" y="22494"/>
                  </a:lnTo>
                  <a:lnTo>
                    <a:pt x="54497" y="22494"/>
                  </a:lnTo>
                  <a:lnTo>
                    <a:pt x="80267" y="23222"/>
                  </a:lnTo>
                  <a:lnTo>
                    <a:pt x="75937" y="23222"/>
                  </a:lnTo>
                  <a:lnTo>
                    <a:pt x="106988" y="23555"/>
                  </a:lnTo>
                  <a:lnTo>
                    <a:pt x="96498" y="23555"/>
                  </a:lnTo>
                  <a:lnTo>
                    <a:pt x="94738" y="21788"/>
                  </a:lnTo>
                  <a:lnTo>
                    <a:pt x="39024" y="21788"/>
                  </a:lnTo>
                  <a:lnTo>
                    <a:pt x="42627" y="19007"/>
                  </a:lnTo>
                  <a:lnTo>
                    <a:pt x="42864" y="19007"/>
                  </a:lnTo>
                  <a:lnTo>
                    <a:pt x="43021" y="17789"/>
                  </a:lnTo>
                  <a:lnTo>
                    <a:pt x="27605" y="17789"/>
                  </a:lnTo>
                  <a:lnTo>
                    <a:pt x="32813" y="17572"/>
                  </a:lnTo>
                  <a:lnTo>
                    <a:pt x="43049" y="17572"/>
                  </a:lnTo>
                  <a:lnTo>
                    <a:pt x="43907" y="10892"/>
                  </a:lnTo>
                  <a:lnTo>
                    <a:pt x="41113" y="7272"/>
                  </a:lnTo>
                  <a:lnTo>
                    <a:pt x="39381" y="7049"/>
                  </a:lnTo>
                  <a:lnTo>
                    <a:pt x="7699" y="5767"/>
                  </a:lnTo>
                  <a:close/>
                </a:path>
                <a:path w="808354" h="24129">
                  <a:moveTo>
                    <a:pt x="106011" y="7049"/>
                  </a:moveTo>
                  <a:lnTo>
                    <a:pt x="96138" y="7049"/>
                  </a:lnTo>
                  <a:lnTo>
                    <a:pt x="93064" y="10155"/>
                  </a:lnTo>
                  <a:lnTo>
                    <a:pt x="92649" y="10600"/>
                  </a:lnTo>
                  <a:lnTo>
                    <a:pt x="92776" y="19820"/>
                  </a:lnTo>
                  <a:lnTo>
                    <a:pt x="96498" y="23555"/>
                  </a:lnTo>
                  <a:lnTo>
                    <a:pt x="105538" y="23555"/>
                  </a:lnTo>
                  <a:lnTo>
                    <a:pt x="109337" y="19820"/>
                  </a:lnTo>
                  <a:lnTo>
                    <a:pt x="109413" y="10600"/>
                  </a:lnTo>
                  <a:lnTo>
                    <a:pt x="106011" y="7049"/>
                  </a:lnTo>
                  <a:close/>
                </a:path>
                <a:path w="808354" h="24129">
                  <a:moveTo>
                    <a:pt x="255218" y="4241"/>
                  </a:moveTo>
                  <a:lnTo>
                    <a:pt x="212542" y="5151"/>
                  </a:lnTo>
                  <a:lnTo>
                    <a:pt x="211877" y="5151"/>
                  </a:lnTo>
                  <a:lnTo>
                    <a:pt x="180530" y="5767"/>
                  </a:lnTo>
                  <a:lnTo>
                    <a:pt x="74700" y="7049"/>
                  </a:lnTo>
                  <a:lnTo>
                    <a:pt x="106011" y="7049"/>
                  </a:lnTo>
                  <a:lnTo>
                    <a:pt x="109413" y="10600"/>
                  </a:lnTo>
                  <a:lnTo>
                    <a:pt x="109337" y="19820"/>
                  </a:lnTo>
                  <a:lnTo>
                    <a:pt x="105538" y="23555"/>
                  </a:lnTo>
                  <a:lnTo>
                    <a:pt x="140828" y="23555"/>
                  </a:lnTo>
                  <a:lnTo>
                    <a:pt x="177611" y="23222"/>
                  </a:lnTo>
                  <a:lnTo>
                    <a:pt x="255410" y="21788"/>
                  </a:lnTo>
                  <a:lnTo>
                    <a:pt x="255590" y="21788"/>
                  </a:lnTo>
                  <a:lnTo>
                    <a:pt x="251419" y="17789"/>
                  </a:lnTo>
                  <a:lnTo>
                    <a:pt x="251374" y="8250"/>
                  </a:lnTo>
                  <a:lnTo>
                    <a:pt x="255218" y="4241"/>
                  </a:lnTo>
                  <a:close/>
                </a:path>
                <a:path w="808354" h="24129">
                  <a:moveTo>
                    <a:pt x="39381" y="7049"/>
                  </a:moveTo>
                  <a:lnTo>
                    <a:pt x="41113" y="7272"/>
                  </a:lnTo>
                  <a:lnTo>
                    <a:pt x="43907" y="10892"/>
                  </a:lnTo>
                  <a:lnTo>
                    <a:pt x="42864" y="19007"/>
                  </a:lnTo>
                  <a:lnTo>
                    <a:pt x="42627" y="19007"/>
                  </a:lnTo>
                  <a:lnTo>
                    <a:pt x="39024" y="21788"/>
                  </a:lnTo>
                  <a:lnTo>
                    <a:pt x="94738" y="21788"/>
                  </a:lnTo>
                  <a:lnTo>
                    <a:pt x="92776" y="19820"/>
                  </a:lnTo>
                  <a:lnTo>
                    <a:pt x="92698" y="17572"/>
                  </a:lnTo>
                  <a:lnTo>
                    <a:pt x="51930" y="17572"/>
                  </a:lnTo>
                  <a:lnTo>
                    <a:pt x="54563" y="14778"/>
                  </a:lnTo>
                  <a:lnTo>
                    <a:pt x="54439" y="10155"/>
                  </a:lnTo>
                  <a:lnTo>
                    <a:pt x="54422" y="9596"/>
                  </a:lnTo>
                  <a:lnTo>
                    <a:pt x="52416" y="7577"/>
                  </a:lnTo>
                  <a:lnTo>
                    <a:pt x="39381" y="7049"/>
                  </a:lnTo>
                  <a:close/>
                </a:path>
                <a:path w="808354" h="24129">
                  <a:moveTo>
                    <a:pt x="399021" y="1523"/>
                  </a:moveTo>
                  <a:lnTo>
                    <a:pt x="255218" y="4241"/>
                  </a:lnTo>
                  <a:lnTo>
                    <a:pt x="251374" y="8250"/>
                  </a:lnTo>
                  <a:lnTo>
                    <a:pt x="251455" y="12111"/>
                  </a:lnTo>
                  <a:lnTo>
                    <a:pt x="251574" y="17789"/>
                  </a:lnTo>
                  <a:lnTo>
                    <a:pt x="251419" y="17789"/>
                  </a:lnTo>
                  <a:lnTo>
                    <a:pt x="255590" y="21788"/>
                  </a:lnTo>
                  <a:lnTo>
                    <a:pt x="265085" y="21788"/>
                  </a:lnTo>
                  <a:lnTo>
                    <a:pt x="269128" y="17572"/>
                  </a:lnTo>
                  <a:lnTo>
                    <a:pt x="269026" y="12111"/>
                  </a:lnTo>
                  <a:lnTo>
                    <a:pt x="268938" y="7882"/>
                  </a:lnTo>
                  <a:lnTo>
                    <a:pt x="265141" y="4241"/>
                  </a:lnTo>
                  <a:lnTo>
                    <a:pt x="396357" y="4241"/>
                  </a:lnTo>
                  <a:lnTo>
                    <a:pt x="399021" y="1523"/>
                  </a:lnTo>
                  <a:close/>
                </a:path>
                <a:path w="808354" h="24129">
                  <a:moveTo>
                    <a:pt x="396357" y="4241"/>
                  </a:moveTo>
                  <a:lnTo>
                    <a:pt x="265141" y="4241"/>
                  </a:lnTo>
                  <a:lnTo>
                    <a:pt x="268938" y="7882"/>
                  </a:lnTo>
                  <a:lnTo>
                    <a:pt x="269026" y="12111"/>
                  </a:lnTo>
                  <a:lnTo>
                    <a:pt x="269128" y="17572"/>
                  </a:lnTo>
                  <a:lnTo>
                    <a:pt x="265085" y="21788"/>
                  </a:lnTo>
                  <a:lnTo>
                    <a:pt x="255443" y="21788"/>
                  </a:lnTo>
                  <a:lnTo>
                    <a:pt x="384543" y="19007"/>
                  </a:lnTo>
                  <a:lnTo>
                    <a:pt x="399668" y="19007"/>
                  </a:lnTo>
                  <a:lnTo>
                    <a:pt x="395354" y="14778"/>
                  </a:lnTo>
                  <a:lnTo>
                    <a:pt x="395265" y="5355"/>
                  </a:lnTo>
                  <a:lnTo>
                    <a:pt x="396357" y="4241"/>
                  </a:lnTo>
                  <a:close/>
                </a:path>
                <a:path w="808354" h="24129">
                  <a:moveTo>
                    <a:pt x="12980" y="17789"/>
                  </a:moveTo>
                  <a:lnTo>
                    <a:pt x="9615" y="17789"/>
                  </a:lnTo>
                  <a:lnTo>
                    <a:pt x="31676" y="20620"/>
                  </a:lnTo>
                  <a:lnTo>
                    <a:pt x="31311" y="20223"/>
                  </a:lnTo>
                  <a:lnTo>
                    <a:pt x="30270" y="19007"/>
                  </a:lnTo>
                  <a:lnTo>
                    <a:pt x="17114" y="19007"/>
                  </a:lnTo>
                  <a:lnTo>
                    <a:pt x="12980" y="17789"/>
                  </a:lnTo>
                  <a:close/>
                </a:path>
                <a:path w="808354" h="24129">
                  <a:moveTo>
                    <a:pt x="670795" y="0"/>
                  </a:moveTo>
                  <a:lnTo>
                    <a:pt x="660450" y="0"/>
                  </a:lnTo>
                  <a:lnTo>
                    <a:pt x="657140" y="3340"/>
                  </a:lnTo>
                  <a:lnTo>
                    <a:pt x="656339" y="4241"/>
                  </a:lnTo>
                  <a:lnTo>
                    <a:pt x="656377" y="9062"/>
                  </a:lnTo>
                  <a:lnTo>
                    <a:pt x="661266" y="13102"/>
                  </a:lnTo>
                  <a:lnTo>
                    <a:pt x="664632" y="15819"/>
                  </a:lnTo>
                  <a:lnTo>
                    <a:pt x="666635" y="17572"/>
                  </a:lnTo>
                  <a:lnTo>
                    <a:pt x="667330" y="17572"/>
                  </a:lnTo>
                  <a:lnTo>
                    <a:pt x="672978" y="19820"/>
                  </a:lnTo>
                  <a:lnTo>
                    <a:pt x="672118" y="19820"/>
                  </a:lnTo>
                  <a:lnTo>
                    <a:pt x="674006" y="19007"/>
                  </a:lnTo>
                  <a:lnTo>
                    <a:pt x="670304" y="19007"/>
                  </a:lnTo>
                  <a:lnTo>
                    <a:pt x="674780" y="14460"/>
                  </a:lnTo>
                  <a:lnTo>
                    <a:pt x="674906" y="4241"/>
                  </a:lnTo>
                  <a:lnTo>
                    <a:pt x="674105" y="3340"/>
                  </a:lnTo>
                  <a:lnTo>
                    <a:pt x="670795" y="0"/>
                  </a:lnTo>
                  <a:close/>
                </a:path>
                <a:path w="808354" h="24129">
                  <a:moveTo>
                    <a:pt x="21239" y="17789"/>
                  </a:moveTo>
                  <a:lnTo>
                    <a:pt x="12980" y="17789"/>
                  </a:lnTo>
                  <a:lnTo>
                    <a:pt x="17114" y="19007"/>
                  </a:lnTo>
                  <a:lnTo>
                    <a:pt x="18454" y="19007"/>
                  </a:lnTo>
                  <a:lnTo>
                    <a:pt x="21239" y="17789"/>
                  </a:lnTo>
                  <a:close/>
                </a:path>
                <a:path w="808354" h="24129">
                  <a:moveTo>
                    <a:pt x="31986" y="7049"/>
                  </a:moveTo>
                  <a:lnTo>
                    <a:pt x="13742" y="7049"/>
                  </a:lnTo>
                  <a:lnTo>
                    <a:pt x="13158" y="7577"/>
                  </a:lnTo>
                  <a:lnTo>
                    <a:pt x="12787" y="7882"/>
                  </a:lnTo>
                  <a:lnTo>
                    <a:pt x="11504" y="9062"/>
                  </a:lnTo>
                  <a:lnTo>
                    <a:pt x="11457" y="10892"/>
                  </a:lnTo>
                  <a:lnTo>
                    <a:pt x="11336" y="15370"/>
                  </a:lnTo>
                  <a:lnTo>
                    <a:pt x="13359" y="17572"/>
                  </a:lnTo>
                  <a:lnTo>
                    <a:pt x="13579" y="17572"/>
                  </a:lnTo>
                  <a:lnTo>
                    <a:pt x="13868" y="17789"/>
                  </a:lnTo>
                  <a:lnTo>
                    <a:pt x="21239" y="17789"/>
                  </a:lnTo>
                  <a:lnTo>
                    <a:pt x="18454" y="19007"/>
                  </a:lnTo>
                  <a:lnTo>
                    <a:pt x="30270" y="19007"/>
                  </a:lnTo>
                  <a:lnTo>
                    <a:pt x="29042" y="17572"/>
                  </a:lnTo>
                  <a:lnTo>
                    <a:pt x="29136" y="9749"/>
                  </a:lnTo>
                  <a:lnTo>
                    <a:pt x="31986" y="7049"/>
                  </a:lnTo>
                  <a:close/>
                </a:path>
                <a:path w="808354" h="24129">
                  <a:moveTo>
                    <a:pt x="408544" y="1523"/>
                  </a:moveTo>
                  <a:lnTo>
                    <a:pt x="399021" y="1523"/>
                  </a:lnTo>
                  <a:lnTo>
                    <a:pt x="395464" y="5151"/>
                  </a:lnTo>
                  <a:lnTo>
                    <a:pt x="395354" y="14778"/>
                  </a:lnTo>
                  <a:lnTo>
                    <a:pt x="399668" y="19007"/>
                  </a:lnTo>
                  <a:lnTo>
                    <a:pt x="385703" y="19007"/>
                  </a:lnTo>
                  <a:lnTo>
                    <a:pt x="430906" y="17789"/>
                  </a:lnTo>
                  <a:lnTo>
                    <a:pt x="409354" y="17789"/>
                  </a:lnTo>
                  <a:lnTo>
                    <a:pt x="412374" y="14592"/>
                  </a:lnTo>
                  <a:lnTo>
                    <a:pt x="412252" y="5355"/>
                  </a:lnTo>
                  <a:lnTo>
                    <a:pt x="412246" y="5151"/>
                  </a:lnTo>
                  <a:lnTo>
                    <a:pt x="411640" y="4516"/>
                  </a:lnTo>
                  <a:lnTo>
                    <a:pt x="408544" y="1523"/>
                  </a:lnTo>
                  <a:close/>
                </a:path>
                <a:path w="808354" h="24129">
                  <a:moveTo>
                    <a:pt x="437714" y="17789"/>
                  </a:moveTo>
                  <a:lnTo>
                    <a:pt x="430906" y="17789"/>
                  </a:lnTo>
                  <a:lnTo>
                    <a:pt x="385703" y="19007"/>
                  </a:lnTo>
                  <a:lnTo>
                    <a:pt x="381039" y="19007"/>
                  </a:lnTo>
                  <a:lnTo>
                    <a:pt x="437714" y="17789"/>
                  </a:lnTo>
                  <a:close/>
                </a:path>
                <a:path w="808354" h="24129">
                  <a:moveTo>
                    <a:pt x="656739" y="579"/>
                  </a:moveTo>
                  <a:lnTo>
                    <a:pt x="553824" y="579"/>
                  </a:lnTo>
                  <a:lnTo>
                    <a:pt x="557723" y="4516"/>
                  </a:lnTo>
                  <a:lnTo>
                    <a:pt x="557685" y="14143"/>
                  </a:lnTo>
                  <a:lnTo>
                    <a:pt x="554016" y="17789"/>
                  </a:lnTo>
                  <a:lnTo>
                    <a:pt x="807829" y="19007"/>
                  </a:lnTo>
                  <a:lnTo>
                    <a:pt x="661050" y="19007"/>
                  </a:lnTo>
                  <a:lnTo>
                    <a:pt x="656504" y="14460"/>
                  </a:lnTo>
                  <a:lnTo>
                    <a:pt x="656378" y="12111"/>
                  </a:lnTo>
                  <a:lnTo>
                    <a:pt x="656363" y="9062"/>
                  </a:lnTo>
                  <a:lnTo>
                    <a:pt x="656149" y="8872"/>
                  </a:lnTo>
                  <a:lnTo>
                    <a:pt x="655771" y="8250"/>
                  </a:lnTo>
                  <a:lnTo>
                    <a:pt x="655328" y="7272"/>
                  </a:lnTo>
                  <a:lnTo>
                    <a:pt x="655360" y="1915"/>
                  </a:lnTo>
                  <a:lnTo>
                    <a:pt x="655735" y="1523"/>
                  </a:lnTo>
                  <a:lnTo>
                    <a:pt x="656739" y="579"/>
                  </a:lnTo>
                  <a:close/>
                </a:path>
                <a:path w="808354" h="24129">
                  <a:moveTo>
                    <a:pt x="656377" y="9062"/>
                  </a:moveTo>
                  <a:lnTo>
                    <a:pt x="656504" y="14460"/>
                  </a:lnTo>
                  <a:lnTo>
                    <a:pt x="661050" y="19007"/>
                  </a:lnTo>
                  <a:lnTo>
                    <a:pt x="670936" y="19007"/>
                  </a:lnTo>
                  <a:lnTo>
                    <a:pt x="667330" y="17572"/>
                  </a:lnTo>
                  <a:lnTo>
                    <a:pt x="666635" y="17572"/>
                  </a:lnTo>
                  <a:lnTo>
                    <a:pt x="664632" y="15819"/>
                  </a:lnTo>
                  <a:lnTo>
                    <a:pt x="661266" y="13102"/>
                  </a:lnTo>
                  <a:lnTo>
                    <a:pt x="656377" y="9062"/>
                  </a:lnTo>
                  <a:close/>
                </a:path>
                <a:path w="808354" h="24129">
                  <a:moveTo>
                    <a:pt x="673226" y="0"/>
                  </a:moveTo>
                  <a:lnTo>
                    <a:pt x="670795" y="0"/>
                  </a:lnTo>
                  <a:lnTo>
                    <a:pt x="674105" y="3340"/>
                  </a:lnTo>
                  <a:lnTo>
                    <a:pt x="674906" y="4241"/>
                  </a:lnTo>
                  <a:lnTo>
                    <a:pt x="674780" y="14460"/>
                  </a:lnTo>
                  <a:lnTo>
                    <a:pt x="670304" y="19007"/>
                  </a:lnTo>
                  <a:lnTo>
                    <a:pt x="674131" y="19007"/>
                  </a:lnTo>
                  <a:lnTo>
                    <a:pt x="679157" y="14460"/>
                  </a:lnTo>
                  <a:lnTo>
                    <a:pt x="679190" y="14143"/>
                  </a:lnTo>
                  <a:lnTo>
                    <a:pt x="680775" y="10155"/>
                  </a:lnTo>
                  <a:lnTo>
                    <a:pt x="680659" y="9062"/>
                  </a:lnTo>
                  <a:lnTo>
                    <a:pt x="680000" y="5767"/>
                  </a:lnTo>
                  <a:lnTo>
                    <a:pt x="679877" y="5151"/>
                  </a:lnTo>
                  <a:lnTo>
                    <a:pt x="680008" y="5151"/>
                  </a:lnTo>
                  <a:lnTo>
                    <a:pt x="678373" y="2713"/>
                  </a:lnTo>
                  <a:lnTo>
                    <a:pt x="676538" y="1523"/>
                  </a:lnTo>
                  <a:lnTo>
                    <a:pt x="675877" y="1158"/>
                  </a:lnTo>
                  <a:lnTo>
                    <a:pt x="674698" y="579"/>
                  </a:lnTo>
                  <a:lnTo>
                    <a:pt x="674871" y="579"/>
                  </a:lnTo>
                  <a:lnTo>
                    <a:pt x="673226" y="0"/>
                  </a:lnTo>
                  <a:close/>
                </a:path>
                <a:path w="808354" h="24129">
                  <a:moveTo>
                    <a:pt x="679012" y="14592"/>
                  </a:moveTo>
                  <a:lnTo>
                    <a:pt x="674131" y="19007"/>
                  </a:lnTo>
                  <a:lnTo>
                    <a:pt x="677339" y="17572"/>
                  </a:lnTo>
                  <a:lnTo>
                    <a:pt x="677828" y="17572"/>
                  </a:lnTo>
                  <a:lnTo>
                    <a:pt x="678938" y="14778"/>
                  </a:lnTo>
                  <a:lnTo>
                    <a:pt x="679012" y="14592"/>
                  </a:lnTo>
                  <a:close/>
                </a:path>
                <a:path w="808354" h="24129">
                  <a:moveTo>
                    <a:pt x="11336" y="15370"/>
                  </a:moveTo>
                  <a:lnTo>
                    <a:pt x="11331" y="15553"/>
                  </a:lnTo>
                  <a:lnTo>
                    <a:pt x="13248" y="17789"/>
                  </a:lnTo>
                  <a:lnTo>
                    <a:pt x="13868" y="17789"/>
                  </a:lnTo>
                  <a:lnTo>
                    <a:pt x="13579" y="17572"/>
                  </a:lnTo>
                  <a:lnTo>
                    <a:pt x="13359" y="17572"/>
                  </a:lnTo>
                  <a:lnTo>
                    <a:pt x="11336" y="15370"/>
                  </a:lnTo>
                  <a:close/>
                </a:path>
                <a:path w="808354" h="24129">
                  <a:moveTo>
                    <a:pt x="43049" y="17572"/>
                  </a:moveTo>
                  <a:lnTo>
                    <a:pt x="32813" y="17572"/>
                  </a:lnTo>
                  <a:lnTo>
                    <a:pt x="27605" y="17789"/>
                  </a:lnTo>
                  <a:lnTo>
                    <a:pt x="43021" y="17789"/>
                  </a:lnTo>
                  <a:lnTo>
                    <a:pt x="43049" y="17572"/>
                  </a:lnTo>
                  <a:close/>
                </a:path>
                <a:path w="808354" h="24129">
                  <a:moveTo>
                    <a:pt x="544096" y="579"/>
                  </a:moveTo>
                  <a:lnTo>
                    <a:pt x="395547" y="1523"/>
                  </a:lnTo>
                  <a:lnTo>
                    <a:pt x="408544" y="1523"/>
                  </a:lnTo>
                  <a:lnTo>
                    <a:pt x="411640" y="4516"/>
                  </a:lnTo>
                  <a:lnTo>
                    <a:pt x="412246" y="5151"/>
                  </a:lnTo>
                  <a:lnTo>
                    <a:pt x="412252" y="5355"/>
                  </a:lnTo>
                  <a:lnTo>
                    <a:pt x="412374" y="14592"/>
                  </a:lnTo>
                  <a:lnTo>
                    <a:pt x="409354" y="17789"/>
                  </a:lnTo>
                  <a:lnTo>
                    <a:pt x="543894" y="17789"/>
                  </a:lnTo>
                  <a:lnTo>
                    <a:pt x="540273" y="14143"/>
                  </a:lnTo>
                  <a:lnTo>
                    <a:pt x="540210" y="4516"/>
                  </a:lnTo>
                  <a:lnTo>
                    <a:pt x="544096" y="579"/>
                  </a:lnTo>
                  <a:close/>
                </a:path>
                <a:path w="808354" h="24129">
                  <a:moveTo>
                    <a:pt x="657356" y="0"/>
                  </a:moveTo>
                  <a:lnTo>
                    <a:pt x="654587" y="0"/>
                  </a:lnTo>
                  <a:lnTo>
                    <a:pt x="544096" y="579"/>
                  </a:lnTo>
                  <a:lnTo>
                    <a:pt x="540210" y="4516"/>
                  </a:lnTo>
                  <a:lnTo>
                    <a:pt x="540273" y="14143"/>
                  </a:lnTo>
                  <a:lnTo>
                    <a:pt x="543894" y="17789"/>
                  </a:lnTo>
                  <a:lnTo>
                    <a:pt x="554016" y="17789"/>
                  </a:lnTo>
                  <a:lnTo>
                    <a:pt x="557685" y="14143"/>
                  </a:lnTo>
                  <a:lnTo>
                    <a:pt x="557723" y="4516"/>
                  </a:lnTo>
                  <a:lnTo>
                    <a:pt x="553824" y="579"/>
                  </a:lnTo>
                  <a:lnTo>
                    <a:pt x="656739" y="579"/>
                  </a:lnTo>
                  <a:lnTo>
                    <a:pt x="657356" y="0"/>
                  </a:lnTo>
                  <a:close/>
                </a:path>
                <a:path w="808354" h="24129">
                  <a:moveTo>
                    <a:pt x="14773" y="5767"/>
                  </a:moveTo>
                  <a:lnTo>
                    <a:pt x="7699" y="5767"/>
                  </a:lnTo>
                  <a:lnTo>
                    <a:pt x="52416" y="7577"/>
                  </a:lnTo>
                  <a:lnTo>
                    <a:pt x="54422" y="9596"/>
                  </a:lnTo>
                  <a:lnTo>
                    <a:pt x="54439" y="10155"/>
                  </a:lnTo>
                  <a:lnTo>
                    <a:pt x="54563" y="14778"/>
                  </a:lnTo>
                  <a:lnTo>
                    <a:pt x="51930" y="17572"/>
                  </a:lnTo>
                  <a:lnTo>
                    <a:pt x="92698" y="17572"/>
                  </a:lnTo>
                  <a:lnTo>
                    <a:pt x="92649" y="10600"/>
                  </a:lnTo>
                  <a:lnTo>
                    <a:pt x="93064" y="10155"/>
                  </a:lnTo>
                  <a:lnTo>
                    <a:pt x="96138" y="7049"/>
                  </a:lnTo>
                  <a:lnTo>
                    <a:pt x="13425" y="7049"/>
                  </a:lnTo>
                  <a:lnTo>
                    <a:pt x="14773" y="5767"/>
                  </a:lnTo>
                  <a:close/>
                </a:path>
                <a:path w="808354" h="24129">
                  <a:moveTo>
                    <a:pt x="11504" y="9062"/>
                  </a:moveTo>
                  <a:lnTo>
                    <a:pt x="10315" y="10155"/>
                  </a:lnTo>
                  <a:lnTo>
                    <a:pt x="10208" y="14143"/>
                  </a:lnTo>
                  <a:lnTo>
                    <a:pt x="11336" y="15370"/>
                  </a:lnTo>
                  <a:lnTo>
                    <a:pt x="11457" y="10892"/>
                  </a:lnTo>
                  <a:lnTo>
                    <a:pt x="11504" y="9062"/>
                  </a:lnTo>
                  <a:close/>
                </a:path>
                <a:path w="808354" h="24129">
                  <a:moveTo>
                    <a:pt x="680878" y="10155"/>
                  </a:moveTo>
                  <a:lnTo>
                    <a:pt x="680598" y="10600"/>
                  </a:lnTo>
                  <a:lnTo>
                    <a:pt x="679316" y="13825"/>
                  </a:lnTo>
                  <a:lnTo>
                    <a:pt x="679190" y="14143"/>
                  </a:lnTo>
                  <a:lnTo>
                    <a:pt x="679064" y="14460"/>
                  </a:lnTo>
                  <a:lnTo>
                    <a:pt x="679508" y="14143"/>
                  </a:lnTo>
                  <a:lnTo>
                    <a:pt x="679859" y="13825"/>
                  </a:lnTo>
                  <a:lnTo>
                    <a:pt x="680829" y="10892"/>
                  </a:lnTo>
                  <a:lnTo>
                    <a:pt x="680878" y="10155"/>
                  </a:lnTo>
                  <a:close/>
                </a:path>
                <a:path w="808354" h="24129">
                  <a:moveTo>
                    <a:pt x="674818" y="579"/>
                  </a:moveTo>
                  <a:lnTo>
                    <a:pt x="675410" y="929"/>
                  </a:lnTo>
                  <a:lnTo>
                    <a:pt x="675877" y="1158"/>
                  </a:lnTo>
                  <a:lnTo>
                    <a:pt x="676538" y="1523"/>
                  </a:lnTo>
                  <a:lnTo>
                    <a:pt x="678373" y="2713"/>
                  </a:lnTo>
                  <a:lnTo>
                    <a:pt x="680008" y="5151"/>
                  </a:lnTo>
                  <a:lnTo>
                    <a:pt x="680000" y="5767"/>
                  </a:lnTo>
                  <a:lnTo>
                    <a:pt x="680256" y="7049"/>
                  </a:lnTo>
                  <a:lnTo>
                    <a:pt x="680301" y="7272"/>
                  </a:lnTo>
                  <a:lnTo>
                    <a:pt x="680423" y="7882"/>
                  </a:lnTo>
                  <a:lnTo>
                    <a:pt x="680497" y="8250"/>
                  </a:lnTo>
                  <a:lnTo>
                    <a:pt x="680621" y="8872"/>
                  </a:lnTo>
                  <a:lnTo>
                    <a:pt x="680659" y="9062"/>
                  </a:lnTo>
                  <a:lnTo>
                    <a:pt x="680766" y="9596"/>
                  </a:lnTo>
                  <a:lnTo>
                    <a:pt x="680843" y="9983"/>
                  </a:lnTo>
                  <a:lnTo>
                    <a:pt x="681678" y="7882"/>
                  </a:lnTo>
                  <a:lnTo>
                    <a:pt x="681620" y="7577"/>
                  </a:lnTo>
                  <a:lnTo>
                    <a:pt x="679526" y="2713"/>
                  </a:lnTo>
                  <a:lnTo>
                    <a:pt x="679465" y="2572"/>
                  </a:lnTo>
                  <a:lnTo>
                    <a:pt x="679389" y="2395"/>
                  </a:lnTo>
                  <a:lnTo>
                    <a:pt x="674818" y="579"/>
                  </a:lnTo>
                  <a:close/>
                </a:path>
                <a:path w="808354" h="24129">
                  <a:moveTo>
                    <a:pt x="16699" y="5767"/>
                  </a:moveTo>
                  <a:lnTo>
                    <a:pt x="14773" y="5767"/>
                  </a:lnTo>
                  <a:lnTo>
                    <a:pt x="11509" y="8872"/>
                  </a:lnTo>
                  <a:lnTo>
                    <a:pt x="11504" y="9062"/>
                  </a:lnTo>
                  <a:lnTo>
                    <a:pt x="12787" y="7882"/>
                  </a:lnTo>
                  <a:lnTo>
                    <a:pt x="13158" y="7577"/>
                  </a:lnTo>
                  <a:lnTo>
                    <a:pt x="13742" y="7049"/>
                  </a:lnTo>
                  <a:lnTo>
                    <a:pt x="13223" y="7049"/>
                  </a:lnTo>
                  <a:lnTo>
                    <a:pt x="16699" y="5767"/>
                  </a:lnTo>
                  <a:close/>
                </a:path>
                <a:path w="808354" h="24129">
                  <a:moveTo>
                    <a:pt x="660450" y="0"/>
                  </a:moveTo>
                  <a:lnTo>
                    <a:pt x="657356" y="0"/>
                  </a:lnTo>
                  <a:lnTo>
                    <a:pt x="655735" y="1523"/>
                  </a:lnTo>
                  <a:lnTo>
                    <a:pt x="655360" y="1915"/>
                  </a:lnTo>
                  <a:lnTo>
                    <a:pt x="655328" y="7272"/>
                  </a:lnTo>
                  <a:lnTo>
                    <a:pt x="655771" y="8250"/>
                  </a:lnTo>
                  <a:lnTo>
                    <a:pt x="656149" y="8872"/>
                  </a:lnTo>
                  <a:lnTo>
                    <a:pt x="656377" y="9062"/>
                  </a:lnTo>
                  <a:lnTo>
                    <a:pt x="656339" y="4241"/>
                  </a:lnTo>
                  <a:lnTo>
                    <a:pt x="657140" y="3340"/>
                  </a:lnTo>
                  <a:lnTo>
                    <a:pt x="660450" y="0"/>
                  </a:lnTo>
                  <a:close/>
                </a:path>
                <a:path w="808354" h="24129">
                  <a:moveTo>
                    <a:pt x="845" y="5767"/>
                  </a:moveTo>
                  <a:lnTo>
                    <a:pt x="0" y="5767"/>
                  </a:lnTo>
                  <a:lnTo>
                    <a:pt x="49364" y="7049"/>
                  </a:lnTo>
                  <a:lnTo>
                    <a:pt x="48268" y="7049"/>
                  </a:lnTo>
                  <a:lnTo>
                    <a:pt x="845" y="57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8" name="object 15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53129" y="5169547"/>
              <a:ext cx="658717" cy="665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5667" rIns="0" bIns="0" rtlCol="0" vert="horz">
            <a:spAutoFit/>
          </a:bodyPr>
          <a:lstStyle/>
          <a:p>
            <a:pPr marL="1069975">
              <a:lnSpc>
                <a:spcPct val="100000"/>
              </a:lnSpc>
              <a:spcBef>
                <a:spcPts val="95"/>
              </a:spcBef>
            </a:pPr>
            <a:r>
              <a:rPr dirty="0"/>
              <a:t>Regularization</a:t>
            </a:r>
            <a:r>
              <a:rPr dirty="0" spc="-229"/>
              <a:t> </a:t>
            </a:r>
            <a:r>
              <a:rPr dirty="0" spc="-10"/>
              <a:t>Networks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8254" y="2552763"/>
            <a:ext cx="8425180" cy="1731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regularization</a:t>
            </a:r>
            <a:r>
              <a:rPr dirty="0" sz="2800" spc="-8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-30">
                <a:solidFill>
                  <a:srgbClr val="0000FF"/>
                </a:solidFill>
                <a:latin typeface="Tahoma"/>
                <a:cs typeface="Tahoma"/>
              </a:rPr>
              <a:t>network</a:t>
            </a:r>
            <a:r>
              <a:rPr dirty="0" sz="2800" spc="-8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models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interpolation </a:t>
            </a:r>
            <a:r>
              <a:rPr dirty="0" sz="2800" spc="-20">
                <a:latin typeface="Tahoma"/>
                <a:cs typeface="Tahoma"/>
              </a:rPr>
              <a:t>function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229">
                <a:latin typeface="Tahoma"/>
                <a:cs typeface="Tahoma"/>
              </a:rPr>
              <a:t>F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as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i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2800" spc="-5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i="1">
                <a:solidFill>
                  <a:srgbClr val="FF0000"/>
                </a:solidFill>
                <a:latin typeface="Arial"/>
                <a:cs typeface="Arial"/>
              </a:rPr>
              <a:t>linear</a:t>
            </a:r>
            <a:r>
              <a:rPr dirty="0" sz="2800" spc="-5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i="1">
                <a:solidFill>
                  <a:srgbClr val="FF0000"/>
                </a:solidFill>
                <a:latin typeface="Arial"/>
                <a:cs typeface="Arial"/>
              </a:rPr>
              <a:t>superposition</a:t>
            </a:r>
            <a:r>
              <a:rPr dirty="0" sz="2800" spc="-5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i="1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dirty="0" sz="2800" spc="-5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spc="-10" i="1">
                <a:solidFill>
                  <a:srgbClr val="FF0000"/>
                </a:solidFill>
                <a:latin typeface="Arial"/>
                <a:cs typeface="Arial"/>
              </a:rPr>
              <a:t>multivariate </a:t>
            </a:r>
            <a:r>
              <a:rPr dirty="0" sz="2800" i="1">
                <a:solidFill>
                  <a:srgbClr val="FF0000"/>
                </a:solidFill>
                <a:latin typeface="Arial"/>
                <a:cs typeface="Arial"/>
              </a:rPr>
              <a:t>Gaussian</a:t>
            </a:r>
            <a:r>
              <a:rPr dirty="0" sz="2800" spc="-4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i="1">
                <a:solidFill>
                  <a:srgbClr val="FF0000"/>
                </a:solidFill>
                <a:latin typeface="Arial"/>
                <a:cs typeface="Arial"/>
              </a:rPr>
              <a:t>functions,</a:t>
            </a:r>
            <a:r>
              <a:rPr dirty="0" sz="2800" spc="-3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>
                <a:latin typeface="Tahoma"/>
                <a:cs typeface="Tahoma"/>
              </a:rPr>
              <a:t>which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number</a:t>
            </a:r>
            <a:r>
              <a:rPr dirty="0" sz="2800" spc="-1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55">
                <a:solidFill>
                  <a:srgbClr val="0000FF"/>
                </a:solidFill>
                <a:latin typeface="Tahoma"/>
                <a:cs typeface="Tahoma"/>
              </a:rPr>
              <a:t>is</a:t>
            </a:r>
            <a:r>
              <a:rPr dirty="0" sz="2800" spc="-13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equal</a:t>
            </a:r>
            <a:r>
              <a:rPr dirty="0" sz="2800" spc="-1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-3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dirty="0" sz="2800" spc="-13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-25">
                <a:solidFill>
                  <a:srgbClr val="0000FF"/>
                </a:solidFill>
                <a:latin typeface="Tahoma"/>
                <a:cs typeface="Tahoma"/>
              </a:rPr>
              <a:t>the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number</a:t>
            </a:r>
            <a:r>
              <a:rPr dirty="0" sz="2800" spc="-10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dirty="0" sz="2800" spc="-10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dirty="0" sz="2800" spc="-10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given</a:t>
            </a:r>
            <a:r>
              <a:rPr dirty="0" sz="2800" spc="-10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-30">
                <a:solidFill>
                  <a:srgbClr val="0000FF"/>
                </a:solidFill>
                <a:latin typeface="Tahoma"/>
                <a:cs typeface="Tahoma"/>
              </a:rPr>
              <a:t>input</a:t>
            </a:r>
            <a:r>
              <a:rPr dirty="0" sz="2800" spc="-10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examples</a:t>
            </a:r>
            <a:r>
              <a:rPr dirty="0" sz="2800" spc="-10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-25">
                <a:solidFill>
                  <a:srgbClr val="0000FF"/>
                </a:solidFill>
                <a:latin typeface="Tahoma"/>
                <a:cs typeface="Tahoma"/>
              </a:rPr>
              <a:t>N: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0034" y="5552503"/>
            <a:ext cx="41573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30">
                <a:latin typeface="Tahoma"/>
                <a:cs typeface="Tahoma"/>
              </a:rPr>
              <a:t>where: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i="1">
                <a:latin typeface="Arial"/>
                <a:cs typeface="Arial"/>
              </a:rPr>
              <a:t>w</a:t>
            </a:r>
            <a:r>
              <a:rPr dirty="0" baseline="-16975" sz="2700" i="1">
                <a:latin typeface="Arial"/>
                <a:cs typeface="Arial"/>
              </a:rPr>
              <a:t>i</a:t>
            </a:r>
            <a:r>
              <a:rPr dirty="0" baseline="-16975" sz="2700" spc="352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are</a:t>
            </a:r>
            <a:r>
              <a:rPr dirty="0" sz="2800" spc="-4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the</a:t>
            </a:r>
            <a:r>
              <a:rPr dirty="0" sz="2800" spc="-40" i="1">
                <a:latin typeface="Arial"/>
                <a:cs typeface="Arial"/>
              </a:rPr>
              <a:t> </a:t>
            </a:r>
            <a:r>
              <a:rPr dirty="0" sz="2800" spc="-10" i="1">
                <a:latin typeface="Arial"/>
                <a:cs typeface="Arial"/>
              </a:rPr>
              <a:t>weights.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9502" y="4827955"/>
            <a:ext cx="213817" cy="209524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2388489" y="4801565"/>
            <a:ext cx="376555" cy="289560"/>
            <a:chOff x="2388489" y="4801565"/>
            <a:chExt cx="376555" cy="28956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01823" y="4900307"/>
              <a:ext cx="148844" cy="14093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388489" y="4801564"/>
              <a:ext cx="376555" cy="289560"/>
            </a:xfrm>
            <a:custGeom>
              <a:avLst/>
              <a:gdLst/>
              <a:ahLst/>
              <a:cxnLst/>
              <a:rect l="l" t="t" r="r" b="b"/>
              <a:pathLst>
                <a:path w="376555" h="289560">
                  <a:moveTo>
                    <a:pt x="95948" y="0"/>
                  </a:moveTo>
                  <a:lnTo>
                    <a:pt x="80848" y="0"/>
                  </a:lnTo>
                  <a:lnTo>
                    <a:pt x="61950" y="12814"/>
                  </a:lnTo>
                  <a:lnTo>
                    <a:pt x="31724" y="45224"/>
                  </a:lnTo>
                  <a:lnTo>
                    <a:pt x="11328" y="82918"/>
                  </a:lnTo>
                  <a:lnTo>
                    <a:pt x="1511" y="123609"/>
                  </a:lnTo>
                  <a:lnTo>
                    <a:pt x="0" y="144716"/>
                  </a:lnTo>
                  <a:lnTo>
                    <a:pt x="1511" y="165823"/>
                  </a:lnTo>
                  <a:lnTo>
                    <a:pt x="11328" y="206514"/>
                  </a:lnTo>
                  <a:lnTo>
                    <a:pt x="31724" y="244208"/>
                  </a:lnTo>
                  <a:lnTo>
                    <a:pt x="61950" y="276606"/>
                  </a:lnTo>
                  <a:lnTo>
                    <a:pt x="80848" y="289420"/>
                  </a:lnTo>
                  <a:lnTo>
                    <a:pt x="95948" y="289420"/>
                  </a:lnTo>
                  <a:lnTo>
                    <a:pt x="79336" y="276606"/>
                  </a:lnTo>
                  <a:lnTo>
                    <a:pt x="64223" y="261531"/>
                  </a:lnTo>
                  <a:lnTo>
                    <a:pt x="41554" y="226110"/>
                  </a:lnTo>
                  <a:lnTo>
                    <a:pt x="27190" y="186169"/>
                  </a:lnTo>
                  <a:lnTo>
                    <a:pt x="22656" y="144716"/>
                  </a:lnTo>
                  <a:lnTo>
                    <a:pt x="24168" y="123609"/>
                  </a:lnTo>
                  <a:lnTo>
                    <a:pt x="33235" y="82918"/>
                  </a:lnTo>
                  <a:lnTo>
                    <a:pt x="51371" y="45224"/>
                  </a:lnTo>
                  <a:lnTo>
                    <a:pt x="79336" y="12814"/>
                  </a:lnTo>
                  <a:lnTo>
                    <a:pt x="95948" y="0"/>
                  </a:lnTo>
                  <a:close/>
                </a:path>
                <a:path w="376555" h="289560">
                  <a:moveTo>
                    <a:pt x="376275" y="144716"/>
                  </a:moveTo>
                  <a:lnTo>
                    <a:pt x="370979" y="103263"/>
                  </a:lnTo>
                  <a:lnTo>
                    <a:pt x="355879" y="63322"/>
                  </a:lnTo>
                  <a:lnTo>
                    <a:pt x="330936" y="27889"/>
                  </a:lnTo>
                  <a:lnTo>
                    <a:pt x="295427" y="0"/>
                  </a:lnTo>
                  <a:lnTo>
                    <a:pt x="280314" y="0"/>
                  </a:lnTo>
                  <a:lnTo>
                    <a:pt x="296938" y="12814"/>
                  </a:lnTo>
                  <a:lnTo>
                    <a:pt x="312051" y="27889"/>
                  </a:lnTo>
                  <a:lnTo>
                    <a:pt x="334721" y="63322"/>
                  </a:lnTo>
                  <a:lnTo>
                    <a:pt x="348322" y="103263"/>
                  </a:lnTo>
                  <a:lnTo>
                    <a:pt x="353606" y="144716"/>
                  </a:lnTo>
                  <a:lnTo>
                    <a:pt x="352094" y="165823"/>
                  </a:lnTo>
                  <a:lnTo>
                    <a:pt x="343027" y="206514"/>
                  </a:lnTo>
                  <a:lnTo>
                    <a:pt x="324891" y="244208"/>
                  </a:lnTo>
                  <a:lnTo>
                    <a:pt x="296938" y="276606"/>
                  </a:lnTo>
                  <a:lnTo>
                    <a:pt x="280314" y="289420"/>
                  </a:lnTo>
                  <a:lnTo>
                    <a:pt x="295427" y="289420"/>
                  </a:lnTo>
                  <a:lnTo>
                    <a:pt x="330936" y="261531"/>
                  </a:lnTo>
                  <a:lnTo>
                    <a:pt x="355879" y="226110"/>
                  </a:lnTo>
                  <a:lnTo>
                    <a:pt x="370979" y="186169"/>
                  </a:lnTo>
                  <a:lnTo>
                    <a:pt x="374764" y="165823"/>
                  </a:lnTo>
                  <a:lnTo>
                    <a:pt x="376275" y="1447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2908325" y="4914620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 h="0">
                <a:moveTo>
                  <a:pt x="0" y="0"/>
                </a:moveTo>
                <a:lnTo>
                  <a:pt x="213067" y="0"/>
                </a:lnTo>
              </a:path>
            </a:pathLst>
          </a:custGeom>
          <a:ln w="1207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908325" y="4977930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 h="0">
                <a:moveTo>
                  <a:pt x="0" y="0"/>
                </a:moveTo>
                <a:lnTo>
                  <a:pt x="213067" y="0"/>
                </a:lnTo>
              </a:path>
            </a:pathLst>
          </a:custGeom>
          <a:ln w="1207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89629" y="4543056"/>
            <a:ext cx="157911" cy="117576"/>
          </a:xfrm>
          <a:prstGeom prst="rect">
            <a:avLst/>
          </a:prstGeom>
        </p:spPr>
      </p:pic>
      <p:sp>
        <p:nvSpPr>
          <p:cNvPr id="12" name="object 12" descr=""/>
          <p:cNvSpPr/>
          <p:nvPr/>
        </p:nvSpPr>
        <p:spPr>
          <a:xfrm>
            <a:off x="3304247" y="5220627"/>
            <a:ext cx="50800" cy="115570"/>
          </a:xfrm>
          <a:custGeom>
            <a:avLst/>
            <a:gdLst/>
            <a:ahLst/>
            <a:cxnLst/>
            <a:rect l="l" t="t" r="r" b="b"/>
            <a:pathLst>
              <a:path w="50800" h="115570">
                <a:moveTo>
                  <a:pt x="42316" y="0"/>
                </a:moveTo>
                <a:lnTo>
                  <a:pt x="30975" y="9791"/>
                </a:lnTo>
                <a:lnTo>
                  <a:pt x="32486" y="12814"/>
                </a:lnTo>
                <a:lnTo>
                  <a:pt x="34759" y="14312"/>
                </a:lnTo>
                <a:lnTo>
                  <a:pt x="38531" y="15074"/>
                </a:lnTo>
                <a:lnTo>
                  <a:pt x="42316" y="15074"/>
                </a:lnTo>
                <a:lnTo>
                  <a:pt x="45338" y="12814"/>
                </a:lnTo>
                <a:lnTo>
                  <a:pt x="47599" y="10553"/>
                </a:lnTo>
                <a:lnTo>
                  <a:pt x="49110" y="7531"/>
                </a:lnTo>
                <a:lnTo>
                  <a:pt x="49872" y="5270"/>
                </a:lnTo>
                <a:lnTo>
                  <a:pt x="48361" y="2260"/>
                </a:lnTo>
                <a:lnTo>
                  <a:pt x="46088" y="749"/>
                </a:lnTo>
                <a:lnTo>
                  <a:pt x="42316" y="0"/>
                </a:lnTo>
                <a:close/>
              </a:path>
              <a:path w="50800" h="115570">
                <a:moveTo>
                  <a:pt x="38792" y="42202"/>
                </a:moveTo>
                <a:lnTo>
                  <a:pt x="24930" y="42202"/>
                </a:lnTo>
                <a:lnTo>
                  <a:pt x="27952" y="42951"/>
                </a:lnTo>
                <a:lnTo>
                  <a:pt x="28714" y="45974"/>
                </a:lnTo>
                <a:lnTo>
                  <a:pt x="28061" y="50495"/>
                </a:lnTo>
                <a:lnTo>
                  <a:pt x="27952" y="51244"/>
                </a:lnTo>
                <a:lnTo>
                  <a:pt x="25692" y="57277"/>
                </a:lnTo>
                <a:lnTo>
                  <a:pt x="10579" y="93459"/>
                </a:lnTo>
                <a:lnTo>
                  <a:pt x="9067" y="97980"/>
                </a:lnTo>
                <a:lnTo>
                  <a:pt x="8305" y="101739"/>
                </a:lnTo>
                <a:lnTo>
                  <a:pt x="9067" y="105511"/>
                </a:lnTo>
                <a:lnTo>
                  <a:pt x="24180" y="115316"/>
                </a:lnTo>
                <a:lnTo>
                  <a:pt x="29463" y="114554"/>
                </a:lnTo>
                <a:lnTo>
                  <a:pt x="33997" y="113055"/>
                </a:lnTo>
                <a:lnTo>
                  <a:pt x="37365" y="110032"/>
                </a:lnTo>
                <a:lnTo>
                  <a:pt x="24930" y="110032"/>
                </a:lnTo>
                <a:lnTo>
                  <a:pt x="22669" y="109283"/>
                </a:lnTo>
                <a:lnTo>
                  <a:pt x="21158" y="106273"/>
                </a:lnTo>
                <a:lnTo>
                  <a:pt x="21907" y="106273"/>
                </a:lnTo>
                <a:lnTo>
                  <a:pt x="22561" y="101739"/>
                </a:lnTo>
                <a:lnTo>
                  <a:pt x="22669" y="100990"/>
                </a:lnTo>
                <a:lnTo>
                  <a:pt x="24180" y="94957"/>
                </a:lnTo>
                <a:lnTo>
                  <a:pt x="40043" y="58026"/>
                </a:lnTo>
                <a:lnTo>
                  <a:pt x="41554" y="50495"/>
                </a:lnTo>
                <a:lnTo>
                  <a:pt x="40805" y="46723"/>
                </a:lnTo>
                <a:lnTo>
                  <a:pt x="39293" y="42951"/>
                </a:lnTo>
                <a:lnTo>
                  <a:pt x="38792" y="42202"/>
                </a:lnTo>
                <a:close/>
              </a:path>
              <a:path w="50800" h="115570">
                <a:moveTo>
                  <a:pt x="48361" y="85915"/>
                </a:moveTo>
                <a:lnTo>
                  <a:pt x="46088" y="85915"/>
                </a:lnTo>
                <a:lnTo>
                  <a:pt x="43827" y="86677"/>
                </a:lnTo>
                <a:lnTo>
                  <a:pt x="42316" y="88176"/>
                </a:lnTo>
                <a:lnTo>
                  <a:pt x="39293" y="96469"/>
                </a:lnTo>
                <a:lnTo>
                  <a:pt x="35509" y="103251"/>
                </a:lnTo>
                <a:lnTo>
                  <a:pt x="30975" y="108534"/>
                </a:lnTo>
                <a:lnTo>
                  <a:pt x="24930" y="110032"/>
                </a:lnTo>
                <a:lnTo>
                  <a:pt x="37365" y="110032"/>
                </a:lnTo>
                <a:lnTo>
                  <a:pt x="41554" y="106273"/>
                </a:lnTo>
                <a:lnTo>
                  <a:pt x="46850" y="97218"/>
                </a:lnTo>
                <a:lnTo>
                  <a:pt x="50622" y="88176"/>
                </a:lnTo>
                <a:lnTo>
                  <a:pt x="50622" y="87426"/>
                </a:lnTo>
                <a:lnTo>
                  <a:pt x="49872" y="86677"/>
                </a:lnTo>
                <a:lnTo>
                  <a:pt x="48361" y="85915"/>
                </a:lnTo>
                <a:close/>
              </a:path>
              <a:path w="50800" h="115570">
                <a:moveTo>
                  <a:pt x="30975" y="36931"/>
                </a:moveTo>
                <a:lnTo>
                  <a:pt x="21158" y="36931"/>
                </a:lnTo>
                <a:lnTo>
                  <a:pt x="16624" y="39192"/>
                </a:lnTo>
                <a:lnTo>
                  <a:pt x="9067" y="45974"/>
                </a:lnTo>
                <a:lnTo>
                  <a:pt x="3022" y="54267"/>
                </a:lnTo>
                <a:lnTo>
                  <a:pt x="0" y="64058"/>
                </a:lnTo>
                <a:lnTo>
                  <a:pt x="0" y="65570"/>
                </a:lnTo>
                <a:lnTo>
                  <a:pt x="2260" y="66319"/>
                </a:lnTo>
                <a:lnTo>
                  <a:pt x="4533" y="66319"/>
                </a:lnTo>
                <a:lnTo>
                  <a:pt x="6045" y="65570"/>
                </a:lnTo>
                <a:lnTo>
                  <a:pt x="7556" y="64058"/>
                </a:lnTo>
                <a:lnTo>
                  <a:pt x="10579" y="55765"/>
                </a:lnTo>
                <a:lnTo>
                  <a:pt x="14350" y="48234"/>
                </a:lnTo>
                <a:lnTo>
                  <a:pt x="18884" y="43713"/>
                </a:lnTo>
                <a:lnTo>
                  <a:pt x="24930" y="42202"/>
                </a:lnTo>
                <a:lnTo>
                  <a:pt x="38792" y="42202"/>
                </a:lnTo>
                <a:lnTo>
                  <a:pt x="37782" y="40690"/>
                </a:lnTo>
                <a:lnTo>
                  <a:pt x="34759" y="38430"/>
                </a:lnTo>
                <a:lnTo>
                  <a:pt x="30975" y="369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3399447" y="5265089"/>
            <a:ext cx="119380" cy="35560"/>
          </a:xfrm>
          <a:custGeom>
            <a:avLst/>
            <a:gdLst/>
            <a:ahLst/>
            <a:cxnLst/>
            <a:rect l="l" t="t" r="r" b="b"/>
            <a:pathLst>
              <a:path w="119379" h="35560">
                <a:moveTo>
                  <a:pt x="0" y="0"/>
                </a:moveTo>
                <a:lnTo>
                  <a:pt x="119379" y="0"/>
                </a:lnTo>
              </a:path>
              <a:path w="119379" h="35560">
                <a:moveTo>
                  <a:pt x="0" y="35420"/>
                </a:moveTo>
                <a:lnTo>
                  <a:pt x="119379" y="35420"/>
                </a:lnTo>
              </a:path>
            </a:pathLst>
          </a:custGeom>
          <a:ln w="67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72484" y="5213083"/>
            <a:ext cx="70269" cy="12059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58349" y="4900307"/>
            <a:ext cx="260680" cy="18238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65866" y="4898796"/>
            <a:ext cx="457885" cy="197472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4590250" y="4797805"/>
            <a:ext cx="245745" cy="297180"/>
            <a:chOff x="4590250" y="4797805"/>
            <a:chExt cx="245745" cy="297180"/>
          </a:xfrm>
        </p:grpSpPr>
        <p:sp>
          <p:nvSpPr>
            <p:cNvPr id="18" name="object 18" descr=""/>
            <p:cNvSpPr/>
            <p:nvPr/>
          </p:nvSpPr>
          <p:spPr>
            <a:xfrm>
              <a:off x="4703584" y="4946281"/>
              <a:ext cx="132715" cy="0"/>
            </a:xfrm>
            <a:custGeom>
              <a:avLst/>
              <a:gdLst/>
              <a:ahLst/>
              <a:cxnLst/>
              <a:rect l="l" t="t" r="r" b="b"/>
              <a:pathLst>
                <a:path w="132714" h="0">
                  <a:moveTo>
                    <a:pt x="0" y="0"/>
                  </a:moveTo>
                  <a:lnTo>
                    <a:pt x="132219" y="0"/>
                  </a:lnTo>
                </a:path>
              </a:pathLst>
            </a:custGeom>
            <a:ln w="120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590250" y="4797805"/>
              <a:ext cx="96520" cy="297180"/>
            </a:xfrm>
            <a:custGeom>
              <a:avLst/>
              <a:gdLst/>
              <a:ahLst/>
              <a:cxnLst/>
              <a:rect l="l" t="t" r="r" b="b"/>
              <a:pathLst>
                <a:path w="96520" h="297179">
                  <a:moveTo>
                    <a:pt x="95961" y="0"/>
                  </a:moveTo>
                  <a:lnTo>
                    <a:pt x="80848" y="0"/>
                  </a:lnTo>
                  <a:lnTo>
                    <a:pt x="61950" y="13563"/>
                  </a:lnTo>
                  <a:lnTo>
                    <a:pt x="31724" y="46723"/>
                  </a:lnTo>
                  <a:lnTo>
                    <a:pt x="11328" y="85166"/>
                  </a:lnTo>
                  <a:lnTo>
                    <a:pt x="1511" y="126619"/>
                  </a:lnTo>
                  <a:lnTo>
                    <a:pt x="0" y="148475"/>
                  </a:lnTo>
                  <a:lnTo>
                    <a:pt x="1511" y="170332"/>
                  </a:lnTo>
                  <a:lnTo>
                    <a:pt x="11328" y="211785"/>
                  </a:lnTo>
                  <a:lnTo>
                    <a:pt x="31724" y="250977"/>
                  </a:lnTo>
                  <a:lnTo>
                    <a:pt x="61950" y="283387"/>
                  </a:lnTo>
                  <a:lnTo>
                    <a:pt x="80848" y="296951"/>
                  </a:lnTo>
                  <a:lnTo>
                    <a:pt x="95961" y="296951"/>
                  </a:lnTo>
                  <a:lnTo>
                    <a:pt x="79336" y="283387"/>
                  </a:lnTo>
                  <a:lnTo>
                    <a:pt x="64223" y="268312"/>
                  </a:lnTo>
                  <a:lnTo>
                    <a:pt x="41554" y="232130"/>
                  </a:lnTo>
                  <a:lnTo>
                    <a:pt x="27952" y="191439"/>
                  </a:lnTo>
                  <a:lnTo>
                    <a:pt x="23418" y="148475"/>
                  </a:lnTo>
                  <a:lnTo>
                    <a:pt x="24180" y="126619"/>
                  </a:lnTo>
                  <a:lnTo>
                    <a:pt x="33235" y="85166"/>
                  </a:lnTo>
                  <a:lnTo>
                    <a:pt x="52133" y="46723"/>
                  </a:lnTo>
                  <a:lnTo>
                    <a:pt x="79336" y="13563"/>
                  </a:lnTo>
                  <a:lnTo>
                    <a:pt x="95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/>
          <p:nvPr/>
        </p:nvSpPr>
        <p:spPr>
          <a:xfrm>
            <a:off x="4887950" y="4806099"/>
            <a:ext cx="15875" cy="307975"/>
          </a:xfrm>
          <a:custGeom>
            <a:avLst/>
            <a:gdLst/>
            <a:ahLst/>
            <a:cxnLst/>
            <a:rect l="l" t="t" r="r" b="b"/>
            <a:pathLst>
              <a:path w="15875" h="307975">
                <a:moveTo>
                  <a:pt x="7556" y="0"/>
                </a:moveTo>
                <a:lnTo>
                  <a:pt x="4533" y="749"/>
                </a:lnTo>
                <a:lnTo>
                  <a:pt x="2260" y="3009"/>
                </a:lnTo>
                <a:lnTo>
                  <a:pt x="749" y="5270"/>
                </a:lnTo>
                <a:lnTo>
                  <a:pt x="0" y="7531"/>
                </a:lnTo>
                <a:lnTo>
                  <a:pt x="0" y="299961"/>
                </a:lnTo>
                <a:lnTo>
                  <a:pt x="749" y="302221"/>
                </a:lnTo>
                <a:lnTo>
                  <a:pt x="2260" y="305244"/>
                </a:lnTo>
                <a:lnTo>
                  <a:pt x="4533" y="306743"/>
                </a:lnTo>
                <a:lnTo>
                  <a:pt x="7556" y="307505"/>
                </a:lnTo>
                <a:lnTo>
                  <a:pt x="10579" y="306743"/>
                </a:lnTo>
                <a:lnTo>
                  <a:pt x="12839" y="305244"/>
                </a:lnTo>
                <a:lnTo>
                  <a:pt x="15100" y="302221"/>
                </a:lnTo>
                <a:lnTo>
                  <a:pt x="15862" y="299961"/>
                </a:lnTo>
                <a:lnTo>
                  <a:pt x="15862" y="7531"/>
                </a:lnTo>
                <a:lnTo>
                  <a:pt x="15100" y="5270"/>
                </a:lnTo>
                <a:lnTo>
                  <a:pt x="10579" y="749"/>
                </a:lnTo>
                <a:lnTo>
                  <a:pt x="75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4972570" y="4806099"/>
            <a:ext cx="197485" cy="307975"/>
            <a:chOff x="4972570" y="4806099"/>
            <a:chExt cx="197485" cy="307975"/>
          </a:xfrm>
        </p:grpSpPr>
        <p:sp>
          <p:nvSpPr>
            <p:cNvPr id="22" name="object 22" descr=""/>
            <p:cNvSpPr/>
            <p:nvPr/>
          </p:nvSpPr>
          <p:spPr>
            <a:xfrm>
              <a:off x="4972570" y="4806099"/>
              <a:ext cx="15875" cy="307975"/>
            </a:xfrm>
            <a:custGeom>
              <a:avLst/>
              <a:gdLst/>
              <a:ahLst/>
              <a:cxnLst/>
              <a:rect l="l" t="t" r="r" b="b"/>
              <a:pathLst>
                <a:path w="15875" h="307975">
                  <a:moveTo>
                    <a:pt x="7556" y="0"/>
                  </a:moveTo>
                  <a:lnTo>
                    <a:pt x="4533" y="749"/>
                  </a:lnTo>
                  <a:lnTo>
                    <a:pt x="2260" y="3009"/>
                  </a:lnTo>
                  <a:lnTo>
                    <a:pt x="749" y="5270"/>
                  </a:lnTo>
                  <a:lnTo>
                    <a:pt x="0" y="7531"/>
                  </a:lnTo>
                  <a:lnTo>
                    <a:pt x="0" y="299961"/>
                  </a:lnTo>
                  <a:lnTo>
                    <a:pt x="749" y="302221"/>
                  </a:lnTo>
                  <a:lnTo>
                    <a:pt x="2260" y="305244"/>
                  </a:lnTo>
                  <a:lnTo>
                    <a:pt x="4533" y="306743"/>
                  </a:lnTo>
                  <a:lnTo>
                    <a:pt x="7556" y="307505"/>
                  </a:lnTo>
                  <a:lnTo>
                    <a:pt x="10579" y="306743"/>
                  </a:lnTo>
                  <a:lnTo>
                    <a:pt x="12839" y="305244"/>
                  </a:lnTo>
                  <a:lnTo>
                    <a:pt x="15112" y="302221"/>
                  </a:lnTo>
                  <a:lnTo>
                    <a:pt x="15862" y="299961"/>
                  </a:lnTo>
                  <a:lnTo>
                    <a:pt x="15862" y="7531"/>
                  </a:lnTo>
                  <a:lnTo>
                    <a:pt x="15112" y="5270"/>
                  </a:lnTo>
                  <a:lnTo>
                    <a:pt x="10579" y="749"/>
                  </a:lnTo>
                  <a:lnTo>
                    <a:pt x="75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20932" y="4900307"/>
              <a:ext cx="148844" cy="140931"/>
            </a:xfrm>
            <a:prstGeom prst="rect">
              <a:avLst/>
            </a:prstGeom>
          </p:spPr>
        </p:pic>
      </p:grpSp>
      <p:sp>
        <p:nvSpPr>
          <p:cNvPr id="24" name="object 24" descr=""/>
          <p:cNvSpPr/>
          <p:nvPr/>
        </p:nvSpPr>
        <p:spPr>
          <a:xfrm>
            <a:off x="5257419" y="4946281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 h="0">
                <a:moveTo>
                  <a:pt x="0" y="0"/>
                </a:moveTo>
                <a:lnTo>
                  <a:pt x="213080" y="0"/>
                </a:lnTo>
              </a:path>
            </a:pathLst>
          </a:custGeom>
          <a:ln w="1207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5" name="object 2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58904" y="4900307"/>
            <a:ext cx="213829" cy="182384"/>
          </a:xfrm>
          <a:prstGeom prst="rect">
            <a:avLst/>
          </a:prstGeom>
        </p:spPr>
      </p:pic>
      <p:sp>
        <p:nvSpPr>
          <p:cNvPr id="26" name="object 26" descr=""/>
          <p:cNvSpPr/>
          <p:nvPr/>
        </p:nvSpPr>
        <p:spPr>
          <a:xfrm>
            <a:off x="5819571" y="4806848"/>
            <a:ext cx="15875" cy="307340"/>
          </a:xfrm>
          <a:custGeom>
            <a:avLst/>
            <a:gdLst/>
            <a:ahLst/>
            <a:cxnLst/>
            <a:rect l="l" t="t" r="r" b="b"/>
            <a:pathLst>
              <a:path w="15875" h="307339">
                <a:moveTo>
                  <a:pt x="11341" y="0"/>
                </a:moveTo>
                <a:lnTo>
                  <a:pt x="5295" y="0"/>
                </a:lnTo>
                <a:lnTo>
                  <a:pt x="2273" y="2260"/>
                </a:lnTo>
                <a:lnTo>
                  <a:pt x="762" y="4521"/>
                </a:lnTo>
                <a:lnTo>
                  <a:pt x="0" y="7531"/>
                </a:lnTo>
                <a:lnTo>
                  <a:pt x="0" y="299212"/>
                </a:lnTo>
                <a:lnTo>
                  <a:pt x="762" y="301472"/>
                </a:lnTo>
                <a:lnTo>
                  <a:pt x="2273" y="304495"/>
                </a:lnTo>
                <a:lnTo>
                  <a:pt x="5295" y="305993"/>
                </a:lnTo>
                <a:lnTo>
                  <a:pt x="8318" y="306755"/>
                </a:lnTo>
                <a:lnTo>
                  <a:pt x="11341" y="305993"/>
                </a:lnTo>
                <a:lnTo>
                  <a:pt x="13601" y="304495"/>
                </a:lnTo>
                <a:lnTo>
                  <a:pt x="15112" y="301472"/>
                </a:lnTo>
                <a:lnTo>
                  <a:pt x="15875" y="299212"/>
                </a:lnTo>
                <a:lnTo>
                  <a:pt x="15875" y="7531"/>
                </a:lnTo>
                <a:lnTo>
                  <a:pt x="15112" y="4521"/>
                </a:lnTo>
                <a:lnTo>
                  <a:pt x="13601" y="2260"/>
                </a:lnTo>
                <a:lnTo>
                  <a:pt x="113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5904204" y="4806848"/>
            <a:ext cx="15875" cy="307340"/>
          </a:xfrm>
          <a:custGeom>
            <a:avLst/>
            <a:gdLst/>
            <a:ahLst/>
            <a:cxnLst/>
            <a:rect l="l" t="t" r="r" b="b"/>
            <a:pathLst>
              <a:path w="15875" h="307339">
                <a:moveTo>
                  <a:pt x="10579" y="0"/>
                </a:moveTo>
                <a:lnTo>
                  <a:pt x="5283" y="0"/>
                </a:lnTo>
                <a:lnTo>
                  <a:pt x="2260" y="2260"/>
                </a:lnTo>
                <a:lnTo>
                  <a:pt x="749" y="4521"/>
                </a:lnTo>
                <a:lnTo>
                  <a:pt x="0" y="7531"/>
                </a:lnTo>
                <a:lnTo>
                  <a:pt x="0" y="299212"/>
                </a:lnTo>
                <a:lnTo>
                  <a:pt x="749" y="301472"/>
                </a:lnTo>
                <a:lnTo>
                  <a:pt x="2260" y="304495"/>
                </a:lnTo>
                <a:lnTo>
                  <a:pt x="5283" y="305993"/>
                </a:lnTo>
                <a:lnTo>
                  <a:pt x="8305" y="306755"/>
                </a:lnTo>
                <a:lnTo>
                  <a:pt x="10579" y="305993"/>
                </a:lnTo>
                <a:lnTo>
                  <a:pt x="13601" y="304495"/>
                </a:lnTo>
                <a:lnTo>
                  <a:pt x="15112" y="301472"/>
                </a:lnTo>
                <a:lnTo>
                  <a:pt x="15862" y="299212"/>
                </a:lnTo>
                <a:lnTo>
                  <a:pt x="15862" y="7531"/>
                </a:lnTo>
                <a:lnTo>
                  <a:pt x="15112" y="4521"/>
                </a:lnTo>
                <a:lnTo>
                  <a:pt x="13601" y="2260"/>
                </a:lnTo>
                <a:lnTo>
                  <a:pt x="105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" name="object 2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15266" y="4793284"/>
            <a:ext cx="84632" cy="120586"/>
          </a:xfrm>
          <a:prstGeom prst="rect">
            <a:avLst/>
          </a:prstGeom>
        </p:spPr>
      </p:pic>
      <p:grpSp>
        <p:nvGrpSpPr>
          <p:cNvPr id="29" name="object 29" descr=""/>
          <p:cNvGrpSpPr/>
          <p:nvPr/>
        </p:nvGrpSpPr>
        <p:grpSpPr>
          <a:xfrm>
            <a:off x="6149009" y="4793284"/>
            <a:ext cx="596265" cy="320675"/>
            <a:chOff x="6149009" y="4793284"/>
            <a:chExt cx="596265" cy="320675"/>
          </a:xfrm>
        </p:grpSpPr>
        <p:sp>
          <p:nvSpPr>
            <p:cNvPr id="30" name="object 30" descr=""/>
            <p:cNvSpPr/>
            <p:nvPr/>
          </p:nvSpPr>
          <p:spPr>
            <a:xfrm>
              <a:off x="6149009" y="4806848"/>
              <a:ext cx="125095" cy="307340"/>
            </a:xfrm>
            <a:custGeom>
              <a:avLst/>
              <a:gdLst/>
              <a:ahLst/>
              <a:cxnLst/>
              <a:rect l="l" t="t" r="r" b="b"/>
              <a:pathLst>
                <a:path w="125095" h="307339">
                  <a:moveTo>
                    <a:pt x="119380" y="0"/>
                  </a:moveTo>
                  <a:lnTo>
                    <a:pt x="113334" y="0"/>
                  </a:lnTo>
                  <a:lnTo>
                    <a:pt x="108800" y="4521"/>
                  </a:lnTo>
                  <a:lnTo>
                    <a:pt x="749" y="296202"/>
                  </a:lnTo>
                  <a:lnTo>
                    <a:pt x="0" y="299212"/>
                  </a:lnTo>
                  <a:lnTo>
                    <a:pt x="1511" y="303733"/>
                  </a:lnTo>
                  <a:lnTo>
                    <a:pt x="5283" y="305993"/>
                  </a:lnTo>
                  <a:lnTo>
                    <a:pt x="7556" y="306755"/>
                  </a:lnTo>
                  <a:lnTo>
                    <a:pt x="11328" y="305993"/>
                  </a:lnTo>
                  <a:lnTo>
                    <a:pt x="13601" y="303733"/>
                  </a:lnTo>
                  <a:lnTo>
                    <a:pt x="15112" y="301472"/>
                  </a:lnTo>
                  <a:lnTo>
                    <a:pt x="123913" y="9791"/>
                  </a:lnTo>
                  <a:lnTo>
                    <a:pt x="124675" y="6781"/>
                  </a:lnTo>
                  <a:lnTo>
                    <a:pt x="123164" y="2260"/>
                  </a:lnTo>
                  <a:lnTo>
                    <a:pt x="121653" y="749"/>
                  </a:lnTo>
                  <a:lnTo>
                    <a:pt x="1193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85014" y="4824933"/>
              <a:ext cx="131470" cy="211785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6449733" y="4904079"/>
              <a:ext cx="169545" cy="137160"/>
            </a:xfrm>
            <a:custGeom>
              <a:avLst/>
              <a:gdLst/>
              <a:ahLst/>
              <a:cxnLst/>
              <a:rect l="l" t="t" r="r" b="b"/>
              <a:pathLst>
                <a:path w="169545" h="137160">
                  <a:moveTo>
                    <a:pt x="160185" y="0"/>
                  </a:moveTo>
                  <a:lnTo>
                    <a:pt x="76314" y="0"/>
                  </a:lnTo>
                  <a:lnTo>
                    <a:pt x="69507" y="1498"/>
                  </a:lnTo>
                  <a:lnTo>
                    <a:pt x="33248" y="21094"/>
                  </a:lnTo>
                  <a:lnTo>
                    <a:pt x="7556" y="57276"/>
                  </a:lnTo>
                  <a:lnTo>
                    <a:pt x="0" y="88925"/>
                  </a:lnTo>
                  <a:lnTo>
                    <a:pt x="749" y="95707"/>
                  </a:lnTo>
                  <a:lnTo>
                    <a:pt x="24930" y="131889"/>
                  </a:lnTo>
                  <a:lnTo>
                    <a:pt x="47599" y="137159"/>
                  </a:lnTo>
                  <a:lnTo>
                    <a:pt x="60439" y="135661"/>
                  </a:lnTo>
                  <a:lnTo>
                    <a:pt x="73291" y="131889"/>
                  </a:lnTo>
                  <a:lnTo>
                    <a:pt x="82353" y="127368"/>
                  </a:lnTo>
                  <a:lnTo>
                    <a:pt x="49860" y="127368"/>
                  </a:lnTo>
                  <a:lnTo>
                    <a:pt x="42316" y="125856"/>
                  </a:lnTo>
                  <a:lnTo>
                    <a:pt x="22669" y="96469"/>
                  </a:lnTo>
                  <a:lnTo>
                    <a:pt x="22669" y="93446"/>
                  </a:lnTo>
                  <a:lnTo>
                    <a:pt x="33997" y="51244"/>
                  </a:lnTo>
                  <a:lnTo>
                    <a:pt x="61201" y="23355"/>
                  </a:lnTo>
                  <a:lnTo>
                    <a:pt x="77825" y="20345"/>
                  </a:lnTo>
                  <a:lnTo>
                    <a:pt x="156400" y="20345"/>
                  </a:lnTo>
                  <a:lnTo>
                    <a:pt x="160934" y="19596"/>
                  </a:lnTo>
                  <a:lnTo>
                    <a:pt x="164718" y="17322"/>
                  </a:lnTo>
                  <a:lnTo>
                    <a:pt x="166979" y="14312"/>
                  </a:lnTo>
                  <a:lnTo>
                    <a:pt x="169252" y="10540"/>
                  </a:lnTo>
                  <a:lnTo>
                    <a:pt x="169252" y="7531"/>
                  </a:lnTo>
                  <a:lnTo>
                    <a:pt x="168490" y="3009"/>
                  </a:lnTo>
                  <a:lnTo>
                    <a:pt x="165468" y="749"/>
                  </a:lnTo>
                  <a:lnTo>
                    <a:pt x="160185" y="0"/>
                  </a:lnTo>
                  <a:close/>
                </a:path>
                <a:path w="169545" h="137160">
                  <a:moveTo>
                    <a:pt x="120891" y="20345"/>
                  </a:moveTo>
                  <a:lnTo>
                    <a:pt x="77825" y="20345"/>
                  </a:lnTo>
                  <a:lnTo>
                    <a:pt x="86131" y="21094"/>
                  </a:lnTo>
                  <a:lnTo>
                    <a:pt x="92938" y="23355"/>
                  </a:lnTo>
                  <a:lnTo>
                    <a:pt x="98983" y="27876"/>
                  </a:lnTo>
                  <a:lnTo>
                    <a:pt x="102755" y="33159"/>
                  </a:lnTo>
                  <a:lnTo>
                    <a:pt x="105778" y="40690"/>
                  </a:lnTo>
                  <a:lnTo>
                    <a:pt x="106540" y="48234"/>
                  </a:lnTo>
                  <a:lnTo>
                    <a:pt x="106424" y="51244"/>
                  </a:lnTo>
                  <a:lnTo>
                    <a:pt x="95199" y="91947"/>
                  </a:lnTo>
                  <a:lnTo>
                    <a:pt x="66484" y="122847"/>
                  </a:lnTo>
                  <a:lnTo>
                    <a:pt x="49860" y="127368"/>
                  </a:lnTo>
                  <a:lnTo>
                    <a:pt x="82353" y="127368"/>
                  </a:lnTo>
                  <a:lnTo>
                    <a:pt x="115608" y="96469"/>
                  </a:lnTo>
                  <a:lnTo>
                    <a:pt x="129197" y="51244"/>
                  </a:lnTo>
                  <a:lnTo>
                    <a:pt x="128447" y="42951"/>
                  </a:lnTo>
                  <a:lnTo>
                    <a:pt x="126174" y="30137"/>
                  </a:lnTo>
                  <a:lnTo>
                    <a:pt x="120891" y="203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61289" y="4793284"/>
              <a:ext cx="83870" cy="120586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6632575" y="4967389"/>
              <a:ext cx="50800" cy="115570"/>
            </a:xfrm>
            <a:custGeom>
              <a:avLst/>
              <a:gdLst/>
              <a:ahLst/>
              <a:cxnLst/>
              <a:rect l="l" t="t" r="r" b="b"/>
              <a:pathLst>
                <a:path w="50800" h="115570">
                  <a:moveTo>
                    <a:pt x="42316" y="0"/>
                  </a:moveTo>
                  <a:lnTo>
                    <a:pt x="30988" y="9791"/>
                  </a:lnTo>
                  <a:lnTo>
                    <a:pt x="32499" y="12801"/>
                  </a:lnTo>
                  <a:lnTo>
                    <a:pt x="34759" y="15062"/>
                  </a:lnTo>
                  <a:lnTo>
                    <a:pt x="42316" y="15062"/>
                  </a:lnTo>
                  <a:lnTo>
                    <a:pt x="45339" y="13563"/>
                  </a:lnTo>
                  <a:lnTo>
                    <a:pt x="47612" y="10540"/>
                  </a:lnTo>
                  <a:lnTo>
                    <a:pt x="49123" y="8280"/>
                  </a:lnTo>
                  <a:lnTo>
                    <a:pt x="49872" y="6019"/>
                  </a:lnTo>
                  <a:lnTo>
                    <a:pt x="49123" y="3759"/>
                  </a:lnTo>
                  <a:lnTo>
                    <a:pt x="48361" y="2260"/>
                  </a:lnTo>
                  <a:lnTo>
                    <a:pt x="46100" y="749"/>
                  </a:lnTo>
                  <a:lnTo>
                    <a:pt x="42316" y="0"/>
                  </a:lnTo>
                  <a:close/>
                </a:path>
                <a:path w="50800" h="115570">
                  <a:moveTo>
                    <a:pt x="38539" y="42202"/>
                  </a:moveTo>
                  <a:lnTo>
                    <a:pt x="24942" y="42202"/>
                  </a:lnTo>
                  <a:lnTo>
                    <a:pt x="27965" y="42951"/>
                  </a:lnTo>
                  <a:lnTo>
                    <a:pt x="28714" y="45973"/>
                  </a:lnTo>
                  <a:lnTo>
                    <a:pt x="28071" y="50495"/>
                  </a:lnTo>
                  <a:lnTo>
                    <a:pt x="27965" y="51244"/>
                  </a:lnTo>
                  <a:lnTo>
                    <a:pt x="25692" y="57276"/>
                  </a:lnTo>
                  <a:lnTo>
                    <a:pt x="10579" y="94208"/>
                  </a:lnTo>
                  <a:lnTo>
                    <a:pt x="9067" y="97980"/>
                  </a:lnTo>
                  <a:lnTo>
                    <a:pt x="8318" y="101739"/>
                  </a:lnTo>
                  <a:lnTo>
                    <a:pt x="8318" y="102501"/>
                  </a:lnTo>
                  <a:lnTo>
                    <a:pt x="19646" y="115303"/>
                  </a:lnTo>
                  <a:lnTo>
                    <a:pt x="24180" y="115303"/>
                  </a:lnTo>
                  <a:lnTo>
                    <a:pt x="29476" y="114553"/>
                  </a:lnTo>
                  <a:lnTo>
                    <a:pt x="34010" y="113042"/>
                  </a:lnTo>
                  <a:lnTo>
                    <a:pt x="38544" y="110032"/>
                  </a:lnTo>
                  <a:lnTo>
                    <a:pt x="24942" y="110032"/>
                  </a:lnTo>
                  <a:lnTo>
                    <a:pt x="22669" y="109283"/>
                  </a:lnTo>
                  <a:lnTo>
                    <a:pt x="21158" y="106260"/>
                  </a:lnTo>
                  <a:lnTo>
                    <a:pt x="21920" y="106260"/>
                  </a:lnTo>
                  <a:lnTo>
                    <a:pt x="22454" y="102501"/>
                  </a:lnTo>
                  <a:lnTo>
                    <a:pt x="22562" y="101739"/>
                  </a:lnTo>
                  <a:lnTo>
                    <a:pt x="22669" y="100990"/>
                  </a:lnTo>
                  <a:lnTo>
                    <a:pt x="24180" y="94957"/>
                  </a:lnTo>
                  <a:lnTo>
                    <a:pt x="40055" y="58026"/>
                  </a:lnTo>
                  <a:lnTo>
                    <a:pt x="41567" y="54254"/>
                  </a:lnTo>
                  <a:lnTo>
                    <a:pt x="41567" y="50495"/>
                  </a:lnTo>
                  <a:lnTo>
                    <a:pt x="40805" y="46723"/>
                  </a:lnTo>
                  <a:lnTo>
                    <a:pt x="38539" y="42202"/>
                  </a:lnTo>
                  <a:close/>
                </a:path>
                <a:path w="50800" h="115570">
                  <a:moveTo>
                    <a:pt x="48361" y="85915"/>
                  </a:moveTo>
                  <a:lnTo>
                    <a:pt x="46100" y="85915"/>
                  </a:lnTo>
                  <a:lnTo>
                    <a:pt x="43827" y="86664"/>
                  </a:lnTo>
                  <a:lnTo>
                    <a:pt x="42316" y="88176"/>
                  </a:lnTo>
                  <a:lnTo>
                    <a:pt x="39293" y="96469"/>
                  </a:lnTo>
                  <a:lnTo>
                    <a:pt x="37782" y="100241"/>
                  </a:lnTo>
                  <a:lnTo>
                    <a:pt x="33248" y="106260"/>
                  </a:lnTo>
                  <a:lnTo>
                    <a:pt x="30988" y="108521"/>
                  </a:lnTo>
                  <a:lnTo>
                    <a:pt x="24942" y="110032"/>
                  </a:lnTo>
                  <a:lnTo>
                    <a:pt x="38544" y="110032"/>
                  </a:lnTo>
                  <a:lnTo>
                    <a:pt x="41567" y="106260"/>
                  </a:lnTo>
                  <a:lnTo>
                    <a:pt x="46850" y="97980"/>
                  </a:lnTo>
                  <a:lnTo>
                    <a:pt x="50634" y="88925"/>
                  </a:lnTo>
                  <a:lnTo>
                    <a:pt x="50634" y="87426"/>
                  </a:lnTo>
                  <a:lnTo>
                    <a:pt x="49872" y="86664"/>
                  </a:lnTo>
                  <a:lnTo>
                    <a:pt x="48361" y="85915"/>
                  </a:lnTo>
                  <a:close/>
                </a:path>
                <a:path w="50800" h="115570">
                  <a:moveTo>
                    <a:pt x="30988" y="36918"/>
                  </a:moveTo>
                  <a:lnTo>
                    <a:pt x="26454" y="36918"/>
                  </a:lnTo>
                  <a:lnTo>
                    <a:pt x="21158" y="37680"/>
                  </a:lnTo>
                  <a:lnTo>
                    <a:pt x="1524" y="59537"/>
                  </a:lnTo>
                  <a:lnTo>
                    <a:pt x="0" y="64058"/>
                  </a:lnTo>
                  <a:lnTo>
                    <a:pt x="0" y="66319"/>
                  </a:lnTo>
                  <a:lnTo>
                    <a:pt x="4533" y="66319"/>
                  </a:lnTo>
                  <a:lnTo>
                    <a:pt x="6807" y="65570"/>
                  </a:lnTo>
                  <a:lnTo>
                    <a:pt x="7556" y="64058"/>
                  </a:lnTo>
                  <a:lnTo>
                    <a:pt x="10579" y="55765"/>
                  </a:lnTo>
                  <a:lnTo>
                    <a:pt x="14363" y="48234"/>
                  </a:lnTo>
                  <a:lnTo>
                    <a:pt x="19646" y="43713"/>
                  </a:lnTo>
                  <a:lnTo>
                    <a:pt x="21920" y="42951"/>
                  </a:lnTo>
                  <a:lnTo>
                    <a:pt x="24942" y="42202"/>
                  </a:lnTo>
                  <a:lnTo>
                    <a:pt x="38539" y="42202"/>
                  </a:lnTo>
                  <a:lnTo>
                    <a:pt x="37782" y="40690"/>
                  </a:lnTo>
                  <a:lnTo>
                    <a:pt x="34759" y="38430"/>
                  </a:lnTo>
                  <a:lnTo>
                    <a:pt x="30988" y="369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/>
          <p:nvPr/>
        </p:nvSpPr>
        <p:spPr>
          <a:xfrm>
            <a:off x="6796544" y="4797805"/>
            <a:ext cx="96520" cy="297180"/>
          </a:xfrm>
          <a:custGeom>
            <a:avLst/>
            <a:gdLst/>
            <a:ahLst/>
            <a:cxnLst/>
            <a:rect l="l" t="t" r="r" b="b"/>
            <a:pathLst>
              <a:path w="96520" h="297179">
                <a:moveTo>
                  <a:pt x="15113" y="0"/>
                </a:moveTo>
                <a:lnTo>
                  <a:pt x="0" y="0"/>
                </a:lnTo>
                <a:lnTo>
                  <a:pt x="17373" y="13563"/>
                </a:lnTo>
                <a:lnTo>
                  <a:pt x="31737" y="29387"/>
                </a:lnTo>
                <a:lnTo>
                  <a:pt x="54394" y="65570"/>
                </a:lnTo>
                <a:lnTo>
                  <a:pt x="68757" y="105511"/>
                </a:lnTo>
                <a:lnTo>
                  <a:pt x="73291" y="148475"/>
                </a:lnTo>
                <a:lnTo>
                  <a:pt x="71780" y="170332"/>
                </a:lnTo>
                <a:lnTo>
                  <a:pt x="62712" y="211785"/>
                </a:lnTo>
                <a:lnTo>
                  <a:pt x="44577" y="250977"/>
                </a:lnTo>
                <a:lnTo>
                  <a:pt x="17373" y="283387"/>
                </a:lnTo>
                <a:lnTo>
                  <a:pt x="0" y="296951"/>
                </a:lnTo>
                <a:lnTo>
                  <a:pt x="15113" y="296951"/>
                </a:lnTo>
                <a:lnTo>
                  <a:pt x="50622" y="268312"/>
                </a:lnTo>
                <a:lnTo>
                  <a:pt x="75552" y="232130"/>
                </a:lnTo>
                <a:lnTo>
                  <a:pt x="90665" y="191439"/>
                </a:lnTo>
                <a:lnTo>
                  <a:pt x="95961" y="148475"/>
                </a:lnTo>
                <a:lnTo>
                  <a:pt x="94449" y="127368"/>
                </a:lnTo>
                <a:lnTo>
                  <a:pt x="84620" y="85166"/>
                </a:lnTo>
                <a:lnTo>
                  <a:pt x="64223" y="46723"/>
                </a:lnTo>
                <a:lnTo>
                  <a:pt x="33997" y="13563"/>
                </a:lnTo>
                <a:lnTo>
                  <a:pt x="151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3255886" y="4726203"/>
            <a:ext cx="426720" cy="440690"/>
          </a:xfrm>
          <a:custGeom>
            <a:avLst/>
            <a:gdLst/>
            <a:ahLst/>
            <a:cxnLst/>
            <a:rect l="l" t="t" r="r" b="b"/>
            <a:pathLst>
              <a:path w="426720" h="440689">
                <a:moveTo>
                  <a:pt x="387616" y="0"/>
                </a:moveTo>
                <a:lnTo>
                  <a:pt x="4533" y="0"/>
                </a:lnTo>
                <a:lnTo>
                  <a:pt x="1511" y="1511"/>
                </a:lnTo>
                <a:lnTo>
                  <a:pt x="0" y="5270"/>
                </a:lnTo>
                <a:lnTo>
                  <a:pt x="0" y="12814"/>
                </a:lnTo>
                <a:lnTo>
                  <a:pt x="761" y="16586"/>
                </a:lnTo>
                <a:lnTo>
                  <a:pt x="164718" y="235153"/>
                </a:lnTo>
                <a:lnTo>
                  <a:pt x="761" y="431863"/>
                </a:lnTo>
                <a:lnTo>
                  <a:pt x="0" y="434873"/>
                </a:lnTo>
                <a:lnTo>
                  <a:pt x="761" y="437134"/>
                </a:lnTo>
                <a:lnTo>
                  <a:pt x="1511" y="438645"/>
                </a:lnTo>
                <a:lnTo>
                  <a:pt x="4533" y="440156"/>
                </a:lnTo>
                <a:lnTo>
                  <a:pt x="387616" y="440156"/>
                </a:lnTo>
                <a:lnTo>
                  <a:pt x="426148" y="330111"/>
                </a:lnTo>
                <a:lnTo>
                  <a:pt x="415569" y="330111"/>
                </a:lnTo>
                <a:lnTo>
                  <a:pt x="411035" y="340664"/>
                </a:lnTo>
                <a:lnTo>
                  <a:pt x="405752" y="351218"/>
                </a:lnTo>
                <a:lnTo>
                  <a:pt x="372503" y="384378"/>
                </a:lnTo>
                <a:lnTo>
                  <a:pt x="335483" y="402475"/>
                </a:lnTo>
                <a:lnTo>
                  <a:pt x="281838" y="413016"/>
                </a:lnTo>
                <a:lnTo>
                  <a:pt x="243306" y="415277"/>
                </a:lnTo>
                <a:lnTo>
                  <a:pt x="37782" y="415277"/>
                </a:lnTo>
                <a:lnTo>
                  <a:pt x="198716" y="223088"/>
                </a:lnTo>
                <a:lnTo>
                  <a:pt x="199478" y="220827"/>
                </a:lnTo>
                <a:lnTo>
                  <a:pt x="198716" y="217055"/>
                </a:lnTo>
                <a:lnTo>
                  <a:pt x="48361" y="18084"/>
                </a:lnTo>
                <a:lnTo>
                  <a:pt x="241033" y="18084"/>
                </a:lnTo>
                <a:lnTo>
                  <a:pt x="279565" y="20345"/>
                </a:lnTo>
                <a:lnTo>
                  <a:pt x="333971" y="30899"/>
                </a:lnTo>
                <a:lnTo>
                  <a:pt x="370992" y="49745"/>
                </a:lnTo>
                <a:lnTo>
                  <a:pt x="404990" y="82905"/>
                </a:lnTo>
                <a:lnTo>
                  <a:pt x="415569" y="104012"/>
                </a:lnTo>
                <a:lnTo>
                  <a:pt x="426148" y="104012"/>
                </a:lnTo>
                <a:lnTo>
                  <a:pt x="3876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8745855" y="6427787"/>
            <a:ext cx="12318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ahoma"/>
                <a:cs typeface="Tahoma"/>
              </a:rPr>
              <a:t>7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1597181" y="634377"/>
            <a:ext cx="1445895" cy="377825"/>
            <a:chOff x="1597181" y="634377"/>
            <a:chExt cx="1445895" cy="377825"/>
          </a:xfrm>
        </p:grpSpPr>
        <p:pic>
          <p:nvPicPr>
            <p:cNvPr id="39" name="object 3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97181" y="695007"/>
              <a:ext cx="488082" cy="316839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21420" y="634377"/>
              <a:ext cx="921524" cy="37595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9007" y="310292"/>
            <a:ext cx="8509635" cy="2838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19075">
              <a:lnSpc>
                <a:spcPct val="158900"/>
              </a:lnSpc>
              <a:spcBef>
                <a:spcPts val="95"/>
              </a:spcBef>
            </a:pPr>
            <a:r>
              <a:rPr dirty="0" sz="1150">
                <a:latin typeface="Arial MT"/>
                <a:cs typeface="Arial MT"/>
              </a:rPr>
              <a:t>“</a:t>
            </a:r>
            <a:r>
              <a:rPr dirty="0" sz="1150" spc="15">
                <a:latin typeface="Microsoft JhengHei UI"/>
                <a:cs typeface="Microsoft JhengHei UI"/>
              </a:rPr>
              <a:t>插值函数 </a:t>
            </a:r>
            <a:r>
              <a:rPr dirty="0" sz="1150">
                <a:latin typeface="Arial MT"/>
                <a:cs typeface="Arial MT"/>
              </a:rPr>
              <a:t>F</a:t>
            </a:r>
            <a:r>
              <a:rPr dirty="0" sz="1150" spc="30">
                <a:latin typeface="Arial MT"/>
                <a:cs typeface="Arial MT"/>
              </a:rPr>
              <a:t>” </a:t>
            </a:r>
            <a:r>
              <a:rPr dirty="0" sz="1150">
                <a:latin typeface="Arial MT"/>
                <a:cs typeface="Arial MT"/>
              </a:rPr>
              <a:t>(interpolation</a:t>
            </a:r>
            <a:r>
              <a:rPr dirty="0" sz="1150" spc="7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function</a:t>
            </a:r>
            <a:r>
              <a:rPr dirty="0" sz="1150" spc="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F)</a:t>
            </a:r>
            <a:r>
              <a:rPr dirty="0" sz="1150" spc="25">
                <a:latin typeface="Microsoft JhengHei UI"/>
                <a:cs typeface="Microsoft JhengHei UI"/>
              </a:rPr>
              <a:t>： 这就是 </a:t>
            </a:r>
            <a:r>
              <a:rPr dirty="0" sz="1150">
                <a:latin typeface="Arial MT"/>
                <a:cs typeface="Arial MT"/>
              </a:rPr>
              <a:t>RBF</a:t>
            </a:r>
            <a:r>
              <a:rPr dirty="0" sz="1150" spc="65">
                <a:latin typeface="Arial MT"/>
                <a:cs typeface="Arial MT"/>
              </a:rPr>
              <a:t> </a:t>
            </a:r>
            <a:r>
              <a:rPr dirty="0" sz="1150" spc="10">
                <a:latin typeface="Microsoft JhengHei UI"/>
                <a:cs typeface="Microsoft JhengHei UI"/>
              </a:rPr>
              <a:t>⽹络的最终输出 </a:t>
            </a:r>
            <a:r>
              <a:rPr dirty="0" sz="1150">
                <a:latin typeface="Arial MT"/>
                <a:cs typeface="Arial MT"/>
              </a:rPr>
              <a:t>F(x)</a:t>
            </a:r>
            <a:r>
              <a:rPr dirty="0" sz="1150">
                <a:latin typeface="Microsoft JhengHei UI"/>
                <a:cs typeface="Microsoft JhengHei UI"/>
              </a:rPr>
              <a:t>，也就是我们想拟合的那条</a:t>
            </a:r>
            <a:r>
              <a:rPr dirty="0" sz="1150">
                <a:latin typeface="Arial MT"/>
                <a:cs typeface="Arial MT"/>
              </a:rPr>
              <a:t>“</a:t>
            </a:r>
            <a:r>
              <a:rPr dirty="0" sz="1150">
                <a:latin typeface="Microsoft JhengHei UI"/>
                <a:cs typeface="Microsoft JhengHei UI"/>
              </a:rPr>
              <a:t>最佳曲线</a:t>
            </a:r>
            <a:r>
              <a:rPr dirty="0" sz="1150">
                <a:latin typeface="Arial MT"/>
                <a:cs typeface="Arial MT"/>
              </a:rPr>
              <a:t>”</a:t>
            </a:r>
            <a:r>
              <a:rPr dirty="0" sz="1150">
                <a:latin typeface="Microsoft JhengHei UI"/>
                <a:cs typeface="Microsoft JhengHei UI"/>
              </a:rPr>
              <a:t>或</a:t>
            </a:r>
            <a:r>
              <a:rPr dirty="0" sz="1150" spc="-10">
                <a:latin typeface="Arial MT"/>
                <a:cs typeface="Arial MT"/>
              </a:rPr>
              <a:t>“</a:t>
            </a:r>
            <a:r>
              <a:rPr dirty="0" sz="1150">
                <a:latin typeface="Microsoft JhengHei UI"/>
                <a:cs typeface="Microsoft JhengHei UI"/>
              </a:rPr>
              <a:t>最佳曲⾯</a:t>
            </a:r>
            <a:r>
              <a:rPr dirty="0" sz="1150">
                <a:latin typeface="Arial MT"/>
                <a:cs typeface="Arial MT"/>
              </a:rPr>
              <a:t>”</a:t>
            </a:r>
            <a:r>
              <a:rPr dirty="0" sz="1150" spc="-50">
                <a:latin typeface="Microsoft JhengHei UI"/>
                <a:cs typeface="Microsoft JhengHei UI"/>
              </a:rPr>
              <a:t>。 </a:t>
            </a:r>
            <a:r>
              <a:rPr dirty="0" sz="1150">
                <a:latin typeface="Arial MT"/>
                <a:cs typeface="Arial MT"/>
              </a:rPr>
              <a:t>“</a:t>
            </a:r>
            <a:r>
              <a:rPr dirty="0" sz="1150">
                <a:latin typeface="Microsoft JhengHei UI"/>
                <a:cs typeface="Microsoft JhengHei UI"/>
              </a:rPr>
              <a:t>线性叠加</a:t>
            </a:r>
            <a:r>
              <a:rPr dirty="0" sz="1150" spc="50">
                <a:latin typeface="Arial MT"/>
                <a:cs typeface="Arial MT"/>
              </a:rPr>
              <a:t>” </a:t>
            </a:r>
            <a:r>
              <a:rPr dirty="0" sz="1150">
                <a:latin typeface="Arial MT"/>
                <a:cs typeface="Arial MT"/>
              </a:rPr>
              <a:t>(linear</a:t>
            </a:r>
            <a:r>
              <a:rPr dirty="0" sz="1150" spc="10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superposition)</a:t>
            </a:r>
            <a:r>
              <a:rPr dirty="0" sz="1150">
                <a:latin typeface="Microsoft JhengHei UI"/>
                <a:cs typeface="Microsoft JhengHei UI"/>
              </a:rPr>
              <a:t>： 这是⼀个物理和数学上的术语，你完全可以把它理解为</a:t>
            </a:r>
            <a:r>
              <a:rPr dirty="0" sz="1150" spc="-10">
                <a:latin typeface="Arial MT"/>
                <a:cs typeface="Arial MT"/>
              </a:rPr>
              <a:t>“</a:t>
            </a:r>
            <a:r>
              <a:rPr dirty="0" sz="1150">
                <a:latin typeface="Microsoft JhengHei UI"/>
                <a:cs typeface="Microsoft JhengHei UI"/>
              </a:rPr>
              <a:t>加权求和</a:t>
            </a:r>
            <a:r>
              <a:rPr dirty="0" sz="1150" spc="55">
                <a:latin typeface="Arial MT"/>
                <a:cs typeface="Arial MT"/>
              </a:rPr>
              <a:t>” </a:t>
            </a:r>
            <a:r>
              <a:rPr dirty="0" sz="1150">
                <a:latin typeface="Arial MT"/>
                <a:cs typeface="Arial MT"/>
              </a:rPr>
              <a:t>(weighted</a:t>
            </a:r>
            <a:r>
              <a:rPr dirty="0" sz="1150" spc="10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sum)</a:t>
            </a:r>
            <a:r>
              <a:rPr dirty="0" sz="1150" spc="-50">
                <a:latin typeface="Microsoft JhengHei UI"/>
                <a:cs typeface="Microsoft JhengHei UI"/>
              </a:rPr>
              <a:t>。</a:t>
            </a:r>
            <a:endParaRPr sz="1150">
              <a:latin typeface="Microsoft JhengHei UI"/>
              <a:cs typeface="Microsoft JhengHei UI"/>
            </a:endParaRPr>
          </a:p>
          <a:p>
            <a:pPr marL="12700" marR="5080">
              <a:lnSpc>
                <a:spcPct val="118300"/>
              </a:lnSpc>
              <a:spcBef>
                <a:spcPts val="560"/>
              </a:spcBef>
            </a:pPr>
            <a:r>
              <a:rPr dirty="0" sz="1150">
                <a:latin typeface="Arial MT"/>
                <a:cs typeface="Arial MT"/>
              </a:rPr>
              <a:t>“</a:t>
            </a:r>
            <a:r>
              <a:rPr dirty="0" sz="1150">
                <a:latin typeface="Microsoft JhengHei UI"/>
                <a:cs typeface="Microsoft JhengHei UI"/>
              </a:rPr>
              <a:t>多变量⾼斯函数</a:t>
            </a:r>
            <a:r>
              <a:rPr dirty="0" sz="1150">
                <a:latin typeface="Arial MT"/>
                <a:cs typeface="Arial MT"/>
              </a:rPr>
              <a:t>” (multivariate Gaussian functions)</a:t>
            </a:r>
            <a:r>
              <a:rPr dirty="0" sz="1150">
                <a:latin typeface="Microsoft JhengHei UI"/>
                <a:cs typeface="Microsoft JhengHei UI"/>
              </a:rPr>
              <a:t>： 这就是我们⼀直讨论的</a:t>
            </a:r>
            <a:r>
              <a:rPr dirty="0" sz="1150">
                <a:latin typeface="Arial MT"/>
                <a:cs typeface="Arial MT"/>
              </a:rPr>
              <a:t>“</a:t>
            </a:r>
            <a:r>
              <a:rPr dirty="0" sz="1150">
                <a:latin typeface="Microsoft JhengHei UI"/>
                <a:cs typeface="Microsoft JhengHei UI"/>
              </a:rPr>
              <a:t>⾼斯⼭丘</a:t>
            </a:r>
            <a:r>
              <a:rPr dirty="0" sz="1150">
                <a:latin typeface="Arial MT"/>
                <a:cs typeface="Arial MT"/>
              </a:rPr>
              <a:t>”</a:t>
            </a:r>
            <a:r>
              <a:rPr dirty="0" sz="1150">
                <a:latin typeface="Microsoft JhengHei UI"/>
                <a:cs typeface="Microsoft JhengHei UI"/>
              </a:rPr>
              <a:t>。</a:t>
            </a:r>
            <a:r>
              <a:rPr dirty="0" sz="1150" spc="-10">
                <a:latin typeface="Arial MT"/>
                <a:cs typeface="Arial MT"/>
              </a:rPr>
              <a:t>“</a:t>
            </a:r>
            <a:r>
              <a:rPr dirty="0" sz="1150">
                <a:latin typeface="Microsoft JhengHei UI"/>
                <a:cs typeface="Microsoft JhengHei UI"/>
              </a:rPr>
              <a:t>多变量</a:t>
            </a:r>
            <a:r>
              <a:rPr dirty="0" sz="1150">
                <a:latin typeface="Arial MT"/>
                <a:cs typeface="Arial MT"/>
              </a:rPr>
              <a:t>”</a:t>
            </a:r>
            <a:r>
              <a:rPr dirty="0" sz="1150" spc="15">
                <a:latin typeface="Microsoft JhengHei UI"/>
                <a:cs typeface="Microsoft JhengHei UI"/>
              </a:rPr>
              <a:t>仅仅意味着输⼊ </a:t>
            </a:r>
            <a:r>
              <a:rPr dirty="0" sz="1150">
                <a:latin typeface="Arial MT"/>
                <a:cs typeface="Arial MT"/>
              </a:rPr>
              <a:t>$x$ </a:t>
            </a:r>
            <a:r>
              <a:rPr dirty="0" sz="1150" spc="-10">
                <a:latin typeface="Microsoft JhengHei UI"/>
                <a:cs typeface="Microsoft JhengHei UI"/>
              </a:rPr>
              <a:t>可以是多维</a:t>
            </a:r>
            <a:r>
              <a:rPr dirty="0" sz="1150">
                <a:latin typeface="Microsoft JhengHei UI"/>
                <a:cs typeface="Microsoft JhengHei UI"/>
              </a:rPr>
              <a:t>的（</a:t>
            </a:r>
            <a:r>
              <a:rPr dirty="0" sz="1150" spc="50">
                <a:latin typeface="Microsoft JhengHei UI"/>
                <a:cs typeface="Microsoft JhengHei UI"/>
              </a:rPr>
              <a:t>⽐如 </a:t>
            </a:r>
            <a:r>
              <a:rPr dirty="0" sz="1150" spc="-10">
                <a:latin typeface="Arial MT"/>
                <a:cs typeface="Arial MT"/>
              </a:rPr>
              <a:t>[</a:t>
            </a:r>
            <a:r>
              <a:rPr dirty="0" sz="1150">
                <a:latin typeface="Microsoft JhengHei UI"/>
                <a:cs typeface="Microsoft JhengHei UI"/>
              </a:rPr>
              <a:t>⾯积</a:t>
            </a:r>
            <a:r>
              <a:rPr dirty="0" sz="1150" spc="60">
                <a:latin typeface="Arial MT"/>
                <a:cs typeface="Arial MT"/>
              </a:rPr>
              <a:t>, </a:t>
            </a:r>
            <a:r>
              <a:rPr dirty="0" sz="1150">
                <a:latin typeface="Microsoft JhengHei UI"/>
                <a:cs typeface="Microsoft JhengHei UI"/>
              </a:rPr>
              <a:t>房龄</a:t>
            </a:r>
            <a:r>
              <a:rPr dirty="0" sz="1150">
                <a:latin typeface="Arial MT"/>
                <a:cs typeface="Arial MT"/>
              </a:rPr>
              <a:t>]</a:t>
            </a:r>
            <a:r>
              <a:rPr dirty="0" sz="1150">
                <a:latin typeface="Microsoft JhengHei UI"/>
                <a:cs typeface="Microsoft JhengHei UI"/>
              </a:rPr>
              <a:t>），</a:t>
            </a:r>
            <a:r>
              <a:rPr dirty="0" sz="1150" spc="-5">
                <a:latin typeface="Microsoft JhengHei UI"/>
                <a:cs typeface="Microsoft JhengHei UI"/>
              </a:rPr>
              <a:t>⽽不只是⼀个单独的数字。</a:t>
            </a:r>
            <a:endParaRPr sz="1150">
              <a:latin typeface="Microsoft JhengHei UI"/>
              <a:cs typeface="Microsoft JhengHei UI"/>
            </a:endParaRPr>
          </a:p>
          <a:p>
            <a:pPr marL="178435" marR="2300605" indent="-166370">
              <a:lnSpc>
                <a:spcPct val="158900"/>
              </a:lnSpc>
            </a:pPr>
            <a:r>
              <a:rPr dirty="0" sz="1150">
                <a:latin typeface="Arial MT"/>
                <a:cs typeface="Arial MT"/>
              </a:rPr>
              <a:t>“RBF</a:t>
            </a:r>
            <a:r>
              <a:rPr dirty="0" sz="1150">
                <a:latin typeface="Microsoft JhengHei UI"/>
                <a:cs typeface="Microsoft JhengHei UI"/>
              </a:rPr>
              <a:t>的隐藏层的神经元节点数量等于给定输⼊样本的数量 </a:t>
            </a:r>
            <a:r>
              <a:rPr dirty="0" sz="1150">
                <a:latin typeface="Arial MT"/>
                <a:cs typeface="Arial MT"/>
              </a:rPr>
              <a:t>N” (which number is equal to ... </a:t>
            </a:r>
            <a:r>
              <a:rPr dirty="0" sz="1150" spc="-25">
                <a:latin typeface="Arial MT"/>
                <a:cs typeface="Arial MT"/>
              </a:rPr>
              <a:t>N)</a:t>
            </a:r>
            <a:r>
              <a:rPr dirty="0" sz="1150" spc="-25">
                <a:latin typeface="Microsoft JhengHei UI"/>
                <a:cs typeface="Microsoft JhengHei UI"/>
              </a:rPr>
              <a:t>：</a:t>
            </a:r>
            <a:r>
              <a:rPr dirty="0" sz="1150" spc="15">
                <a:latin typeface="Microsoft JhengHei UI"/>
                <a:cs typeface="Microsoft JhengHei UI"/>
              </a:rPr>
              <a:t>它规定了这种 </a:t>
            </a:r>
            <a:r>
              <a:rPr dirty="0" sz="1150">
                <a:latin typeface="Arial MT"/>
                <a:cs typeface="Arial MT"/>
              </a:rPr>
              <a:t>RBF</a:t>
            </a:r>
            <a:r>
              <a:rPr dirty="0" sz="1150" spc="95">
                <a:latin typeface="Arial MT"/>
                <a:cs typeface="Arial MT"/>
              </a:rPr>
              <a:t> </a:t>
            </a:r>
            <a:r>
              <a:rPr dirty="0" sz="1150" spc="-10">
                <a:latin typeface="Microsoft JhengHei UI"/>
                <a:cs typeface="Microsoft JhengHei UI"/>
              </a:rPr>
              <a:t>⽹络的隐藏层结构。</a:t>
            </a:r>
            <a:endParaRPr sz="1150">
              <a:latin typeface="Microsoft JhengHei UI"/>
              <a:cs typeface="Microsoft JhengHei UI"/>
            </a:endParaRPr>
          </a:p>
          <a:p>
            <a:pPr marL="178435" marR="118745">
              <a:lnSpc>
                <a:spcPct val="158900"/>
              </a:lnSpc>
            </a:pPr>
            <a:r>
              <a:rPr dirty="0" sz="1150" spc="20">
                <a:latin typeface="Microsoft JhengHei UI"/>
                <a:cs typeface="Microsoft JhengHei UI"/>
              </a:rPr>
              <a:t>如果你有 </a:t>
            </a:r>
            <a:r>
              <a:rPr dirty="0" sz="1150">
                <a:latin typeface="Arial MT"/>
                <a:cs typeface="Arial MT"/>
              </a:rPr>
              <a:t>N </a:t>
            </a:r>
            <a:r>
              <a:rPr dirty="0" sz="1150">
                <a:latin typeface="Microsoft JhengHei UI"/>
                <a:cs typeface="Microsoft JhengHei UI"/>
              </a:rPr>
              <a:t>个训练数据点（</a:t>
            </a:r>
            <a:r>
              <a:rPr dirty="0" sz="1150" spc="30">
                <a:latin typeface="Microsoft JhengHei UI"/>
                <a:cs typeface="Microsoft JhengHei UI"/>
              </a:rPr>
              <a:t>⽐如 </a:t>
            </a:r>
            <a:r>
              <a:rPr dirty="0" sz="1150">
                <a:latin typeface="Arial MT"/>
                <a:cs typeface="Arial MT"/>
              </a:rPr>
              <a:t>1000 </a:t>
            </a:r>
            <a:r>
              <a:rPr dirty="0" sz="1150">
                <a:latin typeface="Microsoft JhengHei UI"/>
                <a:cs typeface="Microsoft JhengHei UI"/>
              </a:rPr>
              <a:t>个房屋样本），</a:t>
            </a:r>
            <a:r>
              <a:rPr dirty="0" sz="1150" spc="20">
                <a:latin typeface="Microsoft JhengHei UI"/>
                <a:cs typeface="Microsoft JhengHei UI"/>
              </a:rPr>
              <a:t>那么你的 </a:t>
            </a:r>
            <a:r>
              <a:rPr dirty="0" sz="1150">
                <a:latin typeface="Arial MT"/>
                <a:cs typeface="Arial MT"/>
              </a:rPr>
              <a:t>RBF </a:t>
            </a:r>
            <a:r>
              <a:rPr dirty="0" sz="1150" spc="10">
                <a:latin typeface="Microsoft JhengHei UI"/>
                <a:cs typeface="Microsoft JhengHei UI"/>
              </a:rPr>
              <a:t>隐藏层就必须正好有 </a:t>
            </a:r>
            <a:r>
              <a:rPr dirty="0" sz="1150">
                <a:latin typeface="Arial MT"/>
                <a:cs typeface="Arial MT"/>
              </a:rPr>
              <a:t>N </a:t>
            </a:r>
            <a:r>
              <a:rPr dirty="0" sz="1150">
                <a:latin typeface="Microsoft JhengHei UI"/>
                <a:cs typeface="Microsoft JhengHei UI"/>
              </a:rPr>
              <a:t>个神经元（</a:t>
            </a:r>
            <a:r>
              <a:rPr dirty="0" sz="1150">
                <a:latin typeface="Arial MT"/>
                <a:cs typeface="Arial MT"/>
              </a:rPr>
              <a:t>1000 </a:t>
            </a:r>
            <a:r>
              <a:rPr dirty="0" sz="1150">
                <a:latin typeface="Microsoft JhengHei UI"/>
                <a:cs typeface="Microsoft JhengHei UI"/>
              </a:rPr>
              <a:t>个⾼斯函数）</a:t>
            </a:r>
            <a:r>
              <a:rPr dirty="0" sz="1150" spc="-50">
                <a:latin typeface="Microsoft JhengHei UI"/>
                <a:cs typeface="Microsoft JhengHei UI"/>
              </a:rPr>
              <a:t>。</a:t>
            </a:r>
            <a:r>
              <a:rPr dirty="0" sz="1150" spc="45">
                <a:latin typeface="Microsoft JhengHei UI"/>
                <a:cs typeface="Microsoft JhengHei UI"/>
              </a:rPr>
              <a:t>第 </a:t>
            </a:r>
            <a:r>
              <a:rPr dirty="0" sz="1150">
                <a:latin typeface="Arial MT"/>
                <a:cs typeface="Arial MT"/>
              </a:rPr>
              <a:t>i</a:t>
            </a:r>
            <a:r>
              <a:rPr dirty="0" sz="1150" spc="60">
                <a:latin typeface="Arial MT"/>
                <a:cs typeface="Arial MT"/>
              </a:rPr>
              <a:t> </a:t>
            </a:r>
            <a:r>
              <a:rPr dirty="0" sz="1150">
                <a:latin typeface="Microsoft JhengHei UI"/>
                <a:cs typeface="Microsoft JhengHei UI"/>
              </a:rPr>
              <a:t>个⾼斯函数（</a:t>
            </a:r>
            <a:r>
              <a:rPr dirty="0" sz="1150" spc="45">
                <a:latin typeface="Microsoft JhengHei UI"/>
                <a:cs typeface="Microsoft JhengHei UI"/>
              </a:rPr>
              <a:t>第 </a:t>
            </a:r>
            <a:r>
              <a:rPr dirty="0" sz="1150">
                <a:latin typeface="Arial MT"/>
                <a:cs typeface="Arial MT"/>
              </a:rPr>
              <a:t>i</a:t>
            </a:r>
            <a:r>
              <a:rPr dirty="0" sz="1150" spc="65">
                <a:latin typeface="Arial MT"/>
                <a:cs typeface="Arial MT"/>
              </a:rPr>
              <a:t> </a:t>
            </a:r>
            <a:r>
              <a:rPr dirty="0" sz="1150">
                <a:latin typeface="Microsoft JhengHei UI"/>
                <a:cs typeface="Microsoft JhengHei UI"/>
              </a:rPr>
              <a:t>个神经元）</a:t>
            </a:r>
            <a:r>
              <a:rPr dirty="0" sz="1150" spc="20">
                <a:latin typeface="Microsoft JhengHei UI"/>
                <a:cs typeface="Microsoft JhengHei UI"/>
              </a:rPr>
              <a:t>的中⼼ </a:t>
            </a:r>
            <a:r>
              <a:rPr dirty="0" sz="1150">
                <a:latin typeface="Arial MT"/>
                <a:cs typeface="Arial MT"/>
              </a:rPr>
              <a:t>xi</a:t>
            </a:r>
            <a:r>
              <a:rPr dirty="0" sz="1150" spc="5">
                <a:latin typeface="Microsoft JhengHei UI"/>
                <a:cs typeface="Microsoft JhengHei UI"/>
              </a:rPr>
              <a:t>，就直接被设定为第 </a:t>
            </a:r>
            <a:r>
              <a:rPr dirty="0" sz="1150">
                <a:latin typeface="Arial MT"/>
                <a:cs typeface="Arial MT"/>
              </a:rPr>
              <a:t>i</a:t>
            </a:r>
            <a:r>
              <a:rPr dirty="0" sz="1150" spc="65">
                <a:latin typeface="Arial MT"/>
                <a:cs typeface="Arial MT"/>
              </a:rPr>
              <a:t> </a:t>
            </a:r>
            <a:r>
              <a:rPr dirty="0" sz="1150" spc="-5">
                <a:latin typeface="Microsoft JhengHei UI"/>
                <a:cs typeface="Microsoft JhengHei UI"/>
              </a:rPr>
              <a:t>个训练数据点的位置。</a:t>
            </a:r>
            <a:endParaRPr sz="1150">
              <a:latin typeface="Microsoft JhengHei UI"/>
              <a:cs typeface="Microsoft JhengHei UI"/>
            </a:endParaRPr>
          </a:p>
          <a:p>
            <a:pPr marL="12700" marR="36830">
              <a:lnSpc>
                <a:spcPct val="118300"/>
              </a:lnSpc>
              <a:spcBef>
                <a:spcPts val="1900"/>
              </a:spcBef>
            </a:pPr>
            <a:r>
              <a:rPr dirty="0" sz="1150" spc="20">
                <a:latin typeface="Microsoft JhengHei UI"/>
                <a:cs typeface="Microsoft JhengHei UI"/>
              </a:rPr>
              <a:t>在这个模型⾥，你不需要⽤ </a:t>
            </a:r>
            <a:r>
              <a:rPr dirty="0" sz="1150">
                <a:latin typeface="Arial MT"/>
                <a:cs typeface="Arial MT"/>
              </a:rPr>
              <a:t>K-Means</a:t>
            </a:r>
            <a:r>
              <a:rPr dirty="0" sz="1150" spc="229">
                <a:latin typeface="Arial MT"/>
                <a:cs typeface="Arial MT"/>
              </a:rPr>
              <a:t> </a:t>
            </a:r>
            <a:r>
              <a:rPr dirty="0" sz="1150">
                <a:latin typeface="Microsoft JhengHei UI"/>
                <a:cs typeface="Microsoft JhengHei UI"/>
              </a:rPr>
              <a:t>聚类或其他算法去</a:t>
            </a:r>
            <a:r>
              <a:rPr dirty="0" sz="1150">
                <a:latin typeface="Arial MT"/>
                <a:cs typeface="Arial MT"/>
              </a:rPr>
              <a:t>“</a:t>
            </a:r>
            <a:r>
              <a:rPr dirty="0" sz="1150">
                <a:latin typeface="Microsoft JhengHei UI"/>
                <a:cs typeface="Microsoft JhengHei UI"/>
              </a:rPr>
              <a:t>寻找“中⼼点c”</a:t>
            </a:r>
            <a:r>
              <a:rPr dirty="0" sz="1150" spc="10">
                <a:latin typeface="Microsoft JhengHei UI"/>
                <a:cs typeface="Microsoft JhengHei UI"/>
              </a:rPr>
              <a:t>了。你直接把每⼀个训练数据点都当作⼀个 </a:t>
            </a:r>
            <a:r>
              <a:rPr dirty="0" sz="1150">
                <a:latin typeface="Arial MT"/>
                <a:cs typeface="Arial MT"/>
              </a:rPr>
              <a:t>RBF</a:t>
            </a:r>
            <a:r>
              <a:rPr dirty="0" sz="1150" spc="229">
                <a:latin typeface="Arial MT"/>
                <a:cs typeface="Arial MT"/>
              </a:rPr>
              <a:t> </a:t>
            </a:r>
            <a:r>
              <a:rPr dirty="0" sz="1150" spc="-15">
                <a:latin typeface="Microsoft JhengHei UI"/>
                <a:cs typeface="Microsoft JhengHei UI"/>
              </a:rPr>
              <a:t>神经元的</a:t>
            </a:r>
            <a:r>
              <a:rPr dirty="0" sz="1150" spc="-20">
                <a:latin typeface="Microsoft JhengHei UI"/>
                <a:cs typeface="Microsoft JhengHei UI"/>
              </a:rPr>
              <a:t>中⼼。</a:t>
            </a:r>
            <a:endParaRPr sz="1150">
              <a:latin typeface="Microsoft JhengHei UI"/>
              <a:cs typeface="Microsoft JhengHei U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3042" y="3068538"/>
            <a:ext cx="327171" cy="22440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89770" y="3181474"/>
            <a:ext cx="98687" cy="7456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65159" y="2914228"/>
            <a:ext cx="1842745" cy="67213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3193" y="3671680"/>
            <a:ext cx="351861" cy="222173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750455" y="3741459"/>
            <a:ext cx="33020" cy="72390"/>
          </a:xfrm>
          <a:custGeom>
            <a:avLst/>
            <a:gdLst/>
            <a:ahLst/>
            <a:cxnLst/>
            <a:rect l="l" t="t" r="r" b="b"/>
            <a:pathLst>
              <a:path w="33020" h="72389">
                <a:moveTo>
                  <a:pt x="19138" y="67386"/>
                </a:moveTo>
                <a:lnTo>
                  <a:pt x="18516" y="63728"/>
                </a:lnTo>
                <a:lnTo>
                  <a:pt x="17272" y="62484"/>
                </a:lnTo>
                <a:lnTo>
                  <a:pt x="15862" y="62242"/>
                </a:lnTo>
                <a:lnTo>
                  <a:pt x="15862" y="64693"/>
                </a:lnTo>
                <a:lnTo>
                  <a:pt x="15811" y="65049"/>
                </a:lnTo>
                <a:lnTo>
                  <a:pt x="15748" y="65379"/>
                </a:lnTo>
                <a:lnTo>
                  <a:pt x="15862" y="64693"/>
                </a:lnTo>
                <a:lnTo>
                  <a:pt x="15862" y="62242"/>
                </a:lnTo>
                <a:lnTo>
                  <a:pt x="14922" y="62077"/>
                </a:lnTo>
                <a:lnTo>
                  <a:pt x="14414" y="61353"/>
                </a:lnTo>
                <a:lnTo>
                  <a:pt x="14630" y="61353"/>
                </a:lnTo>
                <a:lnTo>
                  <a:pt x="12522" y="60236"/>
                </a:lnTo>
                <a:lnTo>
                  <a:pt x="7315" y="60236"/>
                </a:lnTo>
                <a:lnTo>
                  <a:pt x="6642" y="59791"/>
                </a:lnTo>
                <a:lnTo>
                  <a:pt x="5969" y="59931"/>
                </a:lnTo>
                <a:lnTo>
                  <a:pt x="5969" y="60236"/>
                </a:lnTo>
                <a:lnTo>
                  <a:pt x="5588" y="60363"/>
                </a:lnTo>
                <a:lnTo>
                  <a:pt x="4927" y="60236"/>
                </a:lnTo>
                <a:lnTo>
                  <a:pt x="5092" y="60236"/>
                </a:lnTo>
                <a:lnTo>
                  <a:pt x="5969" y="60236"/>
                </a:lnTo>
                <a:lnTo>
                  <a:pt x="5969" y="59931"/>
                </a:lnTo>
                <a:lnTo>
                  <a:pt x="4394" y="60236"/>
                </a:lnTo>
                <a:lnTo>
                  <a:pt x="3937" y="60236"/>
                </a:lnTo>
                <a:lnTo>
                  <a:pt x="3454" y="60236"/>
                </a:lnTo>
                <a:lnTo>
                  <a:pt x="2794" y="61226"/>
                </a:lnTo>
                <a:lnTo>
                  <a:pt x="2578" y="61353"/>
                </a:lnTo>
                <a:lnTo>
                  <a:pt x="1727" y="61645"/>
                </a:lnTo>
                <a:lnTo>
                  <a:pt x="1676" y="61861"/>
                </a:lnTo>
                <a:lnTo>
                  <a:pt x="1460" y="62077"/>
                </a:lnTo>
                <a:lnTo>
                  <a:pt x="1244" y="62496"/>
                </a:lnTo>
                <a:lnTo>
                  <a:pt x="1244" y="63728"/>
                </a:lnTo>
                <a:lnTo>
                  <a:pt x="1028" y="64655"/>
                </a:lnTo>
                <a:lnTo>
                  <a:pt x="939" y="64960"/>
                </a:lnTo>
                <a:lnTo>
                  <a:pt x="1244" y="63728"/>
                </a:lnTo>
                <a:lnTo>
                  <a:pt x="1244" y="62496"/>
                </a:lnTo>
                <a:lnTo>
                  <a:pt x="850" y="63246"/>
                </a:lnTo>
                <a:lnTo>
                  <a:pt x="850" y="65379"/>
                </a:lnTo>
                <a:lnTo>
                  <a:pt x="736" y="65874"/>
                </a:lnTo>
                <a:lnTo>
                  <a:pt x="622" y="66332"/>
                </a:lnTo>
                <a:lnTo>
                  <a:pt x="850" y="65379"/>
                </a:lnTo>
                <a:lnTo>
                  <a:pt x="850" y="63246"/>
                </a:lnTo>
                <a:lnTo>
                  <a:pt x="101" y="64655"/>
                </a:lnTo>
                <a:lnTo>
                  <a:pt x="228" y="65049"/>
                </a:lnTo>
                <a:lnTo>
                  <a:pt x="0" y="65379"/>
                </a:lnTo>
                <a:lnTo>
                  <a:pt x="393" y="67386"/>
                </a:lnTo>
                <a:lnTo>
                  <a:pt x="469" y="67729"/>
                </a:lnTo>
                <a:lnTo>
                  <a:pt x="596" y="68402"/>
                </a:lnTo>
                <a:lnTo>
                  <a:pt x="660" y="68719"/>
                </a:lnTo>
                <a:lnTo>
                  <a:pt x="1346" y="69176"/>
                </a:lnTo>
                <a:lnTo>
                  <a:pt x="1447" y="69342"/>
                </a:lnTo>
                <a:lnTo>
                  <a:pt x="1600" y="69342"/>
                </a:lnTo>
                <a:lnTo>
                  <a:pt x="2844" y="70167"/>
                </a:lnTo>
                <a:lnTo>
                  <a:pt x="3644" y="70675"/>
                </a:lnTo>
                <a:lnTo>
                  <a:pt x="1600" y="69342"/>
                </a:lnTo>
                <a:lnTo>
                  <a:pt x="1663" y="69697"/>
                </a:lnTo>
                <a:lnTo>
                  <a:pt x="1816" y="70167"/>
                </a:lnTo>
                <a:lnTo>
                  <a:pt x="1612" y="70167"/>
                </a:lnTo>
                <a:lnTo>
                  <a:pt x="1079" y="70167"/>
                </a:lnTo>
                <a:lnTo>
                  <a:pt x="2044" y="70408"/>
                </a:lnTo>
                <a:lnTo>
                  <a:pt x="3162" y="70675"/>
                </a:lnTo>
                <a:lnTo>
                  <a:pt x="2565" y="70675"/>
                </a:lnTo>
                <a:lnTo>
                  <a:pt x="2057" y="70408"/>
                </a:lnTo>
                <a:lnTo>
                  <a:pt x="2946" y="70891"/>
                </a:lnTo>
                <a:lnTo>
                  <a:pt x="4051" y="70891"/>
                </a:lnTo>
                <a:lnTo>
                  <a:pt x="4737" y="71297"/>
                </a:lnTo>
                <a:lnTo>
                  <a:pt x="3721" y="71297"/>
                </a:lnTo>
                <a:lnTo>
                  <a:pt x="4813" y="71882"/>
                </a:lnTo>
                <a:lnTo>
                  <a:pt x="5308" y="71742"/>
                </a:lnTo>
                <a:lnTo>
                  <a:pt x="5511" y="71742"/>
                </a:lnTo>
                <a:lnTo>
                  <a:pt x="8178" y="71424"/>
                </a:lnTo>
                <a:lnTo>
                  <a:pt x="8737" y="70891"/>
                </a:lnTo>
                <a:lnTo>
                  <a:pt x="17741" y="69342"/>
                </a:lnTo>
                <a:lnTo>
                  <a:pt x="18897" y="67729"/>
                </a:lnTo>
                <a:lnTo>
                  <a:pt x="19024" y="67551"/>
                </a:lnTo>
                <a:lnTo>
                  <a:pt x="19138" y="67386"/>
                </a:lnTo>
                <a:close/>
              </a:path>
              <a:path w="33020" h="72389">
                <a:moveTo>
                  <a:pt x="32854" y="8788"/>
                </a:moveTo>
                <a:lnTo>
                  <a:pt x="32791" y="7327"/>
                </a:lnTo>
                <a:lnTo>
                  <a:pt x="32677" y="4762"/>
                </a:lnTo>
                <a:lnTo>
                  <a:pt x="27482" y="0"/>
                </a:lnTo>
                <a:lnTo>
                  <a:pt x="23444" y="177"/>
                </a:lnTo>
                <a:lnTo>
                  <a:pt x="19367" y="4635"/>
                </a:lnTo>
                <a:lnTo>
                  <a:pt x="18923" y="7327"/>
                </a:lnTo>
                <a:lnTo>
                  <a:pt x="22504" y="15532"/>
                </a:lnTo>
                <a:lnTo>
                  <a:pt x="22618" y="15786"/>
                </a:lnTo>
                <a:lnTo>
                  <a:pt x="22682" y="15925"/>
                </a:lnTo>
                <a:lnTo>
                  <a:pt x="24434" y="16611"/>
                </a:lnTo>
                <a:lnTo>
                  <a:pt x="26327" y="15786"/>
                </a:lnTo>
                <a:lnTo>
                  <a:pt x="26670" y="15532"/>
                </a:lnTo>
                <a:lnTo>
                  <a:pt x="32854" y="87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5616" y="3551539"/>
            <a:ext cx="1569204" cy="30377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7148" y="4018987"/>
            <a:ext cx="197718" cy="495165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580923" y="4172662"/>
            <a:ext cx="20320" cy="53340"/>
          </a:xfrm>
          <a:custGeom>
            <a:avLst/>
            <a:gdLst/>
            <a:ahLst/>
            <a:cxnLst/>
            <a:rect l="l" t="t" r="r" b="b"/>
            <a:pathLst>
              <a:path w="20320" h="53339">
                <a:moveTo>
                  <a:pt x="17843" y="5041"/>
                </a:moveTo>
                <a:lnTo>
                  <a:pt x="17729" y="3238"/>
                </a:lnTo>
                <a:lnTo>
                  <a:pt x="17653" y="2501"/>
                </a:lnTo>
                <a:lnTo>
                  <a:pt x="14833" y="215"/>
                </a:lnTo>
                <a:lnTo>
                  <a:pt x="13284" y="0"/>
                </a:lnTo>
                <a:lnTo>
                  <a:pt x="11607" y="736"/>
                </a:lnTo>
                <a:lnTo>
                  <a:pt x="11607" y="9842"/>
                </a:lnTo>
                <a:lnTo>
                  <a:pt x="11468" y="10591"/>
                </a:lnTo>
                <a:lnTo>
                  <a:pt x="11417" y="10807"/>
                </a:lnTo>
                <a:lnTo>
                  <a:pt x="11607" y="9842"/>
                </a:lnTo>
                <a:lnTo>
                  <a:pt x="11607" y="736"/>
                </a:lnTo>
                <a:lnTo>
                  <a:pt x="11480" y="787"/>
                </a:lnTo>
                <a:lnTo>
                  <a:pt x="11061" y="685"/>
                </a:lnTo>
                <a:lnTo>
                  <a:pt x="11061" y="12065"/>
                </a:lnTo>
                <a:lnTo>
                  <a:pt x="10960" y="12268"/>
                </a:lnTo>
                <a:lnTo>
                  <a:pt x="11061" y="12065"/>
                </a:lnTo>
                <a:lnTo>
                  <a:pt x="11061" y="685"/>
                </a:lnTo>
                <a:lnTo>
                  <a:pt x="8585" y="0"/>
                </a:lnTo>
                <a:lnTo>
                  <a:pt x="8216" y="0"/>
                </a:lnTo>
                <a:lnTo>
                  <a:pt x="6743" y="444"/>
                </a:lnTo>
                <a:lnTo>
                  <a:pt x="4965" y="2501"/>
                </a:lnTo>
                <a:lnTo>
                  <a:pt x="4381" y="3238"/>
                </a:lnTo>
                <a:lnTo>
                  <a:pt x="4051" y="3708"/>
                </a:lnTo>
                <a:lnTo>
                  <a:pt x="4051" y="15748"/>
                </a:lnTo>
                <a:lnTo>
                  <a:pt x="2222" y="13538"/>
                </a:lnTo>
                <a:lnTo>
                  <a:pt x="2971" y="14312"/>
                </a:lnTo>
                <a:lnTo>
                  <a:pt x="4051" y="15748"/>
                </a:lnTo>
                <a:lnTo>
                  <a:pt x="4051" y="3708"/>
                </a:lnTo>
                <a:lnTo>
                  <a:pt x="3441" y="4546"/>
                </a:lnTo>
                <a:lnTo>
                  <a:pt x="3949" y="4292"/>
                </a:lnTo>
                <a:lnTo>
                  <a:pt x="3327" y="4711"/>
                </a:lnTo>
                <a:lnTo>
                  <a:pt x="2971" y="5041"/>
                </a:lnTo>
                <a:lnTo>
                  <a:pt x="3149" y="4838"/>
                </a:lnTo>
                <a:lnTo>
                  <a:pt x="2832" y="5041"/>
                </a:lnTo>
                <a:lnTo>
                  <a:pt x="1574" y="6121"/>
                </a:lnTo>
                <a:lnTo>
                  <a:pt x="635" y="6883"/>
                </a:lnTo>
                <a:lnTo>
                  <a:pt x="635" y="11696"/>
                </a:lnTo>
                <a:lnTo>
                  <a:pt x="495" y="11430"/>
                </a:lnTo>
                <a:lnTo>
                  <a:pt x="609" y="11595"/>
                </a:lnTo>
                <a:lnTo>
                  <a:pt x="635" y="6883"/>
                </a:lnTo>
                <a:lnTo>
                  <a:pt x="292" y="7150"/>
                </a:lnTo>
                <a:lnTo>
                  <a:pt x="254" y="7581"/>
                </a:lnTo>
                <a:lnTo>
                  <a:pt x="25" y="7823"/>
                </a:lnTo>
                <a:lnTo>
                  <a:pt x="12" y="9004"/>
                </a:lnTo>
                <a:lnTo>
                  <a:pt x="228" y="7823"/>
                </a:lnTo>
                <a:lnTo>
                  <a:pt x="114" y="9004"/>
                </a:lnTo>
                <a:lnTo>
                  <a:pt x="0" y="10833"/>
                </a:lnTo>
                <a:lnTo>
                  <a:pt x="0" y="11430"/>
                </a:lnTo>
                <a:lnTo>
                  <a:pt x="165" y="11430"/>
                </a:lnTo>
                <a:lnTo>
                  <a:pt x="673" y="11963"/>
                </a:lnTo>
                <a:lnTo>
                  <a:pt x="863" y="12065"/>
                </a:lnTo>
                <a:lnTo>
                  <a:pt x="977" y="12268"/>
                </a:lnTo>
                <a:lnTo>
                  <a:pt x="1079" y="12560"/>
                </a:lnTo>
                <a:lnTo>
                  <a:pt x="3200" y="15748"/>
                </a:lnTo>
                <a:lnTo>
                  <a:pt x="6934" y="16116"/>
                </a:lnTo>
                <a:lnTo>
                  <a:pt x="7124" y="15989"/>
                </a:lnTo>
                <a:lnTo>
                  <a:pt x="7480" y="15748"/>
                </a:lnTo>
                <a:lnTo>
                  <a:pt x="7924" y="15455"/>
                </a:lnTo>
                <a:lnTo>
                  <a:pt x="10731" y="13563"/>
                </a:lnTo>
                <a:lnTo>
                  <a:pt x="12230" y="12560"/>
                </a:lnTo>
                <a:lnTo>
                  <a:pt x="12331" y="12065"/>
                </a:lnTo>
                <a:lnTo>
                  <a:pt x="12395" y="11696"/>
                </a:lnTo>
                <a:lnTo>
                  <a:pt x="12065" y="12001"/>
                </a:lnTo>
                <a:lnTo>
                  <a:pt x="12547" y="11430"/>
                </a:lnTo>
                <a:lnTo>
                  <a:pt x="13055" y="10833"/>
                </a:lnTo>
                <a:lnTo>
                  <a:pt x="13931" y="9842"/>
                </a:lnTo>
                <a:lnTo>
                  <a:pt x="17843" y="5041"/>
                </a:lnTo>
                <a:close/>
              </a:path>
              <a:path w="20320" h="53339">
                <a:moveTo>
                  <a:pt x="19875" y="41821"/>
                </a:moveTo>
                <a:lnTo>
                  <a:pt x="18161" y="39458"/>
                </a:lnTo>
                <a:lnTo>
                  <a:pt x="16840" y="39014"/>
                </a:lnTo>
                <a:lnTo>
                  <a:pt x="2298" y="43535"/>
                </a:lnTo>
                <a:lnTo>
                  <a:pt x="876" y="46240"/>
                </a:lnTo>
                <a:lnTo>
                  <a:pt x="2463" y="51333"/>
                </a:lnTo>
                <a:lnTo>
                  <a:pt x="5168" y="52755"/>
                </a:lnTo>
                <a:lnTo>
                  <a:pt x="8216" y="51816"/>
                </a:lnTo>
                <a:lnTo>
                  <a:pt x="8686" y="51574"/>
                </a:lnTo>
                <a:lnTo>
                  <a:pt x="19583" y="43675"/>
                </a:lnTo>
                <a:lnTo>
                  <a:pt x="19875" y="418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0257" y="4050626"/>
            <a:ext cx="2196008" cy="272998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6731" y="4751084"/>
            <a:ext cx="312269" cy="17885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37234" y="4518605"/>
            <a:ext cx="1630893" cy="368229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260760" y="5129834"/>
            <a:ext cx="515620" cy="248920"/>
            <a:chOff x="260760" y="5129834"/>
            <a:chExt cx="515620" cy="248920"/>
          </a:xfrm>
        </p:grpSpPr>
        <p:pic>
          <p:nvPicPr>
            <p:cNvPr id="15" name="object 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0760" y="5129834"/>
              <a:ext cx="402056" cy="248875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688784" y="5239487"/>
              <a:ext cx="87630" cy="33655"/>
            </a:xfrm>
            <a:custGeom>
              <a:avLst/>
              <a:gdLst/>
              <a:ahLst/>
              <a:cxnLst/>
              <a:rect l="l" t="t" r="r" b="b"/>
              <a:pathLst>
                <a:path w="87629" h="33654">
                  <a:moveTo>
                    <a:pt x="8128" y="21183"/>
                  </a:moveTo>
                  <a:lnTo>
                    <a:pt x="5626" y="18859"/>
                  </a:lnTo>
                  <a:lnTo>
                    <a:pt x="3683" y="18859"/>
                  </a:lnTo>
                  <a:lnTo>
                    <a:pt x="952" y="20510"/>
                  </a:lnTo>
                  <a:lnTo>
                    <a:pt x="304" y="26123"/>
                  </a:lnTo>
                  <a:lnTo>
                    <a:pt x="190" y="27952"/>
                  </a:lnTo>
                  <a:lnTo>
                    <a:pt x="101" y="29781"/>
                  </a:lnTo>
                  <a:lnTo>
                    <a:pt x="0" y="31750"/>
                  </a:lnTo>
                  <a:lnTo>
                    <a:pt x="1689" y="33629"/>
                  </a:lnTo>
                  <a:lnTo>
                    <a:pt x="5308" y="33629"/>
                  </a:lnTo>
                  <a:lnTo>
                    <a:pt x="6921" y="32308"/>
                  </a:lnTo>
                  <a:lnTo>
                    <a:pt x="7759" y="26682"/>
                  </a:lnTo>
                  <a:lnTo>
                    <a:pt x="8039" y="23075"/>
                  </a:lnTo>
                  <a:lnTo>
                    <a:pt x="8128" y="21183"/>
                  </a:lnTo>
                  <a:close/>
                </a:path>
                <a:path w="87629" h="33654">
                  <a:moveTo>
                    <a:pt x="65633" y="19672"/>
                  </a:moveTo>
                  <a:lnTo>
                    <a:pt x="65151" y="17056"/>
                  </a:lnTo>
                  <a:lnTo>
                    <a:pt x="62852" y="15494"/>
                  </a:lnTo>
                  <a:lnTo>
                    <a:pt x="62433" y="15303"/>
                  </a:lnTo>
                  <a:lnTo>
                    <a:pt x="53441" y="12839"/>
                  </a:lnTo>
                  <a:lnTo>
                    <a:pt x="51803" y="13766"/>
                  </a:lnTo>
                  <a:lnTo>
                    <a:pt x="51028" y="16586"/>
                  </a:lnTo>
                  <a:lnTo>
                    <a:pt x="51511" y="17881"/>
                  </a:lnTo>
                  <a:lnTo>
                    <a:pt x="60426" y="23977"/>
                  </a:lnTo>
                  <a:lnTo>
                    <a:pt x="63030" y="23495"/>
                  </a:lnTo>
                  <a:lnTo>
                    <a:pt x="65633" y="19672"/>
                  </a:lnTo>
                  <a:close/>
                </a:path>
                <a:path w="87629" h="33654">
                  <a:moveTo>
                    <a:pt x="87020" y="12700"/>
                  </a:moveTo>
                  <a:lnTo>
                    <a:pt x="86423" y="10248"/>
                  </a:lnTo>
                  <a:lnTo>
                    <a:pt x="85229" y="6400"/>
                  </a:lnTo>
                  <a:lnTo>
                    <a:pt x="83108" y="977"/>
                  </a:lnTo>
                  <a:lnTo>
                    <a:pt x="80860" y="0"/>
                  </a:lnTo>
                  <a:lnTo>
                    <a:pt x="77101" y="1473"/>
                  </a:lnTo>
                  <a:lnTo>
                    <a:pt x="76098" y="3378"/>
                  </a:lnTo>
                  <a:lnTo>
                    <a:pt x="77368" y="8839"/>
                  </a:lnTo>
                  <a:lnTo>
                    <a:pt x="78384" y="12115"/>
                  </a:lnTo>
                  <a:lnTo>
                    <a:pt x="78943" y="13792"/>
                  </a:lnTo>
                  <a:lnTo>
                    <a:pt x="81140" y="15328"/>
                  </a:lnTo>
                  <a:lnTo>
                    <a:pt x="81381" y="15328"/>
                  </a:lnTo>
                  <a:lnTo>
                    <a:pt x="83134" y="15570"/>
                  </a:lnTo>
                  <a:lnTo>
                    <a:pt x="83934" y="15328"/>
                  </a:lnTo>
                  <a:lnTo>
                    <a:pt x="84162" y="15328"/>
                  </a:lnTo>
                  <a:lnTo>
                    <a:pt x="8702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" name="object 1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35527" y="5139545"/>
            <a:ext cx="74293" cy="181394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966520" y="5187227"/>
            <a:ext cx="27305" cy="64769"/>
          </a:xfrm>
          <a:custGeom>
            <a:avLst/>
            <a:gdLst/>
            <a:ahLst/>
            <a:cxnLst/>
            <a:rect l="l" t="t" r="r" b="b"/>
            <a:pathLst>
              <a:path w="27305" h="64770">
                <a:moveTo>
                  <a:pt x="12001" y="60883"/>
                </a:moveTo>
                <a:lnTo>
                  <a:pt x="11341" y="57391"/>
                </a:lnTo>
                <a:lnTo>
                  <a:pt x="9753" y="56222"/>
                </a:lnTo>
                <a:lnTo>
                  <a:pt x="5981" y="56692"/>
                </a:lnTo>
                <a:lnTo>
                  <a:pt x="2628" y="56692"/>
                </a:lnTo>
                <a:lnTo>
                  <a:pt x="0" y="59664"/>
                </a:lnTo>
                <a:lnTo>
                  <a:pt x="127" y="61696"/>
                </a:lnTo>
                <a:lnTo>
                  <a:pt x="1968" y="63322"/>
                </a:lnTo>
                <a:lnTo>
                  <a:pt x="2108" y="63322"/>
                </a:lnTo>
                <a:lnTo>
                  <a:pt x="3873" y="64363"/>
                </a:lnTo>
                <a:lnTo>
                  <a:pt x="7023" y="63322"/>
                </a:lnTo>
                <a:lnTo>
                  <a:pt x="10833" y="62598"/>
                </a:lnTo>
                <a:lnTo>
                  <a:pt x="12001" y="60883"/>
                </a:lnTo>
                <a:close/>
              </a:path>
              <a:path w="27305" h="64770">
                <a:moveTo>
                  <a:pt x="26682" y="12788"/>
                </a:moveTo>
                <a:lnTo>
                  <a:pt x="26492" y="11595"/>
                </a:lnTo>
                <a:lnTo>
                  <a:pt x="21120" y="596"/>
                </a:lnTo>
                <a:lnTo>
                  <a:pt x="19329" y="0"/>
                </a:lnTo>
                <a:lnTo>
                  <a:pt x="16967" y="1143"/>
                </a:lnTo>
                <a:lnTo>
                  <a:pt x="16357" y="1993"/>
                </a:lnTo>
                <a:lnTo>
                  <a:pt x="14414" y="15494"/>
                </a:lnTo>
                <a:lnTo>
                  <a:pt x="16649" y="18478"/>
                </a:lnTo>
                <a:lnTo>
                  <a:pt x="23075" y="19405"/>
                </a:lnTo>
                <a:lnTo>
                  <a:pt x="26047" y="17170"/>
                </a:lnTo>
                <a:lnTo>
                  <a:pt x="26682" y="127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57442" y="5010751"/>
            <a:ext cx="418238" cy="307070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661850" y="4955924"/>
            <a:ext cx="622569" cy="353132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849779" y="3726579"/>
            <a:ext cx="172129" cy="159269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134637" y="3695125"/>
            <a:ext cx="1259538" cy="289686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818032" y="4223113"/>
            <a:ext cx="252361" cy="184641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201586" y="4098220"/>
            <a:ext cx="1588070" cy="316834"/>
          </a:xfrm>
          <a:prstGeom prst="rect">
            <a:avLst/>
          </a:prstGeom>
        </p:spPr>
      </p:pic>
      <p:sp>
        <p:nvSpPr>
          <p:cNvPr id="25" name="object 25" descr=""/>
          <p:cNvSpPr/>
          <p:nvPr/>
        </p:nvSpPr>
        <p:spPr>
          <a:xfrm>
            <a:off x="5905362" y="4321071"/>
            <a:ext cx="19685" cy="22225"/>
          </a:xfrm>
          <a:custGeom>
            <a:avLst/>
            <a:gdLst/>
            <a:ahLst/>
            <a:cxnLst/>
            <a:rect l="l" t="t" r="r" b="b"/>
            <a:pathLst>
              <a:path w="19685" h="22225">
                <a:moveTo>
                  <a:pt x="10702" y="3089"/>
                </a:moveTo>
                <a:lnTo>
                  <a:pt x="10444" y="3268"/>
                </a:lnTo>
                <a:lnTo>
                  <a:pt x="9916" y="3812"/>
                </a:lnTo>
                <a:lnTo>
                  <a:pt x="8770" y="5452"/>
                </a:lnTo>
                <a:lnTo>
                  <a:pt x="5463" y="9862"/>
                </a:lnTo>
                <a:lnTo>
                  <a:pt x="0" y="17421"/>
                </a:lnTo>
                <a:lnTo>
                  <a:pt x="336" y="19528"/>
                </a:lnTo>
                <a:lnTo>
                  <a:pt x="3204" y="21603"/>
                </a:lnTo>
                <a:lnTo>
                  <a:pt x="5061" y="21440"/>
                </a:lnTo>
                <a:lnTo>
                  <a:pt x="11469" y="14945"/>
                </a:lnTo>
                <a:lnTo>
                  <a:pt x="15336" y="10904"/>
                </a:lnTo>
                <a:lnTo>
                  <a:pt x="15881" y="10372"/>
                </a:lnTo>
                <a:lnTo>
                  <a:pt x="14141" y="10372"/>
                </a:lnTo>
                <a:lnTo>
                  <a:pt x="10322" y="8211"/>
                </a:lnTo>
                <a:lnTo>
                  <a:pt x="10145" y="8211"/>
                </a:lnTo>
                <a:lnTo>
                  <a:pt x="9631" y="6375"/>
                </a:lnTo>
                <a:lnTo>
                  <a:pt x="9564" y="6136"/>
                </a:lnTo>
                <a:lnTo>
                  <a:pt x="9452" y="5734"/>
                </a:lnTo>
                <a:lnTo>
                  <a:pt x="9373" y="5452"/>
                </a:lnTo>
                <a:lnTo>
                  <a:pt x="10518" y="3415"/>
                </a:lnTo>
                <a:lnTo>
                  <a:pt x="10601" y="3268"/>
                </a:lnTo>
                <a:lnTo>
                  <a:pt x="10702" y="3089"/>
                </a:lnTo>
                <a:close/>
              </a:path>
              <a:path w="19685" h="22225">
                <a:moveTo>
                  <a:pt x="11382" y="8211"/>
                </a:moveTo>
                <a:lnTo>
                  <a:pt x="10322" y="8211"/>
                </a:lnTo>
                <a:lnTo>
                  <a:pt x="14141" y="10372"/>
                </a:lnTo>
                <a:lnTo>
                  <a:pt x="16327" y="9862"/>
                </a:lnTo>
                <a:lnTo>
                  <a:pt x="16704" y="9568"/>
                </a:lnTo>
                <a:lnTo>
                  <a:pt x="17358" y="8678"/>
                </a:lnTo>
                <a:lnTo>
                  <a:pt x="16378" y="8678"/>
                </a:lnTo>
                <a:lnTo>
                  <a:pt x="11382" y="8211"/>
                </a:lnTo>
                <a:close/>
              </a:path>
              <a:path w="19685" h="22225">
                <a:moveTo>
                  <a:pt x="16404" y="9862"/>
                </a:moveTo>
                <a:lnTo>
                  <a:pt x="14141" y="10372"/>
                </a:lnTo>
                <a:lnTo>
                  <a:pt x="15881" y="10372"/>
                </a:lnTo>
                <a:lnTo>
                  <a:pt x="16404" y="9862"/>
                </a:lnTo>
                <a:close/>
              </a:path>
              <a:path w="19685" h="22225">
                <a:moveTo>
                  <a:pt x="16763" y="9568"/>
                </a:moveTo>
                <a:lnTo>
                  <a:pt x="16404" y="9862"/>
                </a:lnTo>
                <a:lnTo>
                  <a:pt x="16562" y="9862"/>
                </a:lnTo>
                <a:lnTo>
                  <a:pt x="16763" y="9568"/>
                </a:lnTo>
                <a:close/>
              </a:path>
              <a:path w="19685" h="22225">
                <a:moveTo>
                  <a:pt x="15140" y="727"/>
                </a:moveTo>
                <a:lnTo>
                  <a:pt x="12718" y="923"/>
                </a:lnTo>
                <a:lnTo>
                  <a:pt x="10819" y="2880"/>
                </a:lnTo>
                <a:lnTo>
                  <a:pt x="9373" y="5452"/>
                </a:lnTo>
                <a:lnTo>
                  <a:pt x="10145" y="8211"/>
                </a:lnTo>
                <a:lnTo>
                  <a:pt x="11382" y="8211"/>
                </a:lnTo>
                <a:lnTo>
                  <a:pt x="16378" y="8678"/>
                </a:lnTo>
                <a:lnTo>
                  <a:pt x="18224" y="7289"/>
                </a:lnTo>
                <a:lnTo>
                  <a:pt x="18460" y="7289"/>
                </a:lnTo>
                <a:lnTo>
                  <a:pt x="18567" y="5734"/>
                </a:lnTo>
                <a:lnTo>
                  <a:pt x="18643" y="4637"/>
                </a:lnTo>
                <a:lnTo>
                  <a:pt x="18728" y="3415"/>
                </a:lnTo>
                <a:lnTo>
                  <a:pt x="15140" y="727"/>
                </a:lnTo>
                <a:close/>
              </a:path>
              <a:path w="19685" h="22225">
                <a:moveTo>
                  <a:pt x="18341" y="7289"/>
                </a:moveTo>
                <a:lnTo>
                  <a:pt x="16999" y="8211"/>
                </a:lnTo>
                <a:lnTo>
                  <a:pt x="16378" y="8678"/>
                </a:lnTo>
                <a:lnTo>
                  <a:pt x="17358" y="8678"/>
                </a:lnTo>
                <a:lnTo>
                  <a:pt x="18341" y="7289"/>
                </a:lnTo>
                <a:close/>
              </a:path>
              <a:path w="19685" h="22225">
                <a:moveTo>
                  <a:pt x="16498" y="0"/>
                </a:moveTo>
                <a:lnTo>
                  <a:pt x="10722" y="0"/>
                </a:lnTo>
                <a:lnTo>
                  <a:pt x="18067" y="575"/>
                </a:lnTo>
                <a:lnTo>
                  <a:pt x="11382" y="575"/>
                </a:lnTo>
                <a:lnTo>
                  <a:pt x="8623" y="727"/>
                </a:lnTo>
                <a:lnTo>
                  <a:pt x="3953" y="1053"/>
                </a:lnTo>
                <a:lnTo>
                  <a:pt x="2498" y="2715"/>
                </a:lnTo>
                <a:lnTo>
                  <a:pt x="2509" y="2880"/>
                </a:lnTo>
                <a:lnTo>
                  <a:pt x="2628" y="4637"/>
                </a:lnTo>
                <a:lnTo>
                  <a:pt x="2747" y="6375"/>
                </a:lnTo>
                <a:lnTo>
                  <a:pt x="4597" y="8211"/>
                </a:lnTo>
                <a:lnTo>
                  <a:pt x="6701" y="8211"/>
                </a:lnTo>
                <a:lnTo>
                  <a:pt x="8770" y="5452"/>
                </a:lnTo>
                <a:lnTo>
                  <a:pt x="9916" y="3812"/>
                </a:lnTo>
                <a:lnTo>
                  <a:pt x="10617" y="3089"/>
                </a:lnTo>
                <a:lnTo>
                  <a:pt x="10936" y="1846"/>
                </a:lnTo>
                <a:lnTo>
                  <a:pt x="11761" y="1053"/>
                </a:lnTo>
                <a:lnTo>
                  <a:pt x="12304" y="575"/>
                </a:lnTo>
                <a:lnTo>
                  <a:pt x="16498" y="0"/>
                </a:lnTo>
                <a:close/>
              </a:path>
              <a:path w="19685" h="22225">
                <a:moveTo>
                  <a:pt x="18808" y="3415"/>
                </a:moveTo>
                <a:lnTo>
                  <a:pt x="18701" y="3812"/>
                </a:lnTo>
                <a:lnTo>
                  <a:pt x="18643" y="4637"/>
                </a:lnTo>
                <a:lnTo>
                  <a:pt x="18567" y="5734"/>
                </a:lnTo>
                <a:lnTo>
                  <a:pt x="18460" y="7289"/>
                </a:lnTo>
                <a:lnTo>
                  <a:pt x="19083" y="5734"/>
                </a:lnTo>
                <a:lnTo>
                  <a:pt x="19028" y="4637"/>
                </a:lnTo>
                <a:lnTo>
                  <a:pt x="18866" y="3812"/>
                </a:lnTo>
                <a:lnTo>
                  <a:pt x="18808" y="3415"/>
                </a:lnTo>
                <a:close/>
              </a:path>
              <a:path w="19685" h="22225">
                <a:moveTo>
                  <a:pt x="19151" y="5734"/>
                </a:moveTo>
                <a:lnTo>
                  <a:pt x="18918" y="6136"/>
                </a:lnTo>
                <a:lnTo>
                  <a:pt x="18447" y="7289"/>
                </a:lnTo>
                <a:lnTo>
                  <a:pt x="19049" y="6375"/>
                </a:lnTo>
                <a:lnTo>
                  <a:pt x="19151" y="5734"/>
                </a:lnTo>
                <a:close/>
              </a:path>
              <a:path w="19685" h="22225">
                <a:moveTo>
                  <a:pt x="17243" y="575"/>
                </a:moveTo>
                <a:lnTo>
                  <a:pt x="17290" y="727"/>
                </a:lnTo>
                <a:lnTo>
                  <a:pt x="18790" y="2530"/>
                </a:lnTo>
                <a:lnTo>
                  <a:pt x="18866" y="3812"/>
                </a:lnTo>
                <a:lnTo>
                  <a:pt x="18887" y="1846"/>
                </a:lnTo>
                <a:lnTo>
                  <a:pt x="17243" y="575"/>
                </a:lnTo>
                <a:close/>
              </a:path>
              <a:path w="19685" h="22225">
                <a:moveTo>
                  <a:pt x="17290" y="727"/>
                </a:moveTo>
                <a:lnTo>
                  <a:pt x="15140" y="727"/>
                </a:lnTo>
                <a:lnTo>
                  <a:pt x="18728" y="3415"/>
                </a:lnTo>
                <a:lnTo>
                  <a:pt x="18790" y="2530"/>
                </a:lnTo>
                <a:lnTo>
                  <a:pt x="17290" y="727"/>
                </a:lnTo>
                <a:close/>
              </a:path>
              <a:path w="19685" h="22225">
                <a:moveTo>
                  <a:pt x="16498" y="0"/>
                </a:moveTo>
                <a:lnTo>
                  <a:pt x="10713" y="2715"/>
                </a:lnTo>
                <a:lnTo>
                  <a:pt x="10617" y="3089"/>
                </a:lnTo>
                <a:lnTo>
                  <a:pt x="12592" y="1053"/>
                </a:lnTo>
                <a:lnTo>
                  <a:pt x="12718" y="923"/>
                </a:lnTo>
                <a:lnTo>
                  <a:pt x="15140" y="727"/>
                </a:lnTo>
                <a:lnTo>
                  <a:pt x="17290" y="727"/>
                </a:lnTo>
                <a:lnTo>
                  <a:pt x="17164" y="575"/>
                </a:lnTo>
                <a:lnTo>
                  <a:pt x="164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object 26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998324" y="4085892"/>
            <a:ext cx="1645277" cy="328086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800493" y="4688635"/>
            <a:ext cx="323283" cy="245110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268906" y="4637156"/>
            <a:ext cx="168423" cy="277429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519478" y="4616770"/>
            <a:ext cx="1380888" cy="315226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6063774" y="4585841"/>
            <a:ext cx="2879090" cy="1689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20">
                <a:latin typeface="Microsoft JhengHei UI"/>
                <a:cs typeface="Microsoft JhengHei UI"/>
              </a:rPr>
              <a:t>固定中⼼和宽度：</a:t>
            </a:r>
            <a:endParaRPr sz="7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750" spc="30">
                <a:latin typeface="Microsoft JhengHei UI"/>
                <a:cs typeface="Microsoft JhengHei UI"/>
              </a:rPr>
              <a:t>中⼼ </a:t>
            </a:r>
            <a:r>
              <a:rPr dirty="0" sz="750" spc="-10">
                <a:latin typeface="Microsoft JhengHei UI"/>
                <a:cs typeface="Microsoft JhengHei UI"/>
              </a:rPr>
              <a:t>xi：直接⽤N个训练数据点。（已固定</a:t>
            </a:r>
            <a:r>
              <a:rPr dirty="0" sz="750" spc="-50">
                <a:latin typeface="Microsoft JhengHei UI"/>
                <a:cs typeface="Microsoft JhengHei UI"/>
              </a:rPr>
              <a:t>）</a:t>
            </a:r>
            <a:endParaRPr sz="750">
              <a:latin typeface="Microsoft JhengHei UI"/>
              <a:cs typeface="Microsoft JhengHei UI"/>
            </a:endParaRPr>
          </a:p>
          <a:p>
            <a:pPr marL="12700" marR="59690">
              <a:lnSpc>
                <a:spcPct val="116100"/>
              </a:lnSpc>
              <a:spcBef>
                <a:spcPts val="560"/>
              </a:spcBef>
            </a:pPr>
            <a:r>
              <a:rPr dirty="0" sz="750" spc="10">
                <a:latin typeface="Microsoft JhengHei UI"/>
                <a:cs typeface="Microsoft JhengHei UI"/>
              </a:rPr>
              <a:t>宽度 </a:t>
            </a:r>
            <a:r>
              <a:rPr dirty="0" sz="750">
                <a:latin typeface="Microsoft JhengHei UI"/>
                <a:cs typeface="Microsoft JhengHei UI"/>
              </a:rPr>
              <a:t>\sigma_i ：通常会使⽤某种“启发式规则”来预先设定好（</a:t>
            </a:r>
            <a:r>
              <a:rPr dirty="0" sz="750" spc="-5">
                <a:latin typeface="Microsoft JhengHei UI"/>
                <a:cs typeface="Microsoft JhengHei UI"/>
              </a:rPr>
              <a:t>⽐如</a:t>
            </a:r>
            <a:r>
              <a:rPr dirty="0" sz="750" spc="5">
                <a:latin typeface="Microsoft JhengHei UI"/>
                <a:cs typeface="Microsoft JhengHei UI"/>
              </a:rPr>
              <a:t>，所有 </a:t>
            </a:r>
            <a:r>
              <a:rPr dirty="0" sz="750" spc="-10">
                <a:latin typeface="Microsoft JhengHei UI"/>
                <a:cs typeface="Microsoft JhengHei UI"/>
              </a:rPr>
              <a:t>sigma_i 都设为同⼀个值，这个值可能与数据点之间的平均距离有关）。（已固定）</a:t>
            </a:r>
            <a:endParaRPr sz="750">
              <a:latin typeface="Microsoft JhengHei UI"/>
              <a:cs typeface="Microsoft JhengHei UI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7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Microsoft JhengHei UI"/>
                <a:cs typeface="Microsoft JhengHei UI"/>
              </a:rPr>
              <a:t>求解权重 </a:t>
            </a:r>
            <a:r>
              <a:rPr dirty="0" sz="750" spc="-25">
                <a:latin typeface="Microsoft JhengHei UI"/>
                <a:cs typeface="Microsoft JhengHei UI"/>
              </a:rPr>
              <a:t>wi：</a:t>
            </a:r>
            <a:endParaRPr sz="750">
              <a:latin typeface="Microsoft JhengHei UI"/>
              <a:cs typeface="Microsoft JhengHei UI"/>
            </a:endParaRPr>
          </a:p>
          <a:p>
            <a:pPr marL="12700" marR="5080">
              <a:lnSpc>
                <a:spcPct val="116100"/>
              </a:lnSpc>
              <a:spcBef>
                <a:spcPts val="560"/>
              </a:spcBef>
            </a:pPr>
            <a:r>
              <a:rPr dirty="0" sz="750" spc="-5">
                <a:latin typeface="Microsoft JhengHei UI"/>
                <a:cs typeface="Microsoft JhengHei UI"/>
              </a:rPr>
              <a:t>由于 </a:t>
            </a:r>
            <a:r>
              <a:rPr dirty="0" sz="750">
                <a:latin typeface="Microsoft JhengHei UI"/>
                <a:cs typeface="Microsoft JhengHei UI"/>
              </a:rPr>
              <a:t>RBF 的“形状”（中⼼和宽度）都已固定，整个⽹络F(x)对 wi</a:t>
            </a:r>
            <a:r>
              <a:rPr dirty="0" sz="750" spc="-25">
                <a:latin typeface="Microsoft JhengHei UI"/>
                <a:cs typeface="Microsoft JhengHei UI"/>
              </a:rPr>
              <a:t> 来</a:t>
            </a:r>
            <a:r>
              <a:rPr dirty="0" sz="750" spc="-15">
                <a:latin typeface="Microsoft JhengHei UI"/>
                <a:cs typeface="Microsoft JhengHei UI"/>
              </a:rPr>
              <a:t>说就成了⼀个线性模型。</a:t>
            </a:r>
            <a:endParaRPr sz="7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750" spc="-5">
                <a:latin typeface="Microsoft JhengHei UI"/>
                <a:cs typeface="Microsoft JhengHei UI"/>
              </a:rPr>
              <a:t>学习任务就简化为：找到⼀组最佳的 </a:t>
            </a:r>
            <a:r>
              <a:rPr dirty="0" sz="750" spc="-10">
                <a:latin typeface="Microsoft JhengHei UI"/>
                <a:cs typeface="Microsoft JhengHei UI"/>
              </a:rPr>
              <a:t>wi，</a:t>
            </a:r>
            <a:r>
              <a:rPr dirty="0" sz="750" spc="-15">
                <a:latin typeface="Microsoft JhengHei UI"/>
                <a:cs typeface="Microsoft JhengHei UI"/>
              </a:rPr>
              <a:t>使得总误差最⼩。</a:t>
            </a:r>
            <a:endParaRPr sz="750">
              <a:latin typeface="Microsoft JhengHei UI"/>
              <a:cs typeface="Microsoft JhengHei UI"/>
            </a:endParaRPr>
          </a:p>
        </p:txBody>
      </p:sp>
      <p:pic>
        <p:nvPicPr>
          <p:cNvPr id="31" name="object 31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854670" y="4510905"/>
            <a:ext cx="632716" cy="213836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249007" y="5424804"/>
            <a:ext cx="1604694" cy="3200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29565" y="3833254"/>
            <a:ext cx="8023225" cy="171005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40">
                <a:latin typeface="Tahoma"/>
                <a:cs typeface="Tahoma"/>
              </a:rPr>
              <a:t>important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characteristic:</a:t>
            </a:r>
            <a:endParaRPr sz="2800">
              <a:latin typeface="Tahoma"/>
              <a:cs typeface="Tahoma"/>
            </a:endParaRPr>
          </a:p>
          <a:p>
            <a:pPr marL="355600" marR="5080" indent="-342900">
              <a:lnSpc>
                <a:spcPts val="3200"/>
              </a:lnSpc>
              <a:spcBef>
                <a:spcPts val="70"/>
              </a:spcBef>
              <a:tabLst>
                <a:tab pos="354965" algn="l"/>
              </a:tabLst>
            </a:pPr>
            <a:r>
              <a:rPr dirty="0" sz="1450" spc="550">
                <a:solidFill>
                  <a:srgbClr val="3333CC"/>
                </a:solidFill>
                <a:latin typeface="Tahoma"/>
                <a:cs typeface="Tahoma"/>
              </a:rPr>
              <a:t>u</a:t>
            </a:r>
            <a:r>
              <a:rPr dirty="0" sz="1450">
                <a:solidFill>
                  <a:srgbClr val="3333CC"/>
                </a:solidFill>
                <a:latin typeface="Tahoma"/>
                <a:cs typeface="Tahoma"/>
              </a:rPr>
              <a:t>	</a:t>
            </a:r>
            <a:r>
              <a:rPr dirty="0" sz="2400" spc="-65">
                <a:latin typeface="Tahoma"/>
                <a:cs typeface="Tahoma"/>
              </a:rPr>
              <a:t>it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a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b="1" i="1">
                <a:solidFill>
                  <a:srgbClr val="FF0000"/>
                </a:solidFill>
                <a:latin typeface="Arial"/>
                <a:cs typeface="Arial"/>
              </a:rPr>
              <a:t>universal</a:t>
            </a:r>
            <a:r>
              <a:rPr dirty="0" sz="2400" spc="-15" b="1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 i="1">
                <a:solidFill>
                  <a:srgbClr val="FF0000"/>
                </a:solidFill>
                <a:latin typeface="Arial"/>
                <a:cs typeface="Arial"/>
              </a:rPr>
              <a:t>approximator</a:t>
            </a:r>
            <a:r>
              <a:rPr dirty="0" sz="2400" spc="-15" b="1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that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65">
                <a:latin typeface="Tahoma"/>
                <a:cs typeface="Tahoma"/>
              </a:rPr>
              <a:t>it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can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approximate </a:t>
            </a:r>
            <a:r>
              <a:rPr dirty="0" sz="2400" spc="-25">
                <a:latin typeface="Tahoma"/>
                <a:cs typeface="Tahoma"/>
              </a:rPr>
              <a:t>arbitrarily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well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any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multivariate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continuous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function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on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10">
                <a:latin typeface="Tahoma"/>
                <a:cs typeface="Tahoma"/>
              </a:rPr>
              <a:t>a </a:t>
            </a:r>
            <a:r>
              <a:rPr dirty="0" sz="2400">
                <a:latin typeface="Tahoma"/>
                <a:cs typeface="Tahoma"/>
              </a:rPr>
              <a:t>compact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set,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given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a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sufficiently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large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number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units.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9677" y="995362"/>
            <a:ext cx="635190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Regularization</a:t>
            </a:r>
            <a:r>
              <a:rPr dirty="0" spc="-229"/>
              <a:t> </a:t>
            </a:r>
            <a:r>
              <a:rPr dirty="0" spc="-10"/>
              <a:t>Networks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1314" y="2843999"/>
            <a:ext cx="213855" cy="209524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2350338" y="2817622"/>
            <a:ext cx="376555" cy="289560"/>
            <a:chOff x="2350338" y="2817622"/>
            <a:chExt cx="376555" cy="28956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3685" y="2916351"/>
              <a:ext cx="148869" cy="14094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350338" y="2817621"/>
              <a:ext cx="376555" cy="289560"/>
            </a:xfrm>
            <a:custGeom>
              <a:avLst/>
              <a:gdLst/>
              <a:ahLst/>
              <a:cxnLst/>
              <a:rect l="l" t="t" r="r" b="b"/>
              <a:pathLst>
                <a:path w="376555" h="289560">
                  <a:moveTo>
                    <a:pt x="95961" y="0"/>
                  </a:moveTo>
                  <a:lnTo>
                    <a:pt x="80848" y="0"/>
                  </a:lnTo>
                  <a:lnTo>
                    <a:pt x="61963" y="12814"/>
                  </a:lnTo>
                  <a:lnTo>
                    <a:pt x="31737" y="45212"/>
                  </a:lnTo>
                  <a:lnTo>
                    <a:pt x="11328" y="82905"/>
                  </a:lnTo>
                  <a:lnTo>
                    <a:pt x="1511" y="123596"/>
                  </a:lnTo>
                  <a:lnTo>
                    <a:pt x="0" y="144703"/>
                  </a:lnTo>
                  <a:lnTo>
                    <a:pt x="1511" y="165811"/>
                  </a:lnTo>
                  <a:lnTo>
                    <a:pt x="11328" y="206502"/>
                  </a:lnTo>
                  <a:lnTo>
                    <a:pt x="31737" y="244195"/>
                  </a:lnTo>
                  <a:lnTo>
                    <a:pt x="61963" y="276606"/>
                  </a:lnTo>
                  <a:lnTo>
                    <a:pt x="80848" y="289407"/>
                  </a:lnTo>
                  <a:lnTo>
                    <a:pt x="95961" y="289407"/>
                  </a:lnTo>
                  <a:lnTo>
                    <a:pt x="79336" y="276606"/>
                  </a:lnTo>
                  <a:lnTo>
                    <a:pt x="64223" y="261531"/>
                  </a:lnTo>
                  <a:lnTo>
                    <a:pt x="41554" y="226098"/>
                  </a:lnTo>
                  <a:lnTo>
                    <a:pt x="27203" y="186156"/>
                  </a:lnTo>
                  <a:lnTo>
                    <a:pt x="22669" y="144703"/>
                  </a:lnTo>
                  <a:lnTo>
                    <a:pt x="24180" y="123596"/>
                  </a:lnTo>
                  <a:lnTo>
                    <a:pt x="33248" y="82905"/>
                  </a:lnTo>
                  <a:lnTo>
                    <a:pt x="51384" y="45212"/>
                  </a:lnTo>
                  <a:lnTo>
                    <a:pt x="79336" y="12814"/>
                  </a:lnTo>
                  <a:lnTo>
                    <a:pt x="95961" y="0"/>
                  </a:lnTo>
                  <a:close/>
                </a:path>
                <a:path w="376555" h="289560">
                  <a:moveTo>
                    <a:pt x="376326" y="144703"/>
                  </a:moveTo>
                  <a:lnTo>
                    <a:pt x="371030" y="103251"/>
                  </a:lnTo>
                  <a:lnTo>
                    <a:pt x="355917" y="63309"/>
                  </a:lnTo>
                  <a:lnTo>
                    <a:pt x="330987" y="27889"/>
                  </a:lnTo>
                  <a:lnTo>
                    <a:pt x="295465" y="0"/>
                  </a:lnTo>
                  <a:lnTo>
                    <a:pt x="280352" y="0"/>
                  </a:lnTo>
                  <a:lnTo>
                    <a:pt x="296976" y="12814"/>
                  </a:lnTo>
                  <a:lnTo>
                    <a:pt x="312089" y="27889"/>
                  </a:lnTo>
                  <a:lnTo>
                    <a:pt x="334759" y="63309"/>
                  </a:lnTo>
                  <a:lnTo>
                    <a:pt x="348361" y="103251"/>
                  </a:lnTo>
                  <a:lnTo>
                    <a:pt x="353656" y="144703"/>
                  </a:lnTo>
                  <a:lnTo>
                    <a:pt x="352145" y="165811"/>
                  </a:lnTo>
                  <a:lnTo>
                    <a:pt x="343077" y="206502"/>
                  </a:lnTo>
                  <a:lnTo>
                    <a:pt x="324942" y="244195"/>
                  </a:lnTo>
                  <a:lnTo>
                    <a:pt x="296976" y="276606"/>
                  </a:lnTo>
                  <a:lnTo>
                    <a:pt x="280352" y="289407"/>
                  </a:lnTo>
                  <a:lnTo>
                    <a:pt x="295465" y="289407"/>
                  </a:lnTo>
                  <a:lnTo>
                    <a:pt x="330987" y="261531"/>
                  </a:lnTo>
                  <a:lnTo>
                    <a:pt x="355917" y="226098"/>
                  </a:lnTo>
                  <a:lnTo>
                    <a:pt x="371030" y="186156"/>
                  </a:lnTo>
                  <a:lnTo>
                    <a:pt x="374815" y="165811"/>
                  </a:lnTo>
                  <a:lnTo>
                    <a:pt x="376326" y="1447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2870238" y="2930677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 h="0">
                <a:moveTo>
                  <a:pt x="0" y="0"/>
                </a:moveTo>
                <a:lnTo>
                  <a:pt x="213106" y="0"/>
                </a:lnTo>
              </a:path>
            </a:pathLst>
          </a:custGeom>
          <a:ln w="1207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870238" y="2993986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 h="0">
                <a:moveTo>
                  <a:pt x="0" y="0"/>
                </a:moveTo>
                <a:lnTo>
                  <a:pt x="213106" y="0"/>
                </a:lnTo>
              </a:path>
            </a:pathLst>
          </a:custGeom>
          <a:ln w="1207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1606" y="2559100"/>
            <a:ext cx="157937" cy="117576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3266211" y="3236671"/>
            <a:ext cx="50800" cy="115570"/>
          </a:xfrm>
          <a:custGeom>
            <a:avLst/>
            <a:gdLst/>
            <a:ahLst/>
            <a:cxnLst/>
            <a:rect l="l" t="t" r="r" b="b"/>
            <a:pathLst>
              <a:path w="50800" h="115570">
                <a:moveTo>
                  <a:pt x="42329" y="0"/>
                </a:moveTo>
                <a:lnTo>
                  <a:pt x="30987" y="9791"/>
                </a:lnTo>
                <a:lnTo>
                  <a:pt x="32499" y="12814"/>
                </a:lnTo>
                <a:lnTo>
                  <a:pt x="34772" y="14325"/>
                </a:lnTo>
                <a:lnTo>
                  <a:pt x="38544" y="15074"/>
                </a:lnTo>
                <a:lnTo>
                  <a:pt x="42329" y="15074"/>
                </a:lnTo>
                <a:lnTo>
                  <a:pt x="45351" y="12814"/>
                </a:lnTo>
                <a:lnTo>
                  <a:pt x="47612" y="10553"/>
                </a:lnTo>
                <a:lnTo>
                  <a:pt x="49123" y="7531"/>
                </a:lnTo>
                <a:lnTo>
                  <a:pt x="49885" y="5270"/>
                </a:lnTo>
                <a:lnTo>
                  <a:pt x="48374" y="2260"/>
                </a:lnTo>
                <a:lnTo>
                  <a:pt x="46100" y="749"/>
                </a:lnTo>
                <a:lnTo>
                  <a:pt x="42329" y="0"/>
                </a:lnTo>
                <a:close/>
              </a:path>
              <a:path w="50800" h="115570">
                <a:moveTo>
                  <a:pt x="38797" y="42202"/>
                </a:moveTo>
                <a:lnTo>
                  <a:pt x="24942" y="42202"/>
                </a:lnTo>
                <a:lnTo>
                  <a:pt x="27965" y="42964"/>
                </a:lnTo>
                <a:lnTo>
                  <a:pt x="28727" y="45974"/>
                </a:lnTo>
                <a:lnTo>
                  <a:pt x="28073" y="50495"/>
                </a:lnTo>
                <a:lnTo>
                  <a:pt x="27965" y="51244"/>
                </a:lnTo>
                <a:lnTo>
                  <a:pt x="25704" y="57276"/>
                </a:lnTo>
                <a:lnTo>
                  <a:pt x="10591" y="93459"/>
                </a:lnTo>
                <a:lnTo>
                  <a:pt x="9080" y="97980"/>
                </a:lnTo>
                <a:lnTo>
                  <a:pt x="8318" y="101752"/>
                </a:lnTo>
                <a:lnTo>
                  <a:pt x="9080" y="105511"/>
                </a:lnTo>
                <a:lnTo>
                  <a:pt x="24193" y="115315"/>
                </a:lnTo>
                <a:lnTo>
                  <a:pt x="29476" y="114566"/>
                </a:lnTo>
                <a:lnTo>
                  <a:pt x="34010" y="113055"/>
                </a:lnTo>
                <a:lnTo>
                  <a:pt x="37378" y="110032"/>
                </a:lnTo>
                <a:lnTo>
                  <a:pt x="24942" y="110032"/>
                </a:lnTo>
                <a:lnTo>
                  <a:pt x="22682" y="109283"/>
                </a:lnTo>
                <a:lnTo>
                  <a:pt x="21170" y="106273"/>
                </a:lnTo>
                <a:lnTo>
                  <a:pt x="21920" y="106273"/>
                </a:lnTo>
                <a:lnTo>
                  <a:pt x="22572" y="101752"/>
                </a:lnTo>
                <a:lnTo>
                  <a:pt x="22682" y="100990"/>
                </a:lnTo>
                <a:lnTo>
                  <a:pt x="24193" y="94970"/>
                </a:lnTo>
                <a:lnTo>
                  <a:pt x="40055" y="58038"/>
                </a:lnTo>
                <a:lnTo>
                  <a:pt x="41567" y="50495"/>
                </a:lnTo>
                <a:lnTo>
                  <a:pt x="40817" y="46723"/>
                </a:lnTo>
                <a:lnTo>
                  <a:pt x="39306" y="42964"/>
                </a:lnTo>
                <a:lnTo>
                  <a:pt x="38797" y="42202"/>
                </a:lnTo>
                <a:close/>
              </a:path>
              <a:path w="50800" h="115570">
                <a:moveTo>
                  <a:pt x="48374" y="85915"/>
                </a:moveTo>
                <a:lnTo>
                  <a:pt x="46100" y="85915"/>
                </a:lnTo>
                <a:lnTo>
                  <a:pt x="43840" y="86677"/>
                </a:lnTo>
                <a:lnTo>
                  <a:pt x="42329" y="88176"/>
                </a:lnTo>
                <a:lnTo>
                  <a:pt x="39306" y="96469"/>
                </a:lnTo>
                <a:lnTo>
                  <a:pt x="35521" y="103250"/>
                </a:lnTo>
                <a:lnTo>
                  <a:pt x="30987" y="108534"/>
                </a:lnTo>
                <a:lnTo>
                  <a:pt x="24942" y="110032"/>
                </a:lnTo>
                <a:lnTo>
                  <a:pt x="37378" y="110032"/>
                </a:lnTo>
                <a:lnTo>
                  <a:pt x="41567" y="106273"/>
                </a:lnTo>
                <a:lnTo>
                  <a:pt x="46862" y="97231"/>
                </a:lnTo>
                <a:lnTo>
                  <a:pt x="50634" y="88176"/>
                </a:lnTo>
                <a:lnTo>
                  <a:pt x="50634" y="87426"/>
                </a:lnTo>
                <a:lnTo>
                  <a:pt x="49885" y="86677"/>
                </a:lnTo>
                <a:lnTo>
                  <a:pt x="48374" y="85915"/>
                </a:lnTo>
                <a:close/>
              </a:path>
              <a:path w="50800" h="115570">
                <a:moveTo>
                  <a:pt x="30987" y="36931"/>
                </a:moveTo>
                <a:lnTo>
                  <a:pt x="21170" y="36931"/>
                </a:lnTo>
                <a:lnTo>
                  <a:pt x="16637" y="39192"/>
                </a:lnTo>
                <a:lnTo>
                  <a:pt x="9080" y="45974"/>
                </a:lnTo>
                <a:lnTo>
                  <a:pt x="3035" y="54267"/>
                </a:lnTo>
                <a:lnTo>
                  <a:pt x="0" y="64058"/>
                </a:lnTo>
                <a:lnTo>
                  <a:pt x="0" y="65570"/>
                </a:lnTo>
                <a:lnTo>
                  <a:pt x="2273" y="66319"/>
                </a:lnTo>
                <a:lnTo>
                  <a:pt x="4546" y="66319"/>
                </a:lnTo>
                <a:lnTo>
                  <a:pt x="6057" y="65570"/>
                </a:lnTo>
                <a:lnTo>
                  <a:pt x="7569" y="64058"/>
                </a:lnTo>
                <a:lnTo>
                  <a:pt x="10591" y="55778"/>
                </a:lnTo>
                <a:lnTo>
                  <a:pt x="14363" y="48234"/>
                </a:lnTo>
                <a:lnTo>
                  <a:pt x="18897" y="43713"/>
                </a:lnTo>
                <a:lnTo>
                  <a:pt x="24942" y="42202"/>
                </a:lnTo>
                <a:lnTo>
                  <a:pt x="38797" y="42202"/>
                </a:lnTo>
                <a:lnTo>
                  <a:pt x="37795" y="40703"/>
                </a:lnTo>
                <a:lnTo>
                  <a:pt x="34772" y="38442"/>
                </a:lnTo>
                <a:lnTo>
                  <a:pt x="30987" y="369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361435" y="3281133"/>
            <a:ext cx="120014" cy="35560"/>
          </a:xfrm>
          <a:custGeom>
            <a:avLst/>
            <a:gdLst/>
            <a:ahLst/>
            <a:cxnLst/>
            <a:rect l="l" t="t" r="r" b="b"/>
            <a:pathLst>
              <a:path w="120014" h="35560">
                <a:moveTo>
                  <a:pt x="0" y="0"/>
                </a:moveTo>
                <a:lnTo>
                  <a:pt x="119392" y="0"/>
                </a:lnTo>
              </a:path>
              <a:path w="120014" h="35560">
                <a:moveTo>
                  <a:pt x="0" y="35432"/>
                </a:moveTo>
                <a:lnTo>
                  <a:pt x="119392" y="35432"/>
                </a:lnTo>
              </a:path>
            </a:pathLst>
          </a:custGeom>
          <a:ln w="67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34486" y="3229140"/>
            <a:ext cx="70281" cy="120586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20376" y="2916351"/>
            <a:ext cx="260718" cy="182397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27944" y="2914840"/>
            <a:ext cx="457936" cy="197472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4552378" y="2813850"/>
            <a:ext cx="245745" cy="297180"/>
            <a:chOff x="4552378" y="2813850"/>
            <a:chExt cx="245745" cy="297180"/>
          </a:xfrm>
        </p:grpSpPr>
        <p:sp>
          <p:nvSpPr>
            <p:cNvPr id="17" name="object 17" descr=""/>
            <p:cNvSpPr/>
            <p:nvPr/>
          </p:nvSpPr>
          <p:spPr>
            <a:xfrm>
              <a:off x="4665738" y="2962325"/>
              <a:ext cx="132715" cy="0"/>
            </a:xfrm>
            <a:custGeom>
              <a:avLst/>
              <a:gdLst/>
              <a:ahLst/>
              <a:cxnLst/>
              <a:rect l="l" t="t" r="r" b="b"/>
              <a:pathLst>
                <a:path w="132714" h="0">
                  <a:moveTo>
                    <a:pt x="0" y="0"/>
                  </a:moveTo>
                  <a:lnTo>
                    <a:pt x="132245" y="0"/>
                  </a:lnTo>
                </a:path>
              </a:pathLst>
            </a:custGeom>
            <a:ln w="120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552378" y="2813850"/>
              <a:ext cx="96520" cy="297180"/>
            </a:xfrm>
            <a:custGeom>
              <a:avLst/>
              <a:gdLst/>
              <a:ahLst/>
              <a:cxnLst/>
              <a:rect l="l" t="t" r="r" b="b"/>
              <a:pathLst>
                <a:path w="96520" h="297180">
                  <a:moveTo>
                    <a:pt x="95973" y="0"/>
                  </a:moveTo>
                  <a:lnTo>
                    <a:pt x="80860" y="0"/>
                  </a:lnTo>
                  <a:lnTo>
                    <a:pt x="61975" y="13563"/>
                  </a:lnTo>
                  <a:lnTo>
                    <a:pt x="31750" y="46723"/>
                  </a:lnTo>
                  <a:lnTo>
                    <a:pt x="11341" y="85166"/>
                  </a:lnTo>
                  <a:lnTo>
                    <a:pt x="1511" y="126619"/>
                  </a:lnTo>
                  <a:lnTo>
                    <a:pt x="0" y="148475"/>
                  </a:lnTo>
                  <a:lnTo>
                    <a:pt x="1511" y="170332"/>
                  </a:lnTo>
                  <a:lnTo>
                    <a:pt x="11341" y="211785"/>
                  </a:lnTo>
                  <a:lnTo>
                    <a:pt x="31750" y="250977"/>
                  </a:lnTo>
                  <a:lnTo>
                    <a:pt x="61975" y="283387"/>
                  </a:lnTo>
                  <a:lnTo>
                    <a:pt x="80860" y="296951"/>
                  </a:lnTo>
                  <a:lnTo>
                    <a:pt x="95973" y="296951"/>
                  </a:lnTo>
                  <a:lnTo>
                    <a:pt x="79349" y="283387"/>
                  </a:lnTo>
                  <a:lnTo>
                    <a:pt x="64236" y="268312"/>
                  </a:lnTo>
                  <a:lnTo>
                    <a:pt x="41567" y="232130"/>
                  </a:lnTo>
                  <a:lnTo>
                    <a:pt x="27965" y="191439"/>
                  </a:lnTo>
                  <a:lnTo>
                    <a:pt x="23431" y="148475"/>
                  </a:lnTo>
                  <a:lnTo>
                    <a:pt x="24193" y="126619"/>
                  </a:lnTo>
                  <a:lnTo>
                    <a:pt x="33261" y="85166"/>
                  </a:lnTo>
                  <a:lnTo>
                    <a:pt x="52146" y="46723"/>
                  </a:lnTo>
                  <a:lnTo>
                    <a:pt x="79349" y="13563"/>
                  </a:lnTo>
                  <a:lnTo>
                    <a:pt x="959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/>
          <p:nvPr/>
        </p:nvSpPr>
        <p:spPr>
          <a:xfrm>
            <a:off x="4850117" y="2822143"/>
            <a:ext cx="15875" cy="307975"/>
          </a:xfrm>
          <a:custGeom>
            <a:avLst/>
            <a:gdLst/>
            <a:ahLst/>
            <a:cxnLst/>
            <a:rect l="l" t="t" r="r" b="b"/>
            <a:pathLst>
              <a:path w="15875" h="307975">
                <a:moveTo>
                  <a:pt x="7556" y="0"/>
                </a:moveTo>
                <a:lnTo>
                  <a:pt x="4533" y="749"/>
                </a:lnTo>
                <a:lnTo>
                  <a:pt x="2273" y="3009"/>
                </a:lnTo>
                <a:lnTo>
                  <a:pt x="762" y="5270"/>
                </a:lnTo>
                <a:lnTo>
                  <a:pt x="0" y="7531"/>
                </a:lnTo>
                <a:lnTo>
                  <a:pt x="0" y="299961"/>
                </a:lnTo>
                <a:lnTo>
                  <a:pt x="762" y="302221"/>
                </a:lnTo>
                <a:lnTo>
                  <a:pt x="2273" y="305244"/>
                </a:lnTo>
                <a:lnTo>
                  <a:pt x="4533" y="306755"/>
                </a:lnTo>
                <a:lnTo>
                  <a:pt x="7556" y="307505"/>
                </a:lnTo>
                <a:lnTo>
                  <a:pt x="10579" y="306755"/>
                </a:lnTo>
                <a:lnTo>
                  <a:pt x="12852" y="305244"/>
                </a:lnTo>
                <a:lnTo>
                  <a:pt x="15112" y="302221"/>
                </a:lnTo>
                <a:lnTo>
                  <a:pt x="15875" y="299961"/>
                </a:lnTo>
                <a:lnTo>
                  <a:pt x="15875" y="7531"/>
                </a:lnTo>
                <a:lnTo>
                  <a:pt x="15112" y="5270"/>
                </a:lnTo>
                <a:lnTo>
                  <a:pt x="10579" y="749"/>
                </a:lnTo>
                <a:lnTo>
                  <a:pt x="75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 descr=""/>
          <p:cNvGrpSpPr/>
          <p:nvPr/>
        </p:nvGrpSpPr>
        <p:grpSpPr>
          <a:xfrm>
            <a:off x="4934762" y="2822143"/>
            <a:ext cx="197485" cy="307975"/>
            <a:chOff x="4934762" y="2822143"/>
            <a:chExt cx="197485" cy="307975"/>
          </a:xfrm>
        </p:grpSpPr>
        <p:sp>
          <p:nvSpPr>
            <p:cNvPr id="21" name="object 21" descr=""/>
            <p:cNvSpPr/>
            <p:nvPr/>
          </p:nvSpPr>
          <p:spPr>
            <a:xfrm>
              <a:off x="4934762" y="2822143"/>
              <a:ext cx="15875" cy="307975"/>
            </a:xfrm>
            <a:custGeom>
              <a:avLst/>
              <a:gdLst/>
              <a:ahLst/>
              <a:cxnLst/>
              <a:rect l="l" t="t" r="r" b="b"/>
              <a:pathLst>
                <a:path w="15875" h="307975">
                  <a:moveTo>
                    <a:pt x="7556" y="0"/>
                  </a:moveTo>
                  <a:lnTo>
                    <a:pt x="4533" y="749"/>
                  </a:lnTo>
                  <a:lnTo>
                    <a:pt x="2260" y="3009"/>
                  </a:lnTo>
                  <a:lnTo>
                    <a:pt x="749" y="5270"/>
                  </a:lnTo>
                  <a:lnTo>
                    <a:pt x="0" y="7531"/>
                  </a:lnTo>
                  <a:lnTo>
                    <a:pt x="0" y="299961"/>
                  </a:lnTo>
                  <a:lnTo>
                    <a:pt x="749" y="302221"/>
                  </a:lnTo>
                  <a:lnTo>
                    <a:pt x="2260" y="305244"/>
                  </a:lnTo>
                  <a:lnTo>
                    <a:pt x="4533" y="306755"/>
                  </a:lnTo>
                  <a:lnTo>
                    <a:pt x="7556" y="307505"/>
                  </a:lnTo>
                  <a:lnTo>
                    <a:pt x="10579" y="306755"/>
                  </a:lnTo>
                  <a:lnTo>
                    <a:pt x="12839" y="305244"/>
                  </a:lnTo>
                  <a:lnTo>
                    <a:pt x="15112" y="302221"/>
                  </a:lnTo>
                  <a:lnTo>
                    <a:pt x="15862" y="299961"/>
                  </a:lnTo>
                  <a:lnTo>
                    <a:pt x="15862" y="7531"/>
                  </a:lnTo>
                  <a:lnTo>
                    <a:pt x="15112" y="5270"/>
                  </a:lnTo>
                  <a:lnTo>
                    <a:pt x="10579" y="749"/>
                  </a:lnTo>
                  <a:lnTo>
                    <a:pt x="75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83124" y="2916351"/>
              <a:ext cx="148869" cy="140944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5219649" y="2962325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 h="0">
                <a:moveTo>
                  <a:pt x="0" y="0"/>
                </a:moveTo>
                <a:lnTo>
                  <a:pt x="213106" y="0"/>
                </a:lnTo>
              </a:path>
            </a:pathLst>
          </a:custGeom>
          <a:ln w="1207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4" name="object 2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21159" y="2916351"/>
            <a:ext cx="213867" cy="182397"/>
          </a:xfrm>
          <a:prstGeom prst="rect">
            <a:avLst/>
          </a:prstGeom>
        </p:spPr>
      </p:pic>
      <p:sp>
        <p:nvSpPr>
          <p:cNvPr id="25" name="object 25" descr=""/>
          <p:cNvSpPr/>
          <p:nvPr/>
        </p:nvSpPr>
        <p:spPr>
          <a:xfrm>
            <a:off x="5781878" y="2822892"/>
            <a:ext cx="15875" cy="307340"/>
          </a:xfrm>
          <a:custGeom>
            <a:avLst/>
            <a:gdLst/>
            <a:ahLst/>
            <a:cxnLst/>
            <a:rect l="l" t="t" r="r" b="b"/>
            <a:pathLst>
              <a:path w="15875" h="307339">
                <a:moveTo>
                  <a:pt x="11328" y="0"/>
                </a:moveTo>
                <a:lnTo>
                  <a:pt x="5283" y="0"/>
                </a:lnTo>
                <a:lnTo>
                  <a:pt x="2260" y="2260"/>
                </a:lnTo>
                <a:lnTo>
                  <a:pt x="749" y="4521"/>
                </a:lnTo>
                <a:lnTo>
                  <a:pt x="0" y="7543"/>
                </a:lnTo>
                <a:lnTo>
                  <a:pt x="0" y="299212"/>
                </a:lnTo>
                <a:lnTo>
                  <a:pt x="749" y="301472"/>
                </a:lnTo>
                <a:lnTo>
                  <a:pt x="2260" y="304495"/>
                </a:lnTo>
                <a:lnTo>
                  <a:pt x="5283" y="306006"/>
                </a:lnTo>
                <a:lnTo>
                  <a:pt x="8305" y="306755"/>
                </a:lnTo>
                <a:lnTo>
                  <a:pt x="11328" y="306006"/>
                </a:lnTo>
                <a:lnTo>
                  <a:pt x="13601" y="304495"/>
                </a:lnTo>
                <a:lnTo>
                  <a:pt x="15112" y="301472"/>
                </a:lnTo>
                <a:lnTo>
                  <a:pt x="15862" y="299212"/>
                </a:lnTo>
                <a:lnTo>
                  <a:pt x="15862" y="7543"/>
                </a:lnTo>
                <a:lnTo>
                  <a:pt x="15112" y="4521"/>
                </a:lnTo>
                <a:lnTo>
                  <a:pt x="13601" y="2260"/>
                </a:lnTo>
                <a:lnTo>
                  <a:pt x="113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5866510" y="2822892"/>
            <a:ext cx="15875" cy="307340"/>
          </a:xfrm>
          <a:custGeom>
            <a:avLst/>
            <a:gdLst/>
            <a:ahLst/>
            <a:cxnLst/>
            <a:rect l="l" t="t" r="r" b="b"/>
            <a:pathLst>
              <a:path w="15875" h="307339">
                <a:moveTo>
                  <a:pt x="10579" y="0"/>
                </a:moveTo>
                <a:lnTo>
                  <a:pt x="5295" y="0"/>
                </a:lnTo>
                <a:lnTo>
                  <a:pt x="2273" y="2260"/>
                </a:lnTo>
                <a:lnTo>
                  <a:pt x="762" y="4521"/>
                </a:lnTo>
                <a:lnTo>
                  <a:pt x="0" y="7543"/>
                </a:lnTo>
                <a:lnTo>
                  <a:pt x="0" y="299212"/>
                </a:lnTo>
                <a:lnTo>
                  <a:pt x="762" y="301472"/>
                </a:lnTo>
                <a:lnTo>
                  <a:pt x="2273" y="304495"/>
                </a:lnTo>
                <a:lnTo>
                  <a:pt x="5295" y="306006"/>
                </a:lnTo>
                <a:lnTo>
                  <a:pt x="8318" y="306755"/>
                </a:lnTo>
                <a:lnTo>
                  <a:pt x="10579" y="306006"/>
                </a:lnTo>
                <a:lnTo>
                  <a:pt x="13601" y="304495"/>
                </a:lnTo>
                <a:lnTo>
                  <a:pt x="15112" y="301472"/>
                </a:lnTo>
                <a:lnTo>
                  <a:pt x="15875" y="299212"/>
                </a:lnTo>
                <a:lnTo>
                  <a:pt x="15875" y="7543"/>
                </a:lnTo>
                <a:lnTo>
                  <a:pt x="15112" y="4521"/>
                </a:lnTo>
                <a:lnTo>
                  <a:pt x="13601" y="2260"/>
                </a:lnTo>
                <a:lnTo>
                  <a:pt x="105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object 27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977597" y="2809328"/>
            <a:ext cx="84632" cy="120586"/>
          </a:xfrm>
          <a:prstGeom prst="rect">
            <a:avLst/>
          </a:prstGeom>
        </p:spPr>
      </p:pic>
      <p:grpSp>
        <p:nvGrpSpPr>
          <p:cNvPr id="28" name="object 28" descr=""/>
          <p:cNvGrpSpPr/>
          <p:nvPr/>
        </p:nvGrpSpPr>
        <p:grpSpPr>
          <a:xfrm>
            <a:off x="6111354" y="2809328"/>
            <a:ext cx="596265" cy="320675"/>
            <a:chOff x="6111354" y="2809328"/>
            <a:chExt cx="596265" cy="320675"/>
          </a:xfrm>
        </p:grpSpPr>
        <p:sp>
          <p:nvSpPr>
            <p:cNvPr id="29" name="object 29" descr=""/>
            <p:cNvSpPr/>
            <p:nvPr/>
          </p:nvSpPr>
          <p:spPr>
            <a:xfrm>
              <a:off x="6111354" y="2822892"/>
              <a:ext cx="125095" cy="307340"/>
            </a:xfrm>
            <a:custGeom>
              <a:avLst/>
              <a:gdLst/>
              <a:ahLst/>
              <a:cxnLst/>
              <a:rect l="l" t="t" r="r" b="b"/>
              <a:pathLst>
                <a:path w="125095" h="307339">
                  <a:moveTo>
                    <a:pt x="119392" y="0"/>
                  </a:moveTo>
                  <a:lnTo>
                    <a:pt x="113347" y="0"/>
                  </a:lnTo>
                  <a:lnTo>
                    <a:pt x="108813" y="4521"/>
                  </a:lnTo>
                  <a:lnTo>
                    <a:pt x="749" y="296202"/>
                  </a:lnTo>
                  <a:lnTo>
                    <a:pt x="0" y="299212"/>
                  </a:lnTo>
                  <a:lnTo>
                    <a:pt x="1511" y="303733"/>
                  </a:lnTo>
                  <a:lnTo>
                    <a:pt x="5283" y="306006"/>
                  </a:lnTo>
                  <a:lnTo>
                    <a:pt x="7556" y="306755"/>
                  </a:lnTo>
                  <a:lnTo>
                    <a:pt x="11328" y="306006"/>
                  </a:lnTo>
                  <a:lnTo>
                    <a:pt x="13601" y="303733"/>
                  </a:lnTo>
                  <a:lnTo>
                    <a:pt x="15112" y="301472"/>
                  </a:lnTo>
                  <a:lnTo>
                    <a:pt x="123926" y="9804"/>
                  </a:lnTo>
                  <a:lnTo>
                    <a:pt x="124688" y="6781"/>
                  </a:lnTo>
                  <a:lnTo>
                    <a:pt x="123177" y="2260"/>
                  </a:lnTo>
                  <a:lnTo>
                    <a:pt x="121665" y="749"/>
                  </a:lnTo>
                  <a:lnTo>
                    <a:pt x="1193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47371" y="2840977"/>
              <a:ext cx="131495" cy="211797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6412115" y="2920123"/>
              <a:ext cx="169545" cy="137795"/>
            </a:xfrm>
            <a:custGeom>
              <a:avLst/>
              <a:gdLst/>
              <a:ahLst/>
              <a:cxnLst/>
              <a:rect l="l" t="t" r="r" b="b"/>
              <a:pathLst>
                <a:path w="169545" h="137794">
                  <a:moveTo>
                    <a:pt x="160197" y="0"/>
                  </a:moveTo>
                  <a:lnTo>
                    <a:pt x="76314" y="0"/>
                  </a:lnTo>
                  <a:lnTo>
                    <a:pt x="69519" y="1498"/>
                  </a:lnTo>
                  <a:lnTo>
                    <a:pt x="33248" y="21094"/>
                  </a:lnTo>
                  <a:lnTo>
                    <a:pt x="7556" y="57276"/>
                  </a:lnTo>
                  <a:lnTo>
                    <a:pt x="0" y="88938"/>
                  </a:lnTo>
                  <a:lnTo>
                    <a:pt x="749" y="95719"/>
                  </a:lnTo>
                  <a:lnTo>
                    <a:pt x="24930" y="131889"/>
                  </a:lnTo>
                  <a:lnTo>
                    <a:pt x="47599" y="137172"/>
                  </a:lnTo>
                  <a:lnTo>
                    <a:pt x="60451" y="135661"/>
                  </a:lnTo>
                  <a:lnTo>
                    <a:pt x="73291" y="131889"/>
                  </a:lnTo>
                  <a:lnTo>
                    <a:pt x="82353" y="127368"/>
                  </a:lnTo>
                  <a:lnTo>
                    <a:pt x="49872" y="127368"/>
                  </a:lnTo>
                  <a:lnTo>
                    <a:pt x="42316" y="125857"/>
                  </a:lnTo>
                  <a:lnTo>
                    <a:pt x="22669" y="96469"/>
                  </a:lnTo>
                  <a:lnTo>
                    <a:pt x="22669" y="93459"/>
                  </a:lnTo>
                  <a:lnTo>
                    <a:pt x="33997" y="51244"/>
                  </a:lnTo>
                  <a:lnTo>
                    <a:pt x="61201" y="23355"/>
                  </a:lnTo>
                  <a:lnTo>
                    <a:pt x="77825" y="20345"/>
                  </a:lnTo>
                  <a:lnTo>
                    <a:pt x="156425" y="20345"/>
                  </a:lnTo>
                  <a:lnTo>
                    <a:pt x="160959" y="19596"/>
                  </a:lnTo>
                  <a:lnTo>
                    <a:pt x="164731" y="17335"/>
                  </a:lnTo>
                  <a:lnTo>
                    <a:pt x="167005" y="14312"/>
                  </a:lnTo>
                  <a:lnTo>
                    <a:pt x="169265" y="10553"/>
                  </a:lnTo>
                  <a:lnTo>
                    <a:pt x="169265" y="7531"/>
                  </a:lnTo>
                  <a:lnTo>
                    <a:pt x="168516" y="3009"/>
                  </a:lnTo>
                  <a:lnTo>
                    <a:pt x="165493" y="749"/>
                  </a:lnTo>
                  <a:lnTo>
                    <a:pt x="160197" y="0"/>
                  </a:lnTo>
                  <a:close/>
                </a:path>
                <a:path w="169545" h="137794">
                  <a:moveTo>
                    <a:pt x="120903" y="20345"/>
                  </a:moveTo>
                  <a:lnTo>
                    <a:pt x="77825" y="20345"/>
                  </a:lnTo>
                  <a:lnTo>
                    <a:pt x="86144" y="21094"/>
                  </a:lnTo>
                  <a:lnTo>
                    <a:pt x="92938" y="23355"/>
                  </a:lnTo>
                  <a:lnTo>
                    <a:pt x="98983" y="27889"/>
                  </a:lnTo>
                  <a:lnTo>
                    <a:pt x="102768" y="33159"/>
                  </a:lnTo>
                  <a:lnTo>
                    <a:pt x="105790" y="40690"/>
                  </a:lnTo>
                  <a:lnTo>
                    <a:pt x="106552" y="48234"/>
                  </a:lnTo>
                  <a:lnTo>
                    <a:pt x="106437" y="51244"/>
                  </a:lnTo>
                  <a:lnTo>
                    <a:pt x="95211" y="91948"/>
                  </a:lnTo>
                  <a:lnTo>
                    <a:pt x="66497" y="122847"/>
                  </a:lnTo>
                  <a:lnTo>
                    <a:pt x="49872" y="127368"/>
                  </a:lnTo>
                  <a:lnTo>
                    <a:pt x="82353" y="127368"/>
                  </a:lnTo>
                  <a:lnTo>
                    <a:pt x="115620" y="96469"/>
                  </a:lnTo>
                  <a:lnTo>
                    <a:pt x="129222" y="51244"/>
                  </a:lnTo>
                  <a:lnTo>
                    <a:pt x="128460" y="42951"/>
                  </a:lnTo>
                  <a:lnTo>
                    <a:pt x="126199" y="30149"/>
                  </a:lnTo>
                  <a:lnTo>
                    <a:pt x="120903" y="203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23697" y="2809328"/>
              <a:ext cx="83883" cy="120586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6594983" y="2983433"/>
              <a:ext cx="50800" cy="115570"/>
            </a:xfrm>
            <a:custGeom>
              <a:avLst/>
              <a:gdLst/>
              <a:ahLst/>
              <a:cxnLst/>
              <a:rect l="l" t="t" r="r" b="b"/>
              <a:pathLst>
                <a:path w="50800" h="115569">
                  <a:moveTo>
                    <a:pt x="42316" y="0"/>
                  </a:moveTo>
                  <a:lnTo>
                    <a:pt x="30988" y="9791"/>
                  </a:lnTo>
                  <a:lnTo>
                    <a:pt x="32499" y="12814"/>
                  </a:lnTo>
                  <a:lnTo>
                    <a:pt x="34759" y="15074"/>
                  </a:lnTo>
                  <a:lnTo>
                    <a:pt x="42316" y="15074"/>
                  </a:lnTo>
                  <a:lnTo>
                    <a:pt x="45339" y="13563"/>
                  </a:lnTo>
                  <a:lnTo>
                    <a:pt x="47612" y="10553"/>
                  </a:lnTo>
                  <a:lnTo>
                    <a:pt x="49123" y="8293"/>
                  </a:lnTo>
                  <a:lnTo>
                    <a:pt x="49872" y="6032"/>
                  </a:lnTo>
                  <a:lnTo>
                    <a:pt x="49123" y="3771"/>
                  </a:lnTo>
                  <a:lnTo>
                    <a:pt x="48361" y="2260"/>
                  </a:lnTo>
                  <a:lnTo>
                    <a:pt x="46100" y="749"/>
                  </a:lnTo>
                  <a:lnTo>
                    <a:pt x="42316" y="0"/>
                  </a:lnTo>
                  <a:close/>
                </a:path>
                <a:path w="50800" h="115569">
                  <a:moveTo>
                    <a:pt x="38539" y="42202"/>
                  </a:moveTo>
                  <a:lnTo>
                    <a:pt x="24942" y="42202"/>
                  </a:lnTo>
                  <a:lnTo>
                    <a:pt x="27965" y="42951"/>
                  </a:lnTo>
                  <a:lnTo>
                    <a:pt x="28714" y="45974"/>
                  </a:lnTo>
                  <a:lnTo>
                    <a:pt x="28071" y="50495"/>
                  </a:lnTo>
                  <a:lnTo>
                    <a:pt x="27965" y="51244"/>
                  </a:lnTo>
                  <a:lnTo>
                    <a:pt x="25692" y="57276"/>
                  </a:lnTo>
                  <a:lnTo>
                    <a:pt x="10579" y="94208"/>
                  </a:lnTo>
                  <a:lnTo>
                    <a:pt x="9067" y="97980"/>
                  </a:lnTo>
                  <a:lnTo>
                    <a:pt x="8318" y="101739"/>
                  </a:lnTo>
                  <a:lnTo>
                    <a:pt x="8318" y="102501"/>
                  </a:lnTo>
                  <a:lnTo>
                    <a:pt x="19646" y="115315"/>
                  </a:lnTo>
                  <a:lnTo>
                    <a:pt x="24180" y="115315"/>
                  </a:lnTo>
                  <a:lnTo>
                    <a:pt x="29476" y="114553"/>
                  </a:lnTo>
                  <a:lnTo>
                    <a:pt x="34010" y="113055"/>
                  </a:lnTo>
                  <a:lnTo>
                    <a:pt x="38544" y="110032"/>
                  </a:lnTo>
                  <a:lnTo>
                    <a:pt x="24942" y="110032"/>
                  </a:lnTo>
                  <a:lnTo>
                    <a:pt x="22669" y="109283"/>
                  </a:lnTo>
                  <a:lnTo>
                    <a:pt x="21158" y="106273"/>
                  </a:lnTo>
                  <a:lnTo>
                    <a:pt x="21920" y="106273"/>
                  </a:lnTo>
                  <a:lnTo>
                    <a:pt x="22455" y="102501"/>
                  </a:lnTo>
                  <a:lnTo>
                    <a:pt x="22563" y="101739"/>
                  </a:lnTo>
                  <a:lnTo>
                    <a:pt x="22669" y="100990"/>
                  </a:lnTo>
                  <a:lnTo>
                    <a:pt x="24180" y="94957"/>
                  </a:lnTo>
                  <a:lnTo>
                    <a:pt x="40055" y="58026"/>
                  </a:lnTo>
                  <a:lnTo>
                    <a:pt x="41567" y="54267"/>
                  </a:lnTo>
                  <a:lnTo>
                    <a:pt x="41567" y="50495"/>
                  </a:lnTo>
                  <a:lnTo>
                    <a:pt x="40805" y="46723"/>
                  </a:lnTo>
                  <a:lnTo>
                    <a:pt x="38539" y="42202"/>
                  </a:lnTo>
                  <a:close/>
                </a:path>
                <a:path w="50800" h="115569">
                  <a:moveTo>
                    <a:pt x="48361" y="85915"/>
                  </a:moveTo>
                  <a:lnTo>
                    <a:pt x="46100" y="85915"/>
                  </a:lnTo>
                  <a:lnTo>
                    <a:pt x="43827" y="86677"/>
                  </a:lnTo>
                  <a:lnTo>
                    <a:pt x="42316" y="88176"/>
                  </a:lnTo>
                  <a:lnTo>
                    <a:pt x="39293" y="96469"/>
                  </a:lnTo>
                  <a:lnTo>
                    <a:pt x="37782" y="100241"/>
                  </a:lnTo>
                  <a:lnTo>
                    <a:pt x="33248" y="106273"/>
                  </a:lnTo>
                  <a:lnTo>
                    <a:pt x="30988" y="108534"/>
                  </a:lnTo>
                  <a:lnTo>
                    <a:pt x="24942" y="110032"/>
                  </a:lnTo>
                  <a:lnTo>
                    <a:pt x="38544" y="110032"/>
                  </a:lnTo>
                  <a:lnTo>
                    <a:pt x="41567" y="106273"/>
                  </a:lnTo>
                  <a:lnTo>
                    <a:pt x="46850" y="97980"/>
                  </a:lnTo>
                  <a:lnTo>
                    <a:pt x="50634" y="88938"/>
                  </a:lnTo>
                  <a:lnTo>
                    <a:pt x="50634" y="87426"/>
                  </a:lnTo>
                  <a:lnTo>
                    <a:pt x="49872" y="86677"/>
                  </a:lnTo>
                  <a:lnTo>
                    <a:pt x="48361" y="85915"/>
                  </a:lnTo>
                  <a:close/>
                </a:path>
                <a:path w="50800" h="115569">
                  <a:moveTo>
                    <a:pt x="30988" y="36931"/>
                  </a:moveTo>
                  <a:lnTo>
                    <a:pt x="26454" y="36931"/>
                  </a:lnTo>
                  <a:lnTo>
                    <a:pt x="21158" y="37680"/>
                  </a:lnTo>
                  <a:lnTo>
                    <a:pt x="1511" y="59537"/>
                  </a:lnTo>
                  <a:lnTo>
                    <a:pt x="0" y="64058"/>
                  </a:lnTo>
                  <a:lnTo>
                    <a:pt x="0" y="66319"/>
                  </a:lnTo>
                  <a:lnTo>
                    <a:pt x="4533" y="66319"/>
                  </a:lnTo>
                  <a:lnTo>
                    <a:pt x="6807" y="65570"/>
                  </a:lnTo>
                  <a:lnTo>
                    <a:pt x="7556" y="64058"/>
                  </a:lnTo>
                  <a:lnTo>
                    <a:pt x="10579" y="55765"/>
                  </a:lnTo>
                  <a:lnTo>
                    <a:pt x="14363" y="48234"/>
                  </a:lnTo>
                  <a:lnTo>
                    <a:pt x="19646" y="43713"/>
                  </a:lnTo>
                  <a:lnTo>
                    <a:pt x="21920" y="42951"/>
                  </a:lnTo>
                  <a:lnTo>
                    <a:pt x="24942" y="42202"/>
                  </a:lnTo>
                  <a:lnTo>
                    <a:pt x="38539" y="42202"/>
                  </a:lnTo>
                  <a:lnTo>
                    <a:pt x="37782" y="40690"/>
                  </a:lnTo>
                  <a:lnTo>
                    <a:pt x="34759" y="38430"/>
                  </a:lnTo>
                  <a:lnTo>
                    <a:pt x="30988" y="36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/>
          <p:nvPr/>
        </p:nvSpPr>
        <p:spPr>
          <a:xfrm>
            <a:off x="6758965" y="2813850"/>
            <a:ext cx="96520" cy="297180"/>
          </a:xfrm>
          <a:custGeom>
            <a:avLst/>
            <a:gdLst/>
            <a:ahLst/>
            <a:cxnLst/>
            <a:rect l="l" t="t" r="r" b="b"/>
            <a:pathLst>
              <a:path w="96520" h="297180">
                <a:moveTo>
                  <a:pt x="15113" y="0"/>
                </a:moveTo>
                <a:lnTo>
                  <a:pt x="0" y="0"/>
                </a:lnTo>
                <a:lnTo>
                  <a:pt x="17386" y="13563"/>
                </a:lnTo>
                <a:lnTo>
                  <a:pt x="31737" y="29387"/>
                </a:lnTo>
                <a:lnTo>
                  <a:pt x="54406" y="65570"/>
                </a:lnTo>
                <a:lnTo>
                  <a:pt x="68770" y="105511"/>
                </a:lnTo>
                <a:lnTo>
                  <a:pt x="73304" y="148475"/>
                </a:lnTo>
                <a:lnTo>
                  <a:pt x="71793" y="170332"/>
                </a:lnTo>
                <a:lnTo>
                  <a:pt x="62725" y="211785"/>
                </a:lnTo>
                <a:lnTo>
                  <a:pt x="44589" y="250977"/>
                </a:lnTo>
                <a:lnTo>
                  <a:pt x="17386" y="283387"/>
                </a:lnTo>
                <a:lnTo>
                  <a:pt x="0" y="296951"/>
                </a:lnTo>
                <a:lnTo>
                  <a:pt x="15113" y="296951"/>
                </a:lnTo>
                <a:lnTo>
                  <a:pt x="50634" y="268312"/>
                </a:lnTo>
                <a:lnTo>
                  <a:pt x="75577" y="232130"/>
                </a:lnTo>
                <a:lnTo>
                  <a:pt x="90690" y="191439"/>
                </a:lnTo>
                <a:lnTo>
                  <a:pt x="95973" y="148475"/>
                </a:lnTo>
                <a:lnTo>
                  <a:pt x="94462" y="127368"/>
                </a:lnTo>
                <a:lnTo>
                  <a:pt x="84645" y="85166"/>
                </a:lnTo>
                <a:lnTo>
                  <a:pt x="64236" y="46723"/>
                </a:lnTo>
                <a:lnTo>
                  <a:pt x="34010" y="13563"/>
                </a:lnTo>
                <a:lnTo>
                  <a:pt x="151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3217849" y="2742247"/>
            <a:ext cx="426720" cy="440690"/>
          </a:xfrm>
          <a:custGeom>
            <a:avLst/>
            <a:gdLst/>
            <a:ahLst/>
            <a:cxnLst/>
            <a:rect l="l" t="t" r="r" b="b"/>
            <a:pathLst>
              <a:path w="426720" h="440689">
                <a:moveTo>
                  <a:pt x="387667" y="0"/>
                </a:moveTo>
                <a:lnTo>
                  <a:pt x="4533" y="0"/>
                </a:lnTo>
                <a:lnTo>
                  <a:pt x="1511" y="1511"/>
                </a:lnTo>
                <a:lnTo>
                  <a:pt x="0" y="5283"/>
                </a:lnTo>
                <a:lnTo>
                  <a:pt x="0" y="12814"/>
                </a:lnTo>
                <a:lnTo>
                  <a:pt x="762" y="16586"/>
                </a:lnTo>
                <a:lnTo>
                  <a:pt x="164744" y="235153"/>
                </a:lnTo>
                <a:lnTo>
                  <a:pt x="762" y="431863"/>
                </a:lnTo>
                <a:lnTo>
                  <a:pt x="0" y="434886"/>
                </a:lnTo>
                <a:lnTo>
                  <a:pt x="762" y="437146"/>
                </a:lnTo>
                <a:lnTo>
                  <a:pt x="1511" y="438645"/>
                </a:lnTo>
                <a:lnTo>
                  <a:pt x="4533" y="440156"/>
                </a:lnTo>
                <a:lnTo>
                  <a:pt x="387667" y="440156"/>
                </a:lnTo>
                <a:lnTo>
                  <a:pt x="426212" y="330123"/>
                </a:lnTo>
                <a:lnTo>
                  <a:pt x="415632" y="330123"/>
                </a:lnTo>
                <a:lnTo>
                  <a:pt x="411099" y="340664"/>
                </a:lnTo>
                <a:lnTo>
                  <a:pt x="405803" y="351218"/>
                </a:lnTo>
                <a:lnTo>
                  <a:pt x="372554" y="384378"/>
                </a:lnTo>
                <a:lnTo>
                  <a:pt x="335521" y="402475"/>
                </a:lnTo>
                <a:lnTo>
                  <a:pt x="281876" y="413029"/>
                </a:lnTo>
                <a:lnTo>
                  <a:pt x="243331" y="415289"/>
                </a:lnTo>
                <a:lnTo>
                  <a:pt x="37782" y="415289"/>
                </a:lnTo>
                <a:lnTo>
                  <a:pt x="198742" y="223088"/>
                </a:lnTo>
                <a:lnTo>
                  <a:pt x="199504" y="220827"/>
                </a:lnTo>
                <a:lnTo>
                  <a:pt x="198742" y="217068"/>
                </a:lnTo>
                <a:lnTo>
                  <a:pt x="48361" y="18084"/>
                </a:lnTo>
                <a:lnTo>
                  <a:pt x="241071" y="18084"/>
                </a:lnTo>
                <a:lnTo>
                  <a:pt x="279603" y="20345"/>
                </a:lnTo>
                <a:lnTo>
                  <a:pt x="334009" y="30899"/>
                </a:lnTo>
                <a:lnTo>
                  <a:pt x="371043" y="49745"/>
                </a:lnTo>
                <a:lnTo>
                  <a:pt x="405053" y="82905"/>
                </a:lnTo>
                <a:lnTo>
                  <a:pt x="415632" y="104012"/>
                </a:lnTo>
                <a:lnTo>
                  <a:pt x="426212" y="104012"/>
                </a:lnTo>
                <a:lnTo>
                  <a:pt x="3876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8745855" y="6427787"/>
            <a:ext cx="12318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ahoma"/>
                <a:cs typeface="Tahoma"/>
              </a:rPr>
              <a:t>8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35717" y="171125"/>
            <a:ext cx="7439025" cy="4133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dirty="0" sz="1100" spc="20">
                <a:latin typeface="Microsoft JhengHei UI"/>
                <a:cs typeface="Microsoft JhengHei UI"/>
              </a:rPr>
              <a:t>⽆论你想“拟合”或“学习”的那个“真实规则” </a:t>
            </a:r>
            <a:r>
              <a:rPr dirty="0" sz="1100">
                <a:latin typeface="Microsoft JhengHei UI"/>
                <a:cs typeface="Microsoft JhengHei UI"/>
              </a:rPr>
              <a:t>f(x)</a:t>
            </a:r>
            <a:r>
              <a:rPr dirty="0" sz="1100" spc="95">
                <a:latin typeface="Microsoft JhengHei UI"/>
                <a:cs typeface="Microsoft JhengHei UI"/>
              </a:rPr>
              <a:t> 有多复杂</a:t>
            </a:r>
            <a:r>
              <a:rPr dirty="0" sz="1100">
                <a:latin typeface="Microsoft JhengHei UI"/>
                <a:cs typeface="Microsoft JhengHei UI"/>
              </a:rPr>
              <a:t>（⽐如⼀个奇形怪状的曲⾯），只要它是“连续”的（</a:t>
            </a:r>
            <a:r>
              <a:rPr dirty="0" sz="1100" spc="-10">
                <a:latin typeface="Microsoft JhengHei UI"/>
                <a:cs typeface="Microsoft JhengHei UI"/>
              </a:rPr>
              <a:t>即没有突然</a:t>
            </a:r>
            <a:r>
              <a:rPr dirty="0" sz="1100">
                <a:latin typeface="Microsoft JhengHei UI"/>
                <a:cs typeface="Microsoft JhengHei UI"/>
              </a:rPr>
              <a:t>的断裂或跳变），RBF</a:t>
            </a:r>
            <a:r>
              <a:rPr dirty="0" sz="1100" spc="-15">
                <a:latin typeface="Microsoft JhengHei UI"/>
                <a:cs typeface="Microsoft JhengHei UI"/>
              </a:rPr>
              <a:t> ⽹络都能模拟它。</a:t>
            </a:r>
            <a:endParaRPr sz="1100">
              <a:latin typeface="Microsoft JhengHei UI"/>
              <a:cs typeface="Microsoft JhengHei UI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1240645" y="648931"/>
            <a:ext cx="6456045" cy="429895"/>
            <a:chOff x="1240645" y="648931"/>
            <a:chExt cx="6456045" cy="429895"/>
          </a:xfrm>
        </p:grpSpPr>
        <p:pic>
          <p:nvPicPr>
            <p:cNvPr id="39" name="object 3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40645" y="766737"/>
              <a:ext cx="805830" cy="303390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13190" y="700716"/>
              <a:ext cx="2570302" cy="376649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68748" y="648931"/>
              <a:ext cx="2697137" cy="429844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7674622" y="1057084"/>
              <a:ext cx="22225" cy="16510"/>
            </a:xfrm>
            <a:custGeom>
              <a:avLst/>
              <a:gdLst/>
              <a:ahLst/>
              <a:cxnLst/>
              <a:rect l="l" t="t" r="r" b="b"/>
              <a:pathLst>
                <a:path w="22225" h="16509">
                  <a:moveTo>
                    <a:pt x="8127" y="0"/>
                  </a:moveTo>
                  <a:lnTo>
                    <a:pt x="3708" y="1422"/>
                  </a:lnTo>
                  <a:lnTo>
                    <a:pt x="0" y="8610"/>
                  </a:lnTo>
                  <a:lnTo>
                    <a:pt x="1422" y="13030"/>
                  </a:lnTo>
                  <a:lnTo>
                    <a:pt x="7078" y="15951"/>
                  </a:lnTo>
                  <a:lnTo>
                    <a:pt x="8966" y="15951"/>
                  </a:lnTo>
                  <a:lnTo>
                    <a:pt x="20929" y="11582"/>
                  </a:lnTo>
                  <a:lnTo>
                    <a:pt x="21856" y="9575"/>
                  </a:lnTo>
                  <a:lnTo>
                    <a:pt x="20904" y="6946"/>
                  </a:lnTo>
                  <a:lnTo>
                    <a:pt x="20294" y="6273"/>
                  </a:lnTo>
                  <a:lnTo>
                    <a:pt x="81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3" name="object 43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96328" y="5667296"/>
            <a:ext cx="398782" cy="315539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74968" y="5657958"/>
            <a:ext cx="589887" cy="335294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844677" y="5589621"/>
            <a:ext cx="2483799" cy="409115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491928" y="5658524"/>
            <a:ext cx="1292700" cy="292359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881306" y="5650324"/>
            <a:ext cx="1628247" cy="333526"/>
          </a:xfrm>
          <a:prstGeom prst="rect">
            <a:avLst/>
          </a:prstGeom>
        </p:spPr>
      </p:pic>
      <p:sp>
        <p:nvSpPr>
          <p:cNvPr id="48" name="object 48" descr=""/>
          <p:cNvSpPr/>
          <p:nvPr/>
        </p:nvSpPr>
        <p:spPr>
          <a:xfrm>
            <a:off x="7649718" y="5921752"/>
            <a:ext cx="19685" cy="58419"/>
          </a:xfrm>
          <a:custGeom>
            <a:avLst/>
            <a:gdLst/>
            <a:ahLst/>
            <a:cxnLst/>
            <a:rect l="l" t="t" r="r" b="b"/>
            <a:pathLst>
              <a:path w="19684" h="58420">
                <a:moveTo>
                  <a:pt x="13550" y="0"/>
                </a:moveTo>
                <a:lnTo>
                  <a:pt x="8470" y="1620"/>
                </a:lnTo>
                <a:lnTo>
                  <a:pt x="7017" y="4149"/>
                </a:lnTo>
                <a:lnTo>
                  <a:pt x="7404" y="6515"/>
                </a:lnTo>
                <a:lnTo>
                  <a:pt x="8155" y="17305"/>
                </a:lnTo>
                <a:lnTo>
                  <a:pt x="0" y="53686"/>
                </a:lnTo>
                <a:lnTo>
                  <a:pt x="1117" y="56200"/>
                </a:lnTo>
                <a:lnTo>
                  <a:pt x="5346" y="57826"/>
                </a:lnTo>
                <a:lnTo>
                  <a:pt x="7594" y="57038"/>
                </a:lnTo>
                <a:lnTo>
                  <a:pt x="8661" y="55200"/>
                </a:lnTo>
                <a:lnTo>
                  <a:pt x="14546" y="43232"/>
                </a:lnTo>
                <a:lnTo>
                  <a:pt x="18384" y="30466"/>
                </a:lnTo>
                <a:lnTo>
                  <a:pt x="19454" y="17966"/>
                </a:lnTo>
                <a:lnTo>
                  <a:pt x="19510" y="17305"/>
                </a:lnTo>
                <a:lnTo>
                  <a:pt x="17259" y="4149"/>
                </a:lnTo>
                <a:lnTo>
                  <a:pt x="16454" y="1620"/>
                </a:lnTo>
                <a:lnTo>
                  <a:pt x="16408" y="1475"/>
                </a:lnTo>
                <a:lnTo>
                  <a:pt x="135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9" name="object 49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755635" y="5612264"/>
            <a:ext cx="1196695" cy="324806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92778" y="6074858"/>
            <a:ext cx="327610" cy="3146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6492" y="1098803"/>
            <a:ext cx="1153795" cy="896619"/>
            <a:chOff x="126492" y="1098803"/>
            <a:chExt cx="1153795" cy="896619"/>
          </a:xfrm>
        </p:grpSpPr>
        <p:sp>
          <p:nvSpPr>
            <p:cNvPr id="3" name="object 3" descr=""/>
            <p:cNvSpPr/>
            <p:nvPr/>
          </p:nvSpPr>
          <p:spPr>
            <a:xfrm>
              <a:off x="417576" y="1098803"/>
              <a:ext cx="382905" cy="474345"/>
            </a:xfrm>
            <a:custGeom>
              <a:avLst/>
              <a:gdLst/>
              <a:ahLst/>
              <a:cxnLst/>
              <a:rect l="l" t="t" r="r" b="b"/>
              <a:pathLst>
                <a:path w="382905" h="474344">
                  <a:moveTo>
                    <a:pt x="0" y="473963"/>
                  </a:moveTo>
                  <a:lnTo>
                    <a:pt x="382523" y="473963"/>
                  </a:lnTo>
                  <a:lnTo>
                    <a:pt x="382523" y="0"/>
                  </a:lnTo>
                  <a:lnTo>
                    <a:pt x="0" y="0"/>
                  </a:lnTo>
                  <a:lnTo>
                    <a:pt x="0" y="473963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00" y="1098803"/>
              <a:ext cx="329184" cy="47396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41019" y="1520951"/>
              <a:ext cx="370840" cy="474345"/>
            </a:xfrm>
            <a:custGeom>
              <a:avLst/>
              <a:gdLst/>
              <a:ahLst/>
              <a:cxnLst/>
              <a:rect l="l" t="t" r="r" b="b"/>
              <a:pathLst>
                <a:path w="370840" h="474344">
                  <a:moveTo>
                    <a:pt x="0" y="473963"/>
                  </a:moveTo>
                  <a:lnTo>
                    <a:pt x="370332" y="473963"/>
                  </a:lnTo>
                  <a:lnTo>
                    <a:pt x="370332" y="0"/>
                  </a:lnTo>
                  <a:lnTo>
                    <a:pt x="0" y="0"/>
                  </a:lnTo>
                  <a:lnTo>
                    <a:pt x="0" y="47396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1351" y="1520951"/>
              <a:ext cx="368807" cy="47396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492" y="1447799"/>
              <a:ext cx="560832" cy="422148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762000" y="990600"/>
            <a:ext cx="32384" cy="710565"/>
          </a:xfrm>
          <a:custGeom>
            <a:avLst/>
            <a:gdLst/>
            <a:ahLst/>
            <a:cxnLst/>
            <a:rect l="l" t="t" r="r" b="b"/>
            <a:pathLst>
              <a:path w="32384" h="710564">
                <a:moveTo>
                  <a:pt x="0" y="710209"/>
                </a:moveTo>
                <a:lnTo>
                  <a:pt x="32004" y="710209"/>
                </a:lnTo>
                <a:lnTo>
                  <a:pt x="32004" y="0"/>
                </a:lnTo>
                <a:lnTo>
                  <a:pt x="0" y="0"/>
                </a:lnTo>
                <a:lnTo>
                  <a:pt x="0" y="710209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29565" y="111759"/>
            <a:ext cx="770826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Problems</a:t>
            </a:r>
            <a:r>
              <a:rPr dirty="0" sz="3600" spc="-65"/>
              <a:t> </a:t>
            </a:r>
            <a:r>
              <a:rPr dirty="0" sz="3600"/>
              <a:t>with</a:t>
            </a:r>
            <a:r>
              <a:rPr dirty="0" sz="3600" spc="-60"/>
              <a:t> </a:t>
            </a:r>
            <a:r>
              <a:rPr dirty="0" sz="3600"/>
              <a:t>the</a:t>
            </a:r>
            <a:r>
              <a:rPr dirty="0" sz="3600" spc="-60"/>
              <a:t> </a:t>
            </a:r>
            <a:r>
              <a:rPr dirty="0" sz="3600" spc="-10"/>
              <a:t>Regularization Networks</a:t>
            </a:r>
            <a:endParaRPr sz="3600"/>
          </a:p>
        </p:txBody>
      </p:sp>
      <p:sp>
        <p:nvSpPr>
          <p:cNvPr id="10" name="object 10" descr=""/>
          <p:cNvSpPr/>
          <p:nvPr/>
        </p:nvSpPr>
        <p:spPr>
          <a:xfrm>
            <a:off x="199034" y="1700809"/>
            <a:ext cx="8928100" cy="4796155"/>
          </a:xfrm>
          <a:custGeom>
            <a:avLst/>
            <a:gdLst/>
            <a:ahLst/>
            <a:cxnLst/>
            <a:rect l="l" t="t" r="r" b="b"/>
            <a:pathLst>
              <a:path w="8928100" h="4796155">
                <a:moveTo>
                  <a:pt x="8928100" y="0"/>
                </a:moveTo>
                <a:lnTo>
                  <a:pt x="0" y="0"/>
                </a:lnTo>
                <a:lnTo>
                  <a:pt x="0" y="4795913"/>
                </a:lnTo>
                <a:lnTo>
                  <a:pt x="8928100" y="4795913"/>
                </a:lnTo>
                <a:lnTo>
                  <a:pt x="8928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214274" y="1718589"/>
            <a:ext cx="8433435" cy="49777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19100" marR="812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60000"/>
              <a:buChar char="■"/>
              <a:tabLst>
                <a:tab pos="419100" algn="l"/>
              </a:tabLst>
            </a:pPr>
            <a:r>
              <a:rPr dirty="0" sz="2500">
                <a:latin typeface="Tahoma"/>
                <a:cs typeface="Tahoma"/>
              </a:rPr>
              <a:t>The</a:t>
            </a:r>
            <a:r>
              <a:rPr dirty="0" sz="2500" spc="-30">
                <a:latin typeface="Tahoma"/>
                <a:cs typeface="Tahoma"/>
              </a:rPr>
              <a:t> </a:t>
            </a:r>
            <a:r>
              <a:rPr dirty="0" sz="2500" spc="-10">
                <a:latin typeface="Tahoma"/>
                <a:cs typeface="Tahoma"/>
              </a:rPr>
              <a:t>one-</a:t>
            </a:r>
            <a:r>
              <a:rPr dirty="0" sz="2500" spc="-80">
                <a:latin typeface="Tahoma"/>
                <a:cs typeface="Tahoma"/>
              </a:rPr>
              <a:t>to-</a:t>
            </a:r>
            <a:r>
              <a:rPr dirty="0" sz="2500">
                <a:latin typeface="Tahoma"/>
                <a:cs typeface="Tahoma"/>
              </a:rPr>
              <a:t>one</a:t>
            </a:r>
            <a:r>
              <a:rPr dirty="0" sz="2500" spc="-2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correspondence</a:t>
            </a:r>
            <a:r>
              <a:rPr dirty="0" sz="2500" spc="-2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between</a:t>
            </a:r>
            <a:r>
              <a:rPr dirty="0" sz="2500" spc="-2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the</a:t>
            </a:r>
            <a:r>
              <a:rPr dirty="0" sz="2500" spc="-2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number</a:t>
            </a:r>
            <a:r>
              <a:rPr dirty="0" sz="2500" spc="-15">
                <a:latin typeface="Tahoma"/>
                <a:cs typeface="Tahoma"/>
              </a:rPr>
              <a:t> </a:t>
            </a:r>
            <a:r>
              <a:rPr dirty="0" sz="2500" spc="-25">
                <a:latin typeface="Tahoma"/>
                <a:cs typeface="Tahoma"/>
              </a:rPr>
              <a:t>of </a:t>
            </a:r>
            <a:r>
              <a:rPr dirty="0" sz="2500" spc="75">
                <a:latin typeface="Tahoma"/>
                <a:cs typeface="Tahoma"/>
              </a:rPr>
              <a:t>Gaussian</a:t>
            </a:r>
            <a:r>
              <a:rPr dirty="0" sz="2500" spc="-145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functions</a:t>
            </a:r>
            <a:r>
              <a:rPr dirty="0" sz="2500" spc="-14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and</a:t>
            </a:r>
            <a:r>
              <a:rPr dirty="0" sz="2500" spc="-14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the</a:t>
            </a:r>
            <a:r>
              <a:rPr dirty="0" sz="2500" spc="-14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number</a:t>
            </a:r>
            <a:r>
              <a:rPr dirty="0" sz="2500" spc="-14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of</a:t>
            </a:r>
            <a:r>
              <a:rPr dirty="0" sz="2500" spc="-145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the</a:t>
            </a:r>
            <a:r>
              <a:rPr dirty="0" sz="2500" spc="-140">
                <a:latin typeface="Tahoma"/>
                <a:cs typeface="Tahoma"/>
              </a:rPr>
              <a:t> </a:t>
            </a:r>
            <a:r>
              <a:rPr dirty="0" sz="2500" spc="-10">
                <a:latin typeface="Tahoma"/>
                <a:cs typeface="Tahoma"/>
              </a:rPr>
              <a:t>training </a:t>
            </a:r>
            <a:r>
              <a:rPr dirty="0" sz="2500">
                <a:latin typeface="Tahoma"/>
                <a:cs typeface="Tahoma"/>
              </a:rPr>
              <a:t>examples</a:t>
            </a:r>
            <a:r>
              <a:rPr dirty="0" sz="2500" spc="-40">
                <a:latin typeface="Tahoma"/>
                <a:cs typeface="Tahoma"/>
              </a:rPr>
              <a:t> </a:t>
            </a:r>
            <a:r>
              <a:rPr dirty="0" sz="2500" spc="-25">
                <a:latin typeface="Tahoma"/>
                <a:cs typeface="Tahoma"/>
              </a:rPr>
              <a:t>often</a:t>
            </a:r>
            <a:r>
              <a:rPr dirty="0" sz="2500" spc="-4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become</a:t>
            </a:r>
            <a:r>
              <a:rPr dirty="0" sz="2500" spc="-35">
                <a:latin typeface="Tahoma"/>
                <a:cs typeface="Tahoma"/>
              </a:rPr>
              <a:t> </a:t>
            </a:r>
            <a:r>
              <a:rPr dirty="0" sz="2500" b="1" i="1">
                <a:solidFill>
                  <a:srgbClr val="FF0000"/>
                </a:solidFill>
                <a:latin typeface="Arial"/>
                <a:cs typeface="Arial"/>
              </a:rPr>
              <a:t>computationally</a:t>
            </a:r>
            <a:r>
              <a:rPr dirty="0" sz="2500" spc="45" b="1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500" spc="-10" b="1" i="1">
                <a:solidFill>
                  <a:srgbClr val="FF0000"/>
                </a:solidFill>
                <a:latin typeface="Arial"/>
                <a:cs typeface="Arial"/>
              </a:rPr>
              <a:t>inefficient</a:t>
            </a:r>
            <a:r>
              <a:rPr dirty="0" sz="2500" spc="-10">
                <a:latin typeface="Tahoma"/>
                <a:cs typeface="Tahoma"/>
              </a:rPr>
              <a:t>,</a:t>
            </a:r>
            <a:r>
              <a:rPr dirty="0" sz="2500" spc="-40">
                <a:latin typeface="Tahoma"/>
                <a:cs typeface="Tahoma"/>
              </a:rPr>
              <a:t> </a:t>
            </a:r>
            <a:r>
              <a:rPr dirty="0" sz="2500" spc="-25">
                <a:latin typeface="Tahoma"/>
                <a:cs typeface="Tahoma"/>
              </a:rPr>
              <a:t>in </a:t>
            </a:r>
            <a:r>
              <a:rPr dirty="0" sz="2500">
                <a:latin typeface="Tahoma"/>
                <a:cs typeface="Tahoma"/>
              </a:rPr>
              <a:t>the</a:t>
            </a:r>
            <a:r>
              <a:rPr dirty="0" sz="2500" spc="-114">
                <a:latin typeface="Tahoma"/>
                <a:cs typeface="Tahoma"/>
              </a:rPr>
              <a:t> </a:t>
            </a:r>
            <a:r>
              <a:rPr dirty="0" sz="2500" spc="75">
                <a:latin typeface="Tahoma"/>
                <a:cs typeface="Tahoma"/>
              </a:rPr>
              <a:t>sense</a:t>
            </a:r>
            <a:r>
              <a:rPr dirty="0" sz="2500" spc="-114">
                <a:latin typeface="Tahoma"/>
                <a:cs typeface="Tahoma"/>
              </a:rPr>
              <a:t> </a:t>
            </a:r>
            <a:r>
              <a:rPr dirty="0" sz="2500" spc="-50">
                <a:latin typeface="Tahoma"/>
                <a:cs typeface="Tahoma"/>
              </a:rPr>
              <a:t>that</a:t>
            </a:r>
            <a:r>
              <a:rPr dirty="0" sz="2500" spc="-110">
                <a:latin typeface="Tahoma"/>
                <a:cs typeface="Tahoma"/>
              </a:rPr>
              <a:t> </a:t>
            </a:r>
            <a:r>
              <a:rPr dirty="0" sz="2500" spc="-65">
                <a:latin typeface="Tahoma"/>
                <a:cs typeface="Tahoma"/>
              </a:rPr>
              <a:t>it</a:t>
            </a:r>
            <a:r>
              <a:rPr dirty="0" sz="2500" spc="-114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may</a:t>
            </a:r>
            <a:r>
              <a:rPr dirty="0" sz="2500" spc="-114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require</a:t>
            </a:r>
            <a:r>
              <a:rPr dirty="0" sz="2500" spc="-11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combining</a:t>
            </a:r>
            <a:r>
              <a:rPr dirty="0" sz="2500" spc="-114">
                <a:latin typeface="Tahoma"/>
                <a:cs typeface="Tahoma"/>
              </a:rPr>
              <a:t> </a:t>
            </a:r>
            <a:r>
              <a:rPr dirty="0" sz="2500" spc="65">
                <a:latin typeface="Tahoma"/>
                <a:cs typeface="Tahoma"/>
              </a:rPr>
              <a:t>a</a:t>
            </a:r>
            <a:r>
              <a:rPr dirty="0" sz="2500" spc="-114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very</a:t>
            </a:r>
            <a:r>
              <a:rPr dirty="0" sz="2500" spc="-110">
                <a:latin typeface="Tahoma"/>
                <a:cs typeface="Tahoma"/>
              </a:rPr>
              <a:t> </a:t>
            </a:r>
            <a:r>
              <a:rPr dirty="0" sz="2500" spc="-10">
                <a:latin typeface="Tahoma"/>
                <a:cs typeface="Tahoma"/>
              </a:rPr>
              <a:t>large </a:t>
            </a:r>
            <a:r>
              <a:rPr dirty="0" sz="2500">
                <a:latin typeface="Tahoma"/>
                <a:cs typeface="Tahoma"/>
              </a:rPr>
              <a:t>number</a:t>
            </a:r>
            <a:r>
              <a:rPr dirty="0" sz="2500" spc="-114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of</a:t>
            </a:r>
            <a:r>
              <a:rPr dirty="0" sz="2500" spc="-110">
                <a:latin typeface="Tahoma"/>
                <a:cs typeface="Tahoma"/>
              </a:rPr>
              <a:t> </a:t>
            </a:r>
            <a:r>
              <a:rPr dirty="0" sz="2500" spc="60">
                <a:latin typeface="Tahoma"/>
                <a:cs typeface="Tahoma"/>
              </a:rPr>
              <a:t>basis</a:t>
            </a:r>
            <a:r>
              <a:rPr dirty="0" sz="2500" spc="-11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functions</a:t>
            </a:r>
            <a:r>
              <a:rPr dirty="0" sz="2500" spc="-114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(since</a:t>
            </a:r>
            <a:r>
              <a:rPr dirty="0" sz="2500" spc="-110">
                <a:latin typeface="Tahoma"/>
                <a:cs typeface="Tahoma"/>
              </a:rPr>
              <a:t> </a:t>
            </a:r>
            <a:r>
              <a:rPr dirty="0" sz="2500" spc="-25">
                <a:latin typeface="Tahoma"/>
                <a:cs typeface="Tahoma"/>
              </a:rPr>
              <a:t>often</a:t>
            </a:r>
            <a:r>
              <a:rPr dirty="0" sz="2500" spc="-110">
                <a:latin typeface="Tahoma"/>
                <a:cs typeface="Tahoma"/>
              </a:rPr>
              <a:t> </a:t>
            </a:r>
            <a:r>
              <a:rPr dirty="0" sz="2500" spc="65">
                <a:latin typeface="Tahoma"/>
                <a:cs typeface="Tahoma"/>
              </a:rPr>
              <a:t>a</a:t>
            </a:r>
            <a:r>
              <a:rPr dirty="0" sz="2500" spc="-11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large</a:t>
            </a:r>
            <a:r>
              <a:rPr dirty="0" sz="2500" spc="-114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number</a:t>
            </a:r>
            <a:r>
              <a:rPr dirty="0" sz="2500" spc="-110">
                <a:latin typeface="Tahoma"/>
                <a:cs typeface="Tahoma"/>
              </a:rPr>
              <a:t> </a:t>
            </a:r>
            <a:r>
              <a:rPr dirty="0" sz="2500" spc="-25">
                <a:latin typeface="Tahoma"/>
                <a:cs typeface="Tahoma"/>
              </a:rPr>
              <a:t>of </a:t>
            </a:r>
            <a:r>
              <a:rPr dirty="0" sz="2500" spc="-20">
                <a:latin typeface="Tahoma"/>
                <a:cs typeface="Tahoma"/>
              </a:rPr>
              <a:t>training</a:t>
            </a:r>
            <a:r>
              <a:rPr dirty="0" sz="2500">
                <a:latin typeface="Tahoma"/>
                <a:cs typeface="Tahoma"/>
              </a:rPr>
              <a:t> examples are </a:t>
            </a:r>
            <a:r>
              <a:rPr dirty="0" sz="2500" spc="-10">
                <a:latin typeface="Tahoma"/>
                <a:cs typeface="Tahoma"/>
              </a:rPr>
              <a:t>provided).</a:t>
            </a:r>
            <a:endParaRPr sz="2500">
              <a:latin typeface="Tahoma"/>
              <a:cs typeface="Tahoma"/>
            </a:endParaRPr>
          </a:p>
          <a:p>
            <a:pPr marL="419100" marR="241300" indent="-342900">
              <a:lnSpc>
                <a:spcPct val="100000"/>
              </a:lnSpc>
              <a:buClr>
                <a:srgbClr val="3333CC"/>
              </a:buClr>
              <a:buSzPct val="60000"/>
              <a:buChar char="■"/>
              <a:tabLst>
                <a:tab pos="419100" algn="l"/>
              </a:tabLst>
            </a:pPr>
            <a:r>
              <a:rPr dirty="0" sz="2500" spc="-140">
                <a:latin typeface="Tahoma"/>
                <a:cs typeface="Tahoma"/>
              </a:rPr>
              <a:t>In</a:t>
            </a:r>
            <a:r>
              <a:rPr dirty="0" sz="2500" spc="-85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practical</a:t>
            </a:r>
            <a:r>
              <a:rPr dirty="0" sz="2500" spc="-145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situations</a:t>
            </a:r>
            <a:r>
              <a:rPr dirty="0" sz="2500" spc="-110">
                <a:latin typeface="Tahoma"/>
                <a:cs typeface="Tahoma"/>
              </a:rPr>
              <a:t> </a:t>
            </a:r>
            <a:r>
              <a:rPr dirty="0" sz="2500" spc="-20">
                <a:latin typeface="Tahoma"/>
                <a:cs typeface="Tahoma"/>
              </a:rPr>
              <a:t>finding</a:t>
            </a:r>
            <a:r>
              <a:rPr dirty="0" sz="2500" spc="-11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of</a:t>
            </a:r>
            <a:r>
              <a:rPr dirty="0" sz="2500" spc="-11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the</a:t>
            </a:r>
            <a:r>
              <a:rPr dirty="0" sz="2500" spc="-11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linear</a:t>
            </a:r>
            <a:r>
              <a:rPr dirty="0" sz="2500" spc="-110">
                <a:latin typeface="Tahoma"/>
                <a:cs typeface="Tahoma"/>
              </a:rPr>
              <a:t> </a:t>
            </a:r>
            <a:r>
              <a:rPr dirty="0" sz="2500" spc="60">
                <a:latin typeface="Tahoma"/>
                <a:cs typeface="Tahoma"/>
              </a:rPr>
              <a:t>basis</a:t>
            </a:r>
            <a:r>
              <a:rPr dirty="0" sz="2500" spc="-110">
                <a:latin typeface="Tahoma"/>
                <a:cs typeface="Tahoma"/>
              </a:rPr>
              <a:t> </a:t>
            </a:r>
            <a:r>
              <a:rPr dirty="0" sz="2500" spc="-10">
                <a:latin typeface="Tahoma"/>
                <a:cs typeface="Tahoma"/>
              </a:rPr>
              <a:t>function </a:t>
            </a:r>
            <a:r>
              <a:rPr dirty="0" sz="2500">
                <a:latin typeface="Tahoma"/>
                <a:cs typeface="Tahoma"/>
              </a:rPr>
              <a:t>weights</a:t>
            </a:r>
            <a:r>
              <a:rPr dirty="0" sz="2500" spc="-165">
                <a:latin typeface="Tahoma"/>
                <a:cs typeface="Tahoma"/>
              </a:rPr>
              <a:t> </a:t>
            </a:r>
            <a:r>
              <a:rPr dirty="0" sz="2500" spc="50">
                <a:latin typeface="Tahoma"/>
                <a:cs typeface="Tahoma"/>
              </a:rPr>
              <a:t>needs</a:t>
            </a:r>
            <a:r>
              <a:rPr dirty="0" sz="2500" spc="-125">
                <a:latin typeface="Tahoma"/>
                <a:cs typeface="Tahoma"/>
              </a:rPr>
              <a:t> </a:t>
            </a:r>
            <a:r>
              <a:rPr dirty="0" sz="2500" spc="-30">
                <a:latin typeface="Tahoma"/>
                <a:cs typeface="Tahoma"/>
              </a:rPr>
              <a:t>to</a:t>
            </a:r>
            <a:r>
              <a:rPr dirty="0" sz="2500" spc="-125">
                <a:latin typeface="Tahoma"/>
                <a:cs typeface="Tahoma"/>
              </a:rPr>
              <a:t> </a:t>
            </a:r>
            <a:r>
              <a:rPr dirty="0" sz="2500" spc="-25">
                <a:latin typeface="Tahoma"/>
                <a:cs typeface="Tahoma"/>
              </a:rPr>
              <a:t>invert</a:t>
            </a:r>
            <a:r>
              <a:rPr dirty="0" sz="2500" spc="-125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very</a:t>
            </a:r>
            <a:r>
              <a:rPr dirty="0" sz="2500" spc="-125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large</a:t>
            </a:r>
            <a:r>
              <a:rPr dirty="0" sz="2500" spc="-125">
                <a:latin typeface="Tahoma"/>
                <a:cs typeface="Tahoma"/>
              </a:rPr>
              <a:t> </a:t>
            </a:r>
            <a:r>
              <a:rPr dirty="0" sz="2600" spc="-170" i="1">
                <a:latin typeface="Arial"/>
                <a:cs typeface="Arial"/>
              </a:rPr>
              <a:t>Ф</a:t>
            </a:r>
            <a:r>
              <a:rPr dirty="0" sz="2600" spc="-25" i="1">
                <a:latin typeface="Arial"/>
                <a:cs typeface="Arial"/>
              </a:rPr>
              <a:t> </a:t>
            </a:r>
            <a:r>
              <a:rPr dirty="0" baseline="20833" sz="2400" i="1">
                <a:latin typeface="Arial"/>
                <a:cs typeface="Arial"/>
              </a:rPr>
              <a:t>T</a:t>
            </a:r>
            <a:r>
              <a:rPr dirty="0" sz="2600" i="1">
                <a:latin typeface="Arial"/>
                <a:cs typeface="Arial"/>
              </a:rPr>
              <a:t>Ф</a:t>
            </a:r>
            <a:r>
              <a:rPr dirty="0" sz="2600" spc="-65" i="1">
                <a:latin typeface="Arial"/>
                <a:cs typeface="Arial"/>
              </a:rPr>
              <a:t> </a:t>
            </a:r>
            <a:r>
              <a:rPr dirty="0" sz="2500" spc="-10">
                <a:latin typeface="Tahoma"/>
                <a:cs typeface="Tahoma"/>
              </a:rPr>
              <a:t>matrices.</a:t>
            </a:r>
            <a:endParaRPr sz="2500">
              <a:latin typeface="Tahoma"/>
              <a:cs typeface="Tahoma"/>
            </a:endParaRPr>
          </a:p>
          <a:p>
            <a:pPr marL="418465" indent="-342265">
              <a:lnSpc>
                <a:spcPts val="2880"/>
              </a:lnSpc>
              <a:buClr>
                <a:srgbClr val="3333CC"/>
              </a:buClr>
              <a:buSzPct val="60000"/>
              <a:buChar char="■"/>
              <a:tabLst>
                <a:tab pos="418465" algn="l"/>
              </a:tabLst>
            </a:pPr>
            <a:r>
              <a:rPr dirty="0" sz="2500" spc="-140">
                <a:latin typeface="Tahoma"/>
                <a:cs typeface="Tahoma"/>
              </a:rPr>
              <a:t>In</a:t>
            </a:r>
            <a:r>
              <a:rPr dirty="0" sz="2500" spc="-85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order</a:t>
            </a:r>
            <a:r>
              <a:rPr dirty="0" sz="2500" spc="-80">
                <a:latin typeface="Tahoma"/>
                <a:cs typeface="Tahoma"/>
              </a:rPr>
              <a:t> </a:t>
            </a:r>
            <a:r>
              <a:rPr dirty="0" sz="2500" spc="-30">
                <a:latin typeface="Tahoma"/>
                <a:cs typeface="Tahoma"/>
              </a:rPr>
              <a:t>to</a:t>
            </a:r>
            <a:r>
              <a:rPr dirty="0" sz="2500" spc="-85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avoid</a:t>
            </a:r>
            <a:r>
              <a:rPr dirty="0" sz="2500" spc="-8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such</a:t>
            </a:r>
            <a:r>
              <a:rPr dirty="0" sz="2500" spc="-8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problems</a:t>
            </a:r>
            <a:r>
              <a:rPr dirty="0" sz="2500" spc="-85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the</a:t>
            </a:r>
            <a:r>
              <a:rPr dirty="0" sz="2500" spc="-80">
                <a:latin typeface="Tahoma"/>
                <a:cs typeface="Tahoma"/>
              </a:rPr>
              <a:t> </a:t>
            </a:r>
            <a:r>
              <a:rPr dirty="0" sz="2500" b="1">
                <a:solidFill>
                  <a:srgbClr val="008000"/>
                </a:solidFill>
                <a:latin typeface="Arial"/>
                <a:cs typeface="Arial"/>
              </a:rPr>
              <a:t>network</a:t>
            </a:r>
            <a:r>
              <a:rPr dirty="0" sz="2500" spc="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08000"/>
                </a:solidFill>
                <a:latin typeface="Arial"/>
                <a:cs typeface="Arial"/>
              </a:rPr>
              <a:t>topology</a:t>
            </a:r>
            <a:endParaRPr sz="250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</a:pPr>
            <a:r>
              <a:rPr dirty="0" sz="2500" b="1">
                <a:solidFill>
                  <a:srgbClr val="008000"/>
                </a:solidFill>
                <a:latin typeface="Arial"/>
                <a:cs typeface="Arial"/>
              </a:rPr>
              <a:t>should</a:t>
            </a:r>
            <a:r>
              <a:rPr dirty="0" sz="2500" spc="-4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008000"/>
                </a:solidFill>
                <a:latin typeface="Arial"/>
                <a:cs typeface="Arial"/>
              </a:rPr>
              <a:t>be</a:t>
            </a:r>
            <a:r>
              <a:rPr dirty="0" sz="2500" spc="-4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08000"/>
                </a:solidFill>
                <a:latin typeface="Arial"/>
                <a:cs typeface="Arial"/>
              </a:rPr>
              <a:t>reduced.</a:t>
            </a:r>
            <a:endParaRPr sz="2500">
              <a:latin typeface="Arial"/>
              <a:cs typeface="Arial"/>
            </a:endParaRPr>
          </a:p>
          <a:p>
            <a:pPr marL="419100" marR="560070" indent="-342900">
              <a:lnSpc>
                <a:spcPct val="100000"/>
              </a:lnSpc>
              <a:buClr>
                <a:srgbClr val="3333CC"/>
              </a:buClr>
              <a:buSzPct val="60000"/>
              <a:buChar char="■"/>
              <a:tabLst>
                <a:tab pos="419100" algn="l"/>
              </a:tabLst>
            </a:pPr>
            <a:r>
              <a:rPr dirty="0" sz="2500">
                <a:latin typeface="Tahoma"/>
                <a:cs typeface="Tahoma"/>
              </a:rPr>
              <a:t>This</a:t>
            </a:r>
            <a:r>
              <a:rPr dirty="0" sz="2500" spc="-90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means</a:t>
            </a:r>
            <a:r>
              <a:rPr dirty="0" sz="2500" spc="-85">
                <a:latin typeface="Tahoma"/>
                <a:cs typeface="Tahoma"/>
              </a:rPr>
              <a:t> </a:t>
            </a:r>
            <a:r>
              <a:rPr dirty="0" sz="2500" spc="-50">
                <a:latin typeface="Tahoma"/>
                <a:cs typeface="Tahoma"/>
              </a:rPr>
              <a:t>that</a:t>
            </a:r>
            <a:r>
              <a:rPr dirty="0" sz="2500" spc="-85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we</a:t>
            </a:r>
            <a:r>
              <a:rPr dirty="0" sz="2500" spc="-85">
                <a:latin typeface="Tahoma"/>
                <a:cs typeface="Tahoma"/>
              </a:rPr>
              <a:t> </a:t>
            </a:r>
            <a:r>
              <a:rPr dirty="0" sz="2500" spc="-10">
                <a:latin typeface="Tahoma"/>
                <a:cs typeface="Tahoma"/>
              </a:rPr>
              <a:t>will</a:t>
            </a:r>
            <a:r>
              <a:rPr dirty="0" sz="2500" spc="-90">
                <a:latin typeface="Tahoma"/>
                <a:cs typeface="Tahoma"/>
              </a:rPr>
              <a:t> </a:t>
            </a:r>
            <a:r>
              <a:rPr dirty="0" sz="2500" spc="-45">
                <a:latin typeface="Tahoma"/>
                <a:cs typeface="Tahoma"/>
              </a:rPr>
              <a:t>attempt</a:t>
            </a:r>
            <a:r>
              <a:rPr dirty="0" sz="2500" spc="-85">
                <a:latin typeface="Tahoma"/>
                <a:cs typeface="Tahoma"/>
              </a:rPr>
              <a:t> </a:t>
            </a:r>
            <a:r>
              <a:rPr dirty="0" sz="2500" spc="-30">
                <a:latin typeface="Tahoma"/>
                <a:cs typeface="Tahoma"/>
              </a:rPr>
              <a:t>to</a:t>
            </a:r>
            <a:r>
              <a:rPr dirty="0" sz="2500" spc="-90">
                <a:latin typeface="Tahoma"/>
                <a:cs typeface="Tahoma"/>
              </a:rPr>
              <a:t> </a:t>
            </a:r>
            <a:r>
              <a:rPr dirty="0" sz="2500" spc="-20">
                <a:latin typeface="Tahoma"/>
                <a:cs typeface="Tahoma"/>
              </a:rPr>
              <a:t>find</a:t>
            </a:r>
            <a:r>
              <a:rPr dirty="0" sz="2500" spc="-85">
                <a:latin typeface="Tahoma"/>
                <a:cs typeface="Tahoma"/>
              </a:rPr>
              <a:t> </a:t>
            </a:r>
            <a:r>
              <a:rPr dirty="0" sz="2500" spc="65">
                <a:latin typeface="Tahoma"/>
                <a:cs typeface="Tahoma"/>
              </a:rPr>
              <a:t>a</a:t>
            </a:r>
            <a:r>
              <a:rPr dirty="0" sz="2500" spc="-85">
                <a:latin typeface="Tahoma"/>
                <a:cs typeface="Tahoma"/>
              </a:rPr>
              <a:t> </a:t>
            </a:r>
            <a:r>
              <a:rPr dirty="0" sz="2500">
                <a:latin typeface="Tahoma"/>
                <a:cs typeface="Tahoma"/>
              </a:rPr>
              <a:t>solution</a:t>
            </a:r>
            <a:r>
              <a:rPr dirty="0" sz="2500" spc="-85">
                <a:latin typeface="Tahoma"/>
                <a:cs typeface="Tahoma"/>
              </a:rPr>
              <a:t> </a:t>
            </a:r>
            <a:r>
              <a:rPr dirty="0" sz="2500" spc="-20">
                <a:latin typeface="Tahoma"/>
                <a:cs typeface="Tahoma"/>
              </a:rPr>
              <a:t>that </a:t>
            </a:r>
            <a:r>
              <a:rPr dirty="0" sz="2500" b="1">
                <a:solidFill>
                  <a:srgbClr val="FF0000"/>
                </a:solidFill>
                <a:latin typeface="Arial"/>
                <a:cs typeface="Arial"/>
              </a:rPr>
              <a:t>approximates</a:t>
            </a:r>
            <a:r>
              <a:rPr dirty="0" sz="2500" spc="-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2500" spc="-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FF0000"/>
                </a:solidFill>
                <a:latin typeface="Arial"/>
                <a:cs typeface="Arial"/>
              </a:rPr>
              <a:t>solution</a:t>
            </a:r>
            <a:r>
              <a:rPr dirty="0" sz="2500" spc="-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FF0000"/>
                </a:solidFill>
                <a:latin typeface="Arial"/>
                <a:cs typeface="Arial"/>
              </a:rPr>
              <a:t>produced</a:t>
            </a:r>
            <a:r>
              <a:rPr dirty="0" sz="2500" spc="-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FF0000"/>
                </a:solidFill>
                <a:latin typeface="Arial"/>
                <a:cs typeface="Arial"/>
              </a:rPr>
              <a:t>by</a:t>
            </a:r>
            <a:r>
              <a:rPr dirty="0" sz="2500" spc="-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500" spc="-25" b="1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dirty="0" sz="2500" b="1">
                <a:solidFill>
                  <a:srgbClr val="FF0000"/>
                </a:solidFill>
                <a:latin typeface="Arial"/>
                <a:cs typeface="Arial"/>
              </a:rPr>
              <a:t>regularization</a:t>
            </a:r>
            <a:r>
              <a:rPr dirty="0" sz="2500" spc="-1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FF0000"/>
                </a:solidFill>
                <a:latin typeface="Arial"/>
                <a:cs typeface="Arial"/>
              </a:rPr>
              <a:t>network.</a:t>
            </a:r>
            <a:endParaRPr sz="25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745855" y="6427787"/>
            <a:ext cx="12318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ahoma"/>
                <a:cs typeface="Tahoma"/>
              </a:rPr>
              <a:t>9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46891" y="1445859"/>
            <a:ext cx="63785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Microsoft JhengHei UI"/>
                <a:cs typeface="Microsoft JhengHei UI"/>
              </a:rPr>
              <a:t>⾼斯函数的数量”与“训练样本的数量”之间“⼀⼀对应”的这种⽅式，通常在计算上是极其低效的</a:t>
            </a:r>
            <a:endParaRPr sz="1200">
              <a:latin typeface="Microsoft JhengHei UI"/>
              <a:cs typeface="Microsoft JhengHei U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797808" y="632218"/>
            <a:ext cx="6346190" cy="6209030"/>
            <a:chOff x="2797808" y="632218"/>
            <a:chExt cx="6346190" cy="6209030"/>
          </a:xfrm>
        </p:grpSpPr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97808" y="632218"/>
              <a:ext cx="4498303" cy="675462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87529" y="659688"/>
              <a:ext cx="844775" cy="32605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28173" y="5114988"/>
              <a:ext cx="1103149" cy="385406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96878" y="5175300"/>
              <a:ext cx="1682737" cy="328447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51273" y="5187200"/>
              <a:ext cx="2492726" cy="133118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65847" y="6264078"/>
              <a:ext cx="273380" cy="238592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84180" y="6262654"/>
              <a:ext cx="2371072" cy="5782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4057" rIns="0" bIns="0" rtlCol="0" vert="horz">
            <a:spAutoFit/>
          </a:bodyPr>
          <a:lstStyle/>
          <a:p>
            <a:pPr marL="1069975">
              <a:lnSpc>
                <a:spcPct val="100000"/>
              </a:lnSpc>
              <a:spcBef>
                <a:spcPts val="95"/>
              </a:spcBef>
            </a:pPr>
            <a:r>
              <a:rPr dirty="0"/>
              <a:t>RBF</a:t>
            </a:r>
            <a:r>
              <a:rPr dirty="0" spc="-110"/>
              <a:t> </a:t>
            </a:r>
            <a:r>
              <a:rPr dirty="0"/>
              <a:t>Network</a:t>
            </a:r>
            <a:r>
              <a:rPr dirty="0" spc="-110"/>
              <a:t> </a:t>
            </a:r>
            <a:r>
              <a:rPr dirty="0" spc="-10"/>
              <a:t>Structure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02590" y="2474118"/>
            <a:ext cx="8132445" cy="85915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70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 spc="85">
                <a:latin typeface="Tahoma"/>
                <a:cs typeface="Tahoma"/>
              </a:rPr>
              <a:t>An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 spc="235">
                <a:latin typeface="Tahoma"/>
                <a:cs typeface="Tahoma"/>
              </a:rPr>
              <a:t>RBF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 spc="-30">
                <a:latin typeface="Tahoma"/>
                <a:cs typeface="Tahoma"/>
              </a:rPr>
              <a:t>network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architecture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consists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3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layers:</a:t>
            </a:r>
            <a:endParaRPr sz="28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150"/>
              </a:spcBef>
            </a:pPr>
            <a:r>
              <a:rPr dirty="0" sz="2400">
                <a:latin typeface="Tahoma"/>
                <a:cs typeface="Tahoma"/>
              </a:rPr>
              <a:t>-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b="1">
                <a:latin typeface="Arial"/>
                <a:cs typeface="Arial"/>
              </a:rPr>
              <a:t>input</a:t>
            </a:r>
            <a:r>
              <a:rPr dirty="0" sz="2400" spc="-2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layer:</a:t>
            </a:r>
            <a:r>
              <a:rPr dirty="0" sz="2400" spc="-20" b="1">
                <a:latin typeface="Arial"/>
                <a:cs typeface="Arial"/>
              </a:rPr>
              <a:t> </a:t>
            </a:r>
            <a:r>
              <a:rPr dirty="0" sz="2400">
                <a:latin typeface="Tahoma"/>
                <a:cs typeface="Tahoma"/>
              </a:rPr>
              <a:t>which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80">
                <a:latin typeface="Tahoma"/>
                <a:cs typeface="Tahoma"/>
              </a:rPr>
              <a:t>passes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example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vectors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to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5490" y="3307346"/>
            <a:ext cx="149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next</a:t>
            </a:r>
            <a:r>
              <a:rPr dirty="0" sz="2400" spc="-16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layers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45490" y="3673106"/>
            <a:ext cx="737743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-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b="1">
                <a:latin typeface="Arial"/>
                <a:cs typeface="Arial"/>
              </a:rPr>
              <a:t>hidden</a:t>
            </a:r>
            <a:r>
              <a:rPr dirty="0" sz="2400" spc="-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layer:</a:t>
            </a:r>
            <a:r>
              <a:rPr dirty="0" sz="2400" spc="-5" b="1">
                <a:latin typeface="Arial"/>
                <a:cs typeface="Arial"/>
              </a:rPr>
              <a:t> </a:t>
            </a:r>
            <a:r>
              <a:rPr dirty="0" sz="2400">
                <a:latin typeface="Tahoma"/>
                <a:cs typeface="Tahoma"/>
              </a:rPr>
              <a:t>applies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a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-20" i="1">
                <a:solidFill>
                  <a:srgbClr val="FF0000"/>
                </a:solidFill>
                <a:latin typeface="Arial"/>
                <a:cs typeface="Arial"/>
              </a:rPr>
              <a:t>non-</a:t>
            </a:r>
            <a:r>
              <a:rPr dirty="0" sz="2400" i="1">
                <a:solidFill>
                  <a:srgbClr val="FF0000"/>
                </a:solidFill>
                <a:latin typeface="Arial"/>
                <a:cs typeface="Arial"/>
              </a:rPr>
              <a:t>linear</a:t>
            </a:r>
            <a:r>
              <a:rPr dirty="0" sz="2400" spc="-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10" i="1">
                <a:solidFill>
                  <a:srgbClr val="FF0000"/>
                </a:solidFill>
                <a:latin typeface="Arial"/>
                <a:cs typeface="Arial"/>
              </a:rPr>
              <a:t>transformation </a:t>
            </a:r>
            <a:r>
              <a:rPr dirty="0" sz="2400" i="1">
                <a:solidFill>
                  <a:srgbClr val="FF0000"/>
                </a:solidFill>
                <a:latin typeface="Arial"/>
                <a:cs typeface="Arial"/>
              </a:rPr>
              <a:t>function</a:t>
            </a:r>
            <a:r>
              <a:rPr dirty="0" sz="2400" spc="-3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20">
                <a:latin typeface="Tahoma"/>
                <a:cs typeface="Tahoma"/>
              </a:rPr>
              <a:t>to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inputs,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expands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them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usually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45490" y="4404626"/>
            <a:ext cx="48895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very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35">
                <a:latin typeface="Tahoma"/>
                <a:cs typeface="Tahoma"/>
              </a:rPr>
              <a:t>high-</a:t>
            </a:r>
            <a:r>
              <a:rPr dirty="0" sz="2400">
                <a:latin typeface="Tahoma"/>
                <a:cs typeface="Tahoma"/>
              </a:rPr>
              <a:t>dimensional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hidden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space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45490" y="4770386"/>
            <a:ext cx="78847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-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b="1">
                <a:latin typeface="Arial"/>
                <a:cs typeface="Arial"/>
              </a:rPr>
              <a:t>output</a:t>
            </a:r>
            <a:r>
              <a:rPr dirty="0" sz="2400" spc="-2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layer: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>
                <a:latin typeface="Tahoma"/>
                <a:cs typeface="Tahoma"/>
              </a:rPr>
              <a:t>applies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a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linear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transformation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to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given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45490" y="5136146"/>
            <a:ext cx="85534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vector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10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96504" y="2125778"/>
            <a:ext cx="4015740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">
                <a:latin typeface="Microsoft JhengHei UI"/>
                <a:cs typeface="Microsoft JhengHei UI"/>
              </a:rPr>
              <a:t>输⼊层：不做任何计算，将样本向量直接传递给下⼀层</a:t>
            </a:r>
            <a:endParaRPr sz="1300">
              <a:latin typeface="Microsoft JhengHei UI"/>
              <a:cs typeface="Microsoft JhengHei U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358057" y="3406833"/>
            <a:ext cx="6410960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">
                <a:latin typeface="Microsoft JhengHei UI"/>
                <a:cs typeface="Microsoft JhengHei UI"/>
              </a:rPr>
              <a:t>隐藏层：  对输⼊施加⼀个“⾮线性变换函数”，并将其扩展到通常⾮常⾼维的隐藏空间中</a:t>
            </a:r>
            <a:endParaRPr sz="1300">
              <a:latin typeface="Microsoft JhengHei UI"/>
              <a:cs typeface="Microsoft JhengHei U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132518" y="5292050"/>
            <a:ext cx="4847590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>
                <a:latin typeface="Microsoft JhengHei UI"/>
                <a:cs typeface="Microsoft JhengHei UI"/>
              </a:rPr>
              <a:t>这个“⾮线性变换函数”就是径向基函数（RBF），</a:t>
            </a:r>
            <a:r>
              <a:rPr dirty="0" sz="1300" spc="-10">
                <a:latin typeface="Microsoft JhengHei UI"/>
                <a:cs typeface="Microsoft JhengHei UI"/>
              </a:rPr>
              <a:t>⽐如⾼斯函数。</a:t>
            </a:r>
            <a:endParaRPr sz="1300">
              <a:latin typeface="Microsoft JhengHei UI"/>
              <a:cs typeface="Microsoft JhengHei U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14044" y="5246217"/>
            <a:ext cx="8547100" cy="1411605"/>
            <a:chOff x="314044" y="5246217"/>
            <a:chExt cx="8547100" cy="1411605"/>
          </a:xfrm>
        </p:grpSpPr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2096" y="5530634"/>
              <a:ext cx="300035" cy="299562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2299" y="5246217"/>
              <a:ext cx="2958251" cy="1032982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44515" y="5549976"/>
              <a:ext cx="454924" cy="255983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4044" y="5506504"/>
              <a:ext cx="7434437" cy="1150719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5831332" y="4580466"/>
            <a:ext cx="2531745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5">
                <a:latin typeface="Microsoft JhengHei UI"/>
                <a:cs typeface="Microsoft JhengHei UI"/>
              </a:rPr>
              <a:t>对给定的向量施加⼀个“线性变换”</a:t>
            </a:r>
            <a:endParaRPr sz="130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6860" y="2322576"/>
            <a:ext cx="259079" cy="23622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6860" y="3979164"/>
            <a:ext cx="259079" cy="23774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6860" y="3268979"/>
            <a:ext cx="259079" cy="23622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6860" y="2796539"/>
            <a:ext cx="259079" cy="23622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627508" y="3640594"/>
            <a:ext cx="201930" cy="113030"/>
          </a:xfrm>
          <a:prstGeom prst="rect">
            <a:avLst/>
          </a:prstGeom>
        </p:spPr>
        <p:txBody>
          <a:bodyPr wrap="square" lIns="0" tIns="2349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050" spc="-25">
                <a:latin typeface="Malgun Gothic"/>
                <a:cs typeface="Malgun Gothic"/>
              </a:rPr>
              <a:t>...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03553" y="2373680"/>
            <a:ext cx="18796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 b="1">
                <a:latin typeface="Arial"/>
                <a:cs typeface="Arial"/>
              </a:rPr>
              <a:t>x</a:t>
            </a:r>
            <a:r>
              <a:rPr dirty="0" baseline="5291" sz="1575" spc="-37">
                <a:latin typeface="Malgun Gothic"/>
                <a:cs typeface="Malgun Gothic"/>
              </a:rPr>
              <a:t>1</a:t>
            </a:r>
            <a:endParaRPr baseline="5291" sz="1575">
              <a:latin typeface="Malgun Gothic"/>
              <a:cs typeface="Malgun Gothic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58862" y="2844736"/>
            <a:ext cx="18796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 b="1">
                <a:latin typeface="Arial"/>
                <a:cs typeface="Arial"/>
              </a:rPr>
              <a:t>x</a:t>
            </a:r>
            <a:r>
              <a:rPr dirty="0" baseline="5291" sz="1575" spc="-37">
                <a:latin typeface="Malgun Gothic"/>
                <a:cs typeface="Malgun Gothic"/>
              </a:rPr>
              <a:t>2</a:t>
            </a:r>
            <a:endParaRPr baseline="5291" sz="1575">
              <a:latin typeface="Malgun Gothic"/>
              <a:cs typeface="Malgun Gothic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60462" y="3320148"/>
            <a:ext cx="18796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 b="1">
                <a:latin typeface="Arial"/>
                <a:cs typeface="Arial"/>
              </a:rPr>
              <a:t>x</a:t>
            </a:r>
            <a:r>
              <a:rPr dirty="0" baseline="5291" sz="1575" spc="-37">
                <a:latin typeface="Malgun Gothic"/>
                <a:cs typeface="Malgun Gothic"/>
              </a:rPr>
              <a:t>3</a:t>
            </a:r>
            <a:endParaRPr baseline="5291" sz="1575">
              <a:latin typeface="Malgun Gothic"/>
              <a:cs typeface="Malgun Gothic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1803" y="4174477"/>
            <a:ext cx="120281" cy="13361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060462" y="4033850"/>
            <a:ext cx="113664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latin typeface="Arial"/>
                <a:cs typeface="Arial"/>
              </a:rPr>
              <a:t>x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795297" y="1471612"/>
            <a:ext cx="2237105" cy="3360420"/>
            <a:chOff x="1795297" y="1471612"/>
            <a:chExt cx="2237105" cy="3360420"/>
          </a:xfrm>
        </p:grpSpPr>
        <p:sp>
          <p:nvSpPr>
            <p:cNvPr id="13" name="object 13" descr=""/>
            <p:cNvSpPr/>
            <p:nvPr/>
          </p:nvSpPr>
          <p:spPr>
            <a:xfrm>
              <a:off x="3360293" y="1471612"/>
              <a:ext cx="672465" cy="3360420"/>
            </a:xfrm>
            <a:custGeom>
              <a:avLst/>
              <a:gdLst/>
              <a:ahLst/>
              <a:cxnLst/>
              <a:rect l="l" t="t" r="r" b="b"/>
              <a:pathLst>
                <a:path w="672464" h="3360420">
                  <a:moveTo>
                    <a:pt x="619252" y="1844802"/>
                  </a:moveTo>
                  <a:lnTo>
                    <a:pt x="616064" y="1796681"/>
                  </a:lnTo>
                  <a:lnTo>
                    <a:pt x="601700" y="1752930"/>
                  </a:lnTo>
                  <a:lnTo>
                    <a:pt x="582549" y="1709178"/>
                  </a:lnTo>
                  <a:lnTo>
                    <a:pt x="553821" y="1671256"/>
                  </a:lnTo>
                  <a:lnTo>
                    <a:pt x="518706" y="1634807"/>
                  </a:lnTo>
                  <a:lnTo>
                    <a:pt x="480402" y="1607096"/>
                  </a:lnTo>
                  <a:lnTo>
                    <a:pt x="434111" y="1585214"/>
                  </a:lnTo>
                  <a:lnTo>
                    <a:pt x="384644" y="1569173"/>
                  </a:lnTo>
                  <a:lnTo>
                    <a:pt x="335165" y="1560423"/>
                  </a:lnTo>
                  <a:lnTo>
                    <a:pt x="284086" y="1560423"/>
                  </a:lnTo>
                  <a:lnTo>
                    <a:pt x="234607" y="1569173"/>
                  </a:lnTo>
                  <a:lnTo>
                    <a:pt x="183540" y="1585214"/>
                  </a:lnTo>
                  <a:lnTo>
                    <a:pt x="140449" y="1607096"/>
                  </a:lnTo>
                  <a:lnTo>
                    <a:pt x="97358" y="1634807"/>
                  </a:lnTo>
                  <a:lnTo>
                    <a:pt x="65430" y="1671256"/>
                  </a:lnTo>
                  <a:lnTo>
                    <a:pt x="36703" y="1709178"/>
                  </a:lnTo>
                  <a:lnTo>
                    <a:pt x="14363" y="1752930"/>
                  </a:lnTo>
                  <a:lnTo>
                    <a:pt x="3187" y="1796681"/>
                  </a:lnTo>
                  <a:lnTo>
                    <a:pt x="0" y="1844802"/>
                  </a:lnTo>
                  <a:lnTo>
                    <a:pt x="3187" y="1891474"/>
                  </a:lnTo>
                  <a:lnTo>
                    <a:pt x="14363" y="1936673"/>
                  </a:lnTo>
                  <a:lnTo>
                    <a:pt x="36703" y="1978977"/>
                  </a:lnTo>
                  <a:lnTo>
                    <a:pt x="65430" y="2019808"/>
                  </a:lnTo>
                  <a:lnTo>
                    <a:pt x="97358" y="2053348"/>
                  </a:lnTo>
                  <a:lnTo>
                    <a:pt x="140449" y="2081060"/>
                  </a:lnTo>
                  <a:lnTo>
                    <a:pt x="183540" y="2105850"/>
                  </a:lnTo>
                  <a:lnTo>
                    <a:pt x="234607" y="2120442"/>
                  </a:lnTo>
                  <a:lnTo>
                    <a:pt x="284086" y="2127720"/>
                  </a:lnTo>
                  <a:lnTo>
                    <a:pt x="335165" y="2127720"/>
                  </a:lnTo>
                  <a:lnTo>
                    <a:pt x="384644" y="2120442"/>
                  </a:lnTo>
                  <a:lnTo>
                    <a:pt x="434111" y="2105850"/>
                  </a:lnTo>
                  <a:lnTo>
                    <a:pt x="480402" y="2081060"/>
                  </a:lnTo>
                  <a:lnTo>
                    <a:pt x="518706" y="2053348"/>
                  </a:lnTo>
                  <a:lnTo>
                    <a:pt x="553821" y="2019808"/>
                  </a:lnTo>
                  <a:lnTo>
                    <a:pt x="582549" y="1978977"/>
                  </a:lnTo>
                  <a:lnTo>
                    <a:pt x="601700" y="1936673"/>
                  </a:lnTo>
                  <a:lnTo>
                    <a:pt x="616064" y="1891474"/>
                  </a:lnTo>
                  <a:lnTo>
                    <a:pt x="619252" y="1844802"/>
                  </a:lnTo>
                  <a:close/>
                </a:path>
                <a:path w="672464" h="3360420">
                  <a:moveTo>
                    <a:pt x="619252" y="1039799"/>
                  </a:moveTo>
                  <a:lnTo>
                    <a:pt x="616064" y="993127"/>
                  </a:lnTo>
                  <a:lnTo>
                    <a:pt x="601700" y="947928"/>
                  </a:lnTo>
                  <a:lnTo>
                    <a:pt x="582549" y="905637"/>
                  </a:lnTo>
                  <a:lnTo>
                    <a:pt x="553821" y="864793"/>
                  </a:lnTo>
                  <a:lnTo>
                    <a:pt x="518706" y="831253"/>
                  </a:lnTo>
                  <a:lnTo>
                    <a:pt x="480402" y="800633"/>
                  </a:lnTo>
                  <a:lnTo>
                    <a:pt x="434111" y="778751"/>
                  </a:lnTo>
                  <a:lnTo>
                    <a:pt x="384644" y="765632"/>
                  </a:lnTo>
                  <a:lnTo>
                    <a:pt x="335165" y="756881"/>
                  </a:lnTo>
                  <a:lnTo>
                    <a:pt x="284086" y="756881"/>
                  </a:lnTo>
                  <a:lnTo>
                    <a:pt x="234607" y="765632"/>
                  </a:lnTo>
                  <a:lnTo>
                    <a:pt x="183540" y="778751"/>
                  </a:lnTo>
                  <a:lnTo>
                    <a:pt x="140449" y="800633"/>
                  </a:lnTo>
                  <a:lnTo>
                    <a:pt x="97358" y="831253"/>
                  </a:lnTo>
                  <a:lnTo>
                    <a:pt x="65430" y="864793"/>
                  </a:lnTo>
                  <a:lnTo>
                    <a:pt x="36703" y="905637"/>
                  </a:lnTo>
                  <a:lnTo>
                    <a:pt x="14363" y="947928"/>
                  </a:lnTo>
                  <a:lnTo>
                    <a:pt x="3187" y="993127"/>
                  </a:lnTo>
                  <a:lnTo>
                    <a:pt x="0" y="1039799"/>
                  </a:lnTo>
                  <a:lnTo>
                    <a:pt x="3187" y="1085011"/>
                  </a:lnTo>
                  <a:lnTo>
                    <a:pt x="14363" y="1131671"/>
                  </a:lnTo>
                  <a:lnTo>
                    <a:pt x="36703" y="1175423"/>
                  </a:lnTo>
                  <a:lnTo>
                    <a:pt x="65430" y="1213345"/>
                  </a:lnTo>
                  <a:lnTo>
                    <a:pt x="97358" y="1248346"/>
                  </a:lnTo>
                  <a:lnTo>
                    <a:pt x="140449" y="1277505"/>
                  </a:lnTo>
                  <a:lnTo>
                    <a:pt x="183540" y="1300848"/>
                  </a:lnTo>
                  <a:lnTo>
                    <a:pt x="234607" y="1316888"/>
                  </a:lnTo>
                  <a:lnTo>
                    <a:pt x="284086" y="1322717"/>
                  </a:lnTo>
                  <a:lnTo>
                    <a:pt x="335165" y="1322717"/>
                  </a:lnTo>
                  <a:lnTo>
                    <a:pt x="384644" y="1316888"/>
                  </a:lnTo>
                  <a:lnTo>
                    <a:pt x="434111" y="1300848"/>
                  </a:lnTo>
                  <a:lnTo>
                    <a:pt x="480402" y="1277505"/>
                  </a:lnTo>
                  <a:lnTo>
                    <a:pt x="518706" y="1248346"/>
                  </a:lnTo>
                  <a:lnTo>
                    <a:pt x="553821" y="1213345"/>
                  </a:lnTo>
                  <a:lnTo>
                    <a:pt x="582549" y="1175423"/>
                  </a:lnTo>
                  <a:lnTo>
                    <a:pt x="601700" y="1131671"/>
                  </a:lnTo>
                  <a:lnTo>
                    <a:pt x="616064" y="1085011"/>
                  </a:lnTo>
                  <a:lnTo>
                    <a:pt x="619252" y="1039799"/>
                  </a:lnTo>
                  <a:close/>
                </a:path>
                <a:path w="672464" h="3360420">
                  <a:moveTo>
                    <a:pt x="619252" y="282194"/>
                  </a:moveTo>
                  <a:lnTo>
                    <a:pt x="616064" y="236867"/>
                  </a:lnTo>
                  <a:lnTo>
                    <a:pt x="601700" y="190080"/>
                  </a:lnTo>
                  <a:lnTo>
                    <a:pt x="582549" y="147675"/>
                  </a:lnTo>
                  <a:lnTo>
                    <a:pt x="553821" y="108191"/>
                  </a:lnTo>
                  <a:lnTo>
                    <a:pt x="518706" y="74561"/>
                  </a:lnTo>
                  <a:lnTo>
                    <a:pt x="480402" y="45326"/>
                  </a:lnTo>
                  <a:lnTo>
                    <a:pt x="434111" y="21932"/>
                  </a:lnTo>
                  <a:lnTo>
                    <a:pt x="384644" y="7315"/>
                  </a:lnTo>
                  <a:lnTo>
                    <a:pt x="335165" y="0"/>
                  </a:lnTo>
                  <a:lnTo>
                    <a:pt x="284086" y="0"/>
                  </a:lnTo>
                  <a:lnTo>
                    <a:pt x="234607" y="7315"/>
                  </a:lnTo>
                  <a:lnTo>
                    <a:pt x="183540" y="21932"/>
                  </a:lnTo>
                  <a:lnTo>
                    <a:pt x="140449" y="45326"/>
                  </a:lnTo>
                  <a:lnTo>
                    <a:pt x="97358" y="74561"/>
                  </a:lnTo>
                  <a:lnTo>
                    <a:pt x="65430" y="108191"/>
                  </a:lnTo>
                  <a:lnTo>
                    <a:pt x="36703" y="147675"/>
                  </a:lnTo>
                  <a:lnTo>
                    <a:pt x="14363" y="190080"/>
                  </a:lnTo>
                  <a:lnTo>
                    <a:pt x="3187" y="236867"/>
                  </a:lnTo>
                  <a:lnTo>
                    <a:pt x="0" y="282194"/>
                  </a:lnTo>
                  <a:lnTo>
                    <a:pt x="3187" y="330441"/>
                  </a:lnTo>
                  <a:lnTo>
                    <a:pt x="14363" y="375767"/>
                  </a:lnTo>
                  <a:lnTo>
                    <a:pt x="36703" y="419620"/>
                  </a:lnTo>
                  <a:lnTo>
                    <a:pt x="65430" y="457644"/>
                  </a:lnTo>
                  <a:lnTo>
                    <a:pt x="97358" y="491274"/>
                  </a:lnTo>
                  <a:lnTo>
                    <a:pt x="140449" y="521970"/>
                  </a:lnTo>
                  <a:lnTo>
                    <a:pt x="183540" y="543902"/>
                  </a:lnTo>
                  <a:lnTo>
                    <a:pt x="234607" y="559993"/>
                  </a:lnTo>
                  <a:lnTo>
                    <a:pt x="284086" y="565835"/>
                  </a:lnTo>
                  <a:lnTo>
                    <a:pt x="335165" y="565835"/>
                  </a:lnTo>
                  <a:lnTo>
                    <a:pt x="384644" y="559993"/>
                  </a:lnTo>
                  <a:lnTo>
                    <a:pt x="434111" y="543902"/>
                  </a:lnTo>
                  <a:lnTo>
                    <a:pt x="480402" y="521970"/>
                  </a:lnTo>
                  <a:lnTo>
                    <a:pt x="518706" y="491274"/>
                  </a:lnTo>
                  <a:lnTo>
                    <a:pt x="553821" y="457644"/>
                  </a:lnTo>
                  <a:lnTo>
                    <a:pt x="582549" y="419620"/>
                  </a:lnTo>
                  <a:lnTo>
                    <a:pt x="601700" y="375767"/>
                  </a:lnTo>
                  <a:lnTo>
                    <a:pt x="616064" y="330441"/>
                  </a:lnTo>
                  <a:lnTo>
                    <a:pt x="619252" y="282194"/>
                  </a:lnTo>
                  <a:close/>
                </a:path>
                <a:path w="672464" h="3360420">
                  <a:moveTo>
                    <a:pt x="671931" y="3050857"/>
                  </a:moveTo>
                  <a:lnTo>
                    <a:pt x="668731" y="3002724"/>
                  </a:lnTo>
                  <a:lnTo>
                    <a:pt x="654367" y="2957525"/>
                  </a:lnTo>
                  <a:lnTo>
                    <a:pt x="635215" y="2910852"/>
                  </a:lnTo>
                  <a:lnTo>
                    <a:pt x="606488" y="2871482"/>
                  </a:lnTo>
                  <a:lnTo>
                    <a:pt x="574573" y="2835021"/>
                  </a:lnTo>
                  <a:lnTo>
                    <a:pt x="531482" y="2802940"/>
                  </a:lnTo>
                  <a:lnTo>
                    <a:pt x="488378" y="2776690"/>
                  </a:lnTo>
                  <a:lnTo>
                    <a:pt x="440499" y="2759189"/>
                  </a:lnTo>
                  <a:lnTo>
                    <a:pt x="387832" y="2747518"/>
                  </a:lnTo>
                  <a:lnTo>
                    <a:pt x="335165" y="2744597"/>
                  </a:lnTo>
                  <a:lnTo>
                    <a:pt x="282498" y="2747518"/>
                  </a:lnTo>
                  <a:lnTo>
                    <a:pt x="231419" y="2759189"/>
                  </a:lnTo>
                  <a:lnTo>
                    <a:pt x="183540" y="2776690"/>
                  </a:lnTo>
                  <a:lnTo>
                    <a:pt x="137248" y="2802940"/>
                  </a:lnTo>
                  <a:lnTo>
                    <a:pt x="97358" y="2835021"/>
                  </a:lnTo>
                  <a:lnTo>
                    <a:pt x="63830" y="2871482"/>
                  </a:lnTo>
                  <a:lnTo>
                    <a:pt x="35102" y="2910852"/>
                  </a:lnTo>
                  <a:lnTo>
                    <a:pt x="14363" y="2957525"/>
                  </a:lnTo>
                  <a:lnTo>
                    <a:pt x="3187" y="3002724"/>
                  </a:lnTo>
                  <a:lnTo>
                    <a:pt x="0" y="3050857"/>
                  </a:lnTo>
                  <a:lnTo>
                    <a:pt x="3187" y="3098977"/>
                  </a:lnTo>
                  <a:lnTo>
                    <a:pt x="14363" y="3147098"/>
                  </a:lnTo>
                  <a:lnTo>
                    <a:pt x="35102" y="3192310"/>
                  </a:lnTo>
                  <a:lnTo>
                    <a:pt x="63830" y="3231692"/>
                  </a:lnTo>
                  <a:lnTo>
                    <a:pt x="97358" y="3269602"/>
                  </a:lnTo>
                  <a:lnTo>
                    <a:pt x="137248" y="3300234"/>
                  </a:lnTo>
                  <a:lnTo>
                    <a:pt x="183540" y="3326485"/>
                  </a:lnTo>
                  <a:lnTo>
                    <a:pt x="231419" y="3343986"/>
                  </a:lnTo>
                  <a:lnTo>
                    <a:pt x="282498" y="3355644"/>
                  </a:lnTo>
                  <a:lnTo>
                    <a:pt x="335165" y="3360026"/>
                  </a:lnTo>
                  <a:lnTo>
                    <a:pt x="387832" y="3355644"/>
                  </a:lnTo>
                  <a:lnTo>
                    <a:pt x="440499" y="3343986"/>
                  </a:lnTo>
                  <a:lnTo>
                    <a:pt x="488378" y="3326485"/>
                  </a:lnTo>
                  <a:lnTo>
                    <a:pt x="531482" y="3300234"/>
                  </a:lnTo>
                  <a:lnTo>
                    <a:pt x="574573" y="3269602"/>
                  </a:lnTo>
                  <a:lnTo>
                    <a:pt x="606488" y="3231692"/>
                  </a:lnTo>
                  <a:lnTo>
                    <a:pt x="635215" y="3192310"/>
                  </a:lnTo>
                  <a:lnTo>
                    <a:pt x="654367" y="3147098"/>
                  </a:lnTo>
                  <a:lnTo>
                    <a:pt x="668731" y="3098977"/>
                  </a:lnTo>
                  <a:lnTo>
                    <a:pt x="671931" y="3050857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800326" y="1764918"/>
              <a:ext cx="1420495" cy="688340"/>
            </a:xfrm>
            <a:custGeom>
              <a:avLst/>
              <a:gdLst/>
              <a:ahLst/>
              <a:cxnLst/>
              <a:rect l="l" t="t" r="r" b="b"/>
              <a:pathLst>
                <a:path w="1420495" h="688339">
                  <a:moveTo>
                    <a:pt x="1409306" y="0"/>
                  </a:moveTo>
                  <a:lnTo>
                    <a:pt x="0" y="665010"/>
                  </a:lnTo>
                  <a:lnTo>
                    <a:pt x="10833" y="687971"/>
                  </a:lnTo>
                  <a:lnTo>
                    <a:pt x="1420139" y="22974"/>
                  </a:lnTo>
                  <a:lnTo>
                    <a:pt x="140930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60890" y="1695284"/>
              <a:ext cx="212089" cy="147764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798142" y="1837690"/>
              <a:ext cx="1442085" cy="1086485"/>
            </a:xfrm>
            <a:custGeom>
              <a:avLst/>
              <a:gdLst/>
              <a:ahLst/>
              <a:cxnLst/>
              <a:rect l="l" t="t" r="r" b="b"/>
              <a:pathLst>
                <a:path w="1442085" h="1086485">
                  <a:moveTo>
                    <a:pt x="1426857" y="0"/>
                  </a:moveTo>
                  <a:lnTo>
                    <a:pt x="0" y="1066050"/>
                  </a:lnTo>
                  <a:lnTo>
                    <a:pt x="15201" y="1086396"/>
                  </a:lnTo>
                  <a:lnTo>
                    <a:pt x="1442059" y="20345"/>
                  </a:lnTo>
                  <a:lnTo>
                    <a:pt x="142685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72066" y="1740484"/>
              <a:ext cx="200913" cy="169659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796808" y="1949678"/>
              <a:ext cx="1461135" cy="1445895"/>
            </a:xfrm>
            <a:custGeom>
              <a:avLst/>
              <a:gdLst/>
              <a:ahLst/>
              <a:cxnLst/>
              <a:rect l="l" t="t" r="r" b="b"/>
              <a:pathLst>
                <a:path w="1461135" h="1445895">
                  <a:moveTo>
                    <a:pt x="1442821" y="0"/>
                  </a:moveTo>
                  <a:lnTo>
                    <a:pt x="0" y="1427708"/>
                  </a:lnTo>
                  <a:lnTo>
                    <a:pt x="17868" y="1445768"/>
                  </a:lnTo>
                  <a:lnTo>
                    <a:pt x="1460690" y="18046"/>
                  </a:lnTo>
                  <a:lnTo>
                    <a:pt x="144282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83191" y="1835302"/>
              <a:ext cx="189788" cy="181267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795297" y="1967522"/>
              <a:ext cx="1487805" cy="2136775"/>
            </a:xfrm>
            <a:custGeom>
              <a:avLst/>
              <a:gdLst/>
              <a:ahLst/>
              <a:cxnLst/>
              <a:rect l="l" t="t" r="r" b="b"/>
              <a:pathLst>
                <a:path w="1487804" h="2136775">
                  <a:moveTo>
                    <a:pt x="1466761" y="0"/>
                  </a:moveTo>
                  <a:lnTo>
                    <a:pt x="0" y="2121890"/>
                  </a:lnTo>
                  <a:lnTo>
                    <a:pt x="20891" y="2136330"/>
                  </a:lnTo>
                  <a:lnTo>
                    <a:pt x="1487652" y="14439"/>
                  </a:lnTo>
                  <a:lnTo>
                    <a:pt x="146676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02355" y="1835175"/>
              <a:ext cx="170599" cy="191592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805063" y="2462275"/>
              <a:ext cx="1393190" cy="100330"/>
            </a:xfrm>
            <a:custGeom>
              <a:avLst/>
              <a:gdLst/>
              <a:ahLst/>
              <a:cxnLst/>
              <a:rect l="l" t="t" r="r" b="b"/>
              <a:pathLst>
                <a:path w="1393189" h="100330">
                  <a:moveTo>
                    <a:pt x="1358" y="0"/>
                  </a:moveTo>
                  <a:lnTo>
                    <a:pt x="0" y="25361"/>
                  </a:lnTo>
                  <a:lnTo>
                    <a:pt x="1391754" y="99733"/>
                  </a:lnTo>
                  <a:lnTo>
                    <a:pt x="1393101" y="74371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65665" y="2482799"/>
              <a:ext cx="207302" cy="133184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802625" y="2585135"/>
              <a:ext cx="1403350" cy="377825"/>
            </a:xfrm>
            <a:custGeom>
              <a:avLst/>
              <a:gdLst/>
              <a:ahLst/>
              <a:cxnLst/>
              <a:rect l="l" t="t" r="r" b="b"/>
              <a:pathLst>
                <a:path w="1403350" h="377825">
                  <a:moveTo>
                    <a:pt x="1396542" y="0"/>
                  </a:moveTo>
                  <a:lnTo>
                    <a:pt x="0" y="352920"/>
                  </a:lnTo>
                  <a:lnTo>
                    <a:pt x="6223" y="377545"/>
                  </a:lnTo>
                  <a:lnTo>
                    <a:pt x="1402765" y="24625"/>
                  </a:lnTo>
                  <a:lnTo>
                    <a:pt x="139654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59302" y="2536647"/>
              <a:ext cx="213677" cy="128892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799564" y="2624277"/>
              <a:ext cx="1426845" cy="810260"/>
            </a:xfrm>
            <a:custGeom>
              <a:avLst/>
              <a:gdLst/>
              <a:ahLst/>
              <a:cxnLst/>
              <a:rect l="l" t="t" r="r" b="b"/>
              <a:pathLst>
                <a:path w="1426845" h="810260">
                  <a:moveTo>
                    <a:pt x="1414094" y="0"/>
                  </a:moveTo>
                  <a:lnTo>
                    <a:pt x="0" y="787501"/>
                  </a:lnTo>
                  <a:lnTo>
                    <a:pt x="12357" y="809688"/>
                  </a:lnTo>
                  <a:lnTo>
                    <a:pt x="1426451" y="22186"/>
                  </a:lnTo>
                  <a:lnTo>
                    <a:pt x="141409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62465" y="2546832"/>
              <a:ext cx="210477" cy="155168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796707" y="2659989"/>
              <a:ext cx="1463040" cy="1482090"/>
            </a:xfrm>
            <a:custGeom>
              <a:avLst/>
              <a:gdLst/>
              <a:ahLst/>
              <a:cxnLst/>
              <a:rect l="l" t="t" r="r" b="b"/>
              <a:pathLst>
                <a:path w="1463039" h="1482089">
                  <a:moveTo>
                    <a:pt x="1444409" y="0"/>
                  </a:moveTo>
                  <a:lnTo>
                    <a:pt x="0" y="1464183"/>
                  </a:lnTo>
                  <a:lnTo>
                    <a:pt x="18072" y="1482013"/>
                  </a:lnTo>
                  <a:lnTo>
                    <a:pt x="1462493" y="17843"/>
                  </a:lnTo>
                  <a:lnTo>
                    <a:pt x="144440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83191" y="2546985"/>
              <a:ext cx="189788" cy="181254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799780" y="2430195"/>
              <a:ext cx="1426210" cy="775335"/>
            </a:xfrm>
            <a:custGeom>
              <a:avLst/>
              <a:gdLst/>
              <a:ahLst/>
              <a:cxnLst/>
              <a:rect l="l" t="t" r="r" b="b"/>
              <a:pathLst>
                <a:path w="1426210" h="775335">
                  <a:moveTo>
                    <a:pt x="11925" y="0"/>
                  </a:moveTo>
                  <a:lnTo>
                    <a:pt x="0" y="22428"/>
                  </a:lnTo>
                  <a:lnTo>
                    <a:pt x="1414094" y="774928"/>
                  </a:lnTo>
                  <a:lnTo>
                    <a:pt x="1426019" y="752513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62503" y="3127260"/>
              <a:ext cx="210451" cy="153720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1802917" y="2901530"/>
              <a:ext cx="1402715" cy="344170"/>
            </a:xfrm>
            <a:custGeom>
              <a:avLst/>
              <a:gdLst/>
              <a:ahLst/>
              <a:cxnLst/>
              <a:rect l="l" t="t" r="r" b="b"/>
              <a:pathLst>
                <a:path w="1402714" h="344169">
                  <a:moveTo>
                    <a:pt x="5651" y="0"/>
                  </a:moveTo>
                  <a:lnTo>
                    <a:pt x="0" y="24764"/>
                  </a:lnTo>
                  <a:lnTo>
                    <a:pt x="1396530" y="344144"/>
                  </a:lnTo>
                  <a:lnTo>
                    <a:pt x="1402194" y="319379"/>
                  </a:lnTo>
                  <a:lnTo>
                    <a:pt x="565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60864" y="3163811"/>
              <a:ext cx="212115" cy="131724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804784" y="3268751"/>
              <a:ext cx="1393825" cy="130810"/>
            </a:xfrm>
            <a:custGeom>
              <a:avLst/>
              <a:gdLst/>
              <a:ahLst/>
              <a:cxnLst/>
              <a:rect l="l" t="t" r="r" b="b"/>
              <a:pathLst>
                <a:path w="1393825" h="130810">
                  <a:moveTo>
                    <a:pt x="1391754" y="0"/>
                  </a:moveTo>
                  <a:lnTo>
                    <a:pt x="0" y="105003"/>
                  </a:lnTo>
                  <a:lnTo>
                    <a:pt x="1917" y="130327"/>
                  </a:lnTo>
                  <a:lnTo>
                    <a:pt x="1393659" y="25323"/>
                  </a:lnTo>
                  <a:lnTo>
                    <a:pt x="13917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65678" y="3216211"/>
              <a:ext cx="207264" cy="133311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1799780" y="3334372"/>
              <a:ext cx="1426210" cy="774065"/>
            </a:xfrm>
            <a:custGeom>
              <a:avLst/>
              <a:gdLst/>
              <a:ahLst/>
              <a:cxnLst/>
              <a:rect l="l" t="t" r="r" b="b"/>
              <a:pathLst>
                <a:path w="1426210" h="774064">
                  <a:moveTo>
                    <a:pt x="1414094" y="0"/>
                  </a:moveTo>
                  <a:lnTo>
                    <a:pt x="0" y="751039"/>
                  </a:lnTo>
                  <a:lnTo>
                    <a:pt x="11912" y="773468"/>
                  </a:lnTo>
                  <a:lnTo>
                    <a:pt x="1426006" y="22428"/>
                  </a:lnTo>
                  <a:lnTo>
                    <a:pt x="141409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62490" y="3255594"/>
              <a:ext cx="210464" cy="153733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1795691" y="2433650"/>
              <a:ext cx="1480820" cy="1905635"/>
            </a:xfrm>
            <a:custGeom>
              <a:avLst/>
              <a:gdLst/>
              <a:ahLst/>
              <a:cxnLst/>
              <a:rect l="l" t="t" r="r" b="b"/>
              <a:pathLst>
                <a:path w="1480820" h="1905635">
                  <a:moveTo>
                    <a:pt x="20104" y="0"/>
                  </a:moveTo>
                  <a:lnTo>
                    <a:pt x="0" y="15519"/>
                  </a:lnTo>
                  <a:lnTo>
                    <a:pt x="1460385" y="1905533"/>
                  </a:lnTo>
                  <a:lnTo>
                    <a:pt x="1480477" y="1890014"/>
                  </a:lnTo>
                  <a:lnTo>
                    <a:pt x="2010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96018" y="4276432"/>
              <a:ext cx="176923" cy="188721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796808" y="2904896"/>
              <a:ext cx="1461135" cy="1447800"/>
            </a:xfrm>
            <a:custGeom>
              <a:avLst/>
              <a:gdLst/>
              <a:ahLst/>
              <a:cxnLst/>
              <a:rect l="l" t="t" r="r" b="b"/>
              <a:pathLst>
                <a:path w="1461135" h="1447800">
                  <a:moveTo>
                    <a:pt x="17868" y="0"/>
                  </a:moveTo>
                  <a:lnTo>
                    <a:pt x="0" y="18046"/>
                  </a:lnTo>
                  <a:lnTo>
                    <a:pt x="1442821" y="1447215"/>
                  </a:lnTo>
                  <a:lnTo>
                    <a:pt x="1460690" y="1429169"/>
                  </a:lnTo>
                  <a:lnTo>
                    <a:pt x="178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183191" y="4283798"/>
              <a:ext cx="189788" cy="181343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1798548" y="3375952"/>
              <a:ext cx="1437005" cy="998219"/>
            </a:xfrm>
            <a:custGeom>
              <a:avLst/>
              <a:gdLst/>
              <a:ahLst/>
              <a:cxnLst/>
              <a:rect l="l" t="t" r="r" b="b"/>
              <a:pathLst>
                <a:path w="1437005" h="998220">
                  <a:moveTo>
                    <a:pt x="14389" y="0"/>
                  </a:moveTo>
                  <a:lnTo>
                    <a:pt x="0" y="20929"/>
                  </a:lnTo>
                  <a:lnTo>
                    <a:pt x="1422069" y="998016"/>
                  </a:lnTo>
                  <a:lnTo>
                    <a:pt x="1436458" y="977087"/>
                  </a:lnTo>
                  <a:lnTo>
                    <a:pt x="1438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168840" y="4298391"/>
              <a:ext cx="204139" cy="166725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1802904" y="4084256"/>
              <a:ext cx="1402715" cy="346075"/>
            </a:xfrm>
            <a:custGeom>
              <a:avLst/>
              <a:gdLst/>
              <a:ahLst/>
              <a:cxnLst/>
              <a:rect l="l" t="t" r="r" b="b"/>
              <a:pathLst>
                <a:path w="1402714" h="346075">
                  <a:moveTo>
                    <a:pt x="5676" y="0"/>
                  </a:moveTo>
                  <a:lnTo>
                    <a:pt x="0" y="24752"/>
                  </a:lnTo>
                  <a:lnTo>
                    <a:pt x="1396530" y="345592"/>
                  </a:lnTo>
                  <a:lnTo>
                    <a:pt x="1402219" y="320827"/>
                  </a:lnTo>
                  <a:lnTo>
                    <a:pt x="567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160877" y="4347984"/>
              <a:ext cx="212072" cy="130276"/>
            </a:xfrm>
            <a:prstGeom prst="rect">
              <a:avLst/>
            </a:prstGeom>
          </p:spPr>
        </p:pic>
      </p:grpSp>
      <p:sp>
        <p:nvSpPr>
          <p:cNvPr id="46" name="object 46" descr=""/>
          <p:cNvSpPr txBox="1"/>
          <p:nvPr/>
        </p:nvSpPr>
        <p:spPr>
          <a:xfrm>
            <a:off x="1138669" y="1874939"/>
            <a:ext cx="13335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latin typeface="Arial"/>
                <a:cs typeface="Arial"/>
              </a:rPr>
              <a:t>X</a:t>
            </a:r>
            <a:endParaRPr sz="1300">
              <a:latin typeface="Arial"/>
              <a:cs typeface="Arial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3539569" y="3910393"/>
            <a:ext cx="201930" cy="113030"/>
          </a:xfrm>
          <a:prstGeom prst="rect">
            <a:avLst/>
          </a:prstGeom>
        </p:spPr>
        <p:txBody>
          <a:bodyPr wrap="square" lIns="0" tIns="2349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050" spc="-25">
                <a:latin typeface="Malgun Gothic"/>
                <a:cs typeface="Malgun Gothic"/>
              </a:rPr>
              <a:t>...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3350844" y="1605051"/>
            <a:ext cx="58356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ts val="1080"/>
              </a:lnSpc>
              <a:spcBef>
                <a:spcPts val="95"/>
              </a:spcBef>
              <a:tabLst>
                <a:tab pos="247015" algn="l"/>
              </a:tabLst>
            </a:pPr>
            <a:r>
              <a:rPr dirty="0" baseline="5291" sz="1575" spc="-75">
                <a:latin typeface="Cambria"/>
                <a:cs typeface="Cambria"/>
              </a:rPr>
              <a:t>φ</a:t>
            </a:r>
            <a:r>
              <a:rPr dirty="0" baseline="5291" sz="1575">
                <a:latin typeface="Cambria"/>
                <a:cs typeface="Cambria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(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X</a:t>
            </a:r>
            <a:r>
              <a:rPr dirty="0" sz="1050" spc="31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)</a:t>
            </a:r>
            <a:endParaRPr sz="1050">
              <a:latin typeface="Times New Roman"/>
              <a:cs typeface="Times New Roman"/>
            </a:endParaRPr>
          </a:p>
          <a:p>
            <a:pPr marL="162560">
              <a:lnSpc>
                <a:spcPts val="600"/>
              </a:lnSpc>
            </a:pPr>
            <a:r>
              <a:rPr dirty="0" sz="650" spc="-50">
                <a:latin typeface="Times New Roman"/>
                <a:cs typeface="Times New Roman"/>
              </a:rPr>
              <a:t>1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3508781" y="3359670"/>
            <a:ext cx="6667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50">
                <a:latin typeface="Times New Roman"/>
                <a:cs typeface="Times New Roman"/>
              </a:rPr>
              <a:t>3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3596563" y="3245688"/>
            <a:ext cx="336550" cy="184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Times New Roman"/>
                <a:cs typeface="Times New Roman"/>
              </a:rPr>
              <a:t>(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X</a:t>
            </a:r>
            <a:r>
              <a:rPr dirty="0" sz="1050" spc="31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3363544" y="3230790"/>
            <a:ext cx="106045" cy="184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65">
                <a:latin typeface="Cambria"/>
                <a:cs typeface="Cambria"/>
              </a:rPr>
              <a:t>φ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3338144" y="4412360"/>
            <a:ext cx="69659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080"/>
              </a:lnSpc>
              <a:spcBef>
                <a:spcPts val="95"/>
              </a:spcBef>
              <a:tabLst>
                <a:tab pos="347345" algn="l"/>
              </a:tabLst>
            </a:pPr>
            <a:r>
              <a:rPr dirty="0" baseline="7936" sz="1575" spc="-75">
                <a:latin typeface="Cambria"/>
                <a:cs typeface="Cambria"/>
              </a:rPr>
              <a:t>φ</a:t>
            </a:r>
            <a:r>
              <a:rPr dirty="0" baseline="7936" sz="1575">
                <a:latin typeface="Cambria"/>
                <a:cs typeface="Cambria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(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X</a:t>
            </a:r>
            <a:r>
              <a:rPr dirty="0" sz="1050" spc="31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)</a:t>
            </a:r>
            <a:endParaRPr sz="1050">
              <a:latin typeface="Times New Roman"/>
              <a:cs typeface="Times New Roman"/>
            </a:endParaRPr>
          </a:p>
          <a:p>
            <a:pPr marL="186055">
              <a:lnSpc>
                <a:spcPts val="600"/>
              </a:lnSpc>
            </a:pPr>
            <a:r>
              <a:rPr dirty="0" sz="650" spc="-50">
                <a:latin typeface="Times New Roman"/>
                <a:cs typeface="Times New Roman"/>
              </a:rPr>
              <a:t>M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3338144" y="2363381"/>
            <a:ext cx="62801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080"/>
              </a:lnSpc>
              <a:spcBef>
                <a:spcPts val="95"/>
              </a:spcBef>
              <a:tabLst>
                <a:tab pos="278765" algn="l"/>
              </a:tabLst>
            </a:pPr>
            <a:r>
              <a:rPr dirty="0" baseline="5291" sz="1575" spc="-75">
                <a:latin typeface="Cambria"/>
                <a:cs typeface="Cambria"/>
              </a:rPr>
              <a:t>φ</a:t>
            </a:r>
            <a:r>
              <a:rPr dirty="0" baseline="5291" sz="1575">
                <a:latin typeface="Cambria"/>
                <a:cs typeface="Cambria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(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X</a:t>
            </a:r>
            <a:r>
              <a:rPr dirty="0" sz="1050" spc="31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)</a:t>
            </a:r>
            <a:endParaRPr sz="1050">
              <a:latin typeface="Times New Roman"/>
              <a:cs typeface="Times New Roman"/>
            </a:endParaRPr>
          </a:p>
          <a:p>
            <a:pPr marL="186055">
              <a:lnSpc>
                <a:spcPts val="600"/>
              </a:lnSpc>
            </a:pPr>
            <a:r>
              <a:rPr dirty="0" sz="650" spc="-50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1076413" y="4639673"/>
            <a:ext cx="1461770" cy="54991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1050" spc="-10" b="1">
                <a:latin typeface="Tahoma"/>
                <a:cs typeface="Tahoma"/>
              </a:rPr>
              <a:t>Increased</a:t>
            </a:r>
            <a:r>
              <a:rPr dirty="0" sz="1050" b="1">
                <a:latin typeface="Tahoma"/>
                <a:cs typeface="Tahoma"/>
              </a:rPr>
              <a:t> </a:t>
            </a:r>
            <a:r>
              <a:rPr dirty="0" sz="1050" spc="-10" b="1">
                <a:latin typeface="Tahoma"/>
                <a:cs typeface="Tahoma"/>
              </a:rPr>
              <a:t>dimension:</a:t>
            </a:r>
            <a:endParaRPr sz="1050">
              <a:latin typeface="Tahoma"/>
              <a:cs typeface="Tahoma"/>
            </a:endParaRPr>
          </a:p>
          <a:p>
            <a:pPr marL="729615">
              <a:lnSpc>
                <a:spcPct val="100000"/>
              </a:lnSpc>
              <a:spcBef>
                <a:spcPts val="725"/>
              </a:spcBef>
            </a:pPr>
            <a:r>
              <a:rPr dirty="0" sz="1300" spc="-10" b="1">
                <a:latin typeface="Arial"/>
                <a:cs typeface="Arial"/>
              </a:rPr>
              <a:t>K-</a:t>
            </a:r>
            <a:r>
              <a:rPr dirty="0" sz="1300" spc="135" b="1">
                <a:latin typeface="Arial"/>
                <a:cs typeface="Arial"/>
              </a:rPr>
              <a:t>&gt;M</a:t>
            </a:r>
            <a:endParaRPr sz="1300">
              <a:latin typeface="Arial"/>
              <a:cs typeface="Arial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3496157" y="4944655"/>
            <a:ext cx="1748155" cy="233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060"/>
              </a:lnSpc>
              <a:spcBef>
                <a:spcPts val="95"/>
              </a:spcBef>
            </a:pPr>
            <a:r>
              <a:rPr dirty="0" baseline="7936" sz="1575">
                <a:latin typeface="Cambria"/>
                <a:cs typeface="Cambria"/>
              </a:rPr>
              <a:t>φ</a:t>
            </a:r>
            <a:r>
              <a:rPr dirty="0" baseline="7936" sz="1575" spc="352">
                <a:latin typeface="Cambria"/>
                <a:cs typeface="Cambria"/>
              </a:rPr>
              <a:t>  </a:t>
            </a:r>
            <a:r>
              <a:rPr dirty="0" baseline="2645" sz="1575">
                <a:latin typeface="Times New Roman"/>
                <a:cs typeface="Times New Roman"/>
              </a:rPr>
              <a:t>(</a:t>
            </a:r>
            <a:r>
              <a:rPr dirty="0" baseline="2645" sz="1575" spc="18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45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)</a:t>
            </a:r>
            <a:r>
              <a:rPr dirty="0" baseline="2645" sz="1575" spc="30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:</a:t>
            </a:r>
            <a:r>
              <a:rPr dirty="0" baseline="2645" sz="1575" spc="209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Nonlinear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function</a:t>
            </a:r>
            <a:endParaRPr sz="1050">
              <a:latin typeface="Times New Roman"/>
              <a:cs typeface="Times New Roman"/>
            </a:endParaRPr>
          </a:p>
          <a:p>
            <a:pPr marL="179705">
              <a:lnSpc>
                <a:spcPts val="580"/>
              </a:lnSpc>
            </a:pPr>
            <a:r>
              <a:rPr dirty="0" sz="650" spc="-50">
                <a:latin typeface="Times New Roman"/>
                <a:cs typeface="Times New Roman"/>
              </a:rPr>
              <a:t>i</a:t>
            </a:r>
            <a:endParaRPr sz="650">
              <a:latin typeface="Times New Roman"/>
              <a:cs typeface="Times New Roman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3969168" y="1737105"/>
            <a:ext cx="2550160" cy="2731135"/>
            <a:chOff x="3969168" y="1737105"/>
            <a:chExt cx="2550160" cy="2731135"/>
          </a:xfrm>
        </p:grpSpPr>
        <p:sp>
          <p:nvSpPr>
            <p:cNvPr id="57" name="object 57" descr=""/>
            <p:cNvSpPr/>
            <p:nvPr/>
          </p:nvSpPr>
          <p:spPr>
            <a:xfrm>
              <a:off x="5896393" y="2795790"/>
              <a:ext cx="622935" cy="567690"/>
            </a:xfrm>
            <a:custGeom>
              <a:avLst/>
              <a:gdLst/>
              <a:ahLst/>
              <a:cxnLst/>
              <a:rect l="l" t="t" r="r" b="b"/>
              <a:pathLst>
                <a:path w="622934" h="567689">
                  <a:moveTo>
                    <a:pt x="338366" y="0"/>
                  </a:moveTo>
                  <a:lnTo>
                    <a:pt x="285699" y="0"/>
                  </a:lnTo>
                  <a:lnTo>
                    <a:pt x="234619" y="8750"/>
                  </a:lnTo>
                  <a:lnTo>
                    <a:pt x="186740" y="23329"/>
                  </a:lnTo>
                  <a:lnTo>
                    <a:pt x="140449" y="46659"/>
                  </a:lnTo>
                  <a:lnTo>
                    <a:pt x="100558" y="74371"/>
                  </a:lnTo>
                  <a:lnTo>
                    <a:pt x="65443" y="110832"/>
                  </a:lnTo>
                  <a:lnTo>
                    <a:pt x="36715" y="148742"/>
                  </a:lnTo>
                  <a:lnTo>
                    <a:pt x="17564" y="192493"/>
                  </a:lnTo>
                  <a:lnTo>
                    <a:pt x="4787" y="236245"/>
                  </a:lnTo>
                  <a:lnTo>
                    <a:pt x="0" y="284378"/>
                  </a:lnTo>
                  <a:lnTo>
                    <a:pt x="4787" y="331038"/>
                  </a:lnTo>
                  <a:lnTo>
                    <a:pt x="17564" y="376250"/>
                  </a:lnTo>
                  <a:lnTo>
                    <a:pt x="36715" y="418541"/>
                  </a:lnTo>
                  <a:lnTo>
                    <a:pt x="65443" y="459371"/>
                  </a:lnTo>
                  <a:lnTo>
                    <a:pt x="100558" y="492912"/>
                  </a:lnTo>
                  <a:lnTo>
                    <a:pt x="140449" y="520623"/>
                  </a:lnTo>
                  <a:lnTo>
                    <a:pt x="186740" y="542505"/>
                  </a:lnTo>
                  <a:lnTo>
                    <a:pt x="234619" y="558545"/>
                  </a:lnTo>
                  <a:lnTo>
                    <a:pt x="285699" y="567296"/>
                  </a:lnTo>
                  <a:lnTo>
                    <a:pt x="338366" y="567296"/>
                  </a:lnTo>
                  <a:lnTo>
                    <a:pt x="387845" y="558545"/>
                  </a:lnTo>
                  <a:lnTo>
                    <a:pt x="435724" y="542505"/>
                  </a:lnTo>
                  <a:lnTo>
                    <a:pt x="480415" y="520623"/>
                  </a:lnTo>
                  <a:lnTo>
                    <a:pt x="521906" y="492912"/>
                  </a:lnTo>
                  <a:lnTo>
                    <a:pt x="557021" y="459371"/>
                  </a:lnTo>
                  <a:lnTo>
                    <a:pt x="585749" y="418541"/>
                  </a:lnTo>
                  <a:lnTo>
                    <a:pt x="604901" y="376250"/>
                  </a:lnTo>
                  <a:lnTo>
                    <a:pt x="617677" y="331038"/>
                  </a:lnTo>
                  <a:lnTo>
                    <a:pt x="622465" y="284378"/>
                  </a:lnTo>
                  <a:lnTo>
                    <a:pt x="617677" y="236245"/>
                  </a:lnTo>
                  <a:lnTo>
                    <a:pt x="604901" y="192493"/>
                  </a:lnTo>
                  <a:lnTo>
                    <a:pt x="585749" y="148742"/>
                  </a:lnTo>
                  <a:lnTo>
                    <a:pt x="557021" y="110832"/>
                  </a:lnTo>
                  <a:lnTo>
                    <a:pt x="521906" y="74371"/>
                  </a:lnTo>
                  <a:lnTo>
                    <a:pt x="480415" y="46659"/>
                  </a:lnTo>
                  <a:lnTo>
                    <a:pt x="435724" y="23329"/>
                  </a:lnTo>
                  <a:lnTo>
                    <a:pt x="387845" y="8750"/>
                  </a:lnTo>
                  <a:lnTo>
                    <a:pt x="33836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969169" y="1737105"/>
              <a:ext cx="1979930" cy="2731135"/>
            </a:xfrm>
            <a:custGeom>
              <a:avLst/>
              <a:gdLst/>
              <a:ahLst/>
              <a:cxnLst/>
              <a:rect l="l" t="t" r="r" b="b"/>
              <a:pathLst>
                <a:path w="1979929" h="2731135">
                  <a:moveTo>
                    <a:pt x="1979891" y="1294930"/>
                  </a:moveTo>
                  <a:lnTo>
                    <a:pt x="1905393" y="1281912"/>
                  </a:lnTo>
                  <a:lnTo>
                    <a:pt x="1882228" y="1268082"/>
                  </a:lnTo>
                  <a:lnTo>
                    <a:pt x="1979891" y="1294930"/>
                  </a:lnTo>
                  <a:lnTo>
                    <a:pt x="1868170" y="1156385"/>
                  </a:lnTo>
                  <a:lnTo>
                    <a:pt x="1845398" y="1185913"/>
                  </a:lnTo>
                  <a:lnTo>
                    <a:pt x="20764" y="0"/>
                  </a:lnTo>
                  <a:lnTo>
                    <a:pt x="0" y="31940"/>
                  </a:lnTo>
                  <a:lnTo>
                    <a:pt x="1822056" y="1216164"/>
                  </a:lnTo>
                  <a:lnTo>
                    <a:pt x="1813585" y="1227137"/>
                  </a:lnTo>
                  <a:lnTo>
                    <a:pt x="1770811" y="1201597"/>
                  </a:lnTo>
                  <a:lnTo>
                    <a:pt x="1760931" y="1235341"/>
                  </a:lnTo>
                  <a:lnTo>
                    <a:pt x="14947" y="803935"/>
                  </a:lnTo>
                  <a:lnTo>
                    <a:pt x="5816" y="840930"/>
                  </a:lnTo>
                  <a:lnTo>
                    <a:pt x="1750212" y="1271955"/>
                  </a:lnTo>
                  <a:lnTo>
                    <a:pt x="1740496" y="1305140"/>
                  </a:lnTo>
                  <a:lnTo>
                    <a:pt x="1743100" y="1305001"/>
                  </a:lnTo>
                  <a:lnTo>
                    <a:pt x="8128" y="1512265"/>
                  </a:lnTo>
                  <a:lnTo>
                    <a:pt x="12636" y="1550098"/>
                  </a:lnTo>
                  <a:lnTo>
                    <a:pt x="1806194" y="1335836"/>
                  </a:lnTo>
                  <a:lnTo>
                    <a:pt x="1808543" y="1353286"/>
                  </a:lnTo>
                  <a:lnTo>
                    <a:pt x="1804327" y="1354721"/>
                  </a:lnTo>
                  <a:lnTo>
                    <a:pt x="1809534" y="1360601"/>
                  </a:lnTo>
                  <a:lnTo>
                    <a:pt x="1810715" y="1369314"/>
                  </a:lnTo>
                  <a:lnTo>
                    <a:pt x="1815426" y="1367243"/>
                  </a:lnTo>
                  <a:lnTo>
                    <a:pt x="1829358" y="1382953"/>
                  </a:lnTo>
                  <a:lnTo>
                    <a:pt x="51714" y="2700058"/>
                  </a:lnTo>
                  <a:lnTo>
                    <a:pt x="74396" y="2730665"/>
                  </a:lnTo>
                  <a:lnTo>
                    <a:pt x="1854733" y="1411566"/>
                  </a:lnTo>
                  <a:lnTo>
                    <a:pt x="1879346" y="1439303"/>
                  </a:lnTo>
                  <a:lnTo>
                    <a:pt x="1979891" y="129493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4799990" y="3037382"/>
            <a:ext cx="6667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50">
                <a:latin typeface="Times New Roman"/>
                <a:cs typeface="Times New Roman"/>
              </a:rPr>
              <a:t>3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4661128" y="2931452"/>
            <a:ext cx="14478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>
                <a:latin typeface="Times New Roman"/>
                <a:cs typeface="Times New Roman"/>
              </a:rPr>
              <a:t>w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4651692" y="3555631"/>
            <a:ext cx="327025" cy="250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395"/>
              </a:lnSpc>
              <a:spcBef>
                <a:spcPts val="95"/>
              </a:spcBef>
            </a:pPr>
            <a:r>
              <a:rPr dirty="0" sz="1300" spc="-10">
                <a:latin typeface="Times New Roman"/>
                <a:cs typeface="Times New Roman"/>
              </a:rPr>
              <a:t>w</a:t>
            </a:r>
            <a:r>
              <a:rPr dirty="0" sz="1300" spc="-155">
                <a:latin typeface="Times New Roman"/>
                <a:cs typeface="Times New Roman"/>
              </a:rPr>
              <a:t> </a:t>
            </a:r>
            <a:r>
              <a:rPr dirty="0" baseline="-17094" sz="975" spc="-89">
                <a:latin typeface="Times New Roman"/>
                <a:cs typeface="Times New Roman"/>
              </a:rPr>
              <a:t>m</a:t>
            </a:r>
            <a:endParaRPr baseline="-17094" sz="975">
              <a:latin typeface="Times New Roman"/>
              <a:cs typeface="Times New Roman"/>
            </a:endParaRPr>
          </a:p>
          <a:p>
            <a:pPr algn="r" marR="30480">
              <a:lnSpc>
                <a:spcPts val="375"/>
              </a:lnSpc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4656480" y="2088540"/>
            <a:ext cx="24574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300" spc="-25">
                <a:latin typeface="Times New Roman"/>
                <a:cs typeface="Times New Roman"/>
              </a:rPr>
              <a:t>w</a:t>
            </a:r>
            <a:r>
              <a:rPr dirty="0" baseline="-17094" sz="975" spc="-37">
                <a:latin typeface="Times New Roman"/>
                <a:cs typeface="Times New Roman"/>
              </a:rPr>
              <a:t>1</a:t>
            </a:r>
            <a:endParaRPr baseline="-17094" sz="975">
              <a:latin typeface="Times New Roman"/>
              <a:cs typeface="Times New Roman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4819141" y="2666962"/>
            <a:ext cx="6667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50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4677092" y="2562491"/>
            <a:ext cx="14478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>
                <a:latin typeface="Times New Roman"/>
                <a:cs typeface="Times New Roman"/>
              </a:rPr>
              <a:t>w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6064046" y="2945498"/>
            <a:ext cx="167005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204">
                <a:latin typeface="Cambria"/>
                <a:cs typeface="Cambria"/>
              </a:rPr>
              <a:t>Σ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66" name="object 66" descr=""/>
          <p:cNvSpPr/>
          <p:nvPr/>
        </p:nvSpPr>
        <p:spPr>
          <a:xfrm>
            <a:off x="6569875" y="2978086"/>
            <a:ext cx="930910" cy="107950"/>
          </a:xfrm>
          <a:custGeom>
            <a:avLst/>
            <a:gdLst/>
            <a:ahLst/>
            <a:cxnLst/>
            <a:rect l="l" t="t" r="r" b="b"/>
            <a:pathLst>
              <a:path w="930909" h="107950">
                <a:moveTo>
                  <a:pt x="930541" y="53949"/>
                </a:moveTo>
                <a:lnTo>
                  <a:pt x="753389" y="0"/>
                </a:lnTo>
                <a:lnTo>
                  <a:pt x="753389" y="36334"/>
                </a:lnTo>
                <a:lnTo>
                  <a:pt x="88" y="34899"/>
                </a:lnTo>
                <a:lnTo>
                  <a:pt x="0" y="72999"/>
                </a:lnTo>
                <a:lnTo>
                  <a:pt x="753389" y="74434"/>
                </a:lnTo>
                <a:lnTo>
                  <a:pt x="753389" y="107911"/>
                </a:lnTo>
                <a:lnTo>
                  <a:pt x="930541" y="5394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 txBox="1"/>
          <p:nvPr/>
        </p:nvSpPr>
        <p:spPr>
          <a:xfrm>
            <a:off x="7601039" y="2793936"/>
            <a:ext cx="738505" cy="570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905"/>
              </a:lnSpc>
              <a:spcBef>
                <a:spcPts val="95"/>
              </a:spcBef>
            </a:pPr>
            <a:r>
              <a:rPr dirty="0" sz="1600" spc="-10" b="1">
                <a:latin typeface="Tahoma"/>
                <a:cs typeface="Tahoma"/>
              </a:rPr>
              <a:t>Output</a:t>
            </a:r>
            <a:endParaRPr sz="1600">
              <a:latin typeface="Tahoma"/>
              <a:cs typeface="Tahoma"/>
            </a:endParaRPr>
          </a:p>
          <a:p>
            <a:pPr algn="ctr" marL="12700">
              <a:lnSpc>
                <a:spcPts val="2385"/>
              </a:lnSpc>
            </a:pPr>
            <a:r>
              <a:rPr dirty="0" sz="2000" spc="-50">
                <a:latin typeface="Malgun Gothic"/>
                <a:cs typeface="Malgun Gothic"/>
              </a:rPr>
              <a:t>y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6161544" y="2422867"/>
            <a:ext cx="304165" cy="184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7936" sz="1575">
                <a:latin typeface="Times New Roman"/>
                <a:cs typeface="Times New Roman"/>
              </a:rPr>
              <a:t>y</a:t>
            </a:r>
            <a:r>
              <a:rPr dirty="0" baseline="-7936" sz="1575" spc="630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Cambria"/>
                <a:cs typeface="Cambria"/>
              </a:rPr>
              <a:t>=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6485547" y="2286330"/>
            <a:ext cx="261620" cy="534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 sz="650" spc="-50">
                <a:latin typeface="Times New Roman"/>
                <a:cs typeface="Times New Roman"/>
              </a:rPr>
              <a:t>M</a:t>
            </a:r>
            <a:endParaRPr sz="6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45"/>
              </a:spcBef>
            </a:pPr>
            <a:r>
              <a:rPr dirty="0" sz="1550" spc="204">
                <a:latin typeface="Cambria"/>
                <a:cs typeface="Cambria"/>
              </a:rPr>
              <a:t>Σ</a:t>
            </a:r>
            <a:endParaRPr sz="1550">
              <a:latin typeface="Cambria"/>
              <a:cs typeface="Cambria"/>
            </a:endParaRPr>
          </a:p>
          <a:p>
            <a:pPr marL="73025">
              <a:lnSpc>
                <a:spcPct val="100000"/>
              </a:lnSpc>
              <a:spcBef>
                <a:spcPts val="540"/>
              </a:spcBef>
            </a:pPr>
            <a:r>
              <a:rPr dirty="0" sz="650">
                <a:latin typeface="Times New Roman"/>
                <a:cs typeface="Times New Roman"/>
              </a:rPr>
              <a:t>i </a:t>
            </a:r>
            <a:r>
              <a:rPr dirty="0" baseline="8547" sz="975">
                <a:latin typeface="Cambria"/>
                <a:cs typeface="Cambria"/>
              </a:rPr>
              <a:t>= </a:t>
            </a:r>
            <a:r>
              <a:rPr dirty="0" sz="650" spc="-50">
                <a:latin typeface="Times New Roman"/>
                <a:cs typeface="Times New Roman"/>
              </a:rPr>
              <a:t>1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6914743" y="2554668"/>
            <a:ext cx="224154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960" algn="l"/>
              </a:tabLst>
            </a:pPr>
            <a:r>
              <a:rPr dirty="0" sz="650" spc="-50">
                <a:latin typeface="Times New Roman"/>
                <a:cs typeface="Times New Roman"/>
              </a:rPr>
              <a:t>i</a:t>
            </a:r>
            <a:r>
              <a:rPr dirty="0" sz="650">
                <a:latin typeface="Times New Roman"/>
                <a:cs typeface="Times New Roman"/>
              </a:rPr>
              <a:t>	</a:t>
            </a:r>
            <a:r>
              <a:rPr dirty="0" sz="650" spc="-50">
                <a:latin typeface="Times New Roman"/>
                <a:cs typeface="Times New Roman"/>
              </a:rPr>
              <a:t>i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7154150" y="2439225"/>
            <a:ext cx="337820" cy="184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Times New Roman"/>
                <a:cs typeface="Times New Roman"/>
              </a:rPr>
              <a:t>(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X</a:t>
            </a:r>
            <a:r>
              <a:rPr dirty="0" sz="1050" spc="31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6753682" y="2422867"/>
            <a:ext cx="325755" cy="184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7936" sz="1575">
                <a:latin typeface="Times New Roman"/>
                <a:cs typeface="Times New Roman"/>
              </a:rPr>
              <a:t>w</a:t>
            </a:r>
            <a:r>
              <a:rPr dirty="0" baseline="-7936" sz="1575" spc="434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Cambria"/>
                <a:cs typeface="Cambria"/>
              </a:rPr>
              <a:t>φ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186689" y="5333047"/>
            <a:ext cx="811212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Tahoma"/>
              <a:buChar char="•"/>
              <a:tabLst>
                <a:tab pos="355600" algn="l"/>
              </a:tabLst>
            </a:pPr>
            <a:r>
              <a:rPr dirty="0" sz="2000" b="1">
                <a:solidFill>
                  <a:srgbClr val="0000FF"/>
                </a:solidFill>
                <a:latin typeface="Tahoma"/>
                <a:cs typeface="Tahoma"/>
              </a:rPr>
              <a:t>Hidden</a:t>
            </a:r>
            <a:r>
              <a:rPr dirty="0" sz="2000" spc="-3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0000FF"/>
                </a:solidFill>
                <a:latin typeface="Tahoma"/>
                <a:cs typeface="Tahoma"/>
              </a:rPr>
              <a:t>layer:</a:t>
            </a:r>
            <a:r>
              <a:rPr dirty="0" sz="2000" spc="-2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applies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u="heavy" sz="2400" spc="-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non-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linear</a:t>
            </a:r>
            <a:r>
              <a:rPr dirty="0" u="heavy" sz="240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transformation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from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space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hidden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space.</a:t>
            </a:r>
            <a:endParaRPr sz="2400">
              <a:latin typeface="Tahoma"/>
              <a:cs typeface="Tahoma"/>
            </a:endParaRPr>
          </a:p>
          <a:p>
            <a:pPr marL="355600" marR="635635" indent="-342900">
              <a:lnSpc>
                <a:spcPct val="100000"/>
              </a:lnSpc>
              <a:buFont typeface="Tahoma"/>
              <a:buChar char="•"/>
              <a:tabLst>
                <a:tab pos="355600" algn="l"/>
              </a:tabLst>
            </a:pPr>
            <a:r>
              <a:rPr dirty="0" sz="2000" b="1">
                <a:solidFill>
                  <a:srgbClr val="0000FF"/>
                </a:solidFill>
                <a:latin typeface="Tahoma"/>
                <a:cs typeface="Tahoma"/>
              </a:rPr>
              <a:t>Output</a:t>
            </a:r>
            <a:r>
              <a:rPr dirty="0" sz="2000" spc="-3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0000FF"/>
                </a:solidFill>
                <a:latin typeface="Tahoma"/>
                <a:cs typeface="Tahoma"/>
              </a:rPr>
              <a:t>layer:</a:t>
            </a:r>
            <a:r>
              <a:rPr dirty="0" sz="2000" spc="-3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applies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linear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transformation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from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>
                <a:latin typeface="Tahoma"/>
                <a:cs typeface="Tahoma"/>
              </a:rPr>
              <a:t>hidden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space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output</a:t>
            </a:r>
            <a:r>
              <a:rPr dirty="0" sz="2400" spc="-10">
                <a:latin typeface="Tahoma"/>
                <a:cs typeface="Tahoma"/>
              </a:rPr>
              <a:t> space.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4" name="object 74"/>
          <p:cNvSpPr txBox="1">
            <a:spLocks noGrp="1"/>
          </p:cNvSpPr>
          <p:nvPr>
            <p:ph type="title"/>
          </p:nvPr>
        </p:nvSpPr>
        <p:spPr>
          <a:xfrm>
            <a:off x="875664" y="753109"/>
            <a:ext cx="703770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Radial</a:t>
            </a:r>
            <a:r>
              <a:rPr dirty="0" sz="3600" spc="-65"/>
              <a:t> </a:t>
            </a:r>
            <a:r>
              <a:rPr dirty="0" sz="3600"/>
              <a:t>Basis</a:t>
            </a:r>
            <a:r>
              <a:rPr dirty="0" sz="3600" spc="-60"/>
              <a:t> </a:t>
            </a:r>
            <a:r>
              <a:rPr dirty="0" sz="3600"/>
              <a:t>Function</a:t>
            </a:r>
            <a:r>
              <a:rPr dirty="0" sz="3600" spc="-55"/>
              <a:t> </a:t>
            </a:r>
            <a:r>
              <a:rPr dirty="0" sz="3600" spc="-10"/>
              <a:t>Network</a:t>
            </a:r>
            <a:endParaRPr sz="3600"/>
          </a:p>
        </p:txBody>
      </p:sp>
      <p:sp>
        <p:nvSpPr>
          <p:cNvPr id="75" name="object 75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11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6" name="object 76" descr=""/>
          <p:cNvSpPr/>
          <p:nvPr/>
        </p:nvSpPr>
        <p:spPr>
          <a:xfrm>
            <a:off x="3590034" y="6508600"/>
            <a:ext cx="2804795" cy="0"/>
          </a:xfrm>
          <a:custGeom>
            <a:avLst/>
            <a:gdLst/>
            <a:ahLst/>
            <a:cxnLst/>
            <a:rect l="l" t="t" r="r" b="b"/>
            <a:pathLst>
              <a:path w="2804795" h="0">
                <a:moveTo>
                  <a:pt x="0" y="0"/>
                </a:moveTo>
                <a:lnTo>
                  <a:pt x="2804473" y="0"/>
                </a:lnTo>
              </a:path>
            </a:pathLst>
          </a:custGeom>
          <a:ln w="14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58127" y="2111082"/>
            <a:ext cx="8366759" cy="121348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355600" marR="5080" indent="-342900">
              <a:lnSpc>
                <a:spcPts val="3000"/>
              </a:lnSpc>
              <a:spcBef>
                <a:spcPts val="495"/>
              </a:spcBef>
              <a:buClr>
                <a:srgbClr val="3333CC"/>
              </a:buClr>
              <a:buSzPct val="58928"/>
              <a:buFont typeface="Tahoma"/>
              <a:buChar char="■"/>
              <a:tabLst>
                <a:tab pos="355600" algn="l"/>
              </a:tabLst>
            </a:pPr>
            <a:r>
              <a:rPr dirty="0" sz="2800" b="1">
                <a:solidFill>
                  <a:srgbClr val="0000FF"/>
                </a:solidFill>
                <a:latin typeface="Arial"/>
                <a:cs typeface="Arial"/>
              </a:rPr>
              <a:t>Rationale</a:t>
            </a:r>
            <a:r>
              <a:rPr dirty="0" sz="2800" spc="-1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0000FF"/>
                </a:solidFill>
                <a:latin typeface="Arial"/>
                <a:cs typeface="Arial"/>
              </a:rPr>
              <a:t>behind</a:t>
            </a:r>
            <a:r>
              <a:rPr dirty="0" sz="2800" spc="-1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800" spc="-55" b="1">
                <a:solidFill>
                  <a:srgbClr val="0000FF"/>
                </a:solidFill>
                <a:latin typeface="Arial"/>
                <a:cs typeface="Arial"/>
              </a:rPr>
              <a:t>RBF</a:t>
            </a:r>
            <a:r>
              <a:rPr dirty="0" sz="2800" spc="-55">
                <a:latin typeface="Tahoma"/>
                <a:cs typeface="Tahoma"/>
              </a:rPr>
              <a:t>:</a:t>
            </a:r>
            <a:r>
              <a:rPr dirty="0" sz="2800" spc="-11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when</a:t>
            </a:r>
            <a:r>
              <a:rPr dirty="0" sz="2800" spc="-10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11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examples</a:t>
            </a:r>
            <a:r>
              <a:rPr dirty="0" sz="2800" spc="-10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are </a:t>
            </a:r>
            <a:r>
              <a:rPr dirty="0" sz="2800">
                <a:latin typeface="Tahoma"/>
                <a:cs typeface="Tahoma"/>
              </a:rPr>
              <a:t>cast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30">
                <a:latin typeface="Tahoma"/>
                <a:cs typeface="Tahoma"/>
              </a:rPr>
              <a:t>higher-</a:t>
            </a:r>
            <a:r>
              <a:rPr dirty="0" sz="2800">
                <a:latin typeface="Tahoma"/>
                <a:cs typeface="Tahoma"/>
              </a:rPr>
              <a:t>dimensional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75">
                <a:latin typeface="Tahoma"/>
                <a:cs typeface="Tahoma"/>
              </a:rPr>
              <a:t>space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they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are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more </a:t>
            </a:r>
            <a:r>
              <a:rPr dirty="0" sz="2800">
                <a:latin typeface="Tahoma"/>
                <a:cs typeface="Tahoma"/>
              </a:rPr>
              <a:t>likely</a:t>
            </a:r>
            <a:r>
              <a:rPr dirty="0" sz="2800" spc="-105">
                <a:latin typeface="Tahoma"/>
                <a:cs typeface="Tahoma"/>
              </a:rPr>
              <a:t> </a:t>
            </a:r>
            <a:r>
              <a:rPr dirty="0" sz="2800" spc="-30">
                <a:latin typeface="Tahoma"/>
                <a:cs typeface="Tahoma"/>
              </a:rPr>
              <a:t>to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be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linearly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separable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there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than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 spc="70">
                <a:latin typeface="Tahoma"/>
                <a:cs typeface="Tahoma"/>
              </a:rPr>
              <a:t>a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lower-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01027" y="3254082"/>
            <a:ext cx="306641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Tahoma"/>
                <a:cs typeface="Tahoma"/>
              </a:rPr>
              <a:t>dimensional</a:t>
            </a:r>
            <a:r>
              <a:rPr dirty="0" sz="2800" spc="75">
                <a:latin typeface="Tahoma"/>
                <a:cs typeface="Tahoma"/>
              </a:rPr>
              <a:t> </a:t>
            </a:r>
            <a:r>
              <a:rPr dirty="0" sz="2800" spc="40">
                <a:latin typeface="Tahoma"/>
                <a:cs typeface="Tahoma"/>
              </a:rPr>
              <a:t>space.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8127" y="3635082"/>
            <a:ext cx="8109584" cy="273748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355600" marR="179705" indent="-342900">
              <a:lnSpc>
                <a:spcPts val="3000"/>
              </a:lnSpc>
              <a:spcBef>
                <a:spcPts val="49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 spc="180">
                <a:latin typeface="Tahoma"/>
                <a:cs typeface="Tahoma"/>
              </a:rPr>
              <a:t>A</a:t>
            </a:r>
            <a:r>
              <a:rPr dirty="0" sz="2800" spc="-12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nonlinear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function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 spc="50">
                <a:latin typeface="Tahoma"/>
                <a:cs typeface="Tahoma"/>
              </a:rPr>
              <a:t>can</a:t>
            </a:r>
            <a:r>
              <a:rPr dirty="0" sz="2800" spc="-12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be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taken</a:t>
            </a:r>
            <a:r>
              <a:rPr dirty="0" sz="2800" spc="-120">
                <a:latin typeface="Tahoma"/>
                <a:cs typeface="Tahoma"/>
              </a:rPr>
              <a:t> </a:t>
            </a:r>
            <a:r>
              <a:rPr dirty="0" sz="2800" spc="-30">
                <a:latin typeface="Tahoma"/>
                <a:cs typeface="Tahoma"/>
              </a:rPr>
              <a:t>to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transform</a:t>
            </a:r>
            <a:r>
              <a:rPr dirty="0" sz="2800" spc="-120">
                <a:latin typeface="Tahoma"/>
                <a:cs typeface="Tahoma"/>
              </a:rPr>
              <a:t> </a:t>
            </a:r>
            <a:r>
              <a:rPr dirty="0" sz="2800" spc="20">
                <a:latin typeface="Tahoma"/>
                <a:cs typeface="Tahoma"/>
              </a:rPr>
              <a:t>a </a:t>
            </a:r>
            <a:r>
              <a:rPr dirty="0" sz="2800" spc="-35">
                <a:latin typeface="Tahoma"/>
                <a:cs typeface="Tahoma"/>
              </a:rPr>
              <a:t>difficult</a:t>
            </a:r>
            <a:r>
              <a:rPr dirty="0" sz="2800" spc="-1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nonlinear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interpolation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problem</a:t>
            </a:r>
            <a:r>
              <a:rPr dirty="0" sz="2800" spc="-15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into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an </a:t>
            </a:r>
            <a:r>
              <a:rPr dirty="0" sz="2800">
                <a:latin typeface="Tahoma"/>
                <a:cs typeface="Tahoma"/>
              </a:rPr>
              <a:t>easier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one</a:t>
            </a:r>
            <a:r>
              <a:rPr dirty="0" sz="2800" spc="-20">
                <a:latin typeface="Tahoma"/>
                <a:cs typeface="Tahoma"/>
              </a:rPr>
              <a:t> </a:t>
            </a:r>
            <a:r>
              <a:rPr dirty="0" sz="2800" spc="-55">
                <a:latin typeface="Tahoma"/>
                <a:cs typeface="Tahoma"/>
              </a:rPr>
              <a:t>that</a:t>
            </a:r>
            <a:r>
              <a:rPr dirty="0" sz="2800" spc="-1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involves</a:t>
            </a:r>
            <a:r>
              <a:rPr dirty="0" sz="2800" spc="-2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linear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mapping.</a:t>
            </a:r>
            <a:endParaRPr sz="2800">
              <a:latin typeface="Tahoma"/>
              <a:cs typeface="Tahoma"/>
            </a:endParaRPr>
          </a:p>
          <a:p>
            <a:pPr marL="355600" marR="5080" indent="-342900">
              <a:lnSpc>
                <a:spcPts val="3000"/>
              </a:lnSpc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That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 spc="55">
                <a:latin typeface="Tahoma"/>
                <a:cs typeface="Tahoma"/>
              </a:rPr>
              <a:t>is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why,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 spc="235">
                <a:latin typeface="Tahoma"/>
                <a:cs typeface="Tahoma"/>
              </a:rPr>
              <a:t>RBF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networks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are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designed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to perform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nonlinear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mappings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 spc="-40">
                <a:latin typeface="Tahoma"/>
                <a:cs typeface="Tahoma"/>
              </a:rPr>
              <a:t>from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-30">
                <a:latin typeface="Tahoma"/>
                <a:cs typeface="Tahoma"/>
              </a:rPr>
              <a:t>input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 spc="65">
                <a:latin typeface="Tahoma"/>
                <a:cs typeface="Tahoma"/>
              </a:rPr>
              <a:t>space </a:t>
            </a:r>
            <a:r>
              <a:rPr dirty="0" sz="2800" spc="-30">
                <a:latin typeface="Tahoma"/>
                <a:cs typeface="Tahoma"/>
              </a:rPr>
              <a:t>to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hidden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 spc="50">
                <a:latin typeface="Tahoma"/>
                <a:cs typeface="Tahoma"/>
              </a:rPr>
              <a:t>space,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12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next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 spc="70">
                <a:latin typeface="Tahoma"/>
                <a:cs typeface="Tahoma"/>
              </a:rPr>
              <a:t>a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linear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mapping </a:t>
            </a:r>
            <a:r>
              <a:rPr dirty="0" sz="2800" spc="-40">
                <a:latin typeface="Tahoma"/>
                <a:cs typeface="Tahoma"/>
              </a:rPr>
              <a:t>from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hidden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75">
                <a:latin typeface="Tahoma"/>
                <a:cs typeface="Tahoma"/>
              </a:rPr>
              <a:t>space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-30">
                <a:latin typeface="Tahoma"/>
                <a:cs typeface="Tahoma"/>
              </a:rPr>
              <a:t>to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-55">
                <a:latin typeface="Tahoma"/>
                <a:cs typeface="Tahoma"/>
              </a:rPr>
              <a:t>output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40">
                <a:latin typeface="Tahoma"/>
                <a:cs typeface="Tahoma"/>
              </a:rPr>
              <a:t>space.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12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5287" y="162968"/>
            <a:ext cx="2654935" cy="63690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150" spc="-25">
                <a:latin typeface="Microsoft JhengHei UI"/>
                <a:cs typeface="Microsoft JhengHei UI"/>
              </a:rPr>
              <a:t>当样本被投射到更⾼维空间时，它们在那</a:t>
            </a:r>
            <a:endParaRPr sz="1150">
              <a:latin typeface="Microsoft JhengHei UI"/>
              <a:cs typeface="Microsoft JhengHei UI"/>
            </a:endParaRPr>
          </a:p>
          <a:p>
            <a:pPr marL="12700" marR="5080">
              <a:lnSpc>
                <a:spcPct val="116199"/>
              </a:lnSpc>
            </a:pPr>
            <a:r>
              <a:rPr dirty="0" sz="1150" spc="-5">
                <a:latin typeface="Microsoft JhengHei UI"/>
                <a:cs typeface="Microsoft JhengHei UI"/>
              </a:rPr>
              <a:t>⾥变得“线性可分”的可能性，远⼤于在低</a:t>
            </a:r>
            <a:r>
              <a:rPr dirty="0" sz="1150" spc="-30">
                <a:latin typeface="Microsoft JhengHei UI"/>
                <a:cs typeface="Microsoft JhengHei UI"/>
              </a:rPr>
              <a:t>维空间中。</a:t>
            </a:r>
            <a:endParaRPr sz="1150">
              <a:latin typeface="Microsoft JhengHei UI"/>
              <a:cs typeface="Microsoft JhengHei U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78852" y="623375"/>
            <a:ext cx="7136765" cy="1149350"/>
          </a:xfrm>
          <a:prstGeom prst="rect">
            <a:avLst/>
          </a:prstGeom>
        </p:spPr>
        <p:txBody>
          <a:bodyPr wrap="square" lIns="0" tIns="285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0"/>
              </a:spcBef>
            </a:pPr>
            <a:r>
              <a:rPr dirty="0" sz="4000" b="1">
                <a:solidFill>
                  <a:srgbClr val="800000"/>
                </a:solidFill>
                <a:latin typeface="Tahoma"/>
                <a:cs typeface="Tahoma"/>
              </a:rPr>
              <a:t>RBF</a:t>
            </a:r>
            <a:r>
              <a:rPr dirty="0" sz="4000" spc="-95" b="1">
                <a:solidFill>
                  <a:srgbClr val="800000"/>
                </a:solidFill>
                <a:latin typeface="Tahoma"/>
                <a:cs typeface="Tahoma"/>
              </a:rPr>
              <a:t> </a:t>
            </a:r>
            <a:r>
              <a:rPr dirty="0" sz="4000" b="1">
                <a:solidFill>
                  <a:srgbClr val="800000"/>
                </a:solidFill>
                <a:latin typeface="Tahoma"/>
                <a:cs typeface="Tahoma"/>
              </a:rPr>
              <a:t>Network:</a:t>
            </a:r>
            <a:r>
              <a:rPr dirty="0" sz="4000" spc="-95" b="1">
                <a:solidFill>
                  <a:srgbClr val="800000"/>
                </a:solidFill>
                <a:latin typeface="Tahoma"/>
                <a:cs typeface="Tahoma"/>
              </a:rPr>
              <a:t> </a:t>
            </a:r>
            <a:r>
              <a:rPr dirty="0" sz="4000" b="1">
                <a:solidFill>
                  <a:srgbClr val="800000"/>
                </a:solidFill>
                <a:latin typeface="Tahoma"/>
                <a:cs typeface="Tahoma"/>
              </a:rPr>
              <a:t>the</a:t>
            </a:r>
            <a:r>
              <a:rPr dirty="0" sz="4000" spc="-95" b="1">
                <a:solidFill>
                  <a:srgbClr val="800000"/>
                </a:solidFill>
                <a:latin typeface="Tahoma"/>
                <a:cs typeface="Tahoma"/>
              </a:rPr>
              <a:t> </a:t>
            </a:r>
            <a:r>
              <a:rPr dirty="0" sz="4000" spc="-10" b="1">
                <a:solidFill>
                  <a:srgbClr val="800000"/>
                </a:solidFill>
                <a:latin typeface="Tahoma"/>
                <a:cs typeface="Tahoma"/>
              </a:rPr>
              <a:t>Rationale</a:t>
            </a:r>
            <a:endParaRPr sz="4000">
              <a:latin typeface="Tahoma"/>
              <a:cs typeface="Tahoma"/>
            </a:endParaRPr>
          </a:p>
          <a:p>
            <a:pPr marL="349885">
              <a:lnSpc>
                <a:spcPct val="100000"/>
              </a:lnSpc>
              <a:spcBef>
                <a:spcPts val="575"/>
              </a:spcBef>
            </a:pPr>
            <a:r>
              <a:rPr dirty="0" sz="1100" spc="-20">
                <a:latin typeface="Microsoft JhengHei UI"/>
                <a:cs typeface="Microsoft JhengHei UI"/>
              </a:rPr>
              <a:t>我们可以⽤⼀个⾮线性函数（</a:t>
            </a:r>
            <a:r>
              <a:rPr dirty="0" sz="1100" spc="95">
                <a:latin typeface="Microsoft JhengHei UI"/>
                <a:cs typeface="Microsoft JhengHei UI"/>
              </a:rPr>
              <a:t>即 </a:t>
            </a:r>
            <a:r>
              <a:rPr dirty="0" sz="1100">
                <a:latin typeface="Microsoft JhengHei UI"/>
                <a:cs typeface="Microsoft JhengHei UI"/>
              </a:rPr>
              <a:t>RBF），</a:t>
            </a:r>
            <a:r>
              <a:rPr dirty="0" sz="1100" spc="-5">
                <a:latin typeface="Microsoft JhengHei UI"/>
                <a:cs typeface="Microsoft JhengHei UI"/>
              </a:rPr>
              <a:t>将⼀个困难的⾮线性插值问</a:t>
            </a:r>
            <a:endParaRPr sz="1100">
              <a:latin typeface="Microsoft JhengHei UI"/>
              <a:cs typeface="Microsoft JhengHei U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16076" y="1774440"/>
            <a:ext cx="3212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Microsoft JhengHei UI"/>
                <a:cs typeface="Microsoft JhengHei UI"/>
              </a:rPr>
              <a:t>题，转变成⼀个更容易的、只涉及线性映射的问题。</a:t>
            </a:r>
            <a:endParaRPr sz="1100">
              <a:latin typeface="Microsoft JhengHei UI"/>
              <a:cs typeface="Microsoft JhengHei U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833075" y="3344660"/>
            <a:ext cx="406272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imes New Roman"/>
                <a:cs typeface="Times New Roman"/>
              </a:rPr>
              <a:t>RBF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Microsoft JhengHei UI"/>
                <a:cs typeface="Microsoft JhengHei UI"/>
              </a:rPr>
              <a:t>⽹络被设计为：执⾏从输⼊空间到隐藏空间的⾮线性映射，然</a:t>
            </a:r>
            <a:endParaRPr sz="1100">
              <a:latin typeface="Microsoft JhengHei UI"/>
              <a:cs typeface="Microsoft JhengHei U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833075" y="3538624"/>
            <a:ext cx="27965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Microsoft JhengHei UI"/>
                <a:cs typeface="Microsoft JhengHei UI"/>
              </a:rPr>
              <a:t>后再执⾏从隐藏空间到输出空间的线性映射。</a:t>
            </a:r>
            <a:endParaRPr sz="1100">
              <a:latin typeface="Microsoft JhengHei UI"/>
              <a:cs typeface="Microsoft JhengHei U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7501940" y="997140"/>
            <a:ext cx="17145" cy="52705"/>
          </a:xfrm>
          <a:custGeom>
            <a:avLst/>
            <a:gdLst/>
            <a:ahLst/>
            <a:cxnLst/>
            <a:rect l="l" t="t" r="r" b="b"/>
            <a:pathLst>
              <a:path w="17145" h="52705">
                <a:moveTo>
                  <a:pt x="9906" y="0"/>
                </a:moveTo>
                <a:lnTo>
                  <a:pt x="6134" y="1574"/>
                </a:lnTo>
                <a:lnTo>
                  <a:pt x="5219" y="3708"/>
                </a:lnTo>
                <a:lnTo>
                  <a:pt x="8458" y="11976"/>
                </a:lnTo>
                <a:lnTo>
                  <a:pt x="9371" y="18554"/>
                </a:lnTo>
                <a:lnTo>
                  <a:pt x="9410" y="18834"/>
                </a:lnTo>
                <a:lnTo>
                  <a:pt x="7736" y="32981"/>
                </a:lnTo>
                <a:lnTo>
                  <a:pt x="7696" y="33324"/>
                </a:lnTo>
                <a:lnTo>
                  <a:pt x="4711" y="40627"/>
                </a:lnTo>
                <a:lnTo>
                  <a:pt x="0" y="48691"/>
                </a:lnTo>
                <a:lnTo>
                  <a:pt x="469" y="50520"/>
                </a:lnTo>
                <a:lnTo>
                  <a:pt x="3238" y="52133"/>
                </a:lnTo>
                <a:lnTo>
                  <a:pt x="4965" y="51752"/>
                </a:lnTo>
                <a:lnTo>
                  <a:pt x="5819" y="50520"/>
                </a:lnTo>
                <a:lnTo>
                  <a:pt x="17132" y="18554"/>
                </a:lnTo>
                <a:lnTo>
                  <a:pt x="16040" y="10325"/>
                </a:lnTo>
                <a:lnTo>
                  <a:pt x="12090" y="901"/>
                </a:lnTo>
                <a:lnTo>
                  <a:pt x="99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93343" y="755383"/>
            <a:ext cx="1350529" cy="650494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3739339" y="38417"/>
            <a:ext cx="5146040" cy="1818639"/>
            <a:chOff x="3739339" y="38417"/>
            <a:chExt cx="5146040" cy="1818639"/>
          </a:xfrm>
        </p:grpSpPr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8879" y="38417"/>
              <a:ext cx="1726281" cy="320306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39339" y="46075"/>
              <a:ext cx="3664443" cy="973162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6590" y="1516938"/>
              <a:ext cx="2047519" cy="3397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6492" y="1098803"/>
            <a:ext cx="1153795" cy="896619"/>
            <a:chOff x="126492" y="1098803"/>
            <a:chExt cx="1153795" cy="896619"/>
          </a:xfrm>
        </p:grpSpPr>
        <p:sp>
          <p:nvSpPr>
            <p:cNvPr id="3" name="object 3" descr=""/>
            <p:cNvSpPr/>
            <p:nvPr/>
          </p:nvSpPr>
          <p:spPr>
            <a:xfrm>
              <a:off x="417576" y="1098803"/>
              <a:ext cx="382905" cy="474345"/>
            </a:xfrm>
            <a:custGeom>
              <a:avLst/>
              <a:gdLst/>
              <a:ahLst/>
              <a:cxnLst/>
              <a:rect l="l" t="t" r="r" b="b"/>
              <a:pathLst>
                <a:path w="382905" h="474344">
                  <a:moveTo>
                    <a:pt x="0" y="473963"/>
                  </a:moveTo>
                  <a:lnTo>
                    <a:pt x="382523" y="473963"/>
                  </a:lnTo>
                  <a:lnTo>
                    <a:pt x="382523" y="0"/>
                  </a:lnTo>
                  <a:lnTo>
                    <a:pt x="0" y="0"/>
                  </a:lnTo>
                  <a:lnTo>
                    <a:pt x="0" y="473963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00" y="1098803"/>
              <a:ext cx="329184" cy="47396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41019" y="1520951"/>
              <a:ext cx="370840" cy="474345"/>
            </a:xfrm>
            <a:custGeom>
              <a:avLst/>
              <a:gdLst/>
              <a:ahLst/>
              <a:cxnLst/>
              <a:rect l="l" t="t" r="r" b="b"/>
              <a:pathLst>
                <a:path w="370840" h="474344">
                  <a:moveTo>
                    <a:pt x="0" y="473963"/>
                  </a:moveTo>
                  <a:lnTo>
                    <a:pt x="370332" y="473963"/>
                  </a:lnTo>
                  <a:lnTo>
                    <a:pt x="370332" y="0"/>
                  </a:lnTo>
                  <a:lnTo>
                    <a:pt x="0" y="0"/>
                  </a:lnTo>
                  <a:lnTo>
                    <a:pt x="0" y="47396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1351" y="1520951"/>
              <a:ext cx="368807" cy="47396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492" y="1447799"/>
              <a:ext cx="560832" cy="422148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762000" y="990600"/>
            <a:ext cx="32384" cy="710565"/>
          </a:xfrm>
          <a:custGeom>
            <a:avLst/>
            <a:gdLst/>
            <a:ahLst/>
            <a:cxnLst/>
            <a:rect l="l" t="t" r="r" b="b"/>
            <a:pathLst>
              <a:path w="32384" h="710564">
                <a:moveTo>
                  <a:pt x="0" y="710209"/>
                </a:moveTo>
                <a:lnTo>
                  <a:pt x="32004" y="710209"/>
                </a:lnTo>
                <a:lnTo>
                  <a:pt x="32004" y="0"/>
                </a:lnTo>
                <a:lnTo>
                  <a:pt x="0" y="0"/>
                </a:lnTo>
                <a:lnTo>
                  <a:pt x="0" y="710209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62952" y="181609"/>
            <a:ext cx="586105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Function</a:t>
            </a:r>
            <a:r>
              <a:rPr dirty="0" sz="3600" spc="-55"/>
              <a:t> </a:t>
            </a:r>
            <a:r>
              <a:rPr dirty="0" sz="3600"/>
              <a:t>Mapping</a:t>
            </a:r>
            <a:r>
              <a:rPr dirty="0" sz="3600" spc="-60"/>
              <a:t> </a:t>
            </a:r>
            <a:r>
              <a:rPr dirty="0" sz="3600"/>
              <a:t>by</a:t>
            </a:r>
            <a:r>
              <a:rPr dirty="0" sz="3600" spc="-60"/>
              <a:t> </a:t>
            </a:r>
            <a:r>
              <a:rPr dirty="0" sz="3600" spc="-25"/>
              <a:t>RBF</a:t>
            </a:r>
            <a:endParaRPr sz="3600"/>
          </a:p>
        </p:txBody>
      </p:sp>
      <p:sp>
        <p:nvSpPr>
          <p:cNvPr id="10" name="object 10" descr=""/>
          <p:cNvSpPr txBox="1"/>
          <p:nvPr/>
        </p:nvSpPr>
        <p:spPr>
          <a:xfrm>
            <a:off x="762952" y="730250"/>
            <a:ext cx="22377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 b="1">
                <a:solidFill>
                  <a:srgbClr val="800000"/>
                </a:solidFill>
                <a:latin typeface="Tahoma"/>
                <a:cs typeface="Tahoma"/>
              </a:rPr>
              <a:t>Networks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323850" y="1700809"/>
            <a:ext cx="8496300" cy="4608830"/>
          </a:xfrm>
          <a:custGeom>
            <a:avLst/>
            <a:gdLst/>
            <a:ahLst/>
            <a:cxnLst/>
            <a:rect l="l" t="t" r="r" b="b"/>
            <a:pathLst>
              <a:path w="8496300" h="4608830">
                <a:moveTo>
                  <a:pt x="8496300" y="0"/>
                </a:moveTo>
                <a:lnTo>
                  <a:pt x="0" y="0"/>
                </a:lnTo>
                <a:lnTo>
                  <a:pt x="0" y="4608512"/>
                </a:lnTo>
                <a:lnTo>
                  <a:pt x="8496300" y="4608512"/>
                </a:lnTo>
                <a:lnTo>
                  <a:pt x="8496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402590" y="1716049"/>
            <a:ext cx="8308340" cy="1731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u="heavy" sz="2800" spc="-2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radial-</a:t>
            </a:r>
            <a:r>
              <a:rPr dirty="0" u="heavy" sz="2800" spc="6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basis</a:t>
            </a:r>
            <a:r>
              <a:rPr dirty="0" u="heavy" sz="2800" spc="-4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800" spc="-2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function</a:t>
            </a:r>
            <a:r>
              <a:rPr dirty="0" u="heavy" sz="2800" spc="-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800" spc="-3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network</a:t>
            </a:r>
            <a:r>
              <a:rPr dirty="0" u="heavy" sz="2800" spc="-4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models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the interpolation</a:t>
            </a:r>
            <a:r>
              <a:rPr dirty="0" sz="2800" spc="-11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function</a:t>
            </a:r>
            <a:r>
              <a:rPr dirty="0" sz="2800" spc="-105">
                <a:latin typeface="Tahoma"/>
                <a:cs typeface="Tahoma"/>
              </a:rPr>
              <a:t> </a:t>
            </a:r>
            <a:r>
              <a:rPr dirty="0" sz="2800" spc="229">
                <a:latin typeface="Tahoma"/>
                <a:cs typeface="Tahoma"/>
              </a:rPr>
              <a:t>F</a:t>
            </a:r>
            <a:r>
              <a:rPr dirty="0" sz="2800" spc="-105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as</a:t>
            </a:r>
            <a:r>
              <a:rPr dirty="0" sz="2800" spc="-105">
                <a:latin typeface="Tahoma"/>
                <a:cs typeface="Tahoma"/>
              </a:rPr>
              <a:t> </a:t>
            </a:r>
            <a:r>
              <a:rPr dirty="0" sz="2800" spc="70">
                <a:latin typeface="Tahoma"/>
                <a:cs typeface="Tahoma"/>
              </a:rPr>
              <a:t>a</a:t>
            </a:r>
            <a:r>
              <a:rPr dirty="0" sz="2800" spc="-10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linear</a:t>
            </a:r>
            <a:r>
              <a:rPr dirty="0" sz="2800" spc="-11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superposition</a:t>
            </a:r>
            <a:r>
              <a:rPr dirty="0" sz="2800" spc="-10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of </a:t>
            </a:r>
            <a:r>
              <a:rPr dirty="0" sz="2800" spc="70">
                <a:latin typeface="Tahoma"/>
                <a:cs typeface="Tahoma"/>
              </a:rPr>
              <a:t>a</a:t>
            </a:r>
            <a:r>
              <a:rPr dirty="0" sz="2800" spc="-170">
                <a:latin typeface="Tahoma"/>
                <a:cs typeface="Tahoma"/>
              </a:rPr>
              <a:t> </a:t>
            </a:r>
            <a:r>
              <a:rPr dirty="0" sz="2800" b="1" i="1">
                <a:solidFill>
                  <a:srgbClr val="0000FF"/>
                </a:solidFill>
                <a:latin typeface="Arial"/>
                <a:cs typeface="Arial"/>
              </a:rPr>
              <a:t>finite</a:t>
            </a:r>
            <a:r>
              <a:rPr dirty="0" sz="2800" spc="-7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800" b="1" i="1">
                <a:solidFill>
                  <a:srgbClr val="0000FF"/>
                </a:solidFill>
                <a:latin typeface="Arial"/>
                <a:cs typeface="Arial"/>
              </a:rPr>
              <a:t>number</a:t>
            </a:r>
            <a:r>
              <a:rPr dirty="0" sz="2800" spc="-7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800" b="1" i="1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dirty="0" sz="2800" spc="-7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800" b="1" i="1">
                <a:solidFill>
                  <a:srgbClr val="0000FF"/>
                </a:solidFill>
                <a:latin typeface="Arial"/>
                <a:cs typeface="Arial"/>
              </a:rPr>
              <a:t>multivariate</a:t>
            </a:r>
            <a:r>
              <a:rPr dirty="0" sz="2800" spc="-7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800" b="1" i="1">
                <a:solidFill>
                  <a:srgbClr val="0000FF"/>
                </a:solidFill>
                <a:latin typeface="Arial"/>
                <a:cs typeface="Arial"/>
              </a:rPr>
              <a:t>Gaussians</a:t>
            </a:r>
            <a:r>
              <a:rPr dirty="0" sz="2800" spc="-7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800" spc="80">
                <a:latin typeface="Tahoma"/>
                <a:cs typeface="Tahoma"/>
              </a:rPr>
              <a:t>as </a:t>
            </a:r>
            <a:r>
              <a:rPr dirty="0" sz="2800" spc="-10">
                <a:latin typeface="Tahoma"/>
                <a:cs typeface="Tahoma"/>
              </a:rPr>
              <a:t>follows: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45490" y="6323609"/>
            <a:ext cx="14674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Tahoma"/>
                <a:cs typeface="Tahoma"/>
              </a:rPr>
              <a:t>advance.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13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820159" y="4014470"/>
            <a:ext cx="29210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90" i="1">
                <a:latin typeface="Cambria"/>
                <a:cs typeface="Cambria"/>
              </a:rPr>
              <a:t>i=1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883659" y="3378200"/>
            <a:ext cx="16573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20" i="1">
                <a:latin typeface="Cambria"/>
                <a:cs typeface="Cambria"/>
              </a:rPr>
              <a:t>M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107304" y="3481070"/>
            <a:ext cx="964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543" sz="2700" spc="254" i="1">
                <a:latin typeface="Cambria"/>
                <a:cs typeface="Cambria"/>
              </a:rPr>
              <a:t>ǁ</a:t>
            </a:r>
            <a:r>
              <a:rPr dirty="0" sz="1800" spc="170" i="1">
                <a:latin typeface="Cambria"/>
                <a:cs typeface="Cambria"/>
              </a:rPr>
              <a:t>x</a:t>
            </a:r>
            <a:r>
              <a:rPr dirty="0" sz="1800" spc="10" i="1">
                <a:latin typeface="Cambria"/>
                <a:cs typeface="Cambria"/>
              </a:rPr>
              <a:t> </a:t>
            </a:r>
            <a:r>
              <a:rPr dirty="0" sz="1800" spc="385" i="1">
                <a:latin typeface="Cambria"/>
                <a:cs typeface="Cambria"/>
              </a:rPr>
              <a:t>−</a:t>
            </a:r>
            <a:r>
              <a:rPr dirty="0" sz="1800" spc="5" i="1">
                <a:latin typeface="Cambria"/>
                <a:cs typeface="Cambria"/>
              </a:rPr>
              <a:t> </a:t>
            </a:r>
            <a:r>
              <a:rPr dirty="0" sz="1800" spc="80" i="1">
                <a:latin typeface="Cambria"/>
                <a:cs typeface="Cambria"/>
              </a:rPr>
              <a:t>t</a:t>
            </a:r>
            <a:r>
              <a:rPr dirty="0" sz="1800" spc="125" i="1">
                <a:latin typeface="Cambria"/>
                <a:cs typeface="Cambria"/>
              </a:rPr>
              <a:t> </a:t>
            </a:r>
            <a:r>
              <a:rPr dirty="0" baseline="1543" sz="2700" spc="157" i="1">
                <a:latin typeface="Cambria"/>
                <a:cs typeface="Cambria"/>
              </a:rPr>
              <a:t>ǁ</a:t>
            </a:r>
            <a:r>
              <a:rPr dirty="0" baseline="27777" sz="1950" spc="157" i="1">
                <a:latin typeface="Cambria"/>
                <a:cs typeface="Cambria"/>
              </a:rPr>
              <a:t>2</a:t>
            </a:r>
            <a:endParaRPr baseline="27777" sz="195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659754" y="3940809"/>
            <a:ext cx="8318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50" i="1">
                <a:latin typeface="Cambria"/>
                <a:cs typeface="Cambria"/>
              </a:rPr>
              <a:t>i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374004" y="3821429"/>
            <a:ext cx="431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 i="1">
                <a:latin typeface="Cambria"/>
                <a:cs typeface="Cambria"/>
              </a:rPr>
              <a:t>2σ</a:t>
            </a:r>
            <a:r>
              <a:rPr dirty="0" baseline="32051" sz="1950" spc="-37" i="1">
                <a:latin typeface="Cambria"/>
                <a:cs typeface="Cambria"/>
              </a:rPr>
              <a:t>2</a:t>
            </a:r>
            <a:endParaRPr baseline="32051" sz="1950">
              <a:latin typeface="Cambria"/>
              <a:cs typeface="Cambr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128645" y="3642370"/>
            <a:ext cx="3083560" cy="3136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  <a:tabLst>
                <a:tab pos="2621915" algn="l"/>
                <a:tab pos="2913380" algn="l"/>
              </a:tabLst>
            </a:pPr>
            <a:r>
              <a:rPr dirty="0" sz="1850" spc="270" i="1">
                <a:latin typeface="Cambria"/>
                <a:cs typeface="Cambria"/>
              </a:rPr>
              <a:t>F(x)=</a:t>
            </a:r>
            <a:r>
              <a:rPr dirty="0" sz="1800" spc="270" i="1">
                <a:latin typeface="Cambria"/>
                <a:cs typeface="Cambria"/>
              </a:rPr>
              <a:t>Σw</a:t>
            </a:r>
            <a:r>
              <a:rPr dirty="0" baseline="-14957" sz="1950" spc="405" i="1">
                <a:latin typeface="Cambria"/>
                <a:cs typeface="Cambria"/>
              </a:rPr>
              <a:t>i</a:t>
            </a:r>
            <a:r>
              <a:rPr dirty="0" sz="1800" spc="270" i="1">
                <a:latin typeface="Cambria"/>
                <a:cs typeface="Cambria"/>
              </a:rPr>
              <a:t>exp</a:t>
            </a:r>
            <a:r>
              <a:rPr dirty="0" sz="1800" spc="30" i="1">
                <a:latin typeface="Cambria"/>
                <a:cs typeface="Cambria"/>
              </a:rPr>
              <a:t> </a:t>
            </a:r>
            <a:r>
              <a:rPr dirty="0" sz="1800" spc="365" i="1">
                <a:latin typeface="Cambria"/>
                <a:cs typeface="Cambria"/>
              </a:rPr>
              <a:t>(−</a:t>
            </a:r>
            <a:r>
              <a:rPr dirty="0" sz="1800" spc="175" i="1">
                <a:latin typeface="Cambria"/>
                <a:cs typeface="Cambria"/>
              </a:rPr>
              <a:t> </a:t>
            </a:r>
            <a:r>
              <a:rPr dirty="0" u="heavy" baseline="42735" sz="1950" i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dirty="0" u="heavy" baseline="42735" sz="1950" spc="75" i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</a:t>
            </a:r>
            <a:r>
              <a:rPr dirty="0" u="heavy" baseline="42735" sz="1950" i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dirty="0" sz="1800" spc="300" i="1">
                <a:latin typeface="Cambria"/>
                <a:cs typeface="Cambria"/>
              </a:rPr>
              <a:t>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386508" y="1007847"/>
            <a:ext cx="3427095" cy="510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800"/>
              </a:lnSpc>
              <a:spcBef>
                <a:spcPts val="95"/>
              </a:spcBef>
            </a:pPr>
            <a:r>
              <a:rPr dirty="0" sz="1350">
                <a:latin typeface="Times New Roman"/>
                <a:cs typeface="Times New Roman"/>
              </a:rPr>
              <a:t>RBF </a:t>
            </a:r>
            <a:r>
              <a:rPr dirty="0" sz="1350">
                <a:latin typeface="Microsoft JhengHei UI"/>
                <a:cs typeface="Microsoft JhengHei UI"/>
              </a:rPr>
              <a:t>⽹络将插值函数 </a:t>
            </a:r>
            <a:r>
              <a:rPr dirty="0" sz="1350">
                <a:latin typeface="Times New Roman"/>
                <a:cs typeface="Times New Roman"/>
              </a:rPr>
              <a:t>F </a:t>
            </a:r>
            <a:r>
              <a:rPr dirty="0" sz="1350">
                <a:latin typeface="Microsoft JhengHei UI"/>
                <a:cs typeface="Microsoft JhengHei UI"/>
              </a:rPr>
              <a:t>建模为</a:t>
            </a:r>
            <a:r>
              <a:rPr dirty="0" sz="1350">
                <a:latin typeface="Times New Roman"/>
                <a:cs typeface="Times New Roman"/>
              </a:rPr>
              <a:t>“</a:t>
            </a:r>
            <a:r>
              <a:rPr dirty="0" sz="1350" spc="-10">
                <a:latin typeface="Microsoft JhengHei UI"/>
                <a:cs typeface="Microsoft JhengHei UI"/>
              </a:rPr>
              <a:t>有限数量的多</a:t>
            </a:r>
            <a:r>
              <a:rPr dirty="0" sz="1350">
                <a:latin typeface="Microsoft JhengHei UI"/>
                <a:cs typeface="Microsoft JhengHei UI"/>
              </a:rPr>
              <a:t>变量⾼斯函数</a:t>
            </a:r>
            <a:r>
              <a:rPr dirty="0" sz="1350">
                <a:latin typeface="Times New Roman"/>
                <a:cs typeface="Times New Roman"/>
              </a:rPr>
              <a:t>”</a:t>
            </a:r>
            <a:r>
              <a:rPr dirty="0" sz="1350">
                <a:latin typeface="Microsoft JhengHei UI"/>
                <a:cs typeface="Microsoft JhengHei UI"/>
              </a:rPr>
              <a:t>的</a:t>
            </a:r>
            <a:r>
              <a:rPr dirty="0" sz="1350">
                <a:latin typeface="Times New Roman"/>
                <a:cs typeface="Times New Roman"/>
              </a:rPr>
              <a:t>“</a:t>
            </a:r>
            <a:r>
              <a:rPr dirty="0" sz="1350">
                <a:latin typeface="Microsoft JhengHei UI"/>
                <a:cs typeface="Microsoft JhengHei UI"/>
              </a:rPr>
              <a:t>线性叠加</a:t>
            </a:r>
            <a:r>
              <a:rPr dirty="0" sz="1350">
                <a:latin typeface="Times New Roman"/>
                <a:cs typeface="Times New Roman"/>
              </a:rPr>
              <a:t>”</a:t>
            </a:r>
            <a:r>
              <a:rPr dirty="0" sz="1350">
                <a:latin typeface="Microsoft JhengHei UI"/>
                <a:cs typeface="Microsoft JhengHei UI"/>
              </a:rPr>
              <a:t>（即加权求和</a:t>
            </a:r>
            <a:r>
              <a:rPr dirty="0" sz="1350" spc="-50">
                <a:latin typeface="Microsoft JhengHei UI"/>
                <a:cs typeface="Microsoft JhengHei UI"/>
              </a:rPr>
              <a:t>）</a:t>
            </a:r>
            <a:endParaRPr sz="1350">
              <a:latin typeface="Microsoft JhengHei UI"/>
              <a:cs typeface="Microsoft JhengHei UI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2232444" y="2920860"/>
            <a:ext cx="6177915" cy="386715"/>
            <a:chOff x="2232444" y="2920860"/>
            <a:chExt cx="6177915" cy="386715"/>
          </a:xfrm>
        </p:grpSpPr>
        <p:sp>
          <p:nvSpPr>
            <p:cNvPr id="23" name="object 23" descr=""/>
            <p:cNvSpPr/>
            <p:nvPr/>
          </p:nvSpPr>
          <p:spPr>
            <a:xfrm>
              <a:off x="2354402" y="3023565"/>
              <a:ext cx="24130" cy="26670"/>
            </a:xfrm>
            <a:custGeom>
              <a:avLst/>
              <a:gdLst/>
              <a:ahLst/>
              <a:cxnLst/>
              <a:rect l="l" t="t" r="r" b="b"/>
              <a:pathLst>
                <a:path w="24130" h="26669">
                  <a:moveTo>
                    <a:pt x="12496" y="0"/>
                  </a:moveTo>
                  <a:lnTo>
                    <a:pt x="6307" y="0"/>
                  </a:lnTo>
                  <a:lnTo>
                    <a:pt x="4394" y="165"/>
                  </a:lnTo>
                  <a:lnTo>
                    <a:pt x="0" y="4457"/>
                  </a:lnTo>
                  <a:lnTo>
                    <a:pt x="126" y="7734"/>
                  </a:lnTo>
                  <a:lnTo>
                    <a:pt x="19507" y="26593"/>
                  </a:lnTo>
                  <a:lnTo>
                    <a:pt x="21653" y="26225"/>
                  </a:lnTo>
                  <a:lnTo>
                    <a:pt x="23812" y="23202"/>
                  </a:lnTo>
                  <a:lnTo>
                    <a:pt x="23520" y="21145"/>
                  </a:lnTo>
                  <a:lnTo>
                    <a:pt x="18707" y="17335"/>
                  </a:lnTo>
                  <a:lnTo>
                    <a:pt x="15354" y="14566"/>
                  </a:lnTo>
                  <a:lnTo>
                    <a:pt x="11303" y="10490"/>
                  </a:lnTo>
                  <a:lnTo>
                    <a:pt x="10325" y="9436"/>
                  </a:lnTo>
                  <a:lnTo>
                    <a:pt x="8775" y="7365"/>
                  </a:lnTo>
                  <a:lnTo>
                    <a:pt x="12790" y="7365"/>
                  </a:lnTo>
                  <a:lnTo>
                    <a:pt x="14249" y="5829"/>
                  </a:lnTo>
                  <a:lnTo>
                    <a:pt x="14147" y="1650"/>
                  </a:lnTo>
                  <a:lnTo>
                    <a:pt x="12496" y="0"/>
                  </a:lnTo>
                  <a:close/>
                </a:path>
                <a:path w="24130" h="26669">
                  <a:moveTo>
                    <a:pt x="12790" y="7365"/>
                  </a:moveTo>
                  <a:lnTo>
                    <a:pt x="8775" y="7365"/>
                  </a:lnTo>
                  <a:lnTo>
                    <a:pt x="9784" y="7734"/>
                  </a:lnTo>
                  <a:lnTo>
                    <a:pt x="12440" y="7734"/>
                  </a:lnTo>
                  <a:lnTo>
                    <a:pt x="12790" y="73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32444" y="2920860"/>
              <a:ext cx="3268218" cy="386372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72072" y="2990392"/>
              <a:ext cx="418771" cy="252984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90907" y="2978096"/>
              <a:ext cx="1156990" cy="318162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23010" y="3000400"/>
              <a:ext cx="1087221" cy="304634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377190" y="4412015"/>
            <a:ext cx="7664450" cy="19367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576320">
              <a:lnSpc>
                <a:spcPts val="1335"/>
              </a:lnSpc>
              <a:spcBef>
                <a:spcPts val="110"/>
              </a:spcBef>
            </a:pPr>
            <a:r>
              <a:rPr dirty="0" sz="1350" spc="20">
                <a:latin typeface="Microsoft JhengHei UI"/>
                <a:cs typeface="Microsoft JhengHei UI"/>
              </a:rPr>
              <a:t>函数的数量 </a:t>
            </a:r>
            <a:r>
              <a:rPr dirty="0" sz="1350">
                <a:latin typeface="Microsoft JhengHei UI"/>
                <a:cs typeface="Microsoft JhengHei UI"/>
              </a:rPr>
              <a:t>M</a:t>
            </a:r>
            <a:r>
              <a:rPr dirty="0" sz="1350" spc="10">
                <a:latin typeface="Microsoft JhengHei UI"/>
                <a:cs typeface="Microsoft JhengHei UI"/>
              </a:rPr>
              <a:t> ⼩于 训练集中的数据点数量 </a:t>
            </a:r>
            <a:r>
              <a:rPr dirty="0" sz="1350" spc="-50">
                <a:latin typeface="Microsoft JhengHei UI"/>
                <a:cs typeface="Microsoft JhengHei UI"/>
              </a:rPr>
              <a:t>N</a:t>
            </a:r>
            <a:endParaRPr sz="1350">
              <a:latin typeface="Microsoft JhengHei UI"/>
              <a:cs typeface="Microsoft JhengHei UI"/>
            </a:endParaRPr>
          </a:p>
          <a:p>
            <a:pPr marL="371475">
              <a:lnSpc>
                <a:spcPts val="3010"/>
              </a:lnSpc>
            </a:pPr>
            <a:r>
              <a:rPr dirty="0" sz="2800" spc="-30">
                <a:latin typeface="Tahoma"/>
                <a:cs typeface="Tahoma"/>
              </a:rPr>
              <a:t>where: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i="1">
                <a:latin typeface="Arial"/>
                <a:cs typeface="Arial"/>
              </a:rPr>
              <a:t>w</a:t>
            </a:r>
            <a:r>
              <a:rPr dirty="0" baseline="-16975" sz="2700" i="1">
                <a:latin typeface="Arial"/>
                <a:cs typeface="Arial"/>
              </a:rPr>
              <a:t>i</a:t>
            </a:r>
            <a:r>
              <a:rPr dirty="0" baseline="-16975" sz="2700" spc="352" i="1">
                <a:latin typeface="Arial"/>
                <a:cs typeface="Arial"/>
              </a:rPr>
              <a:t> </a:t>
            </a:r>
            <a:r>
              <a:rPr dirty="0" sz="2800">
                <a:latin typeface="Tahoma"/>
                <a:cs typeface="Tahoma"/>
              </a:rPr>
              <a:t>are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weights,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number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of</a:t>
            </a:r>
            <a:endParaRPr sz="2800">
              <a:latin typeface="Tahoma"/>
              <a:cs typeface="Tahoma"/>
            </a:endParaRPr>
          </a:p>
          <a:p>
            <a:pPr marL="381000" marR="203200">
              <a:lnSpc>
                <a:spcPts val="3360"/>
              </a:lnSpc>
              <a:spcBef>
                <a:spcPts val="50"/>
              </a:spcBef>
            </a:pPr>
            <a:r>
              <a:rPr dirty="0" sz="2800" spc="60">
                <a:latin typeface="Tahoma"/>
                <a:cs typeface="Tahoma"/>
              </a:rPr>
              <a:t>basis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functions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150">
                <a:latin typeface="Tahoma"/>
                <a:cs typeface="Tahoma"/>
              </a:rPr>
              <a:t>M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dirty="0" sz="2800" spc="-5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less</a:t>
            </a:r>
            <a:r>
              <a:rPr dirty="0" sz="2800" spc="-4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than</a:t>
            </a:r>
            <a:r>
              <a:rPr dirty="0" sz="2800" spc="-5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number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of </a:t>
            </a:r>
            <a:r>
              <a:rPr dirty="0" sz="2800">
                <a:latin typeface="Tahoma"/>
                <a:cs typeface="Tahoma"/>
              </a:rPr>
              <a:t>points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training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set,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i.e.,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b="1" i="1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dirty="0" sz="2800" spc="-55" b="1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FF0000"/>
                </a:solidFill>
                <a:latin typeface="Arial"/>
                <a:cs typeface="Arial"/>
              </a:rPr>
              <a:t>&lt;</a:t>
            </a:r>
            <a:r>
              <a:rPr dirty="0" sz="2800" spc="-5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spc="-25" b="1" i="1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dirty="0" sz="2800" spc="-25"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spcBef>
                <a:spcPts val="555"/>
              </a:spcBef>
              <a:buClr>
                <a:srgbClr val="3333CC"/>
              </a:buClr>
              <a:buSzPct val="58928"/>
              <a:buChar char="■"/>
              <a:tabLst>
                <a:tab pos="380365" algn="l"/>
              </a:tabLst>
            </a:pP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 spc="60">
                <a:latin typeface="Tahoma"/>
                <a:cs typeface="Tahoma"/>
              </a:rPr>
              <a:t>basis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function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centers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 b="1">
                <a:latin typeface="Arial"/>
                <a:cs typeface="Arial"/>
              </a:rPr>
              <a:t>t</a:t>
            </a:r>
            <a:r>
              <a:rPr dirty="0" baseline="-16975" sz="2700" i="1">
                <a:latin typeface="Arial"/>
                <a:cs typeface="Arial"/>
              </a:rPr>
              <a:t>i</a:t>
            </a:r>
            <a:r>
              <a:rPr dirty="0" baseline="-16975" sz="2700" spc="15" i="1">
                <a:latin typeface="Arial"/>
                <a:cs typeface="Arial"/>
              </a:rPr>
              <a:t> </a:t>
            </a:r>
            <a:r>
              <a:rPr dirty="0" sz="2800">
                <a:latin typeface="Tahoma"/>
                <a:cs typeface="Tahoma"/>
              </a:rPr>
              <a:t>are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determined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in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2537183" y="6255849"/>
            <a:ext cx="3868420" cy="420370"/>
            <a:chOff x="2537183" y="6255849"/>
            <a:chExt cx="3868420" cy="420370"/>
          </a:xfrm>
        </p:grpSpPr>
        <p:pic>
          <p:nvPicPr>
            <p:cNvPr id="30" name="object 3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37183" y="6255849"/>
              <a:ext cx="1105824" cy="404032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16604" y="6350978"/>
              <a:ext cx="475081" cy="313325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94632" y="6288157"/>
              <a:ext cx="1969744" cy="387531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6383007" y="6604381"/>
              <a:ext cx="22225" cy="38735"/>
            </a:xfrm>
            <a:custGeom>
              <a:avLst/>
              <a:gdLst/>
              <a:ahLst/>
              <a:cxnLst/>
              <a:rect l="l" t="t" r="r" b="b"/>
              <a:pathLst>
                <a:path w="22225" h="38734">
                  <a:moveTo>
                    <a:pt x="7302" y="0"/>
                  </a:moveTo>
                  <a:lnTo>
                    <a:pt x="4660" y="1826"/>
                  </a:lnTo>
                  <a:lnTo>
                    <a:pt x="1676" y="11410"/>
                  </a:lnTo>
                  <a:lnTo>
                    <a:pt x="0" y="19081"/>
                  </a:lnTo>
                  <a:lnTo>
                    <a:pt x="3505" y="32912"/>
                  </a:lnTo>
                  <a:lnTo>
                    <a:pt x="9271" y="38313"/>
                  </a:lnTo>
                  <a:lnTo>
                    <a:pt x="19773" y="36744"/>
                  </a:lnTo>
                  <a:lnTo>
                    <a:pt x="21983" y="33755"/>
                  </a:lnTo>
                  <a:lnTo>
                    <a:pt x="21234" y="28723"/>
                  </a:lnTo>
                  <a:lnTo>
                    <a:pt x="20116" y="27133"/>
                  </a:lnTo>
                  <a:lnTo>
                    <a:pt x="17246" y="25568"/>
                  </a:lnTo>
                  <a:lnTo>
                    <a:pt x="15494" y="17547"/>
                  </a:lnTo>
                  <a:lnTo>
                    <a:pt x="15798" y="12047"/>
                  </a:lnTo>
                  <a:lnTo>
                    <a:pt x="16332" y="3383"/>
                  </a:lnTo>
                  <a:lnTo>
                    <a:pt x="13690" y="391"/>
                  </a:lnTo>
                  <a:lnTo>
                    <a:pt x="73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700" y="82860"/>
            <a:ext cx="1655345" cy="31049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9808" y="59975"/>
            <a:ext cx="1187137" cy="36237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1154" y="632783"/>
            <a:ext cx="46301" cy="61849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623104" y="460137"/>
            <a:ext cx="3190240" cy="757555"/>
            <a:chOff x="623104" y="460137"/>
            <a:chExt cx="3190240" cy="757555"/>
          </a:xfrm>
        </p:grpSpPr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3104" y="460137"/>
              <a:ext cx="2497068" cy="75741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034" y="500717"/>
              <a:ext cx="1001863" cy="309914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3901989" y="766089"/>
            <a:ext cx="15875" cy="35560"/>
          </a:xfrm>
          <a:custGeom>
            <a:avLst/>
            <a:gdLst/>
            <a:ahLst/>
            <a:cxnLst/>
            <a:rect l="l" t="t" r="r" b="b"/>
            <a:pathLst>
              <a:path w="15875" h="35559">
                <a:moveTo>
                  <a:pt x="13523" y="0"/>
                </a:moveTo>
                <a:lnTo>
                  <a:pt x="8765" y="0"/>
                </a:lnTo>
                <a:lnTo>
                  <a:pt x="7027" y="1629"/>
                </a:lnTo>
                <a:lnTo>
                  <a:pt x="6799" y="3736"/>
                </a:lnTo>
                <a:lnTo>
                  <a:pt x="5941" y="10301"/>
                </a:lnTo>
                <a:lnTo>
                  <a:pt x="4746" y="16839"/>
                </a:lnTo>
                <a:lnTo>
                  <a:pt x="3078" y="23260"/>
                </a:lnTo>
                <a:lnTo>
                  <a:pt x="803" y="29477"/>
                </a:lnTo>
                <a:lnTo>
                  <a:pt x="0" y="31345"/>
                </a:lnTo>
                <a:lnTo>
                  <a:pt x="858" y="33517"/>
                </a:lnTo>
                <a:lnTo>
                  <a:pt x="4170" y="34951"/>
                </a:lnTo>
                <a:lnTo>
                  <a:pt x="5832" y="34593"/>
                </a:lnTo>
                <a:lnTo>
                  <a:pt x="6836" y="33517"/>
                </a:lnTo>
                <a:lnTo>
                  <a:pt x="11355" y="26999"/>
                </a:lnTo>
                <a:lnTo>
                  <a:pt x="14063" y="19646"/>
                </a:lnTo>
                <a:lnTo>
                  <a:pt x="15320" y="11835"/>
                </a:lnTo>
                <a:lnTo>
                  <a:pt x="15303" y="1629"/>
                </a:lnTo>
                <a:lnTo>
                  <a:pt x="135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1929" y="1033320"/>
            <a:ext cx="47686" cy="63951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2926" y="880414"/>
            <a:ext cx="1486334" cy="36975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202970" y="939098"/>
            <a:ext cx="827398" cy="27541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144119" y="887413"/>
            <a:ext cx="1779837" cy="303796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988690" y="890472"/>
            <a:ext cx="319821" cy="294242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79889" y="881854"/>
            <a:ext cx="567438" cy="298114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7014701" y="888463"/>
            <a:ext cx="1436370" cy="342900"/>
            <a:chOff x="7014701" y="888463"/>
            <a:chExt cx="1436370" cy="342900"/>
          </a:xfrm>
        </p:grpSpPr>
        <p:pic>
          <p:nvPicPr>
            <p:cNvPr id="16" name="object 1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14701" y="888463"/>
              <a:ext cx="1380587" cy="342466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8413546" y="1113932"/>
              <a:ext cx="37465" cy="19685"/>
            </a:xfrm>
            <a:custGeom>
              <a:avLst/>
              <a:gdLst/>
              <a:ahLst/>
              <a:cxnLst/>
              <a:rect l="l" t="t" r="r" b="b"/>
              <a:pathLst>
                <a:path w="37465" h="19684">
                  <a:moveTo>
                    <a:pt x="5093" y="0"/>
                  </a:moveTo>
                  <a:lnTo>
                    <a:pt x="2356" y="564"/>
                  </a:lnTo>
                  <a:lnTo>
                    <a:pt x="0" y="4159"/>
                  </a:lnTo>
                  <a:lnTo>
                    <a:pt x="76" y="6201"/>
                  </a:lnTo>
                  <a:lnTo>
                    <a:pt x="34842" y="19539"/>
                  </a:lnTo>
                  <a:lnTo>
                    <a:pt x="36656" y="18116"/>
                  </a:lnTo>
                  <a:lnTo>
                    <a:pt x="37102" y="14391"/>
                  </a:lnTo>
                  <a:lnTo>
                    <a:pt x="36059" y="12751"/>
                  </a:lnTo>
                  <a:lnTo>
                    <a:pt x="28467" y="10307"/>
                  </a:lnTo>
                  <a:lnTo>
                    <a:pt x="22558" y="8319"/>
                  </a:lnTo>
                  <a:lnTo>
                    <a:pt x="10100" y="3290"/>
                  </a:lnTo>
                  <a:lnTo>
                    <a:pt x="50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" name="object 18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90258" y="1518274"/>
            <a:ext cx="39227" cy="65278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15982" y="1477470"/>
            <a:ext cx="613296" cy="249103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301282" y="1408370"/>
            <a:ext cx="840832" cy="320299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236697" y="1425759"/>
            <a:ext cx="1208986" cy="303996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540914" y="1376499"/>
            <a:ext cx="628957" cy="306748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237190" y="1363741"/>
            <a:ext cx="1131842" cy="342347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452675" y="1465099"/>
            <a:ext cx="251992" cy="228521"/>
          </a:xfrm>
          <a:prstGeom prst="rect">
            <a:avLst/>
          </a:prstGeom>
        </p:spPr>
      </p:pic>
      <p:grpSp>
        <p:nvGrpSpPr>
          <p:cNvPr id="25" name="object 25" descr=""/>
          <p:cNvGrpSpPr/>
          <p:nvPr/>
        </p:nvGrpSpPr>
        <p:grpSpPr>
          <a:xfrm>
            <a:off x="5792295" y="1361667"/>
            <a:ext cx="3254375" cy="383540"/>
            <a:chOff x="5792295" y="1361667"/>
            <a:chExt cx="3254375" cy="383540"/>
          </a:xfrm>
        </p:grpSpPr>
        <p:pic>
          <p:nvPicPr>
            <p:cNvPr id="26" name="object 2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792295" y="1361667"/>
              <a:ext cx="3210421" cy="383479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9040622" y="1686234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4626" y="0"/>
                  </a:moveTo>
                  <a:lnTo>
                    <a:pt x="1335" y="0"/>
                  </a:lnTo>
                  <a:lnTo>
                    <a:pt x="0" y="1335"/>
                  </a:lnTo>
                  <a:lnTo>
                    <a:pt x="0" y="2975"/>
                  </a:lnTo>
                  <a:lnTo>
                    <a:pt x="0" y="4626"/>
                  </a:lnTo>
                  <a:lnTo>
                    <a:pt x="1335" y="5962"/>
                  </a:lnTo>
                  <a:lnTo>
                    <a:pt x="4626" y="5962"/>
                  </a:lnTo>
                  <a:lnTo>
                    <a:pt x="5962" y="4626"/>
                  </a:lnTo>
                  <a:lnTo>
                    <a:pt x="5962" y="1335"/>
                  </a:lnTo>
                  <a:lnTo>
                    <a:pt x="46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8" name="object 28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18281" y="1939552"/>
            <a:ext cx="604041" cy="295437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99579" y="2538660"/>
            <a:ext cx="32142" cy="61420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47690" y="2536129"/>
            <a:ext cx="122005" cy="18507"/>
          </a:xfrm>
          <a:prstGeom prst="rect">
            <a:avLst/>
          </a:prstGeom>
        </p:spPr>
      </p:pic>
      <p:grpSp>
        <p:nvGrpSpPr>
          <p:cNvPr id="31" name="object 31" descr=""/>
          <p:cNvGrpSpPr/>
          <p:nvPr/>
        </p:nvGrpSpPr>
        <p:grpSpPr>
          <a:xfrm>
            <a:off x="741677" y="1894173"/>
            <a:ext cx="3450590" cy="770255"/>
            <a:chOff x="741677" y="1894173"/>
            <a:chExt cx="3450590" cy="770255"/>
          </a:xfrm>
        </p:grpSpPr>
        <p:pic>
          <p:nvPicPr>
            <p:cNvPr id="32" name="object 3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18654" y="1894173"/>
              <a:ext cx="3273192" cy="770140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41677" y="2375698"/>
              <a:ext cx="1330523" cy="287866"/>
            </a:xfrm>
            <a:prstGeom prst="rect">
              <a:avLst/>
            </a:prstGeom>
          </p:spPr>
        </p:pic>
      </p:grpSp>
      <p:sp>
        <p:nvSpPr>
          <p:cNvPr id="34" name="object 34" descr=""/>
          <p:cNvSpPr/>
          <p:nvPr/>
        </p:nvSpPr>
        <p:spPr>
          <a:xfrm>
            <a:off x="4287651" y="2556364"/>
            <a:ext cx="34290" cy="45720"/>
          </a:xfrm>
          <a:custGeom>
            <a:avLst/>
            <a:gdLst/>
            <a:ahLst/>
            <a:cxnLst/>
            <a:rect l="l" t="t" r="r" b="b"/>
            <a:pathLst>
              <a:path w="34289" h="45719">
                <a:moveTo>
                  <a:pt x="33465" y="5658"/>
                </a:moveTo>
                <a:lnTo>
                  <a:pt x="25730" y="5658"/>
                </a:lnTo>
                <a:lnTo>
                  <a:pt x="27359" y="8059"/>
                </a:lnTo>
                <a:lnTo>
                  <a:pt x="26249" y="10263"/>
                </a:lnTo>
                <a:lnTo>
                  <a:pt x="54" y="40892"/>
                </a:lnTo>
                <a:lnTo>
                  <a:pt x="0" y="42880"/>
                </a:lnTo>
                <a:lnTo>
                  <a:pt x="2431" y="45421"/>
                </a:lnTo>
                <a:lnTo>
                  <a:pt x="4366" y="45421"/>
                </a:lnTo>
                <a:lnTo>
                  <a:pt x="32866" y="10263"/>
                </a:lnTo>
                <a:lnTo>
                  <a:pt x="33756" y="5984"/>
                </a:lnTo>
                <a:lnTo>
                  <a:pt x="33465" y="5658"/>
                </a:lnTo>
                <a:close/>
              </a:path>
              <a:path w="34289" h="45719">
                <a:moveTo>
                  <a:pt x="25998" y="0"/>
                </a:moveTo>
                <a:lnTo>
                  <a:pt x="19506" y="0"/>
                </a:lnTo>
                <a:lnTo>
                  <a:pt x="18203" y="1368"/>
                </a:lnTo>
                <a:lnTo>
                  <a:pt x="18301" y="4659"/>
                </a:lnTo>
                <a:lnTo>
                  <a:pt x="19692" y="5984"/>
                </a:lnTo>
                <a:lnTo>
                  <a:pt x="21087" y="5984"/>
                </a:lnTo>
                <a:lnTo>
                  <a:pt x="25730" y="5658"/>
                </a:lnTo>
                <a:lnTo>
                  <a:pt x="33465" y="5658"/>
                </a:lnTo>
                <a:lnTo>
                  <a:pt x="28619" y="238"/>
                </a:lnTo>
                <a:lnTo>
                  <a:pt x="259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object 35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434518" y="2289654"/>
            <a:ext cx="2646773" cy="316660"/>
          </a:xfrm>
          <a:prstGeom prst="rect">
            <a:avLst/>
          </a:prstGeom>
        </p:spPr>
      </p:pic>
      <p:sp>
        <p:nvSpPr>
          <p:cNvPr id="36" name="object 36" descr=""/>
          <p:cNvSpPr/>
          <p:nvPr/>
        </p:nvSpPr>
        <p:spPr>
          <a:xfrm>
            <a:off x="412414" y="2940940"/>
            <a:ext cx="28575" cy="44450"/>
          </a:xfrm>
          <a:custGeom>
            <a:avLst/>
            <a:gdLst/>
            <a:ahLst/>
            <a:cxnLst/>
            <a:rect l="l" t="t" r="r" b="b"/>
            <a:pathLst>
              <a:path w="28575" h="44450">
                <a:moveTo>
                  <a:pt x="5832" y="43263"/>
                </a:moveTo>
                <a:lnTo>
                  <a:pt x="6720" y="43866"/>
                </a:lnTo>
                <a:lnTo>
                  <a:pt x="5652" y="43866"/>
                </a:lnTo>
                <a:lnTo>
                  <a:pt x="7407" y="43556"/>
                </a:lnTo>
                <a:lnTo>
                  <a:pt x="5832" y="43263"/>
                </a:lnTo>
                <a:close/>
              </a:path>
              <a:path w="28575" h="44450">
                <a:moveTo>
                  <a:pt x="5121" y="42781"/>
                </a:moveTo>
                <a:lnTo>
                  <a:pt x="5832" y="43263"/>
                </a:lnTo>
                <a:lnTo>
                  <a:pt x="9071" y="43866"/>
                </a:lnTo>
                <a:lnTo>
                  <a:pt x="7840" y="43556"/>
                </a:lnTo>
                <a:lnTo>
                  <a:pt x="5121" y="42781"/>
                </a:lnTo>
                <a:close/>
              </a:path>
              <a:path w="28575" h="44450">
                <a:moveTo>
                  <a:pt x="8944" y="43556"/>
                </a:moveTo>
                <a:lnTo>
                  <a:pt x="7840" y="43556"/>
                </a:lnTo>
                <a:lnTo>
                  <a:pt x="9071" y="43866"/>
                </a:lnTo>
                <a:lnTo>
                  <a:pt x="8405" y="43866"/>
                </a:lnTo>
                <a:lnTo>
                  <a:pt x="8944" y="43556"/>
                </a:lnTo>
                <a:close/>
              </a:path>
              <a:path w="28575" h="44450">
                <a:moveTo>
                  <a:pt x="9577" y="43263"/>
                </a:moveTo>
                <a:lnTo>
                  <a:pt x="8944" y="43556"/>
                </a:lnTo>
                <a:lnTo>
                  <a:pt x="8405" y="43866"/>
                </a:lnTo>
                <a:lnTo>
                  <a:pt x="8636" y="43866"/>
                </a:lnTo>
                <a:lnTo>
                  <a:pt x="9577" y="43263"/>
                </a:lnTo>
                <a:close/>
              </a:path>
              <a:path w="28575" h="44450">
                <a:moveTo>
                  <a:pt x="12361" y="40260"/>
                </a:moveTo>
                <a:lnTo>
                  <a:pt x="1405" y="40260"/>
                </a:lnTo>
                <a:lnTo>
                  <a:pt x="5121" y="42781"/>
                </a:lnTo>
                <a:lnTo>
                  <a:pt x="7817" y="43556"/>
                </a:lnTo>
                <a:lnTo>
                  <a:pt x="7407" y="43556"/>
                </a:lnTo>
                <a:lnTo>
                  <a:pt x="9066" y="43263"/>
                </a:lnTo>
                <a:lnTo>
                  <a:pt x="9452" y="43263"/>
                </a:lnTo>
                <a:lnTo>
                  <a:pt x="10734" y="42526"/>
                </a:lnTo>
                <a:lnTo>
                  <a:pt x="10972" y="42239"/>
                </a:lnTo>
                <a:lnTo>
                  <a:pt x="12059" y="40790"/>
                </a:lnTo>
                <a:lnTo>
                  <a:pt x="12361" y="40260"/>
                </a:lnTo>
                <a:close/>
              </a:path>
              <a:path w="28575" h="44450">
                <a:moveTo>
                  <a:pt x="9452" y="43263"/>
                </a:moveTo>
                <a:lnTo>
                  <a:pt x="9066" y="43263"/>
                </a:lnTo>
                <a:lnTo>
                  <a:pt x="7407" y="43556"/>
                </a:lnTo>
                <a:lnTo>
                  <a:pt x="8944" y="43556"/>
                </a:lnTo>
                <a:lnTo>
                  <a:pt x="9452" y="43263"/>
                </a:lnTo>
                <a:close/>
              </a:path>
              <a:path w="28575" h="44450">
                <a:moveTo>
                  <a:pt x="3271" y="42239"/>
                </a:moveTo>
                <a:lnTo>
                  <a:pt x="3766" y="42526"/>
                </a:lnTo>
                <a:lnTo>
                  <a:pt x="4261" y="42781"/>
                </a:lnTo>
                <a:lnTo>
                  <a:pt x="4062" y="42781"/>
                </a:lnTo>
                <a:lnTo>
                  <a:pt x="5550" y="43263"/>
                </a:lnTo>
                <a:lnTo>
                  <a:pt x="5832" y="43263"/>
                </a:lnTo>
                <a:lnTo>
                  <a:pt x="5121" y="42781"/>
                </a:lnTo>
                <a:lnTo>
                  <a:pt x="3271" y="42239"/>
                </a:lnTo>
                <a:close/>
              </a:path>
              <a:path w="28575" h="44450">
                <a:moveTo>
                  <a:pt x="10757" y="42526"/>
                </a:moveTo>
                <a:lnTo>
                  <a:pt x="9577" y="43263"/>
                </a:lnTo>
                <a:lnTo>
                  <a:pt x="10205" y="43263"/>
                </a:lnTo>
                <a:lnTo>
                  <a:pt x="10757" y="42526"/>
                </a:lnTo>
                <a:close/>
              </a:path>
              <a:path w="28575" h="44450">
                <a:moveTo>
                  <a:pt x="2002" y="33314"/>
                </a:moveTo>
                <a:lnTo>
                  <a:pt x="1357" y="34234"/>
                </a:lnTo>
                <a:lnTo>
                  <a:pt x="1037" y="34767"/>
                </a:lnTo>
                <a:lnTo>
                  <a:pt x="611" y="36192"/>
                </a:lnTo>
                <a:lnTo>
                  <a:pt x="319" y="36754"/>
                </a:lnTo>
                <a:lnTo>
                  <a:pt x="437" y="37441"/>
                </a:lnTo>
                <a:lnTo>
                  <a:pt x="540" y="37996"/>
                </a:lnTo>
                <a:lnTo>
                  <a:pt x="627" y="38459"/>
                </a:lnTo>
                <a:lnTo>
                  <a:pt x="5121" y="42781"/>
                </a:lnTo>
                <a:lnTo>
                  <a:pt x="1405" y="40260"/>
                </a:lnTo>
                <a:lnTo>
                  <a:pt x="1239" y="40260"/>
                </a:lnTo>
                <a:lnTo>
                  <a:pt x="173" y="39437"/>
                </a:lnTo>
                <a:lnTo>
                  <a:pt x="12456" y="40260"/>
                </a:lnTo>
                <a:lnTo>
                  <a:pt x="12688" y="39437"/>
                </a:lnTo>
                <a:lnTo>
                  <a:pt x="13168" y="39437"/>
                </a:lnTo>
                <a:lnTo>
                  <a:pt x="10215" y="37996"/>
                </a:lnTo>
                <a:lnTo>
                  <a:pt x="8944" y="37441"/>
                </a:lnTo>
                <a:lnTo>
                  <a:pt x="8669" y="37441"/>
                </a:lnTo>
                <a:lnTo>
                  <a:pt x="4187" y="36192"/>
                </a:lnTo>
                <a:lnTo>
                  <a:pt x="3653" y="36192"/>
                </a:lnTo>
                <a:lnTo>
                  <a:pt x="2002" y="33314"/>
                </a:lnTo>
                <a:close/>
              </a:path>
              <a:path w="28575" h="44450">
                <a:moveTo>
                  <a:pt x="12059" y="40790"/>
                </a:moveTo>
                <a:lnTo>
                  <a:pt x="10757" y="42526"/>
                </a:lnTo>
                <a:lnTo>
                  <a:pt x="11178" y="42239"/>
                </a:lnTo>
                <a:lnTo>
                  <a:pt x="11449" y="41859"/>
                </a:lnTo>
                <a:lnTo>
                  <a:pt x="12059" y="40790"/>
                </a:lnTo>
                <a:close/>
              </a:path>
              <a:path w="28575" h="44450">
                <a:moveTo>
                  <a:pt x="1062" y="40260"/>
                </a:moveTo>
                <a:lnTo>
                  <a:pt x="1313" y="40790"/>
                </a:lnTo>
                <a:lnTo>
                  <a:pt x="1916" y="41859"/>
                </a:lnTo>
                <a:lnTo>
                  <a:pt x="3273" y="42239"/>
                </a:lnTo>
                <a:lnTo>
                  <a:pt x="2826" y="41859"/>
                </a:lnTo>
                <a:lnTo>
                  <a:pt x="1062" y="40260"/>
                </a:lnTo>
                <a:close/>
              </a:path>
              <a:path w="28575" h="44450">
                <a:moveTo>
                  <a:pt x="12456" y="40260"/>
                </a:moveTo>
                <a:lnTo>
                  <a:pt x="12059" y="40790"/>
                </a:lnTo>
                <a:lnTo>
                  <a:pt x="11232" y="42239"/>
                </a:lnTo>
                <a:lnTo>
                  <a:pt x="11894" y="41859"/>
                </a:lnTo>
                <a:lnTo>
                  <a:pt x="12306" y="40790"/>
                </a:lnTo>
                <a:lnTo>
                  <a:pt x="12456" y="40260"/>
                </a:lnTo>
                <a:close/>
              </a:path>
              <a:path w="28575" h="44450">
                <a:moveTo>
                  <a:pt x="239" y="37441"/>
                </a:moveTo>
                <a:lnTo>
                  <a:pt x="83" y="37996"/>
                </a:lnTo>
                <a:lnTo>
                  <a:pt x="0" y="38459"/>
                </a:lnTo>
                <a:lnTo>
                  <a:pt x="1015" y="40260"/>
                </a:lnTo>
                <a:lnTo>
                  <a:pt x="809" y="39437"/>
                </a:lnTo>
                <a:lnTo>
                  <a:pt x="505" y="38459"/>
                </a:lnTo>
                <a:lnTo>
                  <a:pt x="239" y="37441"/>
                </a:lnTo>
                <a:close/>
              </a:path>
              <a:path w="28575" h="44450">
                <a:moveTo>
                  <a:pt x="14206" y="36192"/>
                </a:moveTo>
                <a:lnTo>
                  <a:pt x="13604" y="36192"/>
                </a:lnTo>
                <a:lnTo>
                  <a:pt x="12456" y="40260"/>
                </a:lnTo>
                <a:lnTo>
                  <a:pt x="12826" y="39437"/>
                </a:lnTo>
                <a:lnTo>
                  <a:pt x="14316" y="36754"/>
                </a:lnTo>
                <a:lnTo>
                  <a:pt x="14206" y="36192"/>
                </a:lnTo>
                <a:close/>
              </a:path>
              <a:path w="28575" h="44450">
                <a:moveTo>
                  <a:pt x="11180" y="38459"/>
                </a:moveTo>
                <a:lnTo>
                  <a:pt x="13168" y="39437"/>
                </a:lnTo>
                <a:lnTo>
                  <a:pt x="13383" y="39437"/>
                </a:lnTo>
                <a:lnTo>
                  <a:pt x="11180" y="38459"/>
                </a:lnTo>
                <a:close/>
              </a:path>
              <a:path w="28575" h="44450">
                <a:moveTo>
                  <a:pt x="18092" y="35733"/>
                </a:moveTo>
                <a:lnTo>
                  <a:pt x="15645" y="35733"/>
                </a:lnTo>
                <a:lnTo>
                  <a:pt x="13241" y="36192"/>
                </a:lnTo>
                <a:lnTo>
                  <a:pt x="10135" y="37996"/>
                </a:lnTo>
                <a:lnTo>
                  <a:pt x="13383" y="39437"/>
                </a:lnTo>
                <a:lnTo>
                  <a:pt x="12688" y="39437"/>
                </a:lnTo>
                <a:lnTo>
                  <a:pt x="13604" y="36192"/>
                </a:lnTo>
                <a:lnTo>
                  <a:pt x="14206" y="36192"/>
                </a:lnTo>
                <a:lnTo>
                  <a:pt x="14080" y="35733"/>
                </a:lnTo>
                <a:lnTo>
                  <a:pt x="17876" y="36192"/>
                </a:lnTo>
                <a:lnTo>
                  <a:pt x="18092" y="35733"/>
                </a:lnTo>
                <a:close/>
              </a:path>
              <a:path w="28575" h="44450">
                <a:moveTo>
                  <a:pt x="17876" y="36192"/>
                </a:moveTo>
                <a:lnTo>
                  <a:pt x="14644" y="36192"/>
                </a:lnTo>
                <a:lnTo>
                  <a:pt x="14360" y="36754"/>
                </a:lnTo>
                <a:lnTo>
                  <a:pt x="12830" y="39437"/>
                </a:lnTo>
                <a:lnTo>
                  <a:pt x="12506" y="39437"/>
                </a:lnTo>
                <a:lnTo>
                  <a:pt x="16774" y="37996"/>
                </a:lnTo>
                <a:lnTo>
                  <a:pt x="17026" y="37996"/>
                </a:lnTo>
                <a:lnTo>
                  <a:pt x="17876" y="36192"/>
                </a:lnTo>
                <a:close/>
              </a:path>
              <a:path w="28575" h="44450">
                <a:moveTo>
                  <a:pt x="21786" y="30259"/>
                </a:moveTo>
                <a:lnTo>
                  <a:pt x="21455" y="30795"/>
                </a:lnTo>
                <a:lnTo>
                  <a:pt x="20379" y="33314"/>
                </a:lnTo>
                <a:lnTo>
                  <a:pt x="20014" y="33314"/>
                </a:lnTo>
                <a:lnTo>
                  <a:pt x="19049" y="33703"/>
                </a:lnTo>
                <a:lnTo>
                  <a:pt x="17026" y="37996"/>
                </a:lnTo>
                <a:lnTo>
                  <a:pt x="16774" y="37996"/>
                </a:lnTo>
                <a:lnTo>
                  <a:pt x="12506" y="39437"/>
                </a:lnTo>
                <a:lnTo>
                  <a:pt x="13383" y="39437"/>
                </a:lnTo>
                <a:lnTo>
                  <a:pt x="21545" y="31117"/>
                </a:lnTo>
                <a:lnTo>
                  <a:pt x="21786" y="30259"/>
                </a:lnTo>
                <a:close/>
              </a:path>
              <a:path w="28575" h="44450">
                <a:moveTo>
                  <a:pt x="370" y="37080"/>
                </a:moveTo>
                <a:lnTo>
                  <a:pt x="239" y="37441"/>
                </a:lnTo>
                <a:lnTo>
                  <a:pt x="384" y="37996"/>
                </a:lnTo>
                <a:lnTo>
                  <a:pt x="505" y="38459"/>
                </a:lnTo>
                <a:lnTo>
                  <a:pt x="437" y="37441"/>
                </a:lnTo>
                <a:lnTo>
                  <a:pt x="370" y="37080"/>
                </a:lnTo>
                <a:close/>
              </a:path>
              <a:path w="28575" h="44450">
                <a:moveTo>
                  <a:pt x="5959" y="33314"/>
                </a:moveTo>
                <a:lnTo>
                  <a:pt x="10236" y="37996"/>
                </a:lnTo>
                <a:lnTo>
                  <a:pt x="11091" y="37441"/>
                </a:lnTo>
                <a:lnTo>
                  <a:pt x="12274" y="36754"/>
                </a:lnTo>
                <a:lnTo>
                  <a:pt x="11029" y="36754"/>
                </a:lnTo>
                <a:lnTo>
                  <a:pt x="5959" y="33314"/>
                </a:lnTo>
                <a:close/>
              </a:path>
              <a:path w="28575" h="44450">
                <a:moveTo>
                  <a:pt x="4525" y="29714"/>
                </a:moveTo>
                <a:lnTo>
                  <a:pt x="2002" y="33314"/>
                </a:lnTo>
                <a:lnTo>
                  <a:pt x="3653" y="36192"/>
                </a:lnTo>
                <a:lnTo>
                  <a:pt x="4187" y="36192"/>
                </a:lnTo>
                <a:lnTo>
                  <a:pt x="8669" y="37441"/>
                </a:lnTo>
                <a:lnTo>
                  <a:pt x="8897" y="37441"/>
                </a:lnTo>
                <a:lnTo>
                  <a:pt x="8097" y="37080"/>
                </a:lnTo>
                <a:lnTo>
                  <a:pt x="7488" y="36754"/>
                </a:lnTo>
                <a:lnTo>
                  <a:pt x="4516" y="35353"/>
                </a:lnTo>
                <a:lnTo>
                  <a:pt x="4523" y="31117"/>
                </a:lnTo>
                <a:lnTo>
                  <a:pt x="3100" y="31117"/>
                </a:lnTo>
                <a:lnTo>
                  <a:pt x="4524" y="30795"/>
                </a:lnTo>
                <a:lnTo>
                  <a:pt x="4525" y="29714"/>
                </a:lnTo>
                <a:close/>
              </a:path>
              <a:path w="28575" h="44450">
                <a:moveTo>
                  <a:pt x="4830" y="29412"/>
                </a:moveTo>
                <a:lnTo>
                  <a:pt x="4525" y="29714"/>
                </a:lnTo>
                <a:lnTo>
                  <a:pt x="4516" y="35353"/>
                </a:lnTo>
                <a:lnTo>
                  <a:pt x="8179" y="37080"/>
                </a:lnTo>
                <a:lnTo>
                  <a:pt x="7787" y="36754"/>
                </a:lnTo>
                <a:lnTo>
                  <a:pt x="6814" y="35733"/>
                </a:lnTo>
                <a:lnTo>
                  <a:pt x="5871" y="33314"/>
                </a:lnTo>
                <a:lnTo>
                  <a:pt x="5579" y="33314"/>
                </a:lnTo>
                <a:lnTo>
                  <a:pt x="5461" y="32698"/>
                </a:lnTo>
                <a:lnTo>
                  <a:pt x="5372" y="32236"/>
                </a:lnTo>
                <a:lnTo>
                  <a:pt x="5305" y="31888"/>
                </a:lnTo>
                <a:lnTo>
                  <a:pt x="5015" y="31117"/>
                </a:lnTo>
                <a:lnTo>
                  <a:pt x="4889" y="30795"/>
                </a:lnTo>
                <a:lnTo>
                  <a:pt x="4688" y="30795"/>
                </a:lnTo>
                <a:lnTo>
                  <a:pt x="4924" y="30259"/>
                </a:lnTo>
                <a:lnTo>
                  <a:pt x="4830" y="29412"/>
                </a:lnTo>
                <a:close/>
              </a:path>
              <a:path w="28575" h="44450">
                <a:moveTo>
                  <a:pt x="987" y="34767"/>
                </a:moveTo>
                <a:lnTo>
                  <a:pt x="307" y="35733"/>
                </a:lnTo>
                <a:lnTo>
                  <a:pt x="319" y="36754"/>
                </a:lnTo>
                <a:lnTo>
                  <a:pt x="588" y="36192"/>
                </a:lnTo>
                <a:lnTo>
                  <a:pt x="717" y="35733"/>
                </a:lnTo>
                <a:lnTo>
                  <a:pt x="823" y="35353"/>
                </a:lnTo>
                <a:lnTo>
                  <a:pt x="891" y="35111"/>
                </a:lnTo>
                <a:lnTo>
                  <a:pt x="987" y="34767"/>
                </a:lnTo>
                <a:close/>
              </a:path>
              <a:path w="28575" h="44450">
                <a:moveTo>
                  <a:pt x="9535" y="30795"/>
                </a:moveTo>
                <a:lnTo>
                  <a:pt x="5096" y="30795"/>
                </a:lnTo>
                <a:lnTo>
                  <a:pt x="5315" y="31888"/>
                </a:lnTo>
                <a:lnTo>
                  <a:pt x="5631" y="32698"/>
                </a:lnTo>
                <a:lnTo>
                  <a:pt x="5959" y="33314"/>
                </a:lnTo>
                <a:lnTo>
                  <a:pt x="11029" y="36754"/>
                </a:lnTo>
                <a:lnTo>
                  <a:pt x="10301" y="36754"/>
                </a:lnTo>
                <a:lnTo>
                  <a:pt x="13241" y="36192"/>
                </a:lnTo>
                <a:lnTo>
                  <a:pt x="13604" y="36192"/>
                </a:lnTo>
                <a:lnTo>
                  <a:pt x="13734" y="35733"/>
                </a:lnTo>
                <a:lnTo>
                  <a:pt x="13816" y="34767"/>
                </a:lnTo>
                <a:lnTo>
                  <a:pt x="13524" y="33703"/>
                </a:lnTo>
                <a:lnTo>
                  <a:pt x="13418" y="33314"/>
                </a:lnTo>
                <a:lnTo>
                  <a:pt x="13636" y="33314"/>
                </a:lnTo>
                <a:lnTo>
                  <a:pt x="10296" y="31888"/>
                </a:lnTo>
                <a:lnTo>
                  <a:pt x="9986" y="31117"/>
                </a:lnTo>
                <a:lnTo>
                  <a:pt x="9535" y="30795"/>
                </a:lnTo>
                <a:close/>
              </a:path>
              <a:path w="28575" h="44450">
                <a:moveTo>
                  <a:pt x="13241" y="36192"/>
                </a:moveTo>
                <a:lnTo>
                  <a:pt x="10301" y="36754"/>
                </a:lnTo>
                <a:lnTo>
                  <a:pt x="12274" y="36754"/>
                </a:lnTo>
                <a:lnTo>
                  <a:pt x="13241" y="36192"/>
                </a:lnTo>
                <a:close/>
              </a:path>
              <a:path w="28575" h="44450">
                <a:moveTo>
                  <a:pt x="16766" y="26264"/>
                </a:moveTo>
                <a:lnTo>
                  <a:pt x="15723" y="28684"/>
                </a:lnTo>
                <a:lnTo>
                  <a:pt x="14007" y="34767"/>
                </a:lnTo>
                <a:lnTo>
                  <a:pt x="14080" y="35733"/>
                </a:lnTo>
                <a:lnTo>
                  <a:pt x="14360" y="36754"/>
                </a:lnTo>
                <a:lnTo>
                  <a:pt x="14644" y="36192"/>
                </a:lnTo>
                <a:lnTo>
                  <a:pt x="14913" y="35733"/>
                </a:lnTo>
                <a:lnTo>
                  <a:pt x="14655" y="35733"/>
                </a:lnTo>
                <a:lnTo>
                  <a:pt x="15669" y="34234"/>
                </a:lnTo>
                <a:lnTo>
                  <a:pt x="14547" y="33703"/>
                </a:lnTo>
                <a:lnTo>
                  <a:pt x="16028" y="33703"/>
                </a:lnTo>
                <a:lnTo>
                  <a:pt x="16291" y="33314"/>
                </a:lnTo>
                <a:lnTo>
                  <a:pt x="18241" y="29936"/>
                </a:lnTo>
                <a:lnTo>
                  <a:pt x="18063" y="29714"/>
                </a:lnTo>
                <a:lnTo>
                  <a:pt x="17212" y="26610"/>
                </a:lnTo>
                <a:lnTo>
                  <a:pt x="17372" y="26610"/>
                </a:lnTo>
                <a:lnTo>
                  <a:pt x="16766" y="26264"/>
                </a:lnTo>
                <a:close/>
              </a:path>
              <a:path w="28575" h="44450">
                <a:moveTo>
                  <a:pt x="13910" y="35111"/>
                </a:moveTo>
                <a:lnTo>
                  <a:pt x="13604" y="36192"/>
                </a:lnTo>
                <a:lnTo>
                  <a:pt x="13241" y="36192"/>
                </a:lnTo>
                <a:lnTo>
                  <a:pt x="14032" y="35733"/>
                </a:lnTo>
                <a:lnTo>
                  <a:pt x="13910" y="35111"/>
                </a:lnTo>
                <a:close/>
              </a:path>
              <a:path w="28575" h="44450">
                <a:moveTo>
                  <a:pt x="15791" y="34234"/>
                </a:moveTo>
                <a:lnTo>
                  <a:pt x="14644" y="36192"/>
                </a:lnTo>
                <a:lnTo>
                  <a:pt x="13241" y="36192"/>
                </a:lnTo>
                <a:lnTo>
                  <a:pt x="15645" y="35733"/>
                </a:lnTo>
                <a:lnTo>
                  <a:pt x="18092" y="35733"/>
                </a:lnTo>
                <a:lnTo>
                  <a:pt x="18548" y="34767"/>
                </a:lnTo>
                <a:lnTo>
                  <a:pt x="17039" y="34767"/>
                </a:lnTo>
                <a:lnTo>
                  <a:pt x="15791" y="34234"/>
                </a:lnTo>
                <a:close/>
              </a:path>
              <a:path w="28575" h="44450">
                <a:moveTo>
                  <a:pt x="15791" y="34234"/>
                </a:moveTo>
                <a:lnTo>
                  <a:pt x="15308" y="34767"/>
                </a:lnTo>
                <a:lnTo>
                  <a:pt x="14655" y="35733"/>
                </a:lnTo>
                <a:lnTo>
                  <a:pt x="14913" y="35733"/>
                </a:lnTo>
                <a:lnTo>
                  <a:pt x="15791" y="34234"/>
                </a:lnTo>
                <a:close/>
              </a:path>
              <a:path w="28575" h="44450">
                <a:moveTo>
                  <a:pt x="10731" y="23635"/>
                </a:moveTo>
                <a:lnTo>
                  <a:pt x="7810" y="24293"/>
                </a:lnTo>
                <a:lnTo>
                  <a:pt x="10453" y="24293"/>
                </a:lnTo>
                <a:lnTo>
                  <a:pt x="8800" y="28163"/>
                </a:lnTo>
                <a:lnTo>
                  <a:pt x="9857" y="30795"/>
                </a:lnTo>
                <a:lnTo>
                  <a:pt x="10100" y="31117"/>
                </a:lnTo>
                <a:lnTo>
                  <a:pt x="12871" y="32698"/>
                </a:lnTo>
                <a:lnTo>
                  <a:pt x="13249" y="32698"/>
                </a:lnTo>
                <a:lnTo>
                  <a:pt x="13816" y="34767"/>
                </a:lnTo>
                <a:lnTo>
                  <a:pt x="13910" y="35111"/>
                </a:lnTo>
                <a:lnTo>
                  <a:pt x="14306" y="33703"/>
                </a:lnTo>
                <a:lnTo>
                  <a:pt x="14547" y="33703"/>
                </a:lnTo>
                <a:lnTo>
                  <a:pt x="13636" y="33314"/>
                </a:lnTo>
                <a:lnTo>
                  <a:pt x="14416" y="33314"/>
                </a:lnTo>
                <a:lnTo>
                  <a:pt x="15278" y="30259"/>
                </a:lnTo>
                <a:lnTo>
                  <a:pt x="15369" y="29936"/>
                </a:lnTo>
                <a:lnTo>
                  <a:pt x="15432" y="29714"/>
                </a:lnTo>
                <a:lnTo>
                  <a:pt x="15517" y="29412"/>
                </a:lnTo>
                <a:lnTo>
                  <a:pt x="15355" y="28884"/>
                </a:lnTo>
                <a:lnTo>
                  <a:pt x="13780" y="25866"/>
                </a:lnTo>
                <a:lnTo>
                  <a:pt x="14132" y="25866"/>
                </a:lnTo>
                <a:lnTo>
                  <a:pt x="13153" y="25458"/>
                </a:lnTo>
                <a:lnTo>
                  <a:pt x="12891" y="25458"/>
                </a:lnTo>
                <a:lnTo>
                  <a:pt x="10955" y="24978"/>
                </a:lnTo>
                <a:lnTo>
                  <a:pt x="12325" y="24978"/>
                </a:lnTo>
                <a:lnTo>
                  <a:pt x="10231" y="23927"/>
                </a:lnTo>
                <a:lnTo>
                  <a:pt x="10607" y="23927"/>
                </a:lnTo>
                <a:lnTo>
                  <a:pt x="10731" y="23635"/>
                </a:lnTo>
                <a:close/>
              </a:path>
              <a:path w="28575" h="44450">
                <a:moveTo>
                  <a:pt x="1648" y="32698"/>
                </a:moveTo>
                <a:lnTo>
                  <a:pt x="1037" y="34767"/>
                </a:lnTo>
                <a:lnTo>
                  <a:pt x="1357" y="34234"/>
                </a:lnTo>
                <a:lnTo>
                  <a:pt x="2002" y="33314"/>
                </a:lnTo>
                <a:lnTo>
                  <a:pt x="1648" y="32698"/>
                </a:lnTo>
                <a:close/>
              </a:path>
              <a:path w="28575" h="44450">
                <a:moveTo>
                  <a:pt x="18976" y="28884"/>
                </a:moveTo>
                <a:lnTo>
                  <a:pt x="18613" y="29412"/>
                </a:lnTo>
                <a:lnTo>
                  <a:pt x="16947" y="32236"/>
                </a:lnTo>
                <a:lnTo>
                  <a:pt x="16651" y="32698"/>
                </a:lnTo>
                <a:lnTo>
                  <a:pt x="15791" y="34234"/>
                </a:lnTo>
                <a:lnTo>
                  <a:pt x="17039" y="34767"/>
                </a:lnTo>
                <a:lnTo>
                  <a:pt x="16407" y="34767"/>
                </a:lnTo>
                <a:lnTo>
                  <a:pt x="19049" y="33703"/>
                </a:lnTo>
                <a:lnTo>
                  <a:pt x="19741" y="32236"/>
                </a:lnTo>
                <a:lnTo>
                  <a:pt x="19634" y="31117"/>
                </a:lnTo>
                <a:lnTo>
                  <a:pt x="19521" y="29936"/>
                </a:lnTo>
                <a:lnTo>
                  <a:pt x="19500" y="29714"/>
                </a:lnTo>
                <a:lnTo>
                  <a:pt x="19361" y="29412"/>
                </a:lnTo>
                <a:lnTo>
                  <a:pt x="18976" y="28884"/>
                </a:lnTo>
                <a:close/>
              </a:path>
              <a:path w="28575" h="44450">
                <a:moveTo>
                  <a:pt x="19049" y="33703"/>
                </a:moveTo>
                <a:lnTo>
                  <a:pt x="16407" y="34767"/>
                </a:lnTo>
                <a:lnTo>
                  <a:pt x="18548" y="34767"/>
                </a:lnTo>
                <a:lnTo>
                  <a:pt x="19049" y="33703"/>
                </a:lnTo>
                <a:close/>
              </a:path>
              <a:path w="28575" h="44450">
                <a:moveTo>
                  <a:pt x="16028" y="33703"/>
                </a:moveTo>
                <a:lnTo>
                  <a:pt x="14547" y="33703"/>
                </a:lnTo>
                <a:lnTo>
                  <a:pt x="15791" y="34234"/>
                </a:lnTo>
                <a:lnTo>
                  <a:pt x="16028" y="33703"/>
                </a:lnTo>
                <a:close/>
              </a:path>
              <a:path w="28575" h="44450">
                <a:moveTo>
                  <a:pt x="14416" y="33314"/>
                </a:moveTo>
                <a:lnTo>
                  <a:pt x="13636" y="33314"/>
                </a:lnTo>
                <a:lnTo>
                  <a:pt x="14547" y="33703"/>
                </a:lnTo>
                <a:lnTo>
                  <a:pt x="14306" y="33703"/>
                </a:lnTo>
                <a:lnTo>
                  <a:pt x="14416" y="33314"/>
                </a:lnTo>
                <a:close/>
              </a:path>
              <a:path w="28575" h="44450">
                <a:moveTo>
                  <a:pt x="22596" y="24978"/>
                </a:moveTo>
                <a:lnTo>
                  <a:pt x="21430" y="25458"/>
                </a:lnTo>
                <a:lnTo>
                  <a:pt x="18976" y="28884"/>
                </a:lnTo>
                <a:lnTo>
                  <a:pt x="19361" y="29412"/>
                </a:lnTo>
                <a:lnTo>
                  <a:pt x="19500" y="29714"/>
                </a:lnTo>
                <a:lnTo>
                  <a:pt x="19521" y="29936"/>
                </a:lnTo>
                <a:lnTo>
                  <a:pt x="19634" y="31117"/>
                </a:lnTo>
                <a:lnTo>
                  <a:pt x="19741" y="32236"/>
                </a:lnTo>
                <a:lnTo>
                  <a:pt x="19049" y="33703"/>
                </a:lnTo>
                <a:lnTo>
                  <a:pt x="20014" y="33314"/>
                </a:lnTo>
                <a:lnTo>
                  <a:pt x="20379" y="33314"/>
                </a:lnTo>
                <a:lnTo>
                  <a:pt x="22045" y="29412"/>
                </a:lnTo>
                <a:lnTo>
                  <a:pt x="22174" y="28884"/>
                </a:lnTo>
                <a:lnTo>
                  <a:pt x="22814" y="26610"/>
                </a:lnTo>
                <a:lnTo>
                  <a:pt x="22911" y="26264"/>
                </a:lnTo>
                <a:lnTo>
                  <a:pt x="23023" y="25866"/>
                </a:lnTo>
                <a:lnTo>
                  <a:pt x="22865" y="25458"/>
                </a:lnTo>
                <a:lnTo>
                  <a:pt x="22596" y="24978"/>
                </a:lnTo>
                <a:close/>
              </a:path>
              <a:path w="28575" h="44450">
                <a:moveTo>
                  <a:pt x="3768" y="30795"/>
                </a:moveTo>
                <a:lnTo>
                  <a:pt x="3360" y="31117"/>
                </a:lnTo>
                <a:lnTo>
                  <a:pt x="2121" y="32236"/>
                </a:lnTo>
                <a:lnTo>
                  <a:pt x="1648" y="32698"/>
                </a:lnTo>
                <a:lnTo>
                  <a:pt x="2002" y="33314"/>
                </a:lnTo>
                <a:lnTo>
                  <a:pt x="3768" y="30795"/>
                </a:lnTo>
                <a:close/>
              </a:path>
              <a:path w="28575" h="44450">
                <a:moveTo>
                  <a:pt x="5451" y="32236"/>
                </a:moveTo>
                <a:lnTo>
                  <a:pt x="5461" y="32698"/>
                </a:lnTo>
                <a:lnTo>
                  <a:pt x="5579" y="33314"/>
                </a:lnTo>
                <a:lnTo>
                  <a:pt x="5871" y="33314"/>
                </a:lnTo>
                <a:lnTo>
                  <a:pt x="5451" y="32236"/>
                </a:lnTo>
                <a:close/>
              </a:path>
              <a:path w="28575" h="44450">
                <a:moveTo>
                  <a:pt x="10100" y="31117"/>
                </a:moveTo>
                <a:lnTo>
                  <a:pt x="10296" y="31888"/>
                </a:lnTo>
                <a:lnTo>
                  <a:pt x="13636" y="33314"/>
                </a:lnTo>
                <a:lnTo>
                  <a:pt x="13418" y="33314"/>
                </a:lnTo>
                <a:lnTo>
                  <a:pt x="13249" y="32698"/>
                </a:lnTo>
                <a:lnTo>
                  <a:pt x="12871" y="32698"/>
                </a:lnTo>
                <a:lnTo>
                  <a:pt x="10100" y="31117"/>
                </a:lnTo>
                <a:close/>
              </a:path>
              <a:path w="28575" h="44450">
                <a:moveTo>
                  <a:pt x="4532" y="25273"/>
                </a:moveTo>
                <a:lnTo>
                  <a:pt x="3478" y="25866"/>
                </a:lnTo>
                <a:lnTo>
                  <a:pt x="1566" y="32698"/>
                </a:lnTo>
                <a:lnTo>
                  <a:pt x="2121" y="32236"/>
                </a:lnTo>
                <a:lnTo>
                  <a:pt x="3717" y="30795"/>
                </a:lnTo>
                <a:lnTo>
                  <a:pt x="4143" y="30259"/>
                </a:lnTo>
                <a:lnTo>
                  <a:pt x="4525" y="29714"/>
                </a:lnTo>
                <a:lnTo>
                  <a:pt x="4532" y="25273"/>
                </a:lnTo>
                <a:close/>
              </a:path>
              <a:path w="28575" h="44450">
                <a:moveTo>
                  <a:pt x="8595" y="30259"/>
                </a:moveTo>
                <a:lnTo>
                  <a:pt x="7465" y="30259"/>
                </a:lnTo>
                <a:lnTo>
                  <a:pt x="4688" y="30795"/>
                </a:lnTo>
                <a:lnTo>
                  <a:pt x="4889" y="30795"/>
                </a:lnTo>
                <a:lnTo>
                  <a:pt x="5315" y="31888"/>
                </a:lnTo>
                <a:lnTo>
                  <a:pt x="5157" y="31117"/>
                </a:lnTo>
                <a:lnTo>
                  <a:pt x="5096" y="30795"/>
                </a:lnTo>
                <a:lnTo>
                  <a:pt x="4993" y="30259"/>
                </a:lnTo>
                <a:lnTo>
                  <a:pt x="9535" y="30795"/>
                </a:lnTo>
                <a:lnTo>
                  <a:pt x="8595" y="30259"/>
                </a:lnTo>
                <a:close/>
              </a:path>
              <a:path w="28575" h="44450">
                <a:moveTo>
                  <a:pt x="4524" y="30795"/>
                </a:moveTo>
                <a:lnTo>
                  <a:pt x="3100" y="31117"/>
                </a:lnTo>
                <a:lnTo>
                  <a:pt x="4523" y="31117"/>
                </a:lnTo>
                <a:lnTo>
                  <a:pt x="4524" y="30795"/>
                </a:lnTo>
                <a:close/>
              </a:path>
              <a:path w="28575" h="44450">
                <a:moveTo>
                  <a:pt x="9642" y="30259"/>
                </a:moveTo>
                <a:lnTo>
                  <a:pt x="8595" y="30259"/>
                </a:lnTo>
                <a:lnTo>
                  <a:pt x="10100" y="31117"/>
                </a:lnTo>
                <a:lnTo>
                  <a:pt x="9857" y="30795"/>
                </a:lnTo>
                <a:lnTo>
                  <a:pt x="9642" y="30259"/>
                </a:lnTo>
                <a:close/>
              </a:path>
              <a:path w="28575" h="44450">
                <a:moveTo>
                  <a:pt x="9463" y="26610"/>
                </a:moveTo>
                <a:lnTo>
                  <a:pt x="6702" y="26610"/>
                </a:lnTo>
                <a:lnTo>
                  <a:pt x="6212" y="27333"/>
                </a:lnTo>
                <a:lnTo>
                  <a:pt x="5164" y="29714"/>
                </a:lnTo>
                <a:lnTo>
                  <a:pt x="5096" y="30795"/>
                </a:lnTo>
                <a:lnTo>
                  <a:pt x="4936" y="30795"/>
                </a:lnTo>
                <a:lnTo>
                  <a:pt x="7465" y="30259"/>
                </a:lnTo>
                <a:lnTo>
                  <a:pt x="9642" y="30259"/>
                </a:lnTo>
                <a:lnTo>
                  <a:pt x="8800" y="28163"/>
                </a:lnTo>
                <a:lnTo>
                  <a:pt x="9463" y="26610"/>
                </a:lnTo>
                <a:close/>
              </a:path>
              <a:path w="28575" h="44450">
                <a:moveTo>
                  <a:pt x="6109" y="27565"/>
                </a:moveTo>
                <a:lnTo>
                  <a:pt x="5649" y="28163"/>
                </a:lnTo>
                <a:lnTo>
                  <a:pt x="5160" y="28884"/>
                </a:lnTo>
                <a:lnTo>
                  <a:pt x="4830" y="29412"/>
                </a:lnTo>
                <a:lnTo>
                  <a:pt x="4888" y="29714"/>
                </a:lnTo>
                <a:lnTo>
                  <a:pt x="4993" y="30259"/>
                </a:lnTo>
                <a:lnTo>
                  <a:pt x="5066" y="29936"/>
                </a:lnTo>
                <a:lnTo>
                  <a:pt x="6109" y="27565"/>
                </a:lnTo>
                <a:close/>
              </a:path>
              <a:path w="28575" h="44450">
                <a:moveTo>
                  <a:pt x="17340" y="24978"/>
                </a:moveTo>
                <a:lnTo>
                  <a:pt x="17193" y="25273"/>
                </a:lnTo>
                <a:lnTo>
                  <a:pt x="16766" y="26264"/>
                </a:lnTo>
                <a:lnTo>
                  <a:pt x="17372" y="26610"/>
                </a:lnTo>
                <a:lnTo>
                  <a:pt x="17212" y="26610"/>
                </a:lnTo>
                <a:lnTo>
                  <a:pt x="17980" y="29412"/>
                </a:lnTo>
                <a:lnTo>
                  <a:pt x="18063" y="29714"/>
                </a:lnTo>
                <a:lnTo>
                  <a:pt x="18124" y="29936"/>
                </a:lnTo>
                <a:lnTo>
                  <a:pt x="18304" y="29936"/>
                </a:lnTo>
                <a:lnTo>
                  <a:pt x="18613" y="29412"/>
                </a:lnTo>
                <a:lnTo>
                  <a:pt x="18976" y="28884"/>
                </a:lnTo>
                <a:lnTo>
                  <a:pt x="18016" y="27565"/>
                </a:lnTo>
                <a:lnTo>
                  <a:pt x="17766" y="26610"/>
                </a:lnTo>
                <a:lnTo>
                  <a:pt x="17676" y="26264"/>
                </a:lnTo>
                <a:lnTo>
                  <a:pt x="17572" y="25866"/>
                </a:lnTo>
                <a:lnTo>
                  <a:pt x="17465" y="25458"/>
                </a:lnTo>
                <a:lnTo>
                  <a:pt x="17340" y="24978"/>
                </a:lnTo>
                <a:close/>
              </a:path>
              <a:path w="28575" h="44450">
                <a:moveTo>
                  <a:pt x="6946" y="23927"/>
                </a:moveTo>
                <a:lnTo>
                  <a:pt x="4532" y="25273"/>
                </a:lnTo>
                <a:lnTo>
                  <a:pt x="4525" y="29714"/>
                </a:lnTo>
                <a:lnTo>
                  <a:pt x="6194" y="27333"/>
                </a:lnTo>
                <a:lnTo>
                  <a:pt x="6530" y="26610"/>
                </a:lnTo>
                <a:lnTo>
                  <a:pt x="6701" y="26610"/>
                </a:lnTo>
                <a:lnTo>
                  <a:pt x="8172" y="24443"/>
                </a:lnTo>
                <a:lnTo>
                  <a:pt x="8274" y="24293"/>
                </a:lnTo>
                <a:lnTo>
                  <a:pt x="6946" y="23927"/>
                </a:lnTo>
                <a:close/>
              </a:path>
              <a:path w="28575" h="44450">
                <a:moveTo>
                  <a:pt x="14262" y="25458"/>
                </a:moveTo>
                <a:lnTo>
                  <a:pt x="13567" y="25458"/>
                </a:lnTo>
                <a:lnTo>
                  <a:pt x="15631" y="29412"/>
                </a:lnTo>
                <a:lnTo>
                  <a:pt x="15723" y="28684"/>
                </a:lnTo>
                <a:lnTo>
                  <a:pt x="16766" y="26264"/>
                </a:lnTo>
                <a:lnTo>
                  <a:pt x="16068" y="25866"/>
                </a:lnTo>
                <a:lnTo>
                  <a:pt x="13030" y="25866"/>
                </a:lnTo>
                <a:lnTo>
                  <a:pt x="14262" y="25458"/>
                </a:lnTo>
                <a:close/>
              </a:path>
              <a:path w="28575" h="44450">
                <a:moveTo>
                  <a:pt x="18799" y="21635"/>
                </a:moveTo>
                <a:lnTo>
                  <a:pt x="17623" y="24293"/>
                </a:lnTo>
                <a:lnTo>
                  <a:pt x="17676" y="26264"/>
                </a:lnTo>
                <a:lnTo>
                  <a:pt x="17955" y="27333"/>
                </a:lnTo>
                <a:lnTo>
                  <a:pt x="18016" y="27565"/>
                </a:lnTo>
                <a:lnTo>
                  <a:pt x="18976" y="28884"/>
                </a:lnTo>
                <a:lnTo>
                  <a:pt x="21430" y="25458"/>
                </a:lnTo>
                <a:lnTo>
                  <a:pt x="22596" y="24978"/>
                </a:lnTo>
                <a:lnTo>
                  <a:pt x="21084" y="22276"/>
                </a:lnTo>
                <a:lnTo>
                  <a:pt x="18799" y="21635"/>
                </a:lnTo>
                <a:close/>
              </a:path>
              <a:path w="28575" h="44450">
                <a:moveTo>
                  <a:pt x="10033" y="25273"/>
                </a:moveTo>
                <a:lnTo>
                  <a:pt x="9772" y="25273"/>
                </a:lnTo>
                <a:lnTo>
                  <a:pt x="6530" y="26610"/>
                </a:lnTo>
                <a:lnTo>
                  <a:pt x="6212" y="27333"/>
                </a:lnTo>
                <a:lnTo>
                  <a:pt x="6701" y="26610"/>
                </a:lnTo>
                <a:lnTo>
                  <a:pt x="9463" y="26610"/>
                </a:lnTo>
                <a:lnTo>
                  <a:pt x="9954" y="25458"/>
                </a:lnTo>
                <a:lnTo>
                  <a:pt x="10033" y="25273"/>
                </a:lnTo>
                <a:close/>
              </a:path>
              <a:path w="28575" h="44450">
                <a:moveTo>
                  <a:pt x="8366" y="24293"/>
                </a:moveTo>
                <a:lnTo>
                  <a:pt x="8219" y="24443"/>
                </a:lnTo>
                <a:lnTo>
                  <a:pt x="6702" y="26610"/>
                </a:lnTo>
                <a:lnTo>
                  <a:pt x="6530" y="26610"/>
                </a:lnTo>
                <a:lnTo>
                  <a:pt x="9772" y="25273"/>
                </a:lnTo>
                <a:lnTo>
                  <a:pt x="10028" y="25273"/>
                </a:lnTo>
                <a:lnTo>
                  <a:pt x="10161" y="24978"/>
                </a:lnTo>
                <a:lnTo>
                  <a:pt x="10894" y="24978"/>
                </a:lnTo>
                <a:lnTo>
                  <a:pt x="8366" y="24293"/>
                </a:lnTo>
                <a:close/>
              </a:path>
              <a:path w="28575" h="44450">
                <a:moveTo>
                  <a:pt x="17193" y="25273"/>
                </a:moveTo>
                <a:lnTo>
                  <a:pt x="15028" y="25273"/>
                </a:lnTo>
                <a:lnTo>
                  <a:pt x="16766" y="26264"/>
                </a:lnTo>
                <a:lnTo>
                  <a:pt x="17113" y="25458"/>
                </a:lnTo>
                <a:lnTo>
                  <a:pt x="17193" y="25273"/>
                </a:lnTo>
                <a:close/>
              </a:path>
              <a:path w="28575" h="44450">
                <a:moveTo>
                  <a:pt x="4551" y="23101"/>
                </a:moveTo>
                <a:lnTo>
                  <a:pt x="4358" y="23406"/>
                </a:lnTo>
                <a:lnTo>
                  <a:pt x="3961" y="24293"/>
                </a:lnTo>
                <a:lnTo>
                  <a:pt x="3866" y="24443"/>
                </a:lnTo>
                <a:lnTo>
                  <a:pt x="3717" y="24978"/>
                </a:lnTo>
                <a:lnTo>
                  <a:pt x="3634" y="25273"/>
                </a:lnTo>
                <a:lnTo>
                  <a:pt x="3583" y="25458"/>
                </a:lnTo>
                <a:lnTo>
                  <a:pt x="3469" y="25866"/>
                </a:lnTo>
                <a:lnTo>
                  <a:pt x="4532" y="25273"/>
                </a:lnTo>
                <a:lnTo>
                  <a:pt x="4551" y="23101"/>
                </a:lnTo>
                <a:close/>
              </a:path>
              <a:path w="28575" h="44450">
                <a:moveTo>
                  <a:pt x="12325" y="24978"/>
                </a:moveTo>
                <a:lnTo>
                  <a:pt x="10955" y="24978"/>
                </a:lnTo>
                <a:lnTo>
                  <a:pt x="12891" y="25458"/>
                </a:lnTo>
                <a:lnTo>
                  <a:pt x="13153" y="25458"/>
                </a:lnTo>
                <a:lnTo>
                  <a:pt x="14132" y="25866"/>
                </a:lnTo>
                <a:lnTo>
                  <a:pt x="12325" y="24978"/>
                </a:lnTo>
                <a:close/>
              </a:path>
              <a:path w="28575" h="44450">
                <a:moveTo>
                  <a:pt x="13307" y="24293"/>
                </a:moveTo>
                <a:lnTo>
                  <a:pt x="10959" y="24293"/>
                </a:lnTo>
                <a:lnTo>
                  <a:pt x="14094" y="25866"/>
                </a:lnTo>
                <a:lnTo>
                  <a:pt x="13780" y="25866"/>
                </a:lnTo>
                <a:lnTo>
                  <a:pt x="13567" y="25458"/>
                </a:lnTo>
                <a:lnTo>
                  <a:pt x="14262" y="25458"/>
                </a:lnTo>
                <a:lnTo>
                  <a:pt x="14822" y="25273"/>
                </a:lnTo>
                <a:lnTo>
                  <a:pt x="15028" y="25273"/>
                </a:lnTo>
                <a:lnTo>
                  <a:pt x="13307" y="24293"/>
                </a:lnTo>
                <a:close/>
              </a:path>
              <a:path w="28575" h="44450">
                <a:moveTo>
                  <a:pt x="17328" y="24443"/>
                </a:moveTo>
                <a:lnTo>
                  <a:pt x="13030" y="25866"/>
                </a:lnTo>
                <a:lnTo>
                  <a:pt x="16068" y="25866"/>
                </a:lnTo>
                <a:lnTo>
                  <a:pt x="15028" y="25273"/>
                </a:lnTo>
                <a:lnTo>
                  <a:pt x="17193" y="25273"/>
                </a:lnTo>
                <a:lnTo>
                  <a:pt x="17320" y="24978"/>
                </a:lnTo>
                <a:lnTo>
                  <a:pt x="17328" y="24443"/>
                </a:lnTo>
                <a:close/>
              </a:path>
              <a:path w="28575" h="44450">
                <a:moveTo>
                  <a:pt x="21021" y="16643"/>
                </a:moveTo>
                <a:lnTo>
                  <a:pt x="18895" y="21418"/>
                </a:lnTo>
                <a:lnTo>
                  <a:pt x="18799" y="21635"/>
                </a:lnTo>
                <a:lnTo>
                  <a:pt x="21084" y="22276"/>
                </a:lnTo>
                <a:lnTo>
                  <a:pt x="23093" y="25866"/>
                </a:lnTo>
                <a:lnTo>
                  <a:pt x="23190" y="25273"/>
                </a:lnTo>
                <a:lnTo>
                  <a:pt x="23273" y="24978"/>
                </a:lnTo>
                <a:lnTo>
                  <a:pt x="23398" y="24293"/>
                </a:lnTo>
                <a:lnTo>
                  <a:pt x="23497" y="23406"/>
                </a:lnTo>
                <a:lnTo>
                  <a:pt x="23622" y="22276"/>
                </a:lnTo>
                <a:lnTo>
                  <a:pt x="23718" y="21418"/>
                </a:lnTo>
                <a:lnTo>
                  <a:pt x="20929" y="21418"/>
                </a:lnTo>
                <a:lnTo>
                  <a:pt x="23920" y="18792"/>
                </a:lnTo>
                <a:lnTo>
                  <a:pt x="23925" y="17519"/>
                </a:lnTo>
                <a:lnTo>
                  <a:pt x="24473" y="17519"/>
                </a:lnTo>
                <a:lnTo>
                  <a:pt x="21021" y="16643"/>
                </a:lnTo>
                <a:close/>
              </a:path>
              <a:path w="28575" h="44450">
                <a:moveTo>
                  <a:pt x="6415" y="18953"/>
                </a:moveTo>
                <a:lnTo>
                  <a:pt x="5870" y="20039"/>
                </a:lnTo>
                <a:lnTo>
                  <a:pt x="4554" y="22966"/>
                </a:lnTo>
                <a:lnTo>
                  <a:pt x="4532" y="25273"/>
                </a:lnTo>
                <a:lnTo>
                  <a:pt x="6946" y="23927"/>
                </a:lnTo>
                <a:lnTo>
                  <a:pt x="8522" y="23927"/>
                </a:lnTo>
                <a:lnTo>
                  <a:pt x="8875" y="23406"/>
                </a:lnTo>
                <a:lnTo>
                  <a:pt x="9192" y="23406"/>
                </a:lnTo>
                <a:lnTo>
                  <a:pt x="7634" y="22624"/>
                </a:lnTo>
                <a:lnTo>
                  <a:pt x="6471" y="19121"/>
                </a:lnTo>
                <a:lnTo>
                  <a:pt x="6415" y="18953"/>
                </a:lnTo>
                <a:close/>
              </a:path>
              <a:path w="28575" h="44450">
                <a:moveTo>
                  <a:pt x="17241" y="23406"/>
                </a:moveTo>
                <a:lnTo>
                  <a:pt x="11751" y="23406"/>
                </a:lnTo>
                <a:lnTo>
                  <a:pt x="15028" y="25273"/>
                </a:lnTo>
                <a:lnTo>
                  <a:pt x="14822" y="25273"/>
                </a:lnTo>
                <a:lnTo>
                  <a:pt x="17328" y="24443"/>
                </a:lnTo>
                <a:lnTo>
                  <a:pt x="17241" y="23406"/>
                </a:lnTo>
                <a:close/>
              </a:path>
              <a:path w="28575" h="44450">
                <a:moveTo>
                  <a:pt x="12913" y="19121"/>
                </a:moveTo>
                <a:lnTo>
                  <a:pt x="11054" y="20473"/>
                </a:lnTo>
                <a:lnTo>
                  <a:pt x="10654" y="20783"/>
                </a:lnTo>
                <a:lnTo>
                  <a:pt x="8522" y="23927"/>
                </a:lnTo>
                <a:lnTo>
                  <a:pt x="8366" y="24293"/>
                </a:lnTo>
                <a:lnTo>
                  <a:pt x="10894" y="24978"/>
                </a:lnTo>
                <a:lnTo>
                  <a:pt x="10159" y="24978"/>
                </a:lnTo>
                <a:lnTo>
                  <a:pt x="10387" y="24443"/>
                </a:lnTo>
                <a:lnTo>
                  <a:pt x="10451" y="24293"/>
                </a:lnTo>
                <a:lnTo>
                  <a:pt x="7810" y="24293"/>
                </a:lnTo>
                <a:lnTo>
                  <a:pt x="9435" y="23927"/>
                </a:lnTo>
                <a:lnTo>
                  <a:pt x="10231" y="23927"/>
                </a:lnTo>
                <a:lnTo>
                  <a:pt x="9192" y="23406"/>
                </a:lnTo>
                <a:lnTo>
                  <a:pt x="10829" y="23406"/>
                </a:lnTo>
                <a:lnTo>
                  <a:pt x="11311" y="22276"/>
                </a:lnTo>
                <a:lnTo>
                  <a:pt x="11422" y="22016"/>
                </a:lnTo>
                <a:lnTo>
                  <a:pt x="11547" y="21635"/>
                </a:lnTo>
                <a:lnTo>
                  <a:pt x="11581" y="21418"/>
                </a:lnTo>
                <a:lnTo>
                  <a:pt x="11682" y="20783"/>
                </a:lnTo>
                <a:lnTo>
                  <a:pt x="11800" y="20039"/>
                </a:lnTo>
                <a:lnTo>
                  <a:pt x="13732" y="20039"/>
                </a:lnTo>
                <a:lnTo>
                  <a:pt x="12913" y="19121"/>
                </a:lnTo>
                <a:close/>
              </a:path>
              <a:path w="28575" h="44450">
                <a:moveTo>
                  <a:pt x="18210" y="22966"/>
                </a:moveTo>
                <a:lnTo>
                  <a:pt x="18018" y="23101"/>
                </a:lnTo>
                <a:lnTo>
                  <a:pt x="17420" y="24293"/>
                </a:lnTo>
                <a:lnTo>
                  <a:pt x="17308" y="24978"/>
                </a:lnTo>
                <a:lnTo>
                  <a:pt x="18150" y="23101"/>
                </a:lnTo>
                <a:lnTo>
                  <a:pt x="18210" y="22966"/>
                </a:lnTo>
                <a:close/>
              </a:path>
              <a:path w="28575" h="44450">
                <a:moveTo>
                  <a:pt x="24473" y="17519"/>
                </a:moveTo>
                <a:lnTo>
                  <a:pt x="23970" y="17519"/>
                </a:lnTo>
                <a:lnTo>
                  <a:pt x="23914" y="18953"/>
                </a:lnTo>
                <a:lnTo>
                  <a:pt x="23788" y="20783"/>
                </a:lnTo>
                <a:lnTo>
                  <a:pt x="23718" y="21418"/>
                </a:lnTo>
                <a:lnTo>
                  <a:pt x="23651" y="22016"/>
                </a:lnTo>
                <a:lnTo>
                  <a:pt x="23546" y="22966"/>
                </a:lnTo>
                <a:lnTo>
                  <a:pt x="23423" y="24443"/>
                </a:lnTo>
                <a:lnTo>
                  <a:pt x="23273" y="24978"/>
                </a:lnTo>
                <a:lnTo>
                  <a:pt x="22596" y="24978"/>
                </a:lnTo>
                <a:lnTo>
                  <a:pt x="27151" y="23101"/>
                </a:lnTo>
                <a:lnTo>
                  <a:pt x="27493" y="22276"/>
                </a:lnTo>
                <a:lnTo>
                  <a:pt x="27601" y="22016"/>
                </a:lnTo>
                <a:lnTo>
                  <a:pt x="27700" y="21776"/>
                </a:lnTo>
                <a:lnTo>
                  <a:pt x="27758" y="21635"/>
                </a:lnTo>
                <a:lnTo>
                  <a:pt x="27848" y="21418"/>
                </a:lnTo>
                <a:lnTo>
                  <a:pt x="28019" y="21418"/>
                </a:lnTo>
                <a:lnTo>
                  <a:pt x="27071" y="19121"/>
                </a:lnTo>
                <a:lnTo>
                  <a:pt x="27001" y="18953"/>
                </a:lnTo>
                <a:lnTo>
                  <a:pt x="26935" y="18792"/>
                </a:lnTo>
                <a:lnTo>
                  <a:pt x="26379" y="18201"/>
                </a:lnTo>
                <a:lnTo>
                  <a:pt x="26058" y="17921"/>
                </a:lnTo>
                <a:lnTo>
                  <a:pt x="24473" y="17519"/>
                </a:lnTo>
                <a:close/>
              </a:path>
              <a:path w="28575" h="44450">
                <a:moveTo>
                  <a:pt x="8522" y="23927"/>
                </a:moveTo>
                <a:lnTo>
                  <a:pt x="6946" y="23927"/>
                </a:lnTo>
                <a:lnTo>
                  <a:pt x="8371" y="24293"/>
                </a:lnTo>
                <a:lnTo>
                  <a:pt x="8522" y="23927"/>
                </a:lnTo>
                <a:close/>
              </a:path>
              <a:path w="28575" h="44450">
                <a:moveTo>
                  <a:pt x="10607" y="23927"/>
                </a:moveTo>
                <a:lnTo>
                  <a:pt x="10231" y="23927"/>
                </a:lnTo>
                <a:lnTo>
                  <a:pt x="10959" y="24293"/>
                </a:lnTo>
                <a:lnTo>
                  <a:pt x="10451" y="24293"/>
                </a:lnTo>
                <a:lnTo>
                  <a:pt x="10607" y="23927"/>
                </a:lnTo>
                <a:close/>
              </a:path>
              <a:path w="28575" h="44450">
                <a:moveTo>
                  <a:pt x="11751" y="23406"/>
                </a:moveTo>
                <a:lnTo>
                  <a:pt x="10733" y="23635"/>
                </a:lnTo>
                <a:lnTo>
                  <a:pt x="10453" y="24293"/>
                </a:lnTo>
                <a:lnTo>
                  <a:pt x="13307" y="24293"/>
                </a:lnTo>
                <a:lnTo>
                  <a:pt x="11751" y="23406"/>
                </a:lnTo>
                <a:close/>
              </a:path>
              <a:path w="28575" h="44450">
                <a:moveTo>
                  <a:pt x="19472" y="15759"/>
                </a:moveTo>
                <a:lnTo>
                  <a:pt x="17535" y="15759"/>
                </a:lnTo>
                <a:lnTo>
                  <a:pt x="20105" y="16411"/>
                </a:lnTo>
                <a:lnTo>
                  <a:pt x="16639" y="16411"/>
                </a:lnTo>
                <a:lnTo>
                  <a:pt x="16735" y="17519"/>
                </a:lnTo>
                <a:lnTo>
                  <a:pt x="16845" y="18792"/>
                </a:lnTo>
                <a:lnTo>
                  <a:pt x="16967" y="20201"/>
                </a:lnTo>
                <a:lnTo>
                  <a:pt x="17091" y="21635"/>
                </a:lnTo>
                <a:lnTo>
                  <a:pt x="17203" y="22966"/>
                </a:lnTo>
                <a:lnTo>
                  <a:pt x="17316" y="24293"/>
                </a:lnTo>
                <a:lnTo>
                  <a:pt x="17603" y="23927"/>
                </a:lnTo>
                <a:lnTo>
                  <a:pt x="18563" y="22016"/>
                </a:lnTo>
                <a:lnTo>
                  <a:pt x="18683" y="21776"/>
                </a:lnTo>
                <a:lnTo>
                  <a:pt x="18754" y="21635"/>
                </a:lnTo>
                <a:lnTo>
                  <a:pt x="18023" y="21418"/>
                </a:lnTo>
                <a:lnTo>
                  <a:pt x="18871" y="21418"/>
                </a:lnTo>
                <a:lnTo>
                  <a:pt x="20320" y="18201"/>
                </a:lnTo>
                <a:lnTo>
                  <a:pt x="20292" y="17921"/>
                </a:lnTo>
                <a:lnTo>
                  <a:pt x="19808" y="16643"/>
                </a:lnTo>
                <a:lnTo>
                  <a:pt x="19719" y="16411"/>
                </a:lnTo>
                <a:lnTo>
                  <a:pt x="20105" y="16411"/>
                </a:lnTo>
                <a:lnTo>
                  <a:pt x="17535" y="15759"/>
                </a:lnTo>
                <a:lnTo>
                  <a:pt x="19472" y="15759"/>
                </a:lnTo>
                <a:close/>
              </a:path>
              <a:path w="28575" h="44450">
                <a:moveTo>
                  <a:pt x="10829" y="23406"/>
                </a:moveTo>
                <a:lnTo>
                  <a:pt x="9192" y="23406"/>
                </a:lnTo>
                <a:lnTo>
                  <a:pt x="10231" y="23927"/>
                </a:lnTo>
                <a:lnTo>
                  <a:pt x="9435" y="23927"/>
                </a:lnTo>
                <a:lnTo>
                  <a:pt x="10731" y="23635"/>
                </a:lnTo>
                <a:lnTo>
                  <a:pt x="10829" y="23406"/>
                </a:lnTo>
                <a:close/>
              </a:path>
              <a:path w="28575" h="44450">
                <a:moveTo>
                  <a:pt x="14652" y="20473"/>
                </a:moveTo>
                <a:lnTo>
                  <a:pt x="11423" y="22016"/>
                </a:lnTo>
                <a:lnTo>
                  <a:pt x="10831" y="23406"/>
                </a:lnTo>
                <a:lnTo>
                  <a:pt x="10733" y="23635"/>
                </a:lnTo>
                <a:lnTo>
                  <a:pt x="11751" y="23406"/>
                </a:lnTo>
                <a:lnTo>
                  <a:pt x="17241" y="23406"/>
                </a:lnTo>
                <a:lnTo>
                  <a:pt x="17123" y="22016"/>
                </a:lnTo>
                <a:lnTo>
                  <a:pt x="17072" y="21418"/>
                </a:lnTo>
                <a:lnTo>
                  <a:pt x="18023" y="21418"/>
                </a:lnTo>
                <a:lnTo>
                  <a:pt x="14652" y="20473"/>
                </a:lnTo>
                <a:close/>
              </a:path>
              <a:path w="28575" h="44450">
                <a:moveTo>
                  <a:pt x="12921" y="11751"/>
                </a:moveTo>
                <a:lnTo>
                  <a:pt x="9404" y="13000"/>
                </a:lnTo>
                <a:lnTo>
                  <a:pt x="6496" y="18792"/>
                </a:lnTo>
                <a:lnTo>
                  <a:pt x="6471" y="19121"/>
                </a:lnTo>
                <a:lnTo>
                  <a:pt x="7233" y="21418"/>
                </a:lnTo>
                <a:lnTo>
                  <a:pt x="7306" y="21635"/>
                </a:lnTo>
                <a:lnTo>
                  <a:pt x="7432" y="22016"/>
                </a:lnTo>
                <a:lnTo>
                  <a:pt x="7518" y="22276"/>
                </a:lnTo>
                <a:lnTo>
                  <a:pt x="7634" y="22624"/>
                </a:lnTo>
                <a:lnTo>
                  <a:pt x="9192" y="23406"/>
                </a:lnTo>
                <a:lnTo>
                  <a:pt x="8875" y="23406"/>
                </a:lnTo>
                <a:lnTo>
                  <a:pt x="10654" y="20783"/>
                </a:lnTo>
                <a:lnTo>
                  <a:pt x="11651" y="20039"/>
                </a:lnTo>
                <a:lnTo>
                  <a:pt x="11800" y="20039"/>
                </a:lnTo>
                <a:lnTo>
                  <a:pt x="11946" y="19121"/>
                </a:lnTo>
                <a:lnTo>
                  <a:pt x="11998" y="18792"/>
                </a:lnTo>
                <a:lnTo>
                  <a:pt x="12122" y="16411"/>
                </a:lnTo>
                <a:lnTo>
                  <a:pt x="12203" y="12153"/>
                </a:lnTo>
                <a:lnTo>
                  <a:pt x="13812" y="12153"/>
                </a:lnTo>
                <a:lnTo>
                  <a:pt x="12921" y="11751"/>
                </a:lnTo>
                <a:close/>
              </a:path>
              <a:path w="28575" h="44450">
                <a:moveTo>
                  <a:pt x="13867" y="0"/>
                </a:moveTo>
                <a:lnTo>
                  <a:pt x="8474" y="0"/>
                </a:lnTo>
                <a:lnTo>
                  <a:pt x="6454" y="1944"/>
                </a:lnTo>
                <a:lnTo>
                  <a:pt x="4554" y="22966"/>
                </a:lnTo>
                <a:lnTo>
                  <a:pt x="5667" y="20473"/>
                </a:lnTo>
                <a:lnTo>
                  <a:pt x="13767" y="4311"/>
                </a:lnTo>
                <a:lnTo>
                  <a:pt x="16024" y="3511"/>
                </a:lnTo>
                <a:lnTo>
                  <a:pt x="15963" y="1944"/>
                </a:lnTo>
                <a:lnTo>
                  <a:pt x="13867" y="0"/>
                </a:lnTo>
                <a:close/>
              </a:path>
              <a:path w="28575" h="44450">
                <a:moveTo>
                  <a:pt x="13732" y="20039"/>
                </a:moveTo>
                <a:lnTo>
                  <a:pt x="11800" y="20039"/>
                </a:lnTo>
                <a:lnTo>
                  <a:pt x="11682" y="20783"/>
                </a:lnTo>
                <a:lnTo>
                  <a:pt x="11581" y="21418"/>
                </a:lnTo>
                <a:lnTo>
                  <a:pt x="11547" y="21635"/>
                </a:lnTo>
                <a:lnTo>
                  <a:pt x="11422" y="22016"/>
                </a:lnTo>
                <a:lnTo>
                  <a:pt x="12674" y="21418"/>
                </a:lnTo>
                <a:lnTo>
                  <a:pt x="23180" y="21418"/>
                </a:lnTo>
                <a:lnTo>
                  <a:pt x="11941" y="20783"/>
                </a:lnTo>
                <a:lnTo>
                  <a:pt x="14396" y="20783"/>
                </a:lnTo>
                <a:lnTo>
                  <a:pt x="13732" y="20039"/>
                </a:lnTo>
                <a:close/>
              </a:path>
              <a:path w="28575" h="44450">
                <a:moveTo>
                  <a:pt x="18863" y="21418"/>
                </a:moveTo>
                <a:lnTo>
                  <a:pt x="18023" y="21418"/>
                </a:lnTo>
                <a:lnTo>
                  <a:pt x="18799" y="21635"/>
                </a:lnTo>
                <a:lnTo>
                  <a:pt x="18863" y="21418"/>
                </a:lnTo>
                <a:close/>
              </a:path>
              <a:path w="28575" h="44450">
                <a:moveTo>
                  <a:pt x="16639" y="16411"/>
                </a:moveTo>
                <a:lnTo>
                  <a:pt x="12913" y="19121"/>
                </a:lnTo>
                <a:lnTo>
                  <a:pt x="14396" y="20783"/>
                </a:lnTo>
                <a:lnTo>
                  <a:pt x="11941" y="20783"/>
                </a:lnTo>
                <a:lnTo>
                  <a:pt x="23180" y="21418"/>
                </a:lnTo>
                <a:lnTo>
                  <a:pt x="12674" y="21418"/>
                </a:lnTo>
                <a:lnTo>
                  <a:pt x="14652" y="20473"/>
                </a:lnTo>
                <a:lnTo>
                  <a:pt x="16991" y="20473"/>
                </a:lnTo>
                <a:lnTo>
                  <a:pt x="16874" y="19121"/>
                </a:lnTo>
                <a:lnTo>
                  <a:pt x="16769" y="17921"/>
                </a:lnTo>
                <a:lnTo>
                  <a:pt x="16659" y="16643"/>
                </a:lnTo>
                <a:lnTo>
                  <a:pt x="16639" y="16411"/>
                </a:lnTo>
                <a:close/>
              </a:path>
              <a:path w="28575" h="44450">
                <a:moveTo>
                  <a:pt x="16991" y="20473"/>
                </a:moveTo>
                <a:lnTo>
                  <a:pt x="14652" y="20473"/>
                </a:lnTo>
                <a:lnTo>
                  <a:pt x="18023" y="21418"/>
                </a:lnTo>
                <a:lnTo>
                  <a:pt x="17072" y="21418"/>
                </a:lnTo>
                <a:lnTo>
                  <a:pt x="16991" y="20473"/>
                </a:lnTo>
                <a:close/>
              </a:path>
              <a:path w="28575" h="44450">
                <a:moveTo>
                  <a:pt x="23893" y="18792"/>
                </a:moveTo>
                <a:lnTo>
                  <a:pt x="23737" y="18953"/>
                </a:lnTo>
                <a:lnTo>
                  <a:pt x="20929" y="21418"/>
                </a:lnTo>
                <a:lnTo>
                  <a:pt x="23718" y="21418"/>
                </a:lnTo>
                <a:lnTo>
                  <a:pt x="23823" y="20473"/>
                </a:lnTo>
                <a:lnTo>
                  <a:pt x="23893" y="18792"/>
                </a:lnTo>
                <a:close/>
              </a:path>
              <a:path w="28575" h="44450">
                <a:moveTo>
                  <a:pt x="12092" y="18201"/>
                </a:moveTo>
                <a:lnTo>
                  <a:pt x="11800" y="20039"/>
                </a:lnTo>
                <a:lnTo>
                  <a:pt x="11651" y="20039"/>
                </a:lnTo>
                <a:lnTo>
                  <a:pt x="12913" y="19121"/>
                </a:lnTo>
                <a:lnTo>
                  <a:pt x="12092" y="18201"/>
                </a:lnTo>
                <a:close/>
              </a:path>
              <a:path w="28575" h="44450">
                <a:moveTo>
                  <a:pt x="13812" y="12153"/>
                </a:moveTo>
                <a:lnTo>
                  <a:pt x="12362" y="12153"/>
                </a:lnTo>
                <a:lnTo>
                  <a:pt x="12321" y="13000"/>
                </a:lnTo>
                <a:lnTo>
                  <a:pt x="12200" y="15759"/>
                </a:lnTo>
                <a:lnTo>
                  <a:pt x="12092" y="18201"/>
                </a:lnTo>
                <a:lnTo>
                  <a:pt x="12913" y="19121"/>
                </a:lnTo>
                <a:lnTo>
                  <a:pt x="16639" y="16411"/>
                </a:lnTo>
                <a:lnTo>
                  <a:pt x="16515" y="14858"/>
                </a:lnTo>
                <a:lnTo>
                  <a:pt x="16434" y="13336"/>
                </a:lnTo>
                <a:lnTo>
                  <a:pt x="13812" y="12153"/>
                </a:lnTo>
                <a:close/>
              </a:path>
              <a:path w="28575" h="44450">
                <a:moveTo>
                  <a:pt x="17166" y="3106"/>
                </a:moveTo>
                <a:lnTo>
                  <a:pt x="16024" y="3511"/>
                </a:lnTo>
                <a:lnTo>
                  <a:pt x="16069" y="4681"/>
                </a:lnTo>
                <a:lnTo>
                  <a:pt x="16187" y="7776"/>
                </a:lnTo>
                <a:lnTo>
                  <a:pt x="16311" y="10730"/>
                </a:lnTo>
                <a:lnTo>
                  <a:pt x="16434" y="13336"/>
                </a:lnTo>
                <a:lnTo>
                  <a:pt x="19207" y="14586"/>
                </a:lnTo>
                <a:lnTo>
                  <a:pt x="19130" y="14858"/>
                </a:lnTo>
                <a:lnTo>
                  <a:pt x="20292" y="17921"/>
                </a:lnTo>
                <a:lnTo>
                  <a:pt x="20398" y="18201"/>
                </a:lnTo>
                <a:lnTo>
                  <a:pt x="20446" y="17921"/>
                </a:lnTo>
                <a:lnTo>
                  <a:pt x="21021" y="16643"/>
                </a:lnTo>
                <a:lnTo>
                  <a:pt x="20105" y="16411"/>
                </a:lnTo>
                <a:lnTo>
                  <a:pt x="21126" y="16411"/>
                </a:lnTo>
                <a:lnTo>
                  <a:pt x="23417" y="11325"/>
                </a:lnTo>
                <a:lnTo>
                  <a:pt x="21634" y="9395"/>
                </a:lnTo>
                <a:lnTo>
                  <a:pt x="18361" y="9264"/>
                </a:lnTo>
                <a:lnTo>
                  <a:pt x="23975" y="9264"/>
                </a:lnTo>
                <a:lnTo>
                  <a:pt x="23980" y="8256"/>
                </a:lnTo>
                <a:lnTo>
                  <a:pt x="23028" y="5745"/>
                </a:lnTo>
                <a:lnTo>
                  <a:pt x="17166" y="3106"/>
                </a:lnTo>
                <a:close/>
              </a:path>
              <a:path w="28575" h="44450">
                <a:moveTo>
                  <a:pt x="23417" y="11325"/>
                </a:moveTo>
                <a:lnTo>
                  <a:pt x="21126" y="16411"/>
                </a:lnTo>
                <a:lnTo>
                  <a:pt x="21021" y="16643"/>
                </a:lnTo>
                <a:lnTo>
                  <a:pt x="24473" y="17519"/>
                </a:lnTo>
                <a:lnTo>
                  <a:pt x="23928" y="17519"/>
                </a:lnTo>
                <a:lnTo>
                  <a:pt x="23958" y="12153"/>
                </a:lnTo>
                <a:lnTo>
                  <a:pt x="24181" y="12153"/>
                </a:lnTo>
                <a:lnTo>
                  <a:pt x="23417" y="11325"/>
                </a:lnTo>
                <a:close/>
              </a:path>
              <a:path w="28575" h="44450">
                <a:moveTo>
                  <a:pt x="21126" y="16411"/>
                </a:moveTo>
                <a:lnTo>
                  <a:pt x="20105" y="16411"/>
                </a:lnTo>
                <a:lnTo>
                  <a:pt x="21021" y="16643"/>
                </a:lnTo>
                <a:lnTo>
                  <a:pt x="21126" y="16411"/>
                </a:lnTo>
                <a:close/>
              </a:path>
              <a:path w="28575" h="44450">
                <a:moveTo>
                  <a:pt x="16434" y="13336"/>
                </a:moveTo>
                <a:lnTo>
                  <a:pt x="16515" y="14858"/>
                </a:lnTo>
                <a:lnTo>
                  <a:pt x="16639" y="16411"/>
                </a:lnTo>
                <a:lnTo>
                  <a:pt x="17535" y="15759"/>
                </a:lnTo>
                <a:lnTo>
                  <a:pt x="19472" y="15759"/>
                </a:lnTo>
                <a:lnTo>
                  <a:pt x="19130" y="14858"/>
                </a:lnTo>
                <a:lnTo>
                  <a:pt x="19027" y="14586"/>
                </a:lnTo>
                <a:lnTo>
                  <a:pt x="19207" y="14586"/>
                </a:lnTo>
                <a:lnTo>
                  <a:pt x="16434" y="13336"/>
                </a:lnTo>
                <a:close/>
              </a:path>
              <a:path w="28575" h="44450">
                <a:moveTo>
                  <a:pt x="24181" y="12153"/>
                </a:moveTo>
                <a:lnTo>
                  <a:pt x="23958" y="12153"/>
                </a:lnTo>
                <a:lnTo>
                  <a:pt x="23938" y="15759"/>
                </a:lnTo>
                <a:lnTo>
                  <a:pt x="24075" y="14858"/>
                </a:lnTo>
                <a:lnTo>
                  <a:pt x="24181" y="12153"/>
                </a:lnTo>
                <a:close/>
              </a:path>
              <a:path w="28575" h="44450">
                <a:moveTo>
                  <a:pt x="16359" y="11751"/>
                </a:moveTo>
                <a:lnTo>
                  <a:pt x="12921" y="11751"/>
                </a:lnTo>
                <a:lnTo>
                  <a:pt x="16434" y="13336"/>
                </a:lnTo>
                <a:lnTo>
                  <a:pt x="16359" y="11751"/>
                </a:lnTo>
                <a:close/>
              </a:path>
              <a:path w="28575" h="44450">
                <a:moveTo>
                  <a:pt x="11518" y="8791"/>
                </a:moveTo>
                <a:lnTo>
                  <a:pt x="9404" y="13000"/>
                </a:lnTo>
                <a:lnTo>
                  <a:pt x="11789" y="12153"/>
                </a:lnTo>
                <a:lnTo>
                  <a:pt x="12203" y="12153"/>
                </a:lnTo>
                <a:lnTo>
                  <a:pt x="11581" y="10882"/>
                </a:lnTo>
                <a:lnTo>
                  <a:pt x="11518" y="8791"/>
                </a:lnTo>
                <a:close/>
              </a:path>
              <a:path w="28575" h="44450">
                <a:moveTo>
                  <a:pt x="16036" y="3822"/>
                </a:moveTo>
                <a:lnTo>
                  <a:pt x="14701" y="4127"/>
                </a:lnTo>
                <a:lnTo>
                  <a:pt x="13205" y="5431"/>
                </a:lnTo>
                <a:lnTo>
                  <a:pt x="11518" y="8791"/>
                </a:lnTo>
                <a:lnTo>
                  <a:pt x="11581" y="10882"/>
                </a:lnTo>
                <a:lnTo>
                  <a:pt x="12345" y="12443"/>
                </a:lnTo>
                <a:lnTo>
                  <a:pt x="12384" y="11751"/>
                </a:lnTo>
                <a:lnTo>
                  <a:pt x="12728" y="11325"/>
                </a:lnTo>
                <a:lnTo>
                  <a:pt x="14998" y="9264"/>
                </a:lnTo>
                <a:lnTo>
                  <a:pt x="16244" y="9264"/>
                </a:lnTo>
                <a:lnTo>
                  <a:pt x="16187" y="7776"/>
                </a:lnTo>
                <a:lnTo>
                  <a:pt x="16069" y="4681"/>
                </a:lnTo>
                <a:lnTo>
                  <a:pt x="16036" y="3822"/>
                </a:lnTo>
                <a:close/>
              </a:path>
              <a:path w="28575" h="44450">
                <a:moveTo>
                  <a:pt x="16244" y="9264"/>
                </a:moveTo>
                <a:lnTo>
                  <a:pt x="14998" y="9264"/>
                </a:lnTo>
                <a:lnTo>
                  <a:pt x="12728" y="11325"/>
                </a:lnTo>
                <a:lnTo>
                  <a:pt x="12384" y="11751"/>
                </a:lnTo>
                <a:lnTo>
                  <a:pt x="12362" y="12153"/>
                </a:lnTo>
                <a:lnTo>
                  <a:pt x="11789" y="12153"/>
                </a:lnTo>
                <a:lnTo>
                  <a:pt x="12921" y="11751"/>
                </a:lnTo>
                <a:lnTo>
                  <a:pt x="16359" y="11751"/>
                </a:lnTo>
                <a:lnTo>
                  <a:pt x="16244" y="9264"/>
                </a:lnTo>
                <a:close/>
              </a:path>
              <a:path w="28575" h="44450">
                <a:moveTo>
                  <a:pt x="23970" y="10097"/>
                </a:moveTo>
                <a:lnTo>
                  <a:pt x="23417" y="11325"/>
                </a:lnTo>
                <a:lnTo>
                  <a:pt x="24181" y="12153"/>
                </a:lnTo>
                <a:lnTo>
                  <a:pt x="23958" y="12153"/>
                </a:lnTo>
                <a:lnTo>
                  <a:pt x="23970" y="10097"/>
                </a:lnTo>
                <a:close/>
              </a:path>
              <a:path w="28575" h="44450">
                <a:moveTo>
                  <a:pt x="23975" y="9264"/>
                </a:moveTo>
                <a:lnTo>
                  <a:pt x="18361" y="9264"/>
                </a:lnTo>
                <a:lnTo>
                  <a:pt x="21634" y="9395"/>
                </a:lnTo>
                <a:lnTo>
                  <a:pt x="23417" y="11325"/>
                </a:lnTo>
                <a:lnTo>
                  <a:pt x="23970" y="10097"/>
                </a:lnTo>
                <a:lnTo>
                  <a:pt x="23975" y="9264"/>
                </a:lnTo>
                <a:close/>
              </a:path>
              <a:path w="28575" h="44450">
                <a:moveTo>
                  <a:pt x="23980" y="8256"/>
                </a:moveTo>
                <a:lnTo>
                  <a:pt x="23970" y="10097"/>
                </a:lnTo>
                <a:lnTo>
                  <a:pt x="24179" y="9633"/>
                </a:lnTo>
                <a:lnTo>
                  <a:pt x="24286" y="9395"/>
                </a:lnTo>
                <a:lnTo>
                  <a:pt x="24345" y="9264"/>
                </a:lnTo>
                <a:lnTo>
                  <a:pt x="23980" y="8256"/>
                </a:lnTo>
                <a:close/>
              </a:path>
              <a:path w="28575" h="44450">
                <a:moveTo>
                  <a:pt x="19737" y="3822"/>
                </a:moveTo>
                <a:lnTo>
                  <a:pt x="18757" y="3822"/>
                </a:lnTo>
                <a:lnTo>
                  <a:pt x="23028" y="5745"/>
                </a:lnTo>
                <a:lnTo>
                  <a:pt x="23980" y="8256"/>
                </a:lnTo>
                <a:lnTo>
                  <a:pt x="23983" y="7776"/>
                </a:lnTo>
                <a:lnTo>
                  <a:pt x="22939" y="4996"/>
                </a:lnTo>
                <a:lnTo>
                  <a:pt x="19737" y="3822"/>
                </a:lnTo>
                <a:close/>
              </a:path>
              <a:path w="28575" h="44450">
                <a:moveTo>
                  <a:pt x="16024" y="3511"/>
                </a:moveTo>
                <a:lnTo>
                  <a:pt x="13767" y="4311"/>
                </a:lnTo>
                <a:lnTo>
                  <a:pt x="13205" y="5431"/>
                </a:lnTo>
                <a:lnTo>
                  <a:pt x="14701" y="4127"/>
                </a:lnTo>
                <a:lnTo>
                  <a:pt x="16036" y="3822"/>
                </a:lnTo>
                <a:lnTo>
                  <a:pt x="16024" y="35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" name="object 37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59287" y="2849488"/>
            <a:ext cx="1282933" cy="296056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973613" y="2807694"/>
            <a:ext cx="1840217" cy="316747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881885" y="2789001"/>
            <a:ext cx="381187" cy="312402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407892" y="2846967"/>
            <a:ext cx="137494" cy="19357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400575" y="2934492"/>
            <a:ext cx="434582" cy="196987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4899478" y="2932707"/>
            <a:ext cx="93070" cy="82727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066977" y="2817393"/>
            <a:ext cx="371002" cy="329281"/>
          </a:xfrm>
          <a:prstGeom prst="rect">
            <a:avLst/>
          </a:prstGeom>
        </p:spPr>
      </p:pic>
      <p:sp>
        <p:nvSpPr>
          <p:cNvPr id="44" name="object 44" descr=""/>
          <p:cNvSpPr/>
          <p:nvPr/>
        </p:nvSpPr>
        <p:spPr>
          <a:xfrm>
            <a:off x="5582544" y="2912125"/>
            <a:ext cx="48895" cy="179070"/>
          </a:xfrm>
          <a:custGeom>
            <a:avLst/>
            <a:gdLst/>
            <a:ahLst/>
            <a:cxnLst/>
            <a:rect l="l" t="t" r="r" b="b"/>
            <a:pathLst>
              <a:path w="48895" h="179069">
                <a:moveTo>
                  <a:pt x="16434" y="150466"/>
                </a:moveTo>
                <a:lnTo>
                  <a:pt x="0" y="173454"/>
                </a:lnTo>
                <a:lnTo>
                  <a:pt x="130" y="175833"/>
                </a:lnTo>
                <a:lnTo>
                  <a:pt x="2899" y="178320"/>
                </a:lnTo>
                <a:lnTo>
                  <a:pt x="4692" y="178494"/>
                </a:lnTo>
                <a:lnTo>
                  <a:pt x="6104" y="177657"/>
                </a:lnTo>
                <a:lnTo>
                  <a:pt x="13064" y="172819"/>
                </a:lnTo>
                <a:lnTo>
                  <a:pt x="19262" y="167070"/>
                </a:lnTo>
                <a:lnTo>
                  <a:pt x="24670" y="160560"/>
                </a:lnTo>
                <a:lnTo>
                  <a:pt x="26650" y="157488"/>
                </a:lnTo>
                <a:lnTo>
                  <a:pt x="23873" y="157488"/>
                </a:lnTo>
                <a:lnTo>
                  <a:pt x="17758" y="154349"/>
                </a:lnTo>
                <a:lnTo>
                  <a:pt x="16434" y="150466"/>
                </a:lnTo>
                <a:close/>
              </a:path>
              <a:path w="48895" h="179069">
                <a:moveTo>
                  <a:pt x="23840" y="143097"/>
                </a:moveTo>
                <a:lnTo>
                  <a:pt x="19973" y="144172"/>
                </a:lnTo>
                <a:lnTo>
                  <a:pt x="18706" y="146410"/>
                </a:lnTo>
                <a:lnTo>
                  <a:pt x="18593" y="146540"/>
                </a:lnTo>
                <a:lnTo>
                  <a:pt x="18194" y="147315"/>
                </a:lnTo>
                <a:lnTo>
                  <a:pt x="16434" y="150466"/>
                </a:lnTo>
                <a:lnTo>
                  <a:pt x="17758" y="154349"/>
                </a:lnTo>
                <a:lnTo>
                  <a:pt x="23873" y="157488"/>
                </a:lnTo>
                <a:lnTo>
                  <a:pt x="27301" y="156477"/>
                </a:lnTo>
                <a:lnTo>
                  <a:pt x="29232" y="153480"/>
                </a:lnTo>
                <a:lnTo>
                  <a:pt x="30947" y="150466"/>
                </a:lnTo>
                <a:lnTo>
                  <a:pt x="29911" y="146540"/>
                </a:lnTo>
                <a:lnTo>
                  <a:pt x="23840" y="143097"/>
                </a:lnTo>
                <a:close/>
              </a:path>
              <a:path w="48895" h="179069">
                <a:moveTo>
                  <a:pt x="27301" y="156477"/>
                </a:moveTo>
                <a:lnTo>
                  <a:pt x="23873" y="157488"/>
                </a:lnTo>
                <a:lnTo>
                  <a:pt x="26650" y="157488"/>
                </a:lnTo>
                <a:lnTo>
                  <a:pt x="27301" y="156477"/>
                </a:lnTo>
                <a:close/>
              </a:path>
              <a:path w="48895" h="179069">
                <a:moveTo>
                  <a:pt x="28737" y="154349"/>
                </a:moveTo>
                <a:lnTo>
                  <a:pt x="27301" y="156477"/>
                </a:lnTo>
                <a:lnTo>
                  <a:pt x="27511" y="156477"/>
                </a:lnTo>
                <a:lnTo>
                  <a:pt x="28737" y="154349"/>
                </a:lnTo>
                <a:close/>
              </a:path>
              <a:path w="48895" h="179069">
                <a:moveTo>
                  <a:pt x="34863" y="143097"/>
                </a:moveTo>
                <a:lnTo>
                  <a:pt x="23840" y="143097"/>
                </a:lnTo>
                <a:lnTo>
                  <a:pt x="29911" y="146540"/>
                </a:lnTo>
                <a:lnTo>
                  <a:pt x="31006" y="150466"/>
                </a:lnTo>
                <a:lnTo>
                  <a:pt x="33236" y="146540"/>
                </a:lnTo>
                <a:lnTo>
                  <a:pt x="34863" y="143097"/>
                </a:lnTo>
                <a:close/>
              </a:path>
              <a:path w="48895" h="179069">
                <a:moveTo>
                  <a:pt x="26089" y="129988"/>
                </a:moveTo>
                <a:lnTo>
                  <a:pt x="24676" y="133658"/>
                </a:lnTo>
                <a:lnTo>
                  <a:pt x="21624" y="140653"/>
                </a:lnTo>
                <a:lnTo>
                  <a:pt x="18661" y="146410"/>
                </a:lnTo>
                <a:lnTo>
                  <a:pt x="19973" y="144172"/>
                </a:lnTo>
                <a:lnTo>
                  <a:pt x="23840" y="143097"/>
                </a:lnTo>
                <a:lnTo>
                  <a:pt x="34863" y="143097"/>
                </a:lnTo>
                <a:lnTo>
                  <a:pt x="36787" y="138991"/>
                </a:lnTo>
                <a:lnTo>
                  <a:pt x="37761" y="136471"/>
                </a:lnTo>
                <a:lnTo>
                  <a:pt x="34625" y="136471"/>
                </a:lnTo>
                <a:lnTo>
                  <a:pt x="27794" y="133832"/>
                </a:lnTo>
                <a:lnTo>
                  <a:pt x="26089" y="129988"/>
                </a:lnTo>
                <a:close/>
              </a:path>
              <a:path w="48895" h="179069">
                <a:moveTo>
                  <a:pt x="32670" y="121407"/>
                </a:moveTo>
                <a:lnTo>
                  <a:pt x="28784" y="123101"/>
                </a:lnTo>
                <a:lnTo>
                  <a:pt x="28003" y="125018"/>
                </a:lnTo>
                <a:lnTo>
                  <a:pt x="26089" y="129988"/>
                </a:lnTo>
                <a:lnTo>
                  <a:pt x="27716" y="133658"/>
                </a:lnTo>
                <a:lnTo>
                  <a:pt x="27794" y="133832"/>
                </a:lnTo>
                <a:lnTo>
                  <a:pt x="34625" y="136471"/>
                </a:lnTo>
                <a:lnTo>
                  <a:pt x="38399" y="134820"/>
                </a:lnTo>
                <a:lnTo>
                  <a:pt x="39684" y="131715"/>
                </a:lnTo>
                <a:lnTo>
                  <a:pt x="41040" y="128003"/>
                </a:lnTo>
                <a:lnTo>
                  <a:pt x="41097" y="127846"/>
                </a:lnTo>
                <a:lnTo>
                  <a:pt x="39491" y="124133"/>
                </a:lnTo>
                <a:lnTo>
                  <a:pt x="32670" y="121407"/>
                </a:lnTo>
                <a:close/>
              </a:path>
              <a:path w="48895" h="179069">
                <a:moveTo>
                  <a:pt x="38399" y="134820"/>
                </a:moveTo>
                <a:lnTo>
                  <a:pt x="34625" y="136471"/>
                </a:lnTo>
                <a:lnTo>
                  <a:pt x="37761" y="136471"/>
                </a:lnTo>
                <a:lnTo>
                  <a:pt x="38399" y="134820"/>
                </a:lnTo>
                <a:close/>
              </a:path>
              <a:path w="48895" h="179069">
                <a:moveTo>
                  <a:pt x="43205" y="121407"/>
                </a:moveTo>
                <a:lnTo>
                  <a:pt x="32670" y="121407"/>
                </a:lnTo>
                <a:lnTo>
                  <a:pt x="39491" y="124133"/>
                </a:lnTo>
                <a:lnTo>
                  <a:pt x="41095" y="127846"/>
                </a:lnTo>
                <a:lnTo>
                  <a:pt x="42122" y="125018"/>
                </a:lnTo>
                <a:lnTo>
                  <a:pt x="43205" y="121407"/>
                </a:lnTo>
                <a:close/>
              </a:path>
              <a:path w="48895" h="179069">
                <a:moveTo>
                  <a:pt x="33019" y="106789"/>
                </a:moveTo>
                <a:lnTo>
                  <a:pt x="32344" y="111110"/>
                </a:lnTo>
                <a:lnTo>
                  <a:pt x="30451" y="118500"/>
                </a:lnTo>
                <a:lnTo>
                  <a:pt x="30324" y="118996"/>
                </a:lnTo>
                <a:lnTo>
                  <a:pt x="28742" y="123101"/>
                </a:lnTo>
                <a:lnTo>
                  <a:pt x="32670" y="121407"/>
                </a:lnTo>
                <a:lnTo>
                  <a:pt x="43205" y="121407"/>
                </a:lnTo>
                <a:lnTo>
                  <a:pt x="44076" y="118500"/>
                </a:lnTo>
                <a:lnTo>
                  <a:pt x="45665" y="111883"/>
                </a:lnTo>
                <a:lnTo>
                  <a:pt x="45759" y="111371"/>
                </a:lnTo>
                <a:lnTo>
                  <a:pt x="42880" y="111371"/>
                </a:lnTo>
                <a:lnTo>
                  <a:pt x="35538" y="110231"/>
                </a:lnTo>
                <a:lnTo>
                  <a:pt x="33019" y="106789"/>
                </a:lnTo>
                <a:close/>
              </a:path>
              <a:path w="48895" h="179069">
                <a:moveTo>
                  <a:pt x="37623" y="96915"/>
                </a:moveTo>
                <a:lnTo>
                  <a:pt x="35814" y="98228"/>
                </a:lnTo>
                <a:lnTo>
                  <a:pt x="34159" y="99490"/>
                </a:lnTo>
                <a:lnTo>
                  <a:pt x="33807" y="101520"/>
                </a:lnTo>
                <a:lnTo>
                  <a:pt x="33592" y="103116"/>
                </a:lnTo>
                <a:lnTo>
                  <a:pt x="33019" y="106789"/>
                </a:lnTo>
                <a:lnTo>
                  <a:pt x="35538" y="110231"/>
                </a:lnTo>
                <a:lnTo>
                  <a:pt x="42880" y="111371"/>
                </a:lnTo>
                <a:lnTo>
                  <a:pt x="46206" y="108947"/>
                </a:lnTo>
                <a:lnTo>
                  <a:pt x="46898" y="105191"/>
                </a:lnTo>
                <a:lnTo>
                  <a:pt x="47394" y="101520"/>
                </a:lnTo>
                <a:lnTo>
                  <a:pt x="45995" y="99490"/>
                </a:lnTo>
                <a:lnTo>
                  <a:pt x="45076" y="98228"/>
                </a:lnTo>
                <a:lnTo>
                  <a:pt x="44965" y="98077"/>
                </a:lnTo>
                <a:lnTo>
                  <a:pt x="37623" y="96915"/>
                </a:lnTo>
                <a:close/>
              </a:path>
              <a:path w="48895" h="179069">
                <a:moveTo>
                  <a:pt x="46206" y="108947"/>
                </a:moveTo>
                <a:lnTo>
                  <a:pt x="42880" y="111371"/>
                </a:lnTo>
                <a:lnTo>
                  <a:pt x="45759" y="111371"/>
                </a:lnTo>
                <a:lnTo>
                  <a:pt x="46206" y="108947"/>
                </a:lnTo>
                <a:close/>
              </a:path>
              <a:path w="48895" h="179069">
                <a:moveTo>
                  <a:pt x="47959" y="96915"/>
                </a:moveTo>
                <a:lnTo>
                  <a:pt x="37623" y="96915"/>
                </a:lnTo>
                <a:lnTo>
                  <a:pt x="44965" y="98077"/>
                </a:lnTo>
                <a:lnTo>
                  <a:pt x="47474" y="101520"/>
                </a:lnTo>
                <a:lnTo>
                  <a:pt x="47668" y="99490"/>
                </a:lnTo>
                <a:lnTo>
                  <a:pt x="47839" y="98228"/>
                </a:lnTo>
                <a:lnTo>
                  <a:pt x="47959" y="96915"/>
                </a:lnTo>
                <a:close/>
              </a:path>
              <a:path w="48895" h="179069">
                <a:moveTo>
                  <a:pt x="35358" y="81046"/>
                </a:moveTo>
                <a:lnTo>
                  <a:pt x="35331" y="84210"/>
                </a:lnTo>
                <a:lnTo>
                  <a:pt x="35034" y="90255"/>
                </a:lnTo>
                <a:lnTo>
                  <a:pt x="34450" y="96702"/>
                </a:lnTo>
                <a:lnTo>
                  <a:pt x="34077" y="99490"/>
                </a:lnTo>
                <a:lnTo>
                  <a:pt x="37623" y="96915"/>
                </a:lnTo>
                <a:lnTo>
                  <a:pt x="47959" y="96915"/>
                </a:lnTo>
                <a:lnTo>
                  <a:pt x="48480" y="91230"/>
                </a:lnTo>
                <a:lnTo>
                  <a:pt x="48831" y="84210"/>
                </a:lnTo>
                <a:lnTo>
                  <a:pt x="48831" y="84033"/>
                </a:lnTo>
                <a:lnTo>
                  <a:pt x="38503" y="84033"/>
                </a:lnTo>
                <a:lnTo>
                  <a:pt x="35358" y="81046"/>
                </a:lnTo>
                <a:close/>
              </a:path>
              <a:path w="48895" h="179069">
                <a:moveTo>
                  <a:pt x="45890" y="70543"/>
                </a:moveTo>
                <a:lnTo>
                  <a:pt x="38362" y="70543"/>
                </a:lnTo>
                <a:lnTo>
                  <a:pt x="35375" y="73596"/>
                </a:lnTo>
                <a:lnTo>
                  <a:pt x="35358" y="81046"/>
                </a:lnTo>
                <a:lnTo>
                  <a:pt x="38503" y="84033"/>
                </a:lnTo>
                <a:lnTo>
                  <a:pt x="45879" y="84033"/>
                </a:lnTo>
                <a:lnTo>
                  <a:pt x="48802" y="81046"/>
                </a:lnTo>
                <a:lnTo>
                  <a:pt x="48813" y="73454"/>
                </a:lnTo>
                <a:lnTo>
                  <a:pt x="45890" y="70543"/>
                </a:lnTo>
                <a:close/>
              </a:path>
              <a:path w="48895" h="179069">
                <a:moveTo>
                  <a:pt x="48837" y="81046"/>
                </a:moveTo>
                <a:lnTo>
                  <a:pt x="45879" y="84033"/>
                </a:lnTo>
                <a:lnTo>
                  <a:pt x="48831" y="84033"/>
                </a:lnTo>
                <a:lnTo>
                  <a:pt x="48837" y="81046"/>
                </a:lnTo>
                <a:close/>
              </a:path>
              <a:path w="48895" h="179069">
                <a:moveTo>
                  <a:pt x="34414" y="56906"/>
                </a:moveTo>
                <a:lnTo>
                  <a:pt x="34940" y="61246"/>
                </a:lnTo>
                <a:lnTo>
                  <a:pt x="35331" y="69294"/>
                </a:lnTo>
                <a:lnTo>
                  <a:pt x="35375" y="73596"/>
                </a:lnTo>
                <a:lnTo>
                  <a:pt x="38362" y="70543"/>
                </a:lnTo>
                <a:lnTo>
                  <a:pt x="48741" y="70543"/>
                </a:lnTo>
                <a:lnTo>
                  <a:pt x="48423" y="64320"/>
                </a:lnTo>
                <a:lnTo>
                  <a:pt x="48014" y="59476"/>
                </a:lnTo>
                <a:lnTo>
                  <a:pt x="37710" y="59476"/>
                </a:lnTo>
                <a:lnTo>
                  <a:pt x="34414" y="56906"/>
                </a:lnTo>
                <a:close/>
              </a:path>
              <a:path w="48895" h="179069">
                <a:moveTo>
                  <a:pt x="48741" y="70543"/>
                </a:moveTo>
                <a:lnTo>
                  <a:pt x="45890" y="70543"/>
                </a:lnTo>
                <a:lnTo>
                  <a:pt x="48854" y="73454"/>
                </a:lnTo>
                <a:lnTo>
                  <a:pt x="48741" y="70543"/>
                </a:lnTo>
                <a:close/>
              </a:path>
              <a:path w="48895" h="179069">
                <a:moveTo>
                  <a:pt x="43217" y="45400"/>
                </a:moveTo>
                <a:lnTo>
                  <a:pt x="36037" y="46431"/>
                </a:lnTo>
                <a:lnTo>
                  <a:pt x="33539" y="49702"/>
                </a:lnTo>
                <a:lnTo>
                  <a:pt x="34414" y="56906"/>
                </a:lnTo>
                <a:lnTo>
                  <a:pt x="37710" y="59476"/>
                </a:lnTo>
                <a:lnTo>
                  <a:pt x="44965" y="58596"/>
                </a:lnTo>
                <a:lnTo>
                  <a:pt x="47550" y="55294"/>
                </a:lnTo>
                <a:lnTo>
                  <a:pt x="47116" y="51677"/>
                </a:lnTo>
                <a:lnTo>
                  <a:pt x="46567" y="47909"/>
                </a:lnTo>
                <a:lnTo>
                  <a:pt x="43217" y="45400"/>
                </a:lnTo>
                <a:close/>
              </a:path>
              <a:path w="48895" h="179069">
                <a:moveTo>
                  <a:pt x="47559" y="55294"/>
                </a:moveTo>
                <a:lnTo>
                  <a:pt x="44965" y="58596"/>
                </a:lnTo>
                <a:lnTo>
                  <a:pt x="37710" y="59476"/>
                </a:lnTo>
                <a:lnTo>
                  <a:pt x="48014" y="59476"/>
                </a:lnTo>
                <a:lnTo>
                  <a:pt x="47939" y="58596"/>
                </a:lnTo>
                <a:lnTo>
                  <a:pt x="47881" y="57910"/>
                </a:lnTo>
                <a:lnTo>
                  <a:pt x="47559" y="55294"/>
                </a:lnTo>
                <a:close/>
              </a:path>
              <a:path w="48895" h="179069">
                <a:moveTo>
                  <a:pt x="31052" y="38177"/>
                </a:moveTo>
                <a:lnTo>
                  <a:pt x="31964" y="40794"/>
                </a:lnTo>
                <a:lnTo>
                  <a:pt x="33096" y="46431"/>
                </a:lnTo>
                <a:lnTo>
                  <a:pt x="33213" y="47018"/>
                </a:lnTo>
                <a:lnTo>
                  <a:pt x="33538" y="49702"/>
                </a:lnTo>
                <a:lnTo>
                  <a:pt x="36037" y="46431"/>
                </a:lnTo>
                <a:lnTo>
                  <a:pt x="43217" y="45400"/>
                </a:lnTo>
                <a:lnTo>
                  <a:pt x="46202" y="45400"/>
                </a:lnTo>
                <a:lnTo>
                  <a:pt x="46051" y="44368"/>
                </a:lnTo>
                <a:lnTo>
                  <a:pt x="45038" y="39926"/>
                </a:lnTo>
                <a:lnTo>
                  <a:pt x="34690" y="39926"/>
                </a:lnTo>
                <a:lnTo>
                  <a:pt x="31052" y="38177"/>
                </a:lnTo>
                <a:close/>
              </a:path>
              <a:path w="48895" h="179069">
                <a:moveTo>
                  <a:pt x="46202" y="45400"/>
                </a:moveTo>
                <a:lnTo>
                  <a:pt x="43217" y="45400"/>
                </a:lnTo>
                <a:lnTo>
                  <a:pt x="46573" y="47909"/>
                </a:lnTo>
                <a:lnTo>
                  <a:pt x="46202" y="45400"/>
                </a:lnTo>
                <a:close/>
              </a:path>
              <a:path w="48895" h="179069">
                <a:moveTo>
                  <a:pt x="36960" y="25534"/>
                </a:moveTo>
                <a:lnTo>
                  <a:pt x="30433" y="28000"/>
                </a:lnTo>
                <a:lnTo>
                  <a:pt x="28752" y="31573"/>
                </a:lnTo>
                <a:lnTo>
                  <a:pt x="31052" y="38177"/>
                </a:lnTo>
                <a:lnTo>
                  <a:pt x="34690" y="39926"/>
                </a:lnTo>
                <a:lnTo>
                  <a:pt x="41338" y="37612"/>
                </a:lnTo>
                <a:lnTo>
                  <a:pt x="43097" y="33974"/>
                </a:lnTo>
                <a:lnTo>
                  <a:pt x="41935" y="30650"/>
                </a:lnTo>
                <a:lnTo>
                  <a:pt x="40640" y="27207"/>
                </a:lnTo>
                <a:lnTo>
                  <a:pt x="36960" y="25534"/>
                </a:lnTo>
                <a:close/>
              </a:path>
              <a:path w="48895" h="179069">
                <a:moveTo>
                  <a:pt x="43190" y="33974"/>
                </a:moveTo>
                <a:lnTo>
                  <a:pt x="42677" y="34842"/>
                </a:lnTo>
                <a:lnTo>
                  <a:pt x="41338" y="37612"/>
                </a:lnTo>
                <a:lnTo>
                  <a:pt x="34690" y="39926"/>
                </a:lnTo>
                <a:lnTo>
                  <a:pt x="45038" y="39926"/>
                </a:lnTo>
                <a:lnTo>
                  <a:pt x="44510" y="37612"/>
                </a:lnTo>
                <a:lnTo>
                  <a:pt x="44433" y="37275"/>
                </a:lnTo>
                <a:lnTo>
                  <a:pt x="43190" y="33974"/>
                </a:lnTo>
                <a:close/>
              </a:path>
              <a:path w="48895" h="179069">
                <a:moveTo>
                  <a:pt x="25165" y="23460"/>
                </a:moveTo>
                <a:lnTo>
                  <a:pt x="26110" y="25078"/>
                </a:lnTo>
                <a:lnTo>
                  <a:pt x="28174" y="29911"/>
                </a:lnTo>
                <a:lnTo>
                  <a:pt x="28752" y="31573"/>
                </a:lnTo>
                <a:lnTo>
                  <a:pt x="30433" y="28000"/>
                </a:lnTo>
                <a:lnTo>
                  <a:pt x="36960" y="25534"/>
                </a:lnTo>
                <a:lnTo>
                  <a:pt x="40011" y="25534"/>
                </a:lnTo>
                <a:lnTo>
                  <a:pt x="39839" y="25078"/>
                </a:lnTo>
                <a:lnTo>
                  <a:pt x="39741" y="24818"/>
                </a:lnTo>
                <a:lnTo>
                  <a:pt x="39563" y="24437"/>
                </a:lnTo>
                <a:lnTo>
                  <a:pt x="28901" y="24437"/>
                </a:lnTo>
                <a:lnTo>
                  <a:pt x="25165" y="23460"/>
                </a:lnTo>
                <a:close/>
              </a:path>
              <a:path w="48895" h="179069">
                <a:moveTo>
                  <a:pt x="40011" y="25534"/>
                </a:moveTo>
                <a:lnTo>
                  <a:pt x="36960" y="25534"/>
                </a:lnTo>
                <a:lnTo>
                  <a:pt x="40642" y="27207"/>
                </a:lnTo>
                <a:lnTo>
                  <a:pt x="40011" y="25534"/>
                </a:lnTo>
                <a:close/>
              </a:path>
              <a:path w="48895" h="179069">
                <a:moveTo>
                  <a:pt x="29054" y="10720"/>
                </a:moveTo>
                <a:lnTo>
                  <a:pt x="27981" y="10720"/>
                </a:lnTo>
                <a:lnTo>
                  <a:pt x="24318" y="13087"/>
                </a:lnTo>
                <a:lnTo>
                  <a:pt x="22891" y="13948"/>
                </a:lnTo>
                <a:lnTo>
                  <a:pt x="22668" y="14228"/>
                </a:lnTo>
                <a:lnTo>
                  <a:pt x="21908" y="17421"/>
                </a:lnTo>
                <a:lnTo>
                  <a:pt x="21834" y="17753"/>
                </a:lnTo>
                <a:lnTo>
                  <a:pt x="25165" y="23460"/>
                </a:lnTo>
                <a:lnTo>
                  <a:pt x="28901" y="24437"/>
                </a:lnTo>
                <a:lnTo>
                  <a:pt x="34701" y="21049"/>
                </a:lnTo>
                <a:lnTo>
                  <a:pt x="35566" y="17753"/>
                </a:lnTo>
                <a:lnTo>
                  <a:pt x="35653" y="17421"/>
                </a:lnTo>
                <a:lnTo>
                  <a:pt x="33984" y="14412"/>
                </a:lnTo>
                <a:lnTo>
                  <a:pt x="32149" y="11567"/>
                </a:lnTo>
                <a:lnTo>
                  <a:pt x="32037" y="11393"/>
                </a:lnTo>
                <a:lnTo>
                  <a:pt x="32169" y="11393"/>
                </a:lnTo>
                <a:lnTo>
                  <a:pt x="29054" y="10720"/>
                </a:lnTo>
                <a:close/>
              </a:path>
              <a:path w="48895" h="179069">
                <a:moveTo>
                  <a:pt x="33995" y="14412"/>
                </a:moveTo>
                <a:lnTo>
                  <a:pt x="35653" y="17421"/>
                </a:lnTo>
                <a:lnTo>
                  <a:pt x="34701" y="21049"/>
                </a:lnTo>
                <a:lnTo>
                  <a:pt x="28901" y="24437"/>
                </a:lnTo>
                <a:lnTo>
                  <a:pt x="39563" y="24437"/>
                </a:lnTo>
                <a:lnTo>
                  <a:pt x="37145" y="19278"/>
                </a:lnTo>
                <a:lnTo>
                  <a:pt x="33995" y="14412"/>
                </a:lnTo>
                <a:close/>
              </a:path>
              <a:path w="48895" h="179069">
                <a:moveTo>
                  <a:pt x="22374" y="1422"/>
                </a:moveTo>
                <a:lnTo>
                  <a:pt x="18855" y="1792"/>
                </a:lnTo>
                <a:lnTo>
                  <a:pt x="15129" y="6364"/>
                </a:lnTo>
                <a:lnTo>
                  <a:pt x="15204" y="8536"/>
                </a:lnTo>
                <a:lnTo>
                  <a:pt x="15279" y="9557"/>
                </a:lnTo>
                <a:lnTo>
                  <a:pt x="16585" y="10969"/>
                </a:lnTo>
                <a:lnTo>
                  <a:pt x="18655" y="13087"/>
                </a:lnTo>
                <a:lnTo>
                  <a:pt x="19669" y="14228"/>
                </a:lnTo>
                <a:lnTo>
                  <a:pt x="21829" y="17753"/>
                </a:lnTo>
                <a:lnTo>
                  <a:pt x="22624" y="14412"/>
                </a:lnTo>
                <a:lnTo>
                  <a:pt x="22668" y="14228"/>
                </a:lnTo>
                <a:lnTo>
                  <a:pt x="22986" y="13948"/>
                </a:lnTo>
                <a:lnTo>
                  <a:pt x="23769" y="13087"/>
                </a:lnTo>
                <a:lnTo>
                  <a:pt x="27370" y="9557"/>
                </a:lnTo>
                <a:lnTo>
                  <a:pt x="27403" y="6017"/>
                </a:lnTo>
                <a:lnTo>
                  <a:pt x="24991" y="3562"/>
                </a:lnTo>
                <a:lnTo>
                  <a:pt x="23823" y="2574"/>
                </a:lnTo>
                <a:lnTo>
                  <a:pt x="22374" y="1422"/>
                </a:lnTo>
                <a:close/>
              </a:path>
              <a:path w="48895" h="179069">
                <a:moveTo>
                  <a:pt x="25004" y="3562"/>
                </a:moveTo>
                <a:lnTo>
                  <a:pt x="27403" y="6017"/>
                </a:lnTo>
                <a:lnTo>
                  <a:pt x="27370" y="9557"/>
                </a:lnTo>
                <a:lnTo>
                  <a:pt x="22891" y="13948"/>
                </a:lnTo>
                <a:lnTo>
                  <a:pt x="24318" y="13087"/>
                </a:lnTo>
                <a:lnTo>
                  <a:pt x="27981" y="10720"/>
                </a:lnTo>
                <a:lnTo>
                  <a:pt x="31603" y="10720"/>
                </a:lnTo>
                <a:lnTo>
                  <a:pt x="31302" y="10253"/>
                </a:lnTo>
                <a:lnTo>
                  <a:pt x="28442" y="6364"/>
                </a:lnTo>
                <a:lnTo>
                  <a:pt x="25004" y="3562"/>
                </a:lnTo>
                <a:close/>
              </a:path>
              <a:path w="48895" h="179069">
                <a:moveTo>
                  <a:pt x="18192" y="0"/>
                </a:moveTo>
                <a:lnTo>
                  <a:pt x="9808" y="999"/>
                </a:lnTo>
                <a:lnTo>
                  <a:pt x="10495" y="999"/>
                </a:lnTo>
                <a:lnTo>
                  <a:pt x="7233" y="2574"/>
                </a:lnTo>
                <a:lnTo>
                  <a:pt x="2052" y="5843"/>
                </a:lnTo>
                <a:lnTo>
                  <a:pt x="1444" y="8536"/>
                </a:lnTo>
                <a:lnTo>
                  <a:pt x="3866" y="12370"/>
                </a:lnTo>
                <a:lnTo>
                  <a:pt x="6136" y="13087"/>
                </a:lnTo>
                <a:lnTo>
                  <a:pt x="10177" y="11393"/>
                </a:lnTo>
                <a:lnTo>
                  <a:pt x="12082" y="10720"/>
                </a:lnTo>
                <a:lnTo>
                  <a:pt x="16367" y="10720"/>
                </a:lnTo>
                <a:lnTo>
                  <a:pt x="15279" y="9557"/>
                </a:lnTo>
                <a:lnTo>
                  <a:pt x="15204" y="8536"/>
                </a:lnTo>
                <a:lnTo>
                  <a:pt x="15129" y="6364"/>
                </a:lnTo>
                <a:lnTo>
                  <a:pt x="18855" y="1792"/>
                </a:lnTo>
                <a:lnTo>
                  <a:pt x="22374" y="1422"/>
                </a:lnTo>
                <a:lnTo>
                  <a:pt x="21961" y="999"/>
                </a:lnTo>
                <a:lnTo>
                  <a:pt x="18192" y="0"/>
                </a:lnTo>
                <a:close/>
              </a:path>
              <a:path w="48895" h="179069">
                <a:moveTo>
                  <a:pt x="31603" y="10720"/>
                </a:moveTo>
                <a:lnTo>
                  <a:pt x="29054" y="10720"/>
                </a:lnTo>
                <a:lnTo>
                  <a:pt x="32169" y="11393"/>
                </a:lnTo>
                <a:lnTo>
                  <a:pt x="32037" y="11393"/>
                </a:lnTo>
                <a:lnTo>
                  <a:pt x="31603" y="10720"/>
                </a:lnTo>
                <a:close/>
              </a:path>
              <a:path w="48895" h="179069">
                <a:moveTo>
                  <a:pt x="16367" y="10720"/>
                </a:moveTo>
                <a:lnTo>
                  <a:pt x="15727" y="10720"/>
                </a:lnTo>
                <a:lnTo>
                  <a:pt x="16585" y="10969"/>
                </a:lnTo>
                <a:lnTo>
                  <a:pt x="16367" y="107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5" name="object 45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715985" y="2788991"/>
            <a:ext cx="3035987" cy="380861"/>
          </a:xfrm>
          <a:prstGeom prst="rect">
            <a:avLst/>
          </a:prstGeom>
        </p:spPr>
      </p:pic>
      <p:sp>
        <p:nvSpPr>
          <p:cNvPr id="46" name="object 46" descr=""/>
          <p:cNvSpPr/>
          <p:nvPr/>
        </p:nvSpPr>
        <p:spPr>
          <a:xfrm>
            <a:off x="8834138" y="3111668"/>
            <a:ext cx="24130" cy="15875"/>
          </a:xfrm>
          <a:custGeom>
            <a:avLst/>
            <a:gdLst/>
            <a:ahLst/>
            <a:cxnLst/>
            <a:rect l="l" t="t" r="r" b="b"/>
            <a:pathLst>
              <a:path w="24129" h="15875">
                <a:moveTo>
                  <a:pt x="9525" y="0"/>
                </a:moveTo>
                <a:lnTo>
                  <a:pt x="4963" y="553"/>
                </a:lnTo>
                <a:lnTo>
                  <a:pt x="0" y="6842"/>
                </a:lnTo>
                <a:lnTo>
                  <a:pt x="499" y="11035"/>
                </a:lnTo>
                <a:lnTo>
                  <a:pt x="543" y="11404"/>
                </a:lnTo>
                <a:lnTo>
                  <a:pt x="4920" y="14858"/>
                </a:lnTo>
                <a:lnTo>
                  <a:pt x="7577" y="15814"/>
                </a:lnTo>
                <a:lnTo>
                  <a:pt x="22526" y="15814"/>
                </a:lnTo>
                <a:lnTo>
                  <a:pt x="23894" y="14510"/>
                </a:lnTo>
                <a:lnTo>
                  <a:pt x="23959" y="11925"/>
                </a:lnTo>
                <a:lnTo>
                  <a:pt x="23536" y="11035"/>
                </a:lnTo>
                <a:lnTo>
                  <a:pt x="9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7" name="object 47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4175973" y="493818"/>
            <a:ext cx="1289866" cy="293982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5570236" y="467134"/>
            <a:ext cx="1147613" cy="297705"/>
          </a:xfrm>
          <a:prstGeom prst="rect">
            <a:avLst/>
          </a:prstGeom>
        </p:spPr>
      </p:pic>
      <p:sp>
        <p:nvSpPr>
          <p:cNvPr id="49" name="object 49" descr=""/>
          <p:cNvSpPr/>
          <p:nvPr/>
        </p:nvSpPr>
        <p:spPr>
          <a:xfrm>
            <a:off x="6864870" y="705950"/>
            <a:ext cx="37465" cy="85725"/>
          </a:xfrm>
          <a:custGeom>
            <a:avLst/>
            <a:gdLst/>
            <a:ahLst/>
            <a:cxnLst/>
            <a:rect l="l" t="t" r="r" b="b"/>
            <a:pathLst>
              <a:path w="37465" h="85725">
                <a:moveTo>
                  <a:pt x="18985" y="39317"/>
                </a:moveTo>
                <a:lnTo>
                  <a:pt x="18672" y="40067"/>
                </a:lnTo>
                <a:lnTo>
                  <a:pt x="15500" y="48253"/>
                </a:lnTo>
                <a:lnTo>
                  <a:pt x="10902" y="59515"/>
                </a:lnTo>
                <a:lnTo>
                  <a:pt x="5989" y="70641"/>
                </a:lnTo>
                <a:lnTo>
                  <a:pt x="651" y="81557"/>
                </a:lnTo>
                <a:lnTo>
                  <a:pt x="0" y="82817"/>
                </a:lnTo>
                <a:lnTo>
                  <a:pt x="603" y="84424"/>
                </a:lnTo>
                <a:lnTo>
                  <a:pt x="2802" y="85575"/>
                </a:lnTo>
                <a:lnTo>
                  <a:pt x="4094" y="85326"/>
                </a:lnTo>
                <a:lnTo>
                  <a:pt x="9709" y="78874"/>
                </a:lnTo>
                <a:lnTo>
                  <a:pt x="27172" y="43846"/>
                </a:lnTo>
                <a:lnTo>
                  <a:pt x="24959" y="43846"/>
                </a:lnTo>
                <a:lnTo>
                  <a:pt x="20169" y="42000"/>
                </a:lnTo>
                <a:lnTo>
                  <a:pt x="18985" y="39317"/>
                </a:lnTo>
                <a:close/>
              </a:path>
              <a:path w="37465" h="85725">
                <a:moveTo>
                  <a:pt x="23471" y="33354"/>
                </a:moveTo>
                <a:lnTo>
                  <a:pt x="20800" y="34575"/>
                </a:lnTo>
                <a:lnTo>
                  <a:pt x="18985" y="39317"/>
                </a:lnTo>
                <a:lnTo>
                  <a:pt x="20169" y="42000"/>
                </a:lnTo>
                <a:lnTo>
                  <a:pt x="24959" y="43846"/>
                </a:lnTo>
                <a:lnTo>
                  <a:pt x="27636" y="42654"/>
                </a:lnTo>
                <a:lnTo>
                  <a:pt x="28559" y="40262"/>
                </a:lnTo>
                <a:lnTo>
                  <a:pt x="29396" y="37818"/>
                </a:lnTo>
                <a:lnTo>
                  <a:pt x="29072" y="36928"/>
                </a:lnTo>
                <a:lnTo>
                  <a:pt x="28261" y="35147"/>
                </a:lnTo>
                <a:lnTo>
                  <a:pt x="23471" y="33354"/>
                </a:lnTo>
                <a:close/>
              </a:path>
              <a:path w="37465" h="85725">
                <a:moveTo>
                  <a:pt x="27636" y="42654"/>
                </a:moveTo>
                <a:lnTo>
                  <a:pt x="24959" y="43846"/>
                </a:lnTo>
                <a:lnTo>
                  <a:pt x="27172" y="43846"/>
                </a:lnTo>
                <a:lnTo>
                  <a:pt x="27636" y="42654"/>
                </a:lnTo>
                <a:close/>
              </a:path>
              <a:path w="37465" h="85725">
                <a:moveTo>
                  <a:pt x="30920" y="33354"/>
                </a:moveTo>
                <a:lnTo>
                  <a:pt x="23471" y="33354"/>
                </a:lnTo>
                <a:lnTo>
                  <a:pt x="28261" y="35147"/>
                </a:lnTo>
                <a:lnTo>
                  <a:pt x="29477" y="37818"/>
                </a:lnTo>
                <a:lnTo>
                  <a:pt x="29700" y="36928"/>
                </a:lnTo>
                <a:lnTo>
                  <a:pt x="30920" y="33354"/>
                </a:lnTo>
                <a:close/>
              </a:path>
              <a:path w="37465" h="85725">
                <a:moveTo>
                  <a:pt x="33322" y="0"/>
                </a:moveTo>
                <a:lnTo>
                  <a:pt x="31240" y="0"/>
                </a:lnTo>
                <a:lnTo>
                  <a:pt x="29683" y="1249"/>
                </a:lnTo>
                <a:lnTo>
                  <a:pt x="29379" y="3160"/>
                </a:lnTo>
                <a:lnTo>
                  <a:pt x="27716" y="11781"/>
                </a:lnTo>
                <a:lnTo>
                  <a:pt x="25530" y="20288"/>
                </a:lnTo>
                <a:lnTo>
                  <a:pt x="22899" y="28673"/>
                </a:lnTo>
                <a:lnTo>
                  <a:pt x="20753" y="34575"/>
                </a:lnTo>
                <a:lnTo>
                  <a:pt x="23471" y="33354"/>
                </a:lnTo>
                <a:lnTo>
                  <a:pt x="30920" y="33354"/>
                </a:lnTo>
                <a:lnTo>
                  <a:pt x="31590" y="31391"/>
                </a:lnTo>
                <a:lnTo>
                  <a:pt x="34041" y="22394"/>
                </a:lnTo>
                <a:lnTo>
                  <a:pt x="35829" y="13248"/>
                </a:lnTo>
                <a:lnTo>
                  <a:pt x="36841" y="3986"/>
                </a:lnTo>
                <a:lnTo>
                  <a:pt x="36960" y="1911"/>
                </a:lnTo>
                <a:lnTo>
                  <a:pt x="35396" y="130"/>
                </a:lnTo>
                <a:lnTo>
                  <a:pt x="333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0" name="object 50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7051208" y="504465"/>
            <a:ext cx="195871" cy="219710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7326104" y="508192"/>
            <a:ext cx="380363" cy="222250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7773567" y="561278"/>
            <a:ext cx="104330" cy="198229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663946" y="3443730"/>
            <a:ext cx="1410352" cy="304213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2149084" y="3397005"/>
            <a:ext cx="872696" cy="299619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3111245" y="3418103"/>
            <a:ext cx="188703" cy="264640"/>
          </a:xfrm>
          <a:prstGeom prst="rect">
            <a:avLst/>
          </a:prstGeom>
        </p:spPr>
      </p:pic>
      <p:sp>
        <p:nvSpPr>
          <p:cNvPr id="56" name="object 56" descr=""/>
          <p:cNvSpPr/>
          <p:nvPr/>
        </p:nvSpPr>
        <p:spPr>
          <a:xfrm>
            <a:off x="3531761" y="3616674"/>
            <a:ext cx="29845" cy="71755"/>
          </a:xfrm>
          <a:custGeom>
            <a:avLst/>
            <a:gdLst/>
            <a:ahLst/>
            <a:cxnLst/>
            <a:rect l="l" t="t" r="r" b="b"/>
            <a:pathLst>
              <a:path w="29845" h="71754">
                <a:moveTo>
                  <a:pt x="23623" y="0"/>
                </a:moveTo>
                <a:lnTo>
                  <a:pt x="21646" y="1314"/>
                </a:lnTo>
                <a:lnTo>
                  <a:pt x="19349" y="9764"/>
                </a:lnTo>
                <a:lnTo>
                  <a:pt x="17469" y="16138"/>
                </a:lnTo>
                <a:lnTo>
                  <a:pt x="3920" y="57237"/>
                </a:lnTo>
                <a:lnTo>
                  <a:pt x="0" y="68458"/>
                </a:lnTo>
                <a:lnTo>
                  <a:pt x="934" y="70413"/>
                </a:lnTo>
                <a:lnTo>
                  <a:pt x="4409" y="71630"/>
                </a:lnTo>
                <a:lnTo>
                  <a:pt x="6266" y="70826"/>
                </a:lnTo>
                <a:lnTo>
                  <a:pt x="11044" y="59939"/>
                </a:lnTo>
                <a:lnTo>
                  <a:pt x="26323" y="18517"/>
                </a:lnTo>
                <a:lnTo>
                  <a:pt x="29553" y="2715"/>
                </a:lnTo>
                <a:lnTo>
                  <a:pt x="27978" y="608"/>
                </a:lnTo>
                <a:lnTo>
                  <a:pt x="236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7" name="object 57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3728487" y="3374637"/>
            <a:ext cx="621388" cy="291249"/>
          </a:xfrm>
          <a:prstGeom prst="rect">
            <a:avLst/>
          </a:prstGeom>
        </p:spPr>
      </p:pic>
      <p:sp>
        <p:nvSpPr>
          <p:cNvPr id="58" name="object 58" descr=""/>
          <p:cNvSpPr/>
          <p:nvPr/>
        </p:nvSpPr>
        <p:spPr>
          <a:xfrm>
            <a:off x="4620647" y="3612091"/>
            <a:ext cx="45720" cy="58419"/>
          </a:xfrm>
          <a:custGeom>
            <a:avLst/>
            <a:gdLst/>
            <a:ahLst/>
            <a:cxnLst/>
            <a:rect l="l" t="t" r="r" b="b"/>
            <a:pathLst>
              <a:path w="45720" h="58420">
                <a:moveTo>
                  <a:pt x="42185" y="0"/>
                </a:moveTo>
                <a:lnTo>
                  <a:pt x="40371" y="260"/>
                </a:lnTo>
                <a:lnTo>
                  <a:pt x="0" y="52850"/>
                </a:lnTo>
                <a:lnTo>
                  <a:pt x="325" y="55327"/>
                </a:lnTo>
                <a:lnTo>
                  <a:pt x="3790" y="57988"/>
                </a:lnTo>
                <a:lnTo>
                  <a:pt x="6266" y="57662"/>
                </a:lnTo>
                <a:lnTo>
                  <a:pt x="8026" y="55327"/>
                </a:lnTo>
                <a:lnTo>
                  <a:pt x="45139" y="3758"/>
                </a:lnTo>
                <a:lnTo>
                  <a:pt x="44835" y="1900"/>
                </a:lnTo>
                <a:lnTo>
                  <a:pt x="42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9" name="object 59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4795967" y="3436040"/>
            <a:ext cx="578745" cy="239415"/>
          </a:xfrm>
          <a:prstGeom prst="rect">
            <a:avLst/>
          </a:prstGeom>
        </p:spPr>
      </p:pic>
      <p:pic>
        <p:nvPicPr>
          <p:cNvPr id="60" name="object 60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5531959" y="3390781"/>
            <a:ext cx="1261529" cy="325219"/>
          </a:xfrm>
          <a:prstGeom prst="rect">
            <a:avLst/>
          </a:prstGeom>
        </p:spPr>
      </p:pic>
      <p:pic>
        <p:nvPicPr>
          <p:cNvPr id="61" name="object 61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98257" y="4225090"/>
            <a:ext cx="457205" cy="258281"/>
          </a:xfrm>
          <a:prstGeom prst="rect">
            <a:avLst/>
          </a:prstGeom>
        </p:spPr>
      </p:pic>
      <p:pic>
        <p:nvPicPr>
          <p:cNvPr id="62" name="object 62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747858" y="4245118"/>
            <a:ext cx="141780" cy="245779"/>
          </a:xfrm>
          <a:prstGeom prst="rect">
            <a:avLst/>
          </a:prstGeom>
        </p:spPr>
      </p:pic>
      <p:pic>
        <p:nvPicPr>
          <p:cNvPr id="63" name="object 63" descr="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972324" y="4251041"/>
            <a:ext cx="195186" cy="220980"/>
          </a:xfrm>
          <a:prstGeom prst="rect">
            <a:avLst/>
          </a:prstGeom>
        </p:spPr>
      </p:pic>
      <p:pic>
        <p:nvPicPr>
          <p:cNvPr id="64" name="object 64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266546" y="4184632"/>
            <a:ext cx="1907403" cy="315661"/>
          </a:xfrm>
          <a:prstGeom prst="rect">
            <a:avLst/>
          </a:prstGeom>
        </p:spPr>
      </p:pic>
      <p:pic>
        <p:nvPicPr>
          <p:cNvPr id="65" name="object 65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3246728" y="4153351"/>
            <a:ext cx="1182836" cy="324676"/>
          </a:xfrm>
          <a:prstGeom prst="rect">
            <a:avLst/>
          </a:prstGeom>
        </p:spPr>
      </p:pic>
      <p:sp>
        <p:nvSpPr>
          <p:cNvPr id="66" name="object 66" descr=""/>
          <p:cNvSpPr/>
          <p:nvPr/>
        </p:nvSpPr>
        <p:spPr>
          <a:xfrm>
            <a:off x="4555458" y="4426871"/>
            <a:ext cx="33655" cy="53975"/>
          </a:xfrm>
          <a:custGeom>
            <a:avLst/>
            <a:gdLst/>
            <a:ahLst/>
            <a:cxnLst/>
            <a:rect l="l" t="t" r="r" b="b"/>
            <a:pathLst>
              <a:path w="33654" h="53975">
                <a:moveTo>
                  <a:pt x="15140" y="19886"/>
                </a:moveTo>
                <a:lnTo>
                  <a:pt x="0" y="50244"/>
                </a:lnTo>
                <a:lnTo>
                  <a:pt x="879" y="52307"/>
                </a:lnTo>
                <a:lnTo>
                  <a:pt x="4268" y="53665"/>
                </a:lnTo>
                <a:lnTo>
                  <a:pt x="6049" y="53111"/>
                </a:lnTo>
                <a:lnTo>
                  <a:pt x="16445" y="37529"/>
                </a:lnTo>
                <a:lnTo>
                  <a:pt x="23717" y="26501"/>
                </a:lnTo>
                <a:lnTo>
                  <a:pt x="20701" y="26501"/>
                </a:lnTo>
                <a:lnTo>
                  <a:pt x="15748" y="23101"/>
                </a:lnTo>
                <a:lnTo>
                  <a:pt x="15140" y="19886"/>
                </a:lnTo>
                <a:close/>
              </a:path>
              <a:path w="33654" h="53975">
                <a:moveTo>
                  <a:pt x="21798" y="14130"/>
                </a:moveTo>
                <a:lnTo>
                  <a:pt x="18477" y="14793"/>
                </a:lnTo>
                <a:lnTo>
                  <a:pt x="16802" y="17247"/>
                </a:lnTo>
                <a:lnTo>
                  <a:pt x="15249" y="19713"/>
                </a:lnTo>
                <a:lnTo>
                  <a:pt x="15140" y="19886"/>
                </a:lnTo>
                <a:lnTo>
                  <a:pt x="15748" y="23101"/>
                </a:lnTo>
                <a:lnTo>
                  <a:pt x="20701" y="26501"/>
                </a:lnTo>
                <a:lnTo>
                  <a:pt x="24090" y="25860"/>
                </a:lnTo>
                <a:lnTo>
                  <a:pt x="25968" y="23101"/>
                </a:lnTo>
                <a:lnTo>
                  <a:pt x="27505" y="20781"/>
                </a:lnTo>
                <a:lnTo>
                  <a:pt x="26794" y="17410"/>
                </a:lnTo>
                <a:lnTo>
                  <a:pt x="21798" y="14130"/>
                </a:lnTo>
                <a:close/>
              </a:path>
              <a:path w="33654" h="53975">
                <a:moveTo>
                  <a:pt x="24139" y="25860"/>
                </a:moveTo>
                <a:lnTo>
                  <a:pt x="20701" y="26501"/>
                </a:lnTo>
                <a:lnTo>
                  <a:pt x="23717" y="26501"/>
                </a:lnTo>
                <a:lnTo>
                  <a:pt x="24139" y="25860"/>
                </a:lnTo>
                <a:close/>
              </a:path>
              <a:path w="33654" h="53975">
                <a:moveTo>
                  <a:pt x="31122" y="14130"/>
                </a:moveTo>
                <a:lnTo>
                  <a:pt x="21798" y="14130"/>
                </a:lnTo>
                <a:lnTo>
                  <a:pt x="26794" y="17410"/>
                </a:lnTo>
                <a:lnTo>
                  <a:pt x="27489" y="20781"/>
                </a:lnTo>
                <a:lnTo>
                  <a:pt x="29108" y="18149"/>
                </a:lnTo>
                <a:lnTo>
                  <a:pt x="31122" y="14130"/>
                </a:lnTo>
                <a:close/>
              </a:path>
              <a:path w="33654" h="53975">
                <a:moveTo>
                  <a:pt x="16234" y="18149"/>
                </a:moveTo>
                <a:lnTo>
                  <a:pt x="15108" y="19713"/>
                </a:lnTo>
                <a:lnTo>
                  <a:pt x="15140" y="19886"/>
                </a:lnTo>
                <a:lnTo>
                  <a:pt x="16234" y="18149"/>
                </a:lnTo>
                <a:close/>
              </a:path>
              <a:path w="33654" h="53975">
                <a:moveTo>
                  <a:pt x="26164" y="3008"/>
                </a:moveTo>
                <a:lnTo>
                  <a:pt x="23873" y="4398"/>
                </a:lnTo>
                <a:lnTo>
                  <a:pt x="23189" y="6402"/>
                </a:lnTo>
                <a:lnTo>
                  <a:pt x="22581" y="8102"/>
                </a:lnTo>
                <a:lnTo>
                  <a:pt x="19832" y="12751"/>
                </a:lnTo>
                <a:lnTo>
                  <a:pt x="18477" y="14793"/>
                </a:lnTo>
                <a:lnTo>
                  <a:pt x="21798" y="14130"/>
                </a:lnTo>
                <a:lnTo>
                  <a:pt x="31122" y="14130"/>
                </a:lnTo>
                <a:lnTo>
                  <a:pt x="31394" y="13587"/>
                </a:lnTo>
                <a:lnTo>
                  <a:pt x="25708" y="13587"/>
                </a:lnTo>
                <a:lnTo>
                  <a:pt x="23221" y="11665"/>
                </a:lnTo>
                <a:lnTo>
                  <a:pt x="22919" y="9286"/>
                </a:lnTo>
                <a:lnTo>
                  <a:pt x="22875" y="8938"/>
                </a:lnTo>
                <a:lnTo>
                  <a:pt x="32757" y="8938"/>
                </a:lnTo>
                <a:lnTo>
                  <a:pt x="33134" y="6402"/>
                </a:lnTo>
                <a:lnTo>
                  <a:pt x="32273" y="5126"/>
                </a:lnTo>
                <a:lnTo>
                  <a:pt x="31269" y="3768"/>
                </a:lnTo>
                <a:lnTo>
                  <a:pt x="26164" y="3008"/>
                </a:lnTo>
                <a:close/>
              </a:path>
              <a:path w="33654" h="53975">
                <a:moveTo>
                  <a:pt x="32757" y="8938"/>
                </a:moveTo>
                <a:lnTo>
                  <a:pt x="22875" y="8938"/>
                </a:lnTo>
                <a:lnTo>
                  <a:pt x="23141" y="11033"/>
                </a:lnTo>
                <a:lnTo>
                  <a:pt x="23221" y="11665"/>
                </a:lnTo>
                <a:lnTo>
                  <a:pt x="25708" y="13587"/>
                </a:lnTo>
                <a:lnTo>
                  <a:pt x="30607" y="12968"/>
                </a:lnTo>
                <a:lnTo>
                  <a:pt x="32387" y="11325"/>
                </a:lnTo>
                <a:lnTo>
                  <a:pt x="32393" y="11033"/>
                </a:lnTo>
                <a:lnTo>
                  <a:pt x="32704" y="9286"/>
                </a:lnTo>
                <a:lnTo>
                  <a:pt x="32757" y="8938"/>
                </a:lnTo>
                <a:close/>
              </a:path>
              <a:path w="33654" h="53975">
                <a:moveTo>
                  <a:pt x="32310" y="11503"/>
                </a:moveTo>
                <a:lnTo>
                  <a:pt x="32019" y="11665"/>
                </a:lnTo>
                <a:lnTo>
                  <a:pt x="30607" y="12968"/>
                </a:lnTo>
                <a:lnTo>
                  <a:pt x="25708" y="13587"/>
                </a:lnTo>
                <a:lnTo>
                  <a:pt x="31394" y="13587"/>
                </a:lnTo>
                <a:lnTo>
                  <a:pt x="32240" y="11665"/>
                </a:lnTo>
                <a:lnTo>
                  <a:pt x="32310" y="11503"/>
                </a:lnTo>
                <a:close/>
              </a:path>
              <a:path w="33654" h="53975">
                <a:moveTo>
                  <a:pt x="23927" y="0"/>
                </a:moveTo>
                <a:lnTo>
                  <a:pt x="20636" y="792"/>
                </a:lnTo>
                <a:lnTo>
                  <a:pt x="15629" y="2161"/>
                </a:lnTo>
                <a:lnTo>
                  <a:pt x="14434" y="4268"/>
                </a:lnTo>
                <a:lnTo>
                  <a:pt x="15488" y="8102"/>
                </a:lnTo>
                <a:lnTo>
                  <a:pt x="17225" y="9286"/>
                </a:lnTo>
                <a:lnTo>
                  <a:pt x="20343" y="8938"/>
                </a:lnTo>
                <a:lnTo>
                  <a:pt x="22087" y="8938"/>
                </a:lnTo>
                <a:lnTo>
                  <a:pt x="22581" y="8102"/>
                </a:lnTo>
                <a:lnTo>
                  <a:pt x="23189" y="6402"/>
                </a:lnTo>
                <a:lnTo>
                  <a:pt x="23873" y="4398"/>
                </a:lnTo>
                <a:lnTo>
                  <a:pt x="26164" y="3008"/>
                </a:lnTo>
                <a:lnTo>
                  <a:pt x="32093" y="3008"/>
                </a:lnTo>
                <a:lnTo>
                  <a:pt x="31084" y="1411"/>
                </a:lnTo>
                <a:lnTo>
                  <a:pt x="23927" y="0"/>
                </a:lnTo>
                <a:close/>
              </a:path>
              <a:path w="33654" h="53975">
                <a:moveTo>
                  <a:pt x="32093" y="3008"/>
                </a:moveTo>
                <a:lnTo>
                  <a:pt x="26164" y="3008"/>
                </a:lnTo>
                <a:lnTo>
                  <a:pt x="31269" y="3768"/>
                </a:lnTo>
                <a:lnTo>
                  <a:pt x="33216" y="6402"/>
                </a:lnTo>
                <a:lnTo>
                  <a:pt x="33431" y="5126"/>
                </a:lnTo>
                <a:lnTo>
                  <a:pt x="32093" y="3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7" name="object 67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4693852" y="4190660"/>
            <a:ext cx="784161" cy="269044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5543868" y="4179429"/>
            <a:ext cx="1040845" cy="320136"/>
          </a:xfrm>
          <a:prstGeom prst="rect">
            <a:avLst/>
          </a:prstGeom>
        </p:spPr>
      </p:pic>
      <p:sp>
        <p:nvSpPr>
          <p:cNvPr id="69" name="object 69" descr=""/>
          <p:cNvSpPr/>
          <p:nvPr/>
        </p:nvSpPr>
        <p:spPr>
          <a:xfrm>
            <a:off x="6663794" y="4439883"/>
            <a:ext cx="18415" cy="20320"/>
          </a:xfrm>
          <a:custGeom>
            <a:avLst/>
            <a:gdLst/>
            <a:ahLst/>
            <a:cxnLst/>
            <a:rect l="l" t="t" r="r" b="b"/>
            <a:pathLst>
              <a:path w="18415" h="20320">
                <a:moveTo>
                  <a:pt x="15385" y="0"/>
                </a:moveTo>
                <a:lnTo>
                  <a:pt x="14206" y="0"/>
                </a:lnTo>
                <a:lnTo>
                  <a:pt x="1249" y="7277"/>
                </a:lnTo>
                <a:lnTo>
                  <a:pt x="0" y="11730"/>
                </a:lnTo>
                <a:lnTo>
                  <a:pt x="3953" y="18790"/>
                </a:lnTo>
                <a:lnTo>
                  <a:pt x="8417" y="20039"/>
                </a:lnTo>
                <a:lnTo>
                  <a:pt x="13706" y="17073"/>
                </a:lnTo>
                <a:lnTo>
                  <a:pt x="14977" y="15401"/>
                </a:lnTo>
                <a:lnTo>
                  <a:pt x="18290" y="2096"/>
                </a:lnTo>
                <a:lnTo>
                  <a:pt x="17323" y="477"/>
                </a:lnTo>
                <a:lnTo>
                  <a:pt x="15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0" name="object 70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6809607" y="4214520"/>
            <a:ext cx="2158037" cy="2802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77190" y="2069731"/>
            <a:ext cx="8289925" cy="3857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1454" indent="-173355">
              <a:lnSpc>
                <a:spcPct val="100000"/>
              </a:lnSpc>
              <a:spcBef>
                <a:spcPts val="100"/>
              </a:spcBef>
              <a:buClr>
                <a:srgbClr val="FFCF01"/>
              </a:buClr>
              <a:buSzPct val="83333"/>
              <a:buFont typeface="Microsoft YaHei UI"/>
              <a:buChar char="•"/>
              <a:tabLst>
                <a:tab pos="211454" algn="l"/>
              </a:tabLst>
            </a:pPr>
            <a:r>
              <a:rPr dirty="0" sz="2400" spc="-120" b="1">
                <a:latin typeface="Microsoft YaHei UI"/>
                <a:cs typeface="Microsoft YaHei UI"/>
              </a:rPr>
              <a:t>Weights</a:t>
            </a:r>
            <a:r>
              <a:rPr dirty="0" sz="2400" spc="-60" b="1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can</a:t>
            </a:r>
            <a:r>
              <a:rPr dirty="0" sz="2400" spc="-75">
                <a:latin typeface="Microsoft YaHei UI"/>
                <a:cs typeface="Microsoft YaHei UI"/>
              </a:rPr>
              <a:t> </a:t>
            </a:r>
            <a:r>
              <a:rPr dirty="0" sz="2400" spc="-125">
                <a:latin typeface="Microsoft YaHei UI"/>
                <a:cs typeface="Microsoft YaHei UI"/>
              </a:rPr>
              <a:t>be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175">
                <a:latin typeface="Microsoft YaHei UI"/>
                <a:cs typeface="Microsoft YaHei UI"/>
              </a:rPr>
              <a:t>computed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50">
                <a:latin typeface="Microsoft YaHei UI"/>
                <a:cs typeface="Microsoft YaHei UI"/>
              </a:rPr>
              <a:t>by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145">
                <a:latin typeface="Microsoft YaHei UI"/>
                <a:cs typeface="Microsoft YaHei UI"/>
              </a:rPr>
              <a:t>the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05" b="1">
                <a:solidFill>
                  <a:srgbClr val="FF0000"/>
                </a:solidFill>
                <a:latin typeface="Microsoft YaHei UI"/>
                <a:cs typeface="Microsoft YaHei UI"/>
              </a:rPr>
              <a:t>pseudo-</a:t>
            </a:r>
            <a:r>
              <a:rPr dirty="0" sz="2400" spc="-30" b="1">
                <a:solidFill>
                  <a:srgbClr val="FF0000"/>
                </a:solidFill>
                <a:latin typeface="Microsoft YaHei UI"/>
                <a:cs typeface="Microsoft YaHei UI"/>
              </a:rPr>
              <a:t>inverse</a:t>
            </a:r>
            <a:r>
              <a:rPr dirty="0" sz="2400" spc="-60" b="1">
                <a:solidFill>
                  <a:srgbClr val="FF0000"/>
                </a:solidFill>
                <a:latin typeface="Microsoft YaHei UI"/>
                <a:cs typeface="Microsoft YaHei UI"/>
              </a:rPr>
              <a:t> </a:t>
            </a:r>
            <a:r>
              <a:rPr dirty="0" sz="2400" spc="-60">
                <a:latin typeface="Microsoft YaHei UI"/>
                <a:cs typeface="Microsoft YaHei UI"/>
              </a:rPr>
              <a:t>method.</a:t>
            </a:r>
            <a:endParaRPr sz="2400">
              <a:latin typeface="Microsoft YaHei UI"/>
              <a:cs typeface="Microsoft YaHei UI"/>
            </a:endParaRPr>
          </a:p>
          <a:p>
            <a:pPr marL="182245">
              <a:lnSpc>
                <a:spcPct val="100000"/>
              </a:lnSpc>
              <a:spcBef>
                <a:spcPts val="2330"/>
              </a:spcBef>
            </a:pPr>
            <a:r>
              <a:rPr dirty="0" baseline="1157" sz="3600" spc="-15">
                <a:latin typeface="Microsoft YaHei UI"/>
                <a:cs typeface="Microsoft YaHei UI"/>
              </a:rPr>
              <a:t>For</a:t>
            </a:r>
            <a:r>
              <a:rPr dirty="0" baseline="1157" sz="3600" spc="-254">
                <a:latin typeface="Microsoft YaHei UI"/>
                <a:cs typeface="Microsoft YaHei UI"/>
              </a:rPr>
              <a:t> </a:t>
            </a:r>
            <a:r>
              <a:rPr dirty="0" baseline="1157" sz="3600" spc="-30">
                <a:latin typeface="Microsoft YaHei UI"/>
                <a:cs typeface="Microsoft YaHei UI"/>
              </a:rPr>
              <a:t>an</a:t>
            </a:r>
            <a:r>
              <a:rPr dirty="0" baseline="1157" sz="3600" spc="-172">
                <a:latin typeface="Microsoft YaHei UI"/>
                <a:cs typeface="Microsoft YaHei UI"/>
              </a:rPr>
              <a:t> </a:t>
            </a:r>
            <a:r>
              <a:rPr dirty="0" baseline="1157" sz="3600" spc="-82">
                <a:latin typeface="Microsoft YaHei UI"/>
                <a:cs typeface="Microsoft YaHei UI"/>
              </a:rPr>
              <a:t>example</a:t>
            </a:r>
            <a:r>
              <a:rPr dirty="0" baseline="1157" sz="3600" spc="390">
                <a:latin typeface="Microsoft YaHei UI"/>
                <a:cs typeface="Microsoft YaHei UI"/>
              </a:rPr>
              <a:t> </a:t>
            </a:r>
            <a:r>
              <a:rPr dirty="0" sz="2100">
                <a:latin typeface="Microsoft YaHei UI"/>
                <a:cs typeface="Microsoft YaHei UI"/>
              </a:rPr>
              <a:t>(</a:t>
            </a:r>
            <a:r>
              <a:rPr dirty="0" sz="2100" spc="-434">
                <a:latin typeface="Microsoft YaHei UI"/>
                <a:cs typeface="Microsoft YaHei UI"/>
              </a:rPr>
              <a:t> </a:t>
            </a:r>
            <a:r>
              <a:rPr dirty="0" sz="2100" spc="-25" i="1">
                <a:latin typeface="Times New Roman"/>
                <a:cs typeface="Times New Roman"/>
              </a:rPr>
              <a:t>x</a:t>
            </a:r>
            <a:r>
              <a:rPr dirty="0" baseline="-25462" sz="1800" spc="-37" i="1">
                <a:latin typeface="Times New Roman"/>
                <a:cs typeface="Times New Roman"/>
              </a:rPr>
              <a:t>i</a:t>
            </a:r>
            <a:r>
              <a:rPr dirty="0" baseline="-25462" sz="1800" spc="-135" i="1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YaHei UI"/>
                <a:cs typeface="Microsoft YaHei UI"/>
              </a:rPr>
              <a:t>,</a:t>
            </a:r>
            <a:r>
              <a:rPr dirty="0" sz="2100" spc="-405">
                <a:latin typeface="Microsoft YaHei UI"/>
                <a:cs typeface="Microsoft YaHei UI"/>
              </a:rPr>
              <a:t> </a:t>
            </a:r>
            <a:r>
              <a:rPr dirty="0" sz="2100" i="1">
                <a:latin typeface="Times New Roman"/>
                <a:cs typeface="Times New Roman"/>
              </a:rPr>
              <a:t>d</a:t>
            </a:r>
            <a:r>
              <a:rPr dirty="0" baseline="-25462" sz="1800" i="1">
                <a:latin typeface="Times New Roman"/>
                <a:cs typeface="Times New Roman"/>
              </a:rPr>
              <a:t>i</a:t>
            </a:r>
            <a:r>
              <a:rPr dirty="0" baseline="-25462" sz="1800" spc="-75" i="1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YaHei UI"/>
                <a:cs typeface="Microsoft YaHei UI"/>
              </a:rPr>
              <a:t>)</a:t>
            </a:r>
            <a:r>
              <a:rPr dirty="0" sz="2100" spc="105">
                <a:latin typeface="Microsoft YaHei UI"/>
                <a:cs typeface="Microsoft YaHei UI"/>
              </a:rPr>
              <a:t> </a:t>
            </a:r>
            <a:r>
              <a:rPr dirty="0" baseline="1157" sz="3600" spc="127">
                <a:latin typeface="Microsoft YaHei UI"/>
                <a:cs typeface="Microsoft YaHei UI"/>
              </a:rPr>
              <a:t>,</a:t>
            </a:r>
            <a:r>
              <a:rPr dirty="0" baseline="1157" sz="3600" spc="-120">
                <a:latin typeface="Microsoft YaHei UI"/>
                <a:cs typeface="Microsoft YaHei UI"/>
              </a:rPr>
              <a:t> </a:t>
            </a:r>
            <a:r>
              <a:rPr dirty="0" baseline="1157" sz="3600" spc="-142">
                <a:latin typeface="Microsoft YaHei UI"/>
                <a:cs typeface="Microsoft YaHei UI"/>
              </a:rPr>
              <a:t>consider</a:t>
            </a:r>
            <a:r>
              <a:rPr dirty="0" baseline="1157" sz="3600" spc="-104">
                <a:latin typeface="Microsoft YaHei UI"/>
                <a:cs typeface="Microsoft YaHei UI"/>
              </a:rPr>
              <a:t> </a:t>
            </a:r>
            <a:r>
              <a:rPr dirty="0" baseline="1157" sz="3600" spc="-217">
                <a:latin typeface="Microsoft YaHei UI"/>
                <a:cs typeface="Microsoft YaHei UI"/>
              </a:rPr>
              <a:t>the</a:t>
            </a:r>
            <a:r>
              <a:rPr dirty="0" baseline="1157" sz="3600" spc="-67">
                <a:latin typeface="Microsoft YaHei UI"/>
                <a:cs typeface="Microsoft YaHei UI"/>
              </a:rPr>
              <a:t> </a:t>
            </a:r>
            <a:r>
              <a:rPr dirty="0" baseline="1157" sz="3600" spc="-307">
                <a:latin typeface="Microsoft YaHei UI"/>
                <a:cs typeface="Microsoft YaHei UI"/>
              </a:rPr>
              <a:t>output</a:t>
            </a:r>
            <a:r>
              <a:rPr dirty="0" baseline="1157" sz="3600" spc="-75">
                <a:latin typeface="Microsoft YaHei UI"/>
                <a:cs typeface="Microsoft YaHei UI"/>
              </a:rPr>
              <a:t> </a:t>
            </a:r>
            <a:r>
              <a:rPr dirty="0" baseline="1157" sz="3600" spc="-284">
                <a:latin typeface="Microsoft YaHei UI"/>
                <a:cs typeface="Microsoft YaHei UI"/>
              </a:rPr>
              <a:t>of</a:t>
            </a:r>
            <a:r>
              <a:rPr dirty="0" baseline="1157" sz="3600" spc="-75">
                <a:latin typeface="Microsoft YaHei UI"/>
                <a:cs typeface="Microsoft YaHei UI"/>
              </a:rPr>
              <a:t> </a:t>
            </a:r>
            <a:r>
              <a:rPr dirty="0" baseline="1157" sz="3600" spc="-217">
                <a:latin typeface="Microsoft YaHei UI"/>
                <a:cs typeface="Microsoft YaHei UI"/>
              </a:rPr>
              <a:t>the</a:t>
            </a:r>
            <a:r>
              <a:rPr dirty="0" baseline="1157" sz="3600" spc="-67">
                <a:latin typeface="Microsoft YaHei UI"/>
                <a:cs typeface="Microsoft YaHei UI"/>
              </a:rPr>
              <a:t> </a:t>
            </a:r>
            <a:r>
              <a:rPr dirty="0" baseline="1157" sz="3600" spc="-15">
                <a:latin typeface="Microsoft YaHei UI"/>
                <a:cs typeface="Microsoft YaHei UI"/>
              </a:rPr>
              <a:t>network</a:t>
            </a:r>
            <a:endParaRPr baseline="1157" sz="3600">
              <a:latin typeface="Microsoft YaHei UI"/>
              <a:cs typeface="Microsoft YaHei UI"/>
            </a:endParaRPr>
          </a:p>
          <a:p>
            <a:pPr algn="r" marR="1279525">
              <a:lnSpc>
                <a:spcPct val="100000"/>
              </a:lnSpc>
              <a:spcBef>
                <a:spcPts val="1855"/>
              </a:spcBef>
            </a:pPr>
            <a:r>
              <a:rPr dirty="0" sz="2650" i="1">
                <a:latin typeface="Times New Roman"/>
                <a:cs typeface="Times New Roman"/>
              </a:rPr>
              <a:t>o</a:t>
            </a:r>
            <a:r>
              <a:rPr dirty="0" sz="2650">
                <a:latin typeface="Microsoft YaHei UI"/>
                <a:cs typeface="Microsoft YaHei UI"/>
              </a:rPr>
              <a:t>(</a:t>
            </a:r>
            <a:r>
              <a:rPr dirty="0" sz="2650" i="1">
                <a:latin typeface="Times New Roman"/>
                <a:cs typeface="Times New Roman"/>
              </a:rPr>
              <a:t>x</a:t>
            </a:r>
            <a:r>
              <a:rPr dirty="0" baseline="-23297" sz="2325" i="1">
                <a:latin typeface="Times New Roman"/>
                <a:cs typeface="Times New Roman"/>
              </a:rPr>
              <a:t>i</a:t>
            </a:r>
            <a:r>
              <a:rPr dirty="0" baseline="-23297" sz="2325" spc="-67" i="1">
                <a:latin typeface="Times New Roman"/>
                <a:cs typeface="Times New Roman"/>
              </a:rPr>
              <a:t> </a:t>
            </a:r>
            <a:r>
              <a:rPr dirty="0" sz="2650">
                <a:latin typeface="Microsoft YaHei UI"/>
                <a:cs typeface="Microsoft YaHei UI"/>
              </a:rPr>
              <a:t>)</a:t>
            </a:r>
            <a:r>
              <a:rPr dirty="0" sz="2650" spc="-180">
                <a:latin typeface="Microsoft YaHei UI"/>
                <a:cs typeface="Microsoft YaHei UI"/>
              </a:rPr>
              <a:t> </a:t>
            </a:r>
            <a:r>
              <a:rPr dirty="0" sz="2650" spc="-495">
                <a:latin typeface="Microsoft YaHei UI"/>
                <a:cs typeface="Microsoft YaHei UI"/>
              </a:rPr>
              <a:t>=</a:t>
            </a:r>
            <a:r>
              <a:rPr dirty="0" sz="2650" spc="-140">
                <a:latin typeface="Microsoft YaHei UI"/>
                <a:cs typeface="Microsoft YaHei UI"/>
              </a:rPr>
              <a:t> </a:t>
            </a:r>
            <a:r>
              <a:rPr dirty="0" sz="2650" spc="-350" i="1">
                <a:latin typeface="Times New Roman"/>
                <a:cs typeface="Times New Roman"/>
              </a:rPr>
              <a:t>w</a:t>
            </a:r>
            <a:r>
              <a:rPr dirty="0" baseline="-23297" sz="2325" spc="-525">
                <a:latin typeface="Microsoft YaHei UI"/>
                <a:cs typeface="Microsoft YaHei UI"/>
              </a:rPr>
              <a:t>1</a:t>
            </a:r>
            <a:r>
              <a:rPr dirty="0" sz="2800" spc="-350" i="1">
                <a:latin typeface="Verdana"/>
                <a:cs typeface="Verdana"/>
              </a:rPr>
              <a:t>φ</a:t>
            </a:r>
            <a:r>
              <a:rPr dirty="0" baseline="-23297" sz="2325" spc="-525">
                <a:latin typeface="Microsoft YaHei UI"/>
                <a:cs typeface="Microsoft YaHei UI"/>
              </a:rPr>
              <a:t>1</a:t>
            </a:r>
            <a:r>
              <a:rPr dirty="0" baseline="-23297" sz="2325" spc="-434">
                <a:latin typeface="Microsoft YaHei UI"/>
                <a:cs typeface="Microsoft YaHei UI"/>
              </a:rPr>
              <a:t> </a:t>
            </a:r>
            <a:r>
              <a:rPr dirty="0" sz="2650" spc="-130">
                <a:latin typeface="Microsoft YaHei UI"/>
                <a:cs typeface="Microsoft YaHei UI"/>
              </a:rPr>
              <a:t>(||</a:t>
            </a:r>
            <a:r>
              <a:rPr dirty="0" sz="2650" spc="-170">
                <a:latin typeface="Microsoft YaHei UI"/>
                <a:cs typeface="Microsoft YaHei UI"/>
              </a:rPr>
              <a:t> </a:t>
            </a:r>
            <a:r>
              <a:rPr dirty="0" sz="2650" i="1">
                <a:latin typeface="Times New Roman"/>
                <a:cs typeface="Times New Roman"/>
              </a:rPr>
              <a:t>x</a:t>
            </a:r>
            <a:r>
              <a:rPr dirty="0" baseline="-23297" sz="2325" i="1">
                <a:latin typeface="Times New Roman"/>
                <a:cs typeface="Times New Roman"/>
              </a:rPr>
              <a:t>i</a:t>
            </a:r>
            <a:r>
              <a:rPr dirty="0" baseline="-23297" sz="2325" spc="555" i="1">
                <a:latin typeface="Times New Roman"/>
                <a:cs typeface="Times New Roman"/>
              </a:rPr>
              <a:t> </a:t>
            </a:r>
            <a:r>
              <a:rPr dirty="0" sz="2650">
                <a:latin typeface="Microsoft YaHei UI"/>
                <a:cs typeface="Microsoft YaHei UI"/>
              </a:rPr>
              <a:t>–</a:t>
            </a:r>
            <a:r>
              <a:rPr dirty="0" sz="2650" spc="-430">
                <a:latin typeface="Microsoft YaHei UI"/>
                <a:cs typeface="Microsoft YaHei UI"/>
              </a:rPr>
              <a:t> </a:t>
            </a:r>
            <a:r>
              <a:rPr dirty="0" sz="2650" spc="-10" i="1">
                <a:latin typeface="Times New Roman"/>
                <a:cs typeface="Times New Roman"/>
              </a:rPr>
              <a:t>t</a:t>
            </a:r>
            <a:r>
              <a:rPr dirty="0" baseline="-23297" sz="2325" spc="-15">
                <a:latin typeface="Microsoft YaHei UI"/>
                <a:cs typeface="Microsoft YaHei UI"/>
              </a:rPr>
              <a:t>1</a:t>
            </a:r>
            <a:r>
              <a:rPr dirty="0" baseline="-23297" sz="2325" spc="195">
                <a:latin typeface="Microsoft YaHei UI"/>
                <a:cs typeface="Microsoft YaHei UI"/>
              </a:rPr>
              <a:t> </a:t>
            </a:r>
            <a:r>
              <a:rPr dirty="0" sz="2650" spc="-130">
                <a:latin typeface="Microsoft YaHei UI"/>
                <a:cs typeface="Microsoft YaHei UI"/>
              </a:rPr>
              <a:t>||)</a:t>
            </a:r>
            <a:r>
              <a:rPr dirty="0" sz="2650" spc="-340">
                <a:latin typeface="Microsoft YaHei UI"/>
                <a:cs typeface="Microsoft YaHei UI"/>
              </a:rPr>
              <a:t> </a:t>
            </a:r>
            <a:r>
              <a:rPr dirty="0" sz="2650" spc="-30">
                <a:latin typeface="Microsoft YaHei UI"/>
                <a:cs typeface="Microsoft YaHei UI"/>
              </a:rPr>
              <a:t>+...</a:t>
            </a:r>
            <a:r>
              <a:rPr dirty="0" sz="2650" spc="-509">
                <a:latin typeface="Microsoft YaHei UI"/>
                <a:cs typeface="Microsoft YaHei UI"/>
              </a:rPr>
              <a:t> </a:t>
            </a:r>
            <a:r>
              <a:rPr dirty="0" sz="2650" spc="-495">
                <a:latin typeface="Microsoft YaHei UI"/>
                <a:cs typeface="Microsoft YaHei UI"/>
              </a:rPr>
              <a:t>+</a:t>
            </a:r>
            <a:r>
              <a:rPr dirty="0" sz="2650" spc="-270">
                <a:latin typeface="Microsoft YaHei UI"/>
                <a:cs typeface="Microsoft YaHei UI"/>
              </a:rPr>
              <a:t> </a:t>
            </a:r>
            <a:r>
              <a:rPr dirty="0" sz="2650" spc="-155" i="1">
                <a:latin typeface="Times New Roman"/>
                <a:cs typeface="Times New Roman"/>
              </a:rPr>
              <a:t>w</a:t>
            </a:r>
            <a:r>
              <a:rPr dirty="0" baseline="-23297" sz="2325" spc="-232">
                <a:latin typeface="Microsoft YaHei UI"/>
                <a:cs typeface="Microsoft YaHei UI"/>
              </a:rPr>
              <a:t>M</a:t>
            </a:r>
            <a:r>
              <a:rPr dirty="0" sz="2800" spc="-155" i="1">
                <a:latin typeface="Verdana"/>
                <a:cs typeface="Verdana"/>
              </a:rPr>
              <a:t>φ</a:t>
            </a:r>
            <a:r>
              <a:rPr dirty="0" baseline="-23297" sz="2325" spc="-232" i="1">
                <a:latin typeface="Times New Roman"/>
                <a:cs typeface="Times New Roman"/>
              </a:rPr>
              <a:t>M</a:t>
            </a:r>
            <a:r>
              <a:rPr dirty="0" baseline="-23297" sz="2325" spc="232" i="1">
                <a:latin typeface="Times New Roman"/>
                <a:cs typeface="Times New Roman"/>
              </a:rPr>
              <a:t> </a:t>
            </a:r>
            <a:r>
              <a:rPr dirty="0" sz="2650" spc="-130">
                <a:latin typeface="Microsoft YaHei UI"/>
                <a:cs typeface="Microsoft YaHei UI"/>
              </a:rPr>
              <a:t>(||</a:t>
            </a:r>
            <a:r>
              <a:rPr dirty="0" sz="2650" spc="-170">
                <a:latin typeface="Microsoft YaHei UI"/>
                <a:cs typeface="Microsoft YaHei UI"/>
              </a:rPr>
              <a:t> </a:t>
            </a:r>
            <a:r>
              <a:rPr dirty="0" sz="2650" i="1">
                <a:latin typeface="Times New Roman"/>
                <a:cs typeface="Times New Roman"/>
              </a:rPr>
              <a:t>x</a:t>
            </a:r>
            <a:r>
              <a:rPr dirty="0" baseline="-23297" sz="2325" i="1">
                <a:latin typeface="Times New Roman"/>
                <a:cs typeface="Times New Roman"/>
              </a:rPr>
              <a:t>i</a:t>
            </a:r>
            <a:r>
              <a:rPr dirty="0" baseline="-23297" sz="2325" spc="562" i="1">
                <a:latin typeface="Times New Roman"/>
                <a:cs typeface="Times New Roman"/>
              </a:rPr>
              <a:t> </a:t>
            </a:r>
            <a:r>
              <a:rPr dirty="0" sz="2650">
                <a:latin typeface="Microsoft YaHei UI"/>
                <a:cs typeface="Microsoft YaHei UI"/>
              </a:rPr>
              <a:t>–</a:t>
            </a:r>
            <a:r>
              <a:rPr dirty="0" sz="2650" spc="-434">
                <a:latin typeface="Microsoft YaHei UI"/>
                <a:cs typeface="Microsoft YaHei UI"/>
              </a:rPr>
              <a:t> </a:t>
            </a:r>
            <a:r>
              <a:rPr dirty="0" sz="2650" spc="60" i="1">
                <a:latin typeface="Times New Roman"/>
                <a:cs typeface="Times New Roman"/>
              </a:rPr>
              <a:t>t</a:t>
            </a:r>
            <a:r>
              <a:rPr dirty="0" baseline="-23297" sz="2325" spc="89" i="1">
                <a:latin typeface="Times New Roman"/>
                <a:cs typeface="Times New Roman"/>
              </a:rPr>
              <a:t>M</a:t>
            </a:r>
            <a:r>
              <a:rPr dirty="0" baseline="-23297" sz="2325" spc="135" i="1">
                <a:latin typeface="Times New Roman"/>
                <a:cs typeface="Times New Roman"/>
              </a:rPr>
              <a:t>  </a:t>
            </a:r>
            <a:r>
              <a:rPr dirty="0" sz="2650" spc="-25">
                <a:latin typeface="Microsoft YaHei UI"/>
                <a:cs typeface="Microsoft YaHei UI"/>
              </a:rPr>
              <a:t>||)</a:t>
            </a:r>
            <a:endParaRPr sz="2650">
              <a:latin typeface="Microsoft YaHei UI"/>
              <a:cs typeface="Microsoft YaHei UI"/>
            </a:endParaRPr>
          </a:p>
          <a:p>
            <a:pPr algn="r" marR="1312545">
              <a:lnSpc>
                <a:spcPct val="100000"/>
              </a:lnSpc>
              <a:spcBef>
                <a:spcPts val="3165"/>
              </a:spcBef>
              <a:tabLst>
                <a:tab pos="2038350" algn="l"/>
                <a:tab pos="3394710" algn="l"/>
              </a:tabLst>
            </a:pPr>
            <a:r>
              <a:rPr dirty="0" sz="2400" spc="-150">
                <a:latin typeface="Microsoft YaHei UI"/>
                <a:cs typeface="Microsoft YaHei UI"/>
              </a:rPr>
              <a:t>We</a:t>
            </a:r>
            <a:r>
              <a:rPr dirty="0" sz="2400" spc="-25">
                <a:latin typeface="Microsoft YaHei UI"/>
                <a:cs typeface="Microsoft YaHei UI"/>
              </a:rPr>
              <a:t> </a:t>
            </a:r>
            <a:r>
              <a:rPr dirty="0" sz="2400" spc="-175">
                <a:latin typeface="Microsoft YaHei UI"/>
                <a:cs typeface="Microsoft YaHei UI"/>
              </a:rPr>
              <a:t>would</a:t>
            </a:r>
            <a:r>
              <a:rPr dirty="0" sz="2400" spc="-20">
                <a:latin typeface="Microsoft YaHei UI"/>
                <a:cs typeface="Microsoft YaHei UI"/>
              </a:rPr>
              <a:t> like</a:t>
            </a:r>
            <a:r>
              <a:rPr dirty="0" sz="2400">
                <a:latin typeface="Microsoft YaHei UI"/>
                <a:cs typeface="Microsoft YaHei UI"/>
              </a:rPr>
              <a:t>	</a:t>
            </a:r>
            <a:r>
              <a:rPr dirty="0" baseline="3401" sz="3675" spc="75" i="1">
                <a:latin typeface="Times New Roman"/>
                <a:cs typeface="Times New Roman"/>
              </a:rPr>
              <a:t>o</a:t>
            </a:r>
            <a:r>
              <a:rPr dirty="0" baseline="3401" sz="3675" spc="75">
                <a:latin typeface="Microsoft YaHei UI"/>
                <a:cs typeface="Microsoft YaHei UI"/>
              </a:rPr>
              <a:t>(</a:t>
            </a:r>
            <a:r>
              <a:rPr dirty="0" baseline="3401" sz="3675" spc="75" i="1">
                <a:latin typeface="Times New Roman"/>
                <a:cs typeface="Times New Roman"/>
              </a:rPr>
              <a:t>x</a:t>
            </a:r>
            <a:r>
              <a:rPr dirty="0" baseline="-17857" sz="2100" spc="75" i="1">
                <a:latin typeface="Times New Roman"/>
                <a:cs typeface="Times New Roman"/>
              </a:rPr>
              <a:t>i</a:t>
            </a:r>
            <a:r>
              <a:rPr dirty="0" baseline="-17857" sz="2100" spc="-37" i="1">
                <a:latin typeface="Times New Roman"/>
                <a:cs typeface="Times New Roman"/>
              </a:rPr>
              <a:t> </a:t>
            </a:r>
            <a:r>
              <a:rPr dirty="0" baseline="3401" sz="3675">
                <a:latin typeface="Microsoft YaHei UI"/>
                <a:cs typeface="Microsoft YaHei UI"/>
              </a:rPr>
              <a:t>)</a:t>
            </a:r>
            <a:r>
              <a:rPr dirty="0" baseline="3401" sz="3675" spc="-217">
                <a:latin typeface="Microsoft YaHei UI"/>
                <a:cs typeface="Microsoft YaHei UI"/>
              </a:rPr>
              <a:t> </a:t>
            </a:r>
            <a:r>
              <a:rPr dirty="0" baseline="3401" sz="3675" spc="-712">
                <a:latin typeface="Microsoft YaHei UI"/>
                <a:cs typeface="Microsoft YaHei UI"/>
              </a:rPr>
              <a:t>=</a:t>
            </a:r>
            <a:r>
              <a:rPr dirty="0" baseline="3401" sz="3675" spc="-209">
                <a:latin typeface="Microsoft YaHei UI"/>
                <a:cs typeface="Microsoft YaHei UI"/>
              </a:rPr>
              <a:t> </a:t>
            </a:r>
            <a:r>
              <a:rPr dirty="0" baseline="3401" sz="3675" spc="44" i="1">
                <a:latin typeface="Times New Roman"/>
                <a:cs typeface="Times New Roman"/>
              </a:rPr>
              <a:t>d</a:t>
            </a:r>
            <a:r>
              <a:rPr dirty="0" baseline="-17857" sz="2100" spc="44" i="1">
                <a:latin typeface="Times New Roman"/>
                <a:cs typeface="Times New Roman"/>
              </a:rPr>
              <a:t>i</a:t>
            </a:r>
            <a:r>
              <a:rPr dirty="0" baseline="-17857" sz="2100" i="1">
                <a:latin typeface="Times New Roman"/>
                <a:cs typeface="Times New Roman"/>
              </a:rPr>
              <a:t>	</a:t>
            </a:r>
            <a:r>
              <a:rPr dirty="0" sz="2400" spc="-170">
                <a:latin typeface="Microsoft YaHei UI"/>
                <a:cs typeface="Microsoft YaHei UI"/>
              </a:rPr>
              <a:t>for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20">
                <a:latin typeface="Microsoft YaHei UI"/>
                <a:cs typeface="Microsoft YaHei UI"/>
              </a:rPr>
              <a:t>each</a:t>
            </a:r>
            <a:r>
              <a:rPr dirty="0" sz="2400" spc="-145">
                <a:latin typeface="Microsoft YaHei UI"/>
                <a:cs typeface="Microsoft YaHei UI"/>
              </a:rPr>
              <a:t> </a:t>
            </a:r>
            <a:r>
              <a:rPr dirty="0" sz="2400" spc="-70">
                <a:latin typeface="Microsoft YaHei UI"/>
                <a:cs typeface="Microsoft YaHei UI"/>
              </a:rPr>
              <a:t>example,</a:t>
            </a:r>
            <a:r>
              <a:rPr dirty="0" sz="2400" spc="-80">
                <a:latin typeface="Microsoft YaHei UI"/>
                <a:cs typeface="Microsoft YaHei UI"/>
              </a:rPr>
              <a:t> </a:t>
            </a:r>
            <a:r>
              <a:rPr dirty="0" sz="2400" spc="-160">
                <a:latin typeface="Microsoft YaHei UI"/>
                <a:cs typeface="Microsoft YaHei UI"/>
              </a:rPr>
              <a:t>that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25">
                <a:latin typeface="Microsoft YaHei UI"/>
                <a:cs typeface="Microsoft YaHei UI"/>
              </a:rPr>
              <a:t>is</a:t>
            </a:r>
            <a:endParaRPr sz="2400">
              <a:latin typeface="Microsoft YaHei UI"/>
              <a:cs typeface="Microsoft YaHei UI"/>
            </a:endParaRPr>
          </a:p>
          <a:p>
            <a:pPr algn="ctr" marR="534035">
              <a:lnSpc>
                <a:spcPct val="100000"/>
              </a:lnSpc>
              <a:spcBef>
                <a:spcPts val="1840"/>
              </a:spcBef>
            </a:pPr>
            <a:r>
              <a:rPr dirty="0" sz="2500" spc="-335" i="1">
                <a:latin typeface="Times New Roman"/>
                <a:cs typeface="Times New Roman"/>
              </a:rPr>
              <a:t>w</a:t>
            </a:r>
            <a:r>
              <a:rPr dirty="0" baseline="-22988" sz="2175" spc="-502">
                <a:latin typeface="Microsoft YaHei UI"/>
                <a:cs typeface="Microsoft YaHei UI"/>
              </a:rPr>
              <a:t>1</a:t>
            </a:r>
            <a:r>
              <a:rPr dirty="0" sz="2600" spc="-335" i="1">
                <a:latin typeface="Verdana"/>
                <a:cs typeface="Verdana"/>
              </a:rPr>
              <a:t>φ</a:t>
            </a:r>
            <a:r>
              <a:rPr dirty="0" baseline="-22988" sz="2175" spc="-502">
                <a:latin typeface="Microsoft YaHei UI"/>
                <a:cs typeface="Microsoft YaHei UI"/>
              </a:rPr>
              <a:t>1</a:t>
            </a:r>
            <a:r>
              <a:rPr dirty="0" baseline="-22988" sz="2175" spc="-412">
                <a:latin typeface="Microsoft YaHei UI"/>
                <a:cs typeface="Microsoft YaHei UI"/>
              </a:rPr>
              <a:t> </a:t>
            </a:r>
            <a:r>
              <a:rPr dirty="0" sz="2500" spc="-135">
                <a:latin typeface="Microsoft YaHei UI"/>
                <a:cs typeface="Microsoft YaHei UI"/>
              </a:rPr>
              <a:t>(||</a:t>
            </a:r>
            <a:r>
              <a:rPr dirty="0" sz="2500" spc="-180">
                <a:latin typeface="Microsoft YaHei UI"/>
                <a:cs typeface="Microsoft YaHei UI"/>
              </a:rPr>
              <a:t> </a:t>
            </a:r>
            <a:r>
              <a:rPr dirty="0" sz="2500" i="1">
                <a:latin typeface="Times New Roman"/>
                <a:cs typeface="Times New Roman"/>
              </a:rPr>
              <a:t>x</a:t>
            </a:r>
            <a:r>
              <a:rPr dirty="0" baseline="-22988" sz="2175" i="1">
                <a:latin typeface="Times New Roman"/>
                <a:cs typeface="Times New Roman"/>
              </a:rPr>
              <a:t>i</a:t>
            </a:r>
            <a:r>
              <a:rPr dirty="0" baseline="-22988" sz="2175" spc="434" i="1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YaHei UI"/>
                <a:cs typeface="Microsoft YaHei UI"/>
              </a:rPr>
              <a:t>–</a:t>
            </a:r>
            <a:r>
              <a:rPr dirty="0" sz="2500" spc="-425">
                <a:latin typeface="Microsoft YaHei UI"/>
                <a:cs typeface="Microsoft YaHei UI"/>
              </a:rPr>
              <a:t> </a:t>
            </a:r>
            <a:r>
              <a:rPr dirty="0" sz="2500" spc="-25" i="1">
                <a:latin typeface="Times New Roman"/>
                <a:cs typeface="Times New Roman"/>
              </a:rPr>
              <a:t>t</a:t>
            </a:r>
            <a:r>
              <a:rPr dirty="0" baseline="-22988" sz="2175" spc="-37">
                <a:latin typeface="Microsoft YaHei UI"/>
                <a:cs typeface="Microsoft YaHei UI"/>
              </a:rPr>
              <a:t>1</a:t>
            </a:r>
            <a:r>
              <a:rPr dirty="0" baseline="-22988" sz="2175" spc="150">
                <a:latin typeface="Microsoft YaHei UI"/>
                <a:cs typeface="Microsoft YaHei UI"/>
              </a:rPr>
              <a:t> </a:t>
            </a:r>
            <a:r>
              <a:rPr dirty="0" sz="2500" spc="-135">
                <a:latin typeface="Microsoft YaHei UI"/>
                <a:cs typeface="Microsoft YaHei UI"/>
              </a:rPr>
              <a:t>||)</a:t>
            </a:r>
            <a:r>
              <a:rPr dirty="0" sz="2500" spc="-330">
                <a:latin typeface="Microsoft YaHei UI"/>
                <a:cs typeface="Microsoft YaHei UI"/>
              </a:rPr>
              <a:t> </a:t>
            </a:r>
            <a:r>
              <a:rPr dirty="0" sz="2500" spc="-40">
                <a:latin typeface="Microsoft YaHei UI"/>
                <a:cs typeface="Microsoft YaHei UI"/>
              </a:rPr>
              <a:t>+...</a:t>
            </a:r>
            <a:r>
              <a:rPr dirty="0" sz="2500" spc="-495">
                <a:latin typeface="Microsoft YaHei UI"/>
                <a:cs typeface="Microsoft YaHei UI"/>
              </a:rPr>
              <a:t> </a:t>
            </a:r>
            <a:r>
              <a:rPr dirty="0" sz="2500" spc="-484">
                <a:latin typeface="Microsoft YaHei UI"/>
                <a:cs typeface="Microsoft YaHei UI"/>
              </a:rPr>
              <a:t>+</a:t>
            </a:r>
            <a:r>
              <a:rPr dirty="0" sz="2500" spc="-270">
                <a:latin typeface="Microsoft YaHei UI"/>
                <a:cs typeface="Microsoft YaHei UI"/>
              </a:rPr>
              <a:t> </a:t>
            </a:r>
            <a:r>
              <a:rPr dirty="0" sz="2500" spc="-175" i="1">
                <a:latin typeface="Times New Roman"/>
                <a:cs typeface="Times New Roman"/>
              </a:rPr>
              <a:t>w</a:t>
            </a:r>
            <a:r>
              <a:rPr dirty="0" baseline="-22988" sz="2175" spc="-262">
                <a:latin typeface="Microsoft YaHei UI"/>
                <a:cs typeface="Microsoft YaHei UI"/>
              </a:rPr>
              <a:t>M</a:t>
            </a:r>
            <a:r>
              <a:rPr dirty="0" sz="2600" spc="-175" i="1">
                <a:latin typeface="Verdana"/>
                <a:cs typeface="Verdana"/>
              </a:rPr>
              <a:t>φ</a:t>
            </a:r>
            <a:r>
              <a:rPr dirty="0" baseline="-22988" sz="2175" spc="-262" i="1">
                <a:latin typeface="Times New Roman"/>
                <a:cs typeface="Times New Roman"/>
              </a:rPr>
              <a:t>M</a:t>
            </a:r>
            <a:r>
              <a:rPr dirty="0" baseline="-22988" sz="2175" spc="187" i="1">
                <a:latin typeface="Times New Roman"/>
                <a:cs typeface="Times New Roman"/>
              </a:rPr>
              <a:t> </a:t>
            </a:r>
            <a:r>
              <a:rPr dirty="0" sz="2500" spc="-135">
                <a:latin typeface="Microsoft YaHei UI"/>
                <a:cs typeface="Microsoft YaHei UI"/>
              </a:rPr>
              <a:t>(||</a:t>
            </a:r>
            <a:r>
              <a:rPr dirty="0" sz="2500" spc="-180">
                <a:latin typeface="Microsoft YaHei UI"/>
                <a:cs typeface="Microsoft YaHei UI"/>
              </a:rPr>
              <a:t> </a:t>
            </a:r>
            <a:r>
              <a:rPr dirty="0" sz="2500" i="1">
                <a:latin typeface="Times New Roman"/>
                <a:cs typeface="Times New Roman"/>
              </a:rPr>
              <a:t>x</a:t>
            </a:r>
            <a:r>
              <a:rPr dirty="0" baseline="-22988" sz="2175" i="1">
                <a:latin typeface="Times New Roman"/>
                <a:cs typeface="Times New Roman"/>
              </a:rPr>
              <a:t>i</a:t>
            </a:r>
            <a:r>
              <a:rPr dirty="0" baseline="-22988" sz="2175" spc="494" i="1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YaHei UI"/>
                <a:cs typeface="Microsoft YaHei UI"/>
              </a:rPr>
              <a:t>–</a:t>
            </a:r>
            <a:r>
              <a:rPr dirty="0" sz="2500" spc="-425">
                <a:latin typeface="Microsoft YaHei UI"/>
                <a:cs typeface="Microsoft YaHei UI"/>
              </a:rPr>
              <a:t> </a:t>
            </a:r>
            <a:r>
              <a:rPr dirty="0" sz="2500" i="1">
                <a:latin typeface="Times New Roman"/>
                <a:cs typeface="Times New Roman"/>
              </a:rPr>
              <a:t>t</a:t>
            </a:r>
            <a:r>
              <a:rPr dirty="0" baseline="-22988" sz="2175" i="1">
                <a:latin typeface="Times New Roman"/>
                <a:cs typeface="Times New Roman"/>
              </a:rPr>
              <a:t>M</a:t>
            </a:r>
            <a:r>
              <a:rPr dirty="0" baseline="-22988" sz="2175" spc="104" i="1">
                <a:latin typeface="Times New Roman"/>
                <a:cs typeface="Times New Roman"/>
              </a:rPr>
              <a:t>  </a:t>
            </a:r>
            <a:r>
              <a:rPr dirty="0" sz="2500" spc="-135">
                <a:latin typeface="Microsoft YaHei UI"/>
                <a:cs typeface="Microsoft YaHei UI"/>
              </a:rPr>
              <a:t>||)</a:t>
            </a:r>
            <a:r>
              <a:rPr dirty="0" sz="2500" spc="-180">
                <a:latin typeface="Microsoft YaHei UI"/>
                <a:cs typeface="Microsoft YaHei UI"/>
              </a:rPr>
              <a:t> </a:t>
            </a:r>
            <a:r>
              <a:rPr dirty="0" sz="2500" spc="-484">
                <a:latin typeface="Microsoft YaHei UI"/>
                <a:cs typeface="Microsoft YaHei UI"/>
              </a:rPr>
              <a:t>=</a:t>
            </a:r>
            <a:r>
              <a:rPr dirty="0" sz="2500" spc="-190">
                <a:latin typeface="Microsoft YaHei UI"/>
                <a:cs typeface="Microsoft YaHei UI"/>
              </a:rPr>
              <a:t> </a:t>
            </a:r>
            <a:r>
              <a:rPr dirty="0" sz="2500" spc="-25" i="1">
                <a:latin typeface="Times New Roman"/>
                <a:cs typeface="Times New Roman"/>
              </a:rPr>
              <a:t>d</a:t>
            </a:r>
            <a:r>
              <a:rPr dirty="0" baseline="-22988" sz="2175" spc="-37" i="1">
                <a:latin typeface="Times New Roman"/>
                <a:cs typeface="Times New Roman"/>
              </a:rPr>
              <a:t>i</a:t>
            </a:r>
            <a:endParaRPr baseline="-22988" sz="21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</a:pPr>
            <a:r>
              <a:rPr dirty="0" sz="2400">
                <a:latin typeface="Microsoft YaHei UI"/>
                <a:cs typeface="Microsoft YaHei UI"/>
              </a:rPr>
              <a:t>This</a:t>
            </a:r>
            <a:r>
              <a:rPr dirty="0" sz="2400" spc="-180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can</a:t>
            </a:r>
            <a:r>
              <a:rPr dirty="0" sz="2400" spc="-95">
                <a:latin typeface="Microsoft YaHei UI"/>
                <a:cs typeface="Microsoft YaHei UI"/>
              </a:rPr>
              <a:t> </a:t>
            </a:r>
            <a:r>
              <a:rPr dirty="0" sz="2400" spc="-125">
                <a:latin typeface="Microsoft YaHei UI"/>
                <a:cs typeface="Microsoft YaHei UI"/>
              </a:rPr>
              <a:t>be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140">
                <a:latin typeface="Microsoft YaHei UI"/>
                <a:cs typeface="Microsoft YaHei UI"/>
              </a:rPr>
              <a:t>re-</a:t>
            </a:r>
            <a:r>
              <a:rPr dirty="0" sz="2400" spc="-160">
                <a:latin typeface="Microsoft YaHei UI"/>
                <a:cs typeface="Microsoft YaHei UI"/>
              </a:rPr>
              <a:t>written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25">
                <a:latin typeface="Microsoft YaHei UI"/>
                <a:cs typeface="Microsoft YaHei UI"/>
              </a:rPr>
              <a:t>in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b="1" i="1">
                <a:solidFill>
                  <a:srgbClr val="0000FF"/>
                </a:solidFill>
                <a:latin typeface="Arial"/>
                <a:cs typeface="Arial"/>
              </a:rPr>
              <a:t>matrix</a:t>
            </a:r>
            <a:r>
              <a:rPr dirty="0" sz="2400" spc="-35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b="1" i="1">
                <a:solidFill>
                  <a:srgbClr val="0000FF"/>
                </a:solidFill>
                <a:latin typeface="Arial"/>
                <a:cs typeface="Arial"/>
              </a:rPr>
              <a:t>form</a:t>
            </a:r>
            <a:r>
              <a:rPr dirty="0" sz="2400" spc="-3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spc="-170">
                <a:latin typeface="Microsoft YaHei UI"/>
                <a:cs typeface="Microsoft YaHei UI"/>
              </a:rPr>
              <a:t>for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30">
                <a:latin typeface="Microsoft YaHei UI"/>
                <a:cs typeface="Microsoft YaHei UI"/>
              </a:rPr>
              <a:t>one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example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695922" y="5835421"/>
            <a:ext cx="268605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25462" sz="3600" spc="-37">
                <a:latin typeface="Microsoft YaHei UI"/>
                <a:cs typeface="Microsoft YaHei UI"/>
              </a:rPr>
              <a:t>]</a:t>
            </a:r>
            <a:r>
              <a:rPr dirty="0" sz="1400" spc="-25" i="1"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915067" y="5973381"/>
            <a:ext cx="3571240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3137535" algn="l"/>
              </a:tabLst>
            </a:pPr>
            <a:r>
              <a:rPr dirty="0" sz="2400" spc="-120">
                <a:latin typeface="Microsoft YaHei UI"/>
                <a:cs typeface="Microsoft YaHei UI"/>
              </a:rPr>
              <a:t>(||</a:t>
            </a:r>
            <a:r>
              <a:rPr dirty="0" sz="2400" spc="-130">
                <a:latin typeface="Microsoft YaHei UI"/>
                <a:cs typeface="Microsoft YaHei UI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x</a:t>
            </a:r>
            <a:r>
              <a:rPr dirty="0" baseline="-23809" sz="2100" i="1">
                <a:latin typeface="Times New Roman"/>
                <a:cs typeface="Times New Roman"/>
              </a:rPr>
              <a:t>i</a:t>
            </a:r>
            <a:r>
              <a:rPr dirty="0" baseline="-23809" sz="2100" spc="517" i="1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–</a:t>
            </a:r>
            <a:r>
              <a:rPr dirty="0" sz="2400" spc="-365">
                <a:latin typeface="Microsoft YaHei UI"/>
                <a:cs typeface="Microsoft YaHei UI"/>
              </a:rPr>
              <a:t> </a:t>
            </a:r>
            <a:r>
              <a:rPr dirty="0" sz="2400" spc="60" i="1">
                <a:latin typeface="Times New Roman"/>
                <a:cs typeface="Times New Roman"/>
              </a:rPr>
              <a:t>t</a:t>
            </a:r>
            <a:r>
              <a:rPr dirty="0" baseline="-23809" sz="2100" spc="89" i="1">
                <a:latin typeface="Times New Roman"/>
                <a:cs typeface="Times New Roman"/>
              </a:rPr>
              <a:t>M</a:t>
            </a:r>
            <a:r>
              <a:rPr dirty="0" baseline="-23809" sz="2100" spc="142" i="1">
                <a:latin typeface="Times New Roman"/>
                <a:cs typeface="Times New Roman"/>
              </a:rPr>
              <a:t>  </a:t>
            </a:r>
            <a:r>
              <a:rPr dirty="0" sz="2400" spc="-25">
                <a:latin typeface="Microsoft YaHei UI"/>
                <a:cs typeface="Microsoft YaHei UI"/>
              </a:rPr>
              <a:t>||)]·[</a:t>
            </a:r>
            <a:r>
              <a:rPr dirty="0" sz="2400" spc="-25" i="1">
                <a:latin typeface="Times New Roman"/>
                <a:cs typeface="Times New Roman"/>
              </a:rPr>
              <a:t>w</a:t>
            </a:r>
            <a:r>
              <a:rPr dirty="0" baseline="-23809" sz="2100" spc="-37">
                <a:latin typeface="Microsoft YaHei UI"/>
                <a:cs typeface="Microsoft YaHei UI"/>
              </a:rPr>
              <a:t>1</a:t>
            </a:r>
            <a:r>
              <a:rPr dirty="0" baseline="-23809" sz="2100" spc="37">
                <a:latin typeface="Microsoft YaHei UI"/>
                <a:cs typeface="Microsoft YaHei UI"/>
              </a:rPr>
              <a:t> </a:t>
            </a:r>
            <a:r>
              <a:rPr dirty="0" sz="2400" spc="155">
                <a:latin typeface="Microsoft YaHei UI"/>
                <a:cs typeface="Microsoft YaHei UI"/>
              </a:rPr>
              <a:t>···</a:t>
            </a:r>
            <a:r>
              <a:rPr dirty="0" sz="2400" spc="-365">
                <a:latin typeface="Microsoft YaHei UI"/>
                <a:cs typeface="Microsoft YaHei UI"/>
              </a:rPr>
              <a:t> </a:t>
            </a:r>
            <a:r>
              <a:rPr dirty="0" sz="2400" spc="-25" i="1">
                <a:latin typeface="Times New Roman"/>
                <a:cs typeface="Times New Roman"/>
              </a:rPr>
              <a:t>w</a:t>
            </a:r>
            <a:r>
              <a:rPr dirty="0" baseline="-23809" sz="2100" spc="-37" i="1">
                <a:latin typeface="Times New Roman"/>
                <a:cs typeface="Times New Roman"/>
              </a:rPr>
              <a:t>M</a:t>
            </a:r>
            <a:r>
              <a:rPr dirty="0" baseline="-23809" sz="2100" i="1">
                <a:latin typeface="Times New Roman"/>
                <a:cs typeface="Times New Roman"/>
              </a:rPr>
              <a:t>	</a:t>
            </a:r>
            <a:r>
              <a:rPr dirty="0" sz="2400" spc="-465">
                <a:latin typeface="Microsoft YaHei UI"/>
                <a:cs typeface="Microsoft YaHei UI"/>
              </a:rPr>
              <a:t>=</a:t>
            </a:r>
            <a:r>
              <a:rPr dirty="0" sz="2400" spc="-140">
                <a:latin typeface="Microsoft YaHei UI"/>
                <a:cs typeface="Microsoft YaHei UI"/>
              </a:rPr>
              <a:t> </a:t>
            </a:r>
            <a:r>
              <a:rPr dirty="0" sz="2400" spc="-50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51884" y="6178397"/>
            <a:ext cx="3772535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709670" algn="l"/>
              </a:tabLst>
            </a:pPr>
            <a:r>
              <a:rPr dirty="0" sz="1400" spc="-50">
                <a:latin typeface="Microsoft YaHei UI"/>
                <a:cs typeface="Microsoft YaHei UI"/>
              </a:rPr>
              <a:t>M</a:t>
            </a:r>
            <a:r>
              <a:rPr dirty="0" sz="1400">
                <a:latin typeface="Microsoft YaHei UI"/>
                <a:cs typeface="Microsoft YaHei UI"/>
              </a:rPr>
              <a:t>	</a:t>
            </a:r>
            <a:r>
              <a:rPr dirty="0" sz="1400" spc="-50" i="1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66227" y="5956761"/>
            <a:ext cx="2221230" cy="414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85">
                <a:latin typeface="Microsoft YaHei UI"/>
                <a:cs typeface="Microsoft YaHei UI"/>
              </a:rPr>
              <a:t>[</a:t>
            </a:r>
            <a:r>
              <a:rPr dirty="0" sz="2550" spc="-285" i="1">
                <a:latin typeface="Verdana"/>
                <a:cs typeface="Verdana"/>
              </a:rPr>
              <a:t>φ</a:t>
            </a:r>
            <a:r>
              <a:rPr dirty="0" baseline="-23809" sz="2100" spc="-427">
                <a:latin typeface="Microsoft YaHei UI"/>
                <a:cs typeface="Microsoft YaHei UI"/>
              </a:rPr>
              <a:t>1</a:t>
            </a:r>
            <a:r>
              <a:rPr dirty="0" baseline="-23809" sz="2100" spc="-367">
                <a:latin typeface="Microsoft YaHei UI"/>
                <a:cs typeface="Microsoft YaHei UI"/>
              </a:rPr>
              <a:t> </a:t>
            </a:r>
            <a:r>
              <a:rPr dirty="0" sz="2400" spc="-120">
                <a:latin typeface="Microsoft YaHei UI"/>
                <a:cs typeface="Microsoft YaHei UI"/>
              </a:rPr>
              <a:t>(||</a:t>
            </a:r>
            <a:r>
              <a:rPr dirty="0" sz="2400" spc="-130">
                <a:latin typeface="Microsoft YaHei UI"/>
                <a:cs typeface="Microsoft YaHei UI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x</a:t>
            </a:r>
            <a:r>
              <a:rPr dirty="0" baseline="-23809" sz="2100" i="1">
                <a:latin typeface="Times New Roman"/>
                <a:cs typeface="Times New Roman"/>
              </a:rPr>
              <a:t>i</a:t>
            </a:r>
            <a:r>
              <a:rPr dirty="0" baseline="-23809" sz="2100" spc="375" i="1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–</a:t>
            </a:r>
            <a:r>
              <a:rPr dirty="0" sz="2400" spc="-365">
                <a:latin typeface="Microsoft YaHei UI"/>
                <a:cs typeface="Microsoft YaHei UI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t</a:t>
            </a:r>
            <a:r>
              <a:rPr dirty="0" baseline="-23809" sz="2100">
                <a:latin typeface="Microsoft YaHei UI"/>
                <a:cs typeface="Microsoft YaHei UI"/>
              </a:rPr>
              <a:t>1</a:t>
            </a:r>
            <a:r>
              <a:rPr dirty="0" baseline="-23809" sz="2100" spc="165">
                <a:latin typeface="Microsoft YaHei UI"/>
                <a:cs typeface="Microsoft YaHei UI"/>
              </a:rPr>
              <a:t> </a:t>
            </a:r>
            <a:r>
              <a:rPr dirty="0" sz="2400" spc="-120">
                <a:latin typeface="Microsoft YaHei UI"/>
                <a:cs typeface="Microsoft YaHei UI"/>
              </a:rPr>
              <a:t>||)</a:t>
            </a:r>
            <a:r>
              <a:rPr dirty="0" sz="2400" spc="-395">
                <a:latin typeface="Microsoft YaHei UI"/>
                <a:cs typeface="Microsoft YaHei UI"/>
              </a:rPr>
              <a:t> </a:t>
            </a:r>
            <a:r>
              <a:rPr dirty="0" sz="2400" spc="-20">
                <a:latin typeface="Microsoft YaHei UI"/>
                <a:cs typeface="Microsoft YaHei UI"/>
              </a:rPr>
              <a:t>···</a:t>
            </a:r>
            <a:r>
              <a:rPr dirty="0" sz="2550" spc="-20" i="1">
                <a:latin typeface="Verdana"/>
                <a:cs typeface="Verdana"/>
              </a:rPr>
              <a:t>φ</a:t>
            </a:r>
            <a:endParaRPr sz="255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0">
                <a:latin typeface="Microsoft YaHei UI"/>
                <a:cs typeface="Microsoft YaHei UI"/>
              </a:rPr>
              <a:t>14</a:t>
            </a:r>
            <a:endParaRPr sz="1400">
              <a:latin typeface="Microsoft YaHei UI"/>
              <a:cs typeface="Microsoft YaHei U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12400" y="67727"/>
            <a:ext cx="7814945" cy="471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100"/>
              </a:lnSpc>
              <a:spcBef>
                <a:spcPts val="95"/>
              </a:spcBef>
            </a:pPr>
            <a:r>
              <a:rPr dirty="0" sz="1250" spc="50">
                <a:latin typeface="Microsoft JhengHei UI"/>
                <a:cs typeface="Microsoft JhengHei UI"/>
              </a:rPr>
              <a:t>⼀旦 </a:t>
            </a:r>
            <a:r>
              <a:rPr dirty="0" sz="1250" spc="65">
                <a:latin typeface="Microsoft JhengHei UI"/>
                <a:cs typeface="Microsoft JhengHei UI"/>
              </a:rPr>
              <a:t>RBF</a:t>
            </a:r>
            <a:r>
              <a:rPr dirty="0" sz="1250" spc="40">
                <a:latin typeface="Microsoft JhengHei UI"/>
                <a:cs typeface="Microsoft JhengHei UI"/>
              </a:rPr>
              <a:t> ⽹络的中⼼ </a:t>
            </a:r>
            <a:r>
              <a:rPr dirty="0" sz="1250">
                <a:latin typeface="Microsoft JhengHei UI"/>
                <a:cs typeface="Microsoft JhengHei UI"/>
              </a:rPr>
              <a:t>t_i</a:t>
            </a:r>
            <a:r>
              <a:rPr dirty="0" sz="1250" spc="60">
                <a:latin typeface="Microsoft JhengHei UI"/>
                <a:cs typeface="Microsoft JhengHei UI"/>
              </a:rPr>
              <a:t> 和宽度 </a:t>
            </a:r>
            <a:r>
              <a:rPr dirty="0" sz="1250">
                <a:latin typeface="Microsoft JhengHei UI"/>
                <a:cs typeface="Microsoft JhengHei UI"/>
              </a:rPr>
              <a:t>\sigma_i</a:t>
            </a:r>
            <a:r>
              <a:rPr dirty="0" sz="1250" spc="35">
                <a:latin typeface="Microsoft JhengHei UI"/>
                <a:cs typeface="Microsoft JhengHei UI"/>
              </a:rPr>
              <a:t> 固定了</a:t>
            </a:r>
            <a:r>
              <a:rPr dirty="0" sz="1250">
                <a:latin typeface="Microsoft JhengHei UI"/>
                <a:cs typeface="Microsoft JhengHei UI"/>
              </a:rPr>
              <a:t>（</a:t>
            </a:r>
            <a:r>
              <a:rPr dirty="0" sz="1250" spc="30">
                <a:latin typeface="Microsoft JhengHei UI"/>
                <a:cs typeface="Microsoft JhengHei UI"/>
              </a:rPr>
              <a:t>在“阶段 </a:t>
            </a:r>
            <a:r>
              <a:rPr dirty="0" sz="1250">
                <a:latin typeface="Microsoft JhengHei UI"/>
                <a:cs typeface="Microsoft JhengHei UI"/>
              </a:rPr>
              <a:t>1”</a:t>
            </a:r>
            <a:r>
              <a:rPr dirty="0" sz="1250" spc="25">
                <a:latin typeface="Microsoft JhengHei UI"/>
                <a:cs typeface="Microsoft JhengHei UI"/>
              </a:rPr>
              <a:t>中，⽐如⽤ </a:t>
            </a:r>
            <a:r>
              <a:rPr dirty="0" sz="1250">
                <a:latin typeface="Microsoft JhengHei UI"/>
                <a:cs typeface="Microsoft JhengHei UI"/>
              </a:rPr>
              <a:t>K-Means</a:t>
            </a:r>
            <a:r>
              <a:rPr dirty="0" sz="1250" spc="20">
                <a:latin typeface="Microsoft JhengHei UI"/>
                <a:cs typeface="Microsoft JhengHei UI"/>
              </a:rPr>
              <a:t> 聚类确定了</a:t>
            </a:r>
            <a:r>
              <a:rPr dirty="0" sz="1250">
                <a:latin typeface="Microsoft JhengHei UI"/>
                <a:cs typeface="Microsoft JhengHei UI"/>
              </a:rPr>
              <a:t>），</a:t>
            </a:r>
            <a:r>
              <a:rPr dirty="0" sz="1250" spc="-15">
                <a:latin typeface="Microsoft JhengHei UI"/>
                <a:cs typeface="Microsoft JhengHei UI"/>
              </a:rPr>
              <a:t>我们不需</a:t>
            </a:r>
            <a:r>
              <a:rPr dirty="0" sz="1250" spc="-5">
                <a:latin typeface="Microsoft JhengHei UI"/>
                <a:cs typeface="Microsoft JhengHei UI"/>
              </a:rPr>
              <a:t>要使⽤缓慢的“梯度下降”来迭代训练权重。</a:t>
            </a:r>
            <a:endParaRPr sz="1250">
              <a:latin typeface="Microsoft JhengHei UI"/>
              <a:cs typeface="Microsoft JhengHei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99700" y="228727"/>
            <a:ext cx="59696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sz="1250" b="0">
                <a:solidFill>
                  <a:srgbClr val="000000"/>
                </a:solidFill>
                <a:latin typeface="Microsoft JhengHei UI"/>
                <a:cs typeface="Microsoft JhengHei UI"/>
              </a:rPr>
              <a:t>我们可</a:t>
            </a:r>
            <a:r>
              <a:rPr dirty="0" sz="1250" spc="-1235" b="0">
                <a:solidFill>
                  <a:srgbClr val="000000"/>
                </a:solidFill>
                <a:latin typeface="Microsoft JhengHei UI"/>
                <a:cs typeface="Microsoft JhengHei UI"/>
              </a:rPr>
              <a:t>以</a:t>
            </a:r>
            <a:r>
              <a:rPr dirty="0" baseline="-39772" sz="6600" spc="-2775">
                <a:latin typeface="Microsoft YaHei UI"/>
                <a:cs typeface="Microsoft YaHei UI"/>
              </a:rPr>
              <a:t>R</a:t>
            </a:r>
            <a:r>
              <a:rPr dirty="0" sz="1250" spc="-275" b="0">
                <a:solidFill>
                  <a:srgbClr val="000000"/>
                </a:solidFill>
                <a:latin typeface="Microsoft JhengHei UI"/>
                <a:cs typeface="Microsoft JhengHei UI"/>
              </a:rPr>
              <a:t>使⽤</a:t>
            </a:r>
            <a:r>
              <a:rPr dirty="0" baseline="-39772" sz="6600" spc="-3720">
                <a:latin typeface="Microsoft YaHei UI"/>
                <a:cs typeface="Microsoft YaHei UI"/>
              </a:rPr>
              <a:t>B</a:t>
            </a:r>
            <a:r>
              <a:rPr dirty="0" sz="1250" spc="-20" b="0">
                <a:solidFill>
                  <a:srgbClr val="000000"/>
                </a:solidFill>
                <a:latin typeface="Microsoft JhengHei UI"/>
                <a:cs typeface="Microsoft JhengHei UI"/>
              </a:rPr>
              <a:t>⼀个</a:t>
            </a:r>
            <a:r>
              <a:rPr dirty="0" baseline="-39772" sz="6600" spc="-3645">
                <a:latin typeface="Microsoft YaHei UI"/>
                <a:cs typeface="Microsoft YaHei UI"/>
              </a:rPr>
              <a:t>F</a:t>
            </a:r>
            <a:r>
              <a:rPr dirty="0" sz="1250" b="0">
                <a:solidFill>
                  <a:srgbClr val="000000"/>
                </a:solidFill>
                <a:latin typeface="Microsoft JhengHei UI"/>
                <a:cs typeface="Microsoft JhengHei UI"/>
              </a:rPr>
              <a:t>直接的</a:t>
            </a:r>
            <a:r>
              <a:rPr dirty="0" sz="1250" spc="-1210" b="0">
                <a:solidFill>
                  <a:srgbClr val="000000"/>
                </a:solidFill>
                <a:latin typeface="Microsoft JhengHei UI"/>
                <a:cs typeface="Microsoft JhengHei UI"/>
              </a:rPr>
              <a:t>数</a:t>
            </a:r>
            <a:r>
              <a:rPr dirty="0" baseline="-39772" sz="6600" spc="-1829">
                <a:latin typeface="Microsoft YaHei UI"/>
                <a:cs typeface="Microsoft YaHei UI"/>
              </a:rPr>
              <a:t>L</a:t>
            </a:r>
            <a:r>
              <a:rPr dirty="0" sz="1250" spc="-600" b="0">
                <a:solidFill>
                  <a:srgbClr val="000000"/>
                </a:solidFill>
                <a:latin typeface="Microsoft JhengHei UI"/>
                <a:cs typeface="Microsoft JhengHei UI"/>
              </a:rPr>
              <a:t>学公</a:t>
            </a:r>
            <a:r>
              <a:rPr dirty="0" baseline="-39772" sz="6600" spc="-2054">
                <a:latin typeface="Microsoft YaHei UI"/>
                <a:cs typeface="Microsoft YaHei UI"/>
              </a:rPr>
              <a:t>e</a:t>
            </a:r>
            <a:r>
              <a:rPr dirty="0" sz="1250" spc="-550" b="0">
                <a:solidFill>
                  <a:srgbClr val="000000"/>
                </a:solidFill>
                <a:latin typeface="Microsoft JhengHei UI"/>
                <a:cs typeface="Microsoft JhengHei UI"/>
              </a:rPr>
              <a:t>式来</a:t>
            </a:r>
            <a:r>
              <a:rPr dirty="0" baseline="-39772" sz="6600" spc="-2204">
                <a:latin typeface="Microsoft YaHei UI"/>
                <a:cs typeface="Microsoft YaHei UI"/>
              </a:rPr>
              <a:t>a</a:t>
            </a:r>
            <a:r>
              <a:rPr dirty="0" sz="1250" spc="-484" b="0">
                <a:solidFill>
                  <a:srgbClr val="000000"/>
                </a:solidFill>
                <a:latin typeface="Microsoft JhengHei UI"/>
                <a:cs typeface="Microsoft JhengHei UI"/>
              </a:rPr>
              <a:t>⼀次</a:t>
            </a:r>
            <a:r>
              <a:rPr dirty="0" baseline="-39772" sz="6600" spc="-1364">
                <a:latin typeface="Microsoft YaHei UI"/>
                <a:cs typeface="Microsoft YaHei UI"/>
              </a:rPr>
              <a:t>r</a:t>
            </a:r>
            <a:r>
              <a:rPr dirty="0" sz="1250" spc="-315" b="0">
                <a:solidFill>
                  <a:srgbClr val="000000"/>
                </a:solidFill>
                <a:latin typeface="Microsoft JhengHei UI"/>
                <a:cs typeface="Microsoft JhengHei UI"/>
              </a:rPr>
              <a:t>性</a:t>
            </a:r>
            <a:r>
              <a:rPr dirty="0" baseline="-39772" sz="6600" spc="-3854">
                <a:latin typeface="Microsoft YaHei UI"/>
                <a:cs typeface="Microsoft YaHei UI"/>
              </a:rPr>
              <a:t>n</a:t>
            </a:r>
            <a:r>
              <a:rPr dirty="0" sz="1250" spc="-5" b="0">
                <a:solidFill>
                  <a:srgbClr val="000000"/>
                </a:solidFill>
                <a:latin typeface="Microsoft JhengHei UI"/>
                <a:cs typeface="Microsoft JhengHei UI"/>
              </a:rPr>
              <a:t>解出</a:t>
            </a:r>
            <a:r>
              <a:rPr dirty="0" baseline="-39772" sz="6600" spc="-1807">
                <a:latin typeface="Microsoft YaHei UI"/>
                <a:cs typeface="Microsoft YaHei UI"/>
              </a:rPr>
              <a:t>i</a:t>
            </a:r>
            <a:r>
              <a:rPr dirty="0" sz="1250" spc="-254" b="0">
                <a:solidFill>
                  <a:srgbClr val="000000"/>
                </a:solidFill>
                <a:latin typeface="Microsoft JhengHei UI"/>
                <a:cs typeface="Microsoft JhengHei UI"/>
              </a:rPr>
              <a:t>“最</a:t>
            </a:r>
            <a:r>
              <a:rPr dirty="0" baseline="-39772" sz="6600" spc="-3420">
                <a:latin typeface="Microsoft YaHei UI"/>
                <a:cs typeface="Microsoft YaHei UI"/>
              </a:rPr>
              <a:t>n</a:t>
            </a:r>
            <a:r>
              <a:rPr dirty="0" sz="1250" spc="-150" b="0">
                <a:solidFill>
                  <a:srgbClr val="000000"/>
                </a:solidFill>
                <a:latin typeface="Microsoft JhengHei UI"/>
                <a:cs typeface="Microsoft JhengHei UI"/>
              </a:rPr>
              <a:t>佳权</a:t>
            </a:r>
            <a:r>
              <a:rPr dirty="0" baseline="-39772" sz="6600" spc="-3990">
                <a:latin typeface="Microsoft YaHei UI"/>
                <a:cs typeface="Microsoft YaHei UI"/>
              </a:rPr>
              <a:t>g</a:t>
            </a:r>
            <a:r>
              <a:rPr dirty="0" sz="1250" spc="-5" b="0">
                <a:solidFill>
                  <a:srgbClr val="000000"/>
                </a:solidFill>
                <a:latin typeface="Microsoft JhengHei UI"/>
                <a:cs typeface="Microsoft JhengHei UI"/>
              </a:rPr>
              <a:t>重”，这个⽅法就是“伪逆法”</a:t>
            </a:r>
            <a:endParaRPr sz="1250">
              <a:latin typeface="Microsoft JhengHei UI"/>
              <a:cs typeface="Microsoft JhengHei UI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7577" y="890818"/>
            <a:ext cx="579198" cy="2488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5170" y="2560954"/>
            <a:ext cx="480961" cy="21300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67954" y="3196183"/>
            <a:ext cx="526896" cy="2286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67596" y="3131807"/>
            <a:ext cx="1757093" cy="3001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00566" y="3133610"/>
            <a:ext cx="1324799" cy="30030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50087" y="4282973"/>
            <a:ext cx="1989789" cy="1031108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58150" y="5545709"/>
            <a:ext cx="895794" cy="367441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53317" y="6416794"/>
            <a:ext cx="3246070" cy="35231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95612" y="6413623"/>
            <a:ext cx="1168736" cy="3128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547" rIns="0" bIns="0" rtlCol="0" vert="horz">
            <a:spAutoFit/>
          </a:bodyPr>
          <a:lstStyle/>
          <a:p>
            <a:pPr marL="930275">
              <a:lnSpc>
                <a:spcPct val="100000"/>
              </a:lnSpc>
              <a:spcBef>
                <a:spcPts val="105"/>
              </a:spcBef>
            </a:pPr>
            <a:r>
              <a:rPr dirty="0" sz="4400" spc="70">
                <a:latin typeface="Microsoft YaHei UI"/>
                <a:cs typeface="Microsoft YaHei UI"/>
              </a:rPr>
              <a:t>RBF</a:t>
            </a:r>
            <a:r>
              <a:rPr dirty="0" sz="4400" spc="-30">
                <a:latin typeface="Microsoft YaHei UI"/>
                <a:cs typeface="Microsoft YaHei UI"/>
              </a:rPr>
              <a:t> </a:t>
            </a:r>
            <a:r>
              <a:rPr dirty="0" sz="4400" spc="-10">
                <a:latin typeface="Microsoft YaHei UI"/>
                <a:cs typeface="Microsoft YaHei UI"/>
              </a:rPr>
              <a:t>Learning</a:t>
            </a:r>
            <a:endParaRPr sz="4400">
              <a:latin typeface="Microsoft YaHei UI"/>
              <a:cs typeface="Microsoft YaHei U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524292" y="2239835"/>
            <a:ext cx="259079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25362" sz="3450" spc="-37">
                <a:latin typeface="Microsoft YaHei UI"/>
                <a:cs typeface="Microsoft YaHei UI"/>
              </a:rPr>
              <a:t>]</a:t>
            </a:r>
            <a:r>
              <a:rPr dirty="0" sz="1350" spc="-25" i="1">
                <a:latin typeface="Times New Roman"/>
                <a:cs typeface="Times New Roman"/>
              </a:rPr>
              <a:t>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383208" y="2565743"/>
            <a:ext cx="13970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50" i="1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124473" y="2239835"/>
            <a:ext cx="259079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25362" sz="3450" spc="-37">
                <a:latin typeface="Microsoft YaHei UI"/>
                <a:cs typeface="Microsoft YaHei UI"/>
              </a:rPr>
              <a:t>]</a:t>
            </a:r>
            <a:r>
              <a:rPr dirty="0" sz="1350" spc="-25" i="1">
                <a:latin typeface="Times New Roman"/>
                <a:cs typeface="Times New Roman"/>
              </a:rPr>
              <a:t>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45962" y="2565743"/>
            <a:ext cx="16764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50" i="1">
                <a:latin typeface="Times New Roman"/>
                <a:cs typeface="Times New Roman"/>
              </a:rPr>
              <a:t>M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908965" y="2565743"/>
            <a:ext cx="11112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70">
                <a:latin typeface="Microsoft YaHei UI"/>
                <a:cs typeface="Microsoft YaHei UI"/>
              </a:rPr>
              <a:t>1</a:t>
            </a:r>
            <a:endParaRPr sz="1350">
              <a:latin typeface="Microsoft YaHei UI"/>
              <a:cs typeface="Microsoft YaHei U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452285" y="2370759"/>
            <a:ext cx="930910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445">
                <a:latin typeface="Microsoft YaHei UI"/>
                <a:cs typeface="Microsoft YaHei UI"/>
              </a:rPr>
              <a:t>=</a:t>
            </a:r>
            <a:r>
              <a:rPr dirty="0" sz="2300" spc="-305">
                <a:latin typeface="Microsoft YaHei UI"/>
                <a:cs typeface="Microsoft YaHei UI"/>
              </a:rPr>
              <a:t> </a:t>
            </a:r>
            <a:r>
              <a:rPr dirty="0" sz="2300">
                <a:latin typeface="Microsoft YaHei UI"/>
                <a:cs typeface="Microsoft YaHei UI"/>
              </a:rPr>
              <a:t>[</a:t>
            </a:r>
            <a:r>
              <a:rPr dirty="0" sz="2300" i="1">
                <a:latin typeface="Times New Roman"/>
                <a:cs typeface="Times New Roman"/>
              </a:rPr>
              <a:t>d</a:t>
            </a:r>
            <a:r>
              <a:rPr dirty="0" sz="2300" spc="175" i="1">
                <a:latin typeface="Times New Roman"/>
                <a:cs typeface="Times New Roman"/>
              </a:rPr>
              <a:t> </a:t>
            </a:r>
            <a:r>
              <a:rPr dirty="0" sz="2300" spc="-20">
                <a:latin typeface="Microsoft YaHei UI"/>
                <a:cs typeface="Microsoft YaHei UI"/>
              </a:rPr>
              <a:t>...</a:t>
            </a:r>
            <a:r>
              <a:rPr dirty="0" sz="2300" spc="-20" i="1">
                <a:latin typeface="Times New Roman"/>
                <a:cs typeface="Times New Roman"/>
              </a:rPr>
              <a:t>d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449570" y="2565743"/>
            <a:ext cx="11112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70">
                <a:latin typeface="Microsoft YaHei UI"/>
                <a:cs typeface="Microsoft YaHei UI"/>
              </a:rPr>
              <a:t>1</a:t>
            </a:r>
            <a:endParaRPr sz="1350">
              <a:latin typeface="Microsoft YaHei UI"/>
              <a:cs typeface="Microsoft YaHei U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040807" y="2370759"/>
            <a:ext cx="962025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27777" sz="3450" spc="135">
                <a:latin typeface="Microsoft YaHei UI"/>
                <a:cs typeface="Microsoft YaHei UI"/>
              </a:rPr>
              <a:t>|</a:t>
            </a:r>
            <a:r>
              <a:rPr dirty="0" sz="2300" spc="90">
                <a:latin typeface="Microsoft YaHei UI"/>
                <a:cs typeface="Microsoft YaHei UI"/>
              </a:rPr>
              <a:t>[</a:t>
            </a:r>
            <a:r>
              <a:rPr dirty="0" sz="2300" spc="90" i="1">
                <a:latin typeface="Times New Roman"/>
                <a:cs typeface="Times New Roman"/>
              </a:rPr>
              <a:t>w</a:t>
            </a:r>
            <a:r>
              <a:rPr dirty="0" sz="2300" spc="-60" i="1">
                <a:latin typeface="Times New Roman"/>
                <a:cs typeface="Times New Roman"/>
              </a:rPr>
              <a:t> </a:t>
            </a:r>
            <a:r>
              <a:rPr dirty="0" sz="2300" spc="-20">
                <a:latin typeface="Microsoft YaHei UI"/>
                <a:cs typeface="Microsoft YaHei UI"/>
              </a:rPr>
              <a:t>...</a:t>
            </a:r>
            <a:r>
              <a:rPr dirty="0" sz="2300" spc="-20" i="1">
                <a:latin typeface="Times New Roman"/>
                <a:cs typeface="Times New Roman"/>
              </a:rPr>
              <a:t>w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511274" y="2507005"/>
            <a:ext cx="3693160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67429" algn="l"/>
              </a:tabLst>
            </a:pPr>
            <a:r>
              <a:rPr dirty="0" sz="2300" spc="204">
                <a:latin typeface="Microsoft YaHei UI"/>
                <a:cs typeface="Microsoft YaHei UI"/>
              </a:rPr>
              <a:t>|</a:t>
            </a:r>
            <a:r>
              <a:rPr dirty="0" sz="2300">
                <a:latin typeface="Microsoft YaHei UI"/>
                <a:cs typeface="Microsoft YaHei UI"/>
              </a:rPr>
              <a:t>	</a:t>
            </a:r>
            <a:r>
              <a:rPr dirty="0" sz="2300" spc="204">
                <a:latin typeface="Microsoft YaHei UI"/>
                <a:cs typeface="Microsoft YaHei UI"/>
              </a:rPr>
              <a:t>|</a:t>
            </a:r>
            <a:endParaRPr sz="2300">
              <a:latin typeface="Microsoft YaHei UI"/>
              <a:cs typeface="Microsoft YaHei U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85874" y="2370759"/>
            <a:ext cx="396875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27777" sz="3450" spc="52">
                <a:latin typeface="Microsoft YaHei UI"/>
                <a:cs typeface="Microsoft YaHei UI"/>
              </a:rPr>
              <a:t>|</a:t>
            </a:r>
            <a:r>
              <a:rPr dirty="0" sz="2300" spc="35">
                <a:latin typeface="Microsoft YaHei UI"/>
                <a:cs typeface="Microsoft YaHei UI"/>
              </a:rPr>
              <a:t>...</a:t>
            </a:r>
            <a:endParaRPr sz="2300">
              <a:latin typeface="Microsoft YaHei UI"/>
              <a:cs typeface="Microsoft YaHei U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77594" y="2710408"/>
            <a:ext cx="5172075" cy="926465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445770">
              <a:lnSpc>
                <a:spcPct val="100000"/>
              </a:lnSpc>
              <a:spcBef>
                <a:spcPts val="780"/>
              </a:spcBef>
            </a:pPr>
            <a:r>
              <a:rPr dirty="0" baseline="3623" sz="3450" spc="-1117">
                <a:latin typeface="Microsoft YaHei UI"/>
                <a:cs typeface="Microsoft YaHei UI"/>
              </a:rPr>
              <a:t>|</a:t>
            </a:r>
            <a:r>
              <a:rPr dirty="0" baseline="-16908" sz="3450" spc="-1117">
                <a:latin typeface="Microsoft YaHei UI"/>
                <a:cs typeface="Microsoft YaHei UI"/>
              </a:rPr>
              <a:t></a:t>
            </a:r>
            <a:r>
              <a:rPr dirty="0" sz="2400" spc="-745" i="1">
                <a:latin typeface="Verdana"/>
                <a:cs typeface="Verdana"/>
              </a:rPr>
              <a:t>φ</a:t>
            </a:r>
            <a:r>
              <a:rPr dirty="0" baseline="-24691" sz="2025" spc="-1117">
                <a:latin typeface="Microsoft YaHei UI"/>
                <a:cs typeface="Microsoft YaHei UI"/>
              </a:rPr>
              <a:t>1</a:t>
            </a:r>
            <a:r>
              <a:rPr dirty="0" baseline="-24691" sz="2025" spc="-367">
                <a:latin typeface="Microsoft YaHei UI"/>
                <a:cs typeface="Microsoft YaHei UI"/>
              </a:rPr>
              <a:t> </a:t>
            </a:r>
            <a:r>
              <a:rPr dirty="0" sz="2300" spc="-120">
                <a:latin typeface="Microsoft YaHei UI"/>
                <a:cs typeface="Microsoft YaHei UI"/>
              </a:rPr>
              <a:t>(||</a:t>
            </a:r>
            <a:r>
              <a:rPr dirty="0" sz="2300" spc="-114">
                <a:latin typeface="Microsoft YaHei UI"/>
                <a:cs typeface="Microsoft YaHei UI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x</a:t>
            </a:r>
            <a:r>
              <a:rPr dirty="0" baseline="-24691" sz="2025" i="1">
                <a:latin typeface="Times New Roman"/>
                <a:cs typeface="Times New Roman"/>
              </a:rPr>
              <a:t>N</a:t>
            </a:r>
            <a:r>
              <a:rPr dirty="0" baseline="-24691" sz="2025" spc="682" i="1">
                <a:latin typeface="Times New Roman"/>
                <a:cs typeface="Times New Roman"/>
              </a:rPr>
              <a:t> </a:t>
            </a:r>
            <a:r>
              <a:rPr dirty="0" sz="2300">
                <a:latin typeface="Microsoft YaHei UI"/>
                <a:cs typeface="Microsoft YaHei UI"/>
              </a:rPr>
              <a:t>–</a:t>
            </a:r>
            <a:r>
              <a:rPr dirty="0" sz="2300" spc="-350">
                <a:latin typeface="Microsoft YaHei UI"/>
                <a:cs typeface="Microsoft YaHei UI"/>
              </a:rPr>
              <a:t> </a:t>
            </a:r>
            <a:r>
              <a:rPr dirty="0" sz="2300" spc="-10" i="1">
                <a:latin typeface="Times New Roman"/>
                <a:cs typeface="Times New Roman"/>
              </a:rPr>
              <a:t>t</a:t>
            </a:r>
            <a:r>
              <a:rPr dirty="0" baseline="-24691" sz="2025" spc="-15">
                <a:latin typeface="Microsoft YaHei UI"/>
                <a:cs typeface="Microsoft YaHei UI"/>
              </a:rPr>
              <a:t>1</a:t>
            </a:r>
            <a:r>
              <a:rPr dirty="0" baseline="-24691" sz="2025" spc="195">
                <a:latin typeface="Microsoft YaHei UI"/>
                <a:cs typeface="Microsoft YaHei UI"/>
              </a:rPr>
              <a:t> </a:t>
            </a:r>
            <a:r>
              <a:rPr dirty="0" sz="2300" spc="-120">
                <a:latin typeface="Microsoft YaHei UI"/>
                <a:cs typeface="Microsoft YaHei UI"/>
              </a:rPr>
              <a:t>||)...</a:t>
            </a:r>
            <a:r>
              <a:rPr dirty="0" sz="2400" spc="-120" i="1">
                <a:latin typeface="Verdana"/>
                <a:cs typeface="Verdana"/>
              </a:rPr>
              <a:t>φ</a:t>
            </a:r>
            <a:r>
              <a:rPr dirty="0" baseline="-24691" sz="2025" spc="-179" i="1">
                <a:latin typeface="Times New Roman"/>
                <a:cs typeface="Times New Roman"/>
              </a:rPr>
              <a:t>n</a:t>
            </a:r>
            <a:r>
              <a:rPr dirty="0" baseline="-24691" sz="2025" spc="-67" i="1">
                <a:latin typeface="Times New Roman"/>
                <a:cs typeface="Times New Roman"/>
              </a:rPr>
              <a:t> </a:t>
            </a:r>
            <a:r>
              <a:rPr dirty="0" sz="2300" spc="-120">
                <a:latin typeface="Microsoft YaHei UI"/>
                <a:cs typeface="Microsoft YaHei UI"/>
              </a:rPr>
              <a:t>(|| </a:t>
            </a:r>
            <a:r>
              <a:rPr dirty="0" sz="2300" i="1">
                <a:latin typeface="Times New Roman"/>
                <a:cs typeface="Times New Roman"/>
              </a:rPr>
              <a:t>x</a:t>
            </a:r>
            <a:r>
              <a:rPr dirty="0" baseline="-24691" sz="2025" i="1">
                <a:latin typeface="Times New Roman"/>
                <a:cs typeface="Times New Roman"/>
              </a:rPr>
              <a:t>N</a:t>
            </a:r>
            <a:r>
              <a:rPr dirty="0" baseline="-24691" sz="2025" spc="690" i="1">
                <a:latin typeface="Times New Roman"/>
                <a:cs typeface="Times New Roman"/>
              </a:rPr>
              <a:t> </a:t>
            </a:r>
            <a:r>
              <a:rPr dirty="0" sz="2300">
                <a:latin typeface="Microsoft YaHei UI"/>
                <a:cs typeface="Microsoft YaHei UI"/>
              </a:rPr>
              <a:t>–</a:t>
            </a:r>
            <a:r>
              <a:rPr dirty="0" sz="2300" spc="-350">
                <a:latin typeface="Microsoft YaHei UI"/>
                <a:cs typeface="Microsoft YaHei UI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t</a:t>
            </a:r>
            <a:r>
              <a:rPr dirty="0" baseline="-24691" sz="2025" i="1">
                <a:latin typeface="Times New Roman"/>
                <a:cs typeface="Times New Roman"/>
              </a:rPr>
              <a:t>M</a:t>
            </a:r>
            <a:r>
              <a:rPr dirty="0" baseline="-24691" sz="2025" spc="142" i="1">
                <a:latin typeface="Times New Roman"/>
                <a:cs typeface="Times New Roman"/>
              </a:rPr>
              <a:t>  </a:t>
            </a:r>
            <a:r>
              <a:rPr dirty="0" sz="2300" spc="100">
                <a:latin typeface="Microsoft YaHei UI"/>
                <a:cs typeface="Microsoft YaHei UI"/>
              </a:rPr>
              <a:t>||</a:t>
            </a:r>
            <a:r>
              <a:rPr dirty="0" sz="2300" spc="175">
                <a:latin typeface="Microsoft YaHei UI"/>
                <a:cs typeface="Microsoft YaHei UI"/>
              </a:rPr>
              <a:t>)</a:t>
            </a:r>
            <a:r>
              <a:rPr dirty="0" baseline="3623" sz="3450" spc="-794">
                <a:latin typeface="Microsoft YaHei UI"/>
                <a:cs typeface="Microsoft YaHei UI"/>
              </a:rPr>
              <a:t>|</a:t>
            </a:r>
            <a:r>
              <a:rPr dirty="0" baseline="-16908" sz="3450" spc="150">
                <a:latin typeface="Microsoft YaHei UI"/>
                <a:cs typeface="Microsoft YaHei UI"/>
              </a:rPr>
              <a:t>]</a:t>
            </a:r>
            <a:endParaRPr baseline="-16908" sz="3450">
              <a:latin typeface="Microsoft YaHei UI"/>
              <a:cs typeface="Microsoft YaHei UI"/>
            </a:endParaRPr>
          </a:p>
          <a:p>
            <a:pPr marL="25400">
              <a:lnSpc>
                <a:spcPct val="100000"/>
              </a:lnSpc>
              <a:spcBef>
                <a:spcPts val="650"/>
              </a:spcBef>
            </a:pPr>
            <a:r>
              <a:rPr dirty="0" sz="2400" spc="-90">
                <a:latin typeface="Microsoft YaHei UI"/>
                <a:cs typeface="Microsoft YaHei UI"/>
              </a:rPr>
              <a:t>for </a:t>
            </a:r>
            <a:r>
              <a:rPr dirty="0" sz="2400" spc="-20">
                <a:latin typeface="Microsoft YaHei UI"/>
                <a:cs typeface="Microsoft YaHei UI"/>
              </a:rPr>
              <a:t>all</a:t>
            </a:r>
            <a:r>
              <a:rPr dirty="0" sz="2400" spc="-130">
                <a:latin typeface="Microsoft YaHei UI"/>
                <a:cs typeface="Microsoft YaHei UI"/>
              </a:rPr>
              <a:t> </a:t>
            </a:r>
            <a:r>
              <a:rPr dirty="0" sz="2400" spc="-70">
                <a:latin typeface="Microsoft YaHei UI"/>
                <a:cs typeface="Microsoft YaHei UI"/>
              </a:rPr>
              <a:t>the</a:t>
            </a:r>
            <a:r>
              <a:rPr dirty="0" sz="2400" spc="-90">
                <a:latin typeface="Microsoft YaHei UI"/>
                <a:cs typeface="Microsoft YaHei UI"/>
              </a:rPr>
              <a:t> </a:t>
            </a:r>
            <a:r>
              <a:rPr dirty="0" sz="2400" spc="-105">
                <a:latin typeface="Microsoft YaHei UI"/>
                <a:cs typeface="Microsoft YaHei UI"/>
              </a:rPr>
              <a:t>examples</a:t>
            </a:r>
            <a:r>
              <a:rPr dirty="0" sz="2400" spc="-75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at</a:t>
            </a:r>
            <a:r>
              <a:rPr dirty="0" sz="2400" spc="-90">
                <a:latin typeface="Microsoft YaHei UI"/>
                <a:cs typeface="Microsoft YaHei UI"/>
              </a:rPr>
              <a:t> </a:t>
            </a:r>
            <a:r>
              <a:rPr dirty="0" sz="2400" spc="-70">
                <a:latin typeface="Microsoft YaHei UI"/>
                <a:cs typeface="Microsoft YaHei UI"/>
              </a:rPr>
              <a:t>the</a:t>
            </a:r>
            <a:r>
              <a:rPr dirty="0" sz="2400" spc="-90">
                <a:latin typeface="Microsoft YaHei UI"/>
                <a:cs typeface="Microsoft YaHei UI"/>
              </a:rPr>
              <a:t> </a:t>
            </a:r>
            <a:r>
              <a:rPr dirty="0" sz="2400" spc="-95">
                <a:latin typeface="Microsoft YaHei UI"/>
                <a:cs typeface="Microsoft YaHei UI"/>
              </a:rPr>
              <a:t>same</a:t>
            </a:r>
            <a:r>
              <a:rPr dirty="0" sz="2400" spc="-85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time.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066207" y="1946795"/>
            <a:ext cx="137795" cy="376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1480">
                <a:latin typeface="Microsoft YaHei UI"/>
                <a:cs typeface="Microsoft YaHei UI"/>
              </a:rPr>
              <a:t></a:t>
            </a:r>
            <a:endParaRPr sz="2300">
              <a:latin typeface="Microsoft YaHei UI"/>
              <a:cs typeface="Microsoft YaHei U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485874" y="1909657"/>
            <a:ext cx="3430904" cy="3956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-3623" sz="3450" spc="-2340">
                <a:latin typeface="Microsoft YaHei UI"/>
                <a:cs typeface="Microsoft YaHei UI"/>
              </a:rPr>
              <a:t>「</a:t>
            </a:r>
            <a:r>
              <a:rPr dirty="0" sz="2400" spc="-340" i="1">
                <a:latin typeface="Verdana"/>
                <a:cs typeface="Verdana"/>
              </a:rPr>
              <a:t>φ</a:t>
            </a:r>
            <a:r>
              <a:rPr dirty="0" baseline="-24691" sz="2025" spc="-509">
                <a:latin typeface="Microsoft YaHei UI"/>
                <a:cs typeface="Microsoft YaHei UI"/>
              </a:rPr>
              <a:t>1</a:t>
            </a:r>
            <a:r>
              <a:rPr dirty="0" baseline="-24691" sz="2025" spc="-367">
                <a:latin typeface="Microsoft YaHei UI"/>
                <a:cs typeface="Microsoft YaHei UI"/>
              </a:rPr>
              <a:t> </a:t>
            </a:r>
            <a:r>
              <a:rPr dirty="0" sz="2300" spc="-120">
                <a:latin typeface="Microsoft YaHei UI"/>
                <a:cs typeface="Microsoft YaHei UI"/>
              </a:rPr>
              <a:t>(||</a:t>
            </a:r>
            <a:r>
              <a:rPr dirty="0" sz="2300" spc="-135">
                <a:latin typeface="Microsoft YaHei UI"/>
                <a:cs typeface="Microsoft YaHei UI"/>
              </a:rPr>
              <a:t> </a:t>
            </a:r>
            <a:r>
              <a:rPr dirty="0" sz="2300" spc="-50" i="1">
                <a:latin typeface="Times New Roman"/>
                <a:cs typeface="Times New Roman"/>
              </a:rPr>
              <a:t>x</a:t>
            </a:r>
            <a:r>
              <a:rPr dirty="0" baseline="-24691" sz="2025" spc="-75">
                <a:latin typeface="Microsoft YaHei UI"/>
                <a:cs typeface="Microsoft YaHei UI"/>
              </a:rPr>
              <a:t>1 </a:t>
            </a:r>
            <a:r>
              <a:rPr dirty="0" sz="2300" spc="-180">
                <a:latin typeface="Microsoft YaHei UI"/>
                <a:cs typeface="Microsoft YaHei UI"/>
              </a:rPr>
              <a:t>– </a:t>
            </a:r>
            <a:r>
              <a:rPr dirty="0" sz="2300" spc="-10" i="1">
                <a:latin typeface="Times New Roman"/>
                <a:cs typeface="Times New Roman"/>
              </a:rPr>
              <a:t>t</a:t>
            </a:r>
            <a:r>
              <a:rPr dirty="0" baseline="-24691" sz="2025" spc="-15">
                <a:latin typeface="Microsoft YaHei UI"/>
                <a:cs typeface="Microsoft YaHei UI"/>
              </a:rPr>
              <a:t>1</a:t>
            </a:r>
            <a:r>
              <a:rPr dirty="0" baseline="-24691" sz="2025" spc="-44">
                <a:latin typeface="Microsoft YaHei UI"/>
                <a:cs typeface="Microsoft YaHei UI"/>
              </a:rPr>
              <a:t> </a:t>
            </a:r>
            <a:r>
              <a:rPr dirty="0" sz="2300" spc="-120">
                <a:latin typeface="Microsoft YaHei UI"/>
                <a:cs typeface="Microsoft YaHei UI"/>
              </a:rPr>
              <a:t>||)...</a:t>
            </a:r>
            <a:r>
              <a:rPr dirty="0" sz="2400" spc="-120" i="1">
                <a:latin typeface="Verdana"/>
                <a:cs typeface="Verdana"/>
              </a:rPr>
              <a:t>φ</a:t>
            </a:r>
            <a:r>
              <a:rPr dirty="0" baseline="-24691" sz="2025" spc="-179" i="1">
                <a:latin typeface="Times New Roman"/>
                <a:cs typeface="Times New Roman"/>
              </a:rPr>
              <a:t>n</a:t>
            </a:r>
            <a:r>
              <a:rPr dirty="0" baseline="-24691" sz="2025" spc="-82" i="1">
                <a:latin typeface="Times New Roman"/>
                <a:cs typeface="Times New Roman"/>
              </a:rPr>
              <a:t> </a:t>
            </a:r>
            <a:r>
              <a:rPr dirty="0" sz="2300" spc="-120">
                <a:latin typeface="Microsoft YaHei UI"/>
                <a:cs typeface="Microsoft YaHei UI"/>
              </a:rPr>
              <a:t>(||</a:t>
            </a:r>
            <a:r>
              <a:rPr dirty="0" sz="2300" spc="-135">
                <a:latin typeface="Microsoft YaHei UI"/>
                <a:cs typeface="Microsoft YaHei UI"/>
              </a:rPr>
              <a:t> </a:t>
            </a:r>
            <a:r>
              <a:rPr dirty="0" sz="2300" spc="-50" i="1">
                <a:latin typeface="Times New Roman"/>
                <a:cs typeface="Times New Roman"/>
              </a:rPr>
              <a:t>x</a:t>
            </a:r>
            <a:r>
              <a:rPr dirty="0" baseline="-24691" sz="2025" spc="-75">
                <a:latin typeface="Microsoft YaHei UI"/>
                <a:cs typeface="Microsoft YaHei UI"/>
              </a:rPr>
              <a:t>1</a:t>
            </a:r>
            <a:r>
              <a:rPr dirty="0" baseline="-24691" sz="2025" spc="97">
                <a:latin typeface="Microsoft YaHei UI"/>
                <a:cs typeface="Microsoft YaHei UI"/>
              </a:rPr>
              <a:t> </a:t>
            </a:r>
            <a:r>
              <a:rPr dirty="0" sz="2300" spc="-180">
                <a:latin typeface="Microsoft YaHei UI"/>
                <a:cs typeface="Microsoft YaHei UI"/>
              </a:rPr>
              <a:t>– </a:t>
            </a:r>
            <a:r>
              <a:rPr dirty="0" sz="2300" i="1">
                <a:latin typeface="Times New Roman"/>
                <a:cs typeface="Times New Roman"/>
              </a:rPr>
              <a:t>t</a:t>
            </a:r>
            <a:r>
              <a:rPr dirty="0" baseline="-24691" sz="2025">
                <a:latin typeface="Microsoft YaHei UI"/>
                <a:cs typeface="Microsoft YaHei UI"/>
              </a:rPr>
              <a:t>M</a:t>
            </a:r>
            <a:r>
              <a:rPr dirty="0" baseline="-24691" sz="2025" spc="307">
                <a:latin typeface="Microsoft YaHei UI"/>
                <a:cs typeface="Microsoft YaHei UI"/>
              </a:rPr>
              <a:t> </a:t>
            </a:r>
            <a:r>
              <a:rPr dirty="0" sz="2300" spc="-25">
                <a:latin typeface="Microsoft YaHei UI"/>
                <a:cs typeface="Microsoft YaHei UI"/>
              </a:rPr>
              <a:t>||)</a:t>
            </a:r>
            <a:endParaRPr sz="2300">
              <a:latin typeface="Microsoft YaHei UI"/>
              <a:cs typeface="Microsoft YaHei U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069339" y="4181462"/>
            <a:ext cx="4400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70">
                <a:latin typeface="Microsoft YaHei UI"/>
                <a:cs typeface="Microsoft YaHei UI"/>
              </a:rPr>
              <a:t>Let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293489" y="3699845"/>
            <a:ext cx="2348230" cy="131000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50"/>
              </a:spcBef>
              <a:tabLst>
                <a:tab pos="523240" algn="l"/>
              </a:tabLst>
            </a:pPr>
            <a:r>
              <a:rPr dirty="0" sz="2200" spc="-25">
                <a:latin typeface="Microsoft YaHei UI"/>
                <a:cs typeface="Microsoft YaHei UI"/>
              </a:rPr>
              <a:t>...</a:t>
            </a:r>
            <a:r>
              <a:rPr dirty="0" sz="2200">
                <a:latin typeface="Microsoft YaHei UI"/>
                <a:cs typeface="Microsoft YaHei UI"/>
              </a:rPr>
              <a:t>	</a:t>
            </a:r>
            <a:r>
              <a:rPr dirty="0" sz="2350" spc="-220" i="1">
                <a:latin typeface="Verdana"/>
                <a:cs typeface="Verdana"/>
              </a:rPr>
              <a:t>φ</a:t>
            </a:r>
            <a:r>
              <a:rPr dirty="0" baseline="-23504" sz="1950" spc="-330" i="1">
                <a:latin typeface="Times New Roman"/>
                <a:cs typeface="Times New Roman"/>
              </a:rPr>
              <a:t>M</a:t>
            </a:r>
            <a:r>
              <a:rPr dirty="0" baseline="-23504" sz="1950" spc="179" i="1">
                <a:latin typeface="Times New Roman"/>
                <a:cs typeface="Times New Roman"/>
              </a:rPr>
              <a:t> </a:t>
            </a:r>
            <a:r>
              <a:rPr dirty="0" sz="2200" spc="-105">
                <a:latin typeface="Microsoft YaHei UI"/>
                <a:cs typeface="Microsoft YaHei UI"/>
              </a:rPr>
              <a:t>(||</a:t>
            </a:r>
            <a:r>
              <a:rPr dirty="0" sz="2200" spc="-150">
                <a:latin typeface="Microsoft YaHei UI"/>
                <a:cs typeface="Microsoft YaHei UI"/>
              </a:rPr>
              <a:t> </a:t>
            </a:r>
            <a:r>
              <a:rPr dirty="0" sz="2200" spc="-60" i="1">
                <a:latin typeface="Times New Roman"/>
                <a:cs typeface="Times New Roman"/>
              </a:rPr>
              <a:t>x</a:t>
            </a:r>
            <a:r>
              <a:rPr dirty="0" baseline="-23504" sz="1950" spc="-89">
                <a:latin typeface="Microsoft YaHei UI"/>
                <a:cs typeface="Microsoft YaHei UI"/>
              </a:rPr>
              <a:t>1</a:t>
            </a:r>
            <a:r>
              <a:rPr dirty="0" baseline="-23504" sz="1950" spc="-22">
                <a:latin typeface="Microsoft YaHei UI"/>
                <a:cs typeface="Microsoft YaHei UI"/>
              </a:rPr>
              <a:t> </a:t>
            </a:r>
            <a:r>
              <a:rPr dirty="0" sz="2200">
                <a:latin typeface="Microsoft YaHei UI"/>
                <a:cs typeface="Microsoft YaHei UI"/>
              </a:rPr>
              <a:t>–</a:t>
            </a:r>
            <a:r>
              <a:rPr dirty="0" sz="2200" spc="-365">
                <a:latin typeface="Microsoft YaHei UI"/>
                <a:cs typeface="Microsoft YaHei UI"/>
              </a:rPr>
              <a:t> </a:t>
            </a:r>
            <a:r>
              <a:rPr dirty="0" sz="2200" i="1">
                <a:latin typeface="Times New Roman"/>
                <a:cs typeface="Times New Roman"/>
              </a:rPr>
              <a:t>t</a:t>
            </a:r>
            <a:r>
              <a:rPr dirty="0" baseline="-23504" sz="1950">
                <a:latin typeface="Microsoft YaHei UI"/>
                <a:cs typeface="Microsoft YaHei UI"/>
              </a:rPr>
              <a:t>M</a:t>
            </a:r>
            <a:r>
              <a:rPr dirty="0" baseline="-23504" sz="1950" spc="300">
                <a:latin typeface="Microsoft YaHei UI"/>
                <a:cs typeface="Microsoft YaHei UI"/>
              </a:rPr>
              <a:t> </a:t>
            </a:r>
            <a:r>
              <a:rPr dirty="0" sz="2200" spc="-110">
                <a:latin typeface="Microsoft YaHei UI"/>
                <a:cs typeface="Microsoft YaHei UI"/>
              </a:rPr>
              <a:t>||)</a:t>
            </a:r>
            <a:r>
              <a:rPr dirty="0" sz="2200" spc="-210">
                <a:latin typeface="Microsoft YaHei UI"/>
                <a:cs typeface="Microsoft YaHei UI"/>
              </a:rPr>
              <a:t> </a:t>
            </a:r>
            <a:r>
              <a:rPr dirty="0" baseline="-3787" sz="3300" spc="-2122">
                <a:latin typeface="Microsoft YaHei UI"/>
                <a:cs typeface="Microsoft YaHei UI"/>
              </a:rPr>
              <a:t></a:t>
            </a:r>
            <a:endParaRPr baseline="-3787" sz="3300">
              <a:latin typeface="Microsoft YaHei UI"/>
              <a:cs typeface="Microsoft YaHei UI"/>
            </a:endParaRPr>
          </a:p>
          <a:p>
            <a:pPr marL="38100">
              <a:lnSpc>
                <a:spcPts val="1860"/>
              </a:lnSpc>
              <a:spcBef>
                <a:spcPts val="655"/>
              </a:spcBef>
              <a:tabLst>
                <a:tab pos="2188210" algn="l"/>
              </a:tabLst>
            </a:pPr>
            <a:r>
              <a:rPr dirty="0" sz="2200" spc="-25">
                <a:latin typeface="Microsoft YaHei UI"/>
                <a:cs typeface="Microsoft YaHei UI"/>
              </a:rPr>
              <a:t>...</a:t>
            </a:r>
            <a:r>
              <a:rPr dirty="0" sz="2200">
                <a:latin typeface="Microsoft YaHei UI"/>
                <a:cs typeface="Microsoft YaHei UI"/>
              </a:rPr>
              <a:t>	</a:t>
            </a:r>
            <a:r>
              <a:rPr dirty="0" baseline="26515" sz="3300" spc="315">
                <a:latin typeface="Microsoft YaHei UI"/>
                <a:cs typeface="Microsoft YaHei UI"/>
              </a:rPr>
              <a:t>|</a:t>
            </a:r>
            <a:endParaRPr baseline="26515" sz="3300">
              <a:latin typeface="Microsoft YaHei UI"/>
              <a:cs typeface="Microsoft YaHei UI"/>
            </a:endParaRPr>
          </a:p>
          <a:p>
            <a:pPr algn="r" marR="43180">
              <a:lnSpc>
                <a:spcPts val="1585"/>
              </a:lnSpc>
            </a:pPr>
            <a:r>
              <a:rPr dirty="0" sz="2200" spc="210">
                <a:latin typeface="Microsoft YaHei UI"/>
                <a:cs typeface="Microsoft YaHei UI"/>
              </a:rPr>
              <a:t>|</a:t>
            </a:r>
            <a:endParaRPr sz="2200">
              <a:latin typeface="Microsoft YaHei UI"/>
              <a:cs typeface="Microsoft YaHei UI"/>
            </a:endParaRPr>
          </a:p>
          <a:p>
            <a:pPr marL="38100">
              <a:lnSpc>
                <a:spcPts val="2545"/>
              </a:lnSpc>
              <a:tabLst>
                <a:tab pos="473709" algn="l"/>
              </a:tabLst>
            </a:pPr>
            <a:r>
              <a:rPr dirty="0" sz="2200" spc="-25">
                <a:latin typeface="Microsoft YaHei UI"/>
                <a:cs typeface="Microsoft YaHei UI"/>
              </a:rPr>
              <a:t>...</a:t>
            </a:r>
            <a:r>
              <a:rPr dirty="0" sz="2200">
                <a:latin typeface="Microsoft YaHei UI"/>
                <a:cs typeface="Microsoft YaHei UI"/>
              </a:rPr>
              <a:t>	</a:t>
            </a:r>
            <a:r>
              <a:rPr dirty="0" sz="2350" spc="-220" i="1">
                <a:latin typeface="Verdana"/>
                <a:cs typeface="Verdana"/>
              </a:rPr>
              <a:t>φ</a:t>
            </a:r>
            <a:r>
              <a:rPr dirty="0" baseline="-23504" sz="1950" spc="-330" i="1">
                <a:latin typeface="Times New Roman"/>
                <a:cs typeface="Times New Roman"/>
              </a:rPr>
              <a:t>M</a:t>
            </a:r>
            <a:r>
              <a:rPr dirty="0" baseline="-23504" sz="1950" spc="217" i="1">
                <a:latin typeface="Times New Roman"/>
                <a:cs typeface="Times New Roman"/>
              </a:rPr>
              <a:t> </a:t>
            </a:r>
            <a:r>
              <a:rPr dirty="0" sz="2200" spc="-105">
                <a:latin typeface="Microsoft YaHei UI"/>
                <a:cs typeface="Microsoft YaHei UI"/>
              </a:rPr>
              <a:t>(||</a:t>
            </a:r>
            <a:r>
              <a:rPr dirty="0" sz="2200" spc="-120">
                <a:latin typeface="Microsoft YaHei UI"/>
                <a:cs typeface="Microsoft YaHei UI"/>
              </a:rPr>
              <a:t> </a:t>
            </a:r>
            <a:r>
              <a:rPr dirty="0" sz="2200" i="1">
                <a:latin typeface="Times New Roman"/>
                <a:cs typeface="Times New Roman"/>
              </a:rPr>
              <a:t>x</a:t>
            </a:r>
            <a:r>
              <a:rPr dirty="0" baseline="-23504" sz="1950" i="1">
                <a:latin typeface="Times New Roman"/>
                <a:cs typeface="Times New Roman"/>
              </a:rPr>
              <a:t>N</a:t>
            </a:r>
            <a:r>
              <a:rPr dirty="0" baseline="-23504" sz="1950" spc="667" i="1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YaHei UI"/>
                <a:cs typeface="Microsoft YaHei UI"/>
              </a:rPr>
              <a:t>–</a:t>
            </a:r>
            <a:r>
              <a:rPr dirty="0" sz="2200" spc="-350">
                <a:latin typeface="Microsoft YaHei UI"/>
                <a:cs typeface="Microsoft YaHei UI"/>
              </a:rPr>
              <a:t> </a:t>
            </a:r>
            <a:r>
              <a:rPr dirty="0" sz="2200" i="1">
                <a:latin typeface="Times New Roman"/>
                <a:cs typeface="Times New Roman"/>
              </a:rPr>
              <a:t>t</a:t>
            </a:r>
            <a:r>
              <a:rPr dirty="0" baseline="-23504" sz="1950" i="1">
                <a:latin typeface="Times New Roman"/>
                <a:cs typeface="Times New Roman"/>
              </a:rPr>
              <a:t>M</a:t>
            </a:r>
            <a:r>
              <a:rPr dirty="0" baseline="-23504" sz="1950" spc="135" i="1">
                <a:latin typeface="Times New Roman"/>
                <a:cs typeface="Times New Roman"/>
              </a:rPr>
              <a:t>  </a:t>
            </a:r>
            <a:r>
              <a:rPr dirty="0" sz="2200" spc="35">
                <a:latin typeface="Microsoft YaHei UI"/>
                <a:cs typeface="Microsoft YaHei UI"/>
              </a:rPr>
              <a:t>||</a:t>
            </a:r>
            <a:r>
              <a:rPr dirty="0" sz="2200" spc="105">
                <a:latin typeface="Microsoft YaHei UI"/>
                <a:cs typeface="Microsoft YaHei UI"/>
              </a:rPr>
              <a:t>)</a:t>
            </a:r>
            <a:r>
              <a:rPr dirty="0" baseline="2525" sz="3300" spc="-810">
                <a:latin typeface="Microsoft YaHei UI"/>
                <a:cs typeface="Microsoft YaHei UI"/>
              </a:rPr>
              <a:t>|</a:t>
            </a:r>
            <a:r>
              <a:rPr dirty="0" baseline="-15151" sz="3300" spc="75">
                <a:latin typeface="Microsoft YaHei UI"/>
                <a:cs typeface="Microsoft YaHei UI"/>
              </a:rPr>
              <a:t>]</a:t>
            </a:r>
            <a:endParaRPr baseline="-15151" sz="3300">
              <a:latin typeface="Microsoft YaHei UI"/>
              <a:cs typeface="Microsoft YaHei U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970087" y="4220171"/>
            <a:ext cx="69088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200" spc="-80">
                <a:latin typeface="Microsoft YaHei UI"/>
                <a:cs typeface="Microsoft YaHei UI"/>
              </a:rPr>
              <a:t>Ф</a:t>
            </a:r>
            <a:r>
              <a:rPr dirty="0" sz="2200" spc="-114">
                <a:latin typeface="Microsoft YaHei UI"/>
                <a:cs typeface="Microsoft YaHei UI"/>
              </a:rPr>
              <a:t> </a:t>
            </a:r>
            <a:r>
              <a:rPr dirty="0" sz="2200" spc="-430">
                <a:latin typeface="Microsoft YaHei UI"/>
                <a:cs typeface="Microsoft YaHei UI"/>
              </a:rPr>
              <a:t>=</a:t>
            </a:r>
            <a:r>
              <a:rPr dirty="0" sz="2200" spc="-120">
                <a:latin typeface="Microsoft YaHei UI"/>
                <a:cs typeface="Microsoft YaHei UI"/>
              </a:rPr>
              <a:t> </a:t>
            </a:r>
            <a:r>
              <a:rPr dirty="0" baseline="26515" sz="3300" spc="315">
                <a:latin typeface="Microsoft YaHei UI"/>
                <a:cs typeface="Microsoft YaHei UI"/>
              </a:rPr>
              <a:t>|</a:t>
            </a:r>
            <a:endParaRPr baseline="26515" sz="3300">
              <a:latin typeface="Microsoft YaHei UI"/>
              <a:cs typeface="Microsoft YaHei U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475738" y="4357878"/>
            <a:ext cx="1647189" cy="6521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ts val="2365"/>
              </a:lnSpc>
              <a:spcBef>
                <a:spcPts val="125"/>
              </a:spcBef>
            </a:pPr>
            <a:r>
              <a:rPr dirty="0" sz="2200" spc="210">
                <a:latin typeface="Microsoft YaHei UI"/>
                <a:cs typeface="Microsoft YaHei UI"/>
              </a:rPr>
              <a:t>|</a:t>
            </a:r>
            <a:endParaRPr sz="2200">
              <a:latin typeface="Microsoft YaHei UI"/>
              <a:cs typeface="Microsoft YaHei UI"/>
            </a:endParaRPr>
          </a:p>
          <a:p>
            <a:pPr marL="38100">
              <a:lnSpc>
                <a:spcPts val="2545"/>
              </a:lnSpc>
            </a:pPr>
            <a:r>
              <a:rPr dirty="0" baseline="2525" sz="3300" spc="-1102">
                <a:latin typeface="Microsoft YaHei UI"/>
                <a:cs typeface="Microsoft YaHei UI"/>
              </a:rPr>
              <a:t>|</a:t>
            </a:r>
            <a:r>
              <a:rPr dirty="0" baseline="-15151" sz="3300" spc="-1102">
                <a:latin typeface="Microsoft YaHei UI"/>
                <a:cs typeface="Microsoft YaHei UI"/>
              </a:rPr>
              <a:t></a:t>
            </a:r>
            <a:r>
              <a:rPr dirty="0" sz="2350" spc="-735" i="1">
                <a:latin typeface="Verdana"/>
                <a:cs typeface="Verdana"/>
              </a:rPr>
              <a:t>φ</a:t>
            </a:r>
            <a:r>
              <a:rPr dirty="0" baseline="-23504" sz="1950" spc="-1102">
                <a:latin typeface="Microsoft YaHei UI"/>
                <a:cs typeface="Microsoft YaHei UI"/>
              </a:rPr>
              <a:t>1</a:t>
            </a:r>
            <a:r>
              <a:rPr dirty="0" baseline="-23504" sz="1950" spc="-367">
                <a:latin typeface="Microsoft YaHei UI"/>
                <a:cs typeface="Microsoft YaHei UI"/>
              </a:rPr>
              <a:t> </a:t>
            </a:r>
            <a:r>
              <a:rPr dirty="0" sz="2200" spc="-105">
                <a:latin typeface="Microsoft YaHei UI"/>
                <a:cs typeface="Microsoft YaHei UI"/>
              </a:rPr>
              <a:t>(||</a:t>
            </a:r>
            <a:r>
              <a:rPr dirty="0" sz="2200" spc="-150">
                <a:latin typeface="Microsoft YaHei UI"/>
                <a:cs typeface="Microsoft YaHei UI"/>
              </a:rPr>
              <a:t> </a:t>
            </a:r>
            <a:r>
              <a:rPr dirty="0" sz="2200" i="1">
                <a:latin typeface="Times New Roman"/>
                <a:cs typeface="Times New Roman"/>
              </a:rPr>
              <a:t>x</a:t>
            </a:r>
            <a:r>
              <a:rPr dirty="0" baseline="-23504" sz="1950" i="1">
                <a:latin typeface="Times New Roman"/>
                <a:cs typeface="Times New Roman"/>
              </a:rPr>
              <a:t>N</a:t>
            </a:r>
            <a:r>
              <a:rPr dirty="0" baseline="-23504" sz="1950" spc="509" i="1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YaHei UI"/>
                <a:cs typeface="Microsoft YaHei UI"/>
              </a:rPr>
              <a:t>–</a:t>
            </a:r>
            <a:r>
              <a:rPr dirty="0" sz="2200" spc="-365">
                <a:latin typeface="Microsoft YaHei UI"/>
                <a:cs typeface="Microsoft YaHei UI"/>
              </a:rPr>
              <a:t> </a:t>
            </a:r>
            <a:r>
              <a:rPr dirty="0" sz="2200" spc="-10" i="1">
                <a:latin typeface="Times New Roman"/>
                <a:cs typeface="Times New Roman"/>
              </a:rPr>
              <a:t>t</a:t>
            </a:r>
            <a:r>
              <a:rPr dirty="0" baseline="-23504" sz="1950" spc="-15">
                <a:latin typeface="Microsoft YaHei UI"/>
                <a:cs typeface="Microsoft YaHei UI"/>
              </a:rPr>
              <a:t>1</a:t>
            </a:r>
            <a:r>
              <a:rPr dirty="0" baseline="-23504" sz="1950" spc="120">
                <a:latin typeface="Microsoft YaHei UI"/>
                <a:cs typeface="Microsoft YaHei UI"/>
              </a:rPr>
              <a:t> </a:t>
            </a:r>
            <a:r>
              <a:rPr dirty="0" sz="2200" spc="-25">
                <a:latin typeface="Microsoft YaHei UI"/>
                <a:cs typeface="Microsoft YaHei UI"/>
              </a:rPr>
              <a:t>||)</a:t>
            </a:r>
            <a:endParaRPr sz="2200">
              <a:latin typeface="Microsoft YaHei UI"/>
              <a:cs typeface="Microsoft YaHei U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475738" y="3783500"/>
            <a:ext cx="1605280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3787" sz="3300" spc="-1754">
                <a:latin typeface="Microsoft YaHei UI"/>
                <a:cs typeface="Microsoft YaHei UI"/>
              </a:rPr>
              <a:t>「</a:t>
            </a:r>
            <a:r>
              <a:rPr dirty="0" sz="2350" spc="-355" i="1">
                <a:latin typeface="Verdana"/>
                <a:cs typeface="Verdana"/>
              </a:rPr>
              <a:t>φ</a:t>
            </a:r>
            <a:r>
              <a:rPr dirty="0" baseline="-23504" sz="1950" spc="-532">
                <a:latin typeface="Microsoft YaHei UI"/>
                <a:cs typeface="Microsoft YaHei UI"/>
              </a:rPr>
              <a:t>1</a:t>
            </a:r>
            <a:r>
              <a:rPr dirty="0" baseline="-23504" sz="1950" spc="-367">
                <a:latin typeface="Microsoft YaHei UI"/>
                <a:cs typeface="Microsoft YaHei UI"/>
              </a:rPr>
              <a:t> </a:t>
            </a:r>
            <a:r>
              <a:rPr dirty="0" sz="2200" spc="-105">
                <a:latin typeface="Microsoft YaHei UI"/>
                <a:cs typeface="Microsoft YaHei UI"/>
              </a:rPr>
              <a:t>(||</a:t>
            </a:r>
            <a:r>
              <a:rPr dirty="0" sz="2200" spc="-150">
                <a:latin typeface="Microsoft YaHei UI"/>
                <a:cs typeface="Microsoft YaHei UI"/>
              </a:rPr>
              <a:t> </a:t>
            </a:r>
            <a:r>
              <a:rPr dirty="0" sz="2200" spc="-60" i="1">
                <a:latin typeface="Times New Roman"/>
                <a:cs typeface="Times New Roman"/>
              </a:rPr>
              <a:t>x</a:t>
            </a:r>
            <a:r>
              <a:rPr dirty="0" baseline="-23504" sz="1950" spc="-89">
                <a:latin typeface="Microsoft YaHei UI"/>
                <a:cs typeface="Microsoft YaHei UI"/>
              </a:rPr>
              <a:t>1</a:t>
            </a:r>
            <a:r>
              <a:rPr dirty="0" baseline="-23504" sz="1950" spc="-60">
                <a:latin typeface="Microsoft YaHei UI"/>
                <a:cs typeface="Microsoft YaHei UI"/>
              </a:rPr>
              <a:t> </a:t>
            </a:r>
            <a:r>
              <a:rPr dirty="0" sz="2200" spc="-185">
                <a:latin typeface="Microsoft YaHei UI"/>
                <a:cs typeface="Microsoft YaHei UI"/>
              </a:rPr>
              <a:t>– </a:t>
            </a:r>
            <a:r>
              <a:rPr dirty="0" sz="2200" spc="-10" i="1">
                <a:latin typeface="Times New Roman"/>
                <a:cs typeface="Times New Roman"/>
              </a:rPr>
              <a:t>t</a:t>
            </a:r>
            <a:r>
              <a:rPr dirty="0" baseline="-23504" sz="1950" spc="-15">
                <a:latin typeface="Microsoft YaHei UI"/>
                <a:cs typeface="Microsoft YaHei UI"/>
              </a:rPr>
              <a:t>1</a:t>
            </a:r>
            <a:r>
              <a:rPr dirty="0" baseline="-23504" sz="1950" spc="-44">
                <a:latin typeface="Microsoft YaHei UI"/>
                <a:cs typeface="Microsoft YaHei UI"/>
              </a:rPr>
              <a:t> </a:t>
            </a:r>
            <a:r>
              <a:rPr dirty="0" sz="2200" spc="-25">
                <a:latin typeface="Microsoft YaHei UI"/>
                <a:cs typeface="Microsoft YaHei UI"/>
              </a:rPr>
              <a:t>||)</a:t>
            </a:r>
            <a:endParaRPr sz="2200">
              <a:latin typeface="Microsoft YaHei UI"/>
              <a:cs typeface="Microsoft YaHei U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069339" y="5772899"/>
            <a:ext cx="23971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45">
                <a:latin typeface="Microsoft YaHei UI"/>
                <a:cs typeface="Microsoft YaHei UI"/>
              </a:rPr>
              <a:t>then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85">
                <a:latin typeface="Microsoft YaHei UI"/>
                <a:cs typeface="Microsoft YaHei UI"/>
              </a:rPr>
              <a:t>we</a:t>
            </a:r>
            <a:r>
              <a:rPr dirty="0" sz="2400" spc="-95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can</a:t>
            </a:r>
            <a:r>
              <a:rPr dirty="0" sz="2400" spc="-150">
                <a:latin typeface="Microsoft YaHei UI"/>
                <a:cs typeface="Microsoft YaHei UI"/>
              </a:rPr>
              <a:t> </a:t>
            </a:r>
            <a:r>
              <a:rPr dirty="0" sz="2400" spc="-114">
                <a:latin typeface="Microsoft YaHei UI"/>
                <a:cs typeface="Microsoft YaHei UI"/>
              </a:rPr>
              <a:t>write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686898" y="5787301"/>
            <a:ext cx="2002155" cy="960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3500">
              <a:lnSpc>
                <a:spcPts val="2055"/>
              </a:lnSpc>
              <a:spcBef>
                <a:spcPts val="105"/>
              </a:spcBef>
              <a:tabLst>
                <a:tab pos="867410" algn="l"/>
                <a:tab pos="1816100" algn="l"/>
              </a:tabLst>
            </a:pPr>
            <a:r>
              <a:rPr dirty="0" sz="2450" spc="60">
                <a:latin typeface="Microsoft YaHei UI"/>
                <a:cs typeface="Microsoft YaHei UI"/>
              </a:rPr>
              <a:t>Ф</a:t>
            </a:r>
            <a:r>
              <a:rPr dirty="0" baseline="27210" sz="3675" spc="89">
                <a:latin typeface="Microsoft YaHei UI"/>
                <a:cs typeface="Microsoft YaHei UI"/>
              </a:rPr>
              <a:t>|</a:t>
            </a:r>
            <a:r>
              <a:rPr dirty="0" sz="2450" spc="60">
                <a:latin typeface="Microsoft YaHei UI"/>
                <a:cs typeface="Microsoft YaHei UI"/>
              </a:rPr>
              <a:t>...</a:t>
            </a:r>
            <a:r>
              <a:rPr dirty="0" sz="2450">
                <a:latin typeface="Microsoft YaHei UI"/>
                <a:cs typeface="Microsoft YaHei UI"/>
              </a:rPr>
              <a:t>	</a:t>
            </a:r>
            <a:r>
              <a:rPr dirty="0" baseline="27210" sz="3675" spc="434">
                <a:latin typeface="Microsoft YaHei UI"/>
                <a:cs typeface="Microsoft YaHei UI"/>
              </a:rPr>
              <a:t>|</a:t>
            </a:r>
            <a:r>
              <a:rPr dirty="0" baseline="27210" sz="3675" spc="-142">
                <a:latin typeface="Microsoft YaHei UI"/>
                <a:cs typeface="Microsoft YaHei UI"/>
              </a:rPr>
              <a:t> </a:t>
            </a:r>
            <a:r>
              <a:rPr dirty="0" sz="2450" spc="-455">
                <a:latin typeface="Microsoft YaHei UI"/>
                <a:cs typeface="Microsoft YaHei UI"/>
              </a:rPr>
              <a:t>=</a:t>
            </a:r>
            <a:r>
              <a:rPr dirty="0" sz="2450" spc="-120">
                <a:latin typeface="Microsoft YaHei UI"/>
                <a:cs typeface="Microsoft YaHei UI"/>
              </a:rPr>
              <a:t> </a:t>
            </a:r>
            <a:r>
              <a:rPr dirty="0" baseline="27210" sz="3675" spc="75">
                <a:latin typeface="Microsoft YaHei UI"/>
                <a:cs typeface="Microsoft YaHei UI"/>
              </a:rPr>
              <a:t>|</a:t>
            </a:r>
            <a:r>
              <a:rPr dirty="0" sz="2450" spc="50">
                <a:latin typeface="Microsoft YaHei UI"/>
                <a:cs typeface="Microsoft YaHei UI"/>
              </a:rPr>
              <a:t>...</a:t>
            </a:r>
            <a:r>
              <a:rPr dirty="0" sz="2450">
                <a:latin typeface="Microsoft YaHei UI"/>
                <a:cs typeface="Microsoft YaHei UI"/>
              </a:rPr>
              <a:t>	</a:t>
            </a:r>
            <a:r>
              <a:rPr dirty="0" baseline="27210" sz="3675" spc="359">
                <a:latin typeface="Microsoft YaHei UI"/>
                <a:cs typeface="Microsoft YaHei UI"/>
              </a:rPr>
              <a:t>|</a:t>
            </a:r>
            <a:endParaRPr baseline="27210" sz="3675">
              <a:latin typeface="Microsoft YaHei UI"/>
              <a:cs typeface="Microsoft YaHei UI"/>
            </a:endParaRPr>
          </a:p>
          <a:p>
            <a:pPr marL="323850">
              <a:lnSpc>
                <a:spcPts val="2055"/>
              </a:lnSpc>
              <a:tabLst>
                <a:tab pos="867410" algn="l"/>
                <a:tab pos="1320165" algn="l"/>
                <a:tab pos="1816100" algn="l"/>
              </a:tabLst>
            </a:pPr>
            <a:r>
              <a:rPr dirty="0" sz="2450" spc="240">
                <a:latin typeface="Microsoft YaHei UI"/>
                <a:cs typeface="Microsoft YaHei UI"/>
              </a:rPr>
              <a:t>|</a:t>
            </a:r>
            <a:r>
              <a:rPr dirty="0" sz="2450">
                <a:latin typeface="Microsoft YaHei UI"/>
                <a:cs typeface="Microsoft YaHei UI"/>
              </a:rPr>
              <a:t>	</a:t>
            </a:r>
            <a:r>
              <a:rPr dirty="0" sz="2450" spc="240">
                <a:latin typeface="Microsoft YaHei UI"/>
                <a:cs typeface="Microsoft YaHei UI"/>
              </a:rPr>
              <a:t>|</a:t>
            </a:r>
            <a:r>
              <a:rPr dirty="0" sz="2450">
                <a:latin typeface="Microsoft YaHei UI"/>
                <a:cs typeface="Microsoft YaHei UI"/>
              </a:rPr>
              <a:t>	</a:t>
            </a:r>
            <a:r>
              <a:rPr dirty="0" sz="2450" spc="229">
                <a:latin typeface="Microsoft YaHei UI"/>
                <a:cs typeface="Microsoft YaHei UI"/>
              </a:rPr>
              <a:t>|</a:t>
            </a:r>
            <a:r>
              <a:rPr dirty="0" sz="2450">
                <a:latin typeface="Microsoft YaHei UI"/>
                <a:cs typeface="Microsoft YaHei UI"/>
              </a:rPr>
              <a:t>	</a:t>
            </a:r>
            <a:r>
              <a:rPr dirty="0" sz="2450" spc="240">
                <a:latin typeface="Microsoft YaHei UI"/>
                <a:cs typeface="Microsoft YaHei UI"/>
              </a:rPr>
              <a:t>|</a:t>
            </a:r>
            <a:endParaRPr sz="2450">
              <a:latin typeface="Microsoft YaHei UI"/>
              <a:cs typeface="Microsoft YaHei UI"/>
            </a:endParaRPr>
          </a:p>
          <a:p>
            <a:pPr marL="323850">
              <a:lnSpc>
                <a:spcPct val="100000"/>
              </a:lnSpc>
              <a:spcBef>
                <a:spcPts val="305"/>
              </a:spcBef>
              <a:tabLst>
                <a:tab pos="1320165" algn="l"/>
              </a:tabLst>
            </a:pPr>
            <a:r>
              <a:rPr dirty="0" baseline="20408" sz="3675" spc="-832">
                <a:latin typeface="Microsoft YaHei UI"/>
                <a:cs typeface="Microsoft YaHei UI"/>
              </a:rPr>
              <a:t>|</a:t>
            </a:r>
            <a:r>
              <a:rPr dirty="0" sz="2450" spc="-555">
                <a:latin typeface="Microsoft YaHei UI"/>
                <a:cs typeface="Microsoft YaHei UI"/>
              </a:rPr>
              <a:t></a:t>
            </a:r>
            <a:r>
              <a:rPr dirty="0" baseline="15873" sz="3675" spc="-832" i="1">
                <a:latin typeface="Times New Roman"/>
                <a:cs typeface="Times New Roman"/>
              </a:rPr>
              <a:t>w</a:t>
            </a:r>
            <a:r>
              <a:rPr dirty="0" baseline="3968" sz="2100" spc="-832">
                <a:latin typeface="Microsoft YaHei UI"/>
                <a:cs typeface="Microsoft YaHei UI"/>
              </a:rPr>
              <a:t>M</a:t>
            </a:r>
            <a:r>
              <a:rPr dirty="0" baseline="3968" sz="2100" spc="-75">
                <a:latin typeface="Microsoft YaHei UI"/>
                <a:cs typeface="Microsoft YaHei UI"/>
              </a:rPr>
              <a:t> </a:t>
            </a:r>
            <a:r>
              <a:rPr dirty="0" baseline="20408" sz="3675" spc="-937">
                <a:latin typeface="Microsoft YaHei UI"/>
                <a:cs typeface="Microsoft YaHei UI"/>
              </a:rPr>
              <a:t>|</a:t>
            </a:r>
            <a:r>
              <a:rPr dirty="0" sz="2450" spc="45">
                <a:latin typeface="Microsoft YaHei UI"/>
                <a:cs typeface="Microsoft YaHei UI"/>
              </a:rPr>
              <a:t>]</a:t>
            </a:r>
            <a:r>
              <a:rPr dirty="0" sz="2450">
                <a:latin typeface="Microsoft YaHei UI"/>
                <a:cs typeface="Microsoft YaHei UI"/>
              </a:rPr>
              <a:t>	</a:t>
            </a:r>
            <a:r>
              <a:rPr dirty="0" baseline="20408" sz="3675" spc="-705">
                <a:latin typeface="Microsoft YaHei UI"/>
                <a:cs typeface="Microsoft YaHei UI"/>
              </a:rPr>
              <a:t>|</a:t>
            </a:r>
            <a:r>
              <a:rPr dirty="0" sz="2450" spc="-470">
                <a:latin typeface="Microsoft YaHei UI"/>
                <a:cs typeface="Microsoft YaHei UI"/>
              </a:rPr>
              <a:t></a:t>
            </a:r>
            <a:r>
              <a:rPr dirty="0" baseline="15873" sz="3675" spc="-705" i="1">
                <a:latin typeface="Times New Roman"/>
                <a:cs typeface="Times New Roman"/>
              </a:rPr>
              <a:t>d</a:t>
            </a:r>
            <a:r>
              <a:rPr dirty="0" baseline="3968" sz="2100" spc="-705" i="1">
                <a:latin typeface="Times New Roman"/>
                <a:cs typeface="Times New Roman"/>
              </a:rPr>
              <a:t>N</a:t>
            </a:r>
            <a:r>
              <a:rPr dirty="0" baseline="3968" sz="2100" spc="195" i="1">
                <a:latin typeface="Times New Roman"/>
                <a:cs typeface="Times New Roman"/>
              </a:rPr>
              <a:t> </a:t>
            </a:r>
            <a:r>
              <a:rPr dirty="0" baseline="20408" sz="3675" spc="-937">
                <a:latin typeface="Microsoft YaHei UI"/>
                <a:cs typeface="Microsoft YaHei UI"/>
              </a:rPr>
              <a:t>|</a:t>
            </a:r>
            <a:r>
              <a:rPr dirty="0" sz="2450" spc="45">
                <a:latin typeface="Microsoft YaHei UI"/>
                <a:cs typeface="Microsoft YaHei UI"/>
              </a:rPr>
              <a:t>]</a:t>
            </a:r>
            <a:endParaRPr sz="2450">
              <a:latin typeface="Microsoft YaHei UI"/>
              <a:cs typeface="Microsoft YaHei U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490743" y="5334406"/>
            <a:ext cx="147320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-1545">
                <a:latin typeface="Microsoft YaHei UI"/>
                <a:cs typeface="Microsoft YaHei UI"/>
              </a:rPr>
              <a:t></a:t>
            </a:r>
            <a:endParaRPr sz="2450">
              <a:latin typeface="Microsoft YaHei UI"/>
              <a:cs typeface="Microsoft YaHei U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542066" y="5334406"/>
            <a:ext cx="147320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-1545">
                <a:latin typeface="Microsoft YaHei UI"/>
                <a:cs typeface="Microsoft YaHei UI"/>
              </a:rPr>
              <a:t></a:t>
            </a:r>
            <a:endParaRPr sz="2450">
              <a:latin typeface="Microsoft YaHei UI"/>
              <a:cs typeface="Microsoft YaHei U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960342" y="5311521"/>
            <a:ext cx="1474470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1046480" algn="l"/>
              </a:tabLst>
            </a:pPr>
            <a:r>
              <a:rPr dirty="0" baseline="-4535" sz="3675" spc="-2115">
                <a:latin typeface="Microsoft YaHei UI"/>
                <a:cs typeface="Microsoft YaHei UI"/>
              </a:rPr>
              <a:t>「</a:t>
            </a:r>
            <a:r>
              <a:rPr dirty="0" sz="2450" spc="-25" i="1">
                <a:latin typeface="Times New Roman"/>
                <a:cs typeface="Times New Roman"/>
              </a:rPr>
              <a:t>w</a:t>
            </a:r>
            <a:r>
              <a:rPr dirty="0" baseline="-23809" sz="2100" spc="-37">
                <a:latin typeface="Microsoft YaHei UI"/>
                <a:cs typeface="Microsoft YaHei UI"/>
              </a:rPr>
              <a:t>1</a:t>
            </a:r>
            <a:r>
              <a:rPr dirty="0" baseline="-23809" sz="2100">
                <a:latin typeface="Microsoft YaHei UI"/>
                <a:cs typeface="Microsoft YaHei UI"/>
              </a:rPr>
              <a:t>	</a:t>
            </a:r>
            <a:r>
              <a:rPr dirty="0" baseline="-4535" sz="3675" spc="-2175">
                <a:latin typeface="Microsoft YaHei UI"/>
                <a:cs typeface="Microsoft YaHei UI"/>
              </a:rPr>
              <a:t>「</a:t>
            </a:r>
            <a:r>
              <a:rPr dirty="0" sz="2450" spc="-25" i="1">
                <a:latin typeface="Times New Roman"/>
                <a:cs typeface="Times New Roman"/>
              </a:rPr>
              <a:t>d</a:t>
            </a:r>
            <a:r>
              <a:rPr dirty="0" baseline="-23809" sz="2100" spc="-37">
                <a:latin typeface="Microsoft YaHei UI"/>
                <a:cs typeface="Microsoft YaHei UI"/>
              </a:rPr>
              <a:t>1</a:t>
            </a:r>
            <a:endParaRPr baseline="-23809" sz="2100">
              <a:latin typeface="Microsoft YaHei UI"/>
              <a:cs typeface="Microsoft YaHei U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0">
                <a:latin typeface="Microsoft YaHei UI"/>
                <a:cs typeface="Microsoft YaHei UI"/>
              </a:rPr>
              <a:t>15</a:t>
            </a:r>
            <a:endParaRPr sz="1400">
              <a:latin typeface="Microsoft YaHei UI"/>
              <a:cs typeface="Microsoft YaHei UI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3289" y="60248"/>
            <a:ext cx="1237870" cy="385775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4705" y="70002"/>
            <a:ext cx="3148393" cy="786815"/>
          </a:xfrm>
          <a:prstGeom prst="rect">
            <a:avLst/>
          </a:prstGeom>
        </p:spPr>
      </p:pic>
      <p:sp>
        <p:nvSpPr>
          <p:cNvPr id="29" name="object 29" descr=""/>
          <p:cNvSpPr/>
          <p:nvPr/>
        </p:nvSpPr>
        <p:spPr>
          <a:xfrm>
            <a:off x="6291300" y="376720"/>
            <a:ext cx="25400" cy="41910"/>
          </a:xfrm>
          <a:custGeom>
            <a:avLst/>
            <a:gdLst/>
            <a:ahLst/>
            <a:cxnLst/>
            <a:rect l="l" t="t" r="r" b="b"/>
            <a:pathLst>
              <a:path w="25400" h="41909">
                <a:moveTo>
                  <a:pt x="8686" y="17703"/>
                </a:moveTo>
                <a:lnTo>
                  <a:pt x="5270" y="21780"/>
                </a:lnTo>
                <a:lnTo>
                  <a:pt x="1524" y="29210"/>
                </a:lnTo>
                <a:lnTo>
                  <a:pt x="0" y="39230"/>
                </a:lnTo>
                <a:lnTo>
                  <a:pt x="1288" y="40982"/>
                </a:lnTo>
                <a:lnTo>
                  <a:pt x="1409" y="41148"/>
                </a:lnTo>
                <a:lnTo>
                  <a:pt x="4965" y="41694"/>
                </a:lnTo>
                <a:lnTo>
                  <a:pt x="6451" y="40982"/>
                </a:lnTo>
                <a:lnTo>
                  <a:pt x="16540" y="24218"/>
                </a:lnTo>
                <a:lnTo>
                  <a:pt x="13093" y="24218"/>
                </a:lnTo>
                <a:lnTo>
                  <a:pt x="8966" y="20764"/>
                </a:lnTo>
                <a:lnTo>
                  <a:pt x="8801" y="18959"/>
                </a:lnTo>
                <a:lnTo>
                  <a:pt x="8686" y="17703"/>
                </a:lnTo>
                <a:close/>
              </a:path>
              <a:path w="25400" h="41909">
                <a:moveTo>
                  <a:pt x="14605" y="13335"/>
                </a:moveTo>
                <a:lnTo>
                  <a:pt x="11941" y="13780"/>
                </a:lnTo>
                <a:lnTo>
                  <a:pt x="8686" y="17703"/>
                </a:lnTo>
                <a:lnTo>
                  <a:pt x="8966" y="20764"/>
                </a:lnTo>
                <a:lnTo>
                  <a:pt x="13093" y="24218"/>
                </a:lnTo>
                <a:lnTo>
                  <a:pt x="16167" y="23939"/>
                </a:lnTo>
                <a:lnTo>
                  <a:pt x="18167" y="21513"/>
                </a:lnTo>
                <a:lnTo>
                  <a:pt x="19703" y="18959"/>
                </a:lnTo>
                <a:lnTo>
                  <a:pt x="18989" y="16078"/>
                </a:lnTo>
                <a:lnTo>
                  <a:pt x="19150" y="16078"/>
                </a:lnTo>
                <a:lnTo>
                  <a:pt x="14605" y="13335"/>
                </a:lnTo>
                <a:close/>
              </a:path>
              <a:path w="25400" h="41909">
                <a:moveTo>
                  <a:pt x="18007" y="21780"/>
                </a:moveTo>
                <a:lnTo>
                  <a:pt x="16167" y="23939"/>
                </a:lnTo>
                <a:lnTo>
                  <a:pt x="13093" y="24218"/>
                </a:lnTo>
                <a:lnTo>
                  <a:pt x="16540" y="24218"/>
                </a:lnTo>
                <a:lnTo>
                  <a:pt x="18007" y="21780"/>
                </a:lnTo>
                <a:close/>
              </a:path>
              <a:path w="25400" h="41909">
                <a:moveTo>
                  <a:pt x="22859" y="13335"/>
                </a:moveTo>
                <a:lnTo>
                  <a:pt x="14605" y="13335"/>
                </a:lnTo>
                <a:lnTo>
                  <a:pt x="19150" y="16078"/>
                </a:lnTo>
                <a:lnTo>
                  <a:pt x="18989" y="16078"/>
                </a:lnTo>
                <a:lnTo>
                  <a:pt x="19713" y="18959"/>
                </a:lnTo>
                <a:lnTo>
                  <a:pt x="21450" y="16078"/>
                </a:lnTo>
                <a:lnTo>
                  <a:pt x="22761" y="13525"/>
                </a:lnTo>
                <a:lnTo>
                  <a:pt x="22859" y="13335"/>
                </a:lnTo>
                <a:close/>
              </a:path>
              <a:path w="25400" h="41909">
                <a:moveTo>
                  <a:pt x="19824" y="0"/>
                </a:moveTo>
                <a:lnTo>
                  <a:pt x="16090" y="1409"/>
                </a:lnTo>
                <a:lnTo>
                  <a:pt x="15100" y="3352"/>
                </a:lnTo>
                <a:lnTo>
                  <a:pt x="15925" y="6362"/>
                </a:lnTo>
                <a:lnTo>
                  <a:pt x="15417" y="7696"/>
                </a:lnTo>
                <a:lnTo>
                  <a:pt x="13868" y="11264"/>
                </a:lnTo>
                <a:lnTo>
                  <a:pt x="12153" y="13525"/>
                </a:lnTo>
                <a:lnTo>
                  <a:pt x="11941" y="13780"/>
                </a:lnTo>
                <a:lnTo>
                  <a:pt x="14605" y="13335"/>
                </a:lnTo>
                <a:lnTo>
                  <a:pt x="22859" y="13335"/>
                </a:lnTo>
                <a:lnTo>
                  <a:pt x="25044" y="9080"/>
                </a:lnTo>
                <a:lnTo>
                  <a:pt x="21983" y="977"/>
                </a:lnTo>
                <a:lnTo>
                  <a:pt x="198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object 3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7771" y="120345"/>
            <a:ext cx="2178149" cy="384568"/>
          </a:xfrm>
          <a:prstGeom prst="rect">
            <a:avLst/>
          </a:prstGeom>
        </p:spPr>
      </p:pic>
      <p:grpSp>
        <p:nvGrpSpPr>
          <p:cNvPr id="31" name="object 31" descr=""/>
          <p:cNvGrpSpPr/>
          <p:nvPr/>
        </p:nvGrpSpPr>
        <p:grpSpPr>
          <a:xfrm>
            <a:off x="1455376" y="1027887"/>
            <a:ext cx="7658734" cy="1050290"/>
            <a:chOff x="1455376" y="1027887"/>
            <a:chExt cx="7658734" cy="1050290"/>
          </a:xfrm>
        </p:grpSpPr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5376" y="1066942"/>
              <a:ext cx="1053737" cy="336585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04947" y="1115631"/>
              <a:ext cx="460336" cy="287375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3135744" y="1204543"/>
              <a:ext cx="24130" cy="60325"/>
            </a:xfrm>
            <a:custGeom>
              <a:avLst/>
              <a:gdLst/>
              <a:ahLst/>
              <a:cxnLst/>
              <a:rect l="l" t="t" r="r" b="b"/>
              <a:pathLst>
                <a:path w="24130" h="60325">
                  <a:moveTo>
                    <a:pt x="939" y="50698"/>
                  </a:moveTo>
                  <a:lnTo>
                    <a:pt x="317" y="51854"/>
                  </a:lnTo>
                  <a:lnTo>
                    <a:pt x="660" y="53428"/>
                  </a:lnTo>
                  <a:lnTo>
                    <a:pt x="736" y="53797"/>
                  </a:lnTo>
                  <a:lnTo>
                    <a:pt x="723" y="53428"/>
                  </a:lnTo>
                  <a:lnTo>
                    <a:pt x="889" y="52336"/>
                  </a:lnTo>
                  <a:lnTo>
                    <a:pt x="901" y="51854"/>
                  </a:lnTo>
                  <a:lnTo>
                    <a:pt x="723" y="52336"/>
                  </a:lnTo>
                  <a:lnTo>
                    <a:pt x="889" y="51854"/>
                  </a:lnTo>
                  <a:lnTo>
                    <a:pt x="939" y="50698"/>
                  </a:lnTo>
                  <a:close/>
                </a:path>
                <a:path w="24130" h="60325">
                  <a:moveTo>
                    <a:pt x="1524" y="57454"/>
                  </a:moveTo>
                  <a:lnTo>
                    <a:pt x="1422" y="57023"/>
                  </a:lnTo>
                  <a:lnTo>
                    <a:pt x="1397" y="56857"/>
                  </a:lnTo>
                  <a:lnTo>
                    <a:pt x="927" y="54686"/>
                  </a:lnTo>
                  <a:lnTo>
                    <a:pt x="889" y="54533"/>
                  </a:lnTo>
                  <a:lnTo>
                    <a:pt x="749" y="54686"/>
                  </a:lnTo>
                  <a:lnTo>
                    <a:pt x="723" y="56578"/>
                  </a:lnTo>
                  <a:lnTo>
                    <a:pt x="1524" y="57454"/>
                  </a:lnTo>
                  <a:close/>
                </a:path>
                <a:path w="24130" h="60325">
                  <a:moveTo>
                    <a:pt x="5562" y="47917"/>
                  </a:moveTo>
                  <a:lnTo>
                    <a:pt x="3505" y="47917"/>
                  </a:lnTo>
                  <a:lnTo>
                    <a:pt x="2882" y="48501"/>
                  </a:lnTo>
                  <a:lnTo>
                    <a:pt x="5562" y="47917"/>
                  </a:lnTo>
                  <a:close/>
                </a:path>
                <a:path w="24130" h="60325">
                  <a:moveTo>
                    <a:pt x="23571" y="51854"/>
                  </a:moveTo>
                  <a:lnTo>
                    <a:pt x="22136" y="48107"/>
                  </a:lnTo>
                  <a:lnTo>
                    <a:pt x="21844" y="47917"/>
                  </a:lnTo>
                  <a:lnTo>
                    <a:pt x="20637" y="47129"/>
                  </a:lnTo>
                  <a:lnTo>
                    <a:pt x="12839" y="47459"/>
                  </a:lnTo>
                  <a:lnTo>
                    <a:pt x="11658" y="47523"/>
                  </a:lnTo>
                  <a:lnTo>
                    <a:pt x="11658" y="49390"/>
                  </a:lnTo>
                  <a:lnTo>
                    <a:pt x="10375" y="48501"/>
                  </a:lnTo>
                  <a:lnTo>
                    <a:pt x="10566" y="48628"/>
                  </a:lnTo>
                  <a:lnTo>
                    <a:pt x="11658" y="49390"/>
                  </a:lnTo>
                  <a:lnTo>
                    <a:pt x="11658" y="47523"/>
                  </a:lnTo>
                  <a:lnTo>
                    <a:pt x="9271" y="47650"/>
                  </a:lnTo>
                  <a:lnTo>
                    <a:pt x="9105" y="47650"/>
                  </a:lnTo>
                  <a:lnTo>
                    <a:pt x="8623" y="47320"/>
                  </a:lnTo>
                  <a:lnTo>
                    <a:pt x="6946" y="47650"/>
                  </a:lnTo>
                  <a:lnTo>
                    <a:pt x="6807" y="47650"/>
                  </a:lnTo>
                  <a:lnTo>
                    <a:pt x="5600" y="47917"/>
                  </a:lnTo>
                  <a:lnTo>
                    <a:pt x="2882" y="48501"/>
                  </a:lnTo>
                  <a:lnTo>
                    <a:pt x="2286" y="48628"/>
                  </a:lnTo>
                  <a:lnTo>
                    <a:pt x="1790" y="49390"/>
                  </a:lnTo>
                  <a:lnTo>
                    <a:pt x="1701" y="49530"/>
                  </a:lnTo>
                  <a:lnTo>
                    <a:pt x="1917" y="49390"/>
                  </a:lnTo>
                  <a:lnTo>
                    <a:pt x="3302" y="48501"/>
                  </a:lnTo>
                  <a:lnTo>
                    <a:pt x="2019" y="49390"/>
                  </a:lnTo>
                  <a:lnTo>
                    <a:pt x="1752" y="49517"/>
                  </a:lnTo>
                  <a:lnTo>
                    <a:pt x="1752" y="57607"/>
                  </a:lnTo>
                  <a:lnTo>
                    <a:pt x="1714" y="57454"/>
                  </a:lnTo>
                  <a:lnTo>
                    <a:pt x="1752" y="57607"/>
                  </a:lnTo>
                  <a:lnTo>
                    <a:pt x="1752" y="49517"/>
                  </a:lnTo>
                  <a:lnTo>
                    <a:pt x="1638" y="49707"/>
                  </a:lnTo>
                  <a:lnTo>
                    <a:pt x="1257" y="50215"/>
                  </a:lnTo>
                  <a:lnTo>
                    <a:pt x="1587" y="49707"/>
                  </a:lnTo>
                  <a:lnTo>
                    <a:pt x="965" y="50279"/>
                  </a:lnTo>
                  <a:lnTo>
                    <a:pt x="939" y="50698"/>
                  </a:lnTo>
                  <a:lnTo>
                    <a:pt x="901" y="51854"/>
                  </a:lnTo>
                  <a:lnTo>
                    <a:pt x="927" y="54686"/>
                  </a:lnTo>
                  <a:lnTo>
                    <a:pt x="1295" y="56388"/>
                  </a:lnTo>
                  <a:lnTo>
                    <a:pt x="1397" y="56857"/>
                  </a:lnTo>
                  <a:lnTo>
                    <a:pt x="1473" y="57023"/>
                  </a:lnTo>
                  <a:lnTo>
                    <a:pt x="1524" y="57454"/>
                  </a:lnTo>
                  <a:lnTo>
                    <a:pt x="1562" y="57645"/>
                  </a:lnTo>
                  <a:lnTo>
                    <a:pt x="1651" y="58077"/>
                  </a:lnTo>
                  <a:lnTo>
                    <a:pt x="1866" y="58077"/>
                  </a:lnTo>
                  <a:lnTo>
                    <a:pt x="2451" y="58458"/>
                  </a:lnTo>
                  <a:lnTo>
                    <a:pt x="2743" y="58648"/>
                  </a:lnTo>
                  <a:lnTo>
                    <a:pt x="2946" y="59004"/>
                  </a:lnTo>
                  <a:lnTo>
                    <a:pt x="3327" y="59397"/>
                  </a:lnTo>
                  <a:lnTo>
                    <a:pt x="3886" y="59397"/>
                  </a:lnTo>
                  <a:lnTo>
                    <a:pt x="4660" y="59893"/>
                  </a:lnTo>
                  <a:lnTo>
                    <a:pt x="6362" y="59550"/>
                  </a:lnTo>
                  <a:lnTo>
                    <a:pt x="7086" y="59397"/>
                  </a:lnTo>
                  <a:lnTo>
                    <a:pt x="8636" y="59004"/>
                  </a:lnTo>
                  <a:lnTo>
                    <a:pt x="7150" y="59397"/>
                  </a:lnTo>
                  <a:lnTo>
                    <a:pt x="9093" y="59004"/>
                  </a:lnTo>
                  <a:lnTo>
                    <a:pt x="10871" y="58648"/>
                  </a:lnTo>
                  <a:lnTo>
                    <a:pt x="10998" y="58458"/>
                  </a:lnTo>
                  <a:lnTo>
                    <a:pt x="9715" y="58762"/>
                  </a:lnTo>
                  <a:lnTo>
                    <a:pt x="10909" y="58458"/>
                  </a:lnTo>
                  <a:lnTo>
                    <a:pt x="11252" y="58077"/>
                  </a:lnTo>
                  <a:lnTo>
                    <a:pt x="10998" y="58458"/>
                  </a:lnTo>
                  <a:lnTo>
                    <a:pt x="14732" y="57645"/>
                  </a:lnTo>
                  <a:lnTo>
                    <a:pt x="20370" y="56388"/>
                  </a:lnTo>
                  <a:lnTo>
                    <a:pt x="21780" y="54178"/>
                  </a:lnTo>
                  <a:lnTo>
                    <a:pt x="21869" y="54025"/>
                  </a:lnTo>
                  <a:lnTo>
                    <a:pt x="22453" y="53797"/>
                  </a:lnTo>
                  <a:lnTo>
                    <a:pt x="22644" y="53428"/>
                  </a:lnTo>
                  <a:lnTo>
                    <a:pt x="23342" y="51854"/>
                  </a:lnTo>
                  <a:lnTo>
                    <a:pt x="23571" y="51854"/>
                  </a:lnTo>
                  <a:close/>
                </a:path>
                <a:path w="24130" h="60325">
                  <a:moveTo>
                    <a:pt x="23939" y="12204"/>
                  </a:moveTo>
                  <a:lnTo>
                    <a:pt x="23583" y="12534"/>
                  </a:lnTo>
                  <a:lnTo>
                    <a:pt x="23901" y="12204"/>
                  </a:lnTo>
                  <a:lnTo>
                    <a:pt x="23888" y="9004"/>
                  </a:lnTo>
                  <a:lnTo>
                    <a:pt x="23876" y="7112"/>
                  </a:lnTo>
                  <a:lnTo>
                    <a:pt x="22517" y="5283"/>
                  </a:lnTo>
                  <a:lnTo>
                    <a:pt x="22809" y="5283"/>
                  </a:lnTo>
                  <a:lnTo>
                    <a:pt x="14122" y="2438"/>
                  </a:lnTo>
                  <a:lnTo>
                    <a:pt x="13804" y="2438"/>
                  </a:lnTo>
                  <a:lnTo>
                    <a:pt x="13728" y="2311"/>
                  </a:lnTo>
                  <a:lnTo>
                    <a:pt x="13639" y="2146"/>
                  </a:lnTo>
                  <a:lnTo>
                    <a:pt x="13525" y="1930"/>
                  </a:lnTo>
                  <a:lnTo>
                    <a:pt x="12623" y="1689"/>
                  </a:lnTo>
                  <a:lnTo>
                    <a:pt x="12623" y="2146"/>
                  </a:lnTo>
                  <a:lnTo>
                    <a:pt x="11925" y="1739"/>
                  </a:lnTo>
                  <a:lnTo>
                    <a:pt x="11493" y="1574"/>
                  </a:lnTo>
                  <a:lnTo>
                    <a:pt x="12001" y="1739"/>
                  </a:lnTo>
                  <a:lnTo>
                    <a:pt x="12255" y="1930"/>
                  </a:lnTo>
                  <a:lnTo>
                    <a:pt x="12623" y="2146"/>
                  </a:lnTo>
                  <a:lnTo>
                    <a:pt x="12623" y="1689"/>
                  </a:lnTo>
                  <a:lnTo>
                    <a:pt x="11353" y="1346"/>
                  </a:lnTo>
                  <a:lnTo>
                    <a:pt x="11595" y="1536"/>
                  </a:lnTo>
                  <a:lnTo>
                    <a:pt x="11290" y="1346"/>
                  </a:lnTo>
                  <a:lnTo>
                    <a:pt x="10769" y="1206"/>
                  </a:lnTo>
                  <a:lnTo>
                    <a:pt x="10769" y="15087"/>
                  </a:lnTo>
                  <a:lnTo>
                    <a:pt x="9855" y="15087"/>
                  </a:lnTo>
                  <a:lnTo>
                    <a:pt x="10756" y="15087"/>
                  </a:lnTo>
                  <a:lnTo>
                    <a:pt x="10769" y="1206"/>
                  </a:lnTo>
                  <a:lnTo>
                    <a:pt x="9512" y="850"/>
                  </a:lnTo>
                  <a:lnTo>
                    <a:pt x="7366" y="0"/>
                  </a:lnTo>
                  <a:lnTo>
                    <a:pt x="6375" y="0"/>
                  </a:lnTo>
                  <a:lnTo>
                    <a:pt x="5753" y="0"/>
                  </a:lnTo>
                  <a:lnTo>
                    <a:pt x="3835" y="1092"/>
                  </a:lnTo>
                  <a:lnTo>
                    <a:pt x="2794" y="1536"/>
                  </a:lnTo>
                  <a:lnTo>
                    <a:pt x="2705" y="1739"/>
                  </a:lnTo>
                  <a:lnTo>
                    <a:pt x="2362" y="1930"/>
                  </a:lnTo>
                  <a:lnTo>
                    <a:pt x="2044" y="2146"/>
                  </a:lnTo>
                  <a:lnTo>
                    <a:pt x="1993" y="2324"/>
                  </a:lnTo>
                  <a:lnTo>
                    <a:pt x="2425" y="2146"/>
                  </a:lnTo>
                  <a:lnTo>
                    <a:pt x="2628" y="1930"/>
                  </a:lnTo>
                  <a:lnTo>
                    <a:pt x="2540" y="2146"/>
                  </a:lnTo>
                  <a:lnTo>
                    <a:pt x="1981" y="2349"/>
                  </a:lnTo>
                  <a:lnTo>
                    <a:pt x="1727" y="2844"/>
                  </a:lnTo>
                  <a:lnTo>
                    <a:pt x="1727" y="4191"/>
                  </a:lnTo>
                  <a:lnTo>
                    <a:pt x="1295" y="5283"/>
                  </a:lnTo>
                  <a:lnTo>
                    <a:pt x="1104" y="5689"/>
                  </a:lnTo>
                  <a:lnTo>
                    <a:pt x="1193" y="5283"/>
                  </a:lnTo>
                  <a:lnTo>
                    <a:pt x="1727" y="4191"/>
                  </a:lnTo>
                  <a:lnTo>
                    <a:pt x="1727" y="2844"/>
                  </a:lnTo>
                  <a:lnTo>
                    <a:pt x="774" y="4483"/>
                  </a:lnTo>
                  <a:lnTo>
                    <a:pt x="774" y="9296"/>
                  </a:lnTo>
                  <a:lnTo>
                    <a:pt x="673" y="8712"/>
                  </a:lnTo>
                  <a:lnTo>
                    <a:pt x="546" y="7632"/>
                  </a:lnTo>
                  <a:lnTo>
                    <a:pt x="685" y="7124"/>
                  </a:lnTo>
                  <a:lnTo>
                    <a:pt x="774" y="9296"/>
                  </a:lnTo>
                  <a:lnTo>
                    <a:pt x="774" y="4483"/>
                  </a:lnTo>
                  <a:lnTo>
                    <a:pt x="304" y="5283"/>
                  </a:lnTo>
                  <a:lnTo>
                    <a:pt x="393" y="6146"/>
                  </a:lnTo>
                  <a:lnTo>
                    <a:pt x="495" y="7112"/>
                  </a:lnTo>
                  <a:lnTo>
                    <a:pt x="508" y="7264"/>
                  </a:lnTo>
                  <a:lnTo>
                    <a:pt x="25" y="8470"/>
                  </a:lnTo>
                  <a:lnTo>
                    <a:pt x="50" y="9004"/>
                  </a:lnTo>
                  <a:lnTo>
                    <a:pt x="177" y="9296"/>
                  </a:lnTo>
                  <a:lnTo>
                    <a:pt x="254" y="8712"/>
                  </a:lnTo>
                  <a:lnTo>
                    <a:pt x="317" y="8483"/>
                  </a:lnTo>
                  <a:lnTo>
                    <a:pt x="342" y="9677"/>
                  </a:lnTo>
                  <a:lnTo>
                    <a:pt x="266" y="9486"/>
                  </a:lnTo>
                  <a:lnTo>
                    <a:pt x="177" y="9296"/>
                  </a:lnTo>
                  <a:lnTo>
                    <a:pt x="50" y="9486"/>
                  </a:lnTo>
                  <a:lnTo>
                    <a:pt x="0" y="9677"/>
                  </a:lnTo>
                  <a:lnTo>
                    <a:pt x="1435" y="12204"/>
                  </a:lnTo>
                  <a:lnTo>
                    <a:pt x="1676" y="12611"/>
                  </a:lnTo>
                  <a:lnTo>
                    <a:pt x="1790" y="12827"/>
                  </a:lnTo>
                  <a:lnTo>
                    <a:pt x="2387" y="12827"/>
                  </a:lnTo>
                  <a:lnTo>
                    <a:pt x="2984" y="13296"/>
                  </a:lnTo>
                  <a:lnTo>
                    <a:pt x="3111" y="13398"/>
                  </a:lnTo>
                  <a:lnTo>
                    <a:pt x="2120" y="13398"/>
                  </a:lnTo>
                  <a:lnTo>
                    <a:pt x="2374" y="13627"/>
                  </a:lnTo>
                  <a:lnTo>
                    <a:pt x="3898" y="14033"/>
                  </a:lnTo>
                  <a:lnTo>
                    <a:pt x="6870" y="14846"/>
                  </a:lnTo>
                  <a:lnTo>
                    <a:pt x="9804" y="15633"/>
                  </a:lnTo>
                  <a:lnTo>
                    <a:pt x="21666" y="15633"/>
                  </a:lnTo>
                  <a:lnTo>
                    <a:pt x="22275" y="15633"/>
                  </a:lnTo>
                  <a:lnTo>
                    <a:pt x="21691" y="15608"/>
                  </a:lnTo>
                  <a:lnTo>
                    <a:pt x="22682" y="14706"/>
                  </a:lnTo>
                  <a:lnTo>
                    <a:pt x="23876" y="13627"/>
                  </a:lnTo>
                  <a:lnTo>
                    <a:pt x="23939" y="12204"/>
                  </a:lnTo>
                  <a:close/>
                </a:path>
                <a:path w="24130" h="60325">
                  <a:moveTo>
                    <a:pt x="24066" y="9296"/>
                  </a:moveTo>
                  <a:lnTo>
                    <a:pt x="23888" y="9004"/>
                  </a:lnTo>
                  <a:lnTo>
                    <a:pt x="23901" y="11087"/>
                  </a:lnTo>
                  <a:lnTo>
                    <a:pt x="24028" y="10058"/>
                  </a:lnTo>
                  <a:lnTo>
                    <a:pt x="24066" y="92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55162" y="1076756"/>
              <a:ext cx="1425359" cy="309765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4752479" y="1240015"/>
              <a:ext cx="24765" cy="29209"/>
            </a:xfrm>
            <a:custGeom>
              <a:avLst/>
              <a:gdLst/>
              <a:ahLst/>
              <a:cxnLst/>
              <a:rect l="l" t="t" r="r" b="b"/>
              <a:pathLst>
                <a:path w="24764" h="29209">
                  <a:moveTo>
                    <a:pt x="6837" y="10731"/>
                  </a:moveTo>
                  <a:lnTo>
                    <a:pt x="5357" y="11429"/>
                  </a:lnTo>
                  <a:lnTo>
                    <a:pt x="2730" y="12763"/>
                  </a:lnTo>
                  <a:lnTo>
                    <a:pt x="1153" y="17571"/>
                  </a:lnTo>
                  <a:lnTo>
                    <a:pt x="1098" y="17741"/>
                  </a:lnTo>
                  <a:lnTo>
                    <a:pt x="1002" y="18034"/>
                  </a:lnTo>
                  <a:lnTo>
                    <a:pt x="939" y="18224"/>
                  </a:lnTo>
                  <a:lnTo>
                    <a:pt x="5330" y="26870"/>
                  </a:lnTo>
                  <a:lnTo>
                    <a:pt x="5912" y="27295"/>
                  </a:lnTo>
                  <a:lnTo>
                    <a:pt x="10934" y="28930"/>
                  </a:lnTo>
                  <a:lnTo>
                    <a:pt x="15769" y="26492"/>
                  </a:lnTo>
                  <a:lnTo>
                    <a:pt x="16943" y="25692"/>
                  </a:lnTo>
                  <a:lnTo>
                    <a:pt x="14401" y="25692"/>
                  </a:lnTo>
                  <a:lnTo>
                    <a:pt x="13703" y="25526"/>
                  </a:lnTo>
                  <a:lnTo>
                    <a:pt x="9880" y="25526"/>
                  </a:lnTo>
                  <a:lnTo>
                    <a:pt x="5867" y="21666"/>
                  </a:lnTo>
                  <a:lnTo>
                    <a:pt x="5781" y="16942"/>
                  </a:lnTo>
                  <a:lnTo>
                    <a:pt x="5676" y="11937"/>
                  </a:lnTo>
                  <a:lnTo>
                    <a:pt x="6837" y="10731"/>
                  </a:lnTo>
                  <a:close/>
                </a:path>
                <a:path w="24764" h="29209">
                  <a:moveTo>
                    <a:pt x="5912" y="27295"/>
                  </a:moveTo>
                  <a:lnTo>
                    <a:pt x="7874" y="28727"/>
                  </a:lnTo>
                  <a:lnTo>
                    <a:pt x="10310" y="28727"/>
                  </a:lnTo>
                  <a:lnTo>
                    <a:pt x="5912" y="27295"/>
                  </a:lnTo>
                  <a:close/>
                </a:path>
                <a:path w="24764" h="29209">
                  <a:moveTo>
                    <a:pt x="15769" y="26492"/>
                  </a:moveTo>
                  <a:lnTo>
                    <a:pt x="11332" y="28727"/>
                  </a:lnTo>
                  <a:lnTo>
                    <a:pt x="12400" y="28727"/>
                  </a:lnTo>
                  <a:lnTo>
                    <a:pt x="15769" y="26492"/>
                  </a:lnTo>
                  <a:close/>
                </a:path>
                <a:path w="24764" h="29209">
                  <a:moveTo>
                    <a:pt x="5330" y="26870"/>
                  </a:moveTo>
                  <a:lnTo>
                    <a:pt x="5473" y="27152"/>
                  </a:lnTo>
                  <a:lnTo>
                    <a:pt x="5912" y="27295"/>
                  </a:lnTo>
                  <a:lnTo>
                    <a:pt x="5330" y="26870"/>
                  </a:lnTo>
                  <a:close/>
                </a:path>
                <a:path w="24764" h="29209">
                  <a:moveTo>
                    <a:pt x="11950" y="0"/>
                  </a:moveTo>
                  <a:lnTo>
                    <a:pt x="5549" y="444"/>
                  </a:lnTo>
                  <a:lnTo>
                    <a:pt x="3200" y="2286"/>
                  </a:lnTo>
                  <a:lnTo>
                    <a:pt x="60" y="12395"/>
                  </a:lnTo>
                  <a:lnTo>
                    <a:pt x="0" y="20548"/>
                  </a:lnTo>
                  <a:lnTo>
                    <a:pt x="1445" y="24142"/>
                  </a:lnTo>
                  <a:lnTo>
                    <a:pt x="1593" y="24142"/>
                  </a:lnTo>
                  <a:lnTo>
                    <a:pt x="5330" y="26870"/>
                  </a:lnTo>
                  <a:lnTo>
                    <a:pt x="939" y="18224"/>
                  </a:lnTo>
                  <a:lnTo>
                    <a:pt x="2347" y="13931"/>
                  </a:lnTo>
                  <a:lnTo>
                    <a:pt x="2463" y="13576"/>
                  </a:lnTo>
                  <a:lnTo>
                    <a:pt x="2580" y="13220"/>
                  </a:lnTo>
                  <a:lnTo>
                    <a:pt x="2680" y="12915"/>
                  </a:lnTo>
                  <a:lnTo>
                    <a:pt x="2730" y="12763"/>
                  </a:lnTo>
                  <a:lnTo>
                    <a:pt x="6734" y="10731"/>
                  </a:lnTo>
                  <a:lnTo>
                    <a:pt x="7234" y="10319"/>
                  </a:lnTo>
                  <a:lnTo>
                    <a:pt x="9464" y="8000"/>
                  </a:lnTo>
                  <a:lnTo>
                    <a:pt x="11902" y="8000"/>
                  </a:lnTo>
                  <a:lnTo>
                    <a:pt x="13785" y="6781"/>
                  </a:lnTo>
                  <a:lnTo>
                    <a:pt x="15395" y="6781"/>
                  </a:lnTo>
                  <a:lnTo>
                    <a:pt x="15125" y="2768"/>
                  </a:lnTo>
                  <a:lnTo>
                    <a:pt x="11950" y="0"/>
                  </a:lnTo>
                  <a:close/>
                </a:path>
                <a:path w="24764" h="29209">
                  <a:moveTo>
                    <a:pt x="14516" y="6781"/>
                  </a:moveTo>
                  <a:lnTo>
                    <a:pt x="5889" y="15721"/>
                  </a:lnTo>
                  <a:lnTo>
                    <a:pt x="5765" y="16178"/>
                  </a:lnTo>
                  <a:lnTo>
                    <a:pt x="14401" y="25692"/>
                  </a:lnTo>
                  <a:lnTo>
                    <a:pt x="17684" y="24840"/>
                  </a:lnTo>
                  <a:lnTo>
                    <a:pt x="19076" y="24142"/>
                  </a:lnTo>
                  <a:lnTo>
                    <a:pt x="20069" y="23583"/>
                  </a:lnTo>
                  <a:lnTo>
                    <a:pt x="20309" y="23367"/>
                  </a:lnTo>
                  <a:lnTo>
                    <a:pt x="20472" y="23367"/>
                  </a:lnTo>
                  <a:lnTo>
                    <a:pt x="21517" y="18224"/>
                  </a:lnTo>
                  <a:lnTo>
                    <a:pt x="21502" y="17571"/>
                  </a:lnTo>
                  <a:lnTo>
                    <a:pt x="18173" y="12547"/>
                  </a:lnTo>
                  <a:lnTo>
                    <a:pt x="18072" y="12395"/>
                  </a:lnTo>
                  <a:lnTo>
                    <a:pt x="17030" y="11429"/>
                  </a:lnTo>
                  <a:lnTo>
                    <a:pt x="15811" y="10731"/>
                  </a:lnTo>
                  <a:lnTo>
                    <a:pt x="15691" y="9893"/>
                  </a:lnTo>
                  <a:lnTo>
                    <a:pt x="15586" y="9080"/>
                  </a:lnTo>
                  <a:lnTo>
                    <a:pt x="15480" y="8000"/>
                  </a:lnTo>
                  <a:lnTo>
                    <a:pt x="15410" y="7008"/>
                  </a:lnTo>
                  <a:lnTo>
                    <a:pt x="14516" y="6781"/>
                  </a:lnTo>
                  <a:close/>
                </a:path>
                <a:path w="24764" h="29209">
                  <a:moveTo>
                    <a:pt x="19187" y="24142"/>
                  </a:moveTo>
                  <a:lnTo>
                    <a:pt x="17684" y="24840"/>
                  </a:lnTo>
                  <a:lnTo>
                    <a:pt x="14401" y="25692"/>
                  </a:lnTo>
                  <a:lnTo>
                    <a:pt x="16943" y="25692"/>
                  </a:lnTo>
                  <a:lnTo>
                    <a:pt x="17182" y="25526"/>
                  </a:lnTo>
                  <a:lnTo>
                    <a:pt x="15910" y="25526"/>
                  </a:lnTo>
                  <a:lnTo>
                    <a:pt x="18257" y="24840"/>
                  </a:lnTo>
                  <a:lnTo>
                    <a:pt x="19187" y="24142"/>
                  </a:lnTo>
                  <a:close/>
                </a:path>
                <a:path w="24764" h="29209">
                  <a:moveTo>
                    <a:pt x="5891" y="18034"/>
                  </a:moveTo>
                  <a:lnTo>
                    <a:pt x="5867" y="21666"/>
                  </a:lnTo>
                  <a:lnTo>
                    <a:pt x="9880" y="25526"/>
                  </a:lnTo>
                  <a:lnTo>
                    <a:pt x="13703" y="25526"/>
                  </a:lnTo>
                  <a:lnTo>
                    <a:pt x="12039" y="25133"/>
                  </a:lnTo>
                  <a:lnTo>
                    <a:pt x="9791" y="24142"/>
                  </a:lnTo>
                  <a:lnTo>
                    <a:pt x="8572" y="23583"/>
                  </a:lnTo>
                  <a:lnTo>
                    <a:pt x="7594" y="22593"/>
                  </a:lnTo>
                  <a:lnTo>
                    <a:pt x="6121" y="19100"/>
                  </a:lnTo>
                  <a:lnTo>
                    <a:pt x="5932" y="18224"/>
                  </a:lnTo>
                  <a:lnTo>
                    <a:pt x="5891" y="18034"/>
                  </a:lnTo>
                  <a:close/>
                </a:path>
                <a:path w="24764" h="29209">
                  <a:moveTo>
                    <a:pt x="18176" y="24840"/>
                  </a:moveTo>
                  <a:lnTo>
                    <a:pt x="17256" y="25133"/>
                  </a:lnTo>
                  <a:lnTo>
                    <a:pt x="15910" y="25526"/>
                  </a:lnTo>
                  <a:lnTo>
                    <a:pt x="17182" y="25526"/>
                  </a:lnTo>
                  <a:lnTo>
                    <a:pt x="18176" y="24840"/>
                  </a:lnTo>
                  <a:close/>
                </a:path>
                <a:path w="24764" h="29209">
                  <a:moveTo>
                    <a:pt x="20472" y="23367"/>
                  </a:moveTo>
                  <a:lnTo>
                    <a:pt x="19996" y="23583"/>
                  </a:lnTo>
                  <a:lnTo>
                    <a:pt x="19179" y="24142"/>
                  </a:lnTo>
                  <a:lnTo>
                    <a:pt x="18229" y="24840"/>
                  </a:lnTo>
                  <a:lnTo>
                    <a:pt x="19306" y="24142"/>
                  </a:lnTo>
                  <a:lnTo>
                    <a:pt x="19996" y="23583"/>
                  </a:lnTo>
                  <a:lnTo>
                    <a:pt x="20147" y="23583"/>
                  </a:lnTo>
                  <a:lnTo>
                    <a:pt x="20355" y="23367"/>
                  </a:lnTo>
                  <a:close/>
                </a:path>
                <a:path w="24764" h="29209">
                  <a:moveTo>
                    <a:pt x="15410" y="7008"/>
                  </a:moveTo>
                  <a:lnTo>
                    <a:pt x="17030" y="11429"/>
                  </a:lnTo>
                  <a:lnTo>
                    <a:pt x="18072" y="12395"/>
                  </a:lnTo>
                  <a:lnTo>
                    <a:pt x="21502" y="17571"/>
                  </a:lnTo>
                  <a:lnTo>
                    <a:pt x="21517" y="18224"/>
                  </a:lnTo>
                  <a:lnTo>
                    <a:pt x="20629" y="22593"/>
                  </a:lnTo>
                  <a:lnTo>
                    <a:pt x="20545" y="23010"/>
                  </a:lnTo>
                  <a:lnTo>
                    <a:pt x="20472" y="23367"/>
                  </a:lnTo>
                  <a:lnTo>
                    <a:pt x="20259" y="23367"/>
                  </a:lnTo>
                  <a:lnTo>
                    <a:pt x="20876" y="23010"/>
                  </a:lnTo>
                  <a:lnTo>
                    <a:pt x="21146" y="22593"/>
                  </a:lnTo>
                  <a:lnTo>
                    <a:pt x="24001" y="18858"/>
                  </a:lnTo>
                  <a:lnTo>
                    <a:pt x="24111" y="18224"/>
                  </a:lnTo>
                  <a:lnTo>
                    <a:pt x="24208" y="15164"/>
                  </a:lnTo>
                  <a:lnTo>
                    <a:pt x="23280" y="13731"/>
                  </a:lnTo>
                  <a:lnTo>
                    <a:pt x="20920" y="10319"/>
                  </a:lnTo>
                  <a:lnTo>
                    <a:pt x="19291" y="9080"/>
                  </a:lnTo>
                  <a:lnTo>
                    <a:pt x="18491" y="8648"/>
                  </a:lnTo>
                  <a:lnTo>
                    <a:pt x="16670" y="8000"/>
                  </a:lnTo>
                  <a:lnTo>
                    <a:pt x="19316" y="8000"/>
                  </a:lnTo>
                  <a:lnTo>
                    <a:pt x="15410" y="7008"/>
                  </a:lnTo>
                  <a:close/>
                </a:path>
                <a:path w="24764" h="29209">
                  <a:moveTo>
                    <a:pt x="23995" y="18858"/>
                  </a:moveTo>
                  <a:lnTo>
                    <a:pt x="20827" y="23010"/>
                  </a:lnTo>
                  <a:lnTo>
                    <a:pt x="23557" y="21125"/>
                  </a:lnTo>
                  <a:lnTo>
                    <a:pt x="23989" y="19100"/>
                  </a:lnTo>
                  <a:lnTo>
                    <a:pt x="23995" y="18858"/>
                  </a:lnTo>
                  <a:close/>
                </a:path>
                <a:path w="24764" h="29209">
                  <a:moveTo>
                    <a:pt x="23557" y="21125"/>
                  </a:moveTo>
                  <a:lnTo>
                    <a:pt x="21431" y="22593"/>
                  </a:lnTo>
                  <a:lnTo>
                    <a:pt x="22957" y="21666"/>
                  </a:lnTo>
                  <a:lnTo>
                    <a:pt x="23423" y="21361"/>
                  </a:lnTo>
                  <a:lnTo>
                    <a:pt x="23557" y="21125"/>
                  </a:lnTo>
                  <a:close/>
                </a:path>
                <a:path w="24764" h="29209">
                  <a:moveTo>
                    <a:pt x="24450" y="16942"/>
                  </a:moveTo>
                  <a:lnTo>
                    <a:pt x="24041" y="18858"/>
                  </a:lnTo>
                  <a:lnTo>
                    <a:pt x="24462" y="18224"/>
                  </a:lnTo>
                  <a:lnTo>
                    <a:pt x="24450" y="16942"/>
                  </a:lnTo>
                  <a:close/>
                </a:path>
                <a:path w="24764" h="29209">
                  <a:moveTo>
                    <a:pt x="24208" y="15164"/>
                  </a:moveTo>
                  <a:lnTo>
                    <a:pt x="24306" y="15887"/>
                  </a:lnTo>
                  <a:lnTo>
                    <a:pt x="24431" y="16802"/>
                  </a:lnTo>
                  <a:lnTo>
                    <a:pt x="24538" y="15887"/>
                  </a:lnTo>
                  <a:lnTo>
                    <a:pt x="24568" y="15721"/>
                  </a:lnTo>
                  <a:lnTo>
                    <a:pt x="24208" y="15164"/>
                  </a:lnTo>
                  <a:close/>
                </a:path>
                <a:path w="24764" h="29209">
                  <a:moveTo>
                    <a:pt x="24568" y="15721"/>
                  </a:moveTo>
                  <a:lnTo>
                    <a:pt x="24485" y="16178"/>
                  </a:lnTo>
                  <a:lnTo>
                    <a:pt x="24371" y="16802"/>
                  </a:lnTo>
                  <a:lnTo>
                    <a:pt x="24613" y="16178"/>
                  </a:lnTo>
                  <a:lnTo>
                    <a:pt x="24568" y="15721"/>
                  </a:lnTo>
                  <a:close/>
                </a:path>
                <a:path w="24764" h="29209">
                  <a:moveTo>
                    <a:pt x="10901" y="8648"/>
                  </a:moveTo>
                  <a:lnTo>
                    <a:pt x="9987" y="9080"/>
                  </a:lnTo>
                  <a:lnTo>
                    <a:pt x="7546" y="10319"/>
                  </a:lnTo>
                  <a:lnTo>
                    <a:pt x="6837" y="10731"/>
                  </a:lnTo>
                  <a:lnTo>
                    <a:pt x="5676" y="11937"/>
                  </a:lnTo>
                  <a:lnTo>
                    <a:pt x="5759" y="15887"/>
                  </a:lnTo>
                  <a:lnTo>
                    <a:pt x="5889" y="15721"/>
                  </a:lnTo>
                  <a:lnTo>
                    <a:pt x="6375" y="13931"/>
                  </a:lnTo>
                  <a:lnTo>
                    <a:pt x="6642" y="13220"/>
                  </a:lnTo>
                  <a:lnTo>
                    <a:pt x="7467" y="11696"/>
                  </a:lnTo>
                  <a:lnTo>
                    <a:pt x="8119" y="10731"/>
                  </a:lnTo>
                  <a:lnTo>
                    <a:pt x="8978" y="9893"/>
                  </a:lnTo>
                  <a:lnTo>
                    <a:pt x="10901" y="8648"/>
                  </a:lnTo>
                  <a:close/>
                </a:path>
                <a:path w="24764" h="29209">
                  <a:moveTo>
                    <a:pt x="21462" y="10731"/>
                  </a:moveTo>
                  <a:lnTo>
                    <a:pt x="21790" y="11429"/>
                  </a:lnTo>
                  <a:lnTo>
                    <a:pt x="23179" y="13576"/>
                  </a:lnTo>
                  <a:lnTo>
                    <a:pt x="24271" y="15164"/>
                  </a:lnTo>
                  <a:lnTo>
                    <a:pt x="24039" y="13931"/>
                  </a:lnTo>
                  <a:lnTo>
                    <a:pt x="23942" y="13220"/>
                  </a:lnTo>
                  <a:lnTo>
                    <a:pt x="23850" y="12547"/>
                  </a:lnTo>
                  <a:lnTo>
                    <a:pt x="21462" y="10731"/>
                  </a:lnTo>
                  <a:close/>
                </a:path>
                <a:path w="24764" h="29209">
                  <a:moveTo>
                    <a:pt x="20920" y="10319"/>
                  </a:moveTo>
                  <a:lnTo>
                    <a:pt x="21688" y="11429"/>
                  </a:lnTo>
                  <a:lnTo>
                    <a:pt x="21338" y="10731"/>
                  </a:lnTo>
                  <a:lnTo>
                    <a:pt x="20920" y="10319"/>
                  </a:lnTo>
                  <a:close/>
                </a:path>
                <a:path w="24764" h="29209">
                  <a:moveTo>
                    <a:pt x="11902" y="8000"/>
                  </a:moveTo>
                  <a:lnTo>
                    <a:pt x="9464" y="8000"/>
                  </a:lnTo>
                  <a:lnTo>
                    <a:pt x="6837" y="10731"/>
                  </a:lnTo>
                  <a:lnTo>
                    <a:pt x="7546" y="10319"/>
                  </a:lnTo>
                  <a:lnTo>
                    <a:pt x="11132" y="8499"/>
                  </a:lnTo>
                  <a:lnTo>
                    <a:pt x="11902" y="8000"/>
                  </a:lnTo>
                  <a:close/>
                </a:path>
                <a:path w="24764" h="29209">
                  <a:moveTo>
                    <a:pt x="14734" y="6781"/>
                  </a:moveTo>
                  <a:lnTo>
                    <a:pt x="14516" y="6781"/>
                  </a:lnTo>
                  <a:lnTo>
                    <a:pt x="19316" y="8000"/>
                  </a:lnTo>
                  <a:lnTo>
                    <a:pt x="20920" y="10319"/>
                  </a:lnTo>
                  <a:lnTo>
                    <a:pt x="21462" y="10731"/>
                  </a:lnTo>
                  <a:lnTo>
                    <a:pt x="21071" y="10319"/>
                  </a:lnTo>
                  <a:lnTo>
                    <a:pt x="19570" y="8000"/>
                  </a:lnTo>
                  <a:lnTo>
                    <a:pt x="20441" y="8000"/>
                  </a:lnTo>
                  <a:lnTo>
                    <a:pt x="14734" y="6781"/>
                  </a:lnTo>
                  <a:close/>
                </a:path>
                <a:path w="24764" h="29209">
                  <a:moveTo>
                    <a:pt x="19316" y="8000"/>
                  </a:moveTo>
                  <a:lnTo>
                    <a:pt x="16670" y="8000"/>
                  </a:lnTo>
                  <a:lnTo>
                    <a:pt x="18491" y="8648"/>
                  </a:lnTo>
                  <a:lnTo>
                    <a:pt x="19291" y="9080"/>
                  </a:lnTo>
                  <a:lnTo>
                    <a:pt x="20920" y="10319"/>
                  </a:lnTo>
                  <a:lnTo>
                    <a:pt x="19316" y="8000"/>
                  </a:lnTo>
                  <a:close/>
                </a:path>
                <a:path w="24764" h="29209">
                  <a:moveTo>
                    <a:pt x="14516" y="6781"/>
                  </a:moveTo>
                  <a:lnTo>
                    <a:pt x="13785" y="6781"/>
                  </a:lnTo>
                  <a:lnTo>
                    <a:pt x="11132" y="8499"/>
                  </a:lnTo>
                  <a:lnTo>
                    <a:pt x="14516" y="6781"/>
                  </a:lnTo>
                  <a:close/>
                </a:path>
                <a:path w="24764" h="29209">
                  <a:moveTo>
                    <a:pt x="15395" y="6781"/>
                  </a:moveTo>
                  <a:lnTo>
                    <a:pt x="14734" y="6781"/>
                  </a:lnTo>
                  <a:lnTo>
                    <a:pt x="15797" y="7008"/>
                  </a:lnTo>
                  <a:lnTo>
                    <a:pt x="15410" y="7008"/>
                  </a:lnTo>
                  <a:lnTo>
                    <a:pt x="15395" y="67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42058" y="1031868"/>
              <a:ext cx="1286973" cy="333098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7394054" y="1342961"/>
              <a:ext cx="25400" cy="24765"/>
            </a:xfrm>
            <a:custGeom>
              <a:avLst/>
              <a:gdLst/>
              <a:ahLst/>
              <a:cxnLst/>
              <a:rect l="l" t="t" r="r" b="b"/>
              <a:pathLst>
                <a:path w="25400" h="24765">
                  <a:moveTo>
                    <a:pt x="10045" y="0"/>
                  </a:moveTo>
                  <a:lnTo>
                    <a:pt x="4304" y="0"/>
                  </a:lnTo>
                  <a:lnTo>
                    <a:pt x="2413" y="1358"/>
                  </a:lnTo>
                  <a:lnTo>
                    <a:pt x="50" y="9398"/>
                  </a:lnTo>
                  <a:lnTo>
                    <a:pt x="0" y="16154"/>
                  </a:lnTo>
                  <a:lnTo>
                    <a:pt x="9194" y="24739"/>
                  </a:lnTo>
                  <a:lnTo>
                    <a:pt x="15773" y="24396"/>
                  </a:lnTo>
                  <a:lnTo>
                    <a:pt x="23901" y="21882"/>
                  </a:lnTo>
                  <a:lnTo>
                    <a:pt x="25336" y="19138"/>
                  </a:lnTo>
                  <a:lnTo>
                    <a:pt x="23914" y="14516"/>
                  </a:lnTo>
                  <a:lnTo>
                    <a:pt x="22159" y="13220"/>
                  </a:lnTo>
                  <a:lnTo>
                    <a:pt x="14782" y="13220"/>
                  </a:lnTo>
                  <a:lnTo>
                    <a:pt x="11925" y="10248"/>
                  </a:lnTo>
                  <a:lnTo>
                    <a:pt x="12141" y="7226"/>
                  </a:lnTo>
                  <a:lnTo>
                    <a:pt x="12217" y="5448"/>
                  </a:lnTo>
                  <a:lnTo>
                    <a:pt x="12331" y="2489"/>
                  </a:lnTo>
                  <a:lnTo>
                    <a:pt x="100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60956" y="1502041"/>
              <a:ext cx="933462" cy="300812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2650032" y="1716900"/>
              <a:ext cx="16510" cy="36195"/>
            </a:xfrm>
            <a:custGeom>
              <a:avLst/>
              <a:gdLst/>
              <a:ahLst/>
              <a:cxnLst/>
              <a:rect l="l" t="t" r="r" b="b"/>
              <a:pathLst>
                <a:path w="16510" h="36194">
                  <a:moveTo>
                    <a:pt x="11353" y="0"/>
                  </a:moveTo>
                  <a:lnTo>
                    <a:pt x="7124" y="1104"/>
                  </a:lnTo>
                  <a:lnTo>
                    <a:pt x="5842" y="3162"/>
                  </a:lnTo>
                  <a:lnTo>
                    <a:pt x="6261" y="5257"/>
                  </a:lnTo>
                  <a:lnTo>
                    <a:pt x="7081" y="11997"/>
                  </a:lnTo>
                  <a:lnTo>
                    <a:pt x="6673" y="18616"/>
                  </a:lnTo>
                  <a:lnTo>
                    <a:pt x="4760" y="24890"/>
                  </a:lnTo>
                  <a:lnTo>
                    <a:pt x="1066" y="30594"/>
                  </a:lnTo>
                  <a:lnTo>
                    <a:pt x="0" y="31813"/>
                  </a:lnTo>
                  <a:lnTo>
                    <a:pt x="127" y="33667"/>
                  </a:lnTo>
                  <a:lnTo>
                    <a:pt x="2447" y="35699"/>
                  </a:lnTo>
                  <a:lnTo>
                    <a:pt x="3898" y="35699"/>
                  </a:lnTo>
                  <a:lnTo>
                    <a:pt x="9512" y="31584"/>
                  </a:lnTo>
                  <a:lnTo>
                    <a:pt x="12865" y="26936"/>
                  </a:lnTo>
                  <a:lnTo>
                    <a:pt x="16116" y="15633"/>
                  </a:lnTo>
                  <a:lnTo>
                    <a:pt x="15659" y="9334"/>
                  </a:lnTo>
                  <a:lnTo>
                    <a:pt x="13550" y="1282"/>
                  </a:lnTo>
                  <a:lnTo>
                    <a:pt x="113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88153" y="1461947"/>
              <a:ext cx="900573" cy="309206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54653" y="1478711"/>
              <a:ext cx="406311" cy="300316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46752" y="1497939"/>
              <a:ext cx="483323" cy="307746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00574" y="1027887"/>
              <a:ext cx="4013171" cy="1050061"/>
            </a:xfrm>
            <a:prstGeom prst="rect">
              <a:avLst/>
            </a:prstGeom>
          </p:spPr>
        </p:pic>
      </p:grpSp>
      <p:grpSp>
        <p:nvGrpSpPr>
          <p:cNvPr id="45" name="object 45" descr=""/>
          <p:cNvGrpSpPr/>
          <p:nvPr/>
        </p:nvGrpSpPr>
        <p:grpSpPr>
          <a:xfrm>
            <a:off x="6636473" y="2890670"/>
            <a:ext cx="2419985" cy="1210945"/>
            <a:chOff x="6636473" y="2890670"/>
            <a:chExt cx="2419985" cy="1210945"/>
          </a:xfrm>
        </p:grpSpPr>
        <p:pic>
          <p:nvPicPr>
            <p:cNvPr id="46" name="object 4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92256" y="2890670"/>
              <a:ext cx="628125" cy="353036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36473" y="2926854"/>
              <a:ext cx="2419642" cy="1174495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86636" y="3785057"/>
              <a:ext cx="842584" cy="270484"/>
            </a:xfrm>
            <a:prstGeom prst="rect">
              <a:avLst/>
            </a:prstGeom>
          </p:spPr>
        </p:pic>
      </p:grpSp>
      <p:grpSp>
        <p:nvGrpSpPr>
          <p:cNvPr id="49" name="object 49" descr=""/>
          <p:cNvGrpSpPr/>
          <p:nvPr/>
        </p:nvGrpSpPr>
        <p:grpSpPr>
          <a:xfrm>
            <a:off x="6742226" y="4171463"/>
            <a:ext cx="2154555" cy="647700"/>
            <a:chOff x="6742226" y="4171463"/>
            <a:chExt cx="2154555" cy="647700"/>
          </a:xfrm>
        </p:grpSpPr>
        <p:pic>
          <p:nvPicPr>
            <p:cNvPr id="50" name="object 5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748012" y="4171463"/>
              <a:ext cx="917147" cy="285106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742226" y="4197294"/>
              <a:ext cx="2154467" cy="621275"/>
            </a:xfrm>
            <a:prstGeom prst="rect">
              <a:avLst/>
            </a:prstGeom>
          </p:spPr>
        </p:pic>
      </p:grpSp>
      <p:grpSp>
        <p:nvGrpSpPr>
          <p:cNvPr id="52" name="object 52" descr=""/>
          <p:cNvGrpSpPr/>
          <p:nvPr/>
        </p:nvGrpSpPr>
        <p:grpSpPr>
          <a:xfrm>
            <a:off x="6122393" y="5164086"/>
            <a:ext cx="2832100" cy="1544320"/>
            <a:chOff x="6122393" y="5164086"/>
            <a:chExt cx="2832100" cy="1544320"/>
          </a:xfrm>
        </p:grpSpPr>
        <p:pic>
          <p:nvPicPr>
            <p:cNvPr id="53" name="object 5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122393" y="5184228"/>
              <a:ext cx="617750" cy="315290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7642428" y="5352440"/>
              <a:ext cx="23495" cy="62865"/>
            </a:xfrm>
            <a:custGeom>
              <a:avLst/>
              <a:gdLst/>
              <a:ahLst/>
              <a:cxnLst/>
              <a:rect l="l" t="t" r="r" b="b"/>
              <a:pathLst>
                <a:path w="23495" h="62864">
                  <a:moveTo>
                    <a:pt x="13373" y="7467"/>
                  </a:moveTo>
                  <a:lnTo>
                    <a:pt x="12979" y="5715"/>
                  </a:lnTo>
                  <a:lnTo>
                    <a:pt x="12407" y="3568"/>
                  </a:lnTo>
                  <a:lnTo>
                    <a:pt x="11696" y="685"/>
                  </a:lnTo>
                  <a:lnTo>
                    <a:pt x="8229" y="0"/>
                  </a:lnTo>
                  <a:lnTo>
                    <a:pt x="7175" y="292"/>
                  </a:lnTo>
                  <a:lnTo>
                    <a:pt x="6159" y="1244"/>
                  </a:lnTo>
                  <a:lnTo>
                    <a:pt x="5943" y="1524"/>
                  </a:lnTo>
                  <a:lnTo>
                    <a:pt x="4838" y="3568"/>
                  </a:lnTo>
                  <a:lnTo>
                    <a:pt x="5562" y="5715"/>
                  </a:lnTo>
                  <a:lnTo>
                    <a:pt x="6654" y="9347"/>
                  </a:lnTo>
                  <a:lnTo>
                    <a:pt x="8648" y="10414"/>
                  </a:lnTo>
                  <a:lnTo>
                    <a:pt x="12192" y="9347"/>
                  </a:lnTo>
                  <a:lnTo>
                    <a:pt x="12331" y="9347"/>
                  </a:lnTo>
                  <a:lnTo>
                    <a:pt x="13373" y="7467"/>
                  </a:lnTo>
                  <a:close/>
                </a:path>
                <a:path w="23495" h="62864">
                  <a:moveTo>
                    <a:pt x="23266" y="48501"/>
                  </a:moveTo>
                  <a:lnTo>
                    <a:pt x="20142" y="44767"/>
                  </a:lnTo>
                  <a:lnTo>
                    <a:pt x="17767" y="44246"/>
                  </a:lnTo>
                  <a:lnTo>
                    <a:pt x="10680" y="47650"/>
                  </a:lnTo>
                  <a:lnTo>
                    <a:pt x="4597" y="50660"/>
                  </a:lnTo>
                  <a:lnTo>
                    <a:pt x="0" y="57467"/>
                  </a:lnTo>
                  <a:lnTo>
                    <a:pt x="508" y="60121"/>
                  </a:lnTo>
                  <a:lnTo>
                    <a:pt x="3441" y="62115"/>
                  </a:lnTo>
                  <a:lnTo>
                    <a:pt x="3606" y="62115"/>
                  </a:lnTo>
                  <a:lnTo>
                    <a:pt x="4495" y="62306"/>
                  </a:lnTo>
                  <a:lnTo>
                    <a:pt x="11341" y="61150"/>
                  </a:lnTo>
                  <a:lnTo>
                    <a:pt x="16598" y="56857"/>
                  </a:lnTo>
                  <a:lnTo>
                    <a:pt x="22987" y="51523"/>
                  </a:lnTo>
                  <a:lnTo>
                    <a:pt x="23266" y="485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787827" y="5191391"/>
              <a:ext cx="1166144" cy="319659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815302" y="5663526"/>
              <a:ext cx="513627" cy="252474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399056" y="5699038"/>
              <a:ext cx="351119" cy="230599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352417" y="5164086"/>
              <a:ext cx="2191578" cy="1532181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8627008" y="6679468"/>
              <a:ext cx="27940" cy="29209"/>
            </a:xfrm>
            <a:custGeom>
              <a:avLst/>
              <a:gdLst/>
              <a:ahLst/>
              <a:cxnLst/>
              <a:rect l="l" t="t" r="r" b="b"/>
              <a:pathLst>
                <a:path w="27940" h="29209">
                  <a:moveTo>
                    <a:pt x="25189" y="0"/>
                  </a:moveTo>
                  <a:lnTo>
                    <a:pt x="20294" y="0"/>
                  </a:lnTo>
                  <a:lnTo>
                    <a:pt x="18402" y="1648"/>
                  </a:lnTo>
                  <a:lnTo>
                    <a:pt x="16789" y="11746"/>
                  </a:lnTo>
                  <a:lnTo>
                    <a:pt x="10363" y="16404"/>
                  </a:lnTo>
                  <a:lnTo>
                    <a:pt x="1092" y="20392"/>
                  </a:lnTo>
                  <a:lnTo>
                    <a:pt x="0" y="23131"/>
                  </a:lnTo>
                  <a:lnTo>
                    <a:pt x="1930" y="27642"/>
                  </a:lnTo>
                  <a:lnTo>
                    <a:pt x="4305" y="28773"/>
                  </a:lnTo>
                  <a:lnTo>
                    <a:pt x="12191" y="26549"/>
                  </a:lnTo>
                  <a:lnTo>
                    <a:pt x="17703" y="23886"/>
                  </a:lnTo>
                  <a:lnTo>
                    <a:pt x="25412" y="15398"/>
                  </a:lnTo>
                  <a:lnTo>
                    <a:pt x="27355" y="10055"/>
                  </a:lnTo>
                  <a:lnTo>
                    <a:pt x="27228" y="1964"/>
                  </a:lnTo>
                  <a:lnTo>
                    <a:pt x="251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0427" rIns="0" bIns="0" rtlCol="0" vert="horz">
            <a:spAutoFit/>
          </a:bodyPr>
          <a:lstStyle/>
          <a:p>
            <a:pPr marL="1252855">
              <a:lnSpc>
                <a:spcPct val="100000"/>
              </a:lnSpc>
              <a:spcBef>
                <a:spcPts val="95"/>
              </a:spcBef>
            </a:pPr>
            <a:r>
              <a:rPr dirty="0" spc="55">
                <a:latin typeface="Microsoft YaHei UI"/>
                <a:cs typeface="Microsoft YaHei UI"/>
              </a:rPr>
              <a:t>RBF</a:t>
            </a:r>
            <a:r>
              <a:rPr dirty="0" spc="-10">
                <a:latin typeface="Microsoft YaHei UI"/>
                <a:cs typeface="Microsoft YaHei UI"/>
              </a:rPr>
              <a:t> Learning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50240" y="2103437"/>
            <a:ext cx="750062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4965" algn="l"/>
              </a:tabLst>
            </a:pPr>
            <a:r>
              <a:rPr dirty="0" sz="2800" b="1">
                <a:latin typeface="Microsoft YaHei UI"/>
                <a:cs typeface="Microsoft YaHei UI"/>
              </a:rPr>
              <a:t>Φ</a:t>
            </a:r>
            <a:r>
              <a:rPr dirty="0" sz="2800" spc="-210" b="1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is</a:t>
            </a:r>
            <a:r>
              <a:rPr dirty="0" sz="2800" spc="-105">
                <a:latin typeface="Microsoft YaHei UI"/>
                <a:cs typeface="Microsoft YaHei UI"/>
              </a:rPr>
              <a:t> </a:t>
            </a:r>
            <a:r>
              <a:rPr dirty="0" sz="2800" spc="-80">
                <a:latin typeface="Microsoft YaHei UI"/>
                <a:cs typeface="Microsoft YaHei UI"/>
              </a:rPr>
              <a:t>the</a:t>
            </a:r>
            <a:r>
              <a:rPr dirty="0" sz="2800" spc="-75">
                <a:latin typeface="Microsoft YaHei UI"/>
                <a:cs typeface="Microsoft YaHei UI"/>
              </a:rPr>
              <a:t> </a:t>
            </a:r>
            <a:r>
              <a:rPr dirty="0" sz="2800" spc="-355">
                <a:latin typeface="Microsoft YaHei UI"/>
                <a:cs typeface="Microsoft YaHei UI"/>
              </a:rPr>
              <a:t>NxM</a:t>
            </a:r>
            <a:r>
              <a:rPr dirty="0" sz="2800" spc="45">
                <a:latin typeface="Microsoft YaHei UI"/>
                <a:cs typeface="Microsoft YaHei UI"/>
              </a:rPr>
              <a:t> </a:t>
            </a:r>
            <a:r>
              <a:rPr dirty="0" sz="2800" spc="-145">
                <a:latin typeface="Microsoft YaHei UI"/>
                <a:cs typeface="Microsoft YaHei UI"/>
              </a:rPr>
              <a:t>design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 spc="-100">
                <a:latin typeface="Microsoft YaHei UI"/>
                <a:cs typeface="Microsoft YaHei UI"/>
              </a:rPr>
              <a:t>matrix</a:t>
            </a:r>
            <a:r>
              <a:rPr dirty="0" sz="2800" spc="-80">
                <a:latin typeface="Microsoft YaHei UI"/>
                <a:cs typeface="Microsoft YaHei UI"/>
              </a:rPr>
              <a:t> </a:t>
            </a:r>
            <a:r>
              <a:rPr dirty="0" sz="2800" spc="-105">
                <a:latin typeface="Microsoft YaHei UI"/>
                <a:cs typeface="Microsoft YaHei UI"/>
              </a:rPr>
              <a:t>of</a:t>
            </a:r>
            <a:r>
              <a:rPr dirty="0" sz="2800" spc="-80">
                <a:latin typeface="Microsoft YaHei UI"/>
                <a:cs typeface="Microsoft YaHei UI"/>
              </a:rPr>
              <a:t> </a:t>
            </a:r>
            <a:r>
              <a:rPr dirty="0" sz="2800" spc="-85">
                <a:latin typeface="Microsoft YaHei UI"/>
                <a:cs typeface="Microsoft YaHei UI"/>
              </a:rPr>
              <a:t>basis</a:t>
            </a:r>
            <a:r>
              <a:rPr dirty="0" sz="2800" spc="-80">
                <a:latin typeface="Microsoft YaHei UI"/>
                <a:cs typeface="Microsoft YaHei UI"/>
              </a:rPr>
              <a:t> </a:t>
            </a:r>
            <a:r>
              <a:rPr dirty="0" sz="2800" spc="-105">
                <a:latin typeface="Microsoft YaHei UI"/>
                <a:cs typeface="Microsoft YaHei UI"/>
              </a:rPr>
              <a:t>functions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621339" y="3543922"/>
            <a:ext cx="82550" cy="2717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-50" i="1">
                <a:latin typeface="Times New Roman"/>
                <a:cs typeface="Times New Roman"/>
              </a:rPr>
              <a:t>i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98442" y="3289612"/>
            <a:ext cx="609600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750" spc="-295">
                <a:latin typeface="Microsoft YaHei UI"/>
                <a:cs typeface="Microsoft YaHei UI"/>
              </a:rPr>
              <a:t>2</a:t>
            </a:r>
            <a:r>
              <a:rPr dirty="0" sz="2900" spc="-295" i="1">
                <a:latin typeface="Verdana"/>
                <a:cs typeface="Verdana"/>
              </a:rPr>
              <a:t>σ</a:t>
            </a:r>
            <a:r>
              <a:rPr dirty="0" sz="2900" spc="-505" i="1">
                <a:latin typeface="Verdana"/>
                <a:cs typeface="Verdana"/>
              </a:rPr>
              <a:t> </a:t>
            </a:r>
            <a:r>
              <a:rPr dirty="0" baseline="43402" sz="2400" spc="-75">
                <a:latin typeface="Microsoft YaHei UI"/>
                <a:cs typeface="Microsoft YaHei UI"/>
              </a:rPr>
              <a:t>2</a:t>
            </a:r>
            <a:endParaRPr baseline="43402" sz="2400">
              <a:latin typeface="Microsoft YaHei UI"/>
              <a:cs typeface="Microsoft YaHei U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36580" y="2807792"/>
            <a:ext cx="1311910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  <a:tabLst>
                <a:tab pos="1031875" algn="l"/>
              </a:tabLst>
            </a:pPr>
            <a:r>
              <a:rPr dirty="0" sz="2750" spc="-190">
                <a:latin typeface="Microsoft YaHei UI"/>
                <a:cs typeface="Microsoft YaHei UI"/>
              </a:rPr>
              <a:t>||</a:t>
            </a:r>
            <a:r>
              <a:rPr dirty="0" sz="2750" spc="-229">
                <a:latin typeface="Microsoft YaHei UI"/>
                <a:cs typeface="Microsoft YaHei UI"/>
              </a:rPr>
              <a:t> </a:t>
            </a:r>
            <a:r>
              <a:rPr dirty="0" sz="2750" spc="-35">
                <a:latin typeface="Microsoft YaHei UI"/>
                <a:cs typeface="Microsoft YaHei UI"/>
              </a:rPr>
              <a:t>x</a:t>
            </a:r>
            <a:r>
              <a:rPr dirty="0" sz="2750" spc="-235">
                <a:latin typeface="Microsoft YaHei UI"/>
                <a:cs typeface="Microsoft YaHei UI"/>
              </a:rPr>
              <a:t> </a:t>
            </a:r>
            <a:r>
              <a:rPr dirty="0" sz="2750">
                <a:latin typeface="Microsoft YaHei UI"/>
                <a:cs typeface="Microsoft YaHei UI"/>
              </a:rPr>
              <a:t>–</a:t>
            </a:r>
            <a:r>
              <a:rPr dirty="0" sz="2750" spc="-285">
                <a:latin typeface="Microsoft YaHei UI"/>
                <a:cs typeface="Microsoft YaHei UI"/>
              </a:rPr>
              <a:t> </a:t>
            </a:r>
            <a:r>
              <a:rPr dirty="0" sz="2750" spc="-320">
                <a:latin typeface="Microsoft YaHei UI"/>
                <a:cs typeface="Microsoft YaHei UI"/>
              </a:rPr>
              <a:t>t</a:t>
            </a:r>
            <a:r>
              <a:rPr dirty="0" sz="2750">
                <a:latin typeface="Microsoft YaHei UI"/>
                <a:cs typeface="Microsoft YaHei UI"/>
              </a:rPr>
              <a:t>	</a:t>
            </a:r>
            <a:r>
              <a:rPr dirty="0" sz="2750" spc="-95">
                <a:latin typeface="Microsoft YaHei UI"/>
                <a:cs typeface="Microsoft YaHei UI"/>
              </a:rPr>
              <a:t>||</a:t>
            </a:r>
            <a:r>
              <a:rPr dirty="0" baseline="43402" sz="2400" spc="-142">
                <a:latin typeface="Microsoft YaHei UI"/>
                <a:cs typeface="Microsoft YaHei UI"/>
              </a:rPr>
              <a:t>2</a:t>
            </a:r>
            <a:endParaRPr baseline="43402" sz="2400">
              <a:latin typeface="Microsoft YaHei UI"/>
              <a:cs typeface="Microsoft YaHei U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398267" y="3015266"/>
            <a:ext cx="2936875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311400" algn="l"/>
                <a:tab pos="2763520" algn="l"/>
              </a:tabLst>
            </a:pPr>
            <a:r>
              <a:rPr dirty="0" sz="2900" spc="-1000" i="1">
                <a:latin typeface="Verdana"/>
                <a:cs typeface="Verdana"/>
              </a:rPr>
              <a:t>ф</a:t>
            </a:r>
            <a:r>
              <a:rPr dirty="0" sz="2900" spc="-80" i="1">
                <a:latin typeface="Verdana"/>
                <a:cs typeface="Verdana"/>
              </a:rPr>
              <a:t> </a:t>
            </a:r>
            <a:r>
              <a:rPr dirty="0" sz="2750" spc="-530">
                <a:latin typeface="Microsoft YaHei UI"/>
                <a:cs typeface="Microsoft YaHei UI"/>
              </a:rPr>
              <a:t>=</a:t>
            </a:r>
            <a:r>
              <a:rPr dirty="0" sz="2750" spc="-155">
                <a:latin typeface="Microsoft YaHei UI"/>
                <a:cs typeface="Microsoft YaHei UI"/>
              </a:rPr>
              <a:t> </a:t>
            </a:r>
            <a:r>
              <a:rPr dirty="0" sz="2750">
                <a:latin typeface="Microsoft YaHei UI"/>
                <a:cs typeface="Microsoft YaHei UI"/>
              </a:rPr>
              <a:t>exp(–</a:t>
            </a:r>
            <a:r>
              <a:rPr dirty="0" sz="2750" spc="-350">
                <a:latin typeface="Microsoft YaHei UI"/>
                <a:cs typeface="Microsoft YaHei UI"/>
              </a:rPr>
              <a:t> </a:t>
            </a:r>
            <a:r>
              <a:rPr dirty="0" u="heavy" baseline="36458" sz="24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baseline="36458" sz="2400" spc="-7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baseline="36458" sz="24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2750" spc="-50">
                <a:latin typeface="Microsoft YaHei UI"/>
                <a:cs typeface="Microsoft YaHei UI"/>
              </a:rPr>
              <a:t>)</a:t>
            </a:r>
            <a:endParaRPr sz="2750">
              <a:latin typeface="Microsoft YaHei UI"/>
              <a:cs typeface="Microsoft YaHei U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284116" y="4108483"/>
            <a:ext cx="3088640" cy="1729739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80"/>
              </a:spcBef>
              <a:tabLst>
                <a:tab pos="681990" algn="l"/>
                <a:tab pos="2544445" algn="l"/>
              </a:tabLst>
            </a:pPr>
            <a:r>
              <a:rPr dirty="0" sz="2950" spc="-25">
                <a:latin typeface="Microsoft YaHei UI"/>
                <a:cs typeface="Microsoft YaHei UI"/>
              </a:rPr>
              <a:t>...</a:t>
            </a:r>
            <a:r>
              <a:rPr dirty="0" sz="2950">
                <a:latin typeface="Microsoft YaHei UI"/>
                <a:cs typeface="Microsoft YaHei UI"/>
              </a:rPr>
              <a:t>	</a:t>
            </a:r>
            <a:r>
              <a:rPr dirty="0" sz="3100" spc="-360" i="1">
                <a:latin typeface="Verdana"/>
                <a:cs typeface="Verdana"/>
              </a:rPr>
              <a:t>φ</a:t>
            </a:r>
            <a:r>
              <a:rPr dirty="0" baseline="-24509" sz="2550" spc="-540">
                <a:latin typeface="Microsoft YaHei UI"/>
                <a:cs typeface="Microsoft YaHei UI"/>
              </a:rPr>
              <a:t>M</a:t>
            </a:r>
            <a:r>
              <a:rPr dirty="0" baseline="-24509" sz="2550" spc="-209">
                <a:latin typeface="Microsoft YaHei UI"/>
                <a:cs typeface="Microsoft YaHei UI"/>
              </a:rPr>
              <a:t> </a:t>
            </a:r>
            <a:r>
              <a:rPr dirty="0" sz="2950" spc="-145">
                <a:latin typeface="Microsoft YaHei UI"/>
                <a:cs typeface="Microsoft YaHei UI"/>
              </a:rPr>
              <a:t>(||</a:t>
            </a:r>
            <a:r>
              <a:rPr dirty="0" sz="2950" spc="-204">
                <a:latin typeface="Microsoft YaHei UI"/>
                <a:cs typeface="Microsoft YaHei UI"/>
              </a:rPr>
              <a:t> </a:t>
            </a:r>
            <a:r>
              <a:rPr dirty="0" sz="2950" spc="-70" i="1">
                <a:latin typeface="Times New Roman"/>
                <a:cs typeface="Times New Roman"/>
              </a:rPr>
              <a:t>x</a:t>
            </a:r>
            <a:r>
              <a:rPr dirty="0" baseline="-24509" sz="2550" spc="-104">
                <a:latin typeface="Microsoft YaHei UI"/>
                <a:cs typeface="Microsoft YaHei UI"/>
              </a:rPr>
              <a:t>1</a:t>
            </a:r>
            <a:r>
              <a:rPr dirty="0" baseline="-24509" sz="2550" spc="-7">
                <a:latin typeface="Microsoft YaHei UI"/>
                <a:cs typeface="Microsoft YaHei UI"/>
              </a:rPr>
              <a:t> </a:t>
            </a:r>
            <a:r>
              <a:rPr dirty="0" sz="2950">
                <a:latin typeface="Microsoft YaHei UI"/>
                <a:cs typeface="Microsoft YaHei UI"/>
              </a:rPr>
              <a:t>–</a:t>
            </a:r>
            <a:r>
              <a:rPr dirty="0" sz="2950" spc="-495">
                <a:latin typeface="Microsoft YaHei UI"/>
                <a:cs typeface="Microsoft YaHei UI"/>
              </a:rPr>
              <a:t> </a:t>
            </a:r>
            <a:r>
              <a:rPr dirty="0" sz="2950" spc="30" i="1">
                <a:latin typeface="Times New Roman"/>
                <a:cs typeface="Times New Roman"/>
              </a:rPr>
              <a:t>t</a:t>
            </a:r>
            <a:r>
              <a:rPr dirty="0" baseline="-24509" sz="2550" spc="44" i="1">
                <a:latin typeface="Times New Roman"/>
                <a:cs typeface="Times New Roman"/>
              </a:rPr>
              <a:t>M</a:t>
            </a:r>
            <a:r>
              <a:rPr dirty="0" baseline="-24509" sz="2550" i="1">
                <a:latin typeface="Times New Roman"/>
                <a:cs typeface="Times New Roman"/>
              </a:rPr>
              <a:t>	</a:t>
            </a:r>
            <a:r>
              <a:rPr dirty="0" sz="2950" spc="-150">
                <a:latin typeface="Microsoft YaHei UI"/>
                <a:cs typeface="Microsoft YaHei UI"/>
              </a:rPr>
              <a:t>||)</a:t>
            </a:r>
            <a:r>
              <a:rPr dirty="0" sz="2950" spc="-265">
                <a:latin typeface="Microsoft YaHei UI"/>
                <a:cs typeface="Microsoft YaHei UI"/>
              </a:rPr>
              <a:t> </a:t>
            </a:r>
            <a:r>
              <a:rPr dirty="0" baseline="-3766" sz="4425" spc="-2820">
                <a:latin typeface="Microsoft YaHei UI"/>
                <a:cs typeface="Microsoft YaHei UI"/>
              </a:rPr>
              <a:t></a:t>
            </a:r>
            <a:endParaRPr baseline="-3766" sz="4425">
              <a:latin typeface="Microsoft YaHei UI"/>
              <a:cs typeface="Microsoft YaHei UI"/>
            </a:endParaRPr>
          </a:p>
          <a:p>
            <a:pPr marL="38100">
              <a:lnSpc>
                <a:spcPts val="2490"/>
              </a:lnSpc>
              <a:spcBef>
                <a:spcPts val="840"/>
              </a:spcBef>
              <a:tabLst>
                <a:tab pos="2893060" algn="l"/>
              </a:tabLst>
            </a:pPr>
            <a:r>
              <a:rPr dirty="0" sz="2950" spc="-25">
                <a:latin typeface="Microsoft YaHei UI"/>
                <a:cs typeface="Microsoft YaHei UI"/>
              </a:rPr>
              <a:t>...</a:t>
            </a:r>
            <a:r>
              <a:rPr dirty="0" sz="2950">
                <a:latin typeface="Microsoft YaHei UI"/>
                <a:cs typeface="Microsoft YaHei UI"/>
              </a:rPr>
              <a:t>	</a:t>
            </a:r>
            <a:r>
              <a:rPr dirty="0" baseline="26365" sz="4425" spc="442">
                <a:latin typeface="Microsoft YaHei UI"/>
                <a:cs typeface="Microsoft YaHei UI"/>
              </a:rPr>
              <a:t>|</a:t>
            </a:r>
            <a:endParaRPr baseline="26365" sz="4425">
              <a:latin typeface="Microsoft YaHei UI"/>
              <a:cs typeface="Microsoft YaHei UI"/>
            </a:endParaRPr>
          </a:p>
          <a:p>
            <a:pPr algn="r" marR="43180">
              <a:lnSpc>
                <a:spcPts val="2130"/>
              </a:lnSpc>
            </a:pPr>
            <a:r>
              <a:rPr dirty="0" sz="2950" spc="295">
                <a:latin typeface="Microsoft YaHei UI"/>
                <a:cs typeface="Microsoft YaHei UI"/>
              </a:rPr>
              <a:t>|</a:t>
            </a:r>
            <a:endParaRPr sz="2950">
              <a:latin typeface="Microsoft YaHei UI"/>
              <a:cs typeface="Microsoft YaHei UI"/>
            </a:endParaRPr>
          </a:p>
          <a:p>
            <a:pPr marL="38100">
              <a:lnSpc>
                <a:spcPts val="3360"/>
              </a:lnSpc>
              <a:tabLst>
                <a:tab pos="616585" algn="l"/>
                <a:tab pos="2609215" algn="l"/>
              </a:tabLst>
            </a:pPr>
            <a:r>
              <a:rPr dirty="0" sz="2950" spc="-25">
                <a:latin typeface="Microsoft YaHei UI"/>
                <a:cs typeface="Microsoft YaHei UI"/>
              </a:rPr>
              <a:t>...</a:t>
            </a:r>
            <a:r>
              <a:rPr dirty="0" sz="2950">
                <a:latin typeface="Microsoft YaHei UI"/>
                <a:cs typeface="Microsoft YaHei UI"/>
              </a:rPr>
              <a:t>	</a:t>
            </a:r>
            <a:r>
              <a:rPr dirty="0" sz="3100" spc="-275" i="1">
                <a:latin typeface="Verdana"/>
                <a:cs typeface="Verdana"/>
              </a:rPr>
              <a:t>φ</a:t>
            </a:r>
            <a:r>
              <a:rPr dirty="0" baseline="-24509" sz="2550" spc="-412" i="1">
                <a:latin typeface="Times New Roman"/>
                <a:cs typeface="Times New Roman"/>
              </a:rPr>
              <a:t>M</a:t>
            </a:r>
            <a:r>
              <a:rPr dirty="0" baseline="-24509" sz="2550" spc="292" i="1">
                <a:latin typeface="Times New Roman"/>
                <a:cs typeface="Times New Roman"/>
              </a:rPr>
              <a:t> </a:t>
            </a:r>
            <a:r>
              <a:rPr dirty="0" sz="2950" spc="-145">
                <a:latin typeface="Microsoft YaHei UI"/>
                <a:cs typeface="Microsoft YaHei UI"/>
              </a:rPr>
              <a:t>(||</a:t>
            </a:r>
            <a:r>
              <a:rPr dirty="0" sz="2950" spc="-170">
                <a:latin typeface="Microsoft YaHei UI"/>
                <a:cs typeface="Microsoft YaHei UI"/>
              </a:rPr>
              <a:t> </a:t>
            </a:r>
            <a:r>
              <a:rPr dirty="0" sz="2950" i="1">
                <a:latin typeface="Times New Roman"/>
                <a:cs typeface="Times New Roman"/>
              </a:rPr>
              <a:t>x</a:t>
            </a:r>
            <a:r>
              <a:rPr dirty="0" baseline="-24509" sz="2550" i="1">
                <a:latin typeface="Times New Roman"/>
                <a:cs typeface="Times New Roman"/>
              </a:rPr>
              <a:t>N</a:t>
            </a:r>
            <a:r>
              <a:rPr dirty="0" baseline="-24509" sz="2550" spc="120" i="1">
                <a:latin typeface="Times New Roman"/>
                <a:cs typeface="Times New Roman"/>
              </a:rPr>
              <a:t>  </a:t>
            </a:r>
            <a:r>
              <a:rPr dirty="0" sz="2950">
                <a:latin typeface="Microsoft YaHei UI"/>
                <a:cs typeface="Microsoft YaHei UI"/>
              </a:rPr>
              <a:t>–</a:t>
            </a:r>
            <a:r>
              <a:rPr dirty="0" sz="2950" spc="-470">
                <a:latin typeface="Microsoft YaHei UI"/>
                <a:cs typeface="Microsoft YaHei UI"/>
              </a:rPr>
              <a:t> </a:t>
            </a:r>
            <a:r>
              <a:rPr dirty="0" sz="2950" spc="30" i="1">
                <a:latin typeface="Times New Roman"/>
                <a:cs typeface="Times New Roman"/>
              </a:rPr>
              <a:t>t</a:t>
            </a:r>
            <a:r>
              <a:rPr dirty="0" baseline="-24509" sz="2550" spc="44" i="1">
                <a:latin typeface="Times New Roman"/>
                <a:cs typeface="Times New Roman"/>
              </a:rPr>
              <a:t>M</a:t>
            </a:r>
            <a:r>
              <a:rPr dirty="0" baseline="-24509" sz="2550" i="1">
                <a:latin typeface="Times New Roman"/>
                <a:cs typeface="Times New Roman"/>
              </a:rPr>
              <a:t>	</a:t>
            </a:r>
            <a:r>
              <a:rPr dirty="0" sz="2950" spc="5">
                <a:latin typeface="Microsoft YaHei UI"/>
                <a:cs typeface="Microsoft YaHei UI"/>
              </a:rPr>
              <a:t>||</a:t>
            </a:r>
            <a:r>
              <a:rPr dirty="0" sz="2950" spc="95">
                <a:latin typeface="Microsoft YaHei UI"/>
                <a:cs typeface="Microsoft YaHei UI"/>
              </a:rPr>
              <a:t>)</a:t>
            </a:r>
            <a:r>
              <a:rPr dirty="0" baseline="2824" sz="4425" spc="-1155">
                <a:latin typeface="Microsoft YaHei UI"/>
                <a:cs typeface="Microsoft YaHei UI"/>
              </a:rPr>
              <a:t>|</a:t>
            </a:r>
            <a:r>
              <a:rPr dirty="0" baseline="-15065" sz="4425" spc="30">
                <a:latin typeface="Microsoft YaHei UI"/>
                <a:cs typeface="Microsoft YaHei UI"/>
              </a:rPr>
              <a:t>]</a:t>
            </a:r>
            <a:endParaRPr baseline="-15065" sz="4425">
              <a:latin typeface="Microsoft YaHei UI"/>
              <a:cs typeface="Microsoft YaHei U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99502" y="4798453"/>
            <a:ext cx="892175" cy="476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950" spc="-100">
                <a:latin typeface="Microsoft YaHei UI"/>
                <a:cs typeface="Microsoft YaHei UI"/>
              </a:rPr>
              <a:t>Ф</a:t>
            </a:r>
            <a:r>
              <a:rPr dirty="0" sz="2950" spc="-170">
                <a:latin typeface="Microsoft YaHei UI"/>
                <a:cs typeface="Microsoft YaHei UI"/>
              </a:rPr>
              <a:t> </a:t>
            </a:r>
            <a:r>
              <a:rPr dirty="0" sz="2950" spc="-570">
                <a:latin typeface="Microsoft YaHei UI"/>
                <a:cs typeface="Microsoft YaHei UI"/>
              </a:rPr>
              <a:t>=</a:t>
            </a:r>
            <a:r>
              <a:rPr dirty="0" sz="2950" spc="-170">
                <a:latin typeface="Microsoft YaHei UI"/>
                <a:cs typeface="Microsoft YaHei UI"/>
              </a:rPr>
              <a:t> </a:t>
            </a:r>
            <a:r>
              <a:rPr dirty="0" baseline="26365" sz="4425" spc="442">
                <a:latin typeface="Microsoft YaHei UI"/>
                <a:cs typeface="Microsoft YaHei UI"/>
              </a:rPr>
              <a:t>|</a:t>
            </a:r>
            <a:endParaRPr baseline="26365" sz="4425">
              <a:latin typeface="Microsoft YaHei UI"/>
              <a:cs typeface="Microsoft YaHei U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870824" y="4981181"/>
            <a:ext cx="2161540" cy="857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ts val="3180"/>
              </a:lnSpc>
              <a:spcBef>
                <a:spcPts val="105"/>
              </a:spcBef>
            </a:pPr>
            <a:r>
              <a:rPr dirty="0" sz="2950" spc="295">
                <a:latin typeface="Microsoft YaHei UI"/>
                <a:cs typeface="Microsoft YaHei UI"/>
              </a:rPr>
              <a:t>|</a:t>
            </a:r>
            <a:endParaRPr sz="2950">
              <a:latin typeface="Microsoft YaHei UI"/>
              <a:cs typeface="Microsoft YaHei UI"/>
            </a:endParaRPr>
          </a:p>
          <a:p>
            <a:pPr marL="38100">
              <a:lnSpc>
                <a:spcPts val="3360"/>
              </a:lnSpc>
            </a:pPr>
            <a:r>
              <a:rPr dirty="0" baseline="2824" sz="4425" spc="-1470">
                <a:latin typeface="Microsoft YaHei UI"/>
                <a:cs typeface="Microsoft YaHei UI"/>
              </a:rPr>
              <a:t>|</a:t>
            </a:r>
            <a:r>
              <a:rPr dirty="0" baseline="-15065" sz="4425" spc="-1470">
                <a:latin typeface="Microsoft YaHei UI"/>
                <a:cs typeface="Microsoft YaHei UI"/>
              </a:rPr>
              <a:t></a:t>
            </a:r>
            <a:r>
              <a:rPr dirty="0" sz="3100" spc="-980" i="1">
                <a:latin typeface="Verdana"/>
                <a:cs typeface="Verdana"/>
              </a:rPr>
              <a:t>φ</a:t>
            </a:r>
            <a:r>
              <a:rPr dirty="0" baseline="-24509" sz="2550" spc="-1470">
                <a:latin typeface="Microsoft YaHei UI"/>
                <a:cs typeface="Microsoft YaHei UI"/>
              </a:rPr>
              <a:t>1</a:t>
            </a:r>
            <a:r>
              <a:rPr dirty="0" baseline="-24509" sz="2550" spc="-480">
                <a:latin typeface="Microsoft YaHei UI"/>
                <a:cs typeface="Microsoft YaHei UI"/>
              </a:rPr>
              <a:t> </a:t>
            </a:r>
            <a:r>
              <a:rPr dirty="0" sz="2950" spc="-145">
                <a:latin typeface="Microsoft YaHei UI"/>
                <a:cs typeface="Microsoft YaHei UI"/>
              </a:rPr>
              <a:t>(||</a:t>
            </a:r>
            <a:r>
              <a:rPr dirty="0" sz="2950" spc="-204">
                <a:latin typeface="Microsoft YaHei UI"/>
                <a:cs typeface="Microsoft YaHei UI"/>
              </a:rPr>
              <a:t> </a:t>
            </a:r>
            <a:r>
              <a:rPr dirty="0" sz="2950" i="1">
                <a:latin typeface="Times New Roman"/>
                <a:cs typeface="Times New Roman"/>
              </a:rPr>
              <a:t>x</a:t>
            </a:r>
            <a:r>
              <a:rPr dirty="0" baseline="-24509" sz="2550" i="1">
                <a:latin typeface="Times New Roman"/>
                <a:cs typeface="Times New Roman"/>
              </a:rPr>
              <a:t>N</a:t>
            </a:r>
            <a:r>
              <a:rPr dirty="0" baseline="-24509" sz="2550" spc="735" i="1">
                <a:latin typeface="Times New Roman"/>
                <a:cs typeface="Times New Roman"/>
              </a:rPr>
              <a:t> </a:t>
            </a:r>
            <a:r>
              <a:rPr dirty="0" sz="2950">
                <a:latin typeface="Microsoft YaHei UI"/>
                <a:cs typeface="Microsoft YaHei UI"/>
              </a:rPr>
              <a:t>–</a:t>
            </a:r>
            <a:r>
              <a:rPr dirty="0" sz="2950" spc="-495">
                <a:latin typeface="Microsoft YaHei UI"/>
                <a:cs typeface="Microsoft YaHei UI"/>
              </a:rPr>
              <a:t> </a:t>
            </a:r>
            <a:r>
              <a:rPr dirty="0" sz="2950" spc="-20" i="1">
                <a:latin typeface="Times New Roman"/>
                <a:cs typeface="Times New Roman"/>
              </a:rPr>
              <a:t>t</a:t>
            </a:r>
            <a:r>
              <a:rPr dirty="0" baseline="-24509" sz="2550" spc="-30">
                <a:latin typeface="Microsoft YaHei UI"/>
                <a:cs typeface="Microsoft YaHei UI"/>
              </a:rPr>
              <a:t>1</a:t>
            </a:r>
            <a:r>
              <a:rPr dirty="0" baseline="-24509" sz="2550" spc="187">
                <a:latin typeface="Microsoft YaHei UI"/>
                <a:cs typeface="Microsoft YaHei UI"/>
              </a:rPr>
              <a:t> </a:t>
            </a:r>
            <a:r>
              <a:rPr dirty="0" sz="2950" spc="-30">
                <a:latin typeface="Microsoft YaHei UI"/>
                <a:cs typeface="Microsoft YaHei UI"/>
              </a:rPr>
              <a:t>||)</a:t>
            </a:r>
            <a:endParaRPr sz="2950">
              <a:latin typeface="Microsoft YaHei UI"/>
              <a:cs typeface="Microsoft YaHei U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870824" y="4219290"/>
            <a:ext cx="2106295" cy="4997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3766" sz="4425" spc="-2354">
                <a:latin typeface="Microsoft YaHei UI"/>
                <a:cs typeface="Microsoft YaHei UI"/>
              </a:rPr>
              <a:t>「</a:t>
            </a:r>
            <a:r>
              <a:rPr dirty="0" sz="3100" spc="-459" i="1">
                <a:latin typeface="Verdana"/>
                <a:cs typeface="Verdana"/>
              </a:rPr>
              <a:t>φ</a:t>
            </a:r>
            <a:r>
              <a:rPr dirty="0" baseline="-24509" sz="2550" spc="-690">
                <a:latin typeface="Microsoft YaHei UI"/>
                <a:cs typeface="Microsoft YaHei UI"/>
              </a:rPr>
              <a:t>1</a:t>
            </a:r>
            <a:r>
              <a:rPr dirty="0" baseline="-24509" sz="2550" spc="-480">
                <a:latin typeface="Microsoft YaHei UI"/>
                <a:cs typeface="Microsoft YaHei UI"/>
              </a:rPr>
              <a:t> </a:t>
            </a:r>
            <a:r>
              <a:rPr dirty="0" sz="2950" spc="-145">
                <a:latin typeface="Microsoft YaHei UI"/>
                <a:cs typeface="Microsoft YaHei UI"/>
              </a:rPr>
              <a:t>(||</a:t>
            </a:r>
            <a:r>
              <a:rPr dirty="0" sz="2950" spc="-204">
                <a:latin typeface="Microsoft YaHei UI"/>
                <a:cs typeface="Microsoft YaHei UI"/>
              </a:rPr>
              <a:t> </a:t>
            </a:r>
            <a:r>
              <a:rPr dirty="0" sz="2950" spc="-70" i="1">
                <a:latin typeface="Times New Roman"/>
                <a:cs typeface="Times New Roman"/>
              </a:rPr>
              <a:t>x</a:t>
            </a:r>
            <a:r>
              <a:rPr dirty="0" baseline="-24509" sz="2550" spc="-104">
                <a:latin typeface="Microsoft YaHei UI"/>
                <a:cs typeface="Microsoft YaHei UI"/>
              </a:rPr>
              <a:t>1</a:t>
            </a:r>
            <a:r>
              <a:rPr dirty="0" baseline="-24509" sz="2550" spc="-82">
                <a:latin typeface="Microsoft YaHei UI"/>
                <a:cs typeface="Microsoft YaHei UI"/>
              </a:rPr>
              <a:t> </a:t>
            </a:r>
            <a:r>
              <a:rPr dirty="0" sz="2950" spc="-250">
                <a:latin typeface="Microsoft YaHei UI"/>
                <a:cs typeface="Microsoft YaHei UI"/>
              </a:rPr>
              <a:t>– </a:t>
            </a:r>
            <a:r>
              <a:rPr dirty="0" sz="2950" spc="-20" i="1">
                <a:latin typeface="Times New Roman"/>
                <a:cs typeface="Times New Roman"/>
              </a:rPr>
              <a:t>t</a:t>
            </a:r>
            <a:r>
              <a:rPr dirty="0" baseline="-24509" sz="2550" spc="-30">
                <a:latin typeface="Microsoft YaHei UI"/>
                <a:cs typeface="Microsoft YaHei UI"/>
              </a:rPr>
              <a:t>1 </a:t>
            </a:r>
            <a:r>
              <a:rPr dirty="0" sz="2950" spc="-30">
                <a:latin typeface="Microsoft YaHei UI"/>
                <a:cs typeface="Microsoft YaHei UI"/>
              </a:rPr>
              <a:t>||)</a:t>
            </a:r>
            <a:endParaRPr sz="2950">
              <a:latin typeface="Microsoft YaHei UI"/>
              <a:cs typeface="Microsoft YaHei U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0">
                <a:latin typeface="Microsoft YaHei UI"/>
                <a:cs typeface="Microsoft YaHei UI"/>
              </a:rPr>
              <a:t>16</a:t>
            </a:r>
            <a:endParaRPr sz="1400">
              <a:latin typeface="Microsoft YaHei UI"/>
              <a:cs typeface="Microsoft YaHei UI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2291613" y="3486823"/>
            <a:ext cx="288925" cy="805815"/>
          </a:xfrm>
          <a:custGeom>
            <a:avLst/>
            <a:gdLst/>
            <a:ahLst/>
            <a:cxnLst/>
            <a:rect l="l" t="t" r="r" b="b"/>
            <a:pathLst>
              <a:path w="288925" h="805814">
                <a:moveTo>
                  <a:pt x="4711" y="714959"/>
                </a:moveTo>
                <a:lnTo>
                  <a:pt x="3041" y="715263"/>
                </a:lnTo>
                <a:lnTo>
                  <a:pt x="1616" y="716089"/>
                </a:lnTo>
                <a:lnTo>
                  <a:pt x="557" y="717359"/>
                </a:lnTo>
                <a:lnTo>
                  <a:pt x="0" y="718883"/>
                </a:lnTo>
                <a:lnTo>
                  <a:pt x="0" y="720534"/>
                </a:lnTo>
                <a:lnTo>
                  <a:pt x="558" y="722083"/>
                </a:lnTo>
                <a:lnTo>
                  <a:pt x="48361" y="805776"/>
                </a:lnTo>
                <a:lnTo>
                  <a:pt x="53966" y="796366"/>
                </a:lnTo>
                <a:lnTo>
                  <a:pt x="43687" y="796366"/>
                </a:lnTo>
                <a:lnTo>
                  <a:pt x="43764" y="786883"/>
                </a:lnTo>
                <a:lnTo>
                  <a:pt x="43978" y="778907"/>
                </a:lnTo>
                <a:lnTo>
                  <a:pt x="8826" y="717359"/>
                </a:lnTo>
                <a:lnTo>
                  <a:pt x="7772" y="716089"/>
                </a:lnTo>
                <a:lnTo>
                  <a:pt x="6337" y="715263"/>
                </a:lnTo>
                <a:lnTo>
                  <a:pt x="4711" y="714959"/>
                </a:lnTo>
                <a:close/>
              </a:path>
              <a:path w="288925" h="805814">
                <a:moveTo>
                  <a:pt x="43978" y="778907"/>
                </a:moveTo>
                <a:lnTo>
                  <a:pt x="43764" y="786883"/>
                </a:lnTo>
                <a:lnTo>
                  <a:pt x="43687" y="796366"/>
                </a:lnTo>
                <a:lnTo>
                  <a:pt x="53212" y="796366"/>
                </a:lnTo>
                <a:lnTo>
                  <a:pt x="53232" y="793965"/>
                </a:lnTo>
                <a:lnTo>
                  <a:pt x="44315" y="793965"/>
                </a:lnTo>
                <a:lnTo>
                  <a:pt x="48437" y="787044"/>
                </a:lnTo>
                <a:lnTo>
                  <a:pt x="48533" y="786883"/>
                </a:lnTo>
                <a:lnTo>
                  <a:pt x="43978" y="778907"/>
                </a:lnTo>
                <a:close/>
              </a:path>
              <a:path w="288925" h="805814">
                <a:moveTo>
                  <a:pt x="93649" y="715772"/>
                </a:moveTo>
                <a:lnTo>
                  <a:pt x="91699" y="716089"/>
                </a:lnTo>
                <a:lnTo>
                  <a:pt x="91920" y="716089"/>
                </a:lnTo>
                <a:lnTo>
                  <a:pt x="90500" y="716927"/>
                </a:lnTo>
                <a:lnTo>
                  <a:pt x="89428" y="718210"/>
                </a:lnTo>
                <a:lnTo>
                  <a:pt x="53520" y="778508"/>
                </a:lnTo>
                <a:lnTo>
                  <a:pt x="53293" y="786883"/>
                </a:lnTo>
                <a:lnTo>
                  <a:pt x="53212" y="796366"/>
                </a:lnTo>
                <a:lnTo>
                  <a:pt x="53966" y="796366"/>
                </a:lnTo>
                <a:lnTo>
                  <a:pt x="97675" y="722972"/>
                </a:lnTo>
                <a:lnTo>
                  <a:pt x="98259" y="721423"/>
                </a:lnTo>
                <a:lnTo>
                  <a:pt x="98285" y="719772"/>
                </a:lnTo>
                <a:lnTo>
                  <a:pt x="97739" y="718210"/>
                </a:lnTo>
                <a:lnTo>
                  <a:pt x="96697" y="716927"/>
                </a:lnTo>
                <a:lnTo>
                  <a:pt x="95296" y="716089"/>
                </a:lnTo>
                <a:lnTo>
                  <a:pt x="93649" y="715772"/>
                </a:lnTo>
                <a:close/>
              </a:path>
              <a:path w="288925" h="805814">
                <a:moveTo>
                  <a:pt x="48533" y="786883"/>
                </a:moveTo>
                <a:lnTo>
                  <a:pt x="44315" y="793965"/>
                </a:lnTo>
                <a:lnTo>
                  <a:pt x="52577" y="793965"/>
                </a:lnTo>
                <a:lnTo>
                  <a:pt x="48624" y="787044"/>
                </a:lnTo>
                <a:lnTo>
                  <a:pt x="48533" y="786883"/>
                </a:lnTo>
                <a:close/>
              </a:path>
              <a:path w="288925" h="805814">
                <a:moveTo>
                  <a:pt x="53520" y="778508"/>
                </a:moveTo>
                <a:lnTo>
                  <a:pt x="48533" y="786883"/>
                </a:lnTo>
                <a:lnTo>
                  <a:pt x="52577" y="793965"/>
                </a:lnTo>
                <a:lnTo>
                  <a:pt x="53232" y="793965"/>
                </a:lnTo>
                <a:lnTo>
                  <a:pt x="53293" y="786883"/>
                </a:lnTo>
                <a:lnTo>
                  <a:pt x="53509" y="778907"/>
                </a:lnTo>
                <a:lnTo>
                  <a:pt x="53520" y="778508"/>
                </a:lnTo>
                <a:close/>
              </a:path>
              <a:path w="288925" h="805814">
                <a:moveTo>
                  <a:pt x="288709" y="0"/>
                </a:moveTo>
                <a:lnTo>
                  <a:pt x="279183" y="0"/>
                </a:lnTo>
                <a:lnTo>
                  <a:pt x="279019" y="18732"/>
                </a:lnTo>
                <a:lnTo>
                  <a:pt x="278511" y="37503"/>
                </a:lnTo>
                <a:lnTo>
                  <a:pt x="275120" y="93256"/>
                </a:lnTo>
                <a:lnTo>
                  <a:pt x="269113" y="147332"/>
                </a:lnTo>
                <a:lnTo>
                  <a:pt x="260794" y="198755"/>
                </a:lnTo>
                <a:lnTo>
                  <a:pt x="250444" y="246506"/>
                </a:lnTo>
                <a:lnTo>
                  <a:pt x="238391" y="289560"/>
                </a:lnTo>
                <a:lnTo>
                  <a:pt x="224933" y="326872"/>
                </a:lnTo>
                <a:lnTo>
                  <a:pt x="205404" y="365951"/>
                </a:lnTo>
                <a:lnTo>
                  <a:pt x="177561" y="395439"/>
                </a:lnTo>
                <a:lnTo>
                  <a:pt x="170459" y="397992"/>
                </a:lnTo>
                <a:lnTo>
                  <a:pt x="170299" y="397992"/>
                </a:lnTo>
                <a:lnTo>
                  <a:pt x="168173" y="398335"/>
                </a:lnTo>
                <a:lnTo>
                  <a:pt x="167697" y="398335"/>
                </a:lnTo>
                <a:lnTo>
                  <a:pt x="162185" y="398627"/>
                </a:lnTo>
                <a:lnTo>
                  <a:pt x="162648" y="398627"/>
                </a:lnTo>
                <a:lnTo>
                  <a:pt x="159244" y="399161"/>
                </a:lnTo>
                <a:lnTo>
                  <a:pt x="159423" y="399161"/>
                </a:lnTo>
                <a:lnTo>
                  <a:pt x="156248" y="400011"/>
                </a:lnTo>
                <a:lnTo>
                  <a:pt x="153492" y="401015"/>
                </a:lnTo>
                <a:lnTo>
                  <a:pt x="124155" y="427329"/>
                </a:lnTo>
                <a:lnTo>
                  <a:pt x="103441" y="464477"/>
                </a:lnTo>
                <a:lnTo>
                  <a:pt x="89268" y="500418"/>
                </a:lnTo>
                <a:lnTo>
                  <a:pt x="76504" y="542251"/>
                </a:lnTo>
                <a:lnTo>
                  <a:pt x="65430" y="589013"/>
                </a:lnTo>
                <a:lnTo>
                  <a:pt x="56311" y="639724"/>
                </a:lnTo>
                <a:lnTo>
                  <a:pt x="49441" y="693419"/>
                </a:lnTo>
                <a:lnTo>
                  <a:pt x="45110" y="749122"/>
                </a:lnTo>
                <a:lnTo>
                  <a:pt x="43988" y="778508"/>
                </a:lnTo>
                <a:lnTo>
                  <a:pt x="43978" y="778907"/>
                </a:lnTo>
                <a:lnTo>
                  <a:pt x="48533" y="786883"/>
                </a:lnTo>
                <a:lnTo>
                  <a:pt x="53520" y="778508"/>
                </a:lnTo>
                <a:lnTo>
                  <a:pt x="53797" y="768299"/>
                </a:lnTo>
                <a:lnTo>
                  <a:pt x="54622" y="749617"/>
                </a:lnTo>
                <a:lnTo>
                  <a:pt x="58915" y="694397"/>
                </a:lnTo>
                <a:lnTo>
                  <a:pt x="65722" y="641172"/>
                </a:lnTo>
                <a:lnTo>
                  <a:pt x="74752" y="590943"/>
                </a:lnTo>
                <a:lnTo>
                  <a:pt x="85699" y="544728"/>
                </a:lnTo>
                <a:lnTo>
                  <a:pt x="98259" y="503529"/>
                </a:lnTo>
                <a:lnTo>
                  <a:pt x="116870" y="458400"/>
                </a:lnTo>
                <a:lnTo>
                  <a:pt x="137184" y="425996"/>
                </a:lnTo>
                <a:lnTo>
                  <a:pt x="163810" y="408089"/>
                </a:lnTo>
                <a:lnTo>
                  <a:pt x="163652" y="408089"/>
                </a:lnTo>
                <a:lnTo>
                  <a:pt x="169163" y="407797"/>
                </a:lnTo>
                <a:lnTo>
                  <a:pt x="169344" y="407797"/>
                </a:lnTo>
                <a:lnTo>
                  <a:pt x="172415" y="407301"/>
                </a:lnTo>
                <a:lnTo>
                  <a:pt x="208152" y="378993"/>
                </a:lnTo>
                <a:lnTo>
                  <a:pt x="228866" y="341795"/>
                </a:lnTo>
                <a:lnTo>
                  <a:pt x="243039" y="305790"/>
                </a:lnTo>
                <a:lnTo>
                  <a:pt x="255803" y="263906"/>
                </a:lnTo>
                <a:lnTo>
                  <a:pt x="266877" y="217068"/>
                </a:lnTo>
                <a:lnTo>
                  <a:pt x="275996" y="166268"/>
                </a:lnTo>
                <a:lnTo>
                  <a:pt x="282867" y="112483"/>
                </a:lnTo>
                <a:lnTo>
                  <a:pt x="287197" y="56705"/>
                </a:lnTo>
                <a:lnTo>
                  <a:pt x="288544" y="18897"/>
                </a:lnTo>
                <a:lnTo>
                  <a:pt x="2887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2627604" y="3495395"/>
            <a:ext cx="2376805" cy="990600"/>
          </a:xfrm>
          <a:custGeom>
            <a:avLst/>
            <a:gdLst/>
            <a:ahLst/>
            <a:cxnLst/>
            <a:rect l="l" t="t" r="r" b="b"/>
            <a:pathLst>
              <a:path w="2376804" h="990600">
                <a:moveTo>
                  <a:pt x="2357814" y="942341"/>
                </a:moveTo>
                <a:lnTo>
                  <a:pt x="2287892" y="982980"/>
                </a:lnTo>
                <a:lnTo>
                  <a:pt x="2286635" y="982980"/>
                </a:lnTo>
                <a:lnTo>
                  <a:pt x="2285796" y="985519"/>
                </a:lnTo>
                <a:lnTo>
                  <a:pt x="2285504" y="986789"/>
                </a:lnTo>
                <a:lnTo>
                  <a:pt x="2285796" y="988060"/>
                </a:lnTo>
                <a:lnTo>
                  <a:pt x="2286622" y="989330"/>
                </a:lnTo>
                <a:lnTo>
                  <a:pt x="2287879" y="990600"/>
                </a:lnTo>
                <a:lnTo>
                  <a:pt x="2292642" y="990600"/>
                </a:lnTo>
                <a:lnTo>
                  <a:pt x="2367400" y="947419"/>
                </a:lnTo>
                <a:lnTo>
                  <a:pt x="2366708" y="947419"/>
                </a:lnTo>
                <a:lnTo>
                  <a:pt x="2366716" y="946150"/>
                </a:lnTo>
                <a:lnTo>
                  <a:pt x="2364320" y="946150"/>
                </a:lnTo>
                <a:lnTo>
                  <a:pt x="2357814" y="942341"/>
                </a:lnTo>
                <a:close/>
              </a:path>
              <a:path w="2376804" h="990600">
                <a:moveTo>
                  <a:pt x="1191874" y="452119"/>
                </a:moveTo>
                <a:lnTo>
                  <a:pt x="1182306" y="452119"/>
                </a:lnTo>
                <a:lnTo>
                  <a:pt x="1183055" y="458469"/>
                </a:lnTo>
                <a:lnTo>
                  <a:pt x="1183576" y="463550"/>
                </a:lnTo>
                <a:lnTo>
                  <a:pt x="1183894" y="468630"/>
                </a:lnTo>
                <a:lnTo>
                  <a:pt x="1183995" y="473710"/>
                </a:lnTo>
                <a:lnTo>
                  <a:pt x="1184109" y="480060"/>
                </a:lnTo>
                <a:lnTo>
                  <a:pt x="1184357" y="483869"/>
                </a:lnTo>
                <a:lnTo>
                  <a:pt x="1189405" y="513080"/>
                </a:lnTo>
                <a:lnTo>
                  <a:pt x="1191031" y="519430"/>
                </a:lnTo>
                <a:lnTo>
                  <a:pt x="1192872" y="524510"/>
                </a:lnTo>
                <a:lnTo>
                  <a:pt x="1194917" y="530860"/>
                </a:lnTo>
                <a:lnTo>
                  <a:pt x="1197165" y="535939"/>
                </a:lnTo>
                <a:lnTo>
                  <a:pt x="1199616" y="542289"/>
                </a:lnTo>
                <a:lnTo>
                  <a:pt x="1202258" y="547369"/>
                </a:lnTo>
                <a:lnTo>
                  <a:pt x="1205103" y="552450"/>
                </a:lnTo>
                <a:lnTo>
                  <a:pt x="1208151" y="558800"/>
                </a:lnTo>
                <a:lnTo>
                  <a:pt x="1211376" y="563880"/>
                </a:lnTo>
                <a:lnTo>
                  <a:pt x="1214805" y="568960"/>
                </a:lnTo>
                <a:lnTo>
                  <a:pt x="1218450" y="575310"/>
                </a:lnTo>
                <a:lnTo>
                  <a:pt x="1234732" y="596900"/>
                </a:lnTo>
                <a:lnTo>
                  <a:pt x="1243965" y="607060"/>
                </a:lnTo>
                <a:lnTo>
                  <a:pt x="1253896" y="618489"/>
                </a:lnTo>
                <a:lnTo>
                  <a:pt x="1264526" y="628650"/>
                </a:lnTo>
                <a:lnTo>
                  <a:pt x="1275816" y="638810"/>
                </a:lnTo>
                <a:lnTo>
                  <a:pt x="1287780" y="650239"/>
                </a:lnTo>
                <a:lnTo>
                  <a:pt x="1327480" y="680719"/>
                </a:lnTo>
                <a:lnTo>
                  <a:pt x="1357020" y="699769"/>
                </a:lnTo>
                <a:lnTo>
                  <a:pt x="1372666" y="709930"/>
                </a:lnTo>
                <a:lnTo>
                  <a:pt x="1388871" y="720089"/>
                </a:lnTo>
                <a:lnTo>
                  <a:pt x="1405648" y="728980"/>
                </a:lnTo>
                <a:lnTo>
                  <a:pt x="1422946" y="739139"/>
                </a:lnTo>
                <a:lnTo>
                  <a:pt x="1459128" y="756919"/>
                </a:lnTo>
                <a:lnTo>
                  <a:pt x="1497317" y="774700"/>
                </a:lnTo>
                <a:lnTo>
                  <a:pt x="1537398" y="792480"/>
                </a:lnTo>
                <a:lnTo>
                  <a:pt x="1558112" y="800100"/>
                </a:lnTo>
                <a:lnTo>
                  <a:pt x="1579257" y="808989"/>
                </a:lnTo>
                <a:lnTo>
                  <a:pt x="1622806" y="824230"/>
                </a:lnTo>
                <a:lnTo>
                  <a:pt x="1691043" y="847089"/>
                </a:lnTo>
                <a:lnTo>
                  <a:pt x="1714500" y="853439"/>
                </a:lnTo>
                <a:lnTo>
                  <a:pt x="1738312" y="861060"/>
                </a:lnTo>
                <a:lnTo>
                  <a:pt x="1811629" y="880110"/>
                </a:lnTo>
                <a:lnTo>
                  <a:pt x="1836661" y="885189"/>
                </a:lnTo>
                <a:lnTo>
                  <a:pt x="1861959" y="891539"/>
                </a:lnTo>
                <a:lnTo>
                  <a:pt x="1965591" y="911860"/>
                </a:lnTo>
                <a:lnTo>
                  <a:pt x="1992045" y="915669"/>
                </a:lnTo>
                <a:lnTo>
                  <a:pt x="2018690" y="920750"/>
                </a:lnTo>
                <a:lnTo>
                  <a:pt x="2072500" y="928369"/>
                </a:lnTo>
                <a:lnTo>
                  <a:pt x="2099627" y="930910"/>
                </a:lnTo>
                <a:lnTo>
                  <a:pt x="2126894" y="934719"/>
                </a:lnTo>
                <a:lnTo>
                  <a:pt x="2181796" y="939800"/>
                </a:lnTo>
                <a:lnTo>
                  <a:pt x="2209393" y="941069"/>
                </a:lnTo>
                <a:lnTo>
                  <a:pt x="2237066" y="943610"/>
                </a:lnTo>
                <a:lnTo>
                  <a:pt x="2292616" y="946150"/>
                </a:lnTo>
                <a:lnTo>
                  <a:pt x="2320467" y="946150"/>
                </a:lnTo>
                <a:lnTo>
                  <a:pt x="2348331" y="947419"/>
                </a:lnTo>
                <a:lnTo>
                  <a:pt x="2349075" y="947419"/>
                </a:lnTo>
                <a:lnTo>
                  <a:pt x="2357814" y="942341"/>
                </a:lnTo>
                <a:lnTo>
                  <a:pt x="2349134" y="937260"/>
                </a:lnTo>
                <a:lnTo>
                  <a:pt x="2320696" y="937260"/>
                </a:lnTo>
                <a:lnTo>
                  <a:pt x="2210066" y="932180"/>
                </a:lnTo>
                <a:lnTo>
                  <a:pt x="2100732" y="922019"/>
                </a:lnTo>
                <a:lnTo>
                  <a:pt x="1993569" y="906780"/>
                </a:lnTo>
                <a:lnTo>
                  <a:pt x="1967217" y="901700"/>
                </a:lnTo>
                <a:lnTo>
                  <a:pt x="1941068" y="897889"/>
                </a:lnTo>
                <a:lnTo>
                  <a:pt x="1863991" y="882650"/>
                </a:lnTo>
                <a:lnTo>
                  <a:pt x="1838794" y="876300"/>
                </a:lnTo>
                <a:lnTo>
                  <a:pt x="1813877" y="871219"/>
                </a:lnTo>
                <a:lnTo>
                  <a:pt x="1740877" y="852169"/>
                </a:lnTo>
                <a:lnTo>
                  <a:pt x="1717179" y="844550"/>
                </a:lnTo>
                <a:lnTo>
                  <a:pt x="1693824" y="838200"/>
                </a:lnTo>
                <a:lnTo>
                  <a:pt x="1625942" y="815339"/>
                </a:lnTo>
                <a:lnTo>
                  <a:pt x="1582635" y="800100"/>
                </a:lnTo>
                <a:lnTo>
                  <a:pt x="1561604" y="791210"/>
                </a:lnTo>
                <a:lnTo>
                  <a:pt x="1541018" y="783589"/>
                </a:lnTo>
                <a:lnTo>
                  <a:pt x="1520875" y="774700"/>
                </a:lnTo>
                <a:lnTo>
                  <a:pt x="1501203" y="765810"/>
                </a:lnTo>
                <a:lnTo>
                  <a:pt x="1482013" y="758189"/>
                </a:lnTo>
                <a:lnTo>
                  <a:pt x="1463306" y="749300"/>
                </a:lnTo>
                <a:lnTo>
                  <a:pt x="1445107" y="739139"/>
                </a:lnTo>
                <a:lnTo>
                  <a:pt x="1427429" y="730250"/>
                </a:lnTo>
                <a:lnTo>
                  <a:pt x="1410271" y="721360"/>
                </a:lnTo>
                <a:lnTo>
                  <a:pt x="1393672" y="711200"/>
                </a:lnTo>
                <a:lnTo>
                  <a:pt x="1377632" y="702310"/>
                </a:lnTo>
                <a:lnTo>
                  <a:pt x="1362163" y="692150"/>
                </a:lnTo>
                <a:lnTo>
                  <a:pt x="1347292" y="681989"/>
                </a:lnTo>
                <a:lnTo>
                  <a:pt x="1333004" y="673100"/>
                </a:lnTo>
                <a:lnTo>
                  <a:pt x="1293926" y="642619"/>
                </a:lnTo>
                <a:lnTo>
                  <a:pt x="1260754" y="612139"/>
                </a:lnTo>
                <a:lnTo>
                  <a:pt x="1250950" y="600710"/>
                </a:lnTo>
                <a:lnTo>
                  <a:pt x="1243500" y="592280"/>
                </a:lnTo>
                <a:lnTo>
                  <a:pt x="1233772" y="580458"/>
                </a:lnTo>
                <a:lnTo>
                  <a:pt x="1233812" y="580325"/>
                </a:lnTo>
                <a:lnTo>
                  <a:pt x="1226197" y="568960"/>
                </a:lnTo>
                <a:lnTo>
                  <a:pt x="1208278" y="537210"/>
                </a:lnTo>
                <a:lnTo>
                  <a:pt x="1205890" y="532130"/>
                </a:lnTo>
                <a:lnTo>
                  <a:pt x="1203756" y="527050"/>
                </a:lnTo>
                <a:lnTo>
                  <a:pt x="1201826" y="521969"/>
                </a:lnTo>
                <a:lnTo>
                  <a:pt x="1200086" y="516889"/>
                </a:lnTo>
                <a:lnTo>
                  <a:pt x="1198867" y="511810"/>
                </a:lnTo>
                <a:lnTo>
                  <a:pt x="1198600" y="511810"/>
                </a:lnTo>
                <a:lnTo>
                  <a:pt x="1197229" y="505460"/>
                </a:lnTo>
                <a:lnTo>
                  <a:pt x="1196085" y="500380"/>
                </a:lnTo>
                <a:lnTo>
                  <a:pt x="1195158" y="495300"/>
                </a:lnTo>
                <a:lnTo>
                  <a:pt x="1194434" y="490219"/>
                </a:lnTo>
                <a:lnTo>
                  <a:pt x="1194028" y="485139"/>
                </a:lnTo>
                <a:lnTo>
                  <a:pt x="1193873" y="483869"/>
                </a:lnTo>
                <a:lnTo>
                  <a:pt x="1193675" y="480060"/>
                </a:lnTo>
                <a:lnTo>
                  <a:pt x="1193609" y="478789"/>
                </a:lnTo>
                <a:lnTo>
                  <a:pt x="1193507" y="473710"/>
                </a:lnTo>
                <a:lnTo>
                  <a:pt x="1193393" y="468630"/>
                </a:lnTo>
                <a:lnTo>
                  <a:pt x="1193129" y="463550"/>
                </a:lnTo>
                <a:lnTo>
                  <a:pt x="1193063" y="462280"/>
                </a:lnTo>
                <a:lnTo>
                  <a:pt x="1192504" y="457200"/>
                </a:lnTo>
                <a:lnTo>
                  <a:pt x="1191874" y="452119"/>
                </a:lnTo>
                <a:close/>
              </a:path>
              <a:path w="2376804" h="990600">
                <a:moveTo>
                  <a:pt x="2367463" y="937260"/>
                </a:moveTo>
                <a:lnTo>
                  <a:pt x="2366772" y="937260"/>
                </a:lnTo>
                <a:lnTo>
                  <a:pt x="2366708" y="947419"/>
                </a:lnTo>
                <a:lnTo>
                  <a:pt x="2367400" y="947419"/>
                </a:lnTo>
                <a:lnTo>
                  <a:pt x="2376193" y="942341"/>
                </a:lnTo>
                <a:lnTo>
                  <a:pt x="2367463" y="937260"/>
                </a:lnTo>
                <a:close/>
              </a:path>
              <a:path w="2376804" h="990600">
                <a:moveTo>
                  <a:pt x="2364371" y="938530"/>
                </a:moveTo>
                <a:lnTo>
                  <a:pt x="2357814" y="942341"/>
                </a:lnTo>
                <a:lnTo>
                  <a:pt x="2364320" y="946150"/>
                </a:lnTo>
                <a:lnTo>
                  <a:pt x="2364371" y="938530"/>
                </a:lnTo>
                <a:close/>
              </a:path>
              <a:path w="2376804" h="990600">
                <a:moveTo>
                  <a:pt x="2366764" y="938530"/>
                </a:moveTo>
                <a:lnTo>
                  <a:pt x="2364371" y="938530"/>
                </a:lnTo>
                <a:lnTo>
                  <a:pt x="2364320" y="946150"/>
                </a:lnTo>
                <a:lnTo>
                  <a:pt x="2366716" y="946150"/>
                </a:lnTo>
                <a:lnTo>
                  <a:pt x="2366764" y="938530"/>
                </a:lnTo>
                <a:close/>
              </a:path>
              <a:path w="2376804" h="990600">
                <a:moveTo>
                  <a:pt x="2291689" y="892810"/>
                </a:moveTo>
                <a:lnTo>
                  <a:pt x="2290038" y="892810"/>
                </a:lnTo>
                <a:lnTo>
                  <a:pt x="2288476" y="894080"/>
                </a:lnTo>
                <a:lnTo>
                  <a:pt x="2287206" y="894080"/>
                </a:lnTo>
                <a:lnTo>
                  <a:pt x="2286355" y="895350"/>
                </a:lnTo>
                <a:lnTo>
                  <a:pt x="2286050" y="897889"/>
                </a:lnTo>
                <a:lnTo>
                  <a:pt x="2286330" y="899160"/>
                </a:lnTo>
                <a:lnTo>
                  <a:pt x="2287143" y="900430"/>
                </a:lnTo>
                <a:lnTo>
                  <a:pt x="2288387" y="901700"/>
                </a:lnTo>
                <a:lnTo>
                  <a:pt x="2357814" y="942341"/>
                </a:lnTo>
                <a:lnTo>
                  <a:pt x="2364371" y="938530"/>
                </a:lnTo>
                <a:lnTo>
                  <a:pt x="2366764" y="938530"/>
                </a:lnTo>
                <a:lnTo>
                  <a:pt x="2366772" y="937260"/>
                </a:lnTo>
                <a:lnTo>
                  <a:pt x="2367463" y="937260"/>
                </a:lnTo>
                <a:lnTo>
                  <a:pt x="2293239" y="894080"/>
                </a:lnTo>
                <a:lnTo>
                  <a:pt x="2291689" y="892810"/>
                </a:lnTo>
                <a:close/>
              </a:path>
              <a:path w="2376804" h="990600">
                <a:moveTo>
                  <a:pt x="1233812" y="580325"/>
                </a:moveTo>
                <a:lnTo>
                  <a:pt x="1233772" y="580458"/>
                </a:lnTo>
                <a:lnTo>
                  <a:pt x="1234459" y="581291"/>
                </a:lnTo>
                <a:lnTo>
                  <a:pt x="1233901" y="580458"/>
                </a:lnTo>
                <a:lnTo>
                  <a:pt x="1233812" y="580325"/>
                </a:lnTo>
                <a:close/>
              </a:path>
              <a:path w="2376804" h="990600">
                <a:moveTo>
                  <a:pt x="1198562" y="510539"/>
                </a:moveTo>
                <a:lnTo>
                  <a:pt x="1198600" y="511810"/>
                </a:lnTo>
                <a:lnTo>
                  <a:pt x="1198867" y="511810"/>
                </a:lnTo>
                <a:lnTo>
                  <a:pt x="1198562" y="510539"/>
                </a:lnTo>
                <a:close/>
              </a:path>
              <a:path w="2376804" h="990600">
                <a:moveTo>
                  <a:pt x="50" y="0"/>
                </a:moveTo>
                <a:lnTo>
                  <a:pt x="0" y="10160"/>
                </a:lnTo>
                <a:lnTo>
                  <a:pt x="27800" y="10160"/>
                </a:lnTo>
                <a:lnTo>
                  <a:pt x="55587" y="11430"/>
                </a:lnTo>
                <a:lnTo>
                  <a:pt x="83350" y="11430"/>
                </a:lnTo>
                <a:lnTo>
                  <a:pt x="138734" y="13969"/>
                </a:lnTo>
                <a:lnTo>
                  <a:pt x="166331" y="16510"/>
                </a:lnTo>
                <a:lnTo>
                  <a:pt x="193852" y="17780"/>
                </a:lnTo>
                <a:lnTo>
                  <a:pt x="248589" y="22860"/>
                </a:lnTo>
                <a:lnTo>
                  <a:pt x="275793" y="26669"/>
                </a:lnTo>
                <a:lnTo>
                  <a:pt x="302844" y="29210"/>
                </a:lnTo>
                <a:lnTo>
                  <a:pt x="383070" y="40639"/>
                </a:lnTo>
                <a:lnTo>
                  <a:pt x="435622" y="50800"/>
                </a:lnTo>
                <a:lnTo>
                  <a:pt x="461581" y="54610"/>
                </a:lnTo>
                <a:lnTo>
                  <a:pt x="487299" y="60960"/>
                </a:lnTo>
                <a:lnTo>
                  <a:pt x="538010" y="71119"/>
                </a:lnTo>
                <a:lnTo>
                  <a:pt x="659752" y="102869"/>
                </a:lnTo>
                <a:lnTo>
                  <a:pt x="683132" y="110489"/>
                </a:lnTo>
                <a:lnTo>
                  <a:pt x="706158" y="116839"/>
                </a:lnTo>
                <a:lnTo>
                  <a:pt x="772972" y="139700"/>
                </a:lnTo>
                <a:lnTo>
                  <a:pt x="794448" y="148589"/>
                </a:lnTo>
                <a:lnTo>
                  <a:pt x="815492" y="156210"/>
                </a:lnTo>
                <a:lnTo>
                  <a:pt x="836104" y="165100"/>
                </a:lnTo>
                <a:lnTo>
                  <a:pt x="875969" y="181610"/>
                </a:lnTo>
                <a:lnTo>
                  <a:pt x="913904" y="199389"/>
                </a:lnTo>
                <a:lnTo>
                  <a:pt x="949832" y="217169"/>
                </a:lnTo>
                <a:lnTo>
                  <a:pt x="966990" y="227330"/>
                </a:lnTo>
                <a:lnTo>
                  <a:pt x="983615" y="236219"/>
                </a:lnTo>
                <a:lnTo>
                  <a:pt x="999667" y="246380"/>
                </a:lnTo>
                <a:lnTo>
                  <a:pt x="1015149" y="255269"/>
                </a:lnTo>
                <a:lnTo>
                  <a:pt x="1030046" y="265430"/>
                </a:lnTo>
                <a:lnTo>
                  <a:pt x="1071067" y="295910"/>
                </a:lnTo>
                <a:lnTo>
                  <a:pt x="1106284" y="326389"/>
                </a:lnTo>
                <a:lnTo>
                  <a:pt x="1135481" y="356869"/>
                </a:lnTo>
                <a:lnTo>
                  <a:pt x="1143736" y="368300"/>
                </a:lnTo>
                <a:lnTo>
                  <a:pt x="1151267" y="378460"/>
                </a:lnTo>
                <a:lnTo>
                  <a:pt x="1154645" y="383539"/>
                </a:lnTo>
                <a:lnTo>
                  <a:pt x="1157947" y="388619"/>
                </a:lnTo>
                <a:lnTo>
                  <a:pt x="1161046" y="393700"/>
                </a:lnTo>
                <a:lnTo>
                  <a:pt x="1164018" y="400050"/>
                </a:lnTo>
                <a:lnTo>
                  <a:pt x="1166685" y="405130"/>
                </a:lnTo>
                <a:lnTo>
                  <a:pt x="1169212" y="410210"/>
                </a:lnTo>
                <a:lnTo>
                  <a:pt x="1171600" y="415289"/>
                </a:lnTo>
                <a:lnTo>
                  <a:pt x="1173733" y="420369"/>
                </a:lnTo>
                <a:lnTo>
                  <a:pt x="1175664" y="426719"/>
                </a:lnTo>
                <a:lnTo>
                  <a:pt x="1177404" y="431800"/>
                </a:lnTo>
                <a:lnTo>
                  <a:pt x="1178941" y="436880"/>
                </a:lnTo>
                <a:lnTo>
                  <a:pt x="1180274" y="441960"/>
                </a:lnTo>
                <a:lnTo>
                  <a:pt x="1181404" y="447039"/>
                </a:lnTo>
                <a:lnTo>
                  <a:pt x="1182331" y="453389"/>
                </a:lnTo>
                <a:lnTo>
                  <a:pt x="1182306" y="452119"/>
                </a:lnTo>
                <a:lnTo>
                  <a:pt x="1191874" y="452119"/>
                </a:lnTo>
                <a:lnTo>
                  <a:pt x="1191717" y="450850"/>
                </a:lnTo>
                <a:lnTo>
                  <a:pt x="1190726" y="445769"/>
                </a:lnTo>
                <a:lnTo>
                  <a:pt x="1189558" y="440689"/>
                </a:lnTo>
                <a:lnTo>
                  <a:pt x="1189507" y="439419"/>
                </a:lnTo>
                <a:lnTo>
                  <a:pt x="1188084" y="434339"/>
                </a:lnTo>
                <a:lnTo>
                  <a:pt x="1186459" y="429260"/>
                </a:lnTo>
                <a:lnTo>
                  <a:pt x="1184617" y="422910"/>
                </a:lnTo>
                <a:lnTo>
                  <a:pt x="1182573" y="417830"/>
                </a:lnTo>
                <a:lnTo>
                  <a:pt x="1180325" y="411480"/>
                </a:lnTo>
                <a:lnTo>
                  <a:pt x="1177874" y="406400"/>
                </a:lnTo>
                <a:lnTo>
                  <a:pt x="1175219" y="400050"/>
                </a:lnTo>
                <a:lnTo>
                  <a:pt x="1172375" y="394969"/>
                </a:lnTo>
                <a:lnTo>
                  <a:pt x="1169327" y="389889"/>
                </a:lnTo>
                <a:lnTo>
                  <a:pt x="1166101" y="383539"/>
                </a:lnTo>
                <a:lnTo>
                  <a:pt x="1162672" y="378460"/>
                </a:lnTo>
                <a:lnTo>
                  <a:pt x="1159027" y="373380"/>
                </a:lnTo>
                <a:lnTo>
                  <a:pt x="1151369" y="361950"/>
                </a:lnTo>
                <a:lnTo>
                  <a:pt x="1142707" y="351789"/>
                </a:lnTo>
                <a:lnTo>
                  <a:pt x="1133475" y="340360"/>
                </a:lnTo>
                <a:lnTo>
                  <a:pt x="1123530" y="330200"/>
                </a:lnTo>
                <a:lnTo>
                  <a:pt x="1089609" y="298450"/>
                </a:lnTo>
                <a:lnTo>
                  <a:pt x="1049858" y="267969"/>
                </a:lnTo>
                <a:lnTo>
                  <a:pt x="1004633" y="237489"/>
                </a:lnTo>
                <a:lnTo>
                  <a:pt x="988402" y="228600"/>
                </a:lnTo>
                <a:lnTo>
                  <a:pt x="971626" y="218439"/>
                </a:lnTo>
                <a:lnTo>
                  <a:pt x="954290" y="209550"/>
                </a:lnTo>
                <a:lnTo>
                  <a:pt x="936447" y="199389"/>
                </a:lnTo>
                <a:lnTo>
                  <a:pt x="918070" y="190500"/>
                </a:lnTo>
                <a:lnTo>
                  <a:pt x="899210" y="181610"/>
                </a:lnTo>
                <a:lnTo>
                  <a:pt x="879856" y="172719"/>
                </a:lnTo>
                <a:lnTo>
                  <a:pt x="860018" y="163830"/>
                </a:lnTo>
                <a:lnTo>
                  <a:pt x="839723" y="156210"/>
                </a:lnTo>
                <a:lnTo>
                  <a:pt x="818984" y="147319"/>
                </a:lnTo>
                <a:lnTo>
                  <a:pt x="797814" y="139700"/>
                </a:lnTo>
                <a:lnTo>
                  <a:pt x="776223" y="130810"/>
                </a:lnTo>
                <a:lnTo>
                  <a:pt x="709053" y="107950"/>
                </a:lnTo>
                <a:lnTo>
                  <a:pt x="685914" y="101600"/>
                </a:lnTo>
                <a:lnTo>
                  <a:pt x="662432" y="93980"/>
                </a:lnTo>
                <a:lnTo>
                  <a:pt x="614438" y="81280"/>
                </a:lnTo>
                <a:lnTo>
                  <a:pt x="589965" y="73660"/>
                </a:lnTo>
                <a:lnTo>
                  <a:pt x="565200" y="68580"/>
                </a:lnTo>
                <a:lnTo>
                  <a:pt x="540143" y="62230"/>
                </a:lnTo>
                <a:lnTo>
                  <a:pt x="514819" y="57150"/>
                </a:lnTo>
                <a:lnTo>
                  <a:pt x="489229" y="50800"/>
                </a:lnTo>
                <a:lnTo>
                  <a:pt x="437349" y="40639"/>
                </a:lnTo>
                <a:lnTo>
                  <a:pt x="411073" y="36830"/>
                </a:lnTo>
                <a:lnTo>
                  <a:pt x="384581" y="31750"/>
                </a:lnTo>
                <a:lnTo>
                  <a:pt x="276885" y="16510"/>
                </a:lnTo>
                <a:lnTo>
                  <a:pt x="167005" y="6350"/>
                </a:lnTo>
                <a:lnTo>
                  <a:pt x="55816" y="1269"/>
                </a:lnTo>
                <a:lnTo>
                  <a:pt x="27914" y="1269"/>
                </a:lnTo>
                <a:lnTo>
                  <a:pt x="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7980" y="2566784"/>
            <a:ext cx="884543" cy="348195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06771" y="2561005"/>
            <a:ext cx="926207" cy="369722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07578" y="2502179"/>
            <a:ext cx="384390" cy="5600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2340" rIns="0" bIns="0" rtlCol="0" vert="horz">
            <a:spAutoFit/>
          </a:bodyPr>
          <a:lstStyle/>
          <a:p>
            <a:pPr marL="117856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Microsoft YaHei UI"/>
                <a:cs typeface="Microsoft YaHei UI"/>
              </a:rPr>
              <a:t>Radial-Basis</a:t>
            </a:r>
            <a:r>
              <a:rPr dirty="0" spc="285">
                <a:latin typeface="Microsoft YaHei UI"/>
                <a:cs typeface="Microsoft YaHei UI"/>
              </a:rPr>
              <a:t> </a:t>
            </a:r>
            <a:r>
              <a:rPr dirty="0" spc="-10">
                <a:latin typeface="Microsoft YaHei UI"/>
                <a:cs typeface="Microsoft YaHei UI"/>
              </a:rPr>
              <a:t>Functions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60317" y="2910649"/>
            <a:ext cx="1923414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51510" algn="l"/>
                <a:tab pos="1184275" algn="l"/>
                <a:tab pos="1767839" algn="l"/>
              </a:tabLst>
            </a:pPr>
            <a:r>
              <a:rPr dirty="0" sz="2900" spc="290">
                <a:latin typeface="Microsoft YaHei UI"/>
                <a:cs typeface="Microsoft YaHei UI"/>
              </a:rPr>
              <a:t>|</a:t>
            </a:r>
            <a:r>
              <a:rPr dirty="0" sz="2900">
                <a:latin typeface="Microsoft YaHei UI"/>
                <a:cs typeface="Microsoft YaHei UI"/>
              </a:rPr>
              <a:t>	</a:t>
            </a:r>
            <a:r>
              <a:rPr dirty="0" sz="2900" spc="290">
                <a:latin typeface="Microsoft YaHei UI"/>
                <a:cs typeface="Microsoft YaHei UI"/>
              </a:rPr>
              <a:t>|</a:t>
            </a:r>
            <a:r>
              <a:rPr dirty="0" sz="2900">
                <a:latin typeface="Microsoft YaHei UI"/>
                <a:cs typeface="Microsoft YaHei UI"/>
              </a:rPr>
              <a:t>	</a:t>
            </a:r>
            <a:r>
              <a:rPr dirty="0" sz="2900" spc="290">
                <a:latin typeface="Microsoft YaHei UI"/>
                <a:cs typeface="Microsoft YaHei UI"/>
              </a:rPr>
              <a:t>|</a:t>
            </a:r>
            <a:r>
              <a:rPr dirty="0" sz="2900">
                <a:latin typeface="Microsoft YaHei UI"/>
                <a:cs typeface="Microsoft YaHei UI"/>
              </a:rPr>
              <a:t>	</a:t>
            </a:r>
            <a:r>
              <a:rPr dirty="0" sz="2900" spc="290">
                <a:latin typeface="Microsoft YaHei UI"/>
                <a:cs typeface="Microsoft YaHei UI"/>
              </a:rPr>
              <a:t>|</a:t>
            </a:r>
            <a:endParaRPr sz="2900">
              <a:latin typeface="Microsoft YaHei UI"/>
              <a:cs typeface="Microsoft YaHei U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209787" y="2734652"/>
            <a:ext cx="3869054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2002155" algn="l"/>
                <a:tab pos="3117850" algn="l"/>
              </a:tabLst>
            </a:pPr>
            <a:r>
              <a:rPr dirty="0" sz="2900">
                <a:latin typeface="Microsoft YaHei UI"/>
                <a:cs typeface="Microsoft YaHei UI"/>
              </a:rPr>
              <a:t>Ф</a:t>
            </a:r>
            <a:r>
              <a:rPr dirty="0" sz="2900" i="1">
                <a:latin typeface="Times New Roman"/>
                <a:cs typeface="Times New Roman"/>
              </a:rPr>
              <a:t>W</a:t>
            </a:r>
            <a:r>
              <a:rPr dirty="0" sz="2900" spc="305" i="1">
                <a:latin typeface="Times New Roman"/>
                <a:cs typeface="Times New Roman"/>
              </a:rPr>
              <a:t> </a:t>
            </a:r>
            <a:r>
              <a:rPr dirty="0" sz="2900" spc="-560">
                <a:latin typeface="Microsoft YaHei UI"/>
                <a:cs typeface="Microsoft YaHei UI"/>
              </a:rPr>
              <a:t>=</a:t>
            </a:r>
            <a:r>
              <a:rPr dirty="0" sz="2900" spc="-229">
                <a:latin typeface="Microsoft YaHei UI"/>
                <a:cs typeface="Microsoft YaHei UI"/>
              </a:rPr>
              <a:t> </a:t>
            </a:r>
            <a:r>
              <a:rPr dirty="0" sz="2900" spc="65">
                <a:latin typeface="Microsoft YaHei UI"/>
                <a:cs typeface="Microsoft YaHei UI"/>
              </a:rPr>
              <a:t>Ф</a:t>
            </a:r>
            <a:r>
              <a:rPr dirty="0" baseline="26819" sz="4350" spc="97">
                <a:latin typeface="Microsoft YaHei UI"/>
                <a:cs typeface="Microsoft YaHei UI"/>
              </a:rPr>
              <a:t>|</a:t>
            </a:r>
            <a:r>
              <a:rPr dirty="0" sz="2900" spc="65">
                <a:latin typeface="Microsoft YaHei UI"/>
                <a:cs typeface="Microsoft YaHei UI"/>
              </a:rPr>
              <a:t>...</a:t>
            </a:r>
            <a:r>
              <a:rPr dirty="0" sz="2900">
                <a:latin typeface="Microsoft YaHei UI"/>
                <a:cs typeface="Microsoft YaHei UI"/>
              </a:rPr>
              <a:t>	</a:t>
            </a:r>
            <a:r>
              <a:rPr dirty="0" baseline="26819" sz="4350" spc="509">
                <a:latin typeface="Microsoft YaHei UI"/>
                <a:cs typeface="Microsoft YaHei UI"/>
              </a:rPr>
              <a:t>|</a:t>
            </a:r>
            <a:r>
              <a:rPr dirty="0" baseline="26819" sz="4350" spc="-172">
                <a:latin typeface="Microsoft YaHei UI"/>
                <a:cs typeface="Microsoft YaHei UI"/>
              </a:rPr>
              <a:t> </a:t>
            </a:r>
            <a:r>
              <a:rPr dirty="0" sz="2900" spc="-560">
                <a:latin typeface="Microsoft YaHei UI"/>
                <a:cs typeface="Microsoft YaHei UI"/>
              </a:rPr>
              <a:t>=</a:t>
            </a:r>
            <a:r>
              <a:rPr dirty="0" sz="2900" spc="-140">
                <a:latin typeface="Microsoft YaHei UI"/>
                <a:cs typeface="Microsoft YaHei UI"/>
              </a:rPr>
              <a:t> </a:t>
            </a:r>
            <a:r>
              <a:rPr dirty="0" baseline="26819" sz="4350" spc="82">
                <a:latin typeface="Microsoft YaHei UI"/>
                <a:cs typeface="Microsoft YaHei UI"/>
              </a:rPr>
              <a:t>|</a:t>
            </a:r>
            <a:r>
              <a:rPr dirty="0" sz="2900" spc="55">
                <a:latin typeface="Microsoft YaHei UI"/>
                <a:cs typeface="Microsoft YaHei UI"/>
              </a:rPr>
              <a:t>...</a:t>
            </a:r>
            <a:r>
              <a:rPr dirty="0" sz="2900">
                <a:latin typeface="Microsoft YaHei UI"/>
                <a:cs typeface="Microsoft YaHei UI"/>
              </a:rPr>
              <a:t>	</a:t>
            </a:r>
            <a:r>
              <a:rPr dirty="0" baseline="26819" sz="4350" spc="509">
                <a:latin typeface="Microsoft YaHei UI"/>
                <a:cs typeface="Microsoft YaHei UI"/>
              </a:rPr>
              <a:t>|</a:t>
            </a:r>
            <a:r>
              <a:rPr dirty="0" baseline="26819" sz="4350" spc="-172">
                <a:latin typeface="Microsoft YaHei UI"/>
                <a:cs typeface="Microsoft YaHei UI"/>
              </a:rPr>
              <a:t> </a:t>
            </a:r>
            <a:r>
              <a:rPr dirty="0" sz="2900" spc="-560">
                <a:latin typeface="Microsoft YaHei UI"/>
                <a:cs typeface="Microsoft YaHei UI"/>
              </a:rPr>
              <a:t>=</a:t>
            </a:r>
            <a:r>
              <a:rPr dirty="0" sz="2900" spc="-185">
                <a:latin typeface="Microsoft YaHei UI"/>
                <a:cs typeface="Microsoft YaHei UI"/>
              </a:rPr>
              <a:t> </a:t>
            </a:r>
            <a:r>
              <a:rPr dirty="0" sz="2900" spc="-50" i="1">
                <a:latin typeface="Times New Roman"/>
                <a:cs typeface="Times New Roman"/>
              </a:rPr>
              <a:t>d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56540" y="3105767"/>
            <a:ext cx="8164830" cy="2981325"/>
          </a:xfrm>
          <a:prstGeom prst="rect">
            <a:avLst/>
          </a:prstGeom>
        </p:spPr>
        <p:txBody>
          <a:bodyPr wrap="square" lIns="0" tIns="175895" rIns="0" bIns="0" rtlCol="0" vert="horz">
            <a:spAutoFit/>
          </a:bodyPr>
          <a:lstStyle/>
          <a:p>
            <a:pPr algn="ctr" marL="365760">
              <a:lnSpc>
                <a:spcPct val="100000"/>
              </a:lnSpc>
              <a:spcBef>
                <a:spcPts val="1385"/>
              </a:spcBef>
              <a:tabLst>
                <a:tab pos="1537335" algn="l"/>
              </a:tabLst>
            </a:pPr>
            <a:r>
              <a:rPr dirty="0" sz="2900" spc="-680">
                <a:latin typeface="Microsoft YaHei UI"/>
                <a:cs typeface="Microsoft YaHei UI"/>
              </a:rPr>
              <a:t>|</a:t>
            </a:r>
            <a:r>
              <a:rPr dirty="0" baseline="-20114" sz="4350" spc="-1019">
                <a:latin typeface="Microsoft YaHei UI"/>
                <a:cs typeface="Microsoft YaHei UI"/>
              </a:rPr>
              <a:t></a:t>
            </a:r>
            <a:r>
              <a:rPr dirty="0" baseline="-3831" sz="4350" spc="-1019" i="1">
                <a:latin typeface="Times New Roman"/>
                <a:cs typeface="Times New Roman"/>
              </a:rPr>
              <a:t>w</a:t>
            </a:r>
            <a:r>
              <a:rPr dirty="0" baseline="-31045" sz="2550" spc="-1019">
                <a:latin typeface="Microsoft YaHei UI"/>
                <a:cs typeface="Microsoft YaHei UI"/>
              </a:rPr>
              <a:t>M</a:t>
            </a:r>
            <a:r>
              <a:rPr dirty="0" baseline="-31045" sz="2550" spc="-89">
                <a:latin typeface="Microsoft YaHei UI"/>
                <a:cs typeface="Microsoft YaHei UI"/>
              </a:rPr>
              <a:t> </a:t>
            </a:r>
            <a:r>
              <a:rPr dirty="0" sz="2900" spc="-730">
                <a:latin typeface="Microsoft YaHei UI"/>
                <a:cs typeface="Microsoft YaHei UI"/>
              </a:rPr>
              <a:t>|</a:t>
            </a:r>
            <a:r>
              <a:rPr dirty="0" baseline="-20114" sz="4350" spc="82">
                <a:latin typeface="Microsoft YaHei UI"/>
                <a:cs typeface="Microsoft YaHei UI"/>
              </a:rPr>
              <a:t>]</a:t>
            </a:r>
            <a:r>
              <a:rPr dirty="0" baseline="-20114" sz="4350">
                <a:latin typeface="Microsoft YaHei UI"/>
                <a:cs typeface="Microsoft YaHei UI"/>
              </a:rPr>
              <a:t>	</a:t>
            </a:r>
            <a:r>
              <a:rPr dirty="0" sz="2900" spc="-875">
                <a:latin typeface="Microsoft YaHei UI"/>
                <a:cs typeface="Microsoft YaHei UI"/>
              </a:rPr>
              <a:t>|</a:t>
            </a:r>
            <a:r>
              <a:rPr dirty="0" baseline="-20114" sz="4350" spc="-1312">
                <a:latin typeface="Microsoft YaHei UI"/>
                <a:cs typeface="Microsoft YaHei UI"/>
              </a:rPr>
              <a:t></a:t>
            </a:r>
            <a:r>
              <a:rPr dirty="0" baseline="-3831" sz="4350" spc="-1312" i="1">
                <a:latin typeface="Times New Roman"/>
                <a:cs typeface="Times New Roman"/>
              </a:rPr>
              <a:t>d</a:t>
            </a:r>
            <a:r>
              <a:rPr dirty="0" baseline="-3831" sz="4350" spc="-719" i="1">
                <a:latin typeface="Times New Roman"/>
                <a:cs typeface="Times New Roman"/>
              </a:rPr>
              <a:t> </a:t>
            </a:r>
            <a:r>
              <a:rPr dirty="0" baseline="-31045" sz="2550" i="1">
                <a:latin typeface="Times New Roman"/>
                <a:cs typeface="Times New Roman"/>
              </a:rPr>
              <a:t>N</a:t>
            </a:r>
            <a:r>
              <a:rPr dirty="0" baseline="-31045" sz="2550" spc="209" i="1">
                <a:latin typeface="Times New Roman"/>
                <a:cs typeface="Times New Roman"/>
              </a:rPr>
              <a:t> </a:t>
            </a:r>
            <a:r>
              <a:rPr dirty="0" sz="2900" spc="-730">
                <a:latin typeface="Microsoft YaHei UI"/>
                <a:cs typeface="Microsoft YaHei UI"/>
              </a:rPr>
              <a:t>|</a:t>
            </a:r>
            <a:r>
              <a:rPr dirty="0" baseline="-20114" sz="4350" spc="82">
                <a:latin typeface="Microsoft YaHei UI"/>
                <a:cs typeface="Microsoft YaHei UI"/>
              </a:rPr>
              <a:t>]</a:t>
            </a:r>
            <a:endParaRPr baseline="-20114" sz="4350">
              <a:latin typeface="Microsoft YaHei UI"/>
              <a:cs typeface="Microsoft YaHei UI"/>
            </a:endParaRPr>
          </a:p>
          <a:p>
            <a:pPr marL="50800" marR="290830">
              <a:lnSpc>
                <a:spcPts val="3020"/>
              </a:lnSpc>
              <a:spcBef>
                <a:spcPts val="1595"/>
              </a:spcBef>
            </a:pPr>
            <a:r>
              <a:rPr dirty="0" sz="2800" spc="-200">
                <a:latin typeface="Microsoft YaHei UI"/>
                <a:cs typeface="Microsoft YaHei UI"/>
              </a:rPr>
              <a:t>The</a:t>
            </a:r>
            <a:r>
              <a:rPr dirty="0" sz="2800" spc="-105">
                <a:latin typeface="Microsoft YaHei UI"/>
                <a:cs typeface="Microsoft YaHei UI"/>
              </a:rPr>
              <a:t> </a:t>
            </a:r>
            <a:r>
              <a:rPr dirty="0" sz="2800" spc="-295">
                <a:latin typeface="Microsoft YaHei UI"/>
                <a:cs typeface="Microsoft YaHei UI"/>
              </a:rPr>
              <a:t>unknown</a:t>
            </a:r>
            <a:r>
              <a:rPr dirty="0" sz="2800" spc="-105">
                <a:latin typeface="Microsoft YaHei UI"/>
                <a:cs typeface="Microsoft YaHei UI"/>
              </a:rPr>
              <a:t> </a:t>
            </a:r>
            <a:r>
              <a:rPr dirty="0" sz="2800" spc="-254">
                <a:latin typeface="Microsoft YaHei UI"/>
                <a:cs typeface="Microsoft YaHei UI"/>
              </a:rPr>
              <a:t>weights</a:t>
            </a:r>
            <a:r>
              <a:rPr dirty="0" sz="2800" spc="-110">
                <a:latin typeface="Microsoft YaHei UI"/>
                <a:cs typeface="Microsoft YaHei UI"/>
              </a:rPr>
              <a:t> </a:t>
            </a:r>
            <a:r>
              <a:rPr dirty="0" sz="2800" spc="-270">
                <a:latin typeface="Microsoft YaHei UI"/>
                <a:cs typeface="Microsoft YaHei UI"/>
              </a:rPr>
              <a:t>can</a:t>
            </a:r>
            <a:r>
              <a:rPr dirty="0" sz="2800" spc="-105">
                <a:latin typeface="Microsoft YaHei UI"/>
                <a:cs typeface="Microsoft YaHei UI"/>
              </a:rPr>
              <a:t> </a:t>
            </a:r>
            <a:r>
              <a:rPr dirty="0" sz="2800" spc="-375">
                <a:latin typeface="Microsoft YaHei UI"/>
                <a:cs typeface="Microsoft YaHei UI"/>
              </a:rPr>
              <a:t>be</a:t>
            </a:r>
            <a:r>
              <a:rPr dirty="0" sz="2800" spc="-100">
                <a:latin typeface="Microsoft YaHei UI"/>
                <a:cs typeface="Microsoft YaHei UI"/>
              </a:rPr>
              <a:t> </a:t>
            </a:r>
            <a:r>
              <a:rPr dirty="0" sz="2800" spc="-300">
                <a:latin typeface="Microsoft YaHei UI"/>
                <a:cs typeface="Microsoft YaHei UI"/>
              </a:rPr>
              <a:t>found</a:t>
            </a:r>
            <a:r>
              <a:rPr dirty="0" sz="2800" spc="-110">
                <a:latin typeface="Microsoft YaHei UI"/>
                <a:cs typeface="Microsoft YaHei UI"/>
              </a:rPr>
              <a:t> </a:t>
            </a:r>
            <a:r>
              <a:rPr dirty="0" sz="2800" spc="-254">
                <a:latin typeface="Microsoft YaHei UI"/>
                <a:cs typeface="Microsoft YaHei UI"/>
              </a:rPr>
              <a:t>by</a:t>
            </a:r>
            <a:r>
              <a:rPr dirty="0" sz="2800" spc="-105">
                <a:latin typeface="Microsoft YaHei UI"/>
                <a:cs typeface="Microsoft YaHei UI"/>
              </a:rPr>
              <a:t> </a:t>
            </a:r>
            <a:r>
              <a:rPr dirty="0" sz="2800" spc="-204">
                <a:latin typeface="Microsoft YaHei UI"/>
                <a:cs typeface="Microsoft YaHei UI"/>
              </a:rPr>
              <a:t>solving</a:t>
            </a:r>
            <a:r>
              <a:rPr dirty="0" sz="2800" spc="-110">
                <a:latin typeface="Microsoft YaHei UI"/>
                <a:cs typeface="Microsoft YaHei UI"/>
              </a:rPr>
              <a:t> </a:t>
            </a:r>
            <a:r>
              <a:rPr dirty="0" sz="2800" spc="-345">
                <a:latin typeface="Microsoft YaHei UI"/>
                <a:cs typeface="Microsoft YaHei UI"/>
              </a:rPr>
              <a:t>the </a:t>
            </a:r>
            <a:r>
              <a:rPr dirty="0" sz="2800" spc="-195">
                <a:latin typeface="Microsoft YaHei UI"/>
                <a:cs typeface="Microsoft YaHei UI"/>
              </a:rPr>
              <a:t>following</a:t>
            </a:r>
            <a:r>
              <a:rPr dirty="0" sz="2800" spc="-90">
                <a:latin typeface="Microsoft YaHei UI"/>
                <a:cs typeface="Microsoft YaHei UI"/>
              </a:rPr>
              <a:t> </a:t>
            </a:r>
            <a:r>
              <a:rPr dirty="0" sz="2800" spc="-190">
                <a:latin typeface="Microsoft YaHei UI"/>
                <a:cs typeface="Microsoft YaHei UI"/>
              </a:rPr>
              <a:t>linear</a:t>
            </a:r>
            <a:r>
              <a:rPr dirty="0" sz="2800" spc="-85">
                <a:latin typeface="Microsoft YaHei UI"/>
                <a:cs typeface="Microsoft YaHei UI"/>
              </a:rPr>
              <a:t> </a:t>
            </a:r>
            <a:r>
              <a:rPr dirty="0" sz="2800" spc="-210">
                <a:latin typeface="Microsoft YaHei UI"/>
                <a:cs typeface="Microsoft YaHei UI"/>
              </a:rPr>
              <a:t>matrix</a:t>
            </a:r>
            <a:r>
              <a:rPr dirty="0" sz="2800" spc="-85">
                <a:latin typeface="Microsoft YaHei UI"/>
                <a:cs typeface="Microsoft YaHei UI"/>
              </a:rPr>
              <a:t> </a:t>
            </a:r>
            <a:r>
              <a:rPr dirty="0" sz="2800" spc="-295">
                <a:latin typeface="Microsoft YaHei UI"/>
                <a:cs typeface="Microsoft YaHei UI"/>
              </a:rPr>
              <a:t>equation</a:t>
            </a:r>
            <a:r>
              <a:rPr dirty="0" sz="2800" spc="-90">
                <a:latin typeface="Microsoft YaHei UI"/>
                <a:cs typeface="Microsoft YaHei UI"/>
              </a:rPr>
              <a:t> </a:t>
            </a:r>
            <a:r>
              <a:rPr dirty="0" sz="2800" spc="-254">
                <a:latin typeface="Microsoft YaHei UI"/>
                <a:cs typeface="Microsoft YaHei UI"/>
              </a:rPr>
              <a:t>using</a:t>
            </a:r>
            <a:r>
              <a:rPr dirty="0" sz="2800" spc="-85">
                <a:latin typeface="Microsoft YaHei UI"/>
                <a:cs typeface="Microsoft YaHei UI"/>
              </a:rPr>
              <a:t> </a:t>
            </a:r>
            <a:r>
              <a:rPr dirty="0" sz="2800" spc="-340">
                <a:latin typeface="Microsoft YaHei UI"/>
                <a:cs typeface="Microsoft YaHei UI"/>
              </a:rPr>
              <a:t>pseudo-</a:t>
            </a:r>
            <a:r>
              <a:rPr dirty="0" sz="2800" spc="-130">
                <a:latin typeface="Microsoft YaHei UI"/>
                <a:cs typeface="Microsoft YaHei UI"/>
              </a:rPr>
              <a:t>inverse:</a:t>
            </a:r>
            <a:endParaRPr sz="2800">
              <a:latin typeface="Microsoft YaHei UI"/>
              <a:cs typeface="Microsoft YaHei UI"/>
            </a:endParaRPr>
          </a:p>
          <a:p>
            <a:pPr algn="ctr" marR="824865">
              <a:lnSpc>
                <a:spcPct val="100000"/>
              </a:lnSpc>
              <a:spcBef>
                <a:spcPts val="1035"/>
              </a:spcBef>
            </a:pPr>
            <a:r>
              <a:rPr dirty="0" sz="2650" i="1">
                <a:latin typeface="Times New Roman"/>
                <a:cs typeface="Times New Roman"/>
              </a:rPr>
              <a:t>W</a:t>
            </a:r>
            <a:r>
              <a:rPr dirty="0" sz="2650" spc="395" i="1">
                <a:latin typeface="Times New Roman"/>
                <a:cs typeface="Times New Roman"/>
              </a:rPr>
              <a:t> </a:t>
            </a:r>
            <a:r>
              <a:rPr dirty="0" sz="2650" spc="-515">
                <a:latin typeface="Microsoft YaHei UI"/>
                <a:cs typeface="Microsoft YaHei UI"/>
              </a:rPr>
              <a:t>=</a:t>
            </a:r>
            <a:r>
              <a:rPr dirty="0" sz="2650" spc="-170">
                <a:latin typeface="Microsoft YaHei UI"/>
                <a:cs typeface="Microsoft YaHei UI"/>
              </a:rPr>
              <a:t> </a:t>
            </a:r>
            <a:r>
              <a:rPr dirty="0" sz="2650">
                <a:latin typeface="Microsoft YaHei UI"/>
                <a:cs typeface="Microsoft YaHei UI"/>
              </a:rPr>
              <a:t>(Ф</a:t>
            </a:r>
            <a:r>
              <a:rPr dirty="0" baseline="43010" sz="2325">
                <a:latin typeface="Microsoft YaHei UI"/>
                <a:cs typeface="Microsoft YaHei UI"/>
              </a:rPr>
              <a:t>T</a:t>
            </a:r>
            <a:r>
              <a:rPr dirty="0" sz="2650">
                <a:latin typeface="Microsoft YaHei UI"/>
                <a:cs typeface="Microsoft YaHei UI"/>
              </a:rPr>
              <a:t>Ф)</a:t>
            </a:r>
            <a:r>
              <a:rPr dirty="0" baseline="43010" sz="2325">
                <a:latin typeface="Microsoft YaHei UI"/>
                <a:cs typeface="Microsoft YaHei UI"/>
              </a:rPr>
              <a:t>–1</a:t>
            </a:r>
            <a:r>
              <a:rPr dirty="0" baseline="43010" sz="2325" spc="-397">
                <a:latin typeface="Microsoft YaHei UI"/>
                <a:cs typeface="Microsoft YaHei UI"/>
              </a:rPr>
              <a:t> </a:t>
            </a:r>
            <a:r>
              <a:rPr dirty="0" sz="2650">
                <a:latin typeface="Microsoft YaHei UI"/>
                <a:cs typeface="Microsoft YaHei UI"/>
              </a:rPr>
              <a:t>Ф</a:t>
            </a:r>
            <a:r>
              <a:rPr dirty="0" baseline="43010" sz="2325" i="1">
                <a:latin typeface="Times New Roman"/>
                <a:cs typeface="Times New Roman"/>
              </a:rPr>
              <a:t>T</a:t>
            </a:r>
            <a:r>
              <a:rPr dirty="0" baseline="43010" sz="2325" spc="-37" i="1">
                <a:latin typeface="Times New Roman"/>
                <a:cs typeface="Times New Roman"/>
              </a:rPr>
              <a:t> </a:t>
            </a:r>
            <a:r>
              <a:rPr dirty="0" sz="2650" spc="-50" i="1">
                <a:latin typeface="Times New Roman"/>
                <a:cs typeface="Times New Roman"/>
              </a:rPr>
              <a:t>d</a:t>
            </a:r>
            <a:endParaRPr sz="2650">
              <a:latin typeface="Times New Roman"/>
              <a:cs typeface="Times New Roman"/>
            </a:endParaRPr>
          </a:p>
          <a:p>
            <a:pPr marL="393700" marR="43180" indent="-123825">
              <a:lnSpc>
                <a:spcPts val="3020"/>
              </a:lnSpc>
              <a:spcBef>
                <a:spcPts val="665"/>
              </a:spcBef>
              <a:tabLst>
                <a:tab pos="1351280" algn="l"/>
              </a:tabLst>
            </a:pPr>
            <a:r>
              <a:rPr dirty="0" sz="2800" spc="-220">
                <a:latin typeface="Microsoft YaHei UI"/>
                <a:cs typeface="Microsoft YaHei UI"/>
              </a:rPr>
              <a:t>where:</a:t>
            </a:r>
            <a:r>
              <a:rPr dirty="0" sz="2800" spc="-120">
                <a:latin typeface="Microsoft YaHei UI"/>
                <a:cs typeface="Microsoft YaHei UI"/>
              </a:rPr>
              <a:t> </a:t>
            </a:r>
            <a:r>
              <a:rPr dirty="0" sz="2800" i="1">
                <a:latin typeface="Times New Roman"/>
                <a:cs typeface="Times New Roman"/>
              </a:rPr>
              <a:t>W</a:t>
            </a:r>
            <a:r>
              <a:rPr dirty="0" sz="2800" spc="15" i="1">
                <a:latin typeface="Times New Roman"/>
                <a:cs typeface="Times New Roman"/>
              </a:rPr>
              <a:t> </a:t>
            </a:r>
            <a:r>
              <a:rPr dirty="0" sz="2800" spc="-100">
                <a:latin typeface="Microsoft YaHei UI"/>
                <a:cs typeface="Microsoft YaHei UI"/>
              </a:rPr>
              <a:t>is</a:t>
            </a:r>
            <a:r>
              <a:rPr dirty="0" sz="2800" spc="-114">
                <a:latin typeface="Microsoft YaHei UI"/>
                <a:cs typeface="Microsoft YaHei UI"/>
              </a:rPr>
              <a:t> </a:t>
            </a:r>
            <a:r>
              <a:rPr dirty="0" sz="2800" spc="-320">
                <a:latin typeface="Microsoft YaHei UI"/>
                <a:cs typeface="Microsoft YaHei UI"/>
              </a:rPr>
              <a:t>the</a:t>
            </a:r>
            <a:r>
              <a:rPr dirty="0" sz="2800" spc="-110">
                <a:latin typeface="Microsoft YaHei UI"/>
                <a:cs typeface="Microsoft YaHei UI"/>
              </a:rPr>
              <a:t> </a:t>
            </a:r>
            <a:r>
              <a:rPr dirty="0" sz="2800" spc="-254">
                <a:latin typeface="Microsoft YaHei UI"/>
                <a:cs typeface="Microsoft YaHei UI"/>
              </a:rPr>
              <a:t>weight</a:t>
            </a:r>
            <a:r>
              <a:rPr dirty="0" sz="2800" spc="-114">
                <a:latin typeface="Microsoft YaHei UI"/>
                <a:cs typeface="Microsoft YaHei UI"/>
              </a:rPr>
              <a:t> </a:t>
            </a:r>
            <a:r>
              <a:rPr dirty="0" sz="2800" spc="-210">
                <a:latin typeface="Microsoft YaHei UI"/>
                <a:cs typeface="Microsoft YaHei UI"/>
              </a:rPr>
              <a:t>vector,</a:t>
            </a:r>
            <a:r>
              <a:rPr dirty="0" sz="2800" spc="-114">
                <a:latin typeface="Microsoft YaHei UI"/>
                <a:cs typeface="Microsoft YaHei UI"/>
              </a:rPr>
              <a:t> </a:t>
            </a:r>
            <a:r>
              <a:rPr dirty="0" sz="2800" i="1">
                <a:latin typeface="Times New Roman"/>
                <a:cs typeface="Times New Roman"/>
              </a:rPr>
              <a:t>d</a:t>
            </a:r>
            <a:r>
              <a:rPr dirty="0" sz="2800" spc="15" i="1">
                <a:latin typeface="Times New Roman"/>
                <a:cs typeface="Times New Roman"/>
              </a:rPr>
              <a:t> </a:t>
            </a:r>
            <a:r>
              <a:rPr dirty="0" sz="2800" spc="-100">
                <a:latin typeface="Microsoft YaHei UI"/>
                <a:cs typeface="Microsoft YaHei UI"/>
              </a:rPr>
              <a:t>is</a:t>
            </a:r>
            <a:r>
              <a:rPr dirty="0" sz="2800" spc="-114">
                <a:latin typeface="Microsoft YaHei UI"/>
                <a:cs typeface="Microsoft YaHei UI"/>
              </a:rPr>
              <a:t> </a:t>
            </a:r>
            <a:r>
              <a:rPr dirty="0" sz="2800" spc="-320">
                <a:latin typeface="Microsoft YaHei UI"/>
                <a:cs typeface="Microsoft YaHei UI"/>
              </a:rPr>
              <a:t>the</a:t>
            </a:r>
            <a:r>
              <a:rPr dirty="0" sz="2800" spc="-110">
                <a:latin typeface="Microsoft YaHei UI"/>
                <a:cs typeface="Microsoft YaHei UI"/>
              </a:rPr>
              <a:t> </a:t>
            </a:r>
            <a:r>
              <a:rPr dirty="0" sz="2800" spc="-305">
                <a:latin typeface="Microsoft YaHei UI"/>
                <a:cs typeface="Microsoft YaHei UI"/>
              </a:rPr>
              <a:t>response</a:t>
            </a:r>
            <a:r>
              <a:rPr dirty="0" sz="2800" spc="-110">
                <a:latin typeface="Microsoft YaHei UI"/>
                <a:cs typeface="Microsoft YaHei UI"/>
              </a:rPr>
              <a:t> </a:t>
            </a:r>
            <a:r>
              <a:rPr dirty="0" sz="2800" spc="-150">
                <a:latin typeface="Microsoft YaHei UI"/>
                <a:cs typeface="Microsoft YaHei UI"/>
              </a:rPr>
              <a:t>vector, </a:t>
            </a:r>
            <a:r>
              <a:rPr dirty="0" sz="2800" spc="-345">
                <a:latin typeface="Microsoft YaHei UI"/>
                <a:cs typeface="Microsoft YaHei UI"/>
              </a:rPr>
              <a:t>and</a:t>
            </a:r>
            <a:r>
              <a:rPr dirty="0" sz="2800" spc="-75">
                <a:latin typeface="Microsoft YaHei UI"/>
                <a:cs typeface="Microsoft YaHei UI"/>
              </a:rPr>
              <a:t> </a:t>
            </a:r>
            <a:r>
              <a:rPr dirty="0" baseline="5291" sz="3150" spc="-75">
                <a:latin typeface="Microsoft YaHei UI"/>
                <a:cs typeface="Microsoft YaHei UI"/>
              </a:rPr>
              <a:t>Ф</a:t>
            </a:r>
            <a:r>
              <a:rPr dirty="0" baseline="5291" sz="3150">
                <a:latin typeface="Microsoft YaHei UI"/>
                <a:cs typeface="Microsoft YaHei UI"/>
              </a:rPr>
              <a:t>	</a:t>
            </a:r>
            <a:r>
              <a:rPr dirty="0" sz="2800" spc="-100">
                <a:latin typeface="Microsoft YaHei UI"/>
                <a:cs typeface="Microsoft YaHei UI"/>
              </a:rPr>
              <a:t>is</a:t>
            </a:r>
            <a:r>
              <a:rPr dirty="0" sz="2800" spc="-130">
                <a:latin typeface="Microsoft YaHei UI"/>
                <a:cs typeface="Microsoft YaHei UI"/>
              </a:rPr>
              <a:t> </a:t>
            </a:r>
            <a:r>
              <a:rPr dirty="0" sz="2800" spc="-320">
                <a:latin typeface="Microsoft YaHei UI"/>
                <a:cs typeface="Microsoft YaHei UI"/>
              </a:rPr>
              <a:t>the</a:t>
            </a:r>
            <a:r>
              <a:rPr dirty="0" sz="2800" spc="-125">
                <a:latin typeface="Microsoft YaHei UI"/>
                <a:cs typeface="Microsoft YaHei UI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r>
              <a:rPr dirty="0" sz="2800" spc="-3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matrix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199750" y="2198915"/>
            <a:ext cx="1283970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128395" algn="l"/>
              </a:tabLst>
            </a:pPr>
            <a:r>
              <a:rPr dirty="0" sz="2900" spc="-1850">
                <a:latin typeface="Microsoft YaHei UI"/>
                <a:cs typeface="Microsoft YaHei UI"/>
              </a:rPr>
              <a:t></a:t>
            </a:r>
            <a:r>
              <a:rPr dirty="0" sz="2900">
                <a:latin typeface="Microsoft YaHei UI"/>
                <a:cs typeface="Microsoft YaHei UI"/>
              </a:rPr>
              <a:t>	</a:t>
            </a:r>
            <a:r>
              <a:rPr dirty="0" sz="2900" spc="-1850">
                <a:latin typeface="Microsoft YaHei UI"/>
                <a:cs typeface="Microsoft YaHei UI"/>
              </a:rPr>
              <a:t></a:t>
            </a:r>
            <a:endParaRPr sz="2900">
              <a:latin typeface="Microsoft YaHei UI"/>
              <a:cs typeface="Microsoft YaHei U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522217" y="2171839"/>
            <a:ext cx="1715770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1222375" algn="l"/>
              </a:tabLst>
            </a:pPr>
            <a:r>
              <a:rPr dirty="0" baseline="-3831" sz="4350" spc="-2535">
                <a:latin typeface="Microsoft YaHei UI"/>
                <a:cs typeface="Microsoft YaHei UI"/>
              </a:rPr>
              <a:t>「</a:t>
            </a:r>
            <a:r>
              <a:rPr dirty="0" sz="2900" spc="-25" i="1">
                <a:latin typeface="Times New Roman"/>
                <a:cs typeface="Times New Roman"/>
              </a:rPr>
              <a:t>w</a:t>
            </a:r>
            <a:r>
              <a:rPr dirty="0" baseline="-24509" sz="2550" spc="-37">
                <a:latin typeface="Microsoft YaHei UI"/>
                <a:cs typeface="Microsoft YaHei UI"/>
              </a:rPr>
              <a:t>1</a:t>
            </a:r>
            <a:r>
              <a:rPr dirty="0" baseline="-24509" sz="2550">
                <a:latin typeface="Microsoft YaHei UI"/>
                <a:cs typeface="Microsoft YaHei UI"/>
              </a:rPr>
              <a:t>	</a:t>
            </a:r>
            <a:r>
              <a:rPr dirty="0" baseline="-3831" sz="4350" spc="-2610">
                <a:latin typeface="Microsoft YaHei UI"/>
                <a:cs typeface="Microsoft YaHei UI"/>
              </a:rPr>
              <a:t>「</a:t>
            </a:r>
            <a:r>
              <a:rPr dirty="0" sz="2900" spc="-25" i="1">
                <a:latin typeface="Times New Roman"/>
                <a:cs typeface="Times New Roman"/>
              </a:rPr>
              <a:t>d</a:t>
            </a:r>
            <a:r>
              <a:rPr dirty="0" baseline="-24509" sz="2550" spc="-37">
                <a:latin typeface="Microsoft YaHei UI"/>
                <a:cs typeface="Microsoft YaHei UI"/>
              </a:rPr>
              <a:t>1</a:t>
            </a:r>
            <a:endParaRPr baseline="-24509" sz="2550">
              <a:latin typeface="Microsoft YaHei UI"/>
              <a:cs typeface="Microsoft YaHei U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889556" y="6427787"/>
            <a:ext cx="197929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19555" algn="l"/>
                <a:tab pos="1771650" algn="l"/>
              </a:tabLst>
            </a:pPr>
            <a:r>
              <a:rPr dirty="0" u="heavy" sz="14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40">
                <a:latin typeface="Microsoft YaHei UI"/>
                <a:cs typeface="Microsoft YaHei UI"/>
              </a:rPr>
              <a:t>17</a:t>
            </a:r>
            <a:endParaRPr sz="1400">
              <a:latin typeface="Microsoft YaHei UI"/>
              <a:cs typeface="Microsoft YaHei U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358458" y="1614347"/>
            <a:ext cx="2319655" cy="826769"/>
            <a:chOff x="6358458" y="1614347"/>
            <a:chExt cx="2319655" cy="826769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0128" y="1623250"/>
              <a:ext cx="886491" cy="30789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3824" y="1614347"/>
              <a:ext cx="686050" cy="32219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58458" y="2056333"/>
              <a:ext cx="2046909" cy="34113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70950" y="2106561"/>
              <a:ext cx="207157" cy="334010"/>
            </a:xfrm>
            <a:prstGeom prst="rect">
              <a:avLst/>
            </a:prstGeom>
          </p:spPr>
        </p:pic>
      </p:grpSp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49568" y="2524010"/>
            <a:ext cx="2431509" cy="76354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62627" y="5629397"/>
            <a:ext cx="1869147" cy="333780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4559905" y="6030918"/>
            <a:ext cx="2033270" cy="664845"/>
            <a:chOff x="4559905" y="6030918"/>
            <a:chExt cx="2033270" cy="664845"/>
          </a:xfrm>
        </p:grpSpPr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59905" y="6139050"/>
              <a:ext cx="73263" cy="174876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4681791" y="6178740"/>
              <a:ext cx="413384" cy="81915"/>
            </a:xfrm>
            <a:custGeom>
              <a:avLst/>
              <a:gdLst/>
              <a:ahLst/>
              <a:cxnLst/>
              <a:rect l="l" t="t" r="r" b="b"/>
              <a:pathLst>
                <a:path w="413385" h="81914">
                  <a:moveTo>
                    <a:pt x="17576" y="75311"/>
                  </a:moveTo>
                  <a:lnTo>
                    <a:pt x="15786" y="70866"/>
                  </a:lnTo>
                  <a:lnTo>
                    <a:pt x="15011" y="69888"/>
                  </a:lnTo>
                  <a:lnTo>
                    <a:pt x="4152" y="62077"/>
                  </a:lnTo>
                  <a:lnTo>
                    <a:pt x="1968" y="62433"/>
                  </a:lnTo>
                  <a:lnTo>
                    <a:pt x="152" y="64973"/>
                  </a:lnTo>
                  <a:lnTo>
                    <a:pt x="0" y="66230"/>
                  </a:lnTo>
                  <a:lnTo>
                    <a:pt x="5588" y="80137"/>
                  </a:lnTo>
                  <a:lnTo>
                    <a:pt x="9347" y="81737"/>
                  </a:lnTo>
                  <a:lnTo>
                    <a:pt x="15963" y="79082"/>
                  </a:lnTo>
                  <a:lnTo>
                    <a:pt x="17576" y="75311"/>
                  </a:lnTo>
                  <a:close/>
                </a:path>
                <a:path w="413385" h="81914">
                  <a:moveTo>
                    <a:pt x="371043" y="58470"/>
                  </a:moveTo>
                  <a:lnTo>
                    <a:pt x="369874" y="54851"/>
                  </a:lnTo>
                  <a:lnTo>
                    <a:pt x="368261" y="53784"/>
                  </a:lnTo>
                  <a:lnTo>
                    <a:pt x="364185" y="54165"/>
                  </a:lnTo>
                  <a:lnTo>
                    <a:pt x="361124" y="55524"/>
                  </a:lnTo>
                  <a:lnTo>
                    <a:pt x="361251" y="58331"/>
                  </a:lnTo>
                  <a:lnTo>
                    <a:pt x="361327" y="58953"/>
                  </a:lnTo>
                  <a:lnTo>
                    <a:pt x="362432" y="61912"/>
                  </a:lnTo>
                  <a:lnTo>
                    <a:pt x="365772" y="61912"/>
                  </a:lnTo>
                  <a:lnTo>
                    <a:pt x="369963" y="60566"/>
                  </a:lnTo>
                  <a:lnTo>
                    <a:pt x="371043" y="58470"/>
                  </a:lnTo>
                  <a:close/>
                </a:path>
                <a:path w="413385" h="81914">
                  <a:moveTo>
                    <a:pt x="381482" y="16446"/>
                  </a:moveTo>
                  <a:lnTo>
                    <a:pt x="381355" y="13982"/>
                  </a:lnTo>
                  <a:lnTo>
                    <a:pt x="381279" y="12446"/>
                  </a:lnTo>
                  <a:lnTo>
                    <a:pt x="379742" y="10896"/>
                  </a:lnTo>
                  <a:lnTo>
                    <a:pt x="372097" y="10896"/>
                  </a:lnTo>
                  <a:lnTo>
                    <a:pt x="370598" y="13982"/>
                  </a:lnTo>
                  <a:lnTo>
                    <a:pt x="370598" y="15125"/>
                  </a:lnTo>
                  <a:lnTo>
                    <a:pt x="371259" y="16446"/>
                  </a:lnTo>
                  <a:lnTo>
                    <a:pt x="371373" y="16624"/>
                  </a:lnTo>
                  <a:lnTo>
                    <a:pt x="371563" y="16865"/>
                  </a:lnTo>
                  <a:lnTo>
                    <a:pt x="373329" y="18580"/>
                  </a:lnTo>
                  <a:lnTo>
                    <a:pt x="375805" y="18402"/>
                  </a:lnTo>
                  <a:lnTo>
                    <a:pt x="379691" y="18402"/>
                  </a:lnTo>
                  <a:lnTo>
                    <a:pt x="381482" y="16446"/>
                  </a:lnTo>
                  <a:close/>
                </a:path>
                <a:path w="413385" h="81914">
                  <a:moveTo>
                    <a:pt x="399605" y="12509"/>
                  </a:moveTo>
                  <a:lnTo>
                    <a:pt x="385191" y="0"/>
                  </a:lnTo>
                  <a:lnTo>
                    <a:pt x="381812" y="3035"/>
                  </a:lnTo>
                  <a:lnTo>
                    <a:pt x="381393" y="3632"/>
                  </a:lnTo>
                  <a:lnTo>
                    <a:pt x="379488" y="7899"/>
                  </a:lnTo>
                  <a:lnTo>
                    <a:pt x="382231" y="11137"/>
                  </a:lnTo>
                  <a:lnTo>
                    <a:pt x="386918" y="14655"/>
                  </a:lnTo>
                  <a:lnTo>
                    <a:pt x="389115" y="15862"/>
                  </a:lnTo>
                  <a:lnTo>
                    <a:pt x="393992" y="18313"/>
                  </a:lnTo>
                  <a:lnTo>
                    <a:pt x="397230" y="17233"/>
                  </a:lnTo>
                  <a:lnTo>
                    <a:pt x="399605" y="12509"/>
                  </a:lnTo>
                  <a:close/>
                </a:path>
                <a:path w="413385" h="81914">
                  <a:moveTo>
                    <a:pt x="413054" y="61696"/>
                  </a:moveTo>
                  <a:lnTo>
                    <a:pt x="411619" y="58216"/>
                  </a:lnTo>
                  <a:lnTo>
                    <a:pt x="408089" y="56743"/>
                  </a:lnTo>
                  <a:lnTo>
                    <a:pt x="407581" y="56616"/>
                  </a:lnTo>
                  <a:lnTo>
                    <a:pt x="386918" y="53949"/>
                  </a:lnTo>
                  <a:lnTo>
                    <a:pt x="385165" y="55295"/>
                  </a:lnTo>
                  <a:lnTo>
                    <a:pt x="384784" y="58216"/>
                  </a:lnTo>
                  <a:lnTo>
                    <a:pt x="384721" y="58762"/>
                  </a:lnTo>
                  <a:lnTo>
                    <a:pt x="385584" y="60261"/>
                  </a:lnTo>
                  <a:lnTo>
                    <a:pt x="407047" y="69189"/>
                  </a:lnTo>
                  <a:lnTo>
                    <a:pt x="410527" y="67754"/>
                  </a:lnTo>
                  <a:lnTo>
                    <a:pt x="413054" y="616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09971" y="6030918"/>
              <a:ext cx="909929" cy="267609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22050" y="6076434"/>
              <a:ext cx="1970736" cy="619197"/>
            </a:xfrm>
            <a:prstGeom prst="rect">
              <a:avLst/>
            </a:prstGeom>
          </p:spPr>
        </p:pic>
      </p:grpSp>
      <p:pic>
        <p:nvPicPr>
          <p:cNvPr id="21" name="object 2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946189" y="5659463"/>
            <a:ext cx="436143" cy="262504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80655" y="5620189"/>
            <a:ext cx="1196682" cy="279619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913253" y="6177427"/>
            <a:ext cx="1145429" cy="360135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129396" y="6158670"/>
            <a:ext cx="282105" cy="34569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89559" y="1700783"/>
            <a:ext cx="8208645" cy="946785"/>
          </a:xfrm>
          <a:custGeom>
            <a:avLst/>
            <a:gdLst/>
            <a:ahLst/>
            <a:cxnLst/>
            <a:rect l="l" t="t" r="r" b="b"/>
            <a:pathLst>
              <a:path w="8208645" h="946785">
                <a:moveTo>
                  <a:pt x="8208264" y="0"/>
                </a:moveTo>
                <a:lnTo>
                  <a:pt x="0" y="0"/>
                </a:lnTo>
                <a:lnTo>
                  <a:pt x="0" y="946403"/>
                </a:lnTo>
                <a:lnTo>
                  <a:pt x="8208264" y="946403"/>
                </a:lnTo>
                <a:lnTo>
                  <a:pt x="82082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867" rIns="0" bIns="0" rtlCol="0" vert="horz">
            <a:spAutoFit/>
          </a:bodyPr>
          <a:lstStyle/>
          <a:p>
            <a:pPr marL="723900">
              <a:lnSpc>
                <a:spcPct val="100000"/>
              </a:lnSpc>
              <a:spcBef>
                <a:spcPts val="105"/>
              </a:spcBef>
            </a:pPr>
            <a:r>
              <a:rPr dirty="0" sz="4400" spc="70">
                <a:latin typeface="Microsoft YaHei UI"/>
                <a:cs typeface="Microsoft YaHei UI"/>
              </a:rPr>
              <a:t>RBF</a:t>
            </a:r>
            <a:r>
              <a:rPr dirty="0" sz="4400" spc="-30">
                <a:latin typeface="Microsoft YaHei UI"/>
                <a:cs typeface="Microsoft YaHei UI"/>
              </a:rPr>
              <a:t> </a:t>
            </a:r>
            <a:r>
              <a:rPr dirty="0" sz="4400" spc="-10">
                <a:latin typeface="Microsoft YaHei UI"/>
                <a:cs typeface="Microsoft YaHei UI"/>
              </a:rPr>
              <a:t>Learning</a:t>
            </a:r>
            <a:endParaRPr sz="4400">
              <a:latin typeface="Microsoft YaHei UI"/>
              <a:cs typeface="Microsoft YaHei U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54965" y="2142769"/>
            <a:ext cx="7220584" cy="14560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2800" spc="-185">
                <a:latin typeface="Microsoft YaHei UI"/>
                <a:cs typeface="Microsoft YaHei UI"/>
              </a:rPr>
              <a:t>obtain</a:t>
            </a:r>
            <a:r>
              <a:rPr dirty="0" sz="2800" spc="-35">
                <a:latin typeface="Microsoft YaHei UI"/>
                <a:cs typeface="Microsoft YaHei UI"/>
              </a:rPr>
              <a:t> </a:t>
            </a:r>
            <a:r>
              <a:rPr dirty="0" sz="2800" spc="-165">
                <a:latin typeface="Microsoft YaHei UI"/>
                <a:cs typeface="Microsoft YaHei UI"/>
              </a:rPr>
              <a:t>the</a:t>
            </a:r>
            <a:r>
              <a:rPr dirty="0" sz="2800" spc="-30">
                <a:latin typeface="Microsoft YaHei UI"/>
                <a:cs typeface="Microsoft YaHei UI"/>
              </a:rPr>
              <a:t> </a:t>
            </a:r>
            <a:r>
              <a:rPr dirty="0" sz="2800" spc="-145">
                <a:latin typeface="Microsoft YaHei UI"/>
                <a:cs typeface="Microsoft YaHei UI"/>
              </a:rPr>
              <a:t>weights</a:t>
            </a:r>
            <a:r>
              <a:rPr dirty="0" sz="2800" spc="-30">
                <a:latin typeface="Microsoft YaHei UI"/>
                <a:cs typeface="Microsoft YaHei UI"/>
              </a:rPr>
              <a:t> </a:t>
            </a:r>
            <a:r>
              <a:rPr dirty="0" sz="2800" spc="-125">
                <a:latin typeface="Microsoft YaHei UI"/>
                <a:cs typeface="Microsoft YaHei UI"/>
              </a:rPr>
              <a:t>using</a:t>
            </a:r>
            <a:r>
              <a:rPr dirty="0" sz="2800" spc="-35">
                <a:latin typeface="Microsoft YaHei UI"/>
                <a:cs typeface="Microsoft YaHei UI"/>
              </a:rPr>
              <a:t> </a:t>
            </a:r>
            <a:r>
              <a:rPr dirty="0" sz="2800" spc="-165">
                <a:latin typeface="Microsoft YaHei UI"/>
                <a:cs typeface="Microsoft YaHei UI"/>
              </a:rPr>
              <a:t>the</a:t>
            </a:r>
            <a:r>
              <a:rPr dirty="0" sz="2800" spc="-30">
                <a:latin typeface="Microsoft YaHei UI"/>
                <a:cs typeface="Microsoft YaHei UI"/>
              </a:rPr>
              <a:t> </a:t>
            </a:r>
            <a:r>
              <a:rPr dirty="0" sz="2800" spc="-195">
                <a:latin typeface="Microsoft YaHei UI"/>
                <a:cs typeface="Microsoft YaHei UI"/>
              </a:rPr>
              <a:t>following</a:t>
            </a:r>
            <a:r>
              <a:rPr dirty="0" sz="2800" spc="-30">
                <a:latin typeface="Microsoft YaHei UI"/>
                <a:cs typeface="Microsoft YaHei UI"/>
              </a:rPr>
              <a:t> </a:t>
            </a:r>
            <a:r>
              <a:rPr dirty="0" sz="2800" spc="-100">
                <a:latin typeface="Microsoft YaHei UI"/>
                <a:cs typeface="Microsoft YaHei UI"/>
              </a:rPr>
              <a:t>formula</a:t>
            </a:r>
            <a:endParaRPr sz="2800">
              <a:latin typeface="Microsoft YaHei UI"/>
              <a:cs typeface="Microsoft YaHei UI"/>
            </a:endParaRPr>
          </a:p>
          <a:p>
            <a:pPr algn="ctr" marR="664210">
              <a:lnSpc>
                <a:spcPts val="2940"/>
              </a:lnSpc>
              <a:spcBef>
                <a:spcPts val="3585"/>
              </a:spcBef>
              <a:tabLst>
                <a:tab pos="1310005" algn="l"/>
                <a:tab pos="1720850" algn="l"/>
                <a:tab pos="3727450" algn="l"/>
              </a:tabLst>
            </a:pPr>
            <a:r>
              <a:rPr dirty="0" sz="3150" spc="70">
                <a:latin typeface="Microsoft YaHei UI"/>
                <a:cs typeface="Microsoft YaHei UI"/>
              </a:rPr>
              <a:t>[</a:t>
            </a:r>
            <a:r>
              <a:rPr dirty="0" sz="3150" spc="70" i="1">
                <a:latin typeface="Times New Roman"/>
                <a:cs typeface="Times New Roman"/>
              </a:rPr>
              <a:t>w</a:t>
            </a:r>
            <a:r>
              <a:rPr dirty="0" sz="3150" spc="-130" i="1">
                <a:latin typeface="Times New Roman"/>
                <a:cs typeface="Times New Roman"/>
              </a:rPr>
              <a:t> </a:t>
            </a:r>
            <a:r>
              <a:rPr dirty="0" sz="3150" spc="-20">
                <a:latin typeface="Microsoft YaHei UI"/>
                <a:cs typeface="Microsoft YaHei UI"/>
              </a:rPr>
              <a:t>...</a:t>
            </a:r>
            <a:r>
              <a:rPr dirty="0" sz="3150" spc="-20" i="1">
                <a:latin typeface="Times New Roman"/>
                <a:cs typeface="Times New Roman"/>
              </a:rPr>
              <a:t>w</a:t>
            </a:r>
            <a:r>
              <a:rPr dirty="0" sz="3150" i="1">
                <a:latin typeface="Times New Roman"/>
                <a:cs typeface="Times New Roman"/>
              </a:rPr>
              <a:t>	</a:t>
            </a:r>
            <a:r>
              <a:rPr dirty="0" sz="3150" spc="-25">
                <a:latin typeface="Microsoft YaHei UI"/>
                <a:cs typeface="Microsoft YaHei UI"/>
              </a:rPr>
              <a:t>]</a:t>
            </a:r>
            <a:r>
              <a:rPr dirty="0" baseline="43543" sz="2775" spc="-37" i="1">
                <a:latin typeface="Times New Roman"/>
                <a:cs typeface="Times New Roman"/>
              </a:rPr>
              <a:t>T</a:t>
            </a:r>
            <a:r>
              <a:rPr dirty="0" baseline="43543" sz="2775" i="1">
                <a:latin typeface="Times New Roman"/>
                <a:cs typeface="Times New Roman"/>
              </a:rPr>
              <a:t>	</a:t>
            </a:r>
            <a:r>
              <a:rPr dirty="0" sz="3150" spc="-610">
                <a:latin typeface="Microsoft YaHei UI"/>
                <a:cs typeface="Microsoft YaHei UI"/>
              </a:rPr>
              <a:t>=</a:t>
            </a:r>
            <a:r>
              <a:rPr dirty="0" sz="3150" spc="-275">
                <a:latin typeface="Microsoft YaHei UI"/>
                <a:cs typeface="Microsoft YaHei UI"/>
              </a:rPr>
              <a:t> </a:t>
            </a:r>
            <a:r>
              <a:rPr dirty="0" sz="3150">
                <a:latin typeface="Microsoft YaHei UI"/>
                <a:cs typeface="Microsoft YaHei UI"/>
              </a:rPr>
              <a:t>Ф</a:t>
            </a:r>
            <a:r>
              <a:rPr dirty="0" baseline="43543" sz="2775">
                <a:latin typeface="Microsoft YaHei UI"/>
                <a:cs typeface="Microsoft YaHei UI"/>
              </a:rPr>
              <a:t>+</a:t>
            </a:r>
            <a:r>
              <a:rPr dirty="0" sz="3150">
                <a:latin typeface="Microsoft YaHei UI"/>
                <a:cs typeface="Microsoft YaHei UI"/>
              </a:rPr>
              <a:t>[</a:t>
            </a:r>
            <a:r>
              <a:rPr dirty="0" sz="3150" i="1">
                <a:latin typeface="Times New Roman"/>
                <a:cs typeface="Times New Roman"/>
              </a:rPr>
              <a:t>d</a:t>
            </a:r>
            <a:r>
              <a:rPr dirty="0" sz="3150" spc="165" i="1">
                <a:latin typeface="Times New Roman"/>
                <a:cs typeface="Times New Roman"/>
              </a:rPr>
              <a:t> </a:t>
            </a:r>
            <a:r>
              <a:rPr dirty="0" sz="3150" spc="-20">
                <a:latin typeface="Microsoft YaHei UI"/>
                <a:cs typeface="Microsoft YaHei UI"/>
              </a:rPr>
              <a:t>...</a:t>
            </a:r>
            <a:r>
              <a:rPr dirty="0" sz="3150" spc="-20" i="1">
                <a:latin typeface="Times New Roman"/>
                <a:cs typeface="Times New Roman"/>
              </a:rPr>
              <a:t>d</a:t>
            </a:r>
            <a:r>
              <a:rPr dirty="0" sz="3150" i="1">
                <a:latin typeface="Times New Roman"/>
                <a:cs typeface="Times New Roman"/>
              </a:rPr>
              <a:t>	</a:t>
            </a:r>
            <a:r>
              <a:rPr dirty="0" sz="3150" spc="-25">
                <a:latin typeface="Microsoft YaHei UI"/>
                <a:cs typeface="Microsoft YaHei UI"/>
              </a:rPr>
              <a:t>]</a:t>
            </a:r>
            <a:r>
              <a:rPr dirty="0" baseline="43543" sz="2775" spc="-37" i="1">
                <a:latin typeface="Times New Roman"/>
                <a:cs typeface="Times New Roman"/>
              </a:rPr>
              <a:t>T</a:t>
            </a:r>
            <a:endParaRPr baseline="43543" sz="2775">
              <a:latin typeface="Times New Roman"/>
              <a:cs typeface="Times New Roman"/>
            </a:endParaRPr>
          </a:p>
          <a:p>
            <a:pPr marL="1663064">
              <a:lnSpc>
                <a:spcPts val="1380"/>
              </a:lnSpc>
              <a:tabLst>
                <a:tab pos="2334895" algn="l"/>
                <a:tab pos="4140835" algn="l"/>
                <a:tab pos="4785995" algn="l"/>
              </a:tabLst>
            </a:pPr>
            <a:r>
              <a:rPr dirty="0" sz="1850" spc="-50">
                <a:latin typeface="Microsoft YaHei UI"/>
                <a:cs typeface="Microsoft YaHei UI"/>
              </a:rPr>
              <a:t>1</a:t>
            </a:r>
            <a:r>
              <a:rPr dirty="0" sz="1850">
                <a:latin typeface="Microsoft YaHei UI"/>
                <a:cs typeface="Microsoft YaHei UI"/>
              </a:rPr>
              <a:t>	</a:t>
            </a:r>
            <a:r>
              <a:rPr dirty="0" sz="1850" spc="-50">
                <a:latin typeface="Microsoft YaHei UI"/>
                <a:cs typeface="Microsoft YaHei UI"/>
              </a:rPr>
              <a:t>M</a:t>
            </a:r>
            <a:r>
              <a:rPr dirty="0" sz="1850">
                <a:latin typeface="Microsoft YaHei UI"/>
                <a:cs typeface="Microsoft YaHei UI"/>
              </a:rPr>
              <a:t>	</a:t>
            </a:r>
            <a:r>
              <a:rPr dirty="0" sz="1850" spc="-50">
                <a:latin typeface="Microsoft YaHei UI"/>
                <a:cs typeface="Microsoft YaHei UI"/>
              </a:rPr>
              <a:t>1</a:t>
            </a:r>
            <a:r>
              <a:rPr dirty="0" sz="1850">
                <a:latin typeface="Microsoft YaHei UI"/>
                <a:cs typeface="Microsoft YaHei UI"/>
              </a:rPr>
              <a:t>	</a:t>
            </a:r>
            <a:r>
              <a:rPr dirty="0" sz="1850" spc="-50" i="1">
                <a:latin typeface="Times New Roman"/>
                <a:cs typeface="Times New Roman"/>
              </a:rPr>
              <a:t>N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42265" y="1727403"/>
            <a:ext cx="8832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56565" algn="l"/>
              </a:tabLst>
            </a:pPr>
            <a:r>
              <a:rPr dirty="0" baseline="1984" sz="4200" spc="-37">
                <a:latin typeface="Microsoft YaHei UI"/>
                <a:cs typeface="Microsoft YaHei UI"/>
              </a:rPr>
              <a:t>If</a:t>
            </a:r>
            <a:r>
              <a:rPr dirty="0" baseline="1984" sz="4200">
                <a:latin typeface="Microsoft YaHei UI"/>
                <a:cs typeface="Microsoft YaHei UI"/>
              </a:rPr>
              <a:t>	</a:t>
            </a:r>
            <a:r>
              <a:rPr dirty="0" sz="2650" spc="-25">
                <a:latin typeface="Microsoft YaHei UI"/>
                <a:cs typeface="Microsoft YaHei UI"/>
              </a:rPr>
              <a:t>Ф</a:t>
            </a:r>
            <a:r>
              <a:rPr dirty="0" baseline="43010" sz="2325" spc="-37">
                <a:latin typeface="Microsoft YaHei UI"/>
                <a:cs typeface="Microsoft YaHei UI"/>
              </a:rPr>
              <a:t>+</a:t>
            </a:r>
            <a:endParaRPr baseline="43010" sz="2325">
              <a:latin typeface="Microsoft YaHei UI"/>
              <a:cs typeface="Microsoft YaHei U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358264" y="1671116"/>
            <a:ext cx="6604634" cy="5054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37275" algn="l"/>
              </a:tabLst>
            </a:pPr>
            <a:r>
              <a:rPr dirty="0" sz="2800">
                <a:latin typeface="Microsoft YaHei UI"/>
                <a:cs typeface="Microsoft YaHei UI"/>
              </a:rPr>
              <a:t>is</a:t>
            </a:r>
            <a:r>
              <a:rPr dirty="0" sz="2800" spc="-185">
                <a:latin typeface="Microsoft YaHei UI"/>
                <a:cs typeface="Microsoft YaHei UI"/>
              </a:rPr>
              <a:t> </a:t>
            </a:r>
            <a:r>
              <a:rPr dirty="0" sz="2800" spc="-165">
                <a:latin typeface="Microsoft YaHei UI"/>
                <a:cs typeface="Microsoft YaHei UI"/>
              </a:rPr>
              <a:t>the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175">
                <a:latin typeface="Microsoft YaHei UI"/>
                <a:cs typeface="Microsoft YaHei UI"/>
              </a:rPr>
              <a:t>pseudo-</a:t>
            </a:r>
            <a:r>
              <a:rPr dirty="0" sz="2800" spc="-75">
                <a:latin typeface="Microsoft YaHei UI"/>
                <a:cs typeface="Microsoft YaHei UI"/>
              </a:rPr>
              <a:t>inverse</a:t>
            </a:r>
            <a:r>
              <a:rPr dirty="0" sz="2800" spc="-85">
                <a:latin typeface="Microsoft YaHei UI"/>
                <a:cs typeface="Microsoft YaHei UI"/>
              </a:rPr>
              <a:t> </a:t>
            </a:r>
            <a:r>
              <a:rPr dirty="0" sz="2800" spc="-225">
                <a:latin typeface="Microsoft YaHei UI"/>
                <a:cs typeface="Microsoft YaHei UI"/>
              </a:rPr>
              <a:t>of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165">
                <a:latin typeface="Microsoft YaHei UI"/>
                <a:cs typeface="Microsoft YaHei UI"/>
              </a:rPr>
              <a:t>the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114">
                <a:latin typeface="Microsoft YaHei UI"/>
                <a:cs typeface="Microsoft YaHei UI"/>
              </a:rPr>
              <a:t>matrix</a:t>
            </a:r>
            <a:r>
              <a:rPr dirty="0" sz="2800" spc="100">
                <a:latin typeface="Microsoft YaHei UI"/>
                <a:cs typeface="Microsoft YaHei UI"/>
              </a:rPr>
              <a:t> </a:t>
            </a:r>
            <a:r>
              <a:rPr dirty="0" baseline="-3527" sz="4725" spc="-75">
                <a:latin typeface="Microsoft YaHei UI"/>
                <a:cs typeface="Microsoft YaHei UI"/>
              </a:rPr>
              <a:t>Ф</a:t>
            </a:r>
            <a:r>
              <a:rPr dirty="0" baseline="-3527" sz="4725">
                <a:latin typeface="Microsoft YaHei UI"/>
                <a:cs typeface="Microsoft YaHei UI"/>
              </a:rPr>
              <a:t>	</a:t>
            </a:r>
            <a:r>
              <a:rPr dirty="0" sz="2800" spc="-85">
                <a:latin typeface="Microsoft YaHei UI"/>
                <a:cs typeface="Microsoft YaHei UI"/>
              </a:rPr>
              <a:t>we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94500" y="3782186"/>
            <a:ext cx="4823460" cy="284670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835"/>
              </a:spcBef>
            </a:pPr>
            <a:r>
              <a:rPr dirty="0" sz="2800" spc="-35" b="1">
                <a:solidFill>
                  <a:srgbClr val="333399"/>
                </a:solidFill>
                <a:latin typeface="Microsoft YaHei UI"/>
                <a:cs typeface="Microsoft YaHei UI"/>
              </a:rPr>
              <a:t>Pseudo</a:t>
            </a:r>
            <a:r>
              <a:rPr dirty="0" sz="2800" spc="-160" b="1">
                <a:solidFill>
                  <a:srgbClr val="333399"/>
                </a:solidFill>
                <a:latin typeface="Microsoft YaHei UI"/>
                <a:cs typeface="Microsoft YaHei UI"/>
              </a:rPr>
              <a:t> </a:t>
            </a:r>
            <a:r>
              <a:rPr dirty="0" sz="2800" spc="-10" b="1">
                <a:solidFill>
                  <a:srgbClr val="333399"/>
                </a:solidFill>
                <a:latin typeface="Microsoft YaHei UI"/>
                <a:cs typeface="Microsoft YaHei UI"/>
              </a:rPr>
              <a:t>inverse</a:t>
            </a:r>
            <a:endParaRPr sz="2800">
              <a:latin typeface="Microsoft YaHei UI"/>
              <a:cs typeface="Microsoft YaHei UI"/>
            </a:endParaRPr>
          </a:p>
          <a:p>
            <a:pPr marL="38100">
              <a:lnSpc>
                <a:spcPct val="100000"/>
              </a:lnSpc>
              <a:spcBef>
                <a:spcPts val="705"/>
              </a:spcBef>
              <a:tabLst>
                <a:tab pos="4441825" algn="l"/>
              </a:tabLst>
            </a:pPr>
            <a:r>
              <a:rPr dirty="0" baseline="4273" sz="3900">
                <a:latin typeface="Microsoft YaHei UI"/>
                <a:cs typeface="Microsoft YaHei UI"/>
              </a:rPr>
              <a:t>Ф</a:t>
            </a:r>
            <a:r>
              <a:rPr dirty="0" baseline="4273" sz="3900" spc="60">
                <a:latin typeface="Microsoft YaHei UI"/>
                <a:cs typeface="Microsoft YaHei UI"/>
              </a:rPr>
              <a:t> </a:t>
            </a:r>
            <a:r>
              <a:rPr dirty="0" sz="2400" spc="-25">
                <a:latin typeface="Microsoft YaHei UI"/>
                <a:cs typeface="Microsoft YaHei UI"/>
              </a:rPr>
              <a:t>has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a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130">
                <a:latin typeface="Microsoft YaHei UI"/>
                <a:cs typeface="Microsoft YaHei UI"/>
              </a:rPr>
              <a:t>unique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70">
                <a:latin typeface="Microsoft YaHei UI"/>
                <a:cs typeface="Microsoft YaHei UI"/>
              </a:rPr>
              <a:t>pseudo-</a:t>
            </a:r>
            <a:r>
              <a:rPr dirty="0" sz="2400" spc="-10">
                <a:latin typeface="Microsoft YaHei UI"/>
                <a:cs typeface="Microsoft YaHei UI"/>
              </a:rPr>
              <a:t>inverse</a:t>
            </a:r>
            <a:r>
              <a:rPr dirty="0" sz="2400">
                <a:latin typeface="Microsoft YaHei UI"/>
                <a:cs typeface="Microsoft YaHei UI"/>
              </a:rPr>
              <a:t>	</a:t>
            </a:r>
            <a:r>
              <a:rPr dirty="0" baseline="1207" sz="3450" spc="-37">
                <a:latin typeface="Microsoft YaHei UI"/>
                <a:cs typeface="Microsoft YaHei UI"/>
              </a:rPr>
              <a:t>Ф</a:t>
            </a:r>
            <a:r>
              <a:rPr dirty="0" baseline="43209" sz="2025" spc="-37">
                <a:latin typeface="Microsoft YaHei UI"/>
                <a:cs typeface="Microsoft YaHei UI"/>
              </a:rPr>
              <a:t>+</a:t>
            </a:r>
            <a:endParaRPr baseline="43209" sz="2025">
              <a:latin typeface="Microsoft YaHei UI"/>
              <a:cs typeface="Microsoft YaHei UI"/>
            </a:endParaRPr>
          </a:p>
          <a:p>
            <a:pPr marL="3039745" marR="33020">
              <a:lnSpc>
                <a:spcPts val="3640"/>
              </a:lnSpc>
            </a:pPr>
            <a:r>
              <a:rPr dirty="0" sz="2200" spc="-80">
                <a:latin typeface="Microsoft YaHei UI"/>
                <a:cs typeface="Microsoft YaHei UI"/>
              </a:rPr>
              <a:t>ФФ</a:t>
            </a:r>
            <a:r>
              <a:rPr dirty="0" sz="2200" spc="-430">
                <a:latin typeface="Microsoft YaHei UI"/>
                <a:cs typeface="Microsoft YaHei UI"/>
              </a:rPr>
              <a:t> </a:t>
            </a:r>
            <a:r>
              <a:rPr dirty="0" baseline="42735" sz="1950" spc="-165">
                <a:latin typeface="Microsoft YaHei UI"/>
                <a:cs typeface="Microsoft YaHei UI"/>
              </a:rPr>
              <a:t>+</a:t>
            </a:r>
            <a:r>
              <a:rPr dirty="0" sz="2200" spc="-110">
                <a:latin typeface="Microsoft YaHei UI"/>
                <a:cs typeface="Microsoft YaHei UI"/>
              </a:rPr>
              <a:t>Ф</a:t>
            </a:r>
            <a:r>
              <a:rPr dirty="0" sz="2200" spc="-65">
                <a:latin typeface="Microsoft YaHei UI"/>
                <a:cs typeface="Microsoft YaHei UI"/>
              </a:rPr>
              <a:t> </a:t>
            </a:r>
            <a:r>
              <a:rPr dirty="0" sz="2200" spc="-430">
                <a:latin typeface="Microsoft YaHei UI"/>
                <a:cs typeface="Microsoft YaHei UI"/>
              </a:rPr>
              <a:t>=</a:t>
            </a:r>
            <a:r>
              <a:rPr dirty="0" sz="2200" spc="-155">
                <a:latin typeface="Microsoft YaHei UI"/>
                <a:cs typeface="Microsoft YaHei UI"/>
              </a:rPr>
              <a:t> </a:t>
            </a:r>
            <a:r>
              <a:rPr dirty="0" sz="2200" spc="-50">
                <a:latin typeface="Microsoft YaHei UI"/>
                <a:cs typeface="Microsoft YaHei UI"/>
              </a:rPr>
              <a:t>Ф </a:t>
            </a:r>
            <a:r>
              <a:rPr dirty="0" sz="2200">
                <a:latin typeface="Microsoft YaHei UI"/>
                <a:cs typeface="Microsoft YaHei UI"/>
              </a:rPr>
              <a:t>Ф</a:t>
            </a:r>
            <a:r>
              <a:rPr dirty="0" baseline="42735" sz="1950">
                <a:latin typeface="Microsoft YaHei UI"/>
                <a:cs typeface="Microsoft YaHei UI"/>
              </a:rPr>
              <a:t>+</a:t>
            </a:r>
            <a:r>
              <a:rPr dirty="0" sz="2200">
                <a:latin typeface="Microsoft YaHei UI"/>
                <a:cs typeface="Microsoft YaHei UI"/>
              </a:rPr>
              <a:t>ФФ</a:t>
            </a:r>
            <a:r>
              <a:rPr dirty="0" baseline="42735" sz="1950">
                <a:latin typeface="Microsoft YaHei UI"/>
                <a:cs typeface="Microsoft YaHei UI"/>
              </a:rPr>
              <a:t>+</a:t>
            </a:r>
            <a:r>
              <a:rPr dirty="0" baseline="42735" sz="1950" spc="262">
                <a:latin typeface="Microsoft YaHei UI"/>
                <a:cs typeface="Microsoft YaHei UI"/>
              </a:rPr>
              <a:t> </a:t>
            </a:r>
            <a:r>
              <a:rPr dirty="0" sz="2200" spc="-430">
                <a:latin typeface="Microsoft YaHei UI"/>
                <a:cs typeface="Microsoft YaHei UI"/>
              </a:rPr>
              <a:t>=</a:t>
            </a:r>
            <a:r>
              <a:rPr dirty="0" sz="2200" spc="-165">
                <a:latin typeface="Microsoft YaHei UI"/>
                <a:cs typeface="Microsoft YaHei UI"/>
              </a:rPr>
              <a:t> </a:t>
            </a:r>
            <a:r>
              <a:rPr dirty="0" sz="2200" spc="-25">
                <a:latin typeface="Microsoft YaHei UI"/>
                <a:cs typeface="Microsoft YaHei UI"/>
              </a:rPr>
              <a:t>Ф</a:t>
            </a:r>
            <a:r>
              <a:rPr dirty="0" baseline="42735" sz="1950" spc="-37">
                <a:latin typeface="Microsoft YaHei UI"/>
                <a:cs typeface="Microsoft YaHei UI"/>
              </a:rPr>
              <a:t>+ </a:t>
            </a:r>
            <a:r>
              <a:rPr dirty="0" sz="2200" spc="-20">
                <a:latin typeface="Microsoft YaHei UI"/>
                <a:cs typeface="Microsoft YaHei UI"/>
              </a:rPr>
              <a:t>Ф</a:t>
            </a:r>
            <a:r>
              <a:rPr dirty="0" baseline="42735" sz="1950" spc="-30">
                <a:latin typeface="Microsoft YaHei UI"/>
                <a:cs typeface="Microsoft YaHei UI"/>
              </a:rPr>
              <a:t>+</a:t>
            </a:r>
            <a:r>
              <a:rPr dirty="0" sz="2200" spc="-20">
                <a:latin typeface="Microsoft YaHei UI"/>
                <a:cs typeface="Microsoft YaHei UI"/>
              </a:rPr>
              <a:t>Ф</a:t>
            </a:r>
            <a:r>
              <a:rPr dirty="0" sz="2200" spc="-130">
                <a:latin typeface="Microsoft YaHei UI"/>
                <a:cs typeface="Microsoft YaHei UI"/>
              </a:rPr>
              <a:t> </a:t>
            </a:r>
            <a:r>
              <a:rPr dirty="0" sz="2200" spc="-430">
                <a:latin typeface="Microsoft YaHei UI"/>
                <a:cs typeface="Microsoft YaHei UI"/>
              </a:rPr>
              <a:t>=</a:t>
            </a:r>
            <a:r>
              <a:rPr dirty="0" sz="2200" spc="-165">
                <a:latin typeface="Microsoft YaHei UI"/>
                <a:cs typeface="Microsoft YaHei UI"/>
              </a:rPr>
              <a:t> </a:t>
            </a:r>
            <a:r>
              <a:rPr dirty="0" sz="2200" spc="-10">
                <a:latin typeface="Microsoft YaHei UI"/>
                <a:cs typeface="Microsoft YaHei UI"/>
              </a:rPr>
              <a:t>(Ф</a:t>
            </a:r>
            <a:r>
              <a:rPr dirty="0" baseline="42735" sz="1950" spc="-15">
                <a:latin typeface="Microsoft YaHei UI"/>
                <a:cs typeface="Microsoft YaHei UI"/>
              </a:rPr>
              <a:t>+</a:t>
            </a:r>
            <a:r>
              <a:rPr dirty="0" sz="2200" spc="-10">
                <a:latin typeface="Microsoft YaHei UI"/>
                <a:cs typeface="Microsoft YaHei UI"/>
              </a:rPr>
              <a:t>Ф)</a:t>
            </a:r>
            <a:r>
              <a:rPr dirty="0" baseline="42735" sz="1950" spc="-15" i="1">
                <a:latin typeface="Times New Roman"/>
                <a:cs typeface="Times New Roman"/>
              </a:rPr>
              <a:t>T </a:t>
            </a:r>
            <a:r>
              <a:rPr dirty="0" sz="2200">
                <a:latin typeface="Microsoft YaHei UI"/>
                <a:cs typeface="Microsoft YaHei UI"/>
              </a:rPr>
              <a:t>ФФ</a:t>
            </a:r>
            <a:r>
              <a:rPr dirty="0" baseline="42735" sz="1950">
                <a:latin typeface="Microsoft YaHei UI"/>
                <a:cs typeface="Microsoft YaHei UI"/>
              </a:rPr>
              <a:t>+</a:t>
            </a:r>
            <a:r>
              <a:rPr dirty="0" baseline="42735" sz="1950" spc="359">
                <a:latin typeface="Microsoft YaHei UI"/>
                <a:cs typeface="Microsoft YaHei UI"/>
              </a:rPr>
              <a:t> </a:t>
            </a:r>
            <a:r>
              <a:rPr dirty="0" sz="2200" spc="-430">
                <a:latin typeface="Microsoft YaHei UI"/>
                <a:cs typeface="Microsoft YaHei UI"/>
              </a:rPr>
              <a:t>=</a:t>
            </a:r>
            <a:r>
              <a:rPr dirty="0" sz="2200" spc="-165">
                <a:latin typeface="Microsoft YaHei UI"/>
                <a:cs typeface="Microsoft YaHei UI"/>
              </a:rPr>
              <a:t> </a:t>
            </a:r>
            <a:r>
              <a:rPr dirty="0" sz="2200" spc="-45">
                <a:latin typeface="Microsoft YaHei UI"/>
                <a:cs typeface="Microsoft YaHei UI"/>
              </a:rPr>
              <a:t>(ФФ</a:t>
            </a:r>
            <a:r>
              <a:rPr dirty="0" baseline="42735" sz="1950" spc="-67">
                <a:latin typeface="Microsoft YaHei UI"/>
                <a:cs typeface="Microsoft YaHei UI"/>
              </a:rPr>
              <a:t>+</a:t>
            </a:r>
            <a:r>
              <a:rPr dirty="0" baseline="42735" sz="1950" spc="-142">
                <a:latin typeface="Microsoft YaHei UI"/>
                <a:cs typeface="Microsoft YaHei UI"/>
              </a:rPr>
              <a:t> </a:t>
            </a:r>
            <a:r>
              <a:rPr dirty="0" sz="2200" spc="-35">
                <a:latin typeface="Microsoft YaHei UI"/>
                <a:cs typeface="Microsoft YaHei UI"/>
              </a:rPr>
              <a:t>)</a:t>
            </a:r>
            <a:r>
              <a:rPr dirty="0" baseline="42735" sz="1950" spc="-52" i="1">
                <a:latin typeface="Times New Roman"/>
                <a:cs typeface="Times New Roman"/>
              </a:rPr>
              <a:t>T</a:t>
            </a:r>
            <a:endParaRPr baseline="42735" sz="19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463675" y="2767609"/>
            <a:ext cx="4416425" cy="1033780"/>
          </a:xfrm>
          <a:custGeom>
            <a:avLst/>
            <a:gdLst/>
            <a:ahLst/>
            <a:cxnLst/>
            <a:rect l="l" t="t" r="r" b="b"/>
            <a:pathLst>
              <a:path w="4416425" h="1033779">
                <a:moveTo>
                  <a:pt x="4403725" y="0"/>
                </a:moveTo>
                <a:lnTo>
                  <a:pt x="12700" y="0"/>
                </a:lnTo>
                <a:lnTo>
                  <a:pt x="10223" y="241"/>
                </a:lnTo>
                <a:lnTo>
                  <a:pt x="0" y="12700"/>
                </a:lnTo>
                <a:lnTo>
                  <a:pt x="0" y="1020762"/>
                </a:lnTo>
                <a:lnTo>
                  <a:pt x="12700" y="1033462"/>
                </a:lnTo>
                <a:lnTo>
                  <a:pt x="4403725" y="1033462"/>
                </a:lnTo>
                <a:lnTo>
                  <a:pt x="4416425" y="1020762"/>
                </a:lnTo>
                <a:lnTo>
                  <a:pt x="25400" y="1020762"/>
                </a:lnTo>
                <a:lnTo>
                  <a:pt x="12700" y="1008062"/>
                </a:lnTo>
                <a:lnTo>
                  <a:pt x="25400" y="1008062"/>
                </a:lnTo>
                <a:lnTo>
                  <a:pt x="25400" y="25400"/>
                </a:lnTo>
                <a:lnTo>
                  <a:pt x="12700" y="25400"/>
                </a:lnTo>
                <a:lnTo>
                  <a:pt x="25400" y="12700"/>
                </a:lnTo>
                <a:lnTo>
                  <a:pt x="4416425" y="12700"/>
                </a:lnTo>
                <a:lnTo>
                  <a:pt x="4416183" y="10223"/>
                </a:lnTo>
                <a:lnTo>
                  <a:pt x="4406201" y="241"/>
                </a:lnTo>
                <a:lnTo>
                  <a:pt x="4403725" y="0"/>
                </a:lnTo>
                <a:close/>
              </a:path>
              <a:path w="4416425" h="1033779">
                <a:moveTo>
                  <a:pt x="25400" y="1008062"/>
                </a:moveTo>
                <a:lnTo>
                  <a:pt x="12700" y="1008062"/>
                </a:lnTo>
                <a:lnTo>
                  <a:pt x="25400" y="1020762"/>
                </a:lnTo>
                <a:lnTo>
                  <a:pt x="25400" y="1008062"/>
                </a:lnTo>
                <a:close/>
              </a:path>
              <a:path w="4416425" h="1033779">
                <a:moveTo>
                  <a:pt x="4391025" y="1008062"/>
                </a:moveTo>
                <a:lnTo>
                  <a:pt x="25400" y="1008062"/>
                </a:lnTo>
                <a:lnTo>
                  <a:pt x="25400" y="1020762"/>
                </a:lnTo>
                <a:lnTo>
                  <a:pt x="4391025" y="1020762"/>
                </a:lnTo>
                <a:lnTo>
                  <a:pt x="4391025" y="1008062"/>
                </a:lnTo>
                <a:close/>
              </a:path>
              <a:path w="4416425" h="1033779">
                <a:moveTo>
                  <a:pt x="4391025" y="12700"/>
                </a:moveTo>
                <a:lnTo>
                  <a:pt x="4391025" y="1020762"/>
                </a:lnTo>
                <a:lnTo>
                  <a:pt x="4403725" y="1008062"/>
                </a:lnTo>
                <a:lnTo>
                  <a:pt x="4416425" y="1008062"/>
                </a:lnTo>
                <a:lnTo>
                  <a:pt x="4416425" y="25400"/>
                </a:lnTo>
                <a:lnTo>
                  <a:pt x="4403725" y="25400"/>
                </a:lnTo>
                <a:lnTo>
                  <a:pt x="4391025" y="12700"/>
                </a:lnTo>
                <a:close/>
              </a:path>
              <a:path w="4416425" h="1033779">
                <a:moveTo>
                  <a:pt x="4416425" y="1008062"/>
                </a:moveTo>
                <a:lnTo>
                  <a:pt x="4403725" y="1008062"/>
                </a:lnTo>
                <a:lnTo>
                  <a:pt x="4391025" y="1020762"/>
                </a:lnTo>
                <a:lnTo>
                  <a:pt x="4416425" y="1020762"/>
                </a:lnTo>
                <a:lnTo>
                  <a:pt x="4416425" y="1008062"/>
                </a:lnTo>
                <a:close/>
              </a:path>
              <a:path w="4416425" h="1033779">
                <a:moveTo>
                  <a:pt x="25400" y="12700"/>
                </a:moveTo>
                <a:lnTo>
                  <a:pt x="12700" y="25400"/>
                </a:lnTo>
                <a:lnTo>
                  <a:pt x="25400" y="25400"/>
                </a:lnTo>
                <a:lnTo>
                  <a:pt x="25400" y="12700"/>
                </a:lnTo>
                <a:close/>
              </a:path>
              <a:path w="4416425" h="1033779">
                <a:moveTo>
                  <a:pt x="4391025" y="12700"/>
                </a:moveTo>
                <a:lnTo>
                  <a:pt x="25400" y="12700"/>
                </a:lnTo>
                <a:lnTo>
                  <a:pt x="25400" y="25400"/>
                </a:lnTo>
                <a:lnTo>
                  <a:pt x="4391025" y="25400"/>
                </a:lnTo>
                <a:lnTo>
                  <a:pt x="4391025" y="12700"/>
                </a:lnTo>
                <a:close/>
              </a:path>
              <a:path w="4416425" h="1033779">
                <a:moveTo>
                  <a:pt x="4416425" y="12700"/>
                </a:moveTo>
                <a:lnTo>
                  <a:pt x="4391025" y="12700"/>
                </a:lnTo>
                <a:lnTo>
                  <a:pt x="4403725" y="25400"/>
                </a:lnTo>
                <a:lnTo>
                  <a:pt x="4416425" y="25400"/>
                </a:lnTo>
                <a:lnTo>
                  <a:pt x="4416425" y="1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280342" y="4407814"/>
            <a:ext cx="33724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95">
                <a:latin typeface="Microsoft YaHei UI"/>
                <a:cs typeface="Microsoft YaHei UI"/>
              </a:rPr>
              <a:t>satisfying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 spc="-70">
                <a:latin typeface="Microsoft YaHei UI"/>
                <a:cs typeface="Microsoft YaHei UI"/>
              </a:rPr>
              <a:t>the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 spc="-90">
                <a:latin typeface="Microsoft YaHei UI"/>
                <a:cs typeface="Microsoft YaHei UI"/>
              </a:rPr>
              <a:t>conditions: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0">
                <a:latin typeface="Microsoft YaHei UI"/>
                <a:cs typeface="Microsoft YaHei UI"/>
              </a:rPr>
              <a:t>18</a:t>
            </a:r>
            <a:endParaRPr sz="1400">
              <a:latin typeface="Microsoft YaHei UI"/>
              <a:cs typeface="Microsoft YaHei UI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2152" y="2693911"/>
            <a:ext cx="404867" cy="356572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94818" y="2667546"/>
            <a:ext cx="313510" cy="32003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19840" y="3352495"/>
            <a:ext cx="218080" cy="2159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37044" y="3387569"/>
            <a:ext cx="126924" cy="7732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82065" y="3170250"/>
            <a:ext cx="427945" cy="41413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99256" y="3769918"/>
            <a:ext cx="1766614" cy="41981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24852" rIns="0" bIns="0" rtlCol="0" vert="horz">
            <a:spAutoFit/>
          </a:bodyPr>
          <a:lstStyle/>
          <a:p>
            <a:pPr marL="890905">
              <a:lnSpc>
                <a:spcPct val="100000"/>
              </a:lnSpc>
              <a:spcBef>
                <a:spcPts val="95"/>
              </a:spcBef>
            </a:pPr>
            <a:r>
              <a:rPr dirty="0" spc="55">
                <a:latin typeface="Microsoft YaHei UI"/>
                <a:cs typeface="Microsoft YaHei UI"/>
              </a:rPr>
              <a:t>RBF</a:t>
            </a:r>
            <a:r>
              <a:rPr dirty="0" spc="-135">
                <a:latin typeface="Microsoft YaHei UI"/>
                <a:cs typeface="Microsoft YaHei UI"/>
              </a:rPr>
              <a:t> </a:t>
            </a:r>
            <a:r>
              <a:rPr dirty="0">
                <a:latin typeface="Microsoft YaHei UI"/>
                <a:cs typeface="Microsoft YaHei UI"/>
              </a:rPr>
              <a:t>Training</a:t>
            </a:r>
            <a:r>
              <a:rPr dirty="0" spc="-130">
                <a:latin typeface="Microsoft YaHei UI"/>
                <a:cs typeface="Microsoft YaHei UI"/>
              </a:rPr>
              <a:t> </a:t>
            </a:r>
            <a:r>
              <a:rPr dirty="0" spc="-55">
                <a:latin typeface="Microsoft YaHei UI"/>
                <a:cs typeface="Microsoft YaHei UI"/>
              </a:rPr>
              <a:t>Algorithm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77190" y="2363990"/>
            <a:ext cx="8088630" cy="3380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0365" indent="-342265">
              <a:lnSpc>
                <a:spcPts val="1395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80365" algn="l"/>
              </a:tabLst>
            </a:pPr>
            <a:r>
              <a:rPr dirty="0" sz="2800" spc="-85" b="1">
                <a:latin typeface="Microsoft YaHei UI"/>
                <a:cs typeface="Microsoft YaHei UI"/>
              </a:rPr>
              <a:t>Initialization:</a:t>
            </a:r>
            <a:r>
              <a:rPr dirty="0" sz="2800" spc="-125" b="1">
                <a:latin typeface="Microsoft YaHei UI"/>
                <a:cs typeface="Microsoft YaHei UI"/>
              </a:rPr>
              <a:t> </a:t>
            </a:r>
            <a:r>
              <a:rPr dirty="0" sz="2800" spc="-35">
                <a:latin typeface="Microsoft YaHei UI"/>
                <a:cs typeface="Microsoft YaHei UI"/>
              </a:rPr>
              <a:t>Examples</a:t>
            </a:r>
            <a:r>
              <a:rPr dirty="0" sz="2800" spc="-140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{(</a:t>
            </a:r>
            <a:r>
              <a:rPr dirty="0" sz="2800" spc="-130">
                <a:latin typeface="Microsoft YaHei UI"/>
                <a:cs typeface="Microsoft YaHei UI"/>
              </a:rPr>
              <a:t> </a:t>
            </a:r>
            <a:r>
              <a:rPr dirty="0" sz="2800" b="1">
                <a:latin typeface="Microsoft YaHei UI"/>
                <a:cs typeface="Microsoft YaHei UI"/>
              </a:rPr>
              <a:t>x</a:t>
            </a:r>
            <a:r>
              <a:rPr dirty="0" baseline="-16975" sz="2700">
                <a:latin typeface="Microsoft YaHei UI"/>
                <a:cs typeface="Microsoft YaHei UI"/>
              </a:rPr>
              <a:t>e</a:t>
            </a:r>
            <a:r>
              <a:rPr dirty="0" sz="2800">
                <a:latin typeface="Microsoft YaHei UI"/>
                <a:cs typeface="Microsoft YaHei UI"/>
              </a:rPr>
              <a:t>,</a:t>
            </a:r>
            <a:r>
              <a:rPr dirty="0" sz="2800" spc="-130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d</a:t>
            </a:r>
            <a:r>
              <a:rPr dirty="0" baseline="-16975" sz="2700">
                <a:latin typeface="Microsoft YaHei UI"/>
                <a:cs typeface="Microsoft YaHei UI"/>
              </a:rPr>
              <a:t>e</a:t>
            </a:r>
            <a:r>
              <a:rPr dirty="0" baseline="-16975" sz="2700" spc="240">
                <a:latin typeface="Microsoft YaHei UI"/>
                <a:cs typeface="Microsoft YaHei UI"/>
              </a:rPr>
              <a:t> </a:t>
            </a:r>
            <a:r>
              <a:rPr dirty="0" sz="2800" spc="-10">
                <a:latin typeface="Microsoft YaHei UI"/>
                <a:cs typeface="Microsoft YaHei UI"/>
              </a:rPr>
              <a:t>)}</a:t>
            </a:r>
            <a:r>
              <a:rPr dirty="0" baseline="-16975" sz="2700" spc="-15">
                <a:latin typeface="Microsoft YaHei UI"/>
                <a:cs typeface="Microsoft YaHei UI"/>
              </a:rPr>
              <a:t>e=1</a:t>
            </a:r>
            <a:endParaRPr baseline="-16975" sz="2700">
              <a:latin typeface="Microsoft YaHei UI"/>
              <a:cs typeface="Microsoft YaHei UI"/>
            </a:endParaRPr>
          </a:p>
          <a:p>
            <a:pPr algn="r" marR="1687195">
              <a:lnSpc>
                <a:spcPts val="1065"/>
              </a:lnSpc>
            </a:pPr>
            <a:r>
              <a:rPr dirty="0" sz="1800" spc="-50">
                <a:latin typeface="Microsoft YaHei UI"/>
                <a:cs typeface="Microsoft YaHei UI"/>
              </a:rPr>
              <a:t>N</a:t>
            </a:r>
            <a:endParaRPr sz="1800">
              <a:latin typeface="Microsoft YaHei UI"/>
              <a:cs typeface="Microsoft YaHei UI"/>
            </a:endParaRPr>
          </a:p>
          <a:p>
            <a:pPr marL="380365" indent="-342265">
              <a:lnSpc>
                <a:spcPct val="100000"/>
              </a:lnSpc>
              <a:spcBef>
                <a:spcPts val="1570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80365" algn="l"/>
              </a:tabLst>
            </a:pPr>
            <a:r>
              <a:rPr dirty="0" sz="2800" spc="-10" b="1">
                <a:latin typeface="Microsoft YaHei UI"/>
                <a:cs typeface="Microsoft YaHei UI"/>
              </a:rPr>
              <a:t>Determine:</a:t>
            </a:r>
            <a:endParaRPr sz="2800">
              <a:latin typeface="Microsoft YaHei UI"/>
              <a:cs typeface="Microsoft YaHei UI"/>
            </a:endParaRPr>
          </a:p>
          <a:p>
            <a:pPr lvl="1" marL="781050" marR="30480" indent="-285750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Font typeface="Lucida Sans Unicode"/>
              <a:buChar char="■"/>
              <a:tabLst>
                <a:tab pos="781050" algn="l"/>
              </a:tabLst>
            </a:pPr>
            <a:r>
              <a:rPr dirty="0" sz="2800" spc="-165">
                <a:latin typeface="Microsoft YaHei UI"/>
                <a:cs typeface="Microsoft YaHei UI"/>
              </a:rPr>
              <a:t>the</a:t>
            </a:r>
            <a:r>
              <a:rPr dirty="0" sz="2800" spc="-35">
                <a:latin typeface="Microsoft YaHei UI"/>
                <a:cs typeface="Microsoft YaHei UI"/>
              </a:rPr>
              <a:t> </a:t>
            </a:r>
            <a:r>
              <a:rPr dirty="0" sz="2800" spc="-180">
                <a:latin typeface="Microsoft YaHei UI"/>
                <a:cs typeface="Microsoft YaHei UI"/>
              </a:rPr>
              <a:t>network</a:t>
            </a:r>
            <a:r>
              <a:rPr dirty="0" sz="2800" spc="-30">
                <a:latin typeface="Microsoft YaHei UI"/>
                <a:cs typeface="Microsoft YaHei UI"/>
              </a:rPr>
              <a:t> </a:t>
            </a:r>
            <a:r>
              <a:rPr dirty="0" sz="2800" spc="-130">
                <a:latin typeface="Microsoft YaHei UI"/>
                <a:cs typeface="Microsoft YaHei UI"/>
              </a:rPr>
              <a:t>structure</a:t>
            </a:r>
            <a:r>
              <a:rPr dirty="0" sz="2800" spc="-35">
                <a:latin typeface="Microsoft YaHei UI"/>
                <a:cs typeface="Microsoft YaHei UI"/>
              </a:rPr>
              <a:t> </a:t>
            </a:r>
            <a:r>
              <a:rPr dirty="0" sz="2800" spc="-204">
                <a:latin typeface="Microsoft YaHei UI"/>
                <a:cs typeface="Microsoft YaHei UI"/>
              </a:rPr>
              <a:t>with</a:t>
            </a:r>
            <a:r>
              <a:rPr dirty="0" sz="2800" spc="-30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a</a:t>
            </a:r>
            <a:r>
              <a:rPr dirty="0" sz="2800" spc="-35">
                <a:latin typeface="Microsoft YaHei UI"/>
                <a:cs typeface="Microsoft YaHei UI"/>
              </a:rPr>
              <a:t> </a:t>
            </a:r>
            <a:r>
              <a:rPr dirty="0" sz="2800" spc="-190">
                <a:latin typeface="Microsoft YaHei UI"/>
                <a:cs typeface="Microsoft YaHei UI"/>
              </a:rPr>
              <a:t>number</a:t>
            </a:r>
            <a:r>
              <a:rPr dirty="0" sz="2800" spc="-30">
                <a:latin typeface="Microsoft YaHei UI"/>
                <a:cs typeface="Microsoft YaHei UI"/>
              </a:rPr>
              <a:t> </a:t>
            </a:r>
            <a:r>
              <a:rPr dirty="0" sz="2800" spc="-175">
                <a:latin typeface="Microsoft YaHei UI"/>
                <a:cs typeface="Microsoft YaHei UI"/>
              </a:rPr>
              <a:t>n</a:t>
            </a:r>
            <a:r>
              <a:rPr dirty="0" sz="2800" spc="-30">
                <a:latin typeface="Microsoft YaHei UI"/>
                <a:cs typeface="Microsoft YaHei UI"/>
              </a:rPr>
              <a:t> </a:t>
            </a:r>
            <a:r>
              <a:rPr dirty="0" sz="2800" spc="-225">
                <a:latin typeface="Microsoft YaHei UI"/>
                <a:cs typeface="Microsoft YaHei UI"/>
              </a:rPr>
              <a:t>of</a:t>
            </a:r>
            <a:r>
              <a:rPr dirty="0" sz="2800" spc="-35">
                <a:latin typeface="Microsoft YaHei UI"/>
                <a:cs typeface="Microsoft YaHei UI"/>
              </a:rPr>
              <a:t> </a:t>
            </a:r>
            <a:r>
              <a:rPr dirty="0" sz="2800" spc="-10">
                <a:latin typeface="Microsoft YaHei UI"/>
                <a:cs typeface="Microsoft YaHei UI"/>
              </a:rPr>
              <a:t>basis </a:t>
            </a:r>
            <a:r>
              <a:rPr dirty="0" sz="2800" spc="-145">
                <a:latin typeface="Microsoft YaHei UI"/>
                <a:cs typeface="Microsoft YaHei UI"/>
              </a:rPr>
              <a:t>functions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 spc="-90">
                <a:latin typeface="Microsoft YaHei UI"/>
                <a:cs typeface="Microsoft YaHei UI"/>
              </a:rPr>
              <a:t>φ</a:t>
            </a:r>
            <a:r>
              <a:rPr dirty="0" baseline="-16975" sz="2700" spc="-135">
                <a:latin typeface="Microsoft YaHei UI"/>
                <a:cs typeface="Microsoft YaHei UI"/>
              </a:rPr>
              <a:t>i</a:t>
            </a:r>
            <a:r>
              <a:rPr dirty="0" sz="2800" spc="-90">
                <a:latin typeface="Microsoft YaHei UI"/>
                <a:cs typeface="Microsoft YaHei UI"/>
              </a:rPr>
              <a:t>,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 spc="-10">
                <a:latin typeface="Microsoft YaHei UI"/>
                <a:cs typeface="Microsoft YaHei UI"/>
              </a:rPr>
              <a:t>i=1,2,...,M</a:t>
            </a:r>
            <a:endParaRPr sz="2800">
              <a:latin typeface="Microsoft YaHei UI"/>
              <a:cs typeface="Microsoft YaHei UI"/>
            </a:endParaRPr>
          </a:p>
          <a:p>
            <a:pPr lvl="1" marL="780415" indent="-28511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Font typeface="Lucida Sans Unicode"/>
              <a:buChar char="■"/>
              <a:tabLst>
                <a:tab pos="780415" algn="l"/>
              </a:tabLst>
            </a:pPr>
            <a:r>
              <a:rPr dirty="0" sz="2800" spc="-165">
                <a:latin typeface="Microsoft YaHei UI"/>
                <a:cs typeface="Microsoft YaHei UI"/>
              </a:rPr>
              <a:t>the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20">
                <a:latin typeface="Microsoft YaHei UI"/>
                <a:cs typeface="Microsoft YaHei UI"/>
              </a:rPr>
              <a:t>basis</a:t>
            </a:r>
            <a:r>
              <a:rPr dirty="0" sz="2800" spc="-155">
                <a:latin typeface="Microsoft YaHei UI"/>
                <a:cs typeface="Microsoft YaHei UI"/>
              </a:rPr>
              <a:t> </a:t>
            </a:r>
            <a:r>
              <a:rPr dirty="0" sz="2800" spc="-180">
                <a:latin typeface="Microsoft YaHei UI"/>
                <a:cs typeface="Microsoft YaHei UI"/>
              </a:rPr>
              <a:t>function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85">
                <a:latin typeface="Microsoft YaHei UI"/>
                <a:cs typeface="Microsoft YaHei UI"/>
              </a:rPr>
              <a:t>centers</a:t>
            </a:r>
            <a:r>
              <a:rPr dirty="0" sz="2800" spc="-80">
                <a:latin typeface="Microsoft YaHei UI"/>
                <a:cs typeface="Microsoft YaHei UI"/>
              </a:rPr>
              <a:t> </a:t>
            </a:r>
            <a:r>
              <a:rPr dirty="0" sz="2800" spc="-35" b="1">
                <a:latin typeface="Microsoft YaHei UI"/>
                <a:cs typeface="Microsoft YaHei UI"/>
              </a:rPr>
              <a:t>t</a:t>
            </a:r>
            <a:r>
              <a:rPr dirty="0" baseline="-16975" sz="2700" spc="-52">
                <a:latin typeface="Microsoft YaHei UI"/>
                <a:cs typeface="Microsoft YaHei UI"/>
              </a:rPr>
              <a:t>i</a:t>
            </a:r>
            <a:r>
              <a:rPr dirty="0" sz="2800" spc="-35">
                <a:latin typeface="Microsoft YaHei UI"/>
                <a:cs typeface="Microsoft YaHei UI"/>
              </a:rPr>
              <a:t>,</a:t>
            </a:r>
            <a:r>
              <a:rPr dirty="0" sz="2800" spc="-85">
                <a:latin typeface="Microsoft YaHei UI"/>
                <a:cs typeface="Microsoft YaHei UI"/>
              </a:rPr>
              <a:t> </a:t>
            </a:r>
            <a:r>
              <a:rPr dirty="0" sz="2800" spc="-10">
                <a:latin typeface="Microsoft YaHei UI"/>
                <a:cs typeface="Microsoft YaHei UI"/>
              </a:rPr>
              <a:t>i=1,2,...,M</a:t>
            </a:r>
            <a:endParaRPr sz="2800">
              <a:latin typeface="Microsoft YaHei UI"/>
              <a:cs typeface="Microsoft YaHei UI"/>
            </a:endParaRPr>
          </a:p>
          <a:p>
            <a:pPr lvl="2" marL="1179195" indent="-226695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SzPct val="50000"/>
              <a:buFont typeface="Lucida Sans Unicode"/>
              <a:buChar char="■"/>
              <a:tabLst>
                <a:tab pos="1179195" algn="l"/>
              </a:tabLst>
            </a:pPr>
            <a:r>
              <a:rPr dirty="0" sz="2400">
                <a:latin typeface="Microsoft YaHei UI"/>
                <a:cs typeface="Microsoft YaHei UI"/>
              </a:rPr>
              <a:t>e.g.:</a:t>
            </a:r>
            <a:r>
              <a:rPr dirty="0" sz="2400" spc="-100">
                <a:latin typeface="Microsoft YaHei UI"/>
                <a:cs typeface="Microsoft YaHei UI"/>
              </a:rPr>
              <a:t> </a:t>
            </a:r>
            <a:r>
              <a:rPr dirty="0" sz="2400" spc="-105">
                <a:latin typeface="Microsoft YaHei UI"/>
                <a:cs typeface="Microsoft YaHei UI"/>
              </a:rPr>
              <a:t>using</a:t>
            </a:r>
            <a:r>
              <a:rPr dirty="0" sz="2400" spc="-70">
                <a:latin typeface="Microsoft YaHei UI"/>
                <a:cs typeface="Microsoft YaHei UI"/>
              </a:rPr>
              <a:t> </a:t>
            </a:r>
            <a:r>
              <a:rPr dirty="0" sz="2400" spc="-20" b="1" i="1">
                <a:solidFill>
                  <a:srgbClr val="FF0000"/>
                </a:solidFill>
                <a:latin typeface="Arial"/>
                <a:cs typeface="Arial"/>
              </a:rPr>
              <a:t>k-</a:t>
            </a:r>
            <a:r>
              <a:rPr dirty="0" sz="2400" b="1" i="1">
                <a:solidFill>
                  <a:srgbClr val="FF0000"/>
                </a:solidFill>
                <a:latin typeface="Arial"/>
                <a:cs typeface="Arial"/>
              </a:rPr>
              <a:t>means</a:t>
            </a:r>
            <a:r>
              <a:rPr dirty="0" sz="2400" spc="-45" b="1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 i="1">
                <a:solidFill>
                  <a:srgbClr val="FF0000"/>
                </a:solidFill>
                <a:latin typeface="Arial"/>
                <a:cs typeface="Arial"/>
              </a:rPr>
              <a:t>clustering</a:t>
            </a:r>
            <a:r>
              <a:rPr dirty="0" sz="2400" spc="-40" b="1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25">
                <a:latin typeface="Microsoft YaHei UI"/>
                <a:cs typeface="Microsoft YaHei UI"/>
              </a:rPr>
              <a:t>algorithm</a:t>
            </a:r>
            <a:endParaRPr sz="2400">
              <a:latin typeface="Microsoft YaHei UI"/>
              <a:cs typeface="Microsoft YaHei UI"/>
            </a:endParaRPr>
          </a:p>
          <a:p>
            <a:pPr lvl="1" marL="780415" indent="-285115">
              <a:lnSpc>
                <a:spcPts val="1395"/>
              </a:lnSpc>
              <a:spcBef>
                <a:spcPts val="775"/>
              </a:spcBef>
              <a:buClr>
                <a:srgbClr val="FF0000"/>
              </a:buClr>
              <a:buSzPct val="53571"/>
              <a:buFont typeface="Lucida Sans Unicode"/>
              <a:buChar char="■"/>
              <a:tabLst>
                <a:tab pos="780415" algn="l"/>
                <a:tab pos="5659120" algn="l"/>
              </a:tabLst>
            </a:pPr>
            <a:r>
              <a:rPr dirty="0" sz="2800" spc="-165">
                <a:latin typeface="Microsoft YaHei UI"/>
                <a:cs typeface="Microsoft YaHei UI"/>
              </a:rPr>
              <a:t>the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20">
                <a:latin typeface="Microsoft YaHei UI"/>
                <a:cs typeface="Microsoft YaHei UI"/>
              </a:rPr>
              <a:t>basis</a:t>
            </a:r>
            <a:r>
              <a:rPr dirty="0" sz="2800" spc="-140">
                <a:latin typeface="Microsoft YaHei UI"/>
                <a:cs typeface="Microsoft YaHei UI"/>
              </a:rPr>
              <a:t> </a:t>
            </a:r>
            <a:r>
              <a:rPr dirty="0" sz="2800" spc="-180">
                <a:latin typeface="Microsoft YaHei UI"/>
                <a:cs typeface="Microsoft YaHei UI"/>
              </a:rPr>
              <a:t>function</a:t>
            </a:r>
            <a:r>
              <a:rPr dirty="0" sz="2800" spc="-50">
                <a:latin typeface="Microsoft YaHei UI"/>
                <a:cs typeface="Microsoft YaHei UI"/>
              </a:rPr>
              <a:t> variances</a:t>
            </a:r>
            <a:r>
              <a:rPr dirty="0" sz="2800" spc="-80">
                <a:latin typeface="Microsoft YaHei UI"/>
                <a:cs typeface="Microsoft YaHei UI"/>
              </a:rPr>
              <a:t> </a:t>
            </a:r>
            <a:r>
              <a:rPr dirty="0" sz="2800" spc="-25">
                <a:latin typeface="Microsoft YaHei UI"/>
                <a:cs typeface="Microsoft YaHei UI"/>
              </a:rPr>
              <a:t>σ</a:t>
            </a:r>
            <a:r>
              <a:rPr dirty="0" baseline="-16975" sz="2700" spc="-37">
                <a:latin typeface="Microsoft YaHei UI"/>
                <a:cs typeface="Microsoft YaHei UI"/>
              </a:rPr>
              <a:t>i</a:t>
            </a:r>
            <a:r>
              <a:rPr dirty="0" baseline="-16975" sz="2700">
                <a:latin typeface="Microsoft YaHei UI"/>
                <a:cs typeface="Microsoft YaHei UI"/>
              </a:rPr>
              <a:t>	</a:t>
            </a:r>
            <a:r>
              <a:rPr dirty="0" sz="2800" spc="100">
                <a:latin typeface="Microsoft YaHei UI"/>
                <a:cs typeface="Microsoft YaHei UI"/>
              </a:rPr>
              <a:t>,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10">
                <a:latin typeface="Microsoft YaHei UI"/>
                <a:cs typeface="Microsoft YaHei UI"/>
              </a:rPr>
              <a:t>i=1,2,...,M</a:t>
            </a:r>
            <a:endParaRPr sz="2800">
              <a:latin typeface="Microsoft YaHei UI"/>
              <a:cs typeface="Microsoft YaHei UI"/>
            </a:endParaRPr>
          </a:p>
          <a:p>
            <a:pPr algn="r" marR="2419985">
              <a:lnSpc>
                <a:spcPts val="1065"/>
              </a:lnSpc>
            </a:pPr>
            <a:r>
              <a:rPr dirty="0" sz="1800" spc="-50">
                <a:latin typeface="Microsoft YaHei UI"/>
                <a:cs typeface="Microsoft YaHei UI"/>
              </a:rPr>
              <a:t>2</a:t>
            </a:r>
            <a:endParaRPr sz="1800">
              <a:latin typeface="Microsoft YaHei UI"/>
              <a:cs typeface="Microsoft YaHei U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0">
                <a:latin typeface="Microsoft YaHei UI"/>
                <a:cs typeface="Microsoft YaHei UI"/>
              </a:rPr>
              <a:t>19</a:t>
            </a:r>
            <a:endParaRPr sz="1400">
              <a:latin typeface="Microsoft YaHei UI"/>
              <a:cs typeface="Microsoft YaHei U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264" y="5800437"/>
            <a:ext cx="4456454" cy="37555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49495" y="5846655"/>
            <a:ext cx="486508" cy="25612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06061" y="5795370"/>
            <a:ext cx="2391484" cy="33451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58254" y="1992093"/>
            <a:ext cx="8255634" cy="128905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20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4965" algn="l"/>
              </a:tabLst>
            </a:pPr>
            <a:r>
              <a:rPr dirty="0" sz="2800" spc="-10" b="1">
                <a:latin typeface="Microsoft YaHei UI"/>
                <a:cs typeface="Microsoft YaHei UI"/>
              </a:rPr>
              <a:t>Compute:</a:t>
            </a:r>
            <a:endParaRPr sz="2800">
              <a:latin typeface="Microsoft YaHei UI"/>
              <a:cs typeface="Microsoft YaHei UI"/>
            </a:endParaRPr>
          </a:p>
          <a:p>
            <a:pPr lvl="1" marL="755015" marR="5080" indent="-285750">
              <a:lnSpc>
                <a:spcPts val="2740"/>
              </a:lnSpc>
              <a:spcBef>
                <a:spcPts val="655"/>
              </a:spcBef>
              <a:buClr>
                <a:srgbClr val="FF0000"/>
              </a:buClr>
              <a:buSzPct val="54166"/>
              <a:buFont typeface="Lucida Sans Unicode"/>
              <a:buChar char="■"/>
              <a:tabLst>
                <a:tab pos="755015" algn="l"/>
              </a:tabLst>
            </a:pPr>
            <a:r>
              <a:rPr dirty="0" sz="2400" spc="-145">
                <a:latin typeface="Microsoft YaHei UI"/>
                <a:cs typeface="Microsoft YaHei UI"/>
              </a:rPr>
              <a:t>the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65">
                <a:latin typeface="Microsoft YaHei UI"/>
                <a:cs typeface="Microsoft YaHei UI"/>
              </a:rPr>
              <a:t>outputs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200">
                <a:latin typeface="Microsoft YaHei UI"/>
                <a:cs typeface="Microsoft YaHei UI"/>
              </a:rPr>
              <a:t>from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20">
                <a:latin typeface="Microsoft YaHei UI"/>
                <a:cs typeface="Microsoft YaHei UI"/>
              </a:rPr>
              <a:t>each</a:t>
            </a:r>
            <a:r>
              <a:rPr dirty="0" sz="2400" spc="-110">
                <a:latin typeface="Microsoft YaHei UI"/>
                <a:cs typeface="Microsoft YaHei UI"/>
              </a:rPr>
              <a:t> </a:t>
            </a:r>
            <a:r>
              <a:rPr dirty="0" sz="2400" spc="-100">
                <a:latin typeface="Microsoft YaHei UI"/>
                <a:cs typeface="Microsoft YaHei UI"/>
              </a:rPr>
              <a:t>example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spc="-175">
                <a:latin typeface="Microsoft YaHei UI"/>
                <a:cs typeface="Microsoft YaHei UI"/>
              </a:rPr>
              <a:t>with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45">
                <a:latin typeface="Microsoft YaHei UI"/>
                <a:cs typeface="Microsoft YaHei UI"/>
              </a:rPr>
              <a:t>the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Gaussian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basis functions: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840414" y="3302127"/>
            <a:ext cx="17564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89000" algn="l"/>
              </a:tabLst>
            </a:pPr>
            <a:r>
              <a:rPr dirty="0" sz="2400" spc="459">
                <a:latin typeface="Cambria"/>
                <a:cs typeface="Cambria"/>
              </a:rPr>
              <a:t>−</a:t>
            </a:r>
            <a:r>
              <a:rPr dirty="0" sz="2400" spc="10">
                <a:latin typeface="Cambria"/>
                <a:cs typeface="Cambria"/>
              </a:rPr>
              <a:t> </a:t>
            </a:r>
            <a:r>
              <a:rPr dirty="0" sz="2400" spc="-409">
                <a:latin typeface="Cambria"/>
                <a:cs typeface="Cambria"/>
              </a:rPr>
              <a:t>|</a:t>
            </a:r>
            <a:r>
              <a:rPr dirty="0" baseline="2314" sz="3600" spc="-615">
                <a:latin typeface="Cambria"/>
                <a:cs typeface="Cambria"/>
              </a:rPr>
              <a:t>|</a:t>
            </a:r>
            <a:r>
              <a:rPr dirty="0" sz="2400" spc="-409">
                <a:latin typeface="Cambria"/>
                <a:cs typeface="Cambria"/>
              </a:rPr>
              <a:t/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459">
                <a:latin typeface="Cambria"/>
                <a:cs typeface="Cambria"/>
              </a:rPr>
              <a:t>−</a:t>
            </a:r>
            <a:r>
              <a:rPr dirty="0" sz="2400" spc="10">
                <a:latin typeface="Cambria"/>
                <a:cs typeface="Cambria"/>
              </a:rPr>
              <a:t> </a:t>
            </a:r>
            <a:r>
              <a:rPr dirty="0" sz="2400" spc="-1465">
                <a:latin typeface="Cambria"/>
                <a:cs typeface="Cambria"/>
              </a:rPr>
              <a:t/>
            </a:r>
            <a:r>
              <a:rPr dirty="0" sz="2400" spc="175">
                <a:latin typeface="Cambria"/>
                <a:cs typeface="Cambria"/>
              </a:rPr>
              <a:t> </a:t>
            </a:r>
            <a:r>
              <a:rPr dirty="0" baseline="2314" sz="3600" spc="-37">
                <a:latin typeface="Cambria"/>
                <a:cs typeface="Cambria"/>
              </a:rPr>
              <a:t>|</a:t>
            </a:r>
            <a:r>
              <a:rPr dirty="0" sz="2400" spc="-25">
                <a:latin typeface="Cambria"/>
                <a:cs typeface="Cambria"/>
              </a:rPr>
              <a:t>|</a:t>
            </a:r>
            <a:r>
              <a:rPr dirty="0" baseline="50793" sz="2625" spc="-37">
                <a:latin typeface="Cambria"/>
                <a:cs typeface="Cambria"/>
              </a:rPr>
              <a:t>2</a:t>
            </a:r>
            <a:endParaRPr baseline="50793" sz="2625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42394" y="3759961"/>
            <a:ext cx="5524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355">
                <a:latin typeface="Cambria"/>
                <a:cs typeface="Cambria"/>
              </a:rPr>
              <a:t>2</a:t>
            </a:r>
            <a:r>
              <a:rPr dirty="0" baseline="31746" sz="2625" spc="-532">
                <a:latin typeface="Cambria"/>
                <a:cs typeface="Cambria"/>
              </a:rPr>
              <a:t>2</a:t>
            </a:r>
            <a:endParaRPr baseline="31746" sz="2625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379914" y="3533267"/>
            <a:ext cx="34074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148205" algn="l"/>
                <a:tab pos="2766060" algn="l"/>
                <a:tab pos="3190240" algn="l"/>
              </a:tabLst>
            </a:pPr>
            <a:r>
              <a:rPr dirty="0" sz="2400" spc="-905">
                <a:latin typeface="Cambria"/>
                <a:cs typeface="Cambria"/>
              </a:rPr>
              <a:t/>
            </a:r>
            <a:r>
              <a:rPr dirty="0" baseline="-15873" sz="2625" spc="-1357">
                <a:latin typeface="Cambria"/>
                <a:cs typeface="Cambria"/>
              </a:rPr>
              <a:t/>
            </a:r>
            <a:r>
              <a:rPr dirty="0" baseline="-15873" sz="2625" spc="690">
                <a:latin typeface="Cambria"/>
                <a:cs typeface="Cambria"/>
              </a:rPr>
              <a:t> </a:t>
            </a:r>
            <a:r>
              <a:rPr dirty="0" sz="2400" spc="459">
                <a:latin typeface="Cambria"/>
                <a:cs typeface="Cambria"/>
              </a:rPr>
              <a:t>=</a:t>
            </a:r>
            <a:r>
              <a:rPr dirty="0" sz="2400" spc="21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exp(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u="heavy" baseline="42857" sz="262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dirty="0" u="heavy" baseline="42857" sz="2625" spc="-1282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/>
            </a:r>
            <a:r>
              <a:rPr dirty="0" u="heavy" baseline="42857" sz="262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dirty="0" u="heavy" baseline="42857" sz="2625" spc="-178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/>
            </a:r>
            <a:r>
              <a:rPr dirty="0" u="heavy" baseline="42857" sz="262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dirty="0" baseline="42857" sz="2625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)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15454" y="4966461"/>
            <a:ext cx="1938020" cy="86614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530"/>
              </a:spcBef>
              <a:buClr>
                <a:srgbClr val="FF0000"/>
              </a:buClr>
              <a:buSzPct val="54166"/>
              <a:buFont typeface="Lucida Sans Unicode"/>
              <a:buChar char="■"/>
              <a:tabLst>
                <a:tab pos="297815" algn="l"/>
              </a:tabLst>
            </a:pPr>
            <a:r>
              <a:rPr dirty="0" sz="2400" spc="-145">
                <a:latin typeface="Microsoft YaHei UI"/>
                <a:cs typeface="Microsoft YaHei UI"/>
              </a:rPr>
              <a:t>the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vector:</a:t>
            </a:r>
            <a:endParaRPr sz="2400">
              <a:latin typeface="Microsoft YaHei UI"/>
              <a:cs typeface="Microsoft YaHei UI"/>
            </a:endParaRPr>
          </a:p>
          <a:p>
            <a:pPr marL="297815" indent="-285115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SzPct val="54166"/>
              <a:buFont typeface="Lucida Sans Unicode"/>
              <a:buChar char="■"/>
              <a:tabLst>
                <a:tab pos="297815" algn="l"/>
              </a:tabLst>
            </a:pPr>
            <a:r>
              <a:rPr dirty="0" sz="2400" spc="-145">
                <a:latin typeface="Microsoft YaHei UI"/>
                <a:cs typeface="Microsoft YaHei UI"/>
              </a:rPr>
              <a:t>the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85">
                <a:latin typeface="Microsoft YaHei UI"/>
                <a:cs typeface="Microsoft YaHei UI"/>
              </a:rPr>
              <a:t>weights: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90054" y="3875793"/>
            <a:ext cx="8067040" cy="11226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L="2286635">
              <a:lnSpc>
                <a:spcPct val="100000"/>
              </a:lnSpc>
              <a:spcBef>
                <a:spcPts val="420"/>
              </a:spcBef>
            </a:pPr>
            <a:r>
              <a:rPr dirty="0" sz="1750" spc="-1190">
                <a:latin typeface="Cambria"/>
                <a:cs typeface="Cambria"/>
              </a:rPr>
              <a:t/>
            </a:r>
            <a:endParaRPr sz="1750">
              <a:latin typeface="Cambria"/>
              <a:cs typeface="Cambria"/>
            </a:endParaRPr>
          </a:p>
          <a:p>
            <a:pPr marL="494665">
              <a:lnSpc>
                <a:spcPct val="100000"/>
              </a:lnSpc>
              <a:spcBef>
                <a:spcPts val="375"/>
              </a:spcBef>
            </a:pPr>
            <a:r>
              <a:rPr dirty="0" sz="2000" spc="-300">
                <a:latin typeface="Microsoft YaHei UI"/>
                <a:cs typeface="Microsoft YaHei UI"/>
              </a:rPr>
              <a:t>//</a:t>
            </a:r>
            <a:r>
              <a:rPr dirty="0" sz="2000" spc="-40">
                <a:latin typeface="Microsoft YaHei UI"/>
                <a:cs typeface="Microsoft YaHei UI"/>
              </a:rPr>
              <a:t> </a:t>
            </a:r>
            <a:r>
              <a:rPr dirty="0" sz="2000" spc="-90">
                <a:latin typeface="Microsoft YaHei UI"/>
                <a:cs typeface="Microsoft YaHei UI"/>
              </a:rPr>
              <a:t>at</a:t>
            </a:r>
            <a:r>
              <a:rPr dirty="0" sz="2000" spc="-50">
                <a:latin typeface="Microsoft YaHei UI"/>
                <a:cs typeface="Microsoft YaHei UI"/>
              </a:rPr>
              <a:t> </a:t>
            </a:r>
            <a:r>
              <a:rPr dirty="0" sz="2000" spc="-20">
                <a:latin typeface="Microsoft YaHei UI"/>
                <a:cs typeface="Microsoft YaHei UI"/>
              </a:rPr>
              <a:t>each</a:t>
            </a:r>
            <a:r>
              <a:rPr dirty="0" sz="2000" spc="-45">
                <a:latin typeface="Microsoft YaHei UI"/>
                <a:cs typeface="Microsoft YaHei UI"/>
              </a:rPr>
              <a:t> </a:t>
            </a:r>
            <a:r>
              <a:rPr dirty="0" sz="2000" spc="-160">
                <a:latin typeface="Microsoft YaHei UI"/>
                <a:cs typeface="Microsoft YaHei UI"/>
              </a:rPr>
              <a:t>i-</a:t>
            </a:r>
            <a:r>
              <a:rPr dirty="0" sz="2000" spc="-170">
                <a:latin typeface="Microsoft YaHei UI"/>
                <a:cs typeface="Microsoft YaHei UI"/>
              </a:rPr>
              <a:t>th</a:t>
            </a:r>
            <a:r>
              <a:rPr dirty="0" sz="2000" spc="-45">
                <a:latin typeface="Microsoft YaHei UI"/>
                <a:cs typeface="Microsoft YaHei UI"/>
              </a:rPr>
              <a:t> </a:t>
            </a:r>
            <a:r>
              <a:rPr dirty="0" sz="2000" spc="-130">
                <a:latin typeface="Microsoft YaHei UI"/>
                <a:cs typeface="Microsoft YaHei UI"/>
              </a:rPr>
              <a:t>hidden</a:t>
            </a:r>
            <a:r>
              <a:rPr dirty="0" sz="2000" spc="-45">
                <a:latin typeface="Microsoft YaHei UI"/>
                <a:cs typeface="Microsoft YaHei UI"/>
              </a:rPr>
              <a:t> </a:t>
            </a:r>
            <a:r>
              <a:rPr dirty="0" sz="2000" spc="-150">
                <a:latin typeface="Microsoft YaHei UI"/>
                <a:cs typeface="Microsoft YaHei UI"/>
              </a:rPr>
              <a:t>unit</a:t>
            </a:r>
            <a:r>
              <a:rPr dirty="0" sz="2000" spc="-40">
                <a:latin typeface="Microsoft YaHei UI"/>
                <a:cs typeface="Microsoft YaHei UI"/>
              </a:rPr>
              <a:t> </a:t>
            </a:r>
            <a:r>
              <a:rPr dirty="0" sz="2000" spc="-90">
                <a:latin typeface="Microsoft YaHei UI"/>
                <a:cs typeface="Microsoft YaHei UI"/>
              </a:rPr>
              <a:t>where</a:t>
            </a:r>
            <a:r>
              <a:rPr dirty="0" sz="2000" spc="-45">
                <a:latin typeface="Microsoft YaHei UI"/>
                <a:cs typeface="Microsoft YaHei UI"/>
              </a:rPr>
              <a:t> </a:t>
            </a:r>
            <a:r>
              <a:rPr dirty="0" sz="2000" spc="-35">
                <a:latin typeface="Microsoft YaHei UI"/>
                <a:cs typeface="Microsoft YaHei UI"/>
              </a:rPr>
              <a:t>i=1,2,...,M;</a:t>
            </a:r>
            <a:r>
              <a:rPr dirty="0" sz="2000" spc="-45">
                <a:latin typeface="Microsoft YaHei UI"/>
                <a:cs typeface="Microsoft YaHei UI"/>
              </a:rPr>
              <a:t> </a:t>
            </a:r>
            <a:r>
              <a:rPr dirty="0" sz="2000" spc="-10">
                <a:latin typeface="Microsoft YaHei UI"/>
                <a:cs typeface="Microsoft YaHei UI"/>
              </a:rPr>
              <a:t>e=1,2,...,N</a:t>
            </a:r>
            <a:endParaRPr sz="2000">
              <a:latin typeface="Microsoft YaHei UI"/>
              <a:cs typeface="Microsoft YaHei UI"/>
            </a:endParaRPr>
          </a:p>
          <a:p>
            <a:pPr marL="323215" indent="-285115">
              <a:lnSpc>
                <a:spcPct val="100000"/>
              </a:lnSpc>
              <a:spcBef>
                <a:spcPts val="260"/>
              </a:spcBef>
              <a:buClr>
                <a:srgbClr val="FF0000"/>
              </a:buClr>
              <a:buSzPct val="54166"/>
              <a:buFont typeface="Lucida Sans Unicode"/>
              <a:buChar char="■"/>
              <a:tabLst>
                <a:tab pos="323215" algn="l"/>
                <a:tab pos="4182745" algn="l"/>
              </a:tabLst>
            </a:pPr>
            <a:r>
              <a:rPr dirty="0" sz="2400" spc="-145">
                <a:latin typeface="Microsoft YaHei UI"/>
                <a:cs typeface="Microsoft YaHei UI"/>
              </a:rPr>
              <a:t>the</a:t>
            </a:r>
            <a:r>
              <a:rPr dirty="0" sz="2400" spc="-5">
                <a:latin typeface="Microsoft YaHei UI"/>
                <a:cs typeface="Microsoft YaHei UI"/>
              </a:rPr>
              <a:t> </a:t>
            </a:r>
            <a:r>
              <a:rPr dirty="0" sz="2400" spc="-120">
                <a:latin typeface="Microsoft YaHei UI"/>
                <a:cs typeface="Microsoft YaHei UI"/>
              </a:rPr>
              <a:t>correlation</a:t>
            </a:r>
            <a:r>
              <a:rPr dirty="0" sz="2400">
                <a:latin typeface="Microsoft YaHei UI"/>
                <a:cs typeface="Microsoft YaHei UI"/>
              </a:rPr>
              <a:t> </a:t>
            </a:r>
            <a:r>
              <a:rPr dirty="0" sz="2400" spc="-105">
                <a:latin typeface="Microsoft YaHei UI"/>
                <a:cs typeface="Microsoft YaHei UI"/>
              </a:rPr>
              <a:t>matrix:</a:t>
            </a:r>
            <a:r>
              <a:rPr dirty="0" sz="2400" spc="-285">
                <a:latin typeface="Microsoft YaHei UI"/>
                <a:cs typeface="Microsoft YaHei UI"/>
              </a:rPr>
              <a:t> </a:t>
            </a:r>
            <a:r>
              <a:rPr dirty="0" baseline="-7337" sz="3975" spc="-37">
                <a:latin typeface="Microsoft YaHei UI"/>
                <a:cs typeface="Microsoft YaHei UI"/>
              </a:rPr>
              <a:t>Ф</a:t>
            </a:r>
            <a:r>
              <a:rPr dirty="0" baseline="30465" sz="2325" spc="-37">
                <a:latin typeface="Microsoft YaHei UI"/>
                <a:cs typeface="Microsoft YaHei UI"/>
              </a:rPr>
              <a:t>T</a:t>
            </a:r>
            <a:r>
              <a:rPr dirty="0" baseline="-7337" sz="3975" spc="-37">
                <a:latin typeface="Microsoft YaHei UI"/>
                <a:cs typeface="Microsoft YaHei UI"/>
              </a:rPr>
              <a:t>Ф</a:t>
            </a:r>
            <a:r>
              <a:rPr dirty="0" baseline="-7337" sz="3975">
                <a:latin typeface="Microsoft YaHei UI"/>
                <a:cs typeface="Microsoft YaHei UI"/>
              </a:rPr>
              <a:t>	</a:t>
            </a:r>
            <a:r>
              <a:rPr dirty="0" sz="2400" spc="-120">
                <a:latin typeface="Microsoft YaHei UI"/>
                <a:cs typeface="Microsoft YaHei UI"/>
              </a:rPr>
              <a:t>and</a:t>
            </a:r>
            <a:r>
              <a:rPr dirty="0" sz="2400" spc="-25">
                <a:latin typeface="Microsoft YaHei UI"/>
                <a:cs typeface="Microsoft YaHei UI"/>
              </a:rPr>
              <a:t> </a:t>
            </a:r>
            <a:r>
              <a:rPr dirty="0" sz="2400" spc="-125">
                <a:latin typeface="Microsoft YaHei UI"/>
                <a:cs typeface="Microsoft YaHei UI"/>
              </a:rPr>
              <a:t>pseudo</a:t>
            </a:r>
            <a:r>
              <a:rPr dirty="0" sz="2400" spc="-25">
                <a:latin typeface="Microsoft YaHei UI"/>
                <a:cs typeface="Microsoft YaHei UI"/>
              </a:rPr>
              <a:t> </a:t>
            </a:r>
            <a:r>
              <a:rPr dirty="0" sz="2400" spc="-70">
                <a:latin typeface="Microsoft YaHei UI"/>
                <a:cs typeface="Microsoft YaHei UI"/>
              </a:rPr>
              <a:t>inverse</a:t>
            </a:r>
            <a:r>
              <a:rPr dirty="0" sz="2400" spc="-290">
                <a:latin typeface="Microsoft YaHei UI"/>
                <a:cs typeface="Microsoft YaHei UI"/>
              </a:rPr>
              <a:t> </a:t>
            </a:r>
            <a:r>
              <a:rPr dirty="0" baseline="4192" sz="3975" spc="-15">
                <a:latin typeface="Microsoft YaHei UI"/>
                <a:cs typeface="Microsoft YaHei UI"/>
              </a:rPr>
              <a:t>(Ф</a:t>
            </a:r>
            <a:r>
              <a:rPr dirty="0" baseline="50179" sz="2325" spc="-15">
                <a:latin typeface="Microsoft YaHei UI"/>
                <a:cs typeface="Microsoft YaHei UI"/>
              </a:rPr>
              <a:t>T</a:t>
            </a:r>
            <a:r>
              <a:rPr dirty="0" baseline="4192" sz="3975" spc="-15">
                <a:latin typeface="Microsoft YaHei UI"/>
                <a:cs typeface="Microsoft YaHei UI"/>
              </a:rPr>
              <a:t>Ф)</a:t>
            </a:r>
            <a:r>
              <a:rPr dirty="0" baseline="50179" sz="2325" spc="-15">
                <a:latin typeface="Microsoft YaHei UI"/>
                <a:cs typeface="Microsoft YaHei UI"/>
              </a:rPr>
              <a:t>–1</a:t>
            </a:r>
            <a:endParaRPr baseline="50179" sz="2325">
              <a:latin typeface="Microsoft YaHei UI"/>
              <a:cs typeface="Microsoft YaHei U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32854" y="5865621"/>
            <a:ext cx="8348345" cy="89916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381000" marR="30480" indent="-342900">
              <a:lnSpc>
                <a:spcPct val="93100"/>
              </a:lnSpc>
              <a:spcBef>
                <a:spcPts val="270"/>
              </a:spcBef>
            </a:pPr>
            <a:r>
              <a:rPr dirty="0" sz="2000" spc="-105">
                <a:latin typeface="Microsoft YaHei UI"/>
                <a:cs typeface="Microsoft YaHei UI"/>
              </a:rPr>
              <a:t>Note:</a:t>
            </a:r>
            <a:r>
              <a:rPr dirty="0" sz="2000" spc="-45">
                <a:latin typeface="Microsoft YaHei UI"/>
                <a:cs typeface="Microsoft YaHei UI"/>
              </a:rPr>
              <a:t> </a:t>
            </a:r>
            <a:r>
              <a:rPr dirty="0" sz="2000">
                <a:latin typeface="Microsoft YaHei UI"/>
                <a:cs typeface="Microsoft YaHei UI"/>
              </a:rPr>
              <a:t>The</a:t>
            </a:r>
            <a:r>
              <a:rPr dirty="0" sz="2000" spc="-145">
                <a:latin typeface="Microsoft YaHei UI"/>
                <a:cs typeface="Microsoft YaHei UI"/>
              </a:rPr>
              <a:t> </a:t>
            </a:r>
            <a:r>
              <a:rPr dirty="0" sz="2000" spc="-105">
                <a:latin typeface="Microsoft YaHei UI"/>
                <a:cs typeface="Microsoft YaHei UI"/>
              </a:rPr>
              <a:t>radial-</a:t>
            </a:r>
            <a:r>
              <a:rPr dirty="0" sz="2000" spc="-10">
                <a:latin typeface="Microsoft YaHei UI"/>
                <a:cs typeface="Microsoft YaHei UI"/>
              </a:rPr>
              <a:t>basis</a:t>
            </a:r>
            <a:r>
              <a:rPr dirty="0" sz="2000" spc="-140">
                <a:latin typeface="Microsoft YaHei UI"/>
                <a:cs typeface="Microsoft YaHei UI"/>
              </a:rPr>
              <a:t> </a:t>
            </a:r>
            <a:r>
              <a:rPr dirty="0" sz="2000" spc="-135">
                <a:latin typeface="Microsoft YaHei UI"/>
                <a:cs typeface="Microsoft YaHei UI"/>
              </a:rPr>
              <a:t>function</a:t>
            </a:r>
            <a:r>
              <a:rPr dirty="0" sz="2000" spc="-45">
                <a:latin typeface="Microsoft YaHei UI"/>
                <a:cs typeface="Microsoft YaHei UI"/>
              </a:rPr>
              <a:t> </a:t>
            </a:r>
            <a:r>
              <a:rPr dirty="0" sz="2000" spc="-55">
                <a:latin typeface="Microsoft YaHei UI"/>
                <a:cs typeface="Microsoft YaHei UI"/>
              </a:rPr>
              <a:t>centers</a:t>
            </a:r>
            <a:r>
              <a:rPr dirty="0" sz="2000" spc="-90">
                <a:latin typeface="Microsoft YaHei UI"/>
                <a:cs typeface="Microsoft YaHei UI"/>
              </a:rPr>
              <a:t> </a:t>
            </a:r>
            <a:r>
              <a:rPr dirty="0" sz="2000" spc="-40">
                <a:latin typeface="Microsoft YaHei UI"/>
                <a:cs typeface="Microsoft YaHei UI"/>
              </a:rPr>
              <a:t>t</a:t>
            </a:r>
            <a:r>
              <a:rPr dirty="0" baseline="-17094" sz="1950" spc="-60">
                <a:latin typeface="Microsoft YaHei UI"/>
                <a:cs typeface="Microsoft YaHei UI"/>
              </a:rPr>
              <a:t>i</a:t>
            </a:r>
            <a:r>
              <a:rPr dirty="0" baseline="-17094" sz="1950" spc="82">
                <a:latin typeface="Microsoft YaHei UI"/>
                <a:cs typeface="Microsoft YaHei UI"/>
              </a:rPr>
              <a:t> </a:t>
            </a:r>
            <a:r>
              <a:rPr dirty="0" sz="2000" spc="-105">
                <a:latin typeface="Microsoft YaHei UI"/>
                <a:cs typeface="Microsoft YaHei UI"/>
              </a:rPr>
              <a:t>and</a:t>
            </a:r>
            <a:r>
              <a:rPr dirty="0" sz="2000" spc="-45">
                <a:latin typeface="Microsoft YaHei UI"/>
                <a:cs typeface="Microsoft YaHei UI"/>
              </a:rPr>
              <a:t> </a:t>
            </a:r>
            <a:r>
              <a:rPr dirty="0" sz="2000" spc="-35">
                <a:latin typeface="Microsoft YaHei UI"/>
                <a:cs typeface="Microsoft YaHei UI"/>
              </a:rPr>
              <a:t>variances</a:t>
            </a:r>
            <a:r>
              <a:rPr dirty="0" sz="2000" spc="-85">
                <a:latin typeface="Microsoft YaHei UI"/>
                <a:cs typeface="Microsoft YaHei UI"/>
              </a:rPr>
              <a:t> </a:t>
            </a:r>
            <a:r>
              <a:rPr dirty="0" sz="2000">
                <a:latin typeface="Microsoft YaHei UI"/>
                <a:cs typeface="Microsoft YaHei UI"/>
              </a:rPr>
              <a:t>σ</a:t>
            </a:r>
            <a:r>
              <a:rPr dirty="0" baseline="-17094" sz="1950">
                <a:latin typeface="Microsoft YaHei UI"/>
                <a:cs typeface="Microsoft YaHei UI"/>
              </a:rPr>
              <a:t>i</a:t>
            </a:r>
            <a:r>
              <a:rPr dirty="0" baseline="21367" sz="1950">
                <a:latin typeface="Microsoft YaHei UI"/>
                <a:cs typeface="Microsoft YaHei UI"/>
              </a:rPr>
              <a:t>2</a:t>
            </a:r>
            <a:r>
              <a:rPr dirty="0" baseline="21367" sz="1950" spc="195">
                <a:latin typeface="Microsoft YaHei UI"/>
                <a:cs typeface="Microsoft YaHei UI"/>
              </a:rPr>
              <a:t> </a:t>
            </a:r>
            <a:r>
              <a:rPr dirty="0" sz="2000" spc="-95">
                <a:latin typeface="Microsoft YaHei UI"/>
                <a:cs typeface="Microsoft YaHei UI"/>
              </a:rPr>
              <a:t>may</a:t>
            </a:r>
            <a:r>
              <a:rPr dirty="0" sz="2000" spc="-50">
                <a:latin typeface="Microsoft YaHei UI"/>
                <a:cs typeface="Microsoft YaHei UI"/>
              </a:rPr>
              <a:t> </a:t>
            </a:r>
            <a:r>
              <a:rPr dirty="0" sz="2000" spc="-100">
                <a:latin typeface="Microsoft YaHei UI"/>
                <a:cs typeface="Microsoft YaHei UI"/>
              </a:rPr>
              <a:t>be</a:t>
            </a:r>
            <a:r>
              <a:rPr dirty="0" sz="2000" spc="-50">
                <a:latin typeface="Microsoft YaHei UI"/>
                <a:cs typeface="Microsoft YaHei UI"/>
              </a:rPr>
              <a:t> </a:t>
            </a:r>
            <a:r>
              <a:rPr dirty="0" sz="2000" spc="-55">
                <a:latin typeface="Microsoft YaHei UI"/>
                <a:cs typeface="Microsoft YaHei UI"/>
              </a:rPr>
              <a:t>trained </a:t>
            </a:r>
            <a:r>
              <a:rPr dirty="0" sz="2000" spc="-120">
                <a:latin typeface="Microsoft YaHei UI"/>
                <a:cs typeface="Microsoft YaHei UI"/>
              </a:rPr>
              <a:t>along</a:t>
            </a:r>
            <a:r>
              <a:rPr dirty="0" sz="2000" spc="-45">
                <a:latin typeface="Microsoft YaHei UI"/>
                <a:cs typeface="Microsoft YaHei UI"/>
              </a:rPr>
              <a:t> </a:t>
            </a:r>
            <a:r>
              <a:rPr dirty="0" sz="2000" spc="-150">
                <a:latin typeface="Microsoft YaHei UI"/>
                <a:cs typeface="Microsoft YaHei UI"/>
              </a:rPr>
              <a:t>with</a:t>
            </a:r>
            <a:r>
              <a:rPr dirty="0" sz="2000" spc="-40">
                <a:latin typeface="Microsoft YaHei UI"/>
                <a:cs typeface="Microsoft YaHei UI"/>
              </a:rPr>
              <a:t> </a:t>
            </a:r>
            <a:r>
              <a:rPr dirty="0" sz="2000" spc="-120">
                <a:latin typeface="Microsoft YaHei UI"/>
                <a:cs typeface="Microsoft YaHei UI"/>
              </a:rPr>
              <a:t>the</a:t>
            </a:r>
            <a:r>
              <a:rPr dirty="0" sz="2000" spc="-40">
                <a:latin typeface="Microsoft YaHei UI"/>
                <a:cs typeface="Microsoft YaHei UI"/>
              </a:rPr>
              <a:t> </a:t>
            </a:r>
            <a:r>
              <a:rPr dirty="0" sz="2000" spc="-175">
                <a:latin typeface="Microsoft YaHei UI"/>
                <a:cs typeface="Microsoft YaHei UI"/>
              </a:rPr>
              <a:t>output</a:t>
            </a:r>
            <a:r>
              <a:rPr dirty="0" sz="2000" spc="-35">
                <a:latin typeface="Microsoft YaHei UI"/>
                <a:cs typeface="Microsoft YaHei UI"/>
              </a:rPr>
              <a:t> </a:t>
            </a:r>
            <a:r>
              <a:rPr dirty="0" sz="2000" spc="-105">
                <a:latin typeface="Microsoft YaHei UI"/>
                <a:cs typeface="Microsoft YaHei UI"/>
              </a:rPr>
              <a:t>weights</a:t>
            </a:r>
            <a:r>
              <a:rPr dirty="0" sz="2000" spc="-35">
                <a:latin typeface="Microsoft YaHei UI"/>
                <a:cs typeface="Microsoft YaHei UI"/>
              </a:rPr>
              <a:t> </a:t>
            </a:r>
            <a:r>
              <a:rPr dirty="0" sz="2000" spc="-175">
                <a:latin typeface="Microsoft YaHei UI"/>
                <a:cs typeface="Microsoft YaHei UI"/>
              </a:rPr>
              <a:t>but</a:t>
            </a:r>
            <a:r>
              <a:rPr dirty="0" sz="2000" spc="-35">
                <a:latin typeface="Microsoft YaHei UI"/>
                <a:cs typeface="Microsoft YaHei UI"/>
              </a:rPr>
              <a:t> </a:t>
            </a:r>
            <a:r>
              <a:rPr dirty="0" sz="2000" spc="-85">
                <a:latin typeface="Microsoft YaHei UI"/>
                <a:cs typeface="Microsoft YaHei UI"/>
              </a:rPr>
              <a:t>this</a:t>
            </a:r>
            <a:r>
              <a:rPr dirty="0" sz="2000" spc="-40">
                <a:latin typeface="Microsoft YaHei UI"/>
                <a:cs typeface="Microsoft YaHei UI"/>
              </a:rPr>
              <a:t> </a:t>
            </a:r>
            <a:r>
              <a:rPr dirty="0" sz="2000" spc="-45">
                <a:latin typeface="Microsoft YaHei UI"/>
                <a:cs typeface="Microsoft YaHei UI"/>
              </a:rPr>
              <a:t>takes</a:t>
            </a:r>
            <a:r>
              <a:rPr dirty="0" sz="2000" spc="-35">
                <a:latin typeface="Microsoft YaHei UI"/>
                <a:cs typeface="Microsoft YaHei UI"/>
              </a:rPr>
              <a:t> </a:t>
            </a:r>
            <a:r>
              <a:rPr dirty="0" sz="2000">
                <a:latin typeface="Microsoft YaHei UI"/>
                <a:cs typeface="Microsoft YaHei UI"/>
              </a:rPr>
              <a:t>a</a:t>
            </a:r>
            <a:r>
              <a:rPr dirty="0" sz="2000" spc="-40">
                <a:latin typeface="Microsoft YaHei UI"/>
                <a:cs typeface="Microsoft YaHei UI"/>
              </a:rPr>
              <a:t> </a:t>
            </a:r>
            <a:r>
              <a:rPr dirty="0" sz="2000" spc="-150">
                <a:latin typeface="Microsoft YaHei UI"/>
                <a:cs typeface="Microsoft YaHei UI"/>
              </a:rPr>
              <a:t>long</a:t>
            </a:r>
            <a:r>
              <a:rPr dirty="0" sz="2000" spc="-40">
                <a:latin typeface="Microsoft YaHei UI"/>
                <a:cs typeface="Microsoft YaHei UI"/>
              </a:rPr>
              <a:t> </a:t>
            </a:r>
            <a:r>
              <a:rPr dirty="0" sz="2000" spc="-100">
                <a:latin typeface="Microsoft YaHei UI"/>
                <a:cs typeface="Microsoft YaHei UI"/>
              </a:rPr>
              <a:t>time.</a:t>
            </a:r>
            <a:r>
              <a:rPr dirty="0" sz="2000" spc="-35">
                <a:latin typeface="Microsoft YaHei UI"/>
                <a:cs typeface="Microsoft YaHei UI"/>
              </a:rPr>
              <a:t> </a:t>
            </a:r>
            <a:r>
              <a:rPr dirty="0" sz="2000" spc="-10">
                <a:latin typeface="Microsoft YaHei UI"/>
                <a:cs typeface="Microsoft YaHei UI"/>
              </a:rPr>
              <a:t>Thus</a:t>
            </a:r>
            <a:r>
              <a:rPr dirty="0" sz="2000" spc="-35">
                <a:latin typeface="Microsoft YaHei UI"/>
                <a:cs typeface="Microsoft YaHei UI"/>
              </a:rPr>
              <a:t> </a:t>
            </a:r>
            <a:r>
              <a:rPr dirty="0" sz="2000" spc="-110">
                <a:latin typeface="Microsoft YaHei UI"/>
                <a:cs typeface="Microsoft YaHei UI"/>
              </a:rPr>
              <a:t>they</a:t>
            </a:r>
            <a:r>
              <a:rPr dirty="0" sz="2000" spc="-35">
                <a:latin typeface="Microsoft YaHei UI"/>
                <a:cs typeface="Microsoft YaHei UI"/>
              </a:rPr>
              <a:t> </a:t>
            </a:r>
            <a:r>
              <a:rPr dirty="0" sz="2000" spc="-25">
                <a:latin typeface="Microsoft YaHei UI"/>
                <a:cs typeface="Microsoft YaHei UI"/>
              </a:rPr>
              <a:t>are </a:t>
            </a:r>
            <a:r>
              <a:rPr dirty="0" sz="2000" spc="-140">
                <a:latin typeface="Microsoft YaHei UI"/>
                <a:cs typeface="Microsoft YaHei UI"/>
              </a:rPr>
              <a:t>often</a:t>
            </a:r>
            <a:r>
              <a:rPr dirty="0" sz="2000" spc="-15">
                <a:latin typeface="Microsoft YaHei UI"/>
                <a:cs typeface="Microsoft YaHei UI"/>
              </a:rPr>
              <a:t> </a:t>
            </a:r>
            <a:r>
              <a:rPr dirty="0" sz="2000" spc="-125">
                <a:latin typeface="Microsoft YaHei UI"/>
                <a:cs typeface="Microsoft YaHei UI"/>
              </a:rPr>
              <a:t>determined</a:t>
            </a:r>
            <a:r>
              <a:rPr dirty="0" sz="2000" spc="-15">
                <a:latin typeface="Microsoft YaHei UI"/>
                <a:cs typeface="Microsoft YaHei UI"/>
              </a:rPr>
              <a:t> </a:t>
            </a:r>
            <a:r>
              <a:rPr dirty="0" sz="2000" spc="-114">
                <a:latin typeface="Microsoft YaHei UI"/>
                <a:cs typeface="Microsoft YaHei UI"/>
              </a:rPr>
              <a:t>in</a:t>
            </a:r>
            <a:r>
              <a:rPr dirty="0" sz="2000" spc="-15">
                <a:latin typeface="Microsoft YaHei UI"/>
                <a:cs typeface="Microsoft YaHei UI"/>
              </a:rPr>
              <a:t> </a:t>
            </a:r>
            <a:r>
              <a:rPr dirty="0" sz="2000" spc="-10">
                <a:latin typeface="Microsoft YaHei UI"/>
                <a:cs typeface="Microsoft YaHei UI"/>
              </a:rPr>
              <a:t>advance.</a:t>
            </a:r>
            <a:endParaRPr sz="2000">
              <a:latin typeface="Microsoft YaHei UI"/>
              <a:cs typeface="Microsoft YaHei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24852" rIns="0" bIns="0" rtlCol="0" vert="horz">
            <a:spAutoFit/>
          </a:bodyPr>
          <a:lstStyle/>
          <a:p>
            <a:pPr marL="890905">
              <a:lnSpc>
                <a:spcPct val="100000"/>
              </a:lnSpc>
              <a:spcBef>
                <a:spcPts val="95"/>
              </a:spcBef>
            </a:pPr>
            <a:r>
              <a:rPr dirty="0" spc="55">
                <a:latin typeface="Microsoft YaHei UI"/>
                <a:cs typeface="Microsoft YaHei UI"/>
              </a:rPr>
              <a:t>RBF</a:t>
            </a:r>
            <a:r>
              <a:rPr dirty="0" spc="-135">
                <a:latin typeface="Microsoft YaHei UI"/>
                <a:cs typeface="Microsoft YaHei UI"/>
              </a:rPr>
              <a:t> </a:t>
            </a:r>
            <a:r>
              <a:rPr dirty="0">
                <a:latin typeface="Microsoft YaHei UI"/>
                <a:cs typeface="Microsoft YaHei UI"/>
              </a:rPr>
              <a:t>Training</a:t>
            </a:r>
            <a:r>
              <a:rPr dirty="0" spc="-130">
                <a:latin typeface="Microsoft YaHei UI"/>
                <a:cs typeface="Microsoft YaHei UI"/>
              </a:rPr>
              <a:t> </a:t>
            </a:r>
            <a:r>
              <a:rPr dirty="0" spc="-55">
                <a:latin typeface="Microsoft YaHei UI"/>
                <a:cs typeface="Microsoft YaHei UI"/>
              </a:rPr>
              <a:t>Algorithm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931667" y="5440362"/>
            <a:ext cx="248221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650" i="1">
                <a:latin typeface="Times New Roman"/>
                <a:cs typeface="Times New Roman"/>
              </a:rPr>
              <a:t>W</a:t>
            </a:r>
            <a:r>
              <a:rPr dirty="0" sz="2650" spc="395" i="1">
                <a:latin typeface="Times New Roman"/>
                <a:cs typeface="Times New Roman"/>
              </a:rPr>
              <a:t> </a:t>
            </a:r>
            <a:r>
              <a:rPr dirty="0" sz="2650" spc="-515">
                <a:latin typeface="Microsoft YaHei UI"/>
                <a:cs typeface="Microsoft YaHei UI"/>
              </a:rPr>
              <a:t>=</a:t>
            </a:r>
            <a:r>
              <a:rPr dirty="0" sz="2650" spc="-170">
                <a:latin typeface="Microsoft YaHei UI"/>
                <a:cs typeface="Microsoft YaHei UI"/>
              </a:rPr>
              <a:t> </a:t>
            </a:r>
            <a:r>
              <a:rPr dirty="0" sz="2650">
                <a:latin typeface="Microsoft YaHei UI"/>
                <a:cs typeface="Microsoft YaHei UI"/>
              </a:rPr>
              <a:t>(Ф</a:t>
            </a:r>
            <a:r>
              <a:rPr dirty="0" baseline="43010" sz="2325">
                <a:latin typeface="Microsoft YaHei UI"/>
                <a:cs typeface="Microsoft YaHei UI"/>
              </a:rPr>
              <a:t>T</a:t>
            </a:r>
            <a:r>
              <a:rPr dirty="0" sz="2650">
                <a:latin typeface="Microsoft YaHei UI"/>
                <a:cs typeface="Microsoft YaHei UI"/>
              </a:rPr>
              <a:t>Ф)</a:t>
            </a:r>
            <a:r>
              <a:rPr dirty="0" baseline="43010" sz="2325">
                <a:latin typeface="Microsoft YaHei UI"/>
                <a:cs typeface="Microsoft YaHei UI"/>
              </a:rPr>
              <a:t>–1</a:t>
            </a:r>
            <a:r>
              <a:rPr dirty="0" baseline="43010" sz="2325" spc="-397">
                <a:latin typeface="Microsoft YaHei UI"/>
                <a:cs typeface="Microsoft YaHei UI"/>
              </a:rPr>
              <a:t> </a:t>
            </a:r>
            <a:r>
              <a:rPr dirty="0" sz="2650">
                <a:latin typeface="Microsoft YaHei UI"/>
                <a:cs typeface="Microsoft YaHei UI"/>
              </a:rPr>
              <a:t>Ф</a:t>
            </a:r>
            <a:r>
              <a:rPr dirty="0" baseline="43010" sz="2325" i="1">
                <a:latin typeface="Times New Roman"/>
                <a:cs typeface="Times New Roman"/>
              </a:rPr>
              <a:t>T</a:t>
            </a:r>
            <a:r>
              <a:rPr dirty="0" baseline="43010" sz="2325" spc="-37" i="1">
                <a:latin typeface="Times New Roman"/>
                <a:cs typeface="Times New Roman"/>
              </a:rPr>
              <a:t> </a:t>
            </a:r>
            <a:r>
              <a:rPr dirty="0" sz="2650" spc="-50" i="1">
                <a:latin typeface="Times New Roman"/>
                <a:cs typeface="Times New Roman"/>
              </a:rPr>
              <a:t>d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965627" y="5022278"/>
            <a:ext cx="66611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650">
                <a:latin typeface="Microsoft YaHei UI"/>
                <a:cs typeface="Microsoft YaHei UI"/>
              </a:rPr>
              <a:t>Ф</a:t>
            </a:r>
            <a:r>
              <a:rPr dirty="0" baseline="43010" sz="2325" i="1">
                <a:latin typeface="Times New Roman"/>
                <a:cs typeface="Times New Roman"/>
              </a:rPr>
              <a:t>T</a:t>
            </a:r>
            <a:r>
              <a:rPr dirty="0" baseline="43010" sz="2325" spc="-112" i="1">
                <a:latin typeface="Times New Roman"/>
                <a:cs typeface="Times New Roman"/>
              </a:rPr>
              <a:t> </a:t>
            </a:r>
            <a:r>
              <a:rPr dirty="0" sz="2650" spc="-50" i="1">
                <a:latin typeface="Times New Roman"/>
                <a:cs typeface="Times New Roman"/>
              </a:rPr>
              <a:t>d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0">
                <a:latin typeface="Microsoft YaHei UI"/>
                <a:cs typeface="Microsoft YaHei UI"/>
              </a:rPr>
              <a:t>20</a:t>
            </a:r>
            <a:endParaRPr sz="1400">
              <a:latin typeface="Microsoft YaHei UI"/>
              <a:cs typeface="Microsoft YaHei UI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9657" y="2893186"/>
            <a:ext cx="2297705" cy="833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9620" rIns="0" bIns="0" rtlCol="0" vert="horz">
            <a:spAutoFit/>
          </a:bodyPr>
          <a:lstStyle/>
          <a:p>
            <a:pPr marL="1032510">
              <a:lnSpc>
                <a:spcPct val="100000"/>
              </a:lnSpc>
              <a:spcBef>
                <a:spcPts val="105"/>
              </a:spcBef>
            </a:pPr>
            <a:r>
              <a:rPr dirty="0" sz="4400" spc="70">
                <a:latin typeface="Microsoft YaHei UI"/>
                <a:cs typeface="Microsoft YaHei UI"/>
              </a:rPr>
              <a:t>RBF</a:t>
            </a:r>
            <a:r>
              <a:rPr dirty="0" sz="4400" spc="-35">
                <a:latin typeface="Microsoft YaHei UI"/>
                <a:cs typeface="Microsoft YaHei UI"/>
              </a:rPr>
              <a:t> </a:t>
            </a:r>
            <a:r>
              <a:rPr dirty="0" sz="4400">
                <a:latin typeface="Microsoft YaHei UI"/>
                <a:cs typeface="Microsoft YaHei UI"/>
              </a:rPr>
              <a:t>-</a:t>
            </a:r>
            <a:r>
              <a:rPr dirty="0" sz="4400" spc="-30">
                <a:latin typeface="Microsoft YaHei UI"/>
                <a:cs typeface="Microsoft YaHei UI"/>
              </a:rPr>
              <a:t> </a:t>
            </a:r>
            <a:r>
              <a:rPr dirty="0" sz="4400">
                <a:latin typeface="Microsoft YaHei UI"/>
                <a:cs typeface="Microsoft YaHei UI"/>
              </a:rPr>
              <a:t>Center</a:t>
            </a:r>
            <a:r>
              <a:rPr dirty="0" sz="4400" spc="-30">
                <a:latin typeface="Microsoft YaHei UI"/>
                <a:cs typeface="Microsoft YaHei UI"/>
              </a:rPr>
              <a:t> </a:t>
            </a:r>
            <a:r>
              <a:rPr dirty="0" sz="4400" spc="-10">
                <a:latin typeface="Microsoft YaHei UI"/>
                <a:cs typeface="Microsoft YaHei UI"/>
              </a:rPr>
              <a:t>Selection</a:t>
            </a:r>
            <a:endParaRPr sz="4400">
              <a:latin typeface="Microsoft YaHei UI"/>
              <a:cs typeface="Microsoft YaHei U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497012" y="2370137"/>
            <a:ext cx="5837555" cy="3089275"/>
          </a:xfrm>
          <a:custGeom>
            <a:avLst/>
            <a:gdLst/>
            <a:ahLst/>
            <a:cxnLst/>
            <a:rect l="l" t="t" r="r" b="b"/>
            <a:pathLst>
              <a:path w="5837555" h="3089275">
                <a:moveTo>
                  <a:pt x="5837237" y="2800350"/>
                </a:moveTo>
                <a:lnTo>
                  <a:pt x="5799137" y="2781300"/>
                </a:lnTo>
                <a:lnTo>
                  <a:pt x="5722937" y="2743200"/>
                </a:lnTo>
                <a:lnTo>
                  <a:pt x="5722937" y="2781300"/>
                </a:lnTo>
                <a:lnTo>
                  <a:pt x="592137" y="2781300"/>
                </a:lnTo>
                <a:lnTo>
                  <a:pt x="592137" y="114300"/>
                </a:lnTo>
                <a:lnTo>
                  <a:pt x="630237" y="114300"/>
                </a:lnTo>
                <a:lnTo>
                  <a:pt x="615950" y="85725"/>
                </a:lnTo>
                <a:lnTo>
                  <a:pt x="573087" y="0"/>
                </a:lnTo>
                <a:lnTo>
                  <a:pt x="515937" y="114300"/>
                </a:lnTo>
                <a:lnTo>
                  <a:pt x="554037" y="114300"/>
                </a:lnTo>
                <a:lnTo>
                  <a:pt x="554037" y="2781300"/>
                </a:lnTo>
                <a:lnTo>
                  <a:pt x="0" y="2781300"/>
                </a:lnTo>
                <a:lnTo>
                  <a:pt x="0" y="2819400"/>
                </a:lnTo>
                <a:lnTo>
                  <a:pt x="554037" y="2819400"/>
                </a:lnTo>
                <a:lnTo>
                  <a:pt x="554037" y="3089275"/>
                </a:lnTo>
                <a:lnTo>
                  <a:pt x="592137" y="3089275"/>
                </a:lnTo>
                <a:lnTo>
                  <a:pt x="592137" y="2819400"/>
                </a:lnTo>
                <a:lnTo>
                  <a:pt x="5722937" y="2819400"/>
                </a:lnTo>
                <a:lnTo>
                  <a:pt x="5722937" y="2857500"/>
                </a:lnTo>
                <a:lnTo>
                  <a:pt x="5799137" y="2819400"/>
                </a:lnTo>
                <a:lnTo>
                  <a:pt x="5837237" y="28003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090727" y="5216842"/>
            <a:ext cx="356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Microsoft YaHei UI"/>
                <a:cs typeface="Microsoft YaHei UI"/>
              </a:rPr>
              <a:t>x</a:t>
            </a:r>
            <a:r>
              <a:rPr dirty="0" baseline="-17921" sz="2325" spc="-37" b="1">
                <a:latin typeface="Microsoft YaHei UI"/>
                <a:cs typeface="Microsoft YaHei UI"/>
              </a:rPr>
              <a:t>1</a:t>
            </a:r>
            <a:endParaRPr baseline="-17921" sz="2325">
              <a:latin typeface="Microsoft YaHei UI"/>
              <a:cs typeface="Microsoft YaHei U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582102" y="2225992"/>
            <a:ext cx="356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Microsoft YaHei UI"/>
                <a:cs typeface="Microsoft YaHei UI"/>
              </a:rPr>
              <a:t>x</a:t>
            </a:r>
            <a:r>
              <a:rPr dirty="0" baseline="-17921" sz="2325" spc="-37" b="1">
                <a:latin typeface="Microsoft YaHei UI"/>
                <a:cs typeface="Microsoft YaHei UI"/>
              </a:rPr>
              <a:t>2</a:t>
            </a:r>
            <a:endParaRPr baseline="-17921" sz="2325">
              <a:latin typeface="Microsoft YaHei UI"/>
              <a:cs typeface="Microsoft YaHei U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279738" y="2618955"/>
            <a:ext cx="4381500" cy="2297430"/>
            <a:chOff x="2279738" y="2618955"/>
            <a:chExt cx="4381500" cy="229743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7488" y="3233318"/>
              <a:ext cx="145859" cy="14477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98926" y="3536530"/>
              <a:ext cx="145859" cy="14478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8626" y="2980905"/>
              <a:ext cx="145859" cy="14477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40251" y="3106318"/>
              <a:ext cx="145859" cy="14477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51376" y="3434930"/>
              <a:ext cx="145859" cy="14477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8488" y="3628605"/>
              <a:ext cx="145859" cy="14478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95938" y="3944518"/>
              <a:ext cx="145859" cy="14478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67376" y="4247730"/>
              <a:ext cx="145859" cy="14478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07076" y="3692105"/>
              <a:ext cx="145859" cy="14478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08701" y="3817518"/>
              <a:ext cx="145859" cy="14478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19826" y="4146130"/>
              <a:ext cx="145859" cy="14478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76938" y="4339805"/>
              <a:ext cx="145859" cy="14478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79738" y="4376318"/>
              <a:ext cx="145859" cy="14478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51176" y="4679530"/>
              <a:ext cx="145859" cy="14478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490876" y="4123905"/>
              <a:ext cx="145859" cy="14478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92501" y="4249318"/>
              <a:ext cx="145859" cy="14478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03626" y="4577930"/>
              <a:ext cx="145859" cy="14478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660738" y="4771605"/>
              <a:ext cx="145859" cy="144780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891301" y="2871368"/>
              <a:ext cx="145859" cy="144779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962738" y="3174580"/>
              <a:ext cx="145859" cy="144779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102438" y="2618955"/>
              <a:ext cx="145859" cy="14477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04063" y="2744368"/>
              <a:ext cx="145859" cy="144779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515188" y="3072980"/>
              <a:ext cx="145859" cy="144779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272301" y="3266655"/>
              <a:ext cx="145859" cy="144779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629113" y="3287293"/>
              <a:ext cx="145859" cy="144779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197563" y="3998493"/>
              <a:ext cx="145859" cy="144780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581363" y="4430293"/>
              <a:ext cx="145859" cy="144780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192926" y="2925343"/>
              <a:ext cx="145859" cy="144779"/>
            </a:xfrm>
            <a:prstGeom prst="rect">
              <a:avLst/>
            </a:prstGeom>
          </p:spPr>
        </p:pic>
      </p:grpSp>
      <p:pic>
        <p:nvPicPr>
          <p:cNvPr id="35" name="object 35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982876" y="5944768"/>
            <a:ext cx="145859" cy="144779"/>
          </a:xfrm>
          <a:prstGeom prst="rect">
            <a:avLst/>
          </a:prstGeom>
        </p:spPr>
      </p:pic>
      <p:sp>
        <p:nvSpPr>
          <p:cNvPr id="36" name="object 36" descr=""/>
          <p:cNvSpPr txBox="1"/>
          <p:nvPr/>
        </p:nvSpPr>
        <p:spPr>
          <a:xfrm>
            <a:off x="2394902" y="5835015"/>
            <a:ext cx="1181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0">
                <a:latin typeface="Microsoft YaHei UI"/>
                <a:cs typeface="Microsoft YaHei UI"/>
              </a:rPr>
              <a:t>Data</a:t>
            </a:r>
            <a:r>
              <a:rPr dirty="0" sz="1800" spc="-65">
                <a:latin typeface="Microsoft YaHei UI"/>
                <a:cs typeface="Microsoft YaHei UI"/>
              </a:rPr>
              <a:t> </a:t>
            </a:r>
            <a:r>
              <a:rPr dirty="0" sz="1800" spc="-95">
                <a:latin typeface="Microsoft YaHei UI"/>
                <a:cs typeface="Microsoft YaHei UI"/>
              </a:rPr>
              <a:t>points</a:t>
            </a:r>
            <a:endParaRPr sz="1800">
              <a:latin typeface="Microsoft YaHei UI"/>
              <a:cs typeface="Microsoft YaHei UI"/>
            </a:endParaRPr>
          </a:p>
        </p:txBody>
      </p:sp>
      <p:pic>
        <p:nvPicPr>
          <p:cNvPr id="37" name="object 37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207088" y="5917781"/>
            <a:ext cx="145859" cy="144779"/>
          </a:xfrm>
          <a:prstGeom prst="rect">
            <a:avLst/>
          </a:prstGeom>
        </p:spPr>
      </p:pic>
      <p:sp>
        <p:nvSpPr>
          <p:cNvPr id="38" name="object 38" descr=""/>
          <p:cNvSpPr txBox="1"/>
          <p:nvPr/>
        </p:nvSpPr>
        <p:spPr>
          <a:xfrm>
            <a:off x="5619115" y="5808027"/>
            <a:ext cx="825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0">
                <a:latin typeface="Microsoft YaHei UI"/>
                <a:cs typeface="Microsoft YaHei UI"/>
              </a:rPr>
              <a:t>Centers</a:t>
            </a:r>
            <a:endParaRPr sz="1800">
              <a:latin typeface="Microsoft YaHei UI"/>
              <a:cs typeface="Microsoft YaHei U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0">
                <a:latin typeface="Microsoft YaHei UI"/>
                <a:cs typeface="Microsoft YaHei UI"/>
              </a:rPr>
              <a:t>21</a:t>
            </a:r>
            <a:endParaRPr sz="1400">
              <a:latin typeface="Microsoft YaHei UI"/>
              <a:cs typeface="Microsoft YaHei U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677" y="1163002"/>
            <a:ext cx="46716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latin typeface="Microsoft YaHei UI"/>
                <a:cs typeface="Microsoft YaHei UI"/>
              </a:rPr>
              <a:t>Finding</a:t>
            </a:r>
            <a:r>
              <a:rPr dirty="0" sz="3600" spc="-130">
                <a:latin typeface="Microsoft YaHei UI"/>
                <a:cs typeface="Microsoft YaHei UI"/>
              </a:rPr>
              <a:t> </a:t>
            </a:r>
            <a:r>
              <a:rPr dirty="0" sz="3600" spc="50">
                <a:latin typeface="Microsoft YaHei UI"/>
                <a:cs typeface="Microsoft YaHei UI"/>
              </a:rPr>
              <a:t>RBF</a:t>
            </a:r>
            <a:r>
              <a:rPr dirty="0" sz="3600" spc="-130">
                <a:latin typeface="Microsoft YaHei UI"/>
                <a:cs typeface="Microsoft YaHei UI"/>
              </a:rPr>
              <a:t> </a:t>
            </a:r>
            <a:r>
              <a:rPr dirty="0" sz="3600" spc="-10">
                <a:latin typeface="Microsoft YaHei UI"/>
                <a:cs typeface="Microsoft YaHei UI"/>
              </a:rPr>
              <a:t>Centers</a:t>
            </a:r>
            <a:endParaRPr sz="3600">
              <a:latin typeface="Microsoft YaHei UI"/>
              <a:cs typeface="Microsoft YaHei U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02272" y="2648216"/>
            <a:ext cx="7867650" cy="221615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10"/>
              </a:spcBef>
              <a:buClr>
                <a:srgbClr val="3333CC"/>
              </a:buClr>
              <a:buSzPct val="60416"/>
              <a:buFont typeface="Lucida Sans Unicode"/>
              <a:buChar char="■"/>
              <a:tabLst>
                <a:tab pos="354965" algn="l"/>
              </a:tabLst>
            </a:pPr>
            <a:r>
              <a:rPr dirty="0" sz="2400" spc="-100" b="1">
                <a:latin typeface="Microsoft YaHei UI"/>
                <a:cs typeface="Microsoft YaHei UI"/>
              </a:rPr>
              <a:t>Random</a:t>
            </a:r>
            <a:r>
              <a:rPr dirty="0" sz="2400" spc="-55" b="1">
                <a:latin typeface="Microsoft YaHei UI"/>
                <a:cs typeface="Microsoft YaHei UI"/>
              </a:rPr>
              <a:t> </a:t>
            </a:r>
            <a:r>
              <a:rPr dirty="0" sz="2400" spc="-10" b="1">
                <a:latin typeface="Microsoft YaHei UI"/>
                <a:cs typeface="Microsoft YaHei UI"/>
              </a:rPr>
              <a:t>Selection</a:t>
            </a:r>
            <a:endParaRPr sz="2400">
              <a:latin typeface="Microsoft YaHei UI"/>
              <a:cs typeface="Microsoft YaHei UI"/>
            </a:endParaRPr>
          </a:p>
          <a:p>
            <a:pPr lvl="1" marL="755650" marR="717550" indent="-285750">
              <a:lnSpc>
                <a:spcPct val="109900"/>
              </a:lnSpc>
              <a:spcBef>
                <a:spcPts val="425"/>
              </a:spcBef>
              <a:buClr>
                <a:srgbClr val="FF0000"/>
              </a:buClr>
              <a:buSzPct val="54166"/>
              <a:buFont typeface="Lucida Sans Unicode"/>
              <a:buChar char="■"/>
              <a:tabLst>
                <a:tab pos="755650" algn="l"/>
              </a:tabLst>
            </a:pPr>
            <a:r>
              <a:rPr dirty="0" sz="2400">
                <a:latin typeface="Microsoft YaHei UI"/>
                <a:cs typeface="Microsoft YaHei UI"/>
              </a:rPr>
              <a:t>The</a:t>
            </a:r>
            <a:r>
              <a:rPr dirty="0" sz="2400" spc="-90">
                <a:latin typeface="Microsoft YaHei UI"/>
                <a:cs typeface="Microsoft YaHei UI"/>
              </a:rPr>
              <a:t> </a:t>
            </a:r>
            <a:r>
              <a:rPr dirty="0" sz="2400" spc="-105">
                <a:latin typeface="Microsoft YaHei UI"/>
                <a:cs typeface="Microsoft YaHei UI"/>
              </a:rPr>
              <a:t>simplest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 spc="-114">
                <a:latin typeface="Microsoft YaHei UI"/>
                <a:cs typeface="Microsoft YaHei UI"/>
              </a:rPr>
              <a:t>approach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is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 spc="-225">
                <a:latin typeface="Microsoft YaHei UI"/>
                <a:cs typeface="Microsoft YaHei UI"/>
              </a:rPr>
              <a:t>to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choose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145">
                <a:latin typeface="Microsoft YaHei UI"/>
                <a:cs typeface="Microsoft YaHei UI"/>
              </a:rPr>
              <a:t>the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40">
                <a:latin typeface="Microsoft YaHei UI"/>
                <a:cs typeface="Microsoft YaHei UI"/>
              </a:rPr>
              <a:t>centers </a:t>
            </a:r>
            <a:r>
              <a:rPr dirty="0" sz="2400" spc="-150">
                <a:latin typeface="Microsoft YaHei UI"/>
                <a:cs typeface="Microsoft YaHei UI"/>
              </a:rPr>
              <a:t>randomly</a:t>
            </a:r>
            <a:r>
              <a:rPr dirty="0" sz="2400" spc="-25">
                <a:latin typeface="Microsoft YaHei UI"/>
                <a:cs typeface="Microsoft YaHei UI"/>
              </a:rPr>
              <a:t> </a:t>
            </a:r>
            <a:r>
              <a:rPr dirty="0" sz="2400" spc="-200">
                <a:latin typeface="Microsoft YaHei UI"/>
                <a:cs typeface="Microsoft YaHei UI"/>
              </a:rPr>
              <a:t>from</a:t>
            </a:r>
            <a:r>
              <a:rPr dirty="0" sz="2400" spc="-15">
                <a:latin typeface="Microsoft YaHei UI"/>
                <a:cs typeface="Microsoft YaHei UI"/>
              </a:rPr>
              <a:t> </a:t>
            </a:r>
            <a:r>
              <a:rPr dirty="0" sz="2400" spc="-145">
                <a:latin typeface="Microsoft YaHei UI"/>
                <a:cs typeface="Microsoft YaHei UI"/>
              </a:rPr>
              <a:t>the</a:t>
            </a:r>
            <a:r>
              <a:rPr dirty="0" sz="2400" spc="-20">
                <a:latin typeface="Microsoft YaHei UI"/>
                <a:cs typeface="Microsoft YaHei UI"/>
              </a:rPr>
              <a:t> </a:t>
            </a:r>
            <a:r>
              <a:rPr dirty="0" sz="2400" spc="-114">
                <a:latin typeface="Microsoft YaHei UI"/>
                <a:cs typeface="Microsoft YaHei UI"/>
              </a:rPr>
              <a:t>given</a:t>
            </a:r>
            <a:r>
              <a:rPr dirty="0" sz="2400" spc="-15">
                <a:latin typeface="Microsoft YaHei UI"/>
                <a:cs typeface="Microsoft YaHei UI"/>
              </a:rPr>
              <a:t> </a:t>
            </a:r>
            <a:r>
              <a:rPr dirty="0" sz="2400" spc="-140">
                <a:latin typeface="Microsoft YaHei UI"/>
                <a:cs typeface="Microsoft YaHei UI"/>
              </a:rPr>
              <a:t>training</a:t>
            </a:r>
            <a:r>
              <a:rPr dirty="0" sz="2400" spc="-15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examples.</a:t>
            </a:r>
            <a:endParaRPr sz="2400">
              <a:latin typeface="Microsoft YaHei UI"/>
              <a:cs typeface="Microsoft YaHei UI"/>
            </a:endParaRPr>
          </a:p>
          <a:p>
            <a:pPr lvl="1" marL="755650" marR="5080" indent="-285750">
              <a:lnSpc>
                <a:spcPct val="1099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Lucida Sans Unicode"/>
              <a:buChar char="■"/>
              <a:tabLst>
                <a:tab pos="755650" algn="l"/>
              </a:tabLst>
            </a:pPr>
            <a:r>
              <a:rPr dirty="0" sz="2400" spc="-90">
                <a:latin typeface="Microsoft YaHei UI"/>
                <a:cs typeface="Microsoft YaHei UI"/>
              </a:rPr>
              <a:t>If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145">
                <a:latin typeface="Microsoft YaHei UI"/>
                <a:cs typeface="Microsoft YaHei UI"/>
              </a:rPr>
              <a:t>the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40">
                <a:latin typeface="Microsoft YaHei UI"/>
                <a:cs typeface="Microsoft YaHei UI"/>
              </a:rPr>
              <a:t>training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examples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20">
                <a:latin typeface="Microsoft YaHei UI"/>
                <a:cs typeface="Microsoft YaHei UI"/>
              </a:rPr>
              <a:t>are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50">
                <a:latin typeface="Microsoft YaHei UI"/>
                <a:cs typeface="Microsoft YaHei UI"/>
              </a:rPr>
              <a:t>distributed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25">
                <a:latin typeface="Microsoft YaHei UI"/>
                <a:cs typeface="Microsoft YaHei UI"/>
              </a:rPr>
              <a:t>in </a:t>
            </a:r>
            <a:r>
              <a:rPr dirty="0" sz="2400" spc="-95">
                <a:latin typeface="Microsoft YaHei UI"/>
                <a:cs typeface="Microsoft YaHei UI"/>
              </a:rPr>
              <a:t>representative</a:t>
            </a:r>
            <a:r>
              <a:rPr dirty="0" sz="2400" spc="-70">
                <a:latin typeface="Microsoft YaHei UI"/>
                <a:cs typeface="Microsoft YaHei UI"/>
              </a:rPr>
              <a:t> </a:t>
            </a:r>
            <a:r>
              <a:rPr dirty="0" sz="2400" spc="-60">
                <a:latin typeface="Microsoft YaHei UI"/>
                <a:cs typeface="Microsoft YaHei UI"/>
              </a:rPr>
              <a:t>way </a:t>
            </a:r>
            <a:r>
              <a:rPr dirty="0" sz="2400" spc="-105">
                <a:latin typeface="Microsoft YaHei UI"/>
                <a:cs typeface="Microsoft YaHei UI"/>
              </a:rPr>
              <a:t>this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114">
                <a:latin typeface="Microsoft YaHei UI"/>
                <a:cs typeface="Microsoft YaHei UI"/>
              </a:rPr>
              <a:t>approach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spc="-60">
                <a:latin typeface="Microsoft YaHei UI"/>
                <a:cs typeface="Microsoft YaHei UI"/>
              </a:rPr>
              <a:t>gives </a:t>
            </a:r>
            <a:r>
              <a:rPr dirty="0" sz="2400" spc="-215">
                <a:latin typeface="Microsoft YaHei UI"/>
                <a:cs typeface="Microsoft YaHei UI"/>
              </a:rPr>
              <a:t>good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results.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0">
                <a:latin typeface="Microsoft YaHei UI"/>
                <a:cs typeface="Microsoft YaHei UI"/>
              </a:rPr>
              <a:t>22</a:t>
            </a:r>
            <a:endParaRPr sz="1400">
              <a:latin typeface="Microsoft YaHei UI"/>
              <a:cs typeface="Microsoft YaHei U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0263" y="2212022"/>
            <a:ext cx="34080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4965" algn="l"/>
              </a:tabLst>
            </a:pPr>
            <a:r>
              <a:rPr dirty="0" sz="2800" spc="-185">
                <a:solidFill>
                  <a:srgbClr val="FF0000"/>
                </a:solidFill>
                <a:latin typeface="Microsoft YaHei UI"/>
                <a:cs typeface="Microsoft YaHei UI"/>
              </a:rPr>
              <a:t>K-</a:t>
            </a:r>
            <a:r>
              <a:rPr dirty="0" sz="2800" spc="-125">
                <a:solidFill>
                  <a:srgbClr val="FF0000"/>
                </a:solidFill>
                <a:latin typeface="Microsoft YaHei UI"/>
                <a:cs typeface="Microsoft YaHei UI"/>
              </a:rPr>
              <a:t>means</a:t>
            </a:r>
            <a:r>
              <a:rPr dirty="0" sz="2800" spc="-60">
                <a:solidFill>
                  <a:srgbClr val="FF0000"/>
                </a:solidFill>
                <a:latin typeface="Microsoft YaHei UI"/>
                <a:cs typeface="Microsoft YaHei UI"/>
              </a:rPr>
              <a:t> </a:t>
            </a:r>
            <a:r>
              <a:rPr dirty="0" sz="2800" spc="-125">
                <a:solidFill>
                  <a:srgbClr val="FF0000"/>
                </a:solidFill>
                <a:latin typeface="Microsoft YaHei UI"/>
                <a:cs typeface="Microsoft YaHei UI"/>
              </a:rPr>
              <a:t>Clustering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49363" y="2638107"/>
            <a:ext cx="7763509" cy="350647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35915" marR="30480" indent="-285750">
              <a:lnSpc>
                <a:spcPct val="79900"/>
              </a:lnSpc>
              <a:spcBef>
                <a:spcPts val="770"/>
              </a:spcBef>
              <a:buClr>
                <a:srgbClr val="FF0000"/>
              </a:buClr>
              <a:buSzPct val="53571"/>
              <a:buFont typeface="Lucida Sans Unicode"/>
              <a:buChar char="■"/>
              <a:tabLst>
                <a:tab pos="335915" algn="l"/>
              </a:tabLst>
            </a:pPr>
            <a:r>
              <a:rPr dirty="0" sz="2800" spc="-10">
                <a:latin typeface="Microsoft YaHei UI"/>
                <a:cs typeface="Microsoft YaHei UI"/>
              </a:rPr>
              <a:t>The</a:t>
            </a:r>
            <a:r>
              <a:rPr dirty="0" sz="2800" spc="-180">
                <a:latin typeface="Microsoft YaHei UI"/>
                <a:cs typeface="Microsoft YaHei UI"/>
              </a:rPr>
              <a:t> </a:t>
            </a:r>
            <a:r>
              <a:rPr dirty="0" sz="2800" spc="-55">
                <a:latin typeface="Microsoft YaHei UI"/>
                <a:cs typeface="Microsoft YaHei UI"/>
              </a:rPr>
              <a:t>use</a:t>
            </a:r>
            <a:r>
              <a:rPr dirty="0" sz="2800" spc="-105">
                <a:latin typeface="Microsoft YaHei UI"/>
                <a:cs typeface="Microsoft YaHei UI"/>
              </a:rPr>
              <a:t> of </a:t>
            </a:r>
            <a:r>
              <a:rPr dirty="0" sz="2800" spc="-80">
                <a:latin typeface="Microsoft YaHei UI"/>
                <a:cs typeface="Microsoft YaHei UI"/>
              </a:rPr>
              <a:t>the</a:t>
            </a:r>
            <a:r>
              <a:rPr dirty="0" sz="2800" spc="-105">
                <a:latin typeface="Microsoft YaHei UI"/>
                <a:cs typeface="Microsoft YaHei UI"/>
              </a:rPr>
              <a:t> </a:t>
            </a:r>
            <a:r>
              <a:rPr dirty="0" sz="2800" spc="-185">
                <a:latin typeface="Microsoft YaHei UI"/>
                <a:cs typeface="Microsoft YaHei UI"/>
              </a:rPr>
              <a:t>K-</a:t>
            </a:r>
            <a:r>
              <a:rPr dirty="0" sz="2800" spc="-125">
                <a:latin typeface="Microsoft YaHei UI"/>
                <a:cs typeface="Microsoft YaHei UI"/>
              </a:rPr>
              <a:t>means</a:t>
            </a:r>
            <a:r>
              <a:rPr dirty="0" sz="2800" spc="-85">
                <a:latin typeface="Microsoft YaHei UI"/>
                <a:cs typeface="Microsoft YaHei UI"/>
              </a:rPr>
              <a:t> </a:t>
            </a:r>
            <a:r>
              <a:rPr dirty="0" sz="2800" spc="-120">
                <a:latin typeface="Microsoft YaHei UI"/>
                <a:cs typeface="Microsoft YaHei UI"/>
              </a:rPr>
              <a:t>clustering</a:t>
            </a:r>
            <a:r>
              <a:rPr dirty="0" sz="2800" spc="-85">
                <a:latin typeface="Microsoft YaHei UI"/>
                <a:cs typeface="Microsoft YaHei UI"/>
              </a:rPr>
              <a:t> </a:t>
            </a:r>
            <a:r>
              <a:rPr dirty="0" sz="2800" spc="-35">
                <a:latin typeface="Microsoft YaHei UI"/>
                <a:cs typeface="Microsoft YaHei UI"/>
              </a:rPr>
              <a:t>algorithm </a:t>
            </a:r>
            <a:r>
              <a:rPr dirty="0" sz="2800" spc="-95">
                <a:latin typeface="Microsoft YaHei UI"/>
                <a:cs typeface="Microsoft YaHei UI"/>
              </a:rPr>
              <a:t>for</a:t>
            </a:r>
            <a:r>
              <a:rPr dirty="0" sz="2800" spc="-114">
                <a:latin typeface="Microsoft YaHei UI"/>
                <a:cs typeface="Microsoft YaHei UI"/>
              </a:rPr>
              <a:t> </a:t>
            </a:r>
            <a:r>
              <a:rPr dirty="0" sz="2800" spc="-80">
                <a:latin typeface="Microsoft YaHei UI"/>
                <a:cs typeface="Microsoft YaHei UI"/>
              </a:rPr>
              <a:t>the</a:t>
            </a:r>
            <a:r>
              <a:rPr dirty="0" sz="2800" spc="-90">
                <a:latin typeface="Microsoft YaHei UI"/>
                <a:cs typeface="Microsoft YaHei UI"/>
              </a:rPr>
              <a:t> </a:t>
            </a:r>
            <a:r>
              <a:rPr dirty="0" sz="2800" spc="-125">
                <a:latin typeface="Microsoft YaHei UI"/>
                <a:cs typeface="Microsoft YaHei UI"/>
              </a:rPr>
              <a:t>selection</a:t>
            </a:r>
            <a:r>
              <a:rPr dirty="0" sz="2800" spc="-75">
                <a:latin typeface="Microsoft YaHei UI"/>
                <a:cs typeface="Microsoft YaHei UI"/>
              </a:rPr>
              <a:t> </a:t>
            </a:r>
            <a:r>
              <a:rPr dirty="0" sz="2800" spc="-105">
                <a:latin typeface="Microsoft YaHei UI"/>
                <a:cs typeface="Microsoft YaHei UI"/>
              </a:rPr>
              <a:t>of</a:t>
            </a:r>
            <a:r>
              <a:rPr dirty="0" sz="2800" spc="-75">
                <a:latin typeface="Microsoft YaHei UI"/>
                <a:cs typeface="Microsoft YaHei UI"/>
              </a:rPr>
              <a:t> </a:t>
            </a:r>
            <a:r>
              <a:rPr dirty="0" sz="2800" spc="-80">
                <a:latin typeface="Microsoft YaHei UI"/>
                <a:cs typeface="Microsoft YaHei UI"/>
              </a:rPr>
              <a:t>the</a:t>
            </a:r>
            <a:r>
              <a:rPr dirty="0" sz="2800" spc="-70">
                <a:latin typeface="Microsoft YaHei UI"/>
                <a:cs typeface="Microsoft YaHei UI"/>
              </a:rPr>
              <a:t> </a:t>
            </a:r>
            <a:r>
              <a:rPr dirty="0" sz="2800" spc="-95">
                <a:latin typeface="Microsoft YaHei UI"/>
                <a:cs typeface="Microsoft YaHei UI"/>
              </a:rPr>
              <a:t>centers</a:t>
            </a:r>
            <a:r>
              <a:rPr dirty="0" sz="2800" spc="-75">
                <a:latin typeface="Microsoft YaHei UI"/>
                <a:cs typeface="Microsoft YaHei UI"/>
              </a:rPr>
              <a:t> </a:t>
            </a:r>
            <a:r>
              <a:rPr dirty="0" sz="2800" b="1">
                <a:latin typeface="Microsoft YaHei UI"/>
                <a:cs typeface="Microsoft YaHei UI"/>
              </a:rPr>
              <a:t>t</a:t>
            </a:r>
            <a:r>
              <a:rPr dirty="0" baseline="-16975" sz="2700">
                <a:latin typeface="Microsoft YaHei UI"/>
                <a:cs typeface="Microsoft YaHei UI"/>
              </a:rPr>
              <a:t>i</a:t>
            </a:r>
            <a:r>
              <a:rPr dirty="0" baseline="-16975" sz="2700" spc="330">
                <a:latin typeface="Microsoft YaHei UI"/>
                <a:cs typeface="Microsoft YaHei UI"/>
              </a:rPr>
              <a:t> </a:t>
            </a:r>
            <a:r>
              <a:rPr dirty="0" sz="2800" spc="-80">
                <a:latin typeface="Microsoft YaHei UI"/>
                <a:cs typeface="Microsoft YaHei UI"/>
              </a:rPr>
              <a:t>relies</a:t>
            </a:r>
            <a:r>
              <a:rPr dirty="0" sz="2800" spc="-75">
                <a:latin typeface="Microsoft YaHei UI"/>
                <a:cs typeface="Microsoft YaHei UI"/>
              </a:rPr>
              <a:t> </a:t>
            </a:r>
            <a:r>
              <a:rPr dirty="0" sz="2800" spc="-190">
                <a:latin typeface="Microsoft YaHei UI"/>
                <a:cs typeface="Microsoft YaHei UI"/>
              </a:rPr>
              <a:t>on</a:t>
            </a:r>
            <a:r>
              <a:rPr dirty="0" sz="2800" spc="-15">
                <a:latin typeface="Microsoft YaHei UI"/>
                <a:cs typeface="Microsoft YaHei UI"/>
              </a:rPr>
              <a:t> </a:t>
            </a:r>
            <a:r>
              <a:rPr dirty="0" sz="2800" spc="-25">
                <a:latin typeface="Microsoft YaHei UI"/>
                <a:cs typeface="Microsoft YaHei UI"/>
              </a:rPr>
              <a:t>the </a:t>
            </a:r>
            <a:r>
              <a:rPr dirty="0" sz="2800" spc="-155">
                <a:latin typeface="Microsoft YaHei UI"/>
                <a:cs typeface="Microsoft YaHei UI"/>
              </a:rPr>
              <a:t>assumption</a:t>
            </a:r>
            <a:r>
              <a:rPr dirty="0" sz="2800" spc="-55">
                <a:latin typeface="Microsoft YaHei UI"/>
                <a:cs typeface="Microsoft YaHei UI"/>
              </a:rPr>
              <a:t> </a:t>
            </a:r>
            <a:r>
              <a:rPr dirty="0" sz="2800" spc="-75">
                <a:latin typeface="Microsoft YaHei UI"/>
                <a:cs typeface="Microsoft YaHei UI"/>
              </a:rPr>
              <a:t>that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 spc="-105">
                <a:latin typeface="Microsoft YaHei UI"/>
                <a:cs typeface="Microsoft YaHei UI"/>
              </a:rPr>
              <a:t>similar</a:t>
            </a:r>
            <a:r>
              <a:rPr dirty="0" sz="2800" spc="-55">
                <a:latin typeface="Microsoft YaHei UI"/>
                <a:cs typeface="Microsoft YaHei UI"/>
              </a:rPr>
              <a:t> </a:t>
            </a:r>
            <a:r>
              <a:rPr dirty="0" sz="2800" spc="-130">
                <a:latin typeface="Microsoft YaHei UI"/>
                <a:cs typeface="Microsoft YaHei UI"/>
              </a:rPr>
              <a:t>inputs</a:t>
            </a:r>
            <a:r>
              <a:rPr dirty="0" sz="2800" spc="-55">
                <a:latin typeface="Microsoft YaHei UI"/>
                <a:cs typeface="Microsoft YaHei UI"/>
              </a:rPr>
              <a:t> </a:t>
            </a:r>
            <a:r>
              <a:rPr dirty="0" sz="2800" spc="-160">
                <a:latin typeface="Microsoft YaHei UI"/>
                <a:cs typeface="Microsoft YaHei UI"/>
              </a:rPr>
              <a:t>should</a:t>
            </a:r>
            <a:r>
              <a:rPr dirty="0" sz="2800" spc="-45">
                <a:latin typeface="Microsoft YaHei UI"/>
                <a:cs typeface="Microsoft YaHei UI"/>
              </a:rPr>
              <a:t> </a:t>
            </a:r>
            <a:r>
              <a:rPr dirty="0" sz="2800" spc="-10">
                <a:latin typeface="Microsoft YaHei UI"/>
                <a:cs typeface="Microsoft YaHei UI"/>
              </a:rPr>
              <a:t>produce </a:t>
            </a:r>
            <a:r>
              <a:rPr dirty="0" sz="2800" spc="-105">
                <a:latin typeface="Microsoft YaHei UI"/>
                <a:cs typeface="Microsoft YaHei UI"/>
              </a:rPr>
              <a:t>similar</a:t>
            </a:r>
            <a:r>
              <a:rPr dirty="0" sz="2800" spc="-95">
                <a:latin typeface="Microsoft YaHei UI"/>
                <a:cs typeface="Microsoft YaHei UI"/>
              </a:rPr>
              <a:t> </a:t>
            </a:r>
            <a:r>
              <a:rPr dirty="0" sz="2800" spc="-105">
                <a:latin typeface="Microsoft YaHei UI"/>
                <a:cs typeface="Microsoft YaHei UI"/>
              </a:rPr>
              <a:t>outputs,</a:t>
            </a:r>
            <a:r>
              <a:rPr dirty="0" sz="2800" spc="-75">
                <a:latin typeface="Microsoft YaHei UI"/>
                <a:cs typeface="Microsoft YaHei UI"/>
              </a:rPr>
              <a:t> </a:t>
            </a:r>
            <a:r>
              <a:rPr dirty="0" sz="2800" spc="-130">
                <a:latin typeface="Microsoft YaHei UI"/>
                <a:cs typeface="Microsoft YaHei UI"/>
              </a:rPr>
              <a:t>and</a:t>
            </a:r>
            <a:r>
              <a:rPr dirty="0" sz="2800" spc="-75">
                <a:latin typeface="Microsoft YaHei UI"/>
                <a:cs typeface="Microsoft YaHei UI"/>
              </a:rPr>
              <a:t> </a:t>
            </a:r>
            <a:r>
              <a:rPr dirty="0" sz="2800" spc="-90">
                <a:latin typeface="Microsoft YaHei UI"/>
                <a:cs typeface="Microsoft YaHei UI"/>
              </a:rPr>
              <a:t>these</a:t>
            </a:r>
            <a:r>
              <a:rPr dirty="0" sz="2800" spc="-75">
                <a:latin typeface="Microsoft YaHei UI"/>
                <a:cs typeface="Microsoft YaHei UI"/>
              </a:rPr>
              <a:t> </a:t>
            </a:r>
            <a:r>
              <a:rPr dirty="0" sz="2800" spc="-105">
                <a:latin typeface="Microsoft YaHei UI"/>
                <a:cs typeface="Microsoft YaHei UI"/>
              </a:rPr>
              <a:t>similar</a:t>
            </a:r>
            <a:r>
              <a:rPr dirty="0" sz="2800" spc="-80">
                <a:latin typeface="Microsoft YaHei UI"/>
                <a:cs typeface="Microsoft YaHei UI"/>
              </a:rPr>
              <a:t> </a:t>
            </a:r>
            <a:r>
              <a:rPr dirty="0" sz="2800" spc="-140">
                <a:latin typeface="Microsoft YaHei UI"/>
                <a:cs typeface="Microsoft YaHei UI"/>
              </a:rPr>
              <a:t>input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 spc="-10">
                <a:latin typeface="Microsoft YaHei UI"/>
                <a:cs typeface="Microsoft YaHei UI"/>
              </a:rPr>
              <a:t>pairs </a:t>
            </a:r>
            <a:r>
              <a:rPr dirty="0" sz="2800" spc="-160">
                <a:latin typeface="Microsoft YaHei UI"/>
                <a:cs typeface="Microsoft YaHei UI"/>
              </a:rPr>
              <a:t>should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120">
                <a:latin typeface="Microsoft YaHei UI"/>
                <a:cs typeface="Microsoft YaHei UI"/>
              </a:rPr>
              <a:t>be</a:t>
            </a:r>
            <a:r>
              <a:rPr dirty="0" sz="2800" spc="-60">
                <a:latin typeface="Microsoft YaHei UI"/>
                <a:cs typeface="Microsoft YaHei UI"/>
              </a:rPr>
              <a:t> </a:t>
            </a:r>
            <a:r>
              <a:rPr dirty="0" sz="2800" spc="-180">
                <a:latin typeface="Microsoft YaHei UI"/>
                <a:cs typeface="Microsoft YaHei UI"/>
              </a:rPr>
              <a:t>bundled</a:t>
            </a:r>
            <a:r>
              <a:rPr dirty="0" sz="2800" spc="-25">
                <a:latin typeface="Microsoft YaHei UI"/>
                <a:cs typeface="Microsoft YaHei UI"/>
              </a:rPr>
              <a:t> </a:t>
            </a:r>
            <a:r>
              <a:rPr dirty="0" sz="2800" spc="-145">
                <a:latin typeface="Microsoft YaHei UI"/>
                <a:cs typeface="Microsoft YaHei UI"/>
              </a:rPr>
              <a:t>together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135">
                <a:latin typeface="Microsoft YaHei UI"/>
                <a:cs typeface="Microsoft YaHei UI"/>
              </a:rPr>
              <a:t>into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90">
                <a:latin typeface="Microsoft YaHei UI"/>
                <a:cs typeface="Microsoft YaHei UI"/>
              </a:rPr>
              <a:t>clusters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90">
                <a:latin typeface="Microsoft YaHei UI"/>
                <a:cs typeface="Microsoft YaHei UI"/>
              </a:rPr>
              <a:t>within </a:t>
            </a:r>
            <a:r>
              <a:rPr dirty="0" sz="2800" spc="-80">
                <a:latin typeface="Microsoft YaHei UI"/>
                <a:cs typeface="Microsoft YaHei UI"/>
              </a:rPr>
              <a:t>the </a:t>
            </a:r>
            <a:r>
              <a:rPr dirty="0" sz="2800" spc="-125">
                <a:latin typeface="Microsoft YaHei UI"/>
                <a:cs typeface="Microsoft YaHei UI"/>
              </a:rPr>
              <a:t>training</a:t>
            </a:r>
            <a:r>
              <a:rPr dirty="0" sz="2800" spc="-80">
                <a:latin typeface="Microsoft YaHei UI"/>
                <a:cs typeface="Microsoft YaHei UI"/>
              </a:rPr>
              <a:t> </a:t>
            </a:r>
            <a:r>
              <a:rPr dirty="0" sz="2800" spc="-20">
                <a:latin typeface="Microsoft YaHei UI"/>
                <a:cs typeface="Microsoft YaHei UI"/>
              </a:rPr>
              <a:t>set.</a:t>
            </a:r>
            <a:endParaRPr sz="2800">
              <a:latin typeface="Microsoft YaHei UI"/>
              <a:cs typeface="Microsoft YaHei UI"/>
            </a:endParaRPr>
          </a:p>
          <a:p>
            <a:pPr marL="335915" marR="42545" indent="-285750">
              <a:lnSpc>
                <a:spcPct val="100000"/>
              </a:lnSpc>
              <a:spcBef>
                <a:spcPts val="550"/>
              </a:spcBef>
              <a:buClr>
                <a:srgbClr val="FF0000"/>
              </a:buClr>
              <a:buSzPct val="53571"/>
              <a:buFont typeface="Lucida Sans Unicode"/>
              <a:buChar char="■"/>
              <a:tabLst>
                <a:tab pos="335915" algn="l"/>
              </a:tabLst>
            </a:pPr>
            <a:r>
              <a:rPr dirty="0" sz="2800" spc="-10">
                <a:latin typeface="Microsoft YaHei UI"/>
                <a:cs typeface="Microsoft YaHei UI"/>
              </a:rPr>
              <a:t>The</a:t>
            </a:r>
            <a:r>
              <a:rPr dirty="0" sz="2800" spc="-180">
                <a:latin typeface="Microsoft YaHei UI"/>
                <a:cs typeface="Microsoft YaHei UI"/>
              </a:rPr>
              <a:t> </a:t>
            </a:r>
            <a:r>
              <a:rPr dirty="0" sz="2800" spc="-185">
                <a:latin typeface="Microsoft YaHei UI"/>
                <a:cs typeface="Microsoft YaHei UI"/>
              </a:rPr>
              <a:t>K-</a:t>
            </a:r>
            <a:r>
              <a:rPr dirty="0" sz="2800" spc="-125">
                <a:latin typeface="Microsoft YaHei UI"/>
                <a:cs typeface="Microsoft YaHei UI"/>
              </a:rPr>
              <a:t>means</a:t>
            </a:r>
            <a:r>
              <a:rPr dirty="0" sz="2800" spc="-85">
                <a:latin typeface="Microsoft YaHei UI"/>
                <a:cs typeface="Microsoft YaHei UI"/>
              </a:rPr>
              <a:t> </a:t>
            </a:r>
            <a:r>
              <a:rPr dirty="0" sz="2800" spc="-120">
                <a:latin typeface="Microsoft YaHei UI"/>
                <a:cs typeface="Microsoft YaHei UI"/>
              </a:rPr>
              <a:t>clustering</a:t>
            </a:r>
            <a:r>
              <a:rPr dirty="0" sz="2800" spc="-85">
                <a:latin typeface="Microsoft YaHei UI"/>
                <a:cs typeface="Microsoft YaHei UI"/>
              </a:rPr>
              <a:t> </a:t>
            </a:r>
            <a:r>
              <a:rPr dirty="0" sz="2800" spc="-105">
                <a:latin typeface="Microsoft YaHei UI"/>
                <a:cs typeface="Microsoft YaHei UI"/>
              </a:rPr>
              <a:t>places</a:t>
            </a:r>
            <a:r>
              <a:rPr dirty="0" sz="2800" spc="-100">
                <a:latin typeface="Microsoft YaHei UI"/>
                <a:cs typeface="Microsoft YaHei UI"/>
              </a:rPr>
              <a:t> </a:t>
            </a:r>
            <a:r>
              <a:rPr dirty="0" sz="2800" spc="-80">
                <a:latin typeface="Microsoft YaHei UI"/>
                <a:cs typeface="Microsoft YaHei UI"/>
              </a:rPr>
              <a:t>the</a:t>
            </a:r>
            <a:r>
              <a:rPr dirty="0" sz="2800" spc="-110">
                <a:latin typeface="Microsoft YaHei UI"/>
                <a:cs typeface="Microsoft YaHei UI"/>
              </a:rPr>
              <a:t> </a:t>
            </a:r>
            <a:r>
              <a:rPr dirty="0" sz="2800" spc="-10">
                <a:latin typeface="Microsoft YaHei UI"/>
                <a:cs typeface="Microsoft YaHei UI"/>
              </a:rPr>
              <a:t>RBF</a:t>
            </a:r>
            <a:r>
              <a:rPr dirty="0" sz="2800" spc="-114">
                <a:latin typeface="Microsoft YaHei UI"/>
                <a:cs typeface="Microsoft YaHei UI"/>
              </a:rPr>
              <a:t> </a:t>
            </a:r>
            <a:r>
              <a:rPr dirty="0" sz="2800" spc="-70">
                <a:latin typeface="Microsoft YaHei UI"/>
                <a:cs typeface="Microsoft YaHei UI"/>
              </a:rPr>
              <a:t>centers </a:t>
            </a:r>
            <a:r>
              <a:rPr dirty="0" sz="2800" spc="-135">
                <a:latin typeface="Microsoft YaHei UI"/>
                <a:cs typeface="Microsoft YaHei UI"/>
              </a:rPr>
              <a:t>only</a:t>
            </a:r>
            <a:r>
              <a:rPr dirty="0" sz="2800" spc="-75">
                <a:latin typeface="Microsoft YaHei UI"/>
                <a:cs typeface="Microsoft YaHei UI"/>
              </a:rPr>
              <a:t> </a:t>
            </a:r>
            <a:r>
              <a:rPr dirty="0" sz="2800" spc="-35">
                <a:latin typeface="Microsoft YaHei UI"/>
                <a:cs typeface="Microsoft YaHei UI"/>
              </a:rPr>
              <a:t>in</a:t>
            </a:r>
            <a:r>
              <a:rPr dirty="0" sz="2800" spc="-170">
                <a:latin typeface="Microsoft YaHei UI"/>
                <a:cs typeface="Microsoft YaHei UI"/>
              </a:rPr>
              <a:t> </a:t>
            </a:r>
            <a:r>
              <a:rPr dirty="0" sz="2800" spc="-140">
                <a:latin typeface="Microsoft YaHei UI"/>
                <a:cs typeface="Microsoft YaHei UI"/>
              </a:rPr>
              <a:t>regions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 spc="-105">
                <a:latin typeface="Microsoft YaHei UI"/>
                <a:cs typeface="Microsoft YaHei UI"/>
              </a:rPr>
              <a:t>of</a:t>
            </a:r>
            <a:r>
              <a:rPr dirty="0" sz="2800" spc="-100">
                <a:latin typeface="Microsoft YaHei UI"/>
                <a:cs typeface="Microsoft YaHei UI"/>
              </a:rPr>
              <a:t> </a:t>
            </a:r>
            <a:r>
              <a:rPr dirty="0" sz="2800" spc="-80">
                <a:latin typeface="Microsoft YaHei UI"/>
                <a:cs typeface="Microsoft YaHei UI"/>
              </a:rPr>
              <a:t>the</a:t>
            </a:r>
            <a:r>
              <a:rPr dirty="0" sz="2800" spc="-90">
                <a:latin typeface="Microsoft YaHei UI"/>
                <a:cs typeface="Microsoft YaHei UI"/>
              </a:rPr>
              <a:t> </a:t>
            </a:r>
            <a:r>
              <a:rPr dirty="0" sz="2800" spc="-140">
                <a:latin typeface="Microsoft YaHei UI"/>
                <a:cs typeface="Microsoft YaHei UI"/>
              </a:rPr>
              <a:t>input</a:t>
            </a:r>
            <a:r>
              <a:rPr dirty="0" sz="2800" spc="-70">
                <a:latin typeface="Microsoft YaHei UI"/>
                <a:cs typeface="Microsoft YaHei UI"/>
              </a:rPr>
              <a:t> </a:t>
            </a:r>
            <a:r>
              <a:rPr dirty="0" sz="2800" spc="-100">
                <a:latin typeface="Microsoft YaHei UI"/>
                <a:cs typeface="Microsoft YaHei UI"/>
              </a:rPr>
              <a:t>space</a:t>
            </a:r>
            <a:r>
              <a:rPr dirty="0" sz="2800" spc="-90">
                <a:latin typeface="Microsoft YaHei UI"/>
                <a:cs typeface="Microsoft YaHei UI"/>
              </a:rPr>
              <a:t> </a:t>
            </a:r>
            <a:r>
              <a:rPr dirty="0" sz="2800" spc="-100">
                <a:latin typeface="Microsoft YaHei UI"/>
                <a:cs typeface="Microsoft YaHei UI"/>
              </a:rPr>
              <a:t>where</a:t>
            </a:r>
            <a:r>
              <a:rPr dirty="0" sz="2800" spc="-90">
                <a:latin typeface="Microsoft YaHei UI"/>
                <a:cs typeface="Microsoft YaHei UI"/>
              </a:rPr>
              <a:t> </a:t>
            </a:r>
            <a:r>
              <a:rPr dirty="0" sz="2800" spc="-10">
                <a:latin typeface="Microsoft YaHei UI"/>
                <a:cs typeface="Microsoft YaHei UI"/>
              </a:rPr>
              <a:t>there </a:t>
            </a:r>
            <a:r>
              <a:rPr dirty="0" sz="2800" spc="-20">
                <a:latin typeface="Microsoft YaHei UI"/>
                <a:cs typeface="Microsoft YaHei UI"/>
              </a:rPr>
              <a:t>are</a:t>
            </a:r>
            <a:r>
              <a:rPr dirty="0" sz="2800" spc="-105">
                <a:latin typeface="Microsoft YaHei UI"/>
                <a:cs typeface="Microsoft YaHei UI"/>
              </a:rPr>
              <a:t> </a:t>
            </a:r>
            <a:r>
              <a:rPr dirty="0" sz="2800" spc="-120">
                <a:latin typeface="Microsoft YaHei UI"/>
                <a:cs typeface="Microsoft YaHei UI"/>
              </a:rPr>
              <a:t>significant</a:t>
            </a:r>
            <a:r>
              <a:rPr dirty="0" sz="2800" spc="-75">
                <a:latin typeface="Microsoft YaHei UI"/>
                <a:cs typeface="Microsoft YaHei UI"/>
              </a:rPr>
              <a:t> </a:t>
            </a:r>
            <a:r>
              <a:rPr dirty="0" sz="2800" spc="-155">
                <a:latin typeface="Microsoft YaHei UI"/>
                <a:cs typeface="Microsoft YaHei UI"/>
              </a:rPr>
              <a:t>amounts</a:t>
            </a:r>
            <a:r>
              <a:rPr dirty="0" sz="2800" spc="-55">
                <a:latin typeface="Microsoft YaHei UI"/>
                <a:cs typeface="Microsoft YaHei UI"/>
              </a:rPr>
              <a:t> </a:t>
            </a:r>
            <a:r>
              <a:rPr dirty="0" sz="2800" spc="-105">
                <a:latin typeface="Microsoft YaHei UI"/>
                <a:cs typeface="Microsoft YaHei UI"/>
              </a:rPr>
              <a:t>of</a:t>
            </a:r>
            <a:r>
              <a:rPr dirty="0" sz="2800" spc="-75">
                <a:latin typeface="Microsoft YaHei UI"/>
                <a:cs typeface="Microsoft YaHei UI"/>
              </a:rPr>
              <a:t> </a:t>
            </a:r>
            <a:r>
              <a:rPr dirty="0" sz="2800" spc="-125">
                <a:latin typeface="Microsoft YaHei UI"/>
                <a:cs typeface="Microsoft YaHei UI"/>
              </a:rPr>
              <a:t>training</a:t>
            </a:r>
            <a:r>
              <a:rPr dirty="0" sz="2800" spc="-75">
                <a:latin typeface="Microsoft YaHei UI"/>
                <a:cs typeface="Microsoft YaHei UI"/>
              </a:rPr>
              <a:t> </a:t>
            </a:r>
            <a:r>
              <a:rPr dirty="0" sz="2800" spc="-10">
                <a:latin typeface="Microsoft YaHei UI"/>
                <a:cs typeface="Microsoft YaHei UI"/>
              </a:rPr>
              <a:t>examples.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29677" y="653572"/>
            <a:ext cx="5760085" cy="108394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48895">
              <a:lnSpc>
                <a:spcPct val="100000"/>
              </a:lnSpc>
              <a:spcBef>
                <a:spcPts val="370"/>
              </a:spcBef>
            </a:pPr>
            <a:r>
              <a:rPr dirty="0" sz="1300" spc="50">
                <a:latin typeface="Microsoft JhengHei UI"/>
                <a:cs typeface="Microsoft JhengHei UI"/>
              </a:rPr>
              <a:t>使⽤ </a:t>
            </a:r>
            <a:r>
              <a:rPr dirty="0" sz="1300">
                <a:latin typeface="Microsoft JhengHei UI"/>
                <a:cs typeface="Microsoft JhengHei UI"/>
              </a:rPr>
              <a:t>K-means</a:t>
            </a:r>
            <a:r>
              <a:rPr dirty="0" sz="1300" spc="25">
                <a:latin typeface="Microsoft JhengHei UI"/>
                <a:cs typeface="Microsoft JhengHei UI"/>
              </a:rPr>
              <a:t> 算法来选择中⼼ </a:t>
            </a:r>
            <a:r>
              <a:rPr dirty="0" sz="1300">
                <a:latin typeface="Microsoft JhengHei UI"/>
                <a:cs typeface="Microsoft JhengHei UI"/>
              </a:rPr>
              <a:t>ti</a:t>
            </a:r>
            <a:r>
              <a:rPr dirty="0" sz="1300" spc="-5">
                <a:latin typeface="Microsoft JhengHei UI"/>
                <a:cs typeface="Microsoft JhengHei UI"/>
              </a:rPr>
              <a:t> 依赖于这样⼀个假设：相似的输⼊应该会产</a:t>
            </a:r>
            <a:endParaRPr sz="1300">
              <a:latin typeface="Microsoft JhengHei UI"/>
              <a:cs typeface="Microsoft JhengHei UI"/>
            </a:endParaRPr>
          </a:p>
          <a:p>
            <a:pPr marL="48895">
              <a:lnSpc>
                <a:spcPct val="100000"/>
              </a:lnSpc>
              <a:spcBef>
                <a:spcPts val="270"/>
              </a:spcBef>
            </a:pPr>
            <a:r>
              <a:rPr dirty="0" sz="1300" spc="-5">
                <a:latin typeface="Microsoft JhengHei UI"/>
                <a:cs typeface="Microsoft JhengHei UI"/>
              </a:rPr>
              <a:t>⽣相似的输出，因此这些相似的输⼊对应该被捆绑到训练集中的‘簇’⾥。</a:t>
            </a:r>
            <a:endParaRPr sz="13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3600" spc="-10" b="1">
                <a:solidFill>
                  <a:srgbClr val="800000"/>
                </a:solidFill>
                <a:latin typeface="Microsoft YaHei UI"/>
                <a:cs typeface="Microsoft YaHei UI"/>
              </a:rPr>
              <a:t>Finding</a:t>
            </a:r>
            <a:r>
              <a:rPr dirty="0" sz="3600" spc="-130" b="1">
                <a:solidFill>
                  <a:srgbClr val="800000"/>
                </a:solidFill>
                <a:latin typeface="Microsoft YaHei UI"/>
                <a:cs typeface="Microsoft YaHei UI"/>
              </a:rPr>
              <a:t> </a:t>
            </a:r>
            <a:r>
              <a:rPr dirty="0" sz="3600" spc="50" b="1">
                <a:solidFill>
                  <a:srgbClr val="800000"/>
                </a:solidFill>
                <a:latin typeface="Microsoft YaHei UI"/>
                <a:cs typeface="Microsoft YaHei UI"/>
              </a:rPr>
              <a:t>RBF</a:t>
            </a:r>
            <a:r>
              <a:rPr dirty="0" sz="3600" spc="-130" b="1">
                <a:solidFill>
                  <a:srgbClr val="800000"/>
                </a:solidFill>
                <a:latin typeface="Microsoft YaHei UI"/>
                <a:cs typeface="Microsoft YaHei UI"/>
              </a:rPr>
              <a:t> </a:t>
            </a:r>
            <a:r>
              <a:rPr dirty="0" sz="3600" spc="-10" b="1">
                <a:solidFill>
                  <a:srgbClr val="800000"/>
                </a:solidFill>
                <a:latin typeface="Microsoft YaHei UI"/>
                <a:cs typeface="Microsoft YaHei UI"/>
              </a:rPr>
              <a:t>Centers</a:t>
            </a:r>
            <a:endParaRPr sz="3600">
              <a:latin typeface="Microsoft YaHei UI"/>
              <a:cs typeface="Microsoft YaHei U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0">
                <a:latin typeface="Microsoft YaHei UI"/>
                <a:cs typeface="Microsoft YaHei UI"/>
              </a:rPr>
              <a:t>23</a:t>
            </a:r>
            <a:endParaRPr sz="1400">
              <a:latin typeface="Microsoft YaHei UI"/>
              <a:cs typeface="Microsoft YaHei U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600530" y="1731441"/>
            <a:ext cx="6358890" cy="442595"/>
            <a:chOff x="1600530" y="1731441"/>
            <a:chExt cx="6358890" cy="44259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0530" y="1765744"/>
              <a:ext cx="3546855" cy="40766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17871" y="1760042"/>
              <a:ext cx="2290273" cy="368223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8178" y="1731441"/>
              <a:ext cx="380847" cy="381939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3882688" y="2323808"/>
            <a:ext cx="428688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>
                <a:latin typeface="Times New Roman"/>
                <a:cs typeface="Times New Roman"/>
              </a:rPr>
              <a:t>K-Means</a:t>
            </a:r>
            <a:r>
              <a:rPr dirty="0" sz="1250" spc="25">
                <a:latin typeface="Times New Roman"/>
                <a:cs typeface="Times New Roman"/>
              </a:rPr>
              <a:t> </a:t>
            </a:r>
            <a:r>
              <a:rPr dirty="0" sz="1250">
                <a:latin typeface="Microsoft JhengHei UI"/>
                <a:cs typeface="Microsoft JhengHei UI"/>
              </a:rPr>
              <a:t>算法的本质就是去寻找</a:t>
            </a:r>
            <a:r>
              <a:rPr dirty="0" sz="1250">
                <a:latin typeface="Times New Roman"/>
                <a:cs typeface="Times New Roman"/>
              </a:rPr>
              <a:t>“</a:t>
            </a:r>
            <a:r>
              <a:rPr dirty="0" sz="1250" spc="-5">
                <a:latin typeface="Microsoft JhengHei UI"/>
                <a:cs typeface="Microsoft JhengHei UI"/>
              </a:rPr>
              <a:t>数据密度⾼</a:t>
            </a:r>
            <a:r>
              <a:rPr dirty="0" sz="1250">
                <a:latin typeface="Times New Roman"/>
                <a:cs typeface="Times New Roman"/>
              </a:rPr>
              <a:t>”</a:t>
            </a:r>
            <a:r>
              <a:rPr dirty="0" sz="1250">
                <a:latin typeface="Microsoft JhengHei UI"/>
                <a:cs typeface="Microsoft JhengHei UI"/>
              </a:rPr>
              <a:t>的区域的</a:t>
            </a:r>
            <a:r>
              <a:rPr dirty="0" sz="1250">
                <a:latin typeface="Times New Roman"/>
                <a:cs typeface="Times New Roman"/>
              </a:rPr>
              <a:t>“</a:t>
            </a:r>
            <a:r>
              <a:rPr dirty="0" sz="1250">
                <a:latin typeface="Microsoft JhengHei UI"/>
                <a:cs typeface="Microsoft JhengHei UI"/>
              </a:rPr>
              <a:t>质⼼</a:t>
            </a:r>
            <a:r>
              <a:rPr dirty="0" sz="1250" spc="-50">
                <a:latin typeface="Times New Roman"/>
                <a:cs typeface="Times New Roman"/>
              </a:rPr>
              <a:t>”</a:t>
            </a:r>
            <a:endParaRPr sz="1250">
              <a:latin typeface="Times New Roman"/>
              <a:cs typeface="Times New Roman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64984" y="4486732"/>
            <a:ext cx="2200929" cy="36009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67914" y="4517897"/>
            <a:ext cx="791634" cy="297751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66013" y="4510278"/>
            <a:ext cx="671080" cy="40153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18568" y="4515002"/>
            <a:ext cx="1250132" cy="167334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5827" rIns="0" bIns="0" rtlCol="0" vert="horz">
            <a:spAutoFit/>
          </a:bodyPr>
          <a:lstStyle/>
          <a:p>
            <a:pPr marL="1069975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Microsoft YaHei UI"/>
                <a:cs typeface="Microsoft YaHei UI"/>
              </a:rPr>
              <a:t>What</a:t>
            </a:r>
            <a:r>
              <a:rPr dirty="0" spc="-50">
                <a:latin typeface="Microsoft YaHei UI"/>
                <a:cs typeface="Microsoft YaHei UI"/>
              </a:rPr>
              <a:t> </a:t>
            </a:r>
            <a:r>
              <a:rPr dirty="0">
                <a:latin typeface="Microsoft YaHei UI"/>
                <a:cs typeface="Microsoft YaHei UI"/>
              </a:rPr>
              <a:t>is</a:t>
            </a:r>
            <a:r>
              <a:rPr dirty="0" spc="-45">
                <a:latin typeface="Microsoft YaHei UI"/>
                <a:cs typeface="Microsoft YaHei UI"/>
              </a:rPr>
              <a:t> </a:t>
            </a:r>
            <a:r>
              <a:rPr dirty="0">
                <a:latin typeface="Microsoft YaHei UI"/>
                <a:cs typeface="Microsoft YaHei UI"/>
              </a:rPr>
              <a:t>Cluster</a:t>
            </a:r>
            <a:r>
              <a:rPr dirty="0" spc="-45">
                <a:latin typeface="Microsoft YaHei UI"/>
                <a:cs typeface="Microsoft YaHei UI"/>
              </a:rPr>
              <a:t> </a:t>
            </a:r>
            <a:r>
              <a:rPr dirty="0" spc="-10">
                <a:latin typeface="Microsoft YaHei UI"/>
                <a:cs typeface="Microsoft YaHei UI"/>
              </a:rPr>
              <a:t>Analysis?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46277" y="1968783"/>
            <a:ext cx="7444105" cy="3846829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35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4965" algn="l"/>
              </a:tabLst>
            </a:pPr>
            <a:r>
              <a:rPr dirty="0" sz="2800" spc="-45">
                <a:latin typeface="Microsoft YaHei UI"/>
                <a:cs typeface="Microsoft YaHei UI"/>
              </a:rPr>
              <a:t>Cluster: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a</a:t>
            </a:r>
            <a:r>
              <a:rPr dirty="0" sz="2800" spc="-60">
                <a:latin typeface="Microsoft YaHei UI"/>
                <a:cs typeface="Microsoft YaHei UI"/>
              </a:rPr>
              <a:t> </a:t>
            </a:r>
            <a:r>
              <a:rPr dirty="0" sz="2800" spc="-145">
                <a:latin typeface="Microsoft YaHei UI"/>
                <a:cs typeface="Microsoft YaHei UI"/>
              </a:rPr>
              <a:t>collection</a:t>
            </a:r>
            <a:r>
              <a:rPr dirty="0" sz="2800" spc="-55">
                <a:latin typeface="Microsoft YaHei UI"/>
                <a:cs typeface="Microsoft YaHei UI"/>
              </a:rPr>
              <a:t> </a:t>
            </a:r>
            <a:r>
              <a:rPr dirty="0" sz="2800" spc="-225">
                <a:latin typeface="Microsoft YaHei UI"/>
                <a:cs typeface="Microsoft YaHei UI"/>
              </a:rPr>
              <a:t>of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130">
                <a:latin typeface="Microsoft YaHei UI"/>
                <a:cs typeface="Microsoft YaHei UI"/>
              </a:rPr>
              <a:t>data</a:t>
            </a:r>
            <a:r>
              <a:rPr dirty="0" sz="2800" spc="-60">
                <a:latin typeface="Microsoft YaHei UI"/>
                <a:cs typeface="Microsoft YaHei UI"/>
              </a:rPr>
              <a:t> </a:t>
            </a:r>
            <a:r>
              <a:rPr dirty="0" sz="2800" spc="-10">
                <a:latin typeface="Microsoft YaHei UI"/>
                <a:cs typeface="Microsoft YaHei UI"/>
              </a:rPr>
              <a:t>objects</a:t>
            </a:r>
            <a:endParaRPr sz="2800">
              <a:latin typeface="Microsoft YaHei UI"/>
              <a:cs typeface="Microsoft YaHei UI"/>
            </a:endParaRPr>
          </a:p>
          <a:p>
            <a:pPr lvl="1" marL="755015" indent="-285750">
              <a:lnSpc>
                <a:spcPct val="100000"/>
              </a:lnSpc>
              <a:spcBef>
                <a:spcPts val="894"/>
              </a:spcBef>
              <a:buClr>
                <a:srgbClr val="FF0000"/>
              </a:buClr>
              <a:buSzPct val="54166"/>
              <a:buFont typeface="Lucida Sans Unicode"/>
              <a:buChar char="■"/>
              <a:tabLst>
                <a:tab pos="755015" algn="l"/>
              </a:tabLst>
            </a:pPr>
            <a:r>
              <a:rPr dirty="0" sz="2400" spc="-70">
                <a:latin typeface="Microsoft YaHei UI"/>
                <a:cs typeface="Microsoft YaHei UI"/>
              </a:rPr>
              <a:t>Similar </a:t>
            </a:r>
            <a:r>
              <a:rPr dirty="0" sz="2400" spc="-225">
                <a:latin typeface="Microsoft YaHei UI"/>
                <a:cs typeface="Microsoft YaHei UI"/>
              </a:rPr>
              <a:t>to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30">
                <a:latin typeface="Microsoft YaHei UI"/>
                <a:cs typeface="Microsoft YaHei UI"/>
              </a:rPr>
              <a:t>one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130">
                <a:latin typeface="Microsoft YaHei UI"/>
                <a:cs typeface="Microsoft YaHei UI"/>
              </a:rPr>
              <a:t>another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60">
                <a:latin typeface="Microsoft YaHei UI"/>
                <a:cs typeface="Microsoft YaHei UI"/>
              </a:rPr>
              <a:t>within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45">
                <a:latin typeface="Microsoft YaHei UI"/>
                <a:cs typeface="Microsoft YaHei UI"/>
              </a:rPr>
              <a:t>the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35">
                <a:latin typeface="Microsoft YaHei UI"/>
                <a:cs typeface="Microsoft YaHei UI"/>
              </a:rPr>
              <a:t>same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cluster</a:t>
            </a:r>
            <a:endParaRPr sz="2400">
              <a:latin typeface="Microsoft YaHei UI"/>
              <a:cs typeface="Microsoft YaHei UI"/>
            </a:endParaRPr>
          </a:p>
          <a:p>
            <a:pPr lvl="1" marL="755015" indent="-285750">
              <a:lnSpc>
                <a:spcPct val="100000"/>
              </a:lnSpc>
              <a:spcBef>
                <a:spcPts val="860"/>
              </a:spcBef>
              <a:buClr>
                <a:srgbClr val="FF0000"/>
              </a:buClr>
              <a:buSzPct val="54166"/>
              <a:buFont typeface="Lucida Sans Unicode"/>
              <a:buChar char="■"/>
              <a:tabLst>
                <a:tab pos="755015" algn="l"/>
              </a:tabLst>
            </a:pPr>
            <a:r>
              <a:rPr dirty="0" sz="2400" spc="-80">
                <a:latin typeface="Microsoft YaHei UI"/>
                <a:cs typeface="Microsoft YaHei UI"/>
              </a:rPr>
              <a:t>Dissimilar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 spc="-225">
                <a:latin typeface="Microsoft YaHei UI"/>
                <a:cs typeface="Microsoft YaHei UI"/>
              </a:rPr>
              <a:t>to</a:t>
            </a:r>
            <a:r>
              <a:rPr dirty="0" sz="2400" spc="-30">
                <a:latin typeface="Microsoft YaHei UI"/>
                <a:cs typeface="Microsoft YaHei UI"/>
              </a:rPr>
              <a:t> </a:t>
            </a:r>
            <a:r>
              <a:rPr dirty="0" sz="2400" spc="-145">
                <a:latin typeface="Microsoft YaHei UI"/>
                <a:cs typeface="Microsoft YaHei UI"/>
              </a:rPr>
              <a:t>the</a:t>
            </a:r>
            <a:r>
              <a:rPr dirty="0" sz="2400" spc="-30">
                <a:latin typeface="Microsoft YaHei UI"/>
                <a:cs typeface="Microsoft YaHei UI"/>
              </a:rPr>
              <a:t> </a:t>
            </a:r>
            <a:r>
              <a:rPr dirty="0" sz="2400" spc="-105">
                <a:latin typeface="Microsoft YaHei UI"/>
                <a:cs typeface="Microsoft YaHei UI"/>
              </a:rPr>
              <a:t>objects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25">
                <a:latin typeface="Microsoft YaHei UI"/>
                <a:cs typeface="Microsoft YaHei UI"/>
              </a:rPr>
              <a:t>in</a:t>
            </a:r>
            <a:r>
              <a:rPr dirty="0" sz="2400" spc="-30">
                <a:latin typeface="Microsoft YaHei UI"/>
                <a:cs typeface="Microsoft YaHei UI"/>
              </a:rPr>
              <a:t> </a:t>
            </a:r>
            <a:r>
              <a:rPr dirty="0" sz="2400" spc="-155">
                <a:latin typeface="Microsoft YaHei UI"/>
                <a:cs typeface="Microsoft YaHei UI"/>
              </a:rPr>
              <a:t>other</a:t>
            </a:r>
            <a:r>
              <a:rPr dirty="0" sz="2400" spc="-30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clusters</a:t>
            </a:r>
            <a:endParaRPr sz="2400">
              <a:latin typeface="Microsoft YaHei UI"/>
              <a:cs typeface="Microsoft YaHei UI"/>
            </a:endParaRPr>
          </a:p>
          <a:p>
            <a:pPr lvl="1">
              <a:lnSpc>
                <a:spcPct val="100000"/>
              </a:lnSpc>
              <a:spcBef>
                <a:spcPts val="440"/>
              </a:spcBef>
              <a:buClr>
                <a:srgbClr val="FF0000"/>
              </a:buClr>
              <a:buFont typeface="Lucida Sans Unicode"/>
              <a:buChar char="■"/>
            </a:pPr>
            <a:endParaRPr sz="2400">
              <a:latin typeface="Microsoft YaHei UI"/>
              <a:cs typeface="Microsoft YaHei U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4965" algn="l"/>
              </a:tabLst>
            </a:pPr>
            <a:r>
              <a:rPr dirty="0" sz="2800" spc="-75">
                <a:latin typeface="Microsoft YaHei UI"/>
                <a:cs typeface="Microsoft YaHei UI"/>
              </a:rPr>
              <a:t>Cluster</a:t>
            </a:r>
            <a:r>
              <a:rPr dirty="0" sz="2800" spc="-85">
                <a:latin typeface="Microsoft YaHei UI"/>
                <a:cs typeface="Microsoft YaHei UI"/>
              </a:rPr>
              <a:t> </a:t>
            </a:r>
            <a:r>
              <a:rPr dirty="0" sz="2800" spc="-10">
                <a:latin typeface="Microsoft YaHei UI"/>
                <a:cs typeface="Microsoft YaHei UI"/>
              </a:rPr>
              <a:t>analysis</a:t>
            </a:r>
            <a:endParaRPr sz="2800">
              <a:latin typeface="Microsoft YaHei UI"/>
              <a:cs typeface="Microsoft YaHei UI"/>
            </a:endParaRPr>
          </a:p>
          <a:p>
            <a:pPr lvl="1" marL="755015" marR="5080" indent="-285750">
              <a:lnSpc>
                <a:spcPct val="109900"/>
              </a:lnSpc>
              <a:spcBef>
                <a:spcPts val="610"/>
              </a:spcBef>
              <a:buClr>
                <a:srgbClr val="FF0000"/>
              </a:buClr>
              <a:buSzPct val="54166"/>
              <a:buFont typeface="Lucida Sans Unicode"/>
              <a:buChar char="■"/>
              <a:tabLst>
                <a:tab pos="755015" algn="l"/>
              </a:tabLst>
            </a:pPr>
            <a:r>
              <a:rPr dirty="0" sz="2400" spc="-110">
                <a:latin typeface="Microsoft YaHei UI"/>
                <a:cs typeface="Microsoft YaHei UI"/>
              </a:rPr>
              <a:t>Finding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85">
                <a:latin typeface="Microsoft YaHei UI"/>
                <a:cs typeface="Microsoft YaHei UI"/>
              </a:rPr>
              <a:t>similarities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130">
                <a:latin typeface="Microsoft YaHei UI"/>
                <a:cs typeface="Microsoft YaHei UI"/>
              </a:rPr>
              <a:t>between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data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14">
                <a:latin typeface="Microsoft YaHei UI"/>
                <a:cs typeface="Microsoft YaHei UI"/>
              </a:rPr>
              <a:t>according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225">
                <a:latin typeface="Microsoft YaHei UI"/>
                <a:cs typeface="Microsoft YaHei UI"/>
              </a:rPr>
              <a:t>to</a:t>
            </a:r>
            <a:r>
              <a:rPr dirty="0" sz="2400" spc="-40">
                <a:latin typeface="Microsoft YaHei UI"/>
                <a:cs typeface="Microsoft YaHei UI"/>
              </a:rPr>
              <a:t> the </a:t>
            </a:r>
            <a:r>
              <a:rPr dirty="0" sz="2400" spc="-65">
                <a:latin typeface="Microsoft YaHei UI"/>
                <a:cs typeface="Microsoft YaHei UI"/>
              </a:rPr>
              <a:t>characteristics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85">
                <a:latin typeface="Microsoft YaHei UI"/>
                <a:cs typeface="Microsoft YaHei UI"/>
              </a:rPr>
              <a:t>found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25">
                <a:latin typeface="Microsoft YaHei UI"/>
                <a:cs typeface="Microsoft YaHei UI"/>
              </a:rPr>
              <a:t>in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45">
                <a:latin typeface="Microsoft YaHei UI"/>
                <a:cs typeface="Microsoft YaHei UI"/>
              </a:rPr>
              <a:t>the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data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20">
                <a:latin typeface="Microsoft YaHei UI"/>
                <a:cs typeface="Microsoft YaHei UI"/>
              </a:rPr>
              <a:t>and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25">
                <a:latin typeface="Microsoft YaHei UI"/>
                <a:cs typeface="Microsoft YaHei UI"/>
              </a:rPr>
              <a:t>grouping </a:t>
            </a:r>
            <a:r>
              <a:rPr dirty="0" sz="2400" spc="-90">
                <a:latin typeface="Microsoft YaHei UI"/>
                <a:cs typeface="Microsoft YaHei UI"/>
              </a:rPr>
              <a:t>similar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data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05">
                <a:latin typeface="Microsoft YaHei UI"/>
                <a:cs typeface="Microsoft YaHei UI"/>
              </a:rPr>
              <a:t>objects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80">
                <a:latin typeface="Microsoft YaHei UI"/>
                <a:cs typeface="Microsoft YaHei UI"/>
              </a:rPr>
              <a:t>into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clusters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0">
                <a:latin typeface="Microsoft YaHei UI"/>
                <a:cs typeface="Microsoft YaHei UI"/>
              </a:rPr>
              <a:t>24</a:t>
            </a:r>
            <a:endParaRPr sz="1400">
              <a:latin typeface="Microsoft YaHei UI"/>
              <a:cs typeface="Microsoft YaHei U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5331" y="4243857"/>
            <a:ext cx="2109444" cy="34093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36881" y="4268901"/>
            <a:ext cx="312165" cy="291274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6439928" y="4536808"/>
            <a:ext cx="26670" cy="20955"/>
          </a:xfrm>
          <a:custGeom>
            <a:avLst/>
            <a:gdLst/>
            <a:ahLst/>
            <a:cxnLst/>
            <a:rect l="l" t="t" r="r" b="b"/>
            <a:pathLst>
              <a:path w="26670" h="20954">
                <a:moveTo>
                  <a:pt x="21348" y="0"/>
                </a:moveTo>
                <a:lnTo>
                  <a:pt x="2501" y="5270"/>
                </a:lnTo>
                <a:lnTo>
                  <a:pt x="0" y="9702"/>
                </a:lnTo>
                <a:lnTo>
                  <a:pt x="2387" y="18249"/>
                </a:lnTo>
                <a:lnTo>
                  <a:pt x="6819" y="20739"/>
                </a:lnTo>
                <a:lnTo>
                  <a:pt x="12293" y="19215"/>
                </a:lnTo>
                <a:lnTo>
                  <a:pt x="13398" y="18605"/>
                </a:lnTo>
                <a:lnTo>
                  <a:pt x="26174" y="7048"/>
                </a:lnTo>
                <a:lnTo>
                  <a:pt x="26262" y="5270"/>
                </a:lnTo>
                <a:lnTo>
                  <a:pt x="26327" y="3949"/>
                </a:lnTo>
                <a:lnTo>
                  <a:pt x="23266" y="558"/>
                </a:lnTo>
                <a:lnTo>
                  <a:pt x="213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54027" y="4254474"/>
            <a:ext cx="1504477" cy="370560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8123377" y="4620704"/>
            <a:ext cx="19685" cy="40640"/>
          </a:xfrm>
          <a:custGeom>
            <a:avLst/>
            <a:gdLst/>
            <a:ahLst/>
            <a:cxnLst/>
            <a:rect l="l" t="t" r="r" b="b"/>
            <a:pathLst>
              <a:path w="19684" h="40639">
                <a:moveTo>
                  <a:pt x="10236" y="0"/>
                </a:moveTo>
                <a:lnTo>
                  <a:pt x="7327" y="368"/>
                </a:lnTo>
                <a:lnTo>
                  <a:pt x="4394" y="4165"/>
                </a:lnTo>
                <a:lnTo>
                  <a:pt x="4495" y="6680"/>
                </a:lnTo>
                <a:lnTo>
                  <a:pt x="8051" y="10591"/>
                </a:lnTo>
                <a:lnTo>
                  <a:pt x="8394" y="13538"/>
                </a:lnTo>
                <a:lnTo>
                  <a:pt x="7150" y="22453"/>
                </a:lnTo>
                <a:lnTo>
                  <a:pt x="4140" y="28155"/>
                </a:lnTo>
                <a:lnTo>
                  <a:pt x="0" y="35331"/>
                </a:lnTo>
                <a:lnTo>
                  <a:pt x="773" y="37960"/>
                </a:lnTo>
                <a:lnTo>
                  <a:pt x="4559" y="40144"/>
                </a:lnTo>
                <a:lnTo>
                  <a:pt x="6908" y="39662"/>
                </a:lnTo>
                <a:lnTo>
                  <a:pt x="12611" y="32080"/>
                </a:lnTo>
                <a:lnTo>
                  <a:pt x="16840" y="25387"/>
                </a:lnTo>
                <a:lnTo>
                  <a:pt x="19100" y="11823"/>
                </a:lnTo>
                <a:lnTo>
                  <a:pt x="17348" y="5499"/>
                </a:lnTo>
                <a:lnTo>
                  <a:pt x="10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4867" rIns="0" bIns="0" rtlCol="0" vert="horz">
            <a:spAutoFit/>
          </a:bodyPr>
          <a:lstStyle/>
          <a:p>
            <a:pPr marL="1069975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latin typeface="Microsoft YaHei UI"/>
                <a:cs typeface="Microsoft YaHei UI"/>
              </a:rPr>
              <a:t>What</a:t>
            </a:r>
            <a:r>
              <a:rPr dirty="0" sz="4400" spc="-70">
                <a:latin typeface="Microsoft YaHei UI"/>
                <a:cs typeface="Microsoft YaHei UI"/>
              </a:rPr>
              <a:t> </a:t>
            </a:r>
            <a:r>
              <a:rPr dirty="0" sz="4400" spc="55">
                <a:latin typeface="Microsoft YaHei UI"/>
                <a:cs typeface="Microsoft YaHei UI"/>
              </a:rPr>
              <a:t>is</a:t>
            </a:r>
            <a:r>
              <a:rPr dirty="0" sz="4400" spc="-65">
                <a:latin typeface="Microsoft YaHei UI"/>
                <a:cs typeface="Microsoft YaHei UI"/>
              </a:rPr>
              <a:t> </a:t>
            </a:r>
            <a:r>
              <a:rPr dirty="0" sz="4400">
                <a:latin typeface="Microsoft YaHei UI"/>
                <a:cs typeface="Microsoft YaHei UI"/>
              </a:rPr>
              <a:t>Cluster</a:t>
            </a:r>
            <a:r>
              <a:rPr dirty="0" sz="4400" spc="-65">
                <a:latin typeface="Microsoft YaHei UI"/>
                <a:cs typeface="Microsoft YaHei UI"/>
              </a:rPr>
              <a:t> </a:t>
            </a:r>
            <a:r>
              <a:rPr dirty="0" sz="4400" spc="-10">
                <a:latin typeface="Microsoft YaHei UI"/>
                <a:cs typeface="Microsoft YaHei UI"/>
              </a:rPr>
              <a:t>Analysis?</a:t>
            </a:r>
            <a:endParaRPr sz="4400">
              <a:latin typeface="Microsoft YaHei UI"/>
              <a:cs typeface="Microsoft YaHei U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62304" y="2102192"/>
            <a:ext cx="7556500" cy="413766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355600" marR="596900" indent="-342900">
              <a:lnSpc>
                <a:spcPts val="3020"/>
              </a:lnSpc>
              <a:spcBef>
                <a:spcPts val="475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5600" algn="l"/>
              </a:tabLst>
            </a:pPr>
            <a:r>
              <a:rPr dirty="0" sz="2800" spc="-114">
                <a:latin typeface="Microsoft YaHei UI"/>
                <a:cs typeface="Microsoft YaHei UI"/>
              </a:rPr>
              <a:t>Clustering</a:t>
            </a:r>
            <a:r>
              <a:rPr dirty="0" sz="2800" spc="-95">
                <a:latin typeface="Microsoft YaHei UI"/>
                <a:cs typeface="Microsoft YaHei UI"/>
              </a:rPr>
              <a:t> </a:t>
            </a:r>
            <a:r>
              <a:rPr dirty="0" sz="2800" spc="-35">
                <a:latin typeface="Microsoft YaHei UI"/>
                <a:cs typeface="Microsoft YaHei UI"/>
              </a:rPr>
              <a:t>analysis</a:t>
            </a:r>
            <a:r>
              <a:rPr dirty="0" sz="2800" spc="-105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is</a:t>
            </a:r>
            <a:r>
              <a:rPr dirty="0" sz="2800" spc="-85">
                <a:latin typeface="Microsoft YaHei UI"/>
                <a:cs typeface="Microsoft YaHei UI"/>
              </a:rPr>
              <a:t> </a:t>
            </a:r>
            <a:r>
              <a:rPr dirty="0" sz="2800" spc="-20">
                <a:latin typeface="Microsoft YaHei UI"/>
                <a:cs typeface="Microsoft YaHei UI"/>
              </a:rPr>
              <a:t>an</a:t>
            </a:r>
            <a:r>
              <a:rPr dirty="0" sz="2800" spc="-85">
                <a:latin typeface="Microsoft YaHei UI"/>
                <a:cs typeface="Microsoft YaHei UI"/>
              </a:rPr>
              <a:t> </a:t>
            </a:r>
            <a:r>
              <a:rPr dirty="0" sz="2800" spc="-210">
                <a:latin typeface="Microsoft YaHei UI"/>
                <a:cs typeface="Microsoft YaHei UI"/>
              </a:rPr>
              <a:t>important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110">
                <a:latin typeface="Microsoft YaHei UI"/>
                <a:cs typeface="Microsoft YaHei UI"/>
              </a:rPr>
              <a:t>human </a:t>
            </a:r>
            <a:r>
              <a:rPr dirty="0" sz="2800" spc="-10">
                <a:latin typeface="Microsoft YaHei UI"/>
                <a:cs typeface="Microsoft YaHei UI"/>
              </a:rPr>
              <a:t>activity</a:t>
            </a:r>
            <a:endParaRPr sz="2800">
              <a:latin typeface="Microsoft YaHei UI"/>
              <a:cs typeface="Microsoft YaHei UI"/>
            </a:endParaRPr>
          </a:p>
          <a:p>
            <a:pPr marL="355600" marR="1701800" indent="-342900">
              <a:lnSpc>
                <a:spcPts val="3020"/>
              </a:lnSpc>
              <a:spcBef>
                <a:spcPts val="675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5600" algn="l"/>
              </a:tabLst>
            </a:pPr>
            <a:r>
              <a:rPr dirty="0" sz="2800">
                <a:latin typeface="Microsoft YaHei UI"/>
                <a:cs typeface="Microsoft YaHei UI"/>
              </a:rPr>
              <a:t>Early</a:t>
            </a:r>
            <a:r>
              <a:rPr dirty="0" sz="2800" spc="-110">
                <a:latin typeface="Microsoft YaHei UI"/>
                <a:cs typeface="Microsoft YaHei UI"/>
              </a:rPr>
              <a:t> </a:t>
            </a:r>
            <a:r>
              <a:rPr dirty="0" sz="2800" spc="-165">
                <a:latin typeface="Microsoft YaHei UI"/>
                <a:cs typeface="Microsoft YaHei UI"/>
              </a:rPr>
              <a:t>in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155">
                <a:latin typeface="Microsoft YaHei UI"/>
                <a:cs typeface="Microsoft YaHei UI"/>
              </a:rPr>
              <a:t>childhood,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95">
                <a:latin typeface="Microsoft YaHei UI"/>
                <a:cs typeface="Microsoft YaHei UI"/>
              </a:rPr>
              <a:t>we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 spc="-95">
                <a:latin typeface="Microsoft YaHei UI"/>
                <a:cs typeface="Microsoft YaHei UI"/>
              </a:rPr>
              <a:t>learn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 spc="-204">
                <a:latin typeface="Microsoft YaHei UI"/>
                <a:cs typeface="Microsoft YaHei UI"/>
              </a:rPr>
              <a:t>how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280">
                <a:latin typeface="Microsoft YaHei UI"/>
                <a:cs typeface="Microsoft YaHei UI"/>
              </a:rPr>
              <a:t>to </a:t>
            </a:r>
            <a:r>
              <a:rPr dirty="0" sz="2800" spc="-145">
                <a:latin typeface="Microsoft YaHei UI"/>
                <a:cs typeface="Microsoft YaHei UI"/>
              </a:rPr>
              <a:t>distinguish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 spc="-150">
                <a:latin typeface="Microsoft YaHei UI"/>
                <a:cs typeface="Microsoft YaHei UI"/>
              </a:rPr>
              <a:t>between</a:t>
            </a:r>
            <a:r>
              <a:rPr dirty="0" sz="2800" spc="-55">
                <a:latin typeface="Microsoft YaHei UI"/>
                <a:cs typeface="Microsoft YaHei UI"/>
              </a:rPr>
              <a:t> </a:t>
            </a:r>
            <a:r>
              <a:rPr dirty="0" sz="2800" spc="-20">
                <a:latin typeface="Microsoft YaHei UI"/>
                <a:cs typeface="Microsoft YaHei UI"/>
              </a:rPr>
              <a:t>cats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 spc="-135">
                <a:latin typeface="Microsoft YaHei UI"/>
                <a:cs typeface="Microsoft YaHei UI"/>
              </a:rPr>
              <a:t>and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 spc="-20">
                <a:latin typeface="Microsoft YaHei UI"/>
                <a:cs typeface="Microsoft YaHei UI"/>
              </a:rPr>
              <a:t>dogs</a:t>
            </a:r>
            <a:endParaRPr sz="2800">
              <a:latin typeface="Microsoft YaHei UI"/>
              <a:cs typeface="Microsoft YaHei UI"/>
            </a:endParaRPr>
          </a:p>
          <a:p>
            <a:pPr marL="354965" indent="-342265">
              <a:lnSpc>
                <a:spcPct val="100000"/>
              </a:lnSpc>
              <a:spcBef>
                <a:spcPts val="844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4965" algn="l"/>
              </a:tabLst>
            </a:pPr>
            <a:r>
              <a:rPr dirty="0" sz="2800" spc="-105">
                <a:solidFill>
                  <a:srgbClr val="FF0000"/>
                </a:solidFill>
                <a:latin typeface="Microsoft YaHei UI"/>
                <a:cs typeface="Microsoft YaHei UI"/>
              </a:rPr>
              <a:t>Unsupervised</a:t>
            </a:r>
            <a:r>
              <a:rPr dirty="0" sz="2800" spc="-15">
                <a:solidFill>
                  <a:srgbClr val="FF0000"/>
                </a:solidFill>
                <a:latin typeface="Microsoft YaHei UI"/>
                <a:cs typeface="Microsoft YaHei UI"/>
              </a:rPr>
              <a:t> </a:t>
            </a:r>
            <a:r>
              <a:rPr dirty="0" sz="2800" spc="-110">
                <a:solidFill>
                  <a:srgbClr val="FF0000"/>
                </a:solidFill>
                <a:latin typeface="Microsoft YaHei UI"/>
                <a:cs typeface="Microsoft YaHei UI"/>
              </a:rPr>
              <a:t>learning</a:t>
            </a:r>
            <a:r>
              <a:rPr dirty="0" sz="2800" spc="-110">
                <a:latin typeface="Microsoft YaHei UI"/>
                <a:cs typeface="Microsoft YaHei UI"/>
              </a:rPr>
              <a:t>:</a:t>
            </a:r>
            <a:r>
              <a:rPr dirty="0" sz="2800" spc="-15">
                <a:latin typeface="Microsoft YaHei UI"/>
                <a:cs typeface="Microsoft YaHei UI"/>
              </a:rPr>
              <a:t> </a:t>
            </a:r>
            <a:r>
              <a:rPr dirty="0" sz="2800" spc="-210">
                <a:latin typeface="Microsoft YaHei UI"/>
                <a:cs typeface="Microsoft YaHei UI"/>
              </a:rPr>
              <a:t>no</a:t>
            </a:r>
            <a:r>
              <a:rPr dirty="0" sz="2800" spc="-10">
                <a:latin typeface="Microsoft YaHei UI"/>
                <a:cs typeface="Microsoft YaHei UI"/>
              </a:rPr>
              <a:t> </a:t>
            </a:r>
            <a:r>
              <a:rPr dirty="0" sz="2800" spc="-165">
                <a:latin typeface="Microsoft YaHei UI"/>
                <a:cs typeface="Microsoft YaHei UI"/>
              </a:rPr>
              <a:t>predefined</a:t>
            </a:r>
            <a:r>
              <a:rPr dirty="0" sz="2800" spc="-15">
                <a:latin typeface="Microsoft YaHei UI"/>
                <a:cs typeface="Microsoft YaHei UI"/>
              </a:rPr>
              <a:t> </a:t>
            </a:r>
            <a:r>
              <a:rPr dirty="0" sz="2800" spc="-10">
                <a:latin typeface="Microsoft YaHei UI"/>
                <a:cs typeface="Microsoft YaHei UI"/>
              </a:rPr>
              <a:t>classes</a:t>
            </a:r>
            <a:endParaRPr sz="2800">
              <a:latin typeface="Microsoft YaHei UI"/>
              <a:cs typeface="Microsoft YaHei UI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4965" algn="l"/>
              </a:tabLst>
            </a:pPr>
            <a:r>
              <a:rPr dirty="0" sz="2800" spc="-95">
                <a:latin typeface="Microsoft YaHei UI"/>
                <a:cs typeface="Microsoft YaHei UI"/>
              </a:rPr>
              <a:t>Typical</a:t>
            </a:r>
            <a:r>
              <a:rPr dirty="0" sz="2800" spc="-90">
                <a:latin typeface="Microsoft YaHei UI"/>
                <a:cs typeface="Microsoft YaHei UI"/>
              </a:rPr>
              <a:t> </a:t>
            </a:r>
            <a:r>
              <a:rPr dirty="0" sz="2800" spc="-40">
                <a:latin typeface="Microsoft YaHei UI"/>
                <a:cs typeface="Microsoft YaHei UI"/>
              </a:rPr>
              <a:t>applications</a:t>
            </a:r>
            <a:endParaRPr sz="2800">
              <a:latin typeface="Microsoft YaHei UI"/>
              <a:cs typeface="Microsoft YaHei UI"/>
            </a:endParaRPr>
          </a:p>
          <a:p>
            <a:pPr lvl="1" marL="755650" marR="863600" indent="-285750">
              <a:lnSpc>
                <a:spcPct val="109900"/>
              </a:lnSpc>
              <a:spcBef>
                <a:spcPts val="610"/>
              </a:spcBef>
              <a:buClr>
                <a:srgbClr val="FF0000"/>
              </a:buClr>
              <a:buSzPct val="54166"/>
              <a:buFont typeface="Lucida Sans Unicode"/>
              <a:buChar char="■"/>
              <a:tabLst>
                <a:tab pos="755650" algn="l"/>
              </a:tabLst>
            </a:pPr>
            <a:r>
              <a:rPr dirty="0" sz="2400">
                <a:latin typeface="Microsoft YaHei UI"/>
                <a:cs typeface="Microsoft YaHei UI"/>
              </a:rPr>
              <a:t>As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a</a:t>
            </a:r>
            <a:r>
              <a:rPr dirty="0" sz="2400" spc="-30">
                <a:latin typeface="Microsoft YaHei UI"/>
                <a:cs typeface="Microsoft YaHei UI"/>
              </a:rPr>
              <a:t> </a:t>
            </a:r>
            <a:r>
              <a:rPr dirty="0" sz="2400" spc="-135">
                <a:solidFill>
                  <a:srgbClr val="FF0000"/>
                </a:solidFill>
                <a:latin typeface="Microsoft YaHei UI"/>
                <a:cs typeface="Microsoft YaHei UI"/>
              </a:rPr>
              <a:t>stand-</a:t>
            </a:r>
            <a:r>
              <a:rPr dirty="0" sz="2400" spc="-95">
                <a:solidFill>
                  <a:srgbClr val="FF0000"/>
                </a:solidFill>
                <a:latin typeface="Microsoft YaHei UI"/>
                <a:cs typeface="Microsoft YaHei UI"/>
              </a:rPr>
              <a:t>alone</a:t>
            </a:r>
            <a:r>
              <a:rPr dirty="0" sz="2400" spc="-30">
                <a:solidFill>
                  <a:srgbClr val="FF0000"/>
                </a:solidFill>
                <a:latin typeface="Microsoft YaHei UI"/>
                <a:cs typeface="Microsoft YaHei UI"/>
              </a:rPr>
              <a:t> </a:t>
            </a:r>
            <a:r>
              <a:rPr dirty="0" sz="2400" spc="-195">
                <a:solidFill>
                  <a:srgbClr val="FF0000"/>
                </a:solidFill>
                <a:latin typeface="Microsoft YaHei UI"/>
                <a:cs typeface="Microsoft YaHei UI"/>
              </a:rPr>
              <a:t>tool</a:t>
            </a:r>
            <a:r>
              <a:rPr dirty="0" sz="2400" spc="-30">
                <a:solidFill>
                  <a:srgbClr val="FF0000"/>
                </a:solidFill>
                <a:latin typeface="Microsoft YaHei UI"/>
                <a:cs typeface="Microsoft YaHei UI"/>
              </a:rPr>
              <a:t> </a:t>
            </a:r>
            <a:r>
              <a:rPr dirty="0" sz="2400" spc="-225">
                <a:latin typeface="Microsoft YaHei UI"/>
                <a:cs typeface="Microsoft YaHei UI"/>
              </a:rPr>
              <a:t>to</a:t>
            </a:r>
            <a:r>
              <a:rPr dirty="0" sz="2400" spc="-30">
                <a:latin typeface="Microsoft YaHei UI"/>
                <a:cs typeface="Microsoft YaHei UI"/>
              </a:rPr>
              <a:t> </a:t>
            </a:r>
            <a:r>
              <a:rPr dirty="0" sz="2400" spc="-170">
                <a:latin typeface="Microsoft YaHei UI"/>
                <a:cs typeface="Microsoft YaHei UI"/>
              </a:rPr>
              <a:t>get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 spc="-130">
                <a:latin typeface="Microsoft YaHei UI"/>
                <a:cs typeface="Microsoft YaHei UI"/>
              </a:rPr>
              <a:t>insight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 spc="-180">
                <a:latin typeface="Microsoft YaHei UI"/>
                <a:cs typeface="Microsoft YaHei UI"/>
              </a:rPr>
              <a:t>into</a:t>
            </a:r>
            <a:r>
              <a:rPr dirty="0" sz="2400" spc="-30">
                <a:latin typeface="Microsoft YaHei UI"/>
                <a:cs typeface="Microsoft YaHei UI"/>
              </a:rPr>
              <a:t> </a:t>
            </a:r>
            <a:r>
              <a:rPr dirty="0" sz="2400" spc="-55">
                <a:latin typeface="Microsoft YaHei UI"/>
                <a:cs typeface="Microsoft YaHei UI"/>
              </a:rPr>
              <a:t>data </a:t>
            </a:r>
            <a:r>
              <a:rPr dirty="0" sz="2400" spc="-70">
                <a:latin typeface="Microsoft YaHei UI"/>
                <a:cs typeface="Microsoft YaHei UI"/>
              </a:rPr>
              <a:t>distribution</a:t>
            </a:r>
            <a:endParaRPr sz="2400">
              <a:latin typeface="Microsoft YaHei UI"/>
              <a:cs typeface="Microsoft YaHei UI"/>
            </a:endParaRPr>
          </a:p>
          <a:p>
            <a:pPr lvl="1" marL="755015" indent="-285115">
              <a:lnSpc>
                <a:spcPct val="100000"/>
              </a:lnSpc>
              <a:spcBef>
                <a:spcPts val="860"/>
              </a:spcBef>
              <a:buClr>
                <a:srgbClr val="FF0000"/>
              </a:buClr>
              <a:buSzPct val="54166"/>
              <a:buFont typeface="Lucida Sans Unicode"/>
              <a:buChar char="■"/>
              <a:tabLst>
                <a:tab pos="755015" algn="l"/>
              </a:tabLst>
            </a:pPr>
            <a:r>
              <a:rPr dirty="0" sz="2400">
                <a:latin typeface="Microsoft YaHei UI"/>
                <a:cs typeface="Microsoft YaHei UI"/>
              </a:rPr>
              <a:t>As</a:t>
            </a:r>
            <a:r>
              <a:rPr dirty="0" sz="2400" spc="-80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a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95">
                <a:solidFill>
                  <a:srgbClr val="FF0000"/>
                </a:solidFill>
                <a:latin typeface="Microsoft YaHei UI"/>
                <a:cs typeface="Microsoft YaHei UI"/>
              </a:rPr>
              <a:t>preprocessing</a:t>
            </a:r>
            <a:r>
              <a:rPr dirty="0" sz="2400" spc="-55">
                <a:solidFill>
                  <a:srgbClr val="FF0000"/>
                </a:solidFill>
                <a:latin typeface="Microsoft YaHei UI"/>
                <a:cs typeface="Microsoft YaHei UI"/>
              </a:rPr>
              <a:t> </a:t>
            </a:r>
            <a:r>
              <a:rPr dirty="0" sz="2400" spc="-95">
                <a:solidFill>
                  <a:srgbClr val="FF0000"/>
                </a:solidFill>
                <a:latin typeface="Microsoft YaHei UI"/>
                <a:cs typeface="Microsoft YaHei UI"/>
              </a:rPr>
              <a:t>step</a:t>
            </a:r>
            <a:r>
              <a:rPr dirty="0" sz="2400" spc="-55">
                <a:solidFill>
                  <a:srgbClr val="FF0000"/>
                </a:solidFill>
                <a:latin typeface="Microsoft YaHei UI"/>
                <a:cs typeface="Microsoft YaHei UI"/>
              </a:rPr>
              <a:t> </a:t>
            </a:r>
            <a:r>
              <a:rPr dirty="0" sz="2400" spc="-170">
                <a:latin typeface="Microsoft YaHei UI"/>
                <a:cs typeface="Microsoft YaHei UI"/>
              </a:rPr>
              <a:t>for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55">
                <a:latin typeface="Microsoft YaHei UI"/>
                <a:cs typeface="Microsoft YaHei UI"/>
              </a:rPr>
              <a:t>other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algorithms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0">
                <a:latin typeface="Microsoft YaHei UI"/>
                <a:cs typeface="Microsoft YaHei UI"/>
              </a:rPr>
              <a:t>25</a:t>
            </a:r>
            <a:endParaRPr sz="1400">
              <a:latin typeface="Microsoft YaHei UI"/>
              <a:cs typeface="Microsoft YaHei U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3406" y="4301820"/>
            <a:ext cx="1095151" cy="393700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5976111" y="4646333"/>
            <a:ext cx="21590" cy="44450"/>
          </a:xfrm>
          <a:custGeom>
            <a:avLst/>
            <a:gdLst/>
            <a:ahLst/>
            <a:cxnLst/>
            <a:rect l="l" t="t" r="r" b="b"/>
            <a:pathLst>
              <a:path w="21589" h="44450">
                <a:moveTo>
                  <a:pt x="5041" y="0"/>
                </a:moveTo>
                <a:lnTo>
                  <a:pt x="1079" y="1562"/>
                </a:lnTo>
                <a:lnTo>
                  <a:pt x="0" y="3479"/>
                </a:lnTo>
                <a:lnTo>
                  <a:pt x="6883" y="41706"/>
                </a:lnTo>
                <a:lnTo>
                  <a:pt x="10693" y="44348"/>
                </a:lnTo>
                <a:lnTo>
                  <a:pt x="18668" y="42913"/>
                </a:lnTo>
                <a:lnTo>
                  <a:pt x="21323" y="39103"/>
                </a:lnTo>
                <a:lnTo>
                  <a:pt x="20599" y="35115"/>
                </a:lnTo>
                <a:lnTo>
                  <a:pt x="20510" y="34658"/>
                </a:lnTo>
                <a:lnTo>
                  <a:pt x="20383" y="34188"/>
                </a:lnTo>
                <a:lnTo>
                  <a:pt x="7454" y="1054"/>
                </a:lnTo>
                <a:lnTo>
                  <a:pt x="5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6072123" y="4320146"/>
            <a:ext cx="2162175" cy="394970"/>
            <a:chOff x="6072123" y="4320146"/>
            <a:chExt cx="2162175" cy="39497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72123" y="4320146"/>
              <a:ext cx="2112304" cy="394525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8218881" y="4646180"/>
              <a:ext cx="15240" cy="24765"/>
            </a:xfrm>
            <a:custGeom>
              <a:avLst/>
              <a:gdLst/>
              <a:ahLst/>
              <a:cxnLst/>
              <a:rect l="l" t="t" r="r" b="b"/>
              <a:pathLst>
                <a:path w="15240" h="24764">
                  <a:moveTo>
                    <a:pt x="11976" y="0"/>
                  </a:moveTo>
                  <a:lnTo>
                    <a:pt x="5092" y="0"/>
                  </a:lnTo>
                  <a:lnTo>
                    <a:pt x="2362" y="2273"/>
                  </a:lnTo>
                  <a:lnTo>
                    <a:pt x="838" y="10312"/>
                  </a:lnTo>
                  <a:lnTo>
                    <a:pt x="190" y="15227"/>
                  </a:lnTo>
                  <a:lnTo>
                    <a:pt x="113" y="16230"/>
                  </a:lnTo>
                  <a:lnTo>
                    <a:pt x="0" y="17716"/>
                  </a:lnTo>
                  <a:lnTo>
                    <a:pt x="3340" y="23304"/>
                  </a:lnTo>
                  <a:lnTo>
                    <a:pt x="7696" y="24396"/>
                  </a:lnTo>
                  <a:lnTo>
                    <a:pt x="11671" y="22009"/>
                  </a:lnTo>
                  <a:lnTo>
                    <a:pt x="14935" y="2946"/>
                  </a:lnTo>
                  <a:lnTo>
                    <a:pt x="11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99925" y="5383428"/>
            <a:ext cx="1982965" cy="44400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01284" y="6262325"/>
            <a:ext cx="1568386" cy="36330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99203" y="6237607"/>
            <a:ext cx="928014" cy="41930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677" y="395922"/>
            <a:ext cx="5680710" cy="12439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Microsoft YaHei UI"/>
                <a:cs typeface="Microsoft YaHei UI"/>
              </a:rPr>
              <a:t>Quality:</a:t>
            </a:r>
            <a:r>
              <a:rPr dirty="0" spc="-65">
                <a:latin typeface="Microsoft YaHei UI"/>
                <a:cs typeface="Microsoft YaHei UI"/>
              </a:rPr>
              <a:t> </a:t>
            </a:r>
            <a:r>
              <a:rPr dirty="0">
                <a:latin typeface="Microsoft YaHei UI"/>
                <a:cs typeface="Microsoft YaHei UI"/>
              </a:rPr>
              <a:t>What</a:t>
            </a:r>
            <a:r>
              <a:rPr dirty="0" spc="-70">
                <a:latin typeface="Microsoft YaHei UI"/>
                <a:cs typeface="Microsoft YaHei UI"/>
              </a:rPr>
              <a:t> </a:t>
            </a:r>
            <a:r>
              <a:rPr dirty="0" spc="330">
                <a:latin typeface="Microsoft YaHei UI"/>
                <a:cs typeface="Microsoft YaHei UI"/>
              </a:rPr>
              <a:t>Is</a:t>
            </a:r>
            <a:r>
              <a:rPr dirty="0" spc="-65">
                <a:latin typeface="Microsoft YaHei UI"/>
                <a:cs typeface="Microsoft YaHei UI"/>
              </a:rPr>
              <a:t> </a:t>
            </a:r>
            <a:r>
              <a:rPr dirty="0" spc="-90">
                <a:latin typeface="Microsoft YaHei UI"/>
                <a:cs typeface="Microsoft YaHei UI"/>
              </a:rPr>
              <a:t>Good </a:t>
            </a:r>
            <a:r>
              <a:rPr dirty="0" spc="-10">
                <a:latin typeface="Microsoft YaHei UI"/>
                <a:cs typeface="Microsoft YaHei UI"/>
              </a:rPr>
              <a:t>Clustering?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4281" y="2148090"/>
            <a:ext cx="8268334" cy="37738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5600" algn="l"/>
              </a:tabLst>
            </a:pPr>
            <a:r>
              <a:rPr dirty="0" sz="2800">
                <a:latin typeface="Microsoft YaHei UI"/>
                <a:cs typeface="Microsoft YaHei UI"/>
              </a:rPr>
              <a:t>A</a:t>
            </a:r>
            <a:r>
              <a:rPr dirty="0" sz="2800" spc="-40">
                <a:latin typeface="Microsoft YaHei UI"/>
                <a:cs typeface="Microsoft YaHei UI"/>
              </a:rPr>
              <a:t> </a:t>
            </a:r>
            <a:r>
              <a:rPr dirty="0" u="heavy" sz="2800" spc="-250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good</a:t>
            </a:r>
            <a:r>
              <a:rPr dirty="0" u="heavy" sz="2800" spc="-45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 </a:t>
            </a:r>
            <a:r>
              <a:rPr dirty="0" u="heavy" sz="2800" spc="-130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clustering</a:t>
            </a:r>
            <a:r>
              <a:rPr dirty="0" sz="2800" spc="-40">
                <a:latin typeface="Microsoft YaHei UI"/>
                <a:cs typeface="Microsoft YaHei UI"/>
              </a:rPr>
              <a:t> </a:t>
            </a:r>
            <a:r>
              <a:rPr dirty="0" sz="2800" spc="-220">
                <a:latin typeface="Microsoft YaHei UI"/>
                <a:cs typeface="Microsoft YaHei UI"/>
              </a:rPr>
              <a:t>method</a:t>
            </a:r>
            <a:r>
              <a:rPr dirty="0" sz="2800" spc="-45">
                <a:latin typeface="Microsoft YaHei UI"/>
                <a:cs typeface="Microsoft YaHei UI"/>
              </a:rPr>
              <a:t> </a:t>
            </a:r>
            <a:r>
              <a:rPr dirty="0" sz="2800" spc="-160">
                <a:latin typeface="Microsoft YaHei UI"/>
                <a:cs typeface="Microsoft YaHei UI"/>
              </a:rPr>
              <a:t>will</a:t>
            </a:r>
            <a:r>
              <a:rPr dirty="0" sz="2800" spc="-45">
                <a:latin typeface="Microsoft YaHei UI"/>
                <a:cs typeface="Microsoft YaHei UI"/>
              </a:rPr>
              <a:t> </a:t>
            </a:r>
            <a:r>
              <a:rPr dirty="0" sz="2800" spc="-165">
                <a:latin typeface="Microsoft YaHei UI"/>
                <a:cs typeface="Microsoft YaHei UI"/>
              </a:rPr>
              <a:t>produce</a:t>
            </a:r>
            <a:r>
              <a:rPr dirty="0" sz="2800" spc="-40">
                <a:latin typeface="Microsoft YaHei UI"/>
                <a:cs typeface="Microsoft YaHei UI"/>
              </a:rPr>
              <a:t> </a:t>
            </a:r>
            <a:r>
              <a:rPr dirty="0" sz="2800" spc="-185">
                <a:latin typeface="Microsoft YaHei UI"/>
                <a:cs typeface="Microsoft YaHei UI"/>
              </a:rPr>
              <a:t>high</a:t>
            </a:r>
            <a:r>
              <a:rPr dirty="0" sz="2800" spc="-45">
                <a:latin typeface="Microsoft YaHei UI"/>
                <a:cs typeface="Microsoft YaHei UI"/>
              </a:rPr>
              <a:t> </a:t>
            </a:r>
            <a:r>
              <a:rPr dirty="0" sz="2800" spc="-95">
                <a:latin typeface="Microsoft YaHei UI"/>
                <a:cs typeface="Microsoft YaHei UI"/>
              </a:rPr>
              <a:t>quality </a:t>
            </a:r>
            <a:r>
              <a:rPr dirty="0" sz="2800" spc="-75">
                <a:latin typeface="Microsoft YaHei UI"/>
                <a:cs typeface="Microsoft YaHei UI"/>
              </a:rPr>
              <a:t>clusters</a:t>
            </a:r>
            <a:r>
              <a:rPr dirty="0" sz="2800" spc="-70">
                <a:latin typeface="Microsoft YaHei UI"/>
                <a:cs typeface="Microsoft YaHei UI"/>
              </a:rPr>
              <a:t> </a:t>
            </a:r>
            <a:r>
              <a:rPr dirty="0" sz="2800" spc="-20">
                <a:latin typeface="Microsoft YaHei UI"/>
                <a:cs typeface="Microsoft YaHei UI"/>
              </a:rPr>
              <a:t>with</a:t>
            </a:r>
            <a:endParaRPr sz="2800">
              <a:latin typeface="Microsoft YaHei UI"/>
              <a:cs typeface="Microsoft YaHei UI"/>
            </a:endParaRPr>
          </a:p>
          <a:p>
            <a:pPr lvl="1" marL="755015" indent="-285115"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SzPct val="54166"/>
              <a:buFont typeface="Lucida Sans Unicode"/>
              <a:buChar char="■"/>
              <a:tabLst>
                <a:tab pos="755015" algn="l"/>
              </a:tabLst>
            </a:pPr>
            <a:r>
              <a:rPr dirty="0" sz="2400" spc="-160">
                <a:latin typeface="Microsoft YaHei UI"/>
                <a:cs typeface="Microsoft YaHei UI"/>
              </a:rPr>
              <a:t>high</a:t>
            </a:r>
            <a:r>
              <a:rPr dirty="0" sz="2400" spc="10">
                <a:latin typeface="Microsoft YaHei UI"/>
                <a:cs typeface="Microsoft YaHei UI"/>
              </a:rPr>
              <a:t> </a:t>
            </a:r>
            <a:r>
              <a:rPr dirty="0" u="heavy" sz="2400" spc="-150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intra-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class</a:t>
            </a:r>
            <a:r>
              <a:rPr dirty="0" sz="2400" spc="10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similarity</a:t>
            </a:r>
            <a:endParaRPr sz="2400">
              <a:latin typeface="Microsoft YaHei UI"/>
              <a:cs typeface="Microsoft YaHei UI"/>
            </a:endParaRPr>
          </a:p>
          <a:p>
            <a:pPr lvl="2" marL="1155065" indent="-227965">
              <a:lnSpc>
                <a:spcPts val="2390"/>
              </a:lnSpc>
              <a:spcBef>
                <a:spcPts val="20"/>
              </a:spcBef>
              <a:buClr>
                <a:srgbClr val="3333CC"/>
              </a:buClr>
              <a:buSzPct val="50000"/>
              <a:buFont typeface="Lucida Sans Unicode"/>
              <a:buChar char="■"/>
              <a:tabLst>
                <a:tab pos="1155065" algn="l"/>
              </a:tabLst>
            </a:pPr>
            <a:r>
              <a:rPr dirty="0" sz="2000" spc="-80">
                <a:latin typeface="Microsoft YaHei UI"/>
                <a:cs typeface="Microsoft YaHei UI"/>
              </a:rPr>
              <a:t>similar</a:t>
            </a:r>
            <a:r>
              <a:rPr dirty="0" sz="2000" spc="-35">
                <a:latin typeface="Microsoft YaHei UI"/>
                <a:cs typeface="Microsoft YaHei UI"/>
              </a:rPr>
              <a:t> </a:t>
            </a:r>
            <a:r>
              <a:rPr dirty="0" sz="2000" spc="-190">
                <a:latin typeface="Microsoft YaHei UI"/>
                <a:cs typeface="Microsoft YaHei UI"/>
              </a:rPr>
              <a:t>to</a:t>
            </a:r>
            <a:r>
              <a:rPr dirty="0" sz="2000" spc="-40">
                <a:latin typeface="Microsoft YaHei UI"/>
                <a:cs typeface="Microsoft YaHei UI"/>
              </a:rPr>
              <a:t> </a:t>
            </a:r>
            <a:r>
              <a:rPr dirty="0" sz="2000" spc="-120">
                <a:latin typeface="Microsoft YaHei UI"/>
                <a:cs typeface="Microsoft YaHei UI"/>
              </a:rPr>
              <a:t>one</a:t>
            </a:r>
            <a:r>
              <a:rPr dirty="0" sz="2000" spc="-35">
                <a:latin typeface="Microsoft YaHei UI"/>
                <a:cs typeface="Microsoft YaHei UI"/>
              </a:rPr>
              <a:t> </a:t>
            </a:r>
            <a:r>
              <a:rPr dirty="0" sz="2000" spc="-114">
                <a:latin typeface="Microsoft YaHei UI"/>
                <a:cs typeface="Microsoft YaHei UI"/>
              </a:rPr>
              <a:t>another</a:t>
            </a:r>
            <a:r>
              <a:rPr dirty="0" sz="2000" spc="-35">
                <a:latin typeface="Microsoft YaHei UI"/>
                <a:cs typeface="Microsoft YaHei UI"/>
              </a:rPr>
              <a:t> </a:t>
            </a:r>
            <a:r>
              <a:rPr dirty="0" sz="2000" spc="-140">
                <a:latin typeface="Microsoft YaHei UI"/>
                <a:cs typeface="Microsoft YaHei UI"/>
              </a:rPr>
              <a:t>within</a:t>
            </a:r>
            <a:r>
              <a:rPr dirty="0" sz="2000" spc="-35">
                <a:latin typeface="Microsoft YaHei UI"/>
                <a:cs typeface="Microsoft YaHei UI"/>
              </a:rPr>
              <a:t> </a:t>
            </a:r>
            <a:r>
              <a:rPr dirty="0" sz="2000" spc="-120">
                <a:latin typeface="Microsoft YaHei UI"/>
                <a:cs typeface="Microsoft YaHei UI"/>
              </a:rPr>
              <a:t>the</a:t>
            </a:r>
            <a:r>
              <a:rPr dirty="0" sz="2000" spc="-40">
                <a:latin typeface="Microsoft YaHei UI"/>
                <a:cs typeface="Microsoft YaHei UI"/>
              </a:rPr>
              <a:t> </a:t>
            </a:r>
            <a:r>
              <a:rPr dirty="0" sz="2000" spc="-25">
                <a:latin typeface="Microsoft YaHei UI"/>
                <a:cs typeface="Microsoft YaHei UI"/>
              </a:rPr>
              <a:t>same</a:t>
            </a:r>
            <a:r>
              <a:rPr dirty="0" sz="2000" spc="-40">
                <a:latin typeface="Microsoft YaHei UI"/>
                <a:cs typeface="Microsoft YaHei UI"/>
              </a:rPr>
              <a:t> </a:t>
            </a:r>
            <a:r>
              <a:rPr dirty="0" sz="2000" spc="-10">
                <a:latin typeface="Microsoft YaHei UI"/>
                <a:cs typeface="Microsoft YaHei UI"/>
              </a:rPr>
              <a:t>cluster</a:t>
            </a:r>
            <a:endParaRPr sz="2000">
              <a:latin typeface="Microsoft YaHei UI"/>
              <a:cs typeface="Microsoft YaHei UI"/>
            </a:endParaRPr>
          </a:p>
          <a:p>
            <a:pPr lvl="1" marL="755015" indent="-285115">
              <a:lnSpc>
                <a:spcPts val="2870"/>
              </a:lnSpc>
              <a:buClr>
                <a:srgbClr val="FF0000"/>
              </a:buClr>
              <a:buSzPct val="54166"/>
              <a:buFont typeface="Lucida Sans Unicode"/>
              <a:buChar char="■"/>
              <a:tabLst>
                <a:tab pos="755015" algn="l"/>
              </a:tabLst>
            </a:pPr>
            <a:r>
              <a:rPr dirty="0" sz="2400" spc="-160">
                <a:latin typeface="Microsoft YaHei UI"/>
                <a:cs typeface="Microsoft YaHei UI"/>
              </a:rPr>
              <a:t>low</a:t>
            </a:r>
            <a:r>
              <a:rPr dirty="0" sz="2400" spc="-5">
                <a:latin typeface="Microsoft YaHei UI"/>
                <a:cs typeface="Microsoft YaHei UI"/>
              </a:rPr>
              <a:t> </a:t>
            </a:r>
            <a:r>
              <a:rPr dirty="0" u="heavy" sz="2400" spc="-155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inter-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class</a:t>
            </a:r>
            <a:r>
              <a:rPr dirty="0" sz="2400" spc="-5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similarity</a:t>
            </a:r>
            <a:endParaRPr sz="2400">
              <a:latin typeface="Microsoft YaHei UI"/>
              <a:cs typeface="Microsoft YaHei UI"/>
            </a:endParaRPr>
          </a:p>
          <a:p>
            <a:pPr lvl="2" marL="1155065" indent="-227965">
              <a:lnSpc>
                <a:spcPct val="100000"/>
              </a:lnSpc>
              <a:spcBef>
                <a:spcPts val="20"/>
              </a:spcBef>
              <a:buClr>
                <a:srgbClr val="3333CC"/>
              </a:buClr>
              <a:buSzPct val="50000"/>
              <a:buFont typeface="Lucida Sans Unicode"/>
              <a:buChar char="■"/>
              <a:tabLst>
                <a:tab pos="1155065" algn="l"/>
              </a:tabLst>
            </a:pPr>
            <a:r>
              <a:rPr dirty="0" sz="2000" spc="-75">
                <a:latin typeface="Microsoft YaHei UI"/>
                <a:cs typeface="Microsoft YaHei UI"/>
              </a:rPr>
              <a:t>dissimilar</a:t>
            </a:r>
            <a:r>
              <a:rPr dirty="0" sz="2000" spc="-30">
                <a:latin typeface="Microsoft YaHei UI"/>
                <a:cs typeface="Microsoft YaHei UI"/>
              </a:rPr>
              <a:t> </a:t>
            </a:r>
            <a:r>
              <a:rPr dirty="0" sz="2000" spc="-190">
                <a:latin typeface="Microsoft YaHei UI"/>
                <a:cs typeface="Microsoft YaHei UI"/>
              </a:rPr>
              <a:t>to</a:t>
            </a:r>
            <a:r>
              <a:rPr dirty="0" sz="2000" spc="-40">
                <a:latin typeface="Microsoft YaHei UI"/>
                <a:cs typeface="Microsoft YaHei UI"/>
              </a:rPr>
              <a:t> </a:t>
            </a:r>
            <a:r>
              <a:rPr dirty="0" sz="2000" spc="-120">
                <a:latin typeface="Microsoft YaHei UI"/>
                <a:cs typeface="Microsoft YaHei UI"/>
              </a:rPr>
              <a:t>the</a:t>
            </a:r>
            <a:r>
              <a:rPr dirty="0" sz="2000" spc="-35">
                <a:latin typeface="Microsoft YaHei UI"/>
                <a:cs typeface="Microsoft YaHei UI"/>
              </a:rPr>
              <a:t> </a:t>
            </a:r>
            <a:r>
              <a:rPr dirty="0" sz="2000" spc="-90">
                <a:latin typeface="Microsoft YaHei UI"/>
                <a:cs typeface="Microsoft YaHei UI"/>
              </a:rPr>
              <a:t>objects</a:t>
            </a:r>
            <a:r>
              <a:rPr dirty="0" sz="2000" spc="-30">
                <a:latin typeface="Microsoft YaHei UI"/>
                <a:cs typeface="Microsoft YaHei UI"/>
              </a:rPr>
              <a:t> </a:t>
            </a:r>
            <a:r>
              <a:rPr dirty="0" sz="2000" spc="-114">
                <a:latin typeface="Microsoft YaHei UI"/>
                <a:cs typeface="Microsoft YaHei UI"/>
              </a:rPr>
              <a:t>in</a:t>
            </a:r>
            <a:r>
              <a:rPr dirty="0" sz="2000" spc="-35">
                <a:latin typeface="Microsoft YaHei UI"/>
                <a:cs typeface="Microsoft YaHei UI"/>
              </a:rPr>
              <a:t> </a:t>
            </a:r>
            <a:r>
              <a:rPr dirty="0" sz="2000" spc="-135">
                <a:latin typeface="Microsoft YaHei UI"/>
                <a:cs typeface="Microsoft YaHei UI"/>
              </a:rPr>
              <a:t>other</a:t>
            </a:r>
            <a:r>
              <a:rPr dirty="0" sz="2000" spc="-30">
                <a:latin typeface="Microsoft YaHei UI"/>
                <a:cs typeface="Microsoft YaHei UI"/>
              </a:rPr>
              <a:t> </a:t>
            </a:r>
            <a:r>
              <a:rPr dirty="0" sz="2000" spc="-10">
                <a:latin typeface="Microsoft YaHei UI"/>
                <a:cs typeface="Microsoft YaHei UI"/>
              </a:rPr>
              <a:t>clusters</a:t>
            </a:r>
            <a:endParaRPr sz="2000">
              <a:latin typeface="Microsoft YaHei UI"/>
              <a:cs typeface="Microsoft YaHei UI"/>
            </a:endParaRPr>
          </a:p>
          <a:p>
            <a:pPr marL="355600" marR="340360" indent="-342900">
              <a:lnSpc>
                <a:spcPct val="100000"/>
              </a:lnSpc>
              <a:spcBef>
                <a:spcPts val="2115"/>
              </a:spcBef>
              <a:buClr>
                <a:srgbClr val="3333CC"/>
              </a:buClr>
              <a:buSzPct val="58928"/>
              <a:buFont typeface="Lucida Sans Unicode"/>
              <a:buChar char="■"/>
              <a:tabLst>
                <a:tab pos="355600" algn="l"/>
              </a:tabLst>
            </a:pPr>
            <a:r>
              <a:rPr dirty="0" sz="2800">
                <a:latin typeface="Microsoft YaHei UI"/>
                <a:cs typeface="Microsoft YaHei UI"/>
              </a:rPr>
              <a:t>The</a:t>
            </a:r>
            <a:r>
              <a:rPr dirty="0" sz="2800" spc="-80">
                <a:latin typeface="Microsoft YaHei UI"/>
                <a:cs typeface="Microsoft YaHei UI"/>
              </a:rPr>
              <a:t> </a:t>
            </a:r>
            <a:r>
              <a:rPr dirty="0" u="heavy" sz="2800" spc="-160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quality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225">
                <a:latin typeface="Microsoft YaHei UI"/>
                <a:cs typeface="Microsoft YaHei UI"/>
              </a:rPr>
              <a:t>of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a</a:t>
            </a:r>
            <a:r>
              <a:rPr dirty="0" sz="2800" spc="-60">
                <a:latin typeface="Microsoft YaHei UI"/>
                <a:cs typeface="Microsoft YaHei UI"/>
              </a:rPr>
              <a:t> </a:t>
            </a:r>
            <a:r>
              <a:rPr dirty="0" sz="2800" spc="-130">
                <a:latin typeface="Microsoft YaHei UI"/>
                <a:cs typeface="Microsoft YaHei UI"/>
              </a:rPr>
              <a:t>clustering</a:t>
            </a:r>
            <a:r>
              <a:rPr dirty="0" sz="2800" spc="-55">
                <a:latin typeface="Microsoft YaHei UI"/>
                <a:cs typeface="Microsoft YaHei UI"/>
              </a:rPr>
              <a:t> </a:t>
            </a:r>
            <a:r>
              <a:rPr dirty="0" sz="2800" spc="-220">
                <a:latin typeface="Microsoft YaHei UI"/>
                <a:cs typeface="Microsoft YaHei UI"/>
              </a:rPr>
              <a:t>method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>
                <a:latin typeface="Microsoft YaHei UI"/>
                <a:cs typeface="Microsoft YaHei UI"/>
              </a:rPr>
              <a:t>is</a:t>
            </a:r>
            <a:r>
              <a:rPr dirty="0" sz="2800" spc="-60">
                <a:latin typeface="Microsoft YaHei UI"/>
                <a:cs typeface="Microsoft YaHei UI"/>
              </a:rPr>
              <a:t> </a:t>
            </a:r>
            <a:r>
              <a:rPr dirty="0" sz="2800" spc="-20">
                <a:latin typeface="Microsoft YaHei UI"/>
                <a:cs typeface="Microsoft YaHei UI"/>
              </a:rPr>
              <a:t>also </a:t>
            </a:r>
            <a:r>
              <a:rPr dirty="0" sz="2800" spc="-110">
                <a:latin typeface="Microsoft YaHei UI"/>
                <a:cs typeface="Microsoft YaHei UI"/>
              </a:rPr>
              <a:t>measured</a:t>
            </a:r>
            <a:r>
              <a:rPr dirty="0" sz="2800" spc="-100">
                <a:latin typeface="Microsoft YaHei UI"/>
                <a:cs typeface="Microsoft YaHei UI"/>
              </a:rPr>
              <a:t> </a:t>
            </a:r>
            <a:r>
              <a:rPr dirty="0" sz="2800" spc="-180">
                <a:latin typeface="Microsoft YaHei UI"/>
                <a:cs typeface="Microsoft YaHei UI"/>
              </a:rPr>
              <a:t>by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90">
                <a:latin typeface="Microsoft YaHei UI"/>
                <a:cs typeface="Microsoft YaHei UI"/>
              </a:rPr>
              <a:t>its</a:t>
            </a:r>
            <a:r>
              <a:rPr dirty="0" sz="2800" spc="-100">
                <a:latin typeface="Microsoft YaHei UI"/>
                <a:cs typeface="Microsoft YaHei UI"/>
              </a:rPr>
              <a:t> </a:t>
            </a:r>
            <a:r>
              <a:rPr dirty="0" sz="2800" spc="-150">
                <a:latin typeface="Microsoft YaHei UI"/>
                <a:cs typeface="Microsoft YaHei UI"/>
              </a:rPr>
              <a:t>ability</a:t>
            </a:r>
            <a:r>
              <a:rPr dirty="0" sz="2800" spc="-55">
                <a:latin typeface="Microsoft YaHei UI"/>
                <a:cs typeface="Microsoft YaHei UI"/>
              </a:rPr>
              <a:t> </a:t>
            </a:r>
            <a:r>
              <a:rPr dirty="0" sz="2800" spc="-254">
                <a:latin typeface="Microsoft YaHei UI"/>
                <a:cs typeface="Microsoft YaHei UI"/>
              </a:rPr>
              <a:t>to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100">
                <a:latin typeface="Microsoft YaHei UI"/>
                <a:cs typeface="Microsoft YaHei UI"/>
              </a:rPr>
              <a:t>discover</a:t>
            </a:r>
            <a:r>
              <a:rPr dirty="0" sz="2800" spc="-70">
                <a:latin typeface="Microsoft YaHei UI"/>
                <a:cs typeface="Microsoft YaHei UI"/>
              </a:rPr>
              <a:t> </a:t>
            </a:r>
            <a:r>
              <a:rPr dirty="0" sz="2800" spc="-125">
                <a:latin typeface="Microsoft YaHei UI"/>
                <a:cs typeface="Microsoft YaHei UI"/>
              </a:rPr>
              <a:t>some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 spc="-200">
                <a:latin typeface="Microsoft YaHei UI"/>
                <a:cs typeface="Microsoft YaHei UI"/>
              </a:rPr>
              <a:t>or</a:t>
            </a:r>
            <a:r>
              <a:rPr dirty="0" sz="2800" spc="-50">
                <a:latin typeface="Microsoft YaHei UI"/>
                <a:cs typeface="Microsoft YaHei UI"/>
              </a:rPr>
              <a:t> </a:t>
            </a:r>
            <a:r>
              <a:rPr dirty="0" sz="2800" spc="-60">
                <a:latin typeface="Microsoft YaHei UI"/>
                <a:cs typeface="Microsoft YaHei UI"/>
              </a:rPr>
              <a:t>all</a:t>
            </a:r>
            <a:r>
              <a:rPr dirty="0" sz="2800" spc="-65">
                <a:latin typeface="Microsoft YaHei UI"/>
                <a:cs typeface="Microsoft YaHei UI"/>
              </a:rPr>
              <a:t> </a:t>
            </a:r>
            <a:r>
              <a:rPr dirty="0" sz="2800" spc="-25">
                <a:latin typeface="Microsoft YaHei UI"/>
                <a:cs typeface="Microsoft YaHei UI"/>
              </a:rPr>
              <a:t>of </a:t>
            </a:r>
            <a:r>
              <a:rPr dirty="0" sz="2800" spc="-165">
                <a:latin typeface="Microsoft YaHei UI"/>
                <a:cs typeface="Microsoft YaHei UI"/>
              </a:rPr>
              <a:t>the</a:t>
            </a:r>
            <a:r>
              <a:rPr dirty="0" sz="2800" spc="-25">
                <a:latin typeface="Microsoft YaHei UI"/>
                <a:cs typeface="Microsoft YaHei UI"/>
              </a:rPr>
              <a:t> </a:t>
            </a:r>
            <a:r>
              <a:rPr dirty="0" u="heavy" sz="2800" spc="-180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hidden</a:t>
            </a:r>
            <a:r>
              <a:rPr dirty="0" sz="2800" spc="-25">
                <a:latin typeface="Microsoft YaHei UI"/>
                <a:cs typeface="Microsoft YaHei UI"/>
              </a:rPr>
              <a:t> </a:t>
            </a:r>
            <a:r>
              <a:rPr dirty="0" sz="2800" spc="-10">
                <a:latin typeface="Microsoft YaHei UI"/>
                <a:cs typeface="Microsoft YaHei UI"/>
              </a:rPr>
              <a:t>patterns</a:t>
            </a:r>
            <a:endParaRPr sz="2800">
              <a:latin typeface="Microsoft YaHei UI"/>
              <a:cs typeface="Microsoft YaHei U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0">
                <a:latin typeface="Microsoft YaHei UI"/>
                <a:cs typeface="Microsoft YaHei UI"/>
              </a:rPr>
              <a:t>26</a:t>
            </a:r>
            <a:endParaRPr sz="1400">
              <a:latin typeface="Microsoft YaHei UI"/>
              <a:cs typeface="Microsoft YaHei U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7672" y="3041205"/>
            <a:ext cx="1951544" cy="43991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4041" y="3730053"/>
            <a:ext cx="1950027" cy="38303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62563" y="5576696"/>
            <a:ext cx="2116480" cy="36109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09067" y="5573137"/>
            <a:ext cx="1332331" cy="377061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7810309" y="5913382"/>
            <a:ext cx="26670" cy="16510"/>
          </a:xfrm>
          <a:custGeom>
            <a:avLst/>
            <a:gdLst/>
            <a:ahLst/>
            <a:cxnLst/>
            <a:rect l="l" t="t" r="r" b="b"/>
            <a:pathLst>
              <a:path w="26670" h="16510">
                <a:moveTo>
                  <a:pt x="5397" y="0"/>
                </a:moveTo>
                <a:lnTo>
                  <a:pt x="1435" y="2806"/>
                </a:lnTo>
                <a:lnTo>
                  <a:pt x="0" y="11164"/>
                </a:lnTo>
                <a:lnTo>
                  <a:pt x="2806" y="15133"/>
                </a:lnTo>
                <a:lnTo>
                  <a:pt x="8483" y="16106"/>
                </a:lnTo>
                <a:lnTo>
                  <a:pt x="10020" y="15914"/>
                </a:lnTo>
                <a:lnTo>
                  <a:pt x="25793" y="8886"/>
                </a:lnTo>
                <a:lnTo>
                  <a:pt x="26581" y="6827"/>
                </a:lnTo>
                <a:lnTo>
                  <a:pt x="25323" y="4005"/>
                </a:lnTo>
                <a:lnTo>
                  <a:pt x="24358" y="3249"/>
                </a:lnTo>
                <a:lnTo>
                  <a:pt x="53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8147" rIns="0" bIns="0" rtlCol="0" vert="horz">
            <a:spAutoFit/>
          </a:bodyPr>
          <a:lstStyle/>
          <a:p>
            <a:pPr marL="1069975" marR="508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Microsoft YaHei UI"/>
                <a:cs typeface="Microsoft YaHei UI"/>
              </a:rPr>
              <a:t>Similarity</a:t>
            </a:r>
            <a:r>
              <a:rPr dirty="0" sz="3600" spc="-15">
                <a:latin typeface="Microsoft YaHei UI"/>
                <a:cs typeface="Microsoft YaHei UI"/>
              </a:rPr>
              <a:t> </a:t>
            </a:r>
            <a:r>
              <a:rPr dirty="0" sz="3600">
                <a:latin typeface="Microsoft YaHei UI"/>
                <a:cs typeface="Microsoft YaHei UI"/>
              </a:rPr>
              <a:t>and</a:t>
            </a:r>
            <a:r>
              <a:rPr dirty="0" sz="3600" spc="-15">
                <a:latin typeface="Microsoft YaHei UI"/>
                <a:cs typeface="Microsoft YaHei UI"/>
              </a:rPr>
              <a:t> </a:t>
            </a:r>
            <a:r>
              <a:rPr dirty="0" sz="3600" spc="-10">
                <a:latin typeface="Microsoft YaHei UI"/>
                <a:cs typeface="Microsoft YaHei UI"/>
              </a:rPr>
              <a:t>Dissimilarity </a:t>
            </a:r>
            <a:r>
              <a:rPr dirty="0" sz="3600">
                <a:latin typeface="Microsoft YaHei UI"/>
                <a:cs typeface="Microsoft YaHei UI"/>
              </a:rPr>
              <a:t>Between</a:t>
            </a:r>
            <a:r>
              <a:rPr dirty="0" sz="3600" spc="110">
                <a:latin typeface="Microsoft YaHei UI"/>
                <a:cs typeface="Microsoft YaHei UI"/>
              </a:rPr>
              <a:t> </a:t>
            </a:r>
            <a:r>
              <a:rPr dirty="0" sz="3600" spc="-10">
                <a:latin typeface="Microsoft YaHei UI"/>
                <a:cs typeface="Microsoft YaHei UI"/>
              </a:rPr>
              <a:t>Objects</a:t>
            </a:r>
            <a:endParaRPr sz="3600">
              <a:latin typeface="Microsoft YaHei UI"/>
              <a:cs typeface="Microsoft YaHei U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858884" y="2299500"/>
            <a:ext cx="5333365" cy="1403985"/>
            <a:chOff x="2858884" y="2299500"/>
            <a:chExt cx="5333365" cy="1403985"/>
          </a:xfrm>
        </p:grpSpPr>
        <p:sp>
          <p:nvSpPr>
            <p:cNvPr id="4" name="object 4" descr=""/>
            <p:cNvSpPr/>
            <p:nvPr/>
          </p:nvSpPr>
          <p:spPr>
            <a:xfrm>
              <a:off x="6992416" y="2307120"/>
              <a:ext cx="1191895" cy="0"/>
            </a:xfrm>
            <a:custGeom>
              <a:avLst/>
              <a:gdLst/>
              <a:ahLst/>
              <a:cxnLst/>
              <a:rect l="l" t="t" r="r" b="b"/>
              <a:pathLst>
                <a:path w="1191895" h="0">
                  <a:moveTo>
                    <a:pt x="0" y="0"/>
                  </a:moveTo>
                  <a:lnTo>
                    <a:pt x="1191895" y="0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864281" y="3500120"/>
              <a:ext cx="33020" cy="19685"/>
            </a:xfrm>
            <a:custGeom>
              <a:avLst/>
              <a:gdLst/>
              <a:ahLst/>
              <a:cxnLst/>
              <a:rect l="l" t="t" r="r" b="b"/>
              <a:pathLst>
                <a:path w="33019" h="19685">
                  <a:moveTo>
                    <a:pt x="0" y="19075"/>
                  </a:moveTo>
                  <a:lnTo>
                    <a:pt x="32943" y="0"/>
                  </a:lnTo>
                </a:path>
              </a:pathLst>
            </a:custGeom>
            <a:ln w="103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897225" y="3505288"/>
              <a:ext cx="46990" cy="187325"/>
            </a:xfrm>
            <a:custGeom>
              <a:avLst/>
              <a:gdLst/>
              <a:ahLst/>
              <a:cxnLst/>
              <a:rect l="l" t="t" r="r" b="b"/>
              <a:pathLst>
                <a:path w="46989" h="187325">
                  <a:moveTo>
                    <a:pt x="0" y="0"/>
                  </a:moveTo>
                  <a:lnTo>
                    <a:pt x="46824" y="187121"/>
                  </a:lnTo>
                </a:path>
              </a:pathLst>
            </a:custGeom>
            <a:ln w="20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949219" y="3181096"/>
              <a:ext cx="4254500" cy="511809"/>
            </a:xfrm>
            <a:custGeom>
              <a:avLst/>
              <a:gdLst/>
              <a:ahLst/>
              <a:cxnLst/>
              <a:rect l="l" t="t" r="r" b="b"/>
              <a:pathLst>
                <a:path w="4254500" h="511810">
                  <a:moveTo>
                    <a:pt x="0" y="511314"/>
                  </a:moveTo>
                  <a:lnTo>
                    <a:pt x="62306" y="0"/>
                  </a:lnTo>
                </a:path>
                <a:path w="4254500" h="511810">
                  <a:moveTo>
                    <a:pt x="62306" y="0"/>
                  </a:moveTo>
                  <a:lnTo>
                    <a:pt x="4254487" y="0"/>
                  </a:lnTo>
                </a:path>
              </a:pathLst>
            </a:custGeom>
            <a:ln w="103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567486" y="1957235"/>
            <a:ext cx="8051165" cy="4126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6400" marR="558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Lucida Sans Unicode"/>
              <a:buChar char="■"/>
              <a:tabLst>
                <a:tab pos="406400" algn="l"/>
              </a:tabLst>
            </a:pPr>
            <a:r>
              <a:rPr dirty="0" u="heavy" sz="2400" spc="-95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Distances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 spc="-20">
                <a:latin typeface="Microsoft YaHei UI"/>
                <a:cs typeface="Microsoft YaHei UI"/>
              </a:rPr>
              <a:t>are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120">
                <a:latin typeface="Microsoft YaHei UI"/>
                <a:cs typeface="Microsoft YaHei UI"/>
              </a:rPr>
              <a:t>normally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105">
                <a:latin typeface="Microsoft YaHei UI"/>
                <a:cs typeface="Microsoft YaHei UI"/>
              </a:rPr>
              <a:t>used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to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spc="-105">
                <a:latin typeface="Microsoft YaHei UI"/>
                <a:cs typeface="Microsoft YaHei UI"/>
              </a:rPr>
              <a:t>measure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spc="-70">
                <a:latin typeface="Microsoft YaHei UI"/>
                <a:cs typeface="Microsoft YaHei UI"/>
              </a:rPr>
              <a:t>the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spc="-95">
                <a:latin typeface="Microsoft YaHei UI"/>
                <a:cs typeface="Microsoft YaHei UI"/>
              </a:rPr>
              <a:t>similarity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25">
                <a:latin typeface="Microsoft YaHei UI"/>
                <a:cs typeface="Microsoft YaHei UI"/>
              </a:rPr>
              <a:t>or </a:t>
            </a:r>
            <a:r>
              <a:rPr dirty="0" u="heavy" sz="2400" spc="-95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dissimilarity</a:t>
            </a:r>
            <a:r>
              <a:rPr dirty="0" sz="2400" spc="-80">
                <a:latin typeface="Microsoft YaHei UI"/>
                <a:cs typeface="Microsoft YaHei UI"/>
              </a:rPr>
              <a:t> </a:t>
            </a:r>
            <a:r>
              <a:rPr dirty="0" sz="2400" spc="-125">
                <a:latin typeface="Microsoft YaHei UI"/>
                <a:cs typeface="Microsoft YaHei UI"/>
              </a:rPr>
              <a:t>between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125">
                <a:latin typeface="Microsoft YaHei UI"/>
                <a:cs typeface="Microsoft YaHei UI"/>
              </a:rPr>
              <a:t>two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data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objects</a:t>
            </a:r>
            <a:endParaRPr sz="2400">
              <a:latin typeface="Microsoft YaHei UI"/>
              <a:cs typeface="Microsoft YaHei UI"/>
            </a:endParaRPr>
          </a:p>
          <a:p>
            <a:pPr marL="405765" indent="-342265">
              <a:lnSpc>
                <a:spcPts val="2900"/>
              </a:lnSpc>
              <a:buClr>
                <a:srgbClr val="3333CC"/>
              </a:buClr>
              <a:buSzPct val="60416"/>
              <a:buFont typeface="Lucida Sans Unicode"/>
              <a:buChar char="■"/>
              <a:tabLst>
                <a:tab pos="405765" algn="l"/>
              </a:tabLst>
            </a:pPr>
            <a:r>
              <a:rPr dirty="0" sz="2400" spc="-254">
                <a:latin typeface="Microsoft YaHei UI"/>
                <a:cs typeface="Microsoft YaHei UI"/>
              </a:rPr>
              <a:t>A</a:t>
            </a:r>
            <a:r>
              <a:rPr dirty="0" sz="2400" spc="40">
                <a:latin typeface="Microsoft YaHei UI"/>
                <a:cs typeface="Microsoft YaHei UI"/>
              </a:rPr>
              <a:t> </a:t>
            </a:r>
            <a:r>
              <a:rPr dirty="0" sz="2400" spc="-140">
                <a:latin typeface="Microsoft YaHei UI"/>
                <a:cs typeface="Microsoft YaHei UI"/>
              </a:rPr>
              <a:t>popular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one:</a:t>
            </a:r>
            <a:r>
              <a:rPr dirty="0" sz="2400" spc="-90">
                <a:latin typeface="Microsoft YaHei UI"/>
                <a:cs typeface="Microsoft YaHei UI"/>
              </a:rPr>
              <a:t> </a:t>
            </a:r>
            <a:r>
              <a:rPr dirty="0" sz="2500" spc="-245" i="1">
                <a:latin typeface="Verdana"/>
                <a:cs typeface="Verdana"/>
              </a:rPr>
              <a:t>Minkowski</a:t>
            </a:r>
            <a:r>
              <a:rPr dirty="0" sz="2500" spc="-130" i="1">
                <a:latin typeface="Verdana"/>
                <a:cs typeface="Verdana"/>
              </a:rPr>
              <a:t> </a:t>
            </a:r>
            <a:r>
              <a:rPr dirty="0" sz="2500" spc="-45" i="1">
                <a:latin typeface="Verdana"/>
                <a:cs typeface="Verdana"/>
              </a:rPr>
              <a:t>distance</a:t>
            </a:r>
            <a:r>
              <a:rPr dirty="0" sz="2400" spc="-45">
                <a:latin typeface="Microsoft YaHei UI"/>
                <a:cs typeface="Microsoft YaHei UI"/>
              </a:rPr>
              <a:t>:</a:t>
            </a:r>
            <a:endParaRPr sz="2400">
              <a:latin typeface="Microsoft YaHei UI"/>
              <a:cs typeface="Microsoft YaHei UI"/>
            </a:endParaRPr>
          </a:p>
          <a:p>
            <a:pPr algn="ctr" marL="77470">
              <a:lnSpc>
                <a:spcPts val="1780"/>
              </a:lnSpc>
              <a:spcBef>
                <a:spcPts val="1215"/>
              </a:spcBef>
              <a:tabLst>
                <a:tab pos="1480185" algn="l"/>
                <a:tab pos="1999614" algn="l"/>
                <a:tab pos="2771775" algn="l"/>
                <a:tab pos="3319779" algn="l"/>
                <a:tab pos="4404360" algn="l"/>
                <a:tab pos="4947920" algn="l"/>
              </a:tabLst>
            </a:pPr>
            <a:r>
              <a:rPr dirty="0" sz="1950" i="1">
                <a:latin typeface="Times New Roman"/>
                <a:cs typeface="Times New Roman"/>
              </a:rPr>
              <a:t>d</a:t>
            </a:r>
            <a:r>
              <a:rPr dirty="0" sz="1950">
                <a:latin typeface="Microsoft YaHei UI"/>
                <a:cs typeface="Microsoft YaHei UI"/>
              </a:rPr>
              <a:t>(</a:t>
            </a:r>
            <a:r>
              <a:rPr dirty="0" sz="1950" i="1">
                <a:latin typeface="Times New Roman"/>
                <a:cs typeface="Times New Roman"/>
              </a:rPr>
              <a:t>i</a:t>
            </a:r>
            <a:r>
              <a:rPr dirty="0" sz="1950">
                <a:latin typeface="Microsoft YaHei UI"/>
                <a:cs typeface="Microsoft YaHei UI"/>
              </a:rPr>
              <a:t>,</a:t>
            </a:r>
            <a:r>
              <a:rPr dirty="0" sz="1950" spc="-60">
                <a:latin typeface="Microsoft YaHei UI"/>
                <a:cs typeface="Microsoft YaHei UI"/>
              </a:rPr>
              <a:t> </a:t>
            </a:r>
            <a:r>
              <a:rPr dirty="0" sz="1950" i="1">
                <a:latin typeface="Times New Roman"/>
                <a:cs typeface="Times New Roman"/>
              </a:rPr>
              <a:t>j</a:t>
            </a:r>
            <a:r>
              <a:rPr dirty="0" sz="1950">
                <a:latin typeface="Microsoft YaHei UI"/>
                <a:cs typeface="Microsoft YaHei UI"/>
              </a:rPr>
              <a:t>)</a:t>
            </a:r>
            <a:r>
              <a:rPr dirty="0" sz="1950" spc="-280">
                <a:latin typeface="Microsoft YaHei UI"/>
                <a:cs typeface="Microsoft YaHei UI"/>
              </a:rPr>
              <a:t> </a:t>
            </a:r>
            <a:r>
              <a:rPr dirty="0" sz="1950" spc="-365">
                <a:latin typeface="Microsoft YaHei UI"/>
                <a:cs typeface="Microsoft YaHei UI"/>
              </a:rPr>
              <a:t>=</a:t>
            </a:r>
            <a:r>
              <a:rPr dirty="0" sz="1950" spc="-250">
                <a:latin typeface="Microsoft YaHei UI"/>
                <a:cs typeface="Microsoft YaHei UI"/>
              </a:rPr>
              <a:t> </a:t>
            </a:r>
            <a:r>
              <a:rPr dirty="0" baseline="11574" sz="1800" i="1">
                <a:latin typeface="Times New Roman"/>
                <a:cs typeface="Times New Roman"/>
              </a:rPr>
              <a:t>q</a:t>
            </a:r>
            <a:r>
              <a:rPr dirty="0" baseline="11574" sz="1800" spc="607" i="1">
                <a:latin typeface="Times New Roman"/>
                <a:cs typeface="Times New Roman"/>
              </a:rPr>
              <a:t> </a:t>
            </a:r>
            <a:r>
              <a:rPr dirty="0" sz="1950" spc="-70">
                <a:latin typeface="Microsoft YaHei UI"/>
                <a:cs typeface="Microsoft YaHei UI"/>
              </a:rPr>
              <a:t>(|</a:t>
            </a:r>
            <a:r>
              <a:rPr dirty="0" sz="1950" spc="-265">
                <a:latin typeface="Microsoft YaHei UI"/>
                <a:cs typeface="Microsoft YaHei UI"/>
              </a:rPr>
              <a:t> </a:t>
            </a:r>
            <a:r>
              <a:rPr dirty="0" sz="1950" spc="-50" i="1">
                <a:latin typeface="Times New Roman"/>
                <a:cs typeface="Times New Roman"/>
              </a:rPr>
              <a:t>x</a:t>
            </a:r>
            <a:r>
              <a:rPr dirty="0" sz="1950" i="1">
                <a:latin typeface="Times New Roman"/>
                <a:cs typeface="Times New Roman"/>
              </a:rPr>
              <a:t>	</a:t>
            </a:r>
            <a:r>
              <a:rPr dirty="0" sz="1950">
                <a:latin typeface="Microsoft YaHei UI"/>
                <a:cs typeface="Microsoft YaHei UI"/>
              </a:rPr>
              <a:t>–</a:t>
            </a:r>
            <a:r>
              <a:rPr dirty="0" sz="1950" spc="-245">
                <a:latin typeface="Microsoft YaHei UI"/>
                <a:cs typeface="Microsoft YaHei UI"/>
              </a:rPr>
              <a:t> </a:t>
            </a:r>
            <a:r>
              <a:rPr dirty="0" sz="1950" spc="-50" i="1">
                <a:latin typeface="Times New Roman"/>
                <a:cs typeface="Times New Roman"/>
              </a:rPr>
              <a:t>x</a:t>
            </a:r>
            <a:r>
              <a:rPr dirty="0" sz="1950" i="1">
                <a:latin typeface="Times New Roman"/>
                <a:cs typeface="Times New Roman"/>
              </a:rPr>
              <a:t>	</a:t>
            </a:r>
            <a:r>
              <a:rPr dirty="0" sz="1950">
                <a:latin typeface="Microsoft YaHei UI"/>
                <a:cs typeface="Microsoft YaHei UI"/>
              </a:rPr>
              <a:t>|</a:t>
            </a:r>
            <a:r>
              <a:rPr dirty="0" baseline="46296" sz="1800" i="1">
                <a:latin typeface="Times New Roman"/>
                <a:cs typeface="Times New Roman"/>
              </a:rPr>
              <a:t>q</a:t>
            </a:r>
            <a:r>
              <a:rPr dirty="0" baseline="46296" sz="1800" spc="270" i="1">
                <a:latin typeface="Times New Roman"/>
                <a:cs typeface="Times New Roman"/>
              </a:rPr>
              <a:t> </a:t>
            </a:r>
            <a:r>
              <a:rPr dirty="0" sz="1950" spc="-160">
                <a:latin typeface="Microsoft YaHei UI"/>
                <a:cs typeface="Microsoft YaHei UI"/>
              </a:rPr>
              <a:t>+|</a:t>
            </a:r>
            <a:r>
              <a:rPr dirty="0" sz="1950" spc="-290">
                <a:latin typeface="Microsoft YaHei UI"/>
                <a:cs typeface="Microsoft YaHei UI"/>
              </a:rPr>
              <a:t> </a:t>
            </a:r>
            <a:r>
              <a:rPr dirty="0" sz="1950" spc="-50" i="1">
                <a:latin typeface="Times New Roman"/>
                <a:cs typeface="Times New Roman"/>
              </a:rPr>
              <a:t>x</a:t>
            </a:r>
            <a:r>
              <a:rPr dirty="0" sz="1950" i="1">
                <a:latin typeface="Times New Roman"/>
                <a:cs typeface="Times New Roman"/>
              </a:rPr>
              <a:t>	</a:t>
            </a:r>
            <a:r>
              <a:rPr dirty="0" sz="1950">
                <a:latin typeface="Microsoft YaHei UI"/>
                <a:cs typeface="Microsoft YaHei UI"/>
              </a:rPr>
              <a:t>–</a:t>
            </a:r>
            <a:r>
              <a:rPr dirty="0" sz="1950" spc="-245">
                <a:latin typeface="Microsoft YaHei UI"/>
                <a:cs typeface="Microsoft YaHei UI"/>
              </a:rPr>
              <a:t> </a:t>
            </a:r>
            <a:r>
              <a:rPr dirty="0" sz="1950" spc="-50" i="1">
                <a:latin typeface="Times New Roman"/>
                <a:cs typeface="Times New Roman"/>
              </a:rPr>
              <a:t>x</a:t>
            </a:r>
            <a:r>
              <a:rPr dirty="0" sz="1950" i="1">
                <a:latin typeface="Times New Roman"/>
                <a:cs typeface="Times New Roman"/>
              </a:rPr>
              <a:t>	</a:t>
            </a:r>
            <a:r>
              <a:rPr dirty="0" sz="1950">
                <a:latin typeface="Microsoft YaHei UI"/>
                <a:cs typeface="Microsoft YaHei UI"/>
              </a:rPr>
              <a:t>|</a:t>
            </a:r>
            <a:r>
              <a:rPr dirty="0" baseline="46296" sz="1800" i="1">
                <a:latin typeface="Times New Roman"/>
                <a:cs typeface="Times New Roman"/>
              </a:rPr>
              <a:t>q</a:t>
            </a:r>
            <a:r>
              <a:rPr dirty="0" baseline="46296" sz="1800" spc="322" i="1">
                <a:latin typeface="Times New Roman"/>
                <a:cs typeface="Times New Roman"/>
              </a:rPr>
              <a:t> </a:t>
            </a:r>
            <a:r>
              <a:rPr dirty="0" sz="1950" spc="-165">
                <a:latin typeface="Microsoft YaHei UI"/>
                <a:cs typeface="Microsoft YaHei UI"/>
              </a:rPr>
              <a:t>+...+</a:t>
            </a:r>
            <a:r>
              <a:rPr dirty="0" sz="1950" spc="-385">
                <a:latin typeface="Microsoft YaHei UI"/>
                <a:cs typeface="Microsoft YaHei UI"/>
              </a:rPr>
              <a:t> </a:t>
            </a:r>
            <a:r>
              <a:rPr dirty="0" sz="1950" spc="-140">
                <a:latin typeface="Microsoft YaHei UI"/>
                <a:cs typeface="Microsoft YaHei UI"/>
              </a:rPr>
              <a:t>|</a:t>
            </a:r>
            <a:r>
              <a:rPr dirty="0" sz="1950" spc="-290">
                <a:latin typeface="Microsoft YaHei UI"/>
                <a:cs typeface="Microsoft YaHei UI"/>
              </a:rPr>
              <a:t> </a:t>
            </a:r>
            <a:r>
              <a:rPr dirty="0" sz="1950" spc="-50" i="1">
                <a:latin typeface="Times New Roman"/>
                <a:cs typeface="Times New Roman"/>
              </a:rPr>
              <a:t>x</a:t>
            </a:r>
            <a:r>
              <a:rPr dirty="0" sz="1950" i="1">
                <a:latin typeface="Times New Roman"/>
                <a:cs typeface="Times New Roman"/>
              </a:rPr>
              <a:t>	</a:t>
            </a:r>
            <a:r>
              <a:rPr dirty="0" sz="1950">
                <a:latin typeface="Microsoft YaHei UI"/>
                <a:cs typeface="Microsoft YaHei UI"/>
              </a:rPr>
              <a:t>–</a:t>
            </a:r>
            <a:r>
              <a:rPr dirty="0" sz="1950" spc="-245">
                <a:latin typeface="Microsoft YaHei UI"/>
                <a:cs typeface="Microsoft YaHei UI"/>
              </a:rPr>
              <a:t> </a:t>
            </a:r>
            <a:r>
              <a:rPr dirty="0" sz="1950" spc="-50" i="1">
                <a:latin typeface="Times New Roman"/>
                <a:cs typeface="Times New Roman"/>
              </a:rPr>
              <a:t>x</a:t>
            </a:r>
            <a:r>
              <a:rPr dirty="0" sz="1950" i="1">
                <a:latin typeface="Times New Roman"/>
                <a:cs typeface="Times New Roman"/>
              </a:rPr>
              <a:t>	</a:t>
            </a:r>
            <a:r>
              <a:rPr dirty="0" sz="1950" spc="-50">
                <a:latin typeface="Microsoft YaHei UI"/>
                <a:cs typeface="Microsoft YaHei UI"/>
              </a:rPr>
              <a:t>|</a:t>
            </a:r>
            <a:r>
              <a:rPr dirty="0" baseline="46296" sz="1800" spc="-75" i="1">
                <a:latin typeface="Times New Roman"/>
                <a:cs typeface="Times New Roman"/>
              </a:rPr>
              <a:t>q</a:t>
            </a:r>
            <a:r>
              <a:rPr dirty="0" baseline="46296" sz="1800" spc="-67" i="1">
                <a:latin typeface="Times New Roman"/>
                <a:cs typeface="Times New Roman"/>
              </a:rPr>
              <a:t> </a:t>
            </a:r>
            <a:r>
              <a:rPr dirty="0" sz="1950" spc="-50">
                <a:latin typeface="Microsoft YaHei UI"/>
                <a:cs typeface="Microsoft YaHei UI"/>
              </a:rPr>
              <a:t>)</a:t>
            </a:r>
            <a:endParaRPr sz="1950">
              <a:latin typeface="Microsoft YaHei UI"/>
              <a:cs typeface="Microsoft YaHei UI"/>
            </a:endParaRPr>
          </a:p>
          <a:p>
            <a:pPr marL="2727325">
              <a:lnSpc>
                <a:spcPts val="1780"/>
              </a:lnSpc>
              <a:tabLst>
                <a:tab pos="3249295" algn="l"/>
                <a:tab pos="3990340" algn="l"/>
                <a:tab pos="4540885" algn="l"/>
                <a:tab pos="5623560" algn="l"/>
                <a:tab pos="6173470" algn="l"/>
              </a:tabLst>
            </a:pPr>
            <a:r>
              <a:rPr dirty="0" sz="1950" spc="-25" i="1">
                <a:latin typeface="Times New Roman"/>
                <a:cs typeface="Times New Roman"/>
              </a:rPr>
              <a:t>i</a:t>
            </a:r>
            <a:r>
              <a:rPr dirty="0" sz="1200" spc="-25">
                <a:latin typeface="Microsoft YaHei UI"/>
                <a:cs typeface="Microsoft YaHei UI"/>
              </a:rPr>
              <a:t>1</a:t>
            </a:r>
            <a:r>
              <a:rPr dirty="0" sz="1200">
                <a:latin typeface="Microsoft YaHei UI"/>
                <a:cs typeface="Microsoft YaHei UI"/>
              </a:rPr>
              <a:t>	</a:t>
            </a:r>
            <a:r>
              <a:rPr dirty="0" sz="1950" spc="-25" i="1">
                <a:latin typeface="Times New Roman"/>
                <a:cs typeface="Times New Roman"/>
              </a:rPr>
              <a:t>j</a:t>
            </a:r>
            <a:r>
              <a:rPr dirty="0" sz="1200" spc="-25">
                <a:latin typeface="Microsoft YaHei UI"/>
                <a:cs typeface="Microsoft YaHei UI"/>
              </a:rPr>
              <a:t>1</a:t>
            </a:r>
            <a:r>
              <a:rPr dirty="0" sz="1200">
                <a:latin typeface="Microsoft YaHei UI"/>
                <a:cs typeface="Microsoft YaHei UI"/>
              </a:rPr>
              <a:t>	</a:t>
            </a:r>
            <a:r>
              <a:rPr dirty="0" sz="1950" spc="-25" i="1">
                <a:latin typeface="Times New Roman"/>
                <a:cs typeface="Times New Roman"/>
              </a:rPr>
              <a:t>i</a:t>
            </a:r>
            <a:r>
              <a:rPr dirty="0" sz="1200" spc="-25">
                <a:latin typeface="Microsoft YaHei UI"/>
                <a:cs typeface="Microsoft YaHei UI"/>
              </a:rPr>
              <a:t>2</a:t>
            </a:r>
            <a:r>
              <a:rPr dirty="0" sz="1200">
                <a:latin typeface="Microsoft YaHei UI"/>
                <a:cs typeface="Microsoft YaHei UI"/>
              </a:rPr>
              <a:t>	</a:t>
            </a:r>
            <a:r>
              <a:rPr dirty="0" sz="1950" spc="-25" i="1">
                <a:latin typeface="Times New Roman"/>
                <a:cs typeface="Times New Roman"/>
              </a:rPr>
              <a:t>j</a:t>
            </a:r>
            <a:r>
              <a:rPr dirty="0" sz="1200" spc="-25">
                <a:latin typeface="Microsoft YaHei UI"/>
                <a:cs typeface="Microsoft YaHei UI"/>
              </a:rPr>
              <a:t>2</a:t>
            </a:r>
            <a:r>
              <a:rPr dirty="0" sz="1200">
                <a:latin typeface="Microsoft YaHei UI"/>
                <a:cs typeface="Microsoft YaHei UI"/>
              </a:rPr>
              <a:t>	</a:t>
            </a:r>
            <a:r>
              <a:rPr dirty="0" sz="1950" spc="-25" i="1">
                <a:latin typeface="Times New Roman"/>
                <a:cs typeface="Times New Roman"/>
              </a:rPr>
              <a:t>i</a:t>
            </a:r>
            <a:r>
              <a:rPr dirty="0" sz="1200" spc="-25" i="1">
                <a:latin typeface="Times New Roman"/>
                <a:cs typeface="Times New Roman"/>
              </a:rPr>
              <a:t>p</a:t>
            </a:r>
            <a:r>
              <a:rPr dirty="0" sz="1200" i="1">
                <a:latin typeface="Times New Roman"/>
                <a:cs typeface="Times New Roman"/>
              </a:rPr>
              <a:t>	</a:t>
            </a:r>
            <a:r>
              <a:rPr dirty="0" sz="1950" spc="-25" i="1">
                <a:latin typeface="Times New Roman"/>
                <a:cs typeface="Times New Roman"/>
              </a:rPr>
              <a:t>j</a:t>
            </a:r>
            <a:r>
              <a:rPr dirty="0" sz="1200" spc="-25" i="1">
                <a:latin typeface="Times New Roman"/>
                <a:cs typeface="Times New Roman"/>
              </a:rPr>
              <a:t>p</a:t>
            </a:r>
            <a:endParaRPr sz="1200">
              <a:latin typeface="Times New Roman"/>
              <a:cs typeface="Times New Roman"/>
            </a:endParaRPr>
          </a:p>
          <a:p>
            <a:pPr marL="520700" marR="252729">
              <a:lnSpc>
                <a:spcPts val="2880"/>
              </a:lnSpc>
              <a:spcBef>
                <a:spcPts val="580"/>
              </a:spcBef>
            </a:pPr>
            <a:r>
              <a:rPr dirty="0" sz="2400" spc="-95">
                <a:latin typeface="Microsoft YaHei UI"/>
                <a:cs typeface="Microsoft YaHei UI"/>
              </a:rPr>
              <a:t>where</a:t>
            </a:r>
            <a:r>
              <a:rPr dirty="0" sz="2400" spc="-85">
                <a:latin typeface="Microsoft YaHei UI"/>
                <a:cs typeface="Microsoft YaHei UI"/>
              </a:rPr>
              <a:t> </a:t>
            </a:r>
            <a:r>
              <a:rPr dirty="0" sz="2500" spc="-150" i="1">
                <a:latin typeface="Verdana"/>
                <a:cs typeface="Verdana"/>
              </a:rPr>
              <a:t>i</a:t>
            </a:r>
            <a:r>
              <a:rPr dirty="0" sz="2500" spc="-130" i="1">
                <a:latin typeface="Verdana"/>
                <a:cs typeface="Verdana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=</a:t>
            </a:r>
            <a:r>
              <a:rPr dirty="0" sz="2400" spc="-175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(</a:t>
            </a:r>
            <a:r>
              <a:rPr dirty="0" sz="2500" i="1">
                <a:latin typeface="Verdana"/>
                <a:cs typeface="Verdana"/>
              </a:rPr>
              <a:t>x</a:t>
            </a:r>
            <a:r>
              <a:rPr dirty="0" baseline="-17921" sz="2325">
                <a:latin typeface="Microsoft YaHei UI"/>
                <a:cs typeface="Microsoft YaHei UI"/>
              </a:rPr>
              <a:t>i1</a:t>
            </a:r>
            <a:r>
              <a:rPr dirty="0" sz="2400">
                <a:latin typeface="Microsoft YaHei UI"/>
                <a:cs typeface="Microsoft YaHei UI"/>
              </a:rPr>
              <a:t>,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500" spc="-25" i="1">
                <a:latin typeface="Verdana"/>
                <a:cs typeface="Verdana"/>
              </a:rPr>
              <a:t>x</a:t>
            </a:r>
            <a:r>
              <a:rPr dirty="0" baseline="-17921" sz="2325" spc="-37">
                <a:latin typeface="Microsoft YaHei UI"/>
                <a:cs typeface="Microsoft YaHei UI"/>
              </a:rPr>
              <a:t>i2</a:t>
            </a:r>
            <a:r>
              <a:rPr dirty="0" sz="2400" spc="-25">
                <a:latin typeface="Microsoft YaHei UI"/>
                <a:cs typeface="Microsoft YaHei UI"/>
              </a:rPr>
              <a:t>,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70">
                <a:latin typeface="Microsoft YaHei UI"/>
                <a:cs typeface="Microsoft YaHei UI"/>
              </a:rPr>
              <a:t>…,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500" spc="-60" i="1">
                <a:latin typeface="Verdana"/>
                <a:cs typeface="Verdana"/>
              </a:rPr>
              <a:t>x</a:t>
            </a:r>
            <a:r>
              <a:rPr dirty="0" baseline="-17921" sz="2325" spc="-89">
                <a:latin typeface="Microsoft YaHei UI"/>
                <a:cs typeface="Microsoft YaHei UI"/>
              </a:rPr>
              <a:t>ip</a:t>
            </a:r>
            <a:r>
              <a:rPr dirty="0" sz="2400" spc="-60">
                <a:latin typeface="Microsoft YaHei UI"/>
                <a:cs typeface="Microsoft YaHei UI"/>
              </a:rPr>
              <a:t>)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14">
                <a:latin typeface="Microsoft YaHei UI"/>
                <a:cs typeface="Microsoft YaHei UI"/>
              </a:rPr>
              <a:t>and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500" spc="-195" i="1">
                <a:latin typeface="Verdana"/>
                <a:cs typeface="Verdana"/>
              </a:rPr>
              <a:t>j</a:t>
            </a:r>
            <a:r>
              <a:rPr dirty="0" sz="2500" spc="-135" i="1">
                <a:latin typeface="Verdana"/>
                <a:cs typeface="Verdana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=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(</a:t>
            </a:r>
            <a:r>
              <a:rPr dirty="0" sz="2500" i="1">
                <a:latin typeface="Verdana"/>
                <a:cs typeface="Verdana"/>
              </a:rPr>
              <a:t>x</a:t>
            </a:r>
            <a:r>
              <a:rPr dirty="0" baseline="-17921" sz="2325">
                <a:latin typeface="Microsoft YaHei UI"/>
                <a:cs typeface="Microsoft YaHei UI"/>
              </a:rPr>
              <a:t>j1</a:t>
            </a:r>
            <a:r>
              <a:rPr dirty="0" sz="2400">
                <a:latin typeface="Microsoft YaHei UI"/>
                <a:cs typeface="Microsoft YaHei UI"/>
              </a:rPr>
              <a:t>,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500" i="1">
                <a:latin typeface="Verdana"/>
                <a:cs typeface="Verdana"/>
              </a:rPr>
              <a:t>x</a:t>
            </a:r>
            <a:r>
              <a:rPr dirty="0" baseline="-17921" sz="2325">
                <a:latin typeface="Microsoft YaHei UI"/>
                <a:cs typeface="Microsoft YaHei UI"/>
              </a:rPr>
              <a:t>j2</a:t>
            </a:r>
            <a:r>
              <a:rPr dirty="0" sz="2400">
                <a:latin typeface="Microsoft YaHei UI"/>
                <a:cs typeface="Microsoft YaHei UI"/>
              </a:rPr>
              <a:t>,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70">
                <a:latin typeface="Microsoft YaHei UI"/>
                <a:cs typeface="Microsoft YaHei UI"/>
              </a:rPr>
              <a:t>…,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500" spc="-25" i="1">
                <a:latin typeface="Verdana"/>
                <a:cs typeface="Verdana"/>
              </a:rPr>
              <a:t>x</a:t>
            </a:r>
            <a:r>
              <a:rPr dirty="0" baseline="-17921" sz="2325" spc="-37">
                <a:latin typeface="Microsoft YaHei UI"/>
                <a:cs typeface="Microsoft YaHei UI"/>
              </a:rPr>
              <a:t>jp</a:t>
            </a:r>
            <a:r>
              <a:rPr dirty="0" sz="2400" spc="-25">
                <a:latin typeface="Microsoft YaHei UI"/>
                <a:cs typeface="Microsoft YaHei UI"/>
              </a:rPr>
              <a:t>)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25">
                <a:latin typeface="Microsoft YaHei UI"/>
                <a:cs typeface="Microsoft YaHei UI"/>
              </a:rPr>
              <a:t>are </a:t>
            </a:r>
            <a:r>
              <a:rPr dirty="0" sz="2400" spc="-125">
                <a:latin typeface="Microsoft YaHei UI"/>
                <a:cs typeface="Microsoft YaHei UI"/>
              </a:rPr>
              <a:t>two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500" spc="-220" i="1">
                <a:latin typeface="Verdana"/>
                <a:cs typeface="Verdana"/>
              </a:rPr>
              <a:t>p</a:t>
            </a:r>
            <a:r>
              <a:rPr dirty="0" sz="2400" spc="-220">
                <a:latin typeface="Microsoft YaHei UI"/>
                <a:cs typeface="Microsoft YaHei UI"/>
              </a:rPr>
              <a:t>-</a:t>
            </a:r>
            <a:r>
              <a:rPr dirty="0" sz="2400" spc="-135">
                <a:latin typeface="Microsoft YaHei UI"/>
                <a:cs typeface="Microsoft YaHei UI"/>
              </a:rPr>
              <a:t>dimensional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data</a:t>
            </a:r>
            <a:r>
              <a:rPr dirty="0" sz="2400" spc="-95">
                <a:latin typeface="Microsoft YaHei UI"/>
                <a:cs typeface="Microsoft YaHei UI"/>
              </a:rPr>
              <a:t> </a:t>
            </a:r>
            <a:r>
              <a:rPr dirty="0" sz="2400" spc="-60">
                <a:latin typeface="Microsoft YaHei UI"/>
                <a:cs typeface="Microsoft YaHei UI"/>
              </a:rPr>
              <a:t>objects,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500" spc="-250" i="1">
                <a:latin typeface="Verdana"/>
                <a:cs typeface="Verdana"/>
              </a:rPr>
              <a:t>q</a:t>
            </a:r>
            <a:r>
              <a:rPr dirty="0" sz="2500" spc="-135" i="1">
                <a:latin typeface="Verdana"/>
                <a:cs typeface="Verdana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is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a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 spc="-114">
                <a:latin typeface="Microsoft YaHei UI"/>
                <a:cs typeface="Microsoft YaHei UI"/>
              </a:rPr>
              <a:t>positive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85">
                <a:latin typeface="Microsoft YaHei UI"/>
                <a:cs typeface="Microsoft YaHei UI"/>
              </a:rPr>
              <a:t>integer</a:t>
            </a:r>
            <a:endParaRPr sz="2400">
              <a:latin typeface="Microsoft YaHei UI"/>
              <a:cs typeface="Microsoft YaHei UI"/>
            </a:endParaRPr>
          </a:p>
          <a:p>
            <a:pPr marL="405765" indent="-342265">
              <a:lnSpc>
                <a:spcPts val="2595"/>
              </a:lnSpc>
              <a:spcBef>
                <a:spcPts val="3310"/>
              </a:spcBef>
              <a:buClr>
                <a:srgbClr val="3333CC"/>
              </a:buClr>
              <a:buSzPct val="60416"/>
              <a:buFont typeface="Lucida Sans Unicode"/>
              <a:buChar char="■"/>
              <a:tabLst>
                <a:tab pos="405765" algn="l"/>
              </a:tabLst>
            </a:pPr>
            <a:r>
              <a:rPr dirty="0" sz="2400" spc="50">
                <a:latin typeface="Microsoft YaHei UI"/>
                <a:cs typeface="Microsoft YaHei UI"/>
              </a:rPr>
              <a:t>If</a:t>
            </a:r>
            <a:r>
              <a:rPr dirty="0" sz="2400" spc="-25">
                <a:latin typeface="Microsoft YaHei UI"/>
                <a:cs typeface="Microsoft YaHei UI"/>
              </a:rPr>
              <a:t> </a:t>
            </a:r>
            <a:r>
              <a:rPr dirty="0" sz="2400" spc="-220">
                <a:latin typeface="Microsoft YaHei UI"/>
                <a:cs typeface="Microsoft YaHei UI"/>
              </a:rPr>
              <a:t>q</a:t>
            </a:r>
            <a:r>
              <a:rPr dirty="0" sz="2400" spc="35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=</a:t>
            </a:r>
            <a:r>
              <a:rPr dirty="0" sz="2400" spc="15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1,</a:t>
            </a:r>
            <a:r>
              <a:rPr dirty="0" sz="2400" spc="15">
                <a:latin typeface="Microsoft YaHei UI"/>
                <a:cs typeface="Microsoft YaHei UI"/>
              </a:rPr>
              <a:t> </a:t>
            </a:r>
            <a:r>
              <a:rPr dirty="0" sz="2400" spc="-220">
                <a:latin typeface="Microsoft YaHei UI"/>
                <a:cs typeface="Microsoft YaHei UI"/>
              </a:rPr>
              <a:t>d</a:t>
            </a:r>
            <a:r>
              <a:rPr dirty="0" sz="2400" spc="35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is</a:t>
            </a:r>
            <a:r>
              <a:rPr dirty="0" sz="2400" spc="15">
                <a:latin typeface="Microsoft YaHei UI"/>
                <a:cs typeface="Microsoft YaHei UI"/>
              </a:rPr>
              <a:t> </a:t>
            </a:r>
            <a:r>
              <a:rPr dirty="0" sz="2400" spc="-150">
                <a:latin typeface="Microsoft YaHei UI"/>
                <a:cs typeface="Microsoft YaHei UI"/>
              </a:rPr>
              <a:t>Manhattan</a:t>
            </a:r>
            <a:r>
              <a:rPr dirty="0" sz="2400" spc="15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distance</a:t>
            </a:r>
            <a:endParaRPr sz="2400">
              <a:latin typeface="Microsoft YaHei UI"/>
              <a:cs typeface="Microsoft YaHei UI"/>
            </a:endParaRPr>
          </a:p>
          <a:p>
            <a:pPr algn="ctr" marR="375920">
              <a:lnSpc>
                <a:spcPts val="2475"/>
              </a:lnSpc>
            </a:pPr>
            <a:r>
              <a:rPr dirty="0" sz="2300" spc="-100" i="1">
                <a:latin typeface="Times New Roman"/>
                <a:cs typeface="Times New Roman"/>
              </a:rPr>
              <a:t>d</a:t>
            </a:r>
            <a:r>
              <a:rPr dirty="0" sz="2300" spc="-100">
                <a:latin typeface="Microsoft YaHei UI"/>
                <a:cs typeface="Microsoft YaHei UI"/>
              </a:rPr>
              <a:t>(</a:t>
            </a:r>
            <a:r>
              <a:rPr dirty="0" sz="2300" spc="-100" i="1">
                <a:latin typeface="Times New Roman"/>
                <a:cs typeface="Times New Roman"/>
              </a:rPr>
              <a:t>i</a:t>
            </a:r>
            <a:r>
              <a:rPr dirty="0" sz="2300" spc="-100">
                <a:latin typeface="Microsoft YaHei UI"/>
                <a:cs typeface="Microsoft YaHei UI"/>
              </a:rPr>
              <a:t>,</a:t>
            </a:r>
            <a:r>
              <a:rPr dirty="0" sz="2300" spc="-180">
                <a:latin typeface="Microsoft YaHei UI"/>
                <a:cs typeface="Microsoft YaHei UI"/>
              </a:rPr>
              <a:t> </a:t>
            </a:r>
            <a:r>
              <a:rPr dirty="0" sz="2300" spc="-175" i="1">
                <a:latin typeface="Times New Roman"/>
                <a:cs typeface="Times New Roman"/>
              </a:rPr>
              <a:t>j</a:t>
            </a:r>
            <a:r>
              <a:rPr dirty="0" sz="2300" spc="-10">
                <a:latin typeface="Microsoft YaHei UI"/>
                <a:cs typeface="Microsoft YaHei UI"/>
              </a:rPr>
              <a:t>)</a:t>
            </a:r>
            <a:r>
              <a:rPr dirty="0" sz="2300" spc="-570">
                <a:latin typeface="Microsoft YaHei UI"/>
                <a:cs typeface="Microsoft YaHei UI"/>
              </a:rPr>
              <a:t>=</a:t>
            </a:r>
            <a:r>
              <a:rPr dirty="0" sz="2300" spc="55">
                <a:latin typeface="Microsoft YaHei UI"/>
                <a:cs typeface="Microsoft YaHei UI"/>
              </a:rPr>
              <a:t>|</a:t>
            </a:r>
            <a:r>
              <a:rPr dirty="0" sz="2300" spc="-420" i="1">
                <a:latin typeface="Times New Roman"/>
                <a:cs typeface="Times New Roman"/>
              </a:rPr>
              <a:t>x</a:t>
            </a:r>
            <a:r>
              <a:rPr dirty="0" baseline="-27777" sz="3450" spc="-434" i="1">
                <a:latin typeface="Times New Roman"/>
                <a:cs typeface="Times New Roman"/>
              </a:rPr>
              <a:t>i</a:t>
            </a:r>
            <a:r>
              <a:rPr dirty="0" baseline="-47325" sz="2025" spc="-52">
                <a:latin typeface="Microsoft YaHei UI"/>
                <a:cs typeface="Microsoft YaHei UI"/>
              </a:rPr>
              <a:t>1</a:t>
            </a:r>
            <a:r>
              <a:rPr dirty="0" sz="2300" spc="-75">
                <a:latin typeface="Microsoft YaHei UI"/>
                <a:cs typeface="Microsoft YaHei UI"/>
              </a:rPr>
              <a:t>–</a:t>
            </a:r>
            <a:r>
              <a:rPr dirty="0" sz="2300" spc="5" i="1">
                <a:latin typeface="Times New Roman"/>
                <a:cs typeface="Times New Roman"/>
              </a:rPr>
              <a:t>x</a:t>
            </a:r>
            <a:r>
              <a:rPr dirty="0" baseline="-27777" sz="3450" spc="-390" i="1">
                <a:latin typeface="Times New Roman"/>
                <a:cs typeface="Times New Roman"/>
              </a:rPr>
              <a:t>j</a:t>
            </a:r>
            <a:r>
              <a:rPr dirty="0" baseline="-47325" sz="2025" spc="-127">
                <a:latin typeface="Microsoft YaHei UI"/>
                <a:cs typeface="Microsoft YaHei UI"/>
              </a:rPr>
              <a:t>1</a:t>
            </a:r>
            <a:r>
              <a:rPr dirty="0" sz="2300" spc="-35">
                <a:latin typeface="Microsoft YaHei UI"/>
                <a:cs typeface="Microsoft YaHei UI"/>
              </a:rPr>
              <a:t>|</a:t>
            </a:r>
            <a:r>
              <a:rPr dirty="0" sz="2300" spc="-210">
                <a:latin typeface="Microsoft YaHei UI"/>
                <a:cs typeface="Microsoft YaHei UI"/>
              </a:rPr>
              <a:t>+</a:t>
            </a:r>
            <a:r>
              <a:rPr dirty="0" sz="2300" spc="55">
                <a:latin typeface="Microsoft YaHei UI"/>
                <a:cs typeface="Microsoft YaHei UI"/>
              </a:rPr>
              <a:t>|</a:t>
            </a:r>
            <a:r>
              <a:rPr dirty="0" sz="2300" spc="-420" i="1">
                <a:latin typeface="Times New Roman"/>
                <a:cs typeface="Times New Roman"/>
              </a:rPr>
              <a:t>x</a:t>
            </a:r>
            <a:r>
              <a:rPr dirty="0" baseline="-27777" sz="3450" spc="-247" i="1">
                <a:latin typeface="Times New Roman"/>
                <a:cs typeface="Times New Roman"/>
              </a:rPr>
              <a:t>i</a:t>
            </a:r>
            <a:r>
              <a:rPr dirty="0" baseline="-47325" sz="2025" spc="-150">
                <a:latin typeface="Microsoft YaHei UI"/>
                <a:cs typeface="Microsoft YaHei UI"/>
              </a:rPr>
              <a:t>2</a:t>
            </a:r>
            <a:r>
              <a:rPr dirty="0" baseline="-47325" sz="2025" spc="-262">
                <a:latin typeface="Microsoft YaHei UI"/>
                <a:cs typeface="Microsoft YaHei UI"/>
              </a:rPr>
              <a:t> </a:t>
            </a:r>
            <a:r>
              <a:rPr dirty="0" sz="2300" spc="-65">
                <a:latin typeface="Microsoft YaHei UI"/>
                <a:cs typeface="Microsoft YaHei UI"/>
              </a:rPr>
              <a:t>–</a:t>
            </a:r>
            <a:r>
              <a:rPr dirty="0" sz="2300" spc="15" i="1">
                <a:latin typeface="Times New Roman"/>
                <a:cs typeface="Times New Roman"/>
              </a:rPr>
              <a:t>x</a:t>
            </a:r>
            <a:r>
              <a:rPr dirty="0" baseline="-27777" sz="3450" spc="-187" i="1">
                <a:latin typeface="Times New Roman"/>
                <a:cs typeface="Times New Roman"/>
              </a:rPr>
              <a:t>j</a:t>
            </a:r>
            <a:r>
              <a:rPr dirty="0" baseline="-47325" sz="2025" spc="22">
                <a:latin typeface="Microsoft YaHei UI"/>
                <a:cs typeface="Microsoft YaHei UI"/>
              </a:rPr>
              <a:t>2</a:t>
            </a:r>
            <a:r>
              <a:rPr dirty="0" sz="2300" spc="-25">
                <a:latin typeface="Microsoft YaHei UI"/>
                <a:cs typeface="Microsoft YaHei UI"/>
              </a:rPr>
              <a:t>|</a:t>
            </a:r>
            <a:r>
              <a:rPr dirty="0" sz="2300" spc="-395">
                <a:latin typeface="Microsoft YaHei UI"/>
                <a:cs typeface="Microsoft YaHei UI"/>
              </a:rPr>
              <a:t>+</a:t>
            </a:r>
            <a:r>
              <a:rPr dirty="0" sz="2300" spc="-95">
                <a:latin typeface="Microsoft YaHei UI"/>
                <a:cs typeface="Microsoft YaHei UI"/>
              </a:rPr>
              <a:t>..</a:t>
            </a:r>
            <a:r>
              <a:rPr dirty="0" sz="2300" spc="-484">
                <a:latin typeface="Microsoft YaHei UI"/>
                <a:cs typeface="Microsoft YaHei UI"/>
              </a:rPr>
              <a:t>.</a:t>
            </a:r>
            <a:r>
              <a:rPr dirty="0" sz="2300" spc="-200">
                <a:latin typeface="Microsoft YaHei UI"/>
                <a:cs typeface="Microsoft YaHei UI"/>
              </a:rPr>
              <a:t>+</a:t>
            </a:r>
            <a:r>
              <a:rPr dirty="0" sz="2300" spc="65">
                <a:latin typeface="Microsoft YaHei UI"/>
                <a:cs typeface="Microsoft YaHei UI"/>
              </a:rPr>
              <a:t>|</a:t>
            </a:r>
            <a:r>
              <a:rPr dirty="0" sz="2300" spc="-409" i="1">
                <a:latin typeface="Times New Roman"/>
                <a:cs typeface="Times New Roman"/>
              </a:rPr>
              <a:t>x</a:t>
            </a:r>
            <a:r>
              <a:rPr dirty="0" baseline="-27777" sz="3450" spc="-292" i="1">
                <a:latin typeface="Times New Roman"/>
                <a:cs typeface="Times New Roman"/>
              </a:rPr>
              <a:t>i</a:t>
            </a:r>
            <a:r>
              <a:rPr dirty="0" baseline="-47325" sz="2025" spc="-135" i="1">
                <a:latin typeface="Times New Roman"/>
                <a:cs typeface="Times New Roman"/>
              </a:rPr>
              <a:t>p</a:t>
            </a:r>
            <a:r>
              <a:rPr dirty="0" baseline="-47325" sz="2025" spc="-104" i="1">
                <a:latin typeface="Times New Roman"/>
                <a:cs typeface="Times New Roman"/>
              </a:rPr>
              <a:t> </a:t>
            </a:r>
            <a:r>
              <a:rPr dirty="0" sz="2300">
                <a:latin typeface="Microsoft YaHei UI"/>
                <a:cs typeface="Microsoft YaHei UI"/>
              </a:rPr>
              <a:t>–</a:t>
            </a:r>
            <a:r>
              <a:rPr dirty="0" sz="2300" i="1">
                <a:latin typeface="Times New Roman"/>
                <a:cs typeface="Times New Roman"/>
              </a:rPr>
              <a:t>x</a:t>
            </a:r>
            <a:r>
              <a:rPr dirty="0" baseline="-27777" sz="3450" i="1">
                <a:latin typeface="Times New Roman"/>
                <a:cs typeface="Times New Roman"/>
              </a:rPr>
              <a:t>j</a:t>
            </a:r>
            <a:r>
              <a:rPr dirty="0" baseline="-47325" sz="2025" i="1">
                <a:latin typeface="Times New Roman"/>
                <a:cs typeface="Times New Roman"/>
              </a:rPr>
              <a:t>p</a:t>
            </a:r>
            <a:r>
              <a:rPr dirty="0" baseline="-47325" sz="2025" spc="-195" i="1">
                <a:latin typeface="Times New Roman"/>
                <a:cs typeface="Times New Roman"/>
              </a:rPr>
              <a:t> </a:t>
            </a:r>
            <a:r>
              <a:rPr dirty="0" sz="2300" spc="-50">
                <a:latin typeface="Microsoft YaHei UI"/>
                <a:cs typeface="Microsoft YaHei UI"/>
              </a:rPr>
              <a:t>|</a:t>
            </a:r>
            <a:endParaRPr sz="2300">
              <a:latin typeface="Microsoft YaHei UI"/>
              <a:cs typeface="Microsoft YaHei UI"/>
            </a:endParaRPr>
          </a:p>
          <a:p>
            <a:pPr marL="405765" indent="-342265">
              <a:lnSpc>
                <a:spcPct val="100000"/>
              </a:lnSpc>
              <a:spcBef>
                <a:spcPts val="1265"/>
              </a:spcBef>
              <a:buClr>
                <a:srgbClr val="3333CC"/>
              </a:buClr>
              <a:buSzPct val="60416"/>
              <a:buFont typeface="Lucida Sans Unicode"/>
              <a:buChar char="■"/>
              <a:tabLst>
                <a:tab pos="405765" algn="l"/>
              </a:tabLst>
            </a:pPr>
            <a:r>
              <a:rPr dirty="0" sz="2400" spc="50">
                <a:latin typeface="Microsoft YaHei UI"/>
                <a:cs typeface="Microsoft YaHei UI"/>
              </a:rPr>
              <a:t>If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220">
                <a:latin typeface="Microsoft YaHei UI"/>
                <a:cs typeface="Microsoft YaHei UI"/>
              </a:rPr>
              <a:t>q</a:t>
            </a:r>
            <a:r>
              <a:rPr dirty="0" sz="2400" spc="35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=</a:t>
            </a:r>
            <a:r>
              <a:rPr dirty="0" sz="2400" spc="10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2,</a:t>
            </a:r>
            <a:r>
              <a:rPr dirty="0" sz="2400" spc="10">
                <a:latin typeface="Microsoft YaHei UI"/>
                <a:cs typeface="Microsoft YaHei UI"/>
              </a:rPr>
              <a:t> </a:t>
            </a:r>
            <a:r>
              <a:rPr dirty="0" sz="2400" spc="-220">
                <a:latin typeface="Microsoft YaHei UI"/>
                <a:cs typeface="Microsoft YaHei UI"/>
              </a:rPr>
              <a:t>d</a:t>
            </a:r>
            <a:r>
              <a:rPr dirty="0" sz="2400" spc="35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is</a:t>
            </a:r>
            <a:r>
              <a:rPr dirty="0" sz="2400" spc="5">
                <a:latin typeface="Microsoft YaHei UI"/>
                <a:cs typeface="Microsoft YaHei UI"/>
              </a:rPr>
              <a:t> </a:t>
            </a:r>
            <a:r>
              <a:rPr dirty="0" sz="2400" spc="-100">
                <a:latin typeface="Microsoft YaHei UI"/>
                <a:cs typeface="Microsoft YaHei UI"/>
              </a:rPr>
              <a:t>Euclidean</a:t>
            </a:r>
            <a:r>
              <a:rPr dirty="0" sz="2400" spc="15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distance:</a:t>
            </a:r>
            <a:endParaRPr sz="2400">
              <a:latin typeface="Microsoft YaHei UI"/>
              <a:cs typeface="Microsoft YaHei U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109385" y="6168840"/>
            <a:ext cx="4332605" cy="512445"/>
            <a:chOff x="3109385" y="6168840"/>
            <a:chExt cx="4332605" cy="512445"/>
          </a:xfrm>
        </p:grpSpPr>
        <p:sp>
          <p:nvSpPr>
            <p:cNvPr id="10" name="object 10" descr=""/>
            <p:cNvSpPr/>
            <p:nvPr/>
          </p:nvSpPr>
          <p:spPr>
            <a:xfrm>
              <a:off x="3114535" y="6483731"/>
              <a:ext cx="33020" cy="19050"/>
            </a:xfrm>
            <a:custGeom>
              <a:avLst/>
              <a:gdLst/>
              <a:ahLst/>
              <a:cxnLst/>
              <a:rect l="l" t="t" r="r" b="b"/>
              <a:pathLst>
                <a:path w="33019" h="19050">
                  <a:moveTo>
                    <a:pt x="0" y="18986"/>
                  </a:moveTo>
                  <a:lnTo>
                    <a:pt x="32956" y="0"/>
                  </a:lnTo>
                </a:path>
              </a:pathLst>
            </a:custGeom>
            <a:ln w="10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147491" y="6488861"/>
              <a:ext cx="46990" cy="181610"/>
            </a:xfrm>
            <a:custGeom>
              <a:avLst/>
              <a:gdLst/>
              <a:ahLst/>
              <a:cxnLst/>
              <a:rect l="l" t="t" r="r" b="b"/>
              <a:pathLst>
                <a:path w="46989" h="181609">
                  <a:moveTo>
                    <a:pt x="0" y="0"/>
                  </a:moveTo>
                  <a:lnTo>
                    <a:pt x="46850" y="181571"/>
                  </a:lnTo>
                </a:path>
              </a:pathLst>
            </a:custGeom>
            <a:ln w="206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199510" y="6173990"/>
              <a:ext cx="4242435" cy="496570"/>
            </a:xfrm>
            <a:custGeom>
              <a:avLst/>
              <a:gdLst/>
              <a:ahLst/>
              <a:cxnLst/>
              <a:rect l="l" t="t" r="r" b="b"/>
              <a:pathLst>
                <a:path w="4242434" h="496570">
                  <a:moveTo>
                    <a:pt x="0" y="496442"/>
                  </a:moveTo>
                  <a:lnTo>
                    <a:pt x="62331" y="0"/>
                  </a:lnTo>
                </a:path>
                <a:path w="4242434" h="496570">
                  <a:moveTo>
                    <a:pt x="62331" y="0"/>
                  </a:moveTo>
                  <a:lnTo>
                    <a:pt x="4242295" y="0"/>
                  </a:lnTo>
                </a:path>
              </a:pathLst>
            </a:custGeom>
            <a:ln w="10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421335" y="6340106"/>
            <a:ext cx="722630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61975" algn="l"/>
              </a:tabLst>
            </a:pPr>
            <a:r>
              <a:rPr dirty="0" sz="1950" spc="-25" i="1">
                <a:latin typeface="Times New Roman"/>
                <a:cs typeface="Times New Roman"/>
              </a:rPr>
              <a:t>i</a:t>
            </a:r>
            <a:r>
              <a:rPr dirty="0" sz="1200" spc="-25" i="1">
                <a:latin typeface="Times New Roman"/>
                <a:cs typeface="Times New Roman"/>
              </a:rPr>
              <a:t>p</a:t>
            </a:r>
            <a:r>
              <a:rPr dirty="0" sz="1200" i="1">
                <a:latin typeface="Times New Roman"/>
                <a:cs typeface="Times New Roman"/>
              </a:rPr>
              <a:t>	</a:t>
            </a:r>
            <a:r>
              <a:rPr dirty="0" sz="1950" spc="-25" i="1">
                <a:latin typeface="Times New Roman"/>
                <a:cs typeface="Times New Roman"/>
              </a:rPr>
              <a:t>j</a:t>
            </a:r>
            <a:r>
              <a:rPr dirty="0" sz="1200" spc="-25" i="1">
                <a:latin typeface="Times New Roman"/>
                <a:cs typeface="Times New Roman"/>
              </a:rPr>
              <a:t>p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791760" y="6340106"/>
            <a:ext cx="732790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63245" algn="l"/>
              </a:tabLst>
            </a:pPr>
            <a:r>
              <a:rPr dirty="0" sz="1950" spc="-25" i="1">
                <a:latin typeface="Times New Roman"/>
                <a:cs typeface="Times New Roman"/>
              </a:rPr>
              <a:t>i</a:t>
            </a:r>
            <a:r>
              <a:rPr dirty="0" sz="1200" spc="-25">
                <a:latin typeface="Microsoft YaHei UI"/>
                <a:cs typeface="Microsoft YaHei UI"/>
              </a:rPr>
              <a:t>2</a:t>
            </a:r>
            <a:r>
              <a:rPr dirty="0" sz="1200">
                <a:latin typeface="Microsoft YaHei UI"/>
                <a:cs typeface="Microsoft YaHei UI"/>
              </a:rPr>
              <a:t>	</a:t>
            </a:r>
            <a:r>
              <a:rPr dirty="0" sz="1950" spc="-25" i="1">
                <a:latin typeface="Times New Roman"/>
                <a:cs typeface="Times New Roman"/>
              </a:rPr>
              <a:t>j</a:t>
            </a:r>
            <a:r>
              <a:rPr dirty="0" sz="1200" spc="-25">
                <a:latin typeface="Microsoft YaHei UI"/>
                <a:cs typeface="Microsoft YaHei UI"/>
              </a:rPr>
              <a:t>2</a:t>
            </a:r>
            <a:endParaRPr sz="1200">
              <a:latin typeface="Microsoft YaHei UI"/>
              <a:cs typeface="Microsoft YaHei U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533051" y="6340106"/>
            <a:ext cx="687705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34670" algn="l"/>
              </a:tabLst>
            </a:pPr>
            <a:r>
              <a:rPr dirty="0" sz="1950" spc="-25" i="1">
                <a:latin typeface="Times New Roman"/>
                <a:cs typeface="Times New Roman"/>
              </a:rPr>
              <a:t>i</a:t>
            </a:r>
            <a:r>
              <a:rPr dirty="0" sz="1200" spc="-25">
                <a:latin typeface="Microsoft YaHei UI"/>
                <a:cs typeface="Microsoft YaHei UI"/>
              </a:rPr>
              <a:t>1</a:t>
            </a:r>
            <a:r>
              <a:rPr dirty="0" sz="1200">
                <a:latin typeface="Microsoft YaHei UI"/>
                <a:cs typeface="Microsoft YaHei UI"/>
              </a:rPr>
              <a:t>	</a:t>
            </a:r>
            <a:r>
              <a:rPr dirty="0" sz="1950" spc="-50" i="1">
                <a:latin typeface="Times New Roman"/>
                <a:cs typeface="Times New Roman"/>
              </a:rPr>
              <a:t>j</a:t>
            </a:r>
            <a:r>
              <a:rPr dirty="0" sz="1200" spc="-50">
                <a:latin typeface="Microsoft YaHei UI"/>
                <a:cs typeface="Microsoft YaHei UI"/>
              </a:rPr>
              <a:t>1</a:t>
            </a:r>
            <a:endParaRPr sz="1200">
              <a:latin typeface="Microsoft YaHei UI"/>
              <a:cs typeface="Microsoft YaHei U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604000" y="6186220"/>
            <a:ext cx="876300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581025" algn="l"/>
              </a:tabLst>
            </a:pPr>
            <a:r>
              <a:rPr dirty="0" sz="1950">
                <a:latin typeface="Microsoft YaHei UI"/>
                <a:cs typeface="Microsoft YaHei UI"/>
              </a:rPr>
              <a:t>–</a:t>
            </a:r>
            <a:r>
              <a:rPr dirty="0" sz="1950" spc="-245">
                <a:latin typeface="Microsoft YaHei UI"/>
                <a:cs typeface="Microsoft YaHei UI"/>
              </a:rPr>
              <a:t> </a:t>
            </a:r>
            <a:r>
              <a:rPr dirty="0" sz="1950" spc="-50" i="1">
                <a:latin typeface="Times New Roman"/>
                <a:cs typeface="Times New Roman"/>
              </a:rPr>
              <a:t>x</a:t>
            </a:r>
            <a:r>
              <a:rPr dirty="0" sz="1950" i="1">
                <a:latin typeface="Times New Roman"/>
                <a:cs typeface="Times New Roman"/>
              </a:rPr>
              <a:t>	</a:t>
            </a:r>
            <a:r>
              <a:rPr dirty="0" sz="1950" spc="-100">
                <a:latin typeface="Microsoft YaHei UI"/>
                <a:cs typeface="Microsoft YaHei UI"/>
              </a:rPr>
              <a:t>|</a:t>
            </a:r>
            <a:r>
              <a:rPr dirty="0" baseline="41666" sz="1800" spc="-150">
                <a:latin typeface="Microsoft YaHei UI"/>
                <a:cs typeface="Microsoft YaHei UI"/>
              </a:rPr>
              <a:t>2</a:t>
            </a:r>
            <a:r>
              <a:rPr dirty="0" baseline="41666" sz="1800" spc="-202">
                <a:latin typeface="Microsoft YaHei UI"/>
                <a:cs typeface="Microsoft YaHei UI"/>
              </a:rPr>
              <a:t> </a:t>
            </a:r>
            <a:r>
              <a:rPr dirty="0" sz="1950" spc="-50">
                <a:latin typeface="Microsoft YaHei UI"/>
                <a:cs typeface="Microsoft YaHei UI"/>
              </a:rPr>
              <a:t>)</a:t>
            </a:r>
            <a:endParaRPr sz="1950">
              <a:latin typeface="Microsoft YaHei UI"/>
              <a:cs typeface="Microsoft YaHei U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975225" y="6186220"/>
            <a:ext cx="1512570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586105" algn="l"/>
              </a:tabLst>
            </a:pPr>
            <a:r>
              <a:rPr dirty="0" sz="1950">
                <a:latin typeface="Microsoft YaHei UI"/>
                <a:cs typeface="Microsoft YaHei UI"/>
              </a:rPr>
              <a:t>–</a:t>
            </a:r>
            <a:r>
              <a:rPr dirty="0" sz="1950" spc="-245">
                <a:latin typeface="Microsoft YaHei UI"/>
                <a:cs typeface="Microsoft YaHei UI"/>
              </a:rPr>
              <a:t> </a:t>
            </a:r>
            <a:r>
              <a:rPr dirty="0" sz="1950" spc="-50" i="1">
                <a:latin typeface="Times New Roman"/>
                <a:cs typeface="Times New Roman"/>
              </a:rPr>
              <a:t>x</a:t>
            </a:r>
            <a:r>
              <a:rPr dirty="0" sz="1950" i="1">
                <a:latin typeface="Times New Roman"/>
                <a:cs typeface="Times New Roman"/>
              </a:rPr>
              <a:t>	</a:t>
            </a:r>
            <a:r>
              <a:rPr dirty="0" sz="1950" spc="-10">
                <a:latin typeface="Microsoft YaHei UI"/>
                <a:cs typeface="Microsoft YaHei UI"/>
              </a:rPr>
              <a:t>|</a:t>
            </a:r>
            <a:r>
              <a:rPr dirty="0" baseline="41666" sz="1800" spc="-15">
                <a:latin typeface="Microsoft YaHei UI"/>
                <a:cs typeface="Microsoft YaHei UI"/>
              </a:rPr>
              <a:t>2</a:t>
            </a:r>
            <a:r>
              <a:rPr dirty="0" baseline="41666" sz="1800" spc="75">
                <a:latin typeface="Microsoft YaHei UI"/>
                <a:cs typeface="Microsoft YaHei UI"/>
              </a:rPr>
              <a:t> </a:t>
            </a:r>
            <a:r>
              <a:rPr dirty="0" sz="1950" spc="-165">
                <a:latin typeface="Microsoft YaHei UI"/>
                <a:cs typeface="Microsoft YaHei UI"/>
              </a:rPr>
              <a:t>+...+</a:t>
            </a:r>
            <a:r>
              <a:rPr dirty="0" sz="1950" spc="-385">
                <a:latin typeface="Microsoft YaHei UI"/>
                <a:cs typeface="Microsoft YaHei UI"/>
              </a:rPr>
              <a:t> </a:t>
            </a:r>
            <a:r>
              <a:rPr dirty="0" sz="1950" spc="-140">
                <a:latin typeface="Microsoft YaHei UI"/>
                <a:cs typeface="Microsoft YaHei UI"/>
              </a:rPr>
              <a:t>|</a:t>
            </a:r>
            <a:r>
              <a:rPr dirty="0" sz="1950" spc="-290">
                <a:latin typeface="Microsoft YaHei UI"/>
                <a:cs typeface="Microsoft YaHei UI"/>
              </a:rPr>
              <a:t> </a:t>
            </a:r>
            <a:r>
              <a:rPr dirty="0" sz="1950" spc="-50" i="1">
                <a:latin typeface="Times New Roman"/>
                <a:cs typeface="Times New Roman"/>
              </a:rPr>
              <a:t>x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207687" y="6186220"/>
            <a:ext cx="637540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1950" spc="-10">
                <a:latin typeface="Microsoft YaHei UI"/>
                <a:cs typeface="Microsoft YaHei UI"/>
              </a:rPr>
              <a:t>|</a:t>
            </a:r>
            <a:r>
              <a:rPr dirty="0" baseline="41666" sz="1800" spc="-15">
                <a:latin typeface="Microsoft YaHei UI"/>
                <a:cs typeface="Microsoft YaHei UI"/>
              </a:rPr>
              <a:t>2</a:t>
            </a:r>
            <a:r>
              <a:rPr dirty="0" baseline="41666" sz="1800" spc="22">
                <a:latin typeface="Microsoft YaHei UI"/>
                <a:cs typeface="Microsoft YaHei UI"/>
              </a:rPr>
              <a:t> </a:t>
            </a:r>
            <a:r>
              <a:rPr dirty="0" sz="1950" spc="-160">
                <a:latin typeface="Microsoft YaHei UI"/>
                <a:cs typeface="Microsoft YaHei UI"/>
              </a:rPr>
              <a:t>+|</a:t>
            </a:r>
            <a:r>
              <a:rPr dirty="0" sz="1950" spc="-290">
                <a:latin typeface="Microsoft YaHei UI"/>
                <a:cs typeface="Microsoft YaHei UI"/>
              </a:rPr>
              <a:t> </a:t>
            </a:r>
            <a:r>
              <a:rPr dirty="0" sz="1950" spc="-50" i="1">
                <a:latin typeface="Times New Roman"/>
                <a:cs typeface="Times New Roman"/>
              </a:rPr>
              <a:t>x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309685" y="6186220"/>
            <a:ext cx="1718310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55675" algn="l"/>
                <a:tab pos="1416050" algn="l"/>
              </a:tabLst>
            </a:pPr>
            <a:r>
              <a:rPr dirty="0" sz="1950" i="1">
                <a:latin typeface="Times New Roman"/>
                <a:cs typeface="Times New Roman"/>
              </a:rPr>
              <a:t>d</a:t>
            </a:r>
            <a:r>
              <a:rPr dirty="0" sz="1950">
                <a:latin typeface="Microsoft YaHei UI"/>
                <a:cs typeface="Microsoft YaHei UI"/>
              </a:rPr>
              <a:t>(</a:t>
            </a:r>
            <a:r>
              <a:rPr dirty="0" sz="1950" i="1">
                <a:latin typeface="Times New Roman"/>
                <a:cs typeface="Times New Roman"/>
              </a:rPr>
              <a:t>i</a:t>
            </a:r>
            <a:r>
              <a:rPr dirty="0" sz="1950">
                <a:latin typeface="Microsoft YaHei UI"/>
                <a:cs typeface="Microsoft YaHei UI"/>
              </a:rPr>
              <a:t>,</a:t>
            </a:r>
            <a:r>
              <a:rPr dirty="0" sz="1950" spc="5">
                <a:latin typeface="Microsoft YaHei UI"/>
                <a:cs typeface="Microsoft YaHei UI"/>
              </a:rPr>
              <a:t> </a:t>
            </a:r>
            <a:r>
              <a:rPr dirty="0" sz="1950" i="1">
                <a:latin typeface="Times New Roman"/>
                <a:cs typeface="Times New Roman"/>
              </a:rPr>
              <a:t>j</a:t>
            </a:r>
            <a:r>
              <a:rPr dirty="0" sz="1950">
                <a:latin typeface="Microsoft YaHei UI"/>
                <a:cs typeface="Microsoft YaHei UI"/>
              </a:rPr>
              <a:t>)</a:t>
            </a:r>
            <a:r>
              <a:rPr dirty="0" sz="1950" spc="-235">
                <a:latin typeface="Microsoft YaHei UI"/>
                <a:cs typeface="Microsoft YaHei UI"/>
              </a:rPr>
              <a:t> </a:t>
            </a:r>
            <a:r>
              <a:rPr dirty="0" sz="1950" spc="-415">
                <a:latin typeface="Microsoft YaHei UI"/>
                <a:cs typeface="Microsoft YaHei UI"/>
              </a:rPr>
              <a:t>=</a:t>
            </a:r>
            <a:r>
              <a:rPr dirty="0" sz="1950">
                <a:latin typeface="Microsoft YaHei UI"/>
                <a:cs typeface="Microsoft YaHei UI"/>
              </a:rPr>
              <a:t>	</a:t>
            </a:r>
            <a:r>
              <a:rPr dirty="0" sz="1950" spc="-70">
                <a:latin typeface="Microsoft YaHei UI"/>
                <a:cs typeface="Microsoft YaHei UI"/>
              </a:rPr>
              <a:t>(|</a:t>
            </a:r>
            <a:r>
              <a:rPr dirty="0" sz="1950" spc="-285">
                <a:latin typeface="Microsoft YaHei UI"/>
                <a:cs typeface="Microsoft YaHei UI"/>
              </a:rPr>
              <a:t> </a:t>
            </a:r>
            <a:r>
              <a:rPr dirty="0" sz="1950" spc="-50" i="1">
                <a:latin typeface="Times New Roman"/>
                <a:cs typeface="Times New Roman"/>
              </a:rPr>
              <a:t>x</a:t>
            </a:r>
            <a:r>
              <a:rPr dirty="0" sz="1950" i="1">
                <a:latin typeface="Times New Roman"/>
                <a:cs typeface="Times New Roman"/>
              </a:rPr>
              <a:t>	</a:t>
            </a:r>
            <a:r>
              <a:rPr dirty="0" sz="1950">
                <a:latin typeface="Microsoft YaHei UI"/>
                <a:cs typeface="Microsoft YaHei UI"/>
              </a:rPr>
              <a:t>–</a:t>
            </a:r>
            <a:r>
              <a:rPr dirty="0" sz="1950" spc="-245">
                <a:latin typeface="Microsoft YaHei UI"/>
                <a:cs typeface="Microsoft YaHei UI"/>
              </a:rPr>
              <a:t> </a:t>
            </a:r>
            <a:r>
              <a:rPr dirty="0" sz="1950" spc="-50" i="1">
                <a:latin typeface="Times New Roman"/>
                <a:cs typeface="Times New Roman"/>
              </a:rPr>
              <a:t>x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0">
                <a:latin typeface="Microsoft YaHei UI"/>
                <a:cs typeface="Microsoft YaHei UI"/>
              </a:rPr>
              <a:t>27</a:t>
            </a:r>
            <a:endParaRPr sz="1400">
              <a:latin typeface="Microsoft YaHei UI"/>
              <a:cs typeface="Microsoft YaHei UI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63495" y="1105052"/>
            <a:ext cx="3438468" cy="777722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0411" y="2790113"/>
            <a:ext cx="180275" cy="265429"/>
          </a:xfrm>
          <a:prstGeom prst="rect">
            <a:avLst/>
          </a:prstGeom>
        </p:spPr>
      </p:pic>
      <p:grpSp>
        <p:nvGrpSpPr>
          <p:cNvPr id="23" name="object 23" descr=""/>
          <p:cNvGrpSpPr/>
          <p:nvPr/>
        </p:nvGrpSpPr>
        <p:grpSpPr>
          <a:xfrm>
            <a:off x="6387350" y="2304288"/>
            <a:ext cx="2630170" cy="1398270"/>
            <a:chOff x="6387350" y="2304288"/>
            <a:chExt cx="2630170" cy="1398270"/>
          </a:xfrm>
        </p:grpSpPr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7350" y="2365832"/>
              <a:ext cx="199810" cy="280949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56819" y="2430716"/>
              <a:ext cx="29400" cy="78841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06121" y="2304288"/>
              <a:ext cx="2410979" cy="1398182"/>
            </a:xfrm>
            <a:prstGeom prst="rect">
              <a:avLst/>
            </a:prstGeom>
          </p:spPr>
        </p:pic>
      </p:grpSp>
      <p:pic>
        <p:nvPicPr>
          <p:cNvPr id="27" name="object 2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68199" y="4560341"/>
            <a:ext cx="874382" cy="308521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27443" y="4402048"/>
            <a:ext cx="2005977" cy="754811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82986" y="5346737"/>
            <a:ext cx="239580" cy="240029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925056" y="5247601"/>
            <a:ext cx="1899196" cy="379696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86999" y="5368690"/>
            <a:ext cx="795844" cy="39452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45613" y="6164279"/>
            <a:ext cx="919327" cy="3835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6492" y="1098803"/>
            <a:ext cx="1153795" cy="896619"/>
            <a:chOff x="126492" y="1098803"/>
            <a:chExt cx="1153795" cy="896619"/>
          </a:xfrm>
        </p:grpSpPr>
        <p:sp>
          <p:nvSpPr>
            <p:cNvPr id="3" name="object 3" descr=""/>
            <p:cNvSpPr/>
            <p:nvPr/>
          </p:nvSpPr>
          <p:spPr>
            <a:xfrm>
              <a:off x="417576" y="1098803"/>
              <a:ext cx="382905" cy="474345"/>
            </a:xfrm>
            <a:custGeom>
              <a:avLst/>
              <a:gdLst/>
              <a:ahLst/>
              <a:cxnLst/>
              <a:rect l="l" t="t" r="r" b="b"/>
              <a:pathLst>
                <a:path w="382905" h="474344">
                  <a:moveTo>
                    <a:pt x="0" y="473963"/>
                  </a:moveTo>
                  <a:lnTo>
                    <a:pt x="382523" y="473963"/>
                  </a:lnTo>
                  <a:lnTo>
                    <a:pt x="382523" y="0"/>
                  </a:lnTo>
                  <a:lnTo>
                    <a:pt x="0" y="0"/>
                  </a:lnTo>
                  <a:lnTo>
                    <a:pt x="0" y="473963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00" y="1098803"/>
              <a:ext cx="329184" cy="47396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41019" y="1520951"/>
              <a:ext cx="370840" cy="474345"/>
            </a:xfrm>
            <a:custGeom>
              <a:avLst/>
              <a:gdLst/>
              <a:ahLst/>
              <a:cxnLst/>
              <a:rect l="l" t="t" r="r" b="b"/>
              <a:pathLst>
                <a:path w="370840" h="474344">
                  <a:moveTo>
                    <a:pt x="0" y="473963"/>
                  </a:moveTo>
                  <a:lnTo>
                    <a:pt x="370332" y="473963"/>
                  </a:lnTo>
                  <a:lnTo>
                    <a:pt x="370332" y="0"/>
                  </a:lnTo>
                  <a:lnTo>
                    <a:pt x="0" y="0"/>
                  </a:lnTo>
                  <a:lnTo>
                    <a:pt x="0" y="47396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1351" y="1520951"/>
              <a:ext cx="368807" cy="47396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492" y="1447799"/>
              <a:ext cx="560832" cy="422148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179831" y="908303"/>
            <a:ext cx="8644255" cy="3046730"/>
          </a:xfrm>
          <a:custGeom>
            <a:avLst/>
            <a:gdLst/>
            <a:ahLst/>
            <a:cxnLst/>
            <a:rect l="l" t="t" r="r" b="b"/>
            <a:pathLst>
              <a:path w="8644255" h="3046729">
                <a:moveTo>
                  <a:pt x="8644128" y="0"/>
                </a:moveTo>
                <a:lnTo>
                  <a:pt x="0" y="0"/>
                </a:lnTo>
                <a:lnTo>
                  <a:pt x="0" y="3046476"/>
                </a:lnTo>
                <a:lnTo>
                  <a:pt x="8644128" y="3046476"/>
                </a:lnTo>
                <a:lnTo>
                  <a:pt x="86441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258127" y="940434"/>
            <a:ext cx="8369300" cy="295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Lucida Sans Unicode"/>
              <a:buChar char="■"/>
              <a:tabLst>
                <a:tab pos="354965" algn="l"/>
              </a:tabLst>
            </a:pPr>
            <a:r>
              <a:rPr dirty="0" sz="2400" spc="-20">
                <a:latin typeface="Microsoft YaHei UI"/>
                <a:cs typeface="Microsoft YaHei UI"/>
              </a:rPr>
              <a:t>The</a:t>
            </a:r>
            <a:r>
              <a:rPr dirty="0" sz="2400" spc="-75">
                <a:latin typeface="Microsoft YaHei UI"/>
                <a:cs typeface="Microsoft YaHei UI"/>
              </a:rPr>
              <a:t> </a:t>
            </a:r>
            <a:r>
              <a:rPr dirty="0" sz="2400" spc="-135">
                <a:latin typeface="Microsoft YaHei UI"/>
                <a:cs typeface="Microsoft YaHei UI"/>
              </a:rPr>
              <a:t>algorithm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partitions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data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125">
                <a:latin typeface="Microsoft YaHei UI"/>
                <a:cs typeface="Microsoft YaHei UI"/>
              </a:rPr>
              <a:t>points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spc="-125">
                <a:latin typeface="Microsoft YaHei UI"/>
                <a:cs typeface="Microsoft YaHei UI"/>
              </a:rPr>
              <a:t>into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K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spc="-100">
                <a:latin typeface="Microsoft YaHei UI"/>
                <a:cs typeface="Microsoft YaHei UI"/>
              </a:rPr>
              <a:t>disjoint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subsets.</a:t>
            </a:r>
            <a:endParaRPr sz="2400">
              <a:latin typeface="Microsoft YaHei UI"/>
              <a:cs typeface="Microsoft YaHei UI"/>
            </a:endParaRPr>
          </a:p>
          <a:p>
            <a:pPr marL="354965" indent="-342265">
              <a:lnSpc>
                <a:spcPct val="100000"/>
              </a:lnSpc>
              <a:buClr>
                <a:srgbClr val="3333CC"/>
              </a:buClr>
              <a:buSzPct val="60416"/>
              <a:buFont typeface="Lucida Sans Unicode"/>
              <a:buChar char="■"/>
              <a:tabLst>
                <a:tab pos="354965" algn="l"/>
              </a:tabLst>
            </a:pPr>
            <a:r>
              <a:rPr dirty="0" sz="2400" spc="-20">
                <a:latin typeface="Microsoft YaHei UI"/>
                <a:cs typeface="Microsoft YaHei UI"/>
              </a:rPr>
              <a:t>The</a:t>
            </a:r>
            <a:r>
              <a:rPr dirty="0" sz="2400" spc="-95">
                <a:latin typeface="Microsoft YaHei UI"/>
                <a:cs typeface="Microsoft YaHei UI"/>
              </a:rPr>
              <a:t> </a:t>
            </a:r>
            <a:r>
              <a:rPr dirty="0" sz="2400" spc="-105">
                <a:latin typeface="Microsoft YaHei UI"/>
                <a:cs typeface="Microsoft YaHei UI"/>
              </a:rPr>
              <a:t>clustering</a:t>
            </a:r>
            <a:r>
              <a:rPr dirty="0" sz="2400" spc="-70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criteria:</a:t>
            </a:r>
            <a:endParaRPr sz="2400">
              <a:latin typeface="Microsoft YaHei UI"/>
              <a:cs typeface="Microsoft YaHei UI"/>
            </a:endParaRPr>
          </a:p>
          <a:p>
            <a:pPr lvl="1" marL="1098550" marR="90170" indent="-342900">
              <a:lnSpc>
                <a:spcPct val="100000"/>
              </a:lnSpc>
              <a:buClr>
                <a:srgbClr val="FF0000"/>
              </a:buClr>
              <a:buSzPct val="54166"/>
              <a:buFont typeface="Lucida Sans Unicode"/>
              <a:buChar char="■"/>
              <a:tabLst>
                <a:tab pos="1098550" algn="l"/>
              </a:tabLst>
            </a:pPr>
            <a:r>
              <a:rPr dirty="0" sz="2400" spc="-70">
                <a:latin typeface="Microsoft YaHei UI"/>
                <a:cs typeface="Microsoft YaHei UI"/>
              </a:rPr>
              <a:t>the</a:t>
            </a:r>
            <a:r>
              <a:rPr dirty="0" sz="2400" spc="-110">
                <a:latin typeface="Microsoft YaHei UI"/>
                <a:cs typeface="Microsoft YaHei UI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cluster</a:t>
            </a:r>
            <a:r>
              <a:rPr dirty="0" sz="2400" spc="-100">
                <a:latin typeface="Microsoft YaHei UI"/>
                <a:cs typeface="Microsoft YaHei UI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centers</a:t>
            </a:r>
            <a:r>
              <a:rPr dirty="0" sz="2400" spc="-95">
                <a:latin typeface="Microsoft YaHei UI"/>
                <a:cs typeface="Microsoft YaHei UI"/>
              </a:rPr>
              <a:t> </a:t>
            </a:r>
            <a:r>
              <a:rPr dirty="0" sz="2400" spc="-20">
                <a:latin typeface="Microsoft YaHei UI"/>
                <a:cs typeface="Microsoft YaHei UI"/>
              </a:rPr>
              <a:t>are</a:t>
            </a:r>
            <a:r>
              <a:rPr dirty="0" sz="2400" spc="-155">
                <a:latin typeface="Microsoft YaHei UI"/>
                <a:cs typeface="Microsoft YaHei UI"/>
              </a:rPr>
              <a:t> </a:t>
            </a:r>
            <a:r>
              <a:rPr dirty="0" sz="2400" spc="-20">
                <a:latin typeface="Microsoft YaHei UI"/>
                <a:cs typeface="Microsoft YaHei UI"/>
              </a:rPr>
              <a:t>set</a:t>
            </a:r>
            <a:r>
              <a:rPr dirty="0" sz="2400" spc="-95">
                <a:latin typeface="Microsoft YaHei UI"/>
                <a:cs typeface="Microsoft YaHei UI"/>
              </a:rPr>
              <a:t> </a:t>
            </a:r>
            <a:r>
              <a:rPr dirty="0" sz="2400" spc="-20">
                <a:latin typeface="Microsoft YaHei UI"/>
                <a:cs typeface="Microsoft YaHei UI"/>
              </a:rPr>
              <a:t>in</a:t>
            </a:r>
            <a:r>
              <a:rPr dirty="0" sz="2400" spc="-95">
                <a:latin typeface="Microsoft YaHei UI"/>
                <a:cs typeface="Microsoft YaHei UI"/>
              </a:rPr>
              <a:t> </a:t>
            </a:r>
            <a:r>
              <a:rPr dirty="0" sz="2400" spc="-70">
                <a:latin typeface="Microsoft YaHei UI"/>
                <a:cs typeface="Microsoft YaHei UI"/>
              </a:rPr>
              <a:t>the</a:t>
            </a:r>
            <a:r>
              <a:rPr dirty="0" sz="2400" spc="-95">
                <a:latin typeface="Microsoft YaHei UI"/>
                <a:cs typeface="Microsoft YaHei UI"/>
              </a:rPr>
              <a:t> </a:t>
            </a:r>
            <a:r>
              <a:rPr dirty="0" sz="2400" spc="-130">
                <a:latin typeface="Microsoft YaHei UI"/>
                <a:cs typeface="Microsoft YaHei UI"/>
              </a:rPr>
              <a:t>high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density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 spc="-95">
                <a:latin typeface="Microsoft YaHei UI"/>
                <a:cs typeface="Microsoft YaHei UI"/>
              </a:rPr>
              <a:t>regions </a:t>
            </a:r>
            <a:r>
              <a:rPr dirty="0" sz="2400" spc="-90">
                <a:latin typeface="Microsoft YaHei UI"/>
                <a:cs typeface="Microsoft YaHei UI"/>
              </a:rPr>
              <a:t>of</a:t>
            </a:r>
            <a:r>
              <a:rPr dirty="0" sz="2400" spc="-85">
                <a:latin typeface="Microsoft YaHei UI"/>
                <a:cs typeface="Microsoft YaHei UI"/>
              </a:rPr>
              <a:t> </a:t>
            </a:r>
            <a:r>
              <a:rPr dirty="0" sz="2400" spc="-20">
                <a:latin typeface="Microsoft YaHei UI"/>
                <a:cs typeface="Microsoft YaHei UI"/>
              </a:rPr>
              <a:t>data</a:t>
            </a:r>
            <a:endParaRPr sz="2400">
              <a:latin typeface="Microsoft YaHei UI"/>
              <a:cs typeface="Microsoft YaHei UI"/>
            </a:endParaRPr>
          </a:p>
          <a:p>
            <a:pPr lvl="1" marL="1098550" marR="401320" indent="-342900">
              <a:lnSpc>
                <a:spcPct val="100000"/>
              </a:lnSpc>
              <a:buClr>
                <a:srgbClr val="FF0000"/>
              </a:buClr>
              <a:buSzPct val="54166"/>
              <a:buFont typeface="Lucida Sans Unicode"/>
              <a:buChar char="■"/>
              <a:tabLst>
                <a:tab pos="1098550" algn="l"/>
              </a:tabLst>
            </a:pPr>
            <a:r>
              <a:rPr dirty="0" sz="2400">
                <a:latin typeface="Microsoft YaHei UI"/>
                <a:cs typeface="Microsoft YaHei UI"/>
              </a:rPr>
              <a:t>a</a:t>
            </a:r>
            <a:r>
              <a:rPr dirty="0" sz="2400" spc="-90">
                <a:latin typeface="Microsoft YaHei UI"/>
                <a:cs typeface="Microsoft YaHei UI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data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145">
                <a:latin typeface="Microsoft YaHei UI"/>
                <a:cs typeface="Microsoft YaHei UI"/>
              </a:rPr>
              <a:t>point</a:t>
            </a:r>
            <a:r>
              <a:rPr dirty="0" sz="2400" spc="-30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is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assigned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to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70">
                <a:latin typeface="Microsoft YaHei UI"/>
                <a:cs typeface="Microsoft YaHei UI"/>
              </a:rPr>
              <a:t>the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cluster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95">
                <a:latin typeface="Microsoft YaHei UI"/>
                <a:cs typeface="Microsoft YaHei UI"/>
              </a:rPr>
              <a:t>with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105">
                <a:latin typeface="Microsoft YaHei UI"/>
                <a:cs typeface="Microsoft YaHei UI"/>
              </a:rPr>
              <a:t>which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25">
                <a:latin typeface="Microsoft YaHei UI"/>
                <a:cs typeface="Microsoft YaHei UI"/>
              </a:rPr>
              <a:t>it has</a:t>
            </a:r>
            <a:r>
              <a:rPr dirty="0" sz="2400" spc="-155">
                <a:latin typeface="Microsoft YaHei UI"/>
                <a:cs typeface="Microsoft YaHei UI"/>
              </a:rPr>
              <a:t> </a:t>
            </a:r>
            <a:r>
              <a:rPr dirty="0" sz="2400" spc="-70">
                <a:latin typeface="Microsoft YaHei UI"/>
                <a:cs typeface="Microsoft YaHei UI"/>
              </a:rPr>
              <a:t>the</a:t>
            </a:r>
            <a:r>
              <a:rPr dirty="0" sz="2400" spc="-85">
                <a:latin typeface="Microsoft YaHei UI"/>
                <a:cs typeface="Microsoft YaHei UI"/>
              </a:rPr>
              <a:t> </a:t>
            </a:r>
            <a:r>
              <a:rPr dirty="0" sz="2400" spc="-170">
                <a:latin typeface="Microsoft YaHei UI"/>
                <a:cs typeface="Microsoft YaHei UI"/>
              </a:rPr>
              <a:t>minimum</a:t>
            </a:r>
            <a:r>
              <a:rPr dirty="0" sz="2400" spc="-10">
                <a:latin typeface="Microsoft YaHei UI"/>
                <a:cs typeface="Microsoft YaHei UI"/>
              </a:rPr>
              <a:t> </a:t>
            </a:r>
            <a:r>
              <a:rPr dirty="0" sz="2400" spc="-100">
                <a:latin typeface="Microsoft YaHei UI"/>
                <a:cs typeface="Microsoft YaHei UI"/>
              </a:rPr>
              <a:t>distance</a:t>
            </a:r>
            <a:r>
              <a:rPr dirty="0" sz="2400" spc="-75"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to</a:t>
            </a:r>
            <a:r>
              <a:rPr dirty="0" sz="2400" spc="-70">
                <a:latin typeface="Microsoft YaHei UI"/>
                <a:cs typeface="Microsoft YaHei UI"/>
              </a:rPr>
              <a:t> the</a:t>
            </a:r>
            <a:r>
              <a:rPr dirty="0" sz="2400" spc="-75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center</a:t>
            </a:r>
            <a:endParaRPr sz="2400">
              <a:latin typeface="Microsoft YaHei UI"/>
              <a:cs typeface="Microsoft YaHei UI"/>
            </a:endParaRPr>
          </a:p>
          <a:p>
            <a:pPr marL="355600" marR="5080" indent="-342900">
              <a:lnSpc>
                <a:spcPct val="100000"/>
              </a:lnSpc>
              <a:buClr>
                <a:srgbClr val="3333CC"/>
              </a:buClr>
              <a:buSzPct val="60416"/>
              <a:buFont typeface="Lucida Sans Unicode"/>
              <a:buChar char="■"/>
              <a:tabLst>
                <a:tab pos="355600" algn="l"/>
              </a:tabLst>
            </a:pPr>
            <a:r>
              <a:rPr dirty="0" sz="2400" spc="-110">
                <a:latin typeface="Microsoft YaHei UI"/>
                <a:cs typeface="Microsoft YaHei UI"/>
              </a:rPr>
              <a:t>Mathematically,</a:t>
            </a:r>
            <a:r>
              <a:rPr dirty="0" sz="2400" spc="-70">
                <a:latin typeface="Microsoft YaHei UI"/>
                <a:cs typeface="Microsoft YaHei UI"/>
              </a:rPr>
              <a:t> </a:t>
            </a:r>
            <a:r>
              <a:rPr dirty="0" sz="2400" spc="-60">
                <a:latin typeface="Microsoft YaHei UI"/>
                <a:cs typeface="Microsoft YaHei UI"/>
              </a:rPr>
              <a:t>this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is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spc="-114">
                <a:latin typeface="Microsoft YaHei UI"/>
                <a:cs typeface="Microsoft YaHei UI"/>
              </a:rPr>
              <a:t>equivalent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to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50">
                <a:latin typeface="Microsoft YaHei UI"/>
                <a:cs typeface="Microsoft YaHei UI"/>
              </a:rPr>
              <a:t>minimizing</a:t>
            </a:r>
            <a:r>
              <a:rPr dirty="0" sz="2400" spc="-30">
                <a:latin typeface="Microsoft YaHei UI"/>
                <a:cs typeface="Microsoft YaHei UI"/>
              </a:rPr>
              <a:t> </a:t>
            </a:r>
            <a:r>
              <a:rPr dirty="0" sz="2400" spc="-70">
                <a:latin typeface="Microsoft YaHei UI"/>
                <a:cs typeface="Microsoft YaHei UI"/>
              </a:rPr>
              <a:t>the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165">
                <a:latin typeface="Microsoft YaHei UI"/>
                <a:cs typeface="Microsoft YaHei UI"/>
              </a:rPr>
              <a:t>sum-</a:t>
            </a:r>
            <a:r>
              <a:rPr dirty="0" sz="2400" spc="-80">
                <a:latin typeface="Microsoft YaHei UI"/>
                <a:cs typeface="Microsoft YaHei UI"/>
              </a:rPr>
              <a:t>of- </a:t>
            </a:r>
            <a:r>
              <a:rPr dirty="0" sz="2400" spc="-95">
                <a:latin typeface="Microsoft YaHei UI"/>
                <a:cs typeface="Microsoft YaHei UI"/>
              </a:rPr>
              <a:t>square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 spc="-105">
                <a:latin typeface="Microsoft YaHei UI"/>
                <a:cs typeface="Microsoft YaHei UI"/>
              </a:rPr>
              <a:t>clustering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function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649738" y="4245940"/>
            <a:ext cx="93980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250" spc="-50">
                <a:latin typeface="Microsoft YaHei UI"/>
                <a:cs typeface="Microsoft YaHei UI"/>
              </a:rPr>
              <a:t>2</a:t>
            </a:r>
            <a:endParaRPr sz="1250">
              <a:latin typeface="Microsoft YaHei UI"/>
              <a:cs typeface="Microsoft YaHei U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437132" y="6169520"/>
            <a:ext cx="7048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50" i="1">
                <a:latin typeface="Times New Roman"/>
                <a:cs typeface="Times New Roman"/>
              </a:rPr>
              <a:t>j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90001" y="6169520"/>
            <a:ext cx="139763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03020" algn="l"/>
              </a:tabLst>
            </a:pPr>
            <a:r>
              <a:rPr dirty="0" sz="1250" spc="-50" i="1">
                <a:latin typeface="Times New Roman"/>
                <a:cs typeface="Times New Roman"/>
              </a:rPr>
              <a:t>j</a:t>
            </a:r>
            <a:r>
              <a:rPr dirty="0" sz="1250" i="1">
                <a:latin typeface="Times New Roman"/>
                <a:cs typeface="Times New Roman"/>
              </a:rPr>
              <a:t>	</a:t>
            </a:r>
            <a:r>
              <a:rPr dirty="0" sz="1250" spc="-50" i="1">
                <a:latin typeface="Times New Roman"/>
                <a:cs typeface="Times New Roman"/>
              </a:rPr>
              <a:t>n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981923" y="4088345"/>
            <a:ext cx="12128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250" spc="-50" i="1">
                <a:latin typeface="Times New Roman"/>
                <a:cs typeface="Times New Roman"/>
              </a:rPr>
              <a:t>K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411477" y="4854036"/>
            <a:ext cx="4911090" cy="858519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90"/>
              </a:spcBef>
            </a:pPr>
            <a:r>
              <a:rPr dirty="0" sz="2150" spc="-10">
                <a:latin typeface="Microsoft YaHei UI"/>
                <a:cs typeface="Microsoft YaHei UI"/>
              </a:rPr>
              <a:t>where</a:t>
            </a:r>
            <a:endParaRPr sz="2150">
              <a:latin typeface="Microsoft YaHei UI"/>
              <a:cs typeface="Microsoft YaHei UI"/>
            </a:endParaRPr>
          </a:p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dirty="0" sz="2150" i="1">
                <a:latin typeface="Times New Roman"/>
                <a:cs typeface="Times New Roman"/>
              </a:rPr>
              <a:t>S</a:t>
            </a:r>
            <a:r>
              <a:rPr dirty="0" sz="2150" spc="-204" i="1">
                <a:latin typeface="Times New Roman"/>
                <a:cs typeface="Times New Roman"/>
              </a:rPr>
              <a:t> </a:t>
            </a:r>
            <a:r>
              <a:rPr dirty="0" baseline="-24444" sz="1875" i="1">
                <a:latin typeface="Times New Roman"/>
                <a:cs typeface="Times New Roman"/>
              </a:rPr>
              <a:t>j</a:t>
            </a:r>
            <a:r>
              <a:rPr dirty="0" baseline="-24444" sz="1875" spc="457" i="1">
                <a:latin typeface="Times New Roman"/>
                <a:cs typeface="Times New Roman"/>
              </a:rPr>
              <a:t> </a:t>
            </a:r>
            <a:r>
              <a:rPr dirty="0" sz="2150" spc="90">
                <a:latin typeface="Microsoft YaHei UI"/>
                <a:cs typeface="Microsoft YaHei UI"/>
              </a:rPr>
              <a:t>:</a:t>
            </a:r>
            <a:r>
              <a:rPr dirty="0" sz="2150" spc="-320">
                <a:latin typeface="Microsoft YaHei UI"/>
                <a:cs typeface="Microsoft YaHei UI"/>
              </a:rPr>
              <a:t> </a:t>
            </a:r>
            <a:r>
              <a:rPr dirty="0" sz="2150" spc="-170">
                <a:latin typeface="Microsoft YaHei UI"/>
                <a:cs typeface="Microsoft YaHei UI"/>
              </a:rPr>
              <a:t>the</a:t>
            </a:r>
            <a:r>
              <a:rPr dirty="0" sz="2150" spc="210">
                <a:latin typeface="Microsoft YaHei UI"/>
                <a:cs typeface="Microsoft YaHei UI"/>
              </a:rPr>
              <a:t> </a:t>
            </a:r>
            <a:r>
              <a:rPr dirty="0" sz="2150" spc="-145" i="1">
                <a:latin typeface="Times New Roman"/>
                <a:cs typeface="Times New Roman"/>
              </a:rPr>
              <a:t>j</a:t>
            </a:r>
            <a:r>
              <a:rPr dirty="0" sz="2150" spc="-145">
                <a:latin typeface="Microsoft YaHei UI"/>
                <a:cs typeface="Microsoft YaHei UI"/>
              </a:rPr>
              <a:t>th</a:t>
            </a:r>
            <a:r>
              <a:rPr dirty="0" sz="2150" spc="-160">
                <a:latin typeface="Microsoft YaHei UI"/>
                <a:cs typeface="Microsoft YaHei UI"/>
              </a:rPr>
              <a:t> </a:t>
            </a:r>
            <a:r>
              <a:rPr dirty="0" sz="2150" spc="-155">
                <a:latin typeface="Microsoft YaHei UI"/>
                <a:cs typeface="Microsoft YaHei UI"/>
              </a:rPr>
              <a:t>cluster</a:t>
            </a:r>
            <a:r>
              <a:rPr dirty="0" sz="2150" spc="-220">
                <a:latin typeface="Microsoft YaHei UI"/>
                <a:cs typeface="Microsoft YaHei UI"/>
              </a:rPr>
              <a:t> </a:t>
            </a:r>
            <a:r>
              <a:rPr dirty="0" sz="2150" spc="-185">
                <a:latin typeface="Microsoft YaHei UI"/>
                <a:cs typeface="Microsoft YaHei UI"/>
              </a:rPr>
              <a:t>containing</a:t>
            </a:r>
            <a:r>
              <a:rPr dirty="0" sz="2150" spc="-80">
                <a:latin typeface="Microsoft YaHei UI"/>
                <a:cs typeface="Microsoft YaHei UI"/>
              </a:rPr>
              <a:t> </a:t>
            </a:r>
            <a:r>
              <a:rPr dirty="0" sz="2150" i="1">
                <a:latin typeface="Times New Roman"/>
                <a:cs typeface="Times New Roman"/>
              </a:rPr>
              <a:t>N</a:t>
            </a:r>
            <a:r>
              <a:rPr dirty="0" sz="2150" spc="-165" i="1">
                <a:latin typeface="Times New Roman"/>
                <a:cs typeface="Times New Roman"/>
              </a:rPr>
              <a:t> </a:t>
            </a:r>
            <a:r>
              <a:rPr dirty="0" baseline="-24444" sz="1875" i="1">
                <a:latin typeface="Times New Roman"/>
                <a:cs typeface="Times New Roman"/>
              </a:rPr>
              <a:t>j</a:t>
            </a:r>
            <a:r>
              <a:rPr dirty="0" baseline="-24444" sz="1875" spc="569" i="1">
                <a:latin typeface="Times New Roman"/>
                <a:cs typeface="Times New Roman"/>
              </a:rPr>
              <a:t> </a:t>
            </a:r>
            <a:r>
              <a:rPr dirty="0" sz="2150" spc="-240">
                <a:latin typeface="Microsoft YaHei UI"/>
                <a:cs typeface="Microsoft YaHei UI"/>
              </a:rPr>
              <a:t>data</a:t>
            </a:r>
            <a:r>
              <a:rPr dirty="0" sz="2150" spc="-114">
                <a:latin typeface="Microsoft YaHei UI"/>
                <a:cs typeface="Microsoft YaHei UI"/>
              </a:rPr>
              <a:t> </a:t>
            </a:r>
            <a:r>
              <a:rPr dirty="0" sz="2150" spc="-110">
                <a:latin typeface="Microsoft YaHei UI"/>
                <a:cs typeface="Microsoft YaHei UI"/>
              </a:rPr>
              <a:t>points</a:t>
            </a:r>
            <a:endParaRPr sz="2150">
              <a:latin typeface="Microsoft YaHei UI"/>
              <a:cs typeface="Microsoft YaHei U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868398" y="4179798"/>
            <a:ext cx="726440" cy="6762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ts val="3740"/>
              </a:lnSpc>
              <a:spcBef>
                <a:spcPts val="130"/>
              </a:spcBef>
            </a:pPr>
            <a:r>
              <a:rPr dirty="0" sz="3250" spc="495">
                <a:latin typeface="Microsoft YaHei UI"/>
                <a:cs typeface="Microsoft YaHei UI"/>
              </a:rPr>
              <a:t>Σ</a:t>
            </a:r>
            <a:r>
              <a:rPr dirty="0" sz="3250" spc="-445">
                <a:latin typeface="Microsoft YaHei UI"/>
                <a:cs typeface="Microsoft YaHei UI"/>
              </a:rPr>
              <a:t> </a:t>
            </a:r>
            <a:r>
              <a:rPr dirty="0" sz="3250" spc="445">
                <a:latin typeface="Microsoft YaHei UI"/>
                <a:cs typeface="Microsoft YaHei UI"/>
              </a:rPr>
              <a:t>Σ</a:t>
            </a:r>
            <a:endParaRPr sz="3250">
              <a:latin typeface="Microsoft YaHei UI"/>
              <a:cs typeface="Microsoft YaHei UI"/>
            </a:endParaRPr>
          </a:p>
          <a:p>
            <a:pPr marL="84455">
              <a:lnSpc>
                <a:spcPts val="1340"/>
              </a:lnSpc>
            </a:pPr>
            <a:r>
              <a:rPr dirty="0" sz="1250" i="1">
                <a:latin typeface="Times New Roman"/>
                <a:cs typeface="Times New Roman"/>
              </a:rPr>
              <a:t>j</a:t>
            </a:r>
            <a:r>
              <a:rPr dirty="0" sz="1250" spc="-190" i="1">
                <a:latin typeface="Times New Roman"/>
                <a:cs typeface="Times New Roman"/>
              </a:rPr>
              <a:t> </a:t>
            </a:r>
            <a:r>
              <a:rPr dirty="0" sz="1250" spc="-210">
                <a:latin typeface="Microsoft YaHei UI"/>
                <a:cs typeface="Microsoft YaHei UI"/>
              </a:rPr>
              <a:t>=1</a:t>
            </a:r>
            <a:r>
              <a:rPr dirty="0" sz="1250" spc="75">
                <a:latin typeface="Microsoft YaHei UI"/>
                <a:cs typeface="Microsoft YaHei UI"/>
              </a:rPr>
              <a:t> </a:t>
            </a:r>
            <a:r>
              <a:rPr dirty="0" sz="1250" spc="60" i="1">
                <a:latin typeface="Times New Roman"/>
                <a:cs typeface="Times New Roman"/>
              </a:rPr>
              <a:t>n</a:t>
            </a:r>
            <a:r>
              <a:rPr dirty="0" sz="1250" spc="60">
                <a:latin typeface="Microsoft YaHei UI"/>
                <a:cs typeface="Microsoft YaHei UI"/>
              </a:rPr>
              <a:t>ϵ</a:t>
            </a:r>
            <a:r>
              <a:rPr dirty="0" sz="1250" spc="60" i="1">
                <a:latin typeface="Times New Roman"/>
                <a:cs typeface="Times New Roman"/>
              </a:rPr>
              <a:t>S</a:t>
            </a:r>
            <a:r>
              <a:rPr dirty="0" sz="1250" spc="-65" i="1">
                <a:latin typeface="Times New Roman"/>
                <a:cs typeface="Times New Roman"/>
              </a:rPr>
              <a:t> </a:t>
            </a:r>
            <a:r>
              <a:rPr dirty="0" baseline="-18518" sz="1350" spc="-75" i="1">
                <a:latin typeface="Times New Roman"/>
                <a:cs typeface="Times New Roman"/>
              </a:rPr>
              <a:t>j</a:t>
            </a:r>
            <a:endParaRPr baseline="-18518" sz="13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988007" y="6201168"/>
            <a:ext cx="210820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50" i="1">
                <a:latin typeface="Times New Roman"/>
                <a:cs typeface="Times New Roman"/>
              </a:rPr>
              <a:t>N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195906" y="6365417"/>
            <a:ext cx="54800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-6666" sz="1875" i="1">
                <a:latin typeface="Times New Roman"/>
                <a:cs typeface="Times New Roman"/>
              </a:rPr>
              <a:t>j</a:t>
            </a:r>
            <a:r>
              <a:rPr dirty="0" baseline="-6666" sz="1875" spc="705" i="1">
                <a:latin typeface="Times New Roman"/>
                <a:cs typeface="Times New Roman"/>
              </a:rPr>
              <a:t> </a:t>
            </a:r>
            <a:r>
              <a:rPr dirty="0" sz="1250" spc="60" i="1">
                <a:latin typeface="Times New Roman"/>
                <a:cs typeface="Times New Roman"/>
              </a:rPr>
              <a:t>n</a:t>
            </a:r>
            <a:r>
              <a:rPr dirty="0" sz="1250" spc="60">
                <a:latin typeface="Microsoft YaHei UI"/>
                <a:cs typeface="Microsoft YaHei UI"/>
              </a:rPr>
              <a:t>ϵ</a:t>
            </a:r>
            <a:r>
              <a:rPr dirty="0" sz="1250" spc="60" i="1">
                <a:latin typeface="Times New Roman"/>
                <a:cs typeface="Times New Roman"/>
              </a:rPr>
              <a:t>S</a:t>
            </a:r>
            <a:r>
              <a:rPr dirty="0" sz="1250" spc="-70" i="1">
                <a:latin typeface="Times New Roman"/>
                <a:cs typeface="Times New Roman"/>
              </a:rPr>
              <a:t> </a:t>
            </a:r>
            <a:r>
              <a:rPr dirty="0" baseline="-18518" sz="1350" spc="-75" i="1">
                <a:latin typeface="Times New Roman"/>
                <a:cs typeface="Times New Roman"/>
              </a:rPr>
              <a:t>j</a:t>
            </a:r>
            <a:endParaRPr baseline="-18518" sz="13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98473" y="5845314"/>
            <a:ext cx="6047740" cy="525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349250" algn="l"/>
                <a:tab pos="1648460" algn="l"/>
              </a:tabLst>
            </a:pPr>
            <a:r>
              <a:rPr dirty="0" sz="2150" spc="-50" b="1">
                <a:latin typeface="Times New Roman"/>
                <a:cs typeface="Times New Roman"/>
              </a:rPr>
              <a:t>c</a:t>
            </a:r>
            <a:r>
              <a:rPr dirty="0" sz="2150" b="1">
                <a:latin typeface="Times New Roman"/>
                <a:cs typeface="Times New Roman"/>
              </a:rPr>
              <a:t>	</a:t>
            </a:r>
            <a:r>
              <a:rPr dirty="0" sz="2150" spc="-400">
                <a:latin typeface="Microsoft YaHei UI"/>
                <a:cs typeface="Microsoft YaHei UI"/>
              </a:rPr>
              <a:t>=</a:t>
            </a:r>
            <a:r>
              <a:rPr dirty="0" sz="2150" spc="-100">
                <a:latin typeface="Microsoft YaHei UI"/>
                <a:cs typeface="Microsoft YaHei UI"/>
              </a:rPr>
              <a:t> </a:t>
            </a:r>
            <a:r>
              <a:rPr dirty="0" u="sng" baseline="36175" sz="3225" spc="217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 </a:t>
            </a:r>
            <a:r>
              <a:rPr dirty="0" u="sng" baseline="36175" sz="3225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1</a:t>
            </a:r>
            <a:r>
              <a:rPr dirty="0" u="sng" baseline="36175" sz="3225" spc="262">
                <a:uFill>
                  <a:solidFill>
                    <a:srgbClr val="000000"/>
                  </a:solidFill>
                </a:uFill>
                <a:latin typeface="Microsoft YaHei UI"/>
                <a:cs typeface="Microsoft YaHei UI"/>
              </a:rPr>
              <a:t> </a:t>
            </a:r>
            <a:r>
              <a:rPr dirty="0" baseline="36175" sz="3225" spc="-104">
                <a:latin typeface="Microsoft YaHei UI"/>
                <a:cs typeface="Microsoft YaHei UI"/>
              </a:rPr>
              <a:t> </a:t>
            </a:r>
            <a:r>
              <a:rPr dirty="0" baseline="-8547" sz="4875" spc="555">
                <a:latin typeface="Microsoft YaHei UI"/>
                <a:cs typeface="Microsoft YaHei UI"/>
              </a:rPr>
              <a:t>Σ</a:t>
            </a:r>
            <a:r>
              <a:rPr dirty="0" sz="2150" spc="370" b="1">
                <a:latin typeface="Times New Roman"/>
                <a:cs typeface="Times New Roman"/>
              </a:rPr>
              <a:t>x</a:t>
            </a:r>
            <a:r>
              <a:rPr dirty="0" sz="2150" b="1">
                <a:latin typeface="Times New Roman"/>
                <a:cs typeface="Times New Roman"/>
              </a:rPr>
              <a:t>	</a:t>
            </a:r>
            <a:r>
              <a:rPr dirty="0" sz="2150" spc="90">
                <a:latin typeface="Microsoft YaHei UI"/>
                <a:cs typeface="Microsoft YaHei UI"/>
              </a:rPr>
              <a:t>:</a:t>
            </a:r>
            <a:r>
              <a:rPr dirty="0" sz="2150" spc="-325">
                <a:latin typeface="Microsoft YaHei UI"/>
                <a:cs typeface="Microsoft YaHei UI"/>
              </a:rPr>
              <a:t> </a:t>
            </a:r>
            <a:r>
              <a:rPr dirty="0" sz="2150" spc="-235">
                <a:latin typeface="Microsoft YaHei UI"/>
                <a:cs typeface="Microsoft YaHei UI"/>
              </a:rPr>
              <a:t>the</a:t>
            </a:r>
            <a:r>
              <a:rPr dirty="0" sz="2150" spc="-210">
                <a:latin typeface="Microsoft YaHei UI"/>
                <a:cs typeface="Microsoft YaHei UI"/>
              </a:rPr>
              <a:t> </a:t>
            </a:r>
            <a:r>
              <a:rPr dirty="0" sz="2150" spc="-265">
                <a:latin typeface="Microsoft YaHei UI"/>
                <a:cs typeface="Microsoft YaHei UI"/>
              </a:rPr>
              <a:t>mean</a:t>
            </a:r>
            <a:r>
              <a:rPr dirty="0" sz="2150" spc="-220">
                <a:latin typeface="Microsoft YaHei UI"/>
                <a:cs typeface="Microsoft YaHei UI"/>
              </a:rPr>
              <a:t> </a:t>
            </a:r>
            <a:r>
              <a:rPr dirty="0" sz="2150" spc="-20">
                <a:latin typeface="Microsoft YaHei UI"/>
                <a:cs typeface="Microsoft YaHei UI"/>
              </a:rPr>
              <a:t>of</a:t>
            </a:r>
            <a:r>
              <a:rPr dirty="0" sz="2150" spc="70">
                <a:latin typeface="Microsoft YaHei UI"/>
                <a:cs typeface="Microsoft YaHei UI"/>
              </a:rPr>
              <a:t> </a:t>
            </a:r>
            <a:r>
              <a:rPr dirty="0" sz="2150" spc="-235">
                <a:latin typeface="Microsoft YaHei UI"/>
                <a:cs typeface="Microsoft YaHei UI"/>
              </a:rPr>
              <a:t>the</a:t>
            </a:r>
            <a:r>
              <a:rPr dirty="0" sz="2150" spc="-250">
                <a:latin typeface="Microsoft YaHei UI"/>
                <a:cs typeface="Microsoft YaHei UI"/>
              </a:rPr>
              <a:t> </a:t>
            </a:r>
            <a:r>
              <a:rPr dirty="0" sz="2150" spc="-240">
                <a:latin typeface="Microsoft YaHei UI"/>
                <a:cs typeface="Microsoft YaHei UI"/>
              </a:rPr>
              <a:t>data</a:t>
            </a:r>
            <a:r>
              <a:rPr dirty="0" sz="2150" spc="-114">
                <a:latin typeface="Microsoft YaHei UI"/>
                <a:cs typeface="Microsoft YaHei UI"/>
              </a:rPr>
              <a:t> </a:t>
            </a:r>
            <a:r>
              <a:rPr dirty="0" sz="2150" spc="-195">
                <a:latin typeface="Microsoft YaHei UI"/>
                <a:cs typeface="Microsoft YaHei UI"/>
              </a:rPr>
              <a:t>points</a:t>
            </a:r>
            <a:r>
              <a:rPr dirty="0" sz="2150" spc="-265">
                <a:latin typeface="Microsoft YaHei UI"/>
                <a:cs typeface="Microsoft YaHei UI"/>
              </a:rPr>
              <a:t> </a:t>
            </a:r>
            <a:r>
              <a:rPr dirty="0" sz="2150" spc="-110">
                <a:latin typeface="Microsoft YaHei UI"/>
                <a:cs typeface="Microsoft YaHei UI"/>
              </a:rPr>
              <a:t>in</a:t>
            </a:r>
            <a:r>
              <a:rPr dirty="0" sz="2150" spc="-160">
                <a:latin typeface="Microsoft YaHei UI"/>
                <a:cs typeface="Microsoft YaHei UI"/>
              </a:rPr>
              <a:t> </a:t>
            </a:r>
            <a:r>
              <a:rPr dirty="0" sz="2150" spc="-155">
                <a:latin typeface="Microsoft YaHei UI"/>
                <a:cs typeface="Microsoft YaHei UI"/>
              </a:rPr>
              <a:t>cluster </a:t>
            </a:r>
            <a:r>
              <a:rPr dirty="0" sz="2150" spc="-50" i="1">
                <a:latin typeface="Times New Roman"/>
                <a:cs typeface="Times New Roman"/>
              </a:rPr>
              <a:t>S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458239" y="4254449"/>
            <a:ext cx="386715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2150" i="1">
                <a:latin typeface="Times New Roman"/>
                <a:cs typeface="Times New Roman"/>
              </a:rPr>
              <a:t>J</a:t>
            </a:r>
            <a:r>
              <a:rPr dirty="0" sz="2150" spc="240" i="1">
                <a:latin typeface="Times New Roman"/>
                <a:cs typeface="Times New Roman"/>
              </a:rPr>
              <a:t> </a:t>
            </a:r>
            <a:r>
              <a:rPr dirty="0" sz="2150" spc="-450">
                <a:latin typeface="Microsoft YaHei UI"/>
                <a:cs typeface="Microsoft YaHei UI"/>
              </a:rPr>
              <a:t>=</a:t>
            </a:r>
            <a:endParaRPr sz="2150">
              <a:latin typeface="Microsoft YaHei UI"/>
              <a:cs typeface="Microsoft YaHei U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548089" y="4254449"/>
            <a:ext cx="1136650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dirty="0" sz="2150" spc="-145">
                <a:latin typeface="Microsoft YaHei UI"/>
                <a:cs typeface="Microsoft YaHei UI"/>
              </a:rPr>
              <a:t>||</a:t>
            </a:r>
            <a:r>
              <a:rPr dirty="0" sz="2150" spc="-210">
                <a:latin typeface="Microsoft YaHei UI"/>
                <a:cs typeface="Microsoft YaHei UI"/>
              </a:rPr>
              <a:t> </a:t>
            </a:r>
            <a:r>
              <a:rPr dirty="0" sz="2150" spc="65" b="1">
                <a:latin typeface="Times New Roman"/>
                <a:cs typeface="Times New Roman"/>
              </a:rPr>
              <a:t>x</a:t>
            </a:r>
            <a:r>
              <a:rPr dirty="0" baseline="-24444" sz="1875" spc="97" i="1">
                <a:latin typeface="Times New Roman"/>
                <a:cs typeface="Times New Roman"/>
              </a:rPr>
              <a:t>n</a:t>
            </a:r>
            <a:r>
              <a:rPr dirty="0" baseline="-24444" sz="1875" spc="472" i="1">
                <a:latin typeface="Times New Roman"/>
                <a:cs typeface="Times New Roman"/>
              </a:rPr>
              <a:t> </a:t>
            </a:r>
            <a:r>
              <a:rPr dirty="0" sz="2150">
                <a:latin typeface="Microsoft YaHei UI"/>
                <a:cs typeface="Microsoft YaHei UI"/>
              </a:rPr>
              <a:t>–</a:t>
            </a:r>
            <a:r>
              <a:rPr dirty="0" sz="2150" spc="-330">
                <a:latin typeface="Microsoft YaHei UI"/>
                <a:cs typeface="Microsoft YaHei UI"/>
              </a:rPr>
              <a:t> </a:t>
            </a:r>
            <a:r>
              <a:rPr dirty="0" sz="2150" b="1">
                <a:latin typeface="Times New Roman"/>
                <a:cs typeface="Times New Roman"/>
              </a:rPr>
              <a:t>c</a:t>
            </a:r>
            <a:r>
              <a:rPr dirty="0" sz="2150" spc="-195" b="1">
                <a:latin typeface="Times New Roman"/>
                <a:cs typeface="Times New Roman"/>
              </a:rPr>
              <a:t> </a:t>
            </a:r>
            <a:r>
              <a:rPr dirty="0" baseline="-24444" sz="1875" i="1">
                <a:latin typeface="Times New Roman"/>
                <a:cs typeface="Times New Roman"/>
              </a:rPr>
              <a:t>j</a:t>
            </a:r>
            <a:r>
              <a:rPr dirty="0" baseline="-24444" sz="1875" spc="532" i="1">
                <a:latin typeface="Times New Roman"/>
                <a:cs typeface="Times New Roman"/>
              </a:rPr>
              <a:t> </a:t>
            </a:r>
            <a:r>
              <a:rPr dirty="0" sz="2150" spc="-25">
                <a:latin typeface="Microsoft YaHei UI"/>
                <a:cs typeface="Microsoft YaHei UI"/>
              </a:rPr>
              <a:t>||</a:t>
            </a:r>
            <a:endParaRPr sz="2150">
              <a:latin typeface="Microsoft YaHei UI"/>
              <a:cs typeface="Microsoft YaHei U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329565" y="212407"/>
            <a:ext cx="7595234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>
                <a:latin typeface="Microsoft YaHei UI"/>
                <a:cs typeface="Microsoft YaHei UI"/>
              </a:rPr>
              <a:t>K-</a:t>
            </a:r>
            <a:r>
              <a:rPr dirty="0">
                <a:latin typeface="Microsoft YaHei UI"/>
                <a:cs typeface="Microsoft YaHei UI"/>
              </a:rPr>
              <a:t>means</a:t>
            </a:r>
            <a:r>
              <a:rPr dirty="0" spc="-40">
                <a:latin typeface="Microsoft YaHei UI"/>
                <a:cs typeface="Microsoft YaHei UI"/>
              </a:rPr>
              <a:t> </a:t>
            </a:r>
            <a:r>
              <a:rPr dirty="0">
                <a:latin typeface="Microsoft YaHei UI"/>
                <a:cs typeface="Microsoft YaHei UI"/>
              </a:rPr>
              <a:t>clustering</a:t>
            </a:r>
            <a:r>
              <a:rPr dirty="0" spc="-40">
                <a:latin typeface="Microsoft YaHei UI"/>
                <a:cs typeface="Microsoft YaHei UI"/>
              </a:rPr>
              <a:t> </a:t>
            </a:r>
            <a:r>
              <a:rPr dirty="0" spc="-10">
                <a:latin typeface="Microsoft YaHei UI"/>
                <a:cs typeface="Microsoft YaHei UI"/>
              </a:rPr>
              <a:t>algorithm</a:t>
            </a:r>
          </a:p>
        </p:txBody>
      </p:sp>
      <p:grpSp>
        <p:nvGrpSpPr>
          <p:cNvPr id="22" name="object 22" descr=""/>
          <p:cNvGrpSpPr/>
          <p:nvPr/>
        </p:nvGrpSpPr>
        <p:grpSpPr>
          <a:xfrm>
            <a:off x="1182865" y="1317612"/>
            <a:ext cx="6968490" cy="3661410"/>
            <a:chOff x="1182865" y="1317612"/>
            <a:chExt cx="6968490" cy="3661410"/>
          </a:xfrm>
        </p:grpSpPr>
        <p:sp>
          <p:nvSpPr>
            <p:cNvPr id="23" name="object 23" descr=""/>
            <p:cNvSpPr/>
            <p:nvPr/>
          </p:nvSpPr>
          <p:spPr>
            <a:xfrm>
              <a:off x="1187195" y="3954780"/>
              <a:ext cx="2809240" cy="1019810"/>
            </a:xfrm>
            <a:custGeom>
              <a:avLst/>
              <a:gdLst/>
              <a:ahLst/>
              <a:cxnLst/>
              <a:rect l="l" t="t" r="r" b="b"/>
              <a:pathLst>
                <a:path w="2809240" h="1019810">
                  <a:moveTo>
                    <a:pt x="2808731" y="0"/>
                  </a:moveTo>
                  <a:lnTo>
                    <a:pt x="0" y="0"/>
                  </a:lnTo>
                  <a:lnTo>
                    <a:pt x="0" y="1019556"/>
                  </a:lnTo>
                  <a:lnTo>
                    <a:pt x="2808731" y="1019556"/>
                  </a:lnTo>
                  <a:lnTo>
                    <a:pt x="2808731" y="0"/>
                  </a:lnTo>
                  <a:close/>
                </a:path>
              </a:pathLst>
            </a:custGeom>
            <a:solidFill>
              <a:srgbClr val="00E4A8">
                <a:alpha val="2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182865" y="3950271"/>
              <a:ext cx="2818130" cy="1028700"/>
            </a:xfrm>
            <a:custGeom>
              <a:avLst/>
              <a:gdLst/>
              <a:ahLst/>
              <a:cxnLst/>
              <a:rect l="l" t="t" r="r" b="b"/>
              <a:pathLst>
                <a:path w="2818129" h="1028700">
                  <a:moveTo>
                    <a:pt x="2813050" y="0"/>
                  </a:moveTo>
                  <a:lnTo>
                    <a:pt x="4762" y="0"/>
                  </a:lnTo>
                  <a:lnTo>
                    <a:pt x="3289" y="241"/>
                  </a:lnTo>
                  <a:lnTo>
                    <a:pt x="1955" y="914"/>
                  </a:lnTo>
                  <a:lnTo>
                    <a:pt x="901" y="1968"/>
                  </a:lnTo>
                  <a:lnTo>
                    <a:pt x="228" y="3289"/>
                  </a:lnTo>
                  <a:lnTo>
                    <a:pt x="0" y="4762"/>
                  </a:lnTo>
                  <a:lnTo>
                    <a:pt x="0" y="1023937"/>
                  </a:lnTo>
                  <a:lnTo>
                    <a:pt x="4762" y="1028700"/>
                  </a:lnTo>
                  <a:lnTo>
                    <a:pt x="2813050" y="1028700"/>
                  </a:lnTo>
                  <a:lnTo>
                    <a:pt x="2817812" y="1023937"/>
                  </a:lnTo>
                  <a:lnTo>
                    <a:pt x="9525" y="1023937"/>
                  </a:lnTo>
                  <a:lnTo>
                    <a:pt x="4762" y="1019175"/>
                  </a:lnTo>
                  <a:lnTo>
                    <a:pt x="9525" y="1019175"/>
                  </a:lnTo>
                  <a:lnTo>
                    <a:pt x="9525" y="9525"/>
                  </a:lnTo>
                  <a:lnTo>
                    <a:pt x="4762" y="9525"/>
                  </a:lnTo>
                  <a:lnTo>
                    <a:pt x="9525" y="4762"/>
                  </a:lnTo>
                  <a:lnTo>
                    <a:pt x="2817812" y="4762"/>
                  </a:lnTo>
                  <a:lnTo>
                    <a:pt x="2817571" y="3289"/>
                  </a:lnTo>
                  <a:lnTo>
                    <a:pt x="2816898" y="1968"/>
                  </a:lnTo>
                  <a:lnTo>
                    <a:pt x="2815843" y="914"/>
                  </a:lnTo>
                  <a:lnTo>
                    <a:pt x="2814523" y="241"/>
                  </a:lnTo>
                  <a:lnTo>
                    <a:pt x="2813050" y="0"/>
                  </a:lnTo>
                  <a:close/>
                </a:path>
                <a:path w="2818129" h="1028700">
                  <a:moveTo>
                    <a:pt x="9525" y="1019175"/>
                  </a:moveTo>
                  <a:lnTo>
                    <a:pt x="4762" y="1019175"/>
                  </a:lnTo>
                  <a:lnTo>
                    <a:pt x="9525" y="1023937"/>
                  </a:lnTo>
                  <a:lnTo>
                    <a:pt x="9525" y="1019175"/>
                  </a:lnTo>
                  <a:close/>
                </a:path>
                <a:path w="2818129" h="1028700">
                  <a:moveTo>
                    <a:pt x="2808287" y="1019175"/>
                  </a:moveTo>
                  <a:lnTo>
                    <a:pt x="9525" y="1019175"/>
                  </a:lnTo>
                  <a:lnTo>
                    <a:pt x="9525" y="1023937"/>
                  </a:lnTo>
                  <a:lnTo>
                    <a:pt x="2808287" y="1023937"/>
                  </a:lnTo>
                  <a:lnTo>
                    <a:pt x="2808287" y="1019175"/>
                  </a:lnTo>
                  <a:close/>
                </a:path>
                <a:path w="2818129" h="1028700">
                  <a:moveTo>
                    <a:pt x="2808287" y="4762"/>
                  </a:moveTo>
                  <a:lnTo>
                    <a:pt x="2808287" y="1023937"/>
                  </a:lnTo>
                  <a:lnTo>
                    <a:pt x="2813050" y="1019175"/>
                  </a:lnTo>
                  <a:lnTo>
                    <a:pt x="2817812" y="1019175"/>
                  </a:lnTo>
                  <a:lnTo>
                    <a:pt x="2817812" y="9525"/>
                  </a:lnTo>
                  <a:lnTo>
                    <a:pt x="2813050" y="9525"/>
                  </a:lnTo>
                  <a:lnTo>
                    <a:pt x="2808287" y="4762"/>
                  </a:lnTo>
                  <a:close/>
                </a:path>
                <a:path w="2818129" h="1028700">
                  <a:moveTo>
                    <a:pt x="2817812" y="1019175"/>
                  </a:moveTo>
                  <a:lnTo>
                    <a:pt x="2813050" y="1019175"/>
                  </a:lnTo>
                  <a:lnTo>
                    <a:pt x="2808287" y="1023937"/>
                  </a:lnTo>
                  <a:lnTo>
                    <a:pt x="2817812" y="1023937"/>
                  </a:lnTo>
                  <a:lnTo>
                    <a:pt x="2817812" y="1019175"/>
                  </a:lnTo>
                  <a:close/>
                </a:path>
                <a:path w="2818129" h="1028700">
                  <a:moveTo>
                    <a:pt x="9525" y="4762"/>
                  </a:moveTo>
                  <a:lnTo>
                    <a:pt x="4762" y="9525"/>
                  </a:lnTo>
                  <a:lnTo>
                    <a:pt x="9525" y="9525"/>
                  </a:lnTo>
                  <a:lnTo>
                    <a:pt x="9525" y="4762"/>
                  </a:lnTo>
                  <a:close/>
                </a:path>
                <a:path w="2818129" h="1028700">
                  <a:moveTo>
                    <a:pt x="2808287" y="4762"/>
                  </a:moveTo>
                  <a:lnTo>
                    <a:pt x="9525" y="4762"/>
                  </a:lnTo>
                  <a:lnTo>
                    <a:pt x="9525" y="9525"/>
                  </a:lnTo>
                  <a:lnTo>
                    <a:pt x="2808287" y="9525"/>
                  </a:lnTo>
                  <a:lnTo>
                    <a:pt x="2808287" y="4762"/>
                  </a:lnTo>
                  <a:close/>
                </a:path>
                <a:path w="2818129" h="1028700">
                  <a:moveTo>
                    <a:pt x="2817812" y="4762"/>
                  </a:moveTo>
                  <a:lnTo>
                    <a:pt x="2808287" y="4762"/>
                  </a:lnTo>
                  <a:lnTo>
                    <a:pt x="2813050" y="9525"/>
                  </a:lnTo>
                  <a:lnTo>
                    <a:pt x="2817812" y="9525"/>
                  </a:lnTo>
                  <a:lnTo>
                    <a:pt x="2817812" y="4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44665" y="1317612"/>
              <a:ext cx="2178499" cy="389305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16510" y="1339799"/>
              <a:ext cx="1934219" cy="415594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0">
                <a:latin typeface="Microsoft YaHei UI"/>
                <a:cs typeface="Microsoft YaHei UI"/>
              </a:rPr>
              <a:t>28</a:t>
            </a:r>
            <a:endParaRPr sz="1400">
              <a:latin typeface="Microsoft YaHei UI"/>
              <a:cs typeface="Microsoft YaHei U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34192" y="794937"/>
            <a:ext cx="3590290" cy="200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>
                <a:latin typeface="Microsoft JhengHei UI"/>
                <a:cs typeface="Microsoft JhengHei UI"/>
              </a:rPr>
              <a:t>该算法将数据点划分（“分割”）</a:t>
            </a:r>
            <a:r>
              <a:rPr dirty="0" sz="1150" spc="145">
                <a:latin typeface="Microsoft JhengHei UI"/>
                <a:cs typeface="Microsoft JhengHei UI"/>
              </a:rPr>
              <a:t>成 </a:t>
            </a:r>
            <a:r>
              <a:rPr dirty="0" sz="1150" spc="70">
                <a:latin typeface="Microsoft JhengHei UI"/>
                <a:cs typeface="Microsoft JhengHei UI"/>
              </a:rPr>
              <a:t>K</a:t>
            </a:r>
            <a:r>
              <a:rPr dirty="0" sz="1150" spc="15">
                <a:latin typeface="Microsoft JhengHei UI"/>
                <a:cs typeface="Microsoft JhengHei UI"/>
              </a:rPr>
              <a:t> 个“不相交”的⼦集</a:t>
            </a:r>
            <a:endParaRPr sz="115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6492" y="1098803"/>
            <a:ext cx="1153795" cy="896619"/>
            <a:chOff x="126492" y="1098803"/>
            <a:chExt cx="1153795" cy="896619"/>
          </a:xfrm>
        </p:grpSpPr>
        <p:sp>
          <p:nvSpPr>
            <p:cNvPr id="3" name="object 3" descr=""/>
            <p:cNvSpPr/>
            <p:nvPr/>
          </p:nvSpPr>
          <p:spPr>
            <a:xfrm>
              <a:off x="417576" y="1098803"/>
              <a:ext cx="382905" cy="474345"/>
            </a:xfrm>
            <a:custGeom>
              <a:avLst/>
              <a:gdLst/>
              <a:ahLst/>
              <a:cxnLst/>
              <a:rect l="l" t="t" r="r" b="b"/>
              <a:pathLst>
                <a:path w="382905" h="474344">
                  <a:moveTo>
                    <a:pt x="0" y="473963"/>
                  </a:moveTo>
                  <a:lnTo>
                    <a:pt x="382523" y="473963"/>
                  </a:lnTo>
                  <a:lnTo>
                    <a:pt x="382523" y="0"/>
                  </a:lnTo>
                  <a:lnTo>
                    <a:pt x="0" y="0"/>
                  </a:lnTo>
                  <a:lnTo>
                    <a:pt x="0" y="473963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00" y="1098803"/>
              <a:ext cx="329184" cy="47396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41019" y="1520951"/>
              <a:ext cx="370840" cy="474345"/>
            </a:xfrm>
            <a:custGeom>
              <a:avLst/>
              <a:gdLst/>
              <a:ahLst/>
              <a:cxnLst/>
              <a:rect l="l" t="t" r="r" b="b"/>
              <a:pathLst>
                <a:path w="370840" h="474344">
                  <a:moveTo>
                    <a:pt x="0" y="473963"/>
                  </a:moveTo>
                  <a:lnTo>
                    <a:pt x="370332" y="473963"/>
                  </a:lnTo>
                  <a:lnTo>
                    <a:pt x="370332" y="0"/>
                  </a:lnTo>
                  <a:lnTo>
                    <a:pt x="0" y="0"/>
                  </a:lnTo>
                  <a:lnTo>
                    <a:pt x="0" y="47396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1351" y="1520951"/>
              <a:ext cx="368807" cy="47396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492" y="1447799"/>
              <a:ext cx="560832" cy="422148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443483" y="990600"/>
            <a:ext cx="8239125" cy="5820410"/>
            <a:chOff x="443483" y="990600"/>
            <a:chExt cx="8239125" cy="5820410"/>
          </a:xfrm>
        </p:grpSpPr>
        <p:sp>
          <p:nvSpPr>
            <p:cNvPr id="9" name="object 9" descr=""/>
            <p:cNvSpPr/>
            <p:nvPr/>
          </p:nvSpPr>
          <p:spPr>
            <a:xfrm>
              <a:off x="762000" y="990599"/>
              <a:ext cx="32384" cy="927100"/>
            </a:xfrm>
            <a:custGeom>
              <a:avLst/>
              <a:gdLst/>
              <a:ahLst/>
              <a:cxnLst/>
              <a:rect l="l" t="t" r="r" b="b"/>
              <a:pathLst>
                <a:path w="32384" h="927100">
                  <a:moveTo>
                    <a:pt x="32004" y="822960"/>
                  </a:moveTo>
                  <a:lnTo>
                    <a:pt x="0" y="822960"/>
                  </a:lnTo>
                  <a:lnTo>
                    <a:pt x="0" y="926592"/>
                  </a:lnTo>
                  <a:lnTo>
                    <a:pt x="32004" y="926592"/>
                  </a:lnTo>
                  <a:lnTo>
                    <a:pt x="32004" y="822960"/>
                  </a:lnTo>
                  <a:close/>
                </a:path>
                <a:path w="32384" h="927100">
                  <a:moveTo>
                    <a:pt x="32004" y="0"/>
                  </a:moveTo>
                  <a:lnTo>
                    <a:pt x="0" y="0"/>
                  </a:lnTo>
                  <a:lnTo>
                    <a:pt x="0" y="790956"/>
                  </a:lnTo>
                  <a:lnTo>
                    <a:pt x="32004" y="790956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483" y="1781555"/>
              <a:ext cx="8226552" cy="3200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467867" y="1917191"/>
              <a:ext cx="8214359" cy="4893945"/>
            </a:xfrm>
            <a:custGeom>
              <a:avLst/>
              <a:gdLst/>
              <a:ahLst/>
              <a:cxnLst/>
              <a:rect l="l" t="t" r="r" b="b"/>
              <a:pathLst>
                <a:path w="8214359" h="4893945">
                  <a:moveTo>
                    <a:pt x="8214359" y="0"/>
                  </a:moveTo>
                  <a:lnTo>
                    <a:pt x="0" y="0"/>
                  </a:lnTo>
                  <a:lnTo>
                    <a:pt x="0" y="4893564"/>
                  </a:lnTo>
                  <a:lnTo>
                    <a:pt x="8214359" y="4893564"/>
                  </a:lnTo>
                  <a:lnTo>
                    <a:pt x="8214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46277" y="1934616"/>
            <a:ext cx="8054340" cy="4763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62610">
              <a:lnSpc>
                <a:spcPct val="100000"/>
              </a:lnSpc>
              <a:spcBef>
                <a:spcPts val="100"/>
              </a:spcBef>
            </a:pPr>
            <a:r>
              <a:rPr dirty="0" sz="2400" spc="-60" b="1">
                <a:latin typeface="Microsoft YaHei UI"/>
                <a:cs typeface="Microsoft YaHei UI"/>
              </a:rPr>
              <a:t>Step</a:t>
            </a:r>
            <a:r>
              <a:rPr dirty="0" sz="2400" spc="-120" b="1">
                <a:latin typeface="Microsoft YaHei UI"/>
                <a:cs typeface="Microsoft YaHei UI"/>
              </a:rPr>
              <a:t> </a:t>
            </a:r>
            <a:r>
              <a:rPr dirty="0" sz="2400" b="1">
                <a:latin typeface="Microsoft YaHei UI"/>
                <a:cs typeface="Microsoft YaHei UI"/>
              </a:rPr>
              <a:t>1</a:t>
            </a:r>
            <a:r>
              <a:rPr dirty="0" sz="2400">
                <a:latin typeface="Microsoft YaHei UI"/>
                <a:cs typeface="Microsoft YaHei UI"/>
              </a:rPr>
              <a:t>:</a:t>
            </a:r>
            <a:r>
              <a:rPr dirty="0" sz="2400" spc="-180">
                <a:latin typeface="Microsoft YaHei UI"/>
                <a:cs typeface="Microsoft YaHei UI"/>
              </a:rPr>
              <a:t> </a:t>
            </a:r>
            <a:r>
              <a:rPr dirty="0" sz="2400" spc="-105">
                <a:latin typeface="Microsoft YaHei UI"/>
                <a:cs typeface="Microsoft YaHei UI"/>
              </a:rPr>
              <a:t>Initially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50">
                <a:latin typeface="Microsoft YaHei UI"/>
                <a:cs typeface="Microsoft YaHei UI"/>
              </a:rPr>
              <a:t>randomly</a:t>
            </a:r>
            <a:r>
              <a:rPr dirty="0" sz="2400" spc="-25">
                <a:latin typeface="Microsoft YaHei UI"/>
                <a:cs typeface="Microsoft YaHei UI"/>
              </a:rPr>
              <a:t> </a:t>
            </a:r>
            <a:r>
              <a:rPr dirty="0" sz="2400" spc="-40">
                <a:latin typeface="Microsoft YaHei UI"/>
                <a:cs typeface="Microsoft YaHei UI"/>
              </a:rPr>
              <a:t>assign</a:t>
            </a:r>
            <a:r>
              <a:rPr dirty="0" sz="2400" spc="-25"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data</a:t>
            </a:r>
            <a:r>
              <a:rPr dirty="0" sz="2400" spc="-20">
                <a:latin typeface="Microsoft YaHei UI"/>
                <a:cs typeface="Microsoft YaHei UI"/>
              </a:rPr>
              <a:t> </a:t>
            </a:r>
            <a:r>
              <a:rPr dirty="0" sz="2400" spc="-145">
                <a:latin typeface="Microsoft YaHei UI"/>
                <a:cs typeface="Microsoft YaHei UI"/>
              </a:rPr>
              <a:t>points</a:t>
            </a:r>
            <a:r>
              <a:rPr dirty="0" sz="2400" spc="-25">
                <a:latin typeface="Microsoft YaHei UI"/>
                <a:cs typeface="Microsoft YaHei UI"/>
              </a:rPr>
              <a:t> </a:t>
            </a:r>
            <a:r>
              <a:rPr dirty="0" sz="2400" spc="-310">
                <a:latin typeface="Microsoft YaHei UI"/>
                <a:cs typeface="Microsoft YaHei UI"/>
              </a:rPr>
              <a:t>to</a:t>
            </a:r>
            <a:r>
              <a:rPr dirty="0" sz="2400" spc="130">
                <a:latin typeface="Microsoft YaHei UI"/>
                <a:cs typeface="Microsoft YaHei UI"/>
              </a:rPr>
              <a:t> </a:t>
            </a:r>
            <a:r>
              <a:rPr dirty="0" sz="2400" spc="-130">
                <a:latin typeface="Microsoft YaHei UI"/>
                <a:cs typeface="Microsoft YaHei UI"/>
              </a:rPr>
              <a:t>one</a:t>
            </a:r>
            <a:r>
              <a:rPr dirty="0" sz="2400" spc="-20">
                <a:latin typeface="Microsoft YaHei UI"/>
                <a:cs typeface="Microsoft YaHei UI"/>
              </a:rPr>
              <a:t> </a:t>
            </a:r>
            <a:r>
              <a:rPr dirty="0" sz="2400" spc="-254">
                <a:latin typeface="Microsoft YaHei UI"/>
                <a:cs typeface="Microsoft YaHei UI"/>
              </a:rPr>
              <a:t>of</a:t>
            </a:r>
            <a:r>
              <a:rPr dirty="0" sz="2400" spc="80">
                <a:latin typeface="Microsoft YaHei UI"/>
                <a:cs typeface="Microsoft YaHei UI"/>
              </a:rPr>
              <a:t> </a:t>
            </a:r>
            <a:r>
              <a:rPr dirty="0" sz="2400" spc="10">
                <a:latin typeface="Microsoft YaHei UI"/>
                <a:cs typeface="Microsoft YaHei UI"/>
              </a:rPr>
              <a:t>K </a:t>
            </a:r>
            <a:r>
              <a:rPr dirty="0" sz="2400" spc="-40">
                <a:latin typeface="Microsoft YaHei UI"/>
                <a:cs typeface="Microsoft YaHei UI"/>
              </a:rPr>
              <a:t>clusters.</a:t>
            </a:r>
            <a:r>
              <a:rPr dirty="0" sz="2400" spc="-70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Each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data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45">
                <a:latin typeface="Microsoft YaHei UI"/>
                <a:cs typeface="Microsoft YaHei UI"/>
              </a:rPr>
              <a:t>points</a:t>
            </a:r>
            <a:r>
              <a:rPr dirty="0" sz="2400" spc="-30">
                <a:latin typeface="Microsoft YaHei UI"/>
                <a:cs typeface="Microsoft YaHei UI"/>
              </a:rPr>
              <a:t> </a:t>
            </a:r>
            <a:r>
              <a:rPr dirty="0" sz="2400" spc="-130">
                <a:latin typeface="Microsoft YaHei UI"/>
                <a:cs typeface="Microsoft YaHei UI"/>
              </a:rPr>
              <a:t>will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55">
                <a:latin typeface="Microsoft YaHei UI"/>
                <a:cs typeface="Microsoft YaHei UI"/>
              </a:rPr>
              <a:t>then</a:t>
            </a:r>
            <a:r>
              <a:rPr dirty="0" sz="2400" spc="-25">
                <a:latin typeface="Microsoft YaHei UI"/>
                <a:cs typeface="Microsoft YaHei UI"/>
              </a:rPr>
              <a:t> </a:t>
            </a:r>
            <a:r>
              <a:rPr dirty="0" sz="2400" spc="-45">
                <a:latin typeface="Microsoft YaHei UI"/>
                <a:cs typeface="Microsoft YaHei UI"/>
              </a:rPr>
              <a:t>have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a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cluster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 spc="-20">
                <a:latin typeface="Microsoft YaHei UI"/>
                <a:cs typeface="Microsoft YaHei UI"/>
              </a:rPr>
              <a:t>label. </a:t>
            </a:r>
            <a:r>
              <a:rPr dirty="0" sz="2400" spc="-60" b="1">
                <a:latin typeface="Microsoft YaHei UI"/>
                <a:cs typeface="Microsoft YaHei UI"/>
              </a:rPr>
              <a:t>Step</a:t>
            </a:r>
            <a:r>
              <a:rPr dirty="0" sz="2400" spc="-120" b="1">
                <a:latin typeface="Microsoft YaHei UI"/>
                <a:cs typeface="Microsoft YaHei UI"/>
              </a:rPr>
              <a:t> </a:t>
            </a:r>
            <a:r>
              <a:rPr dirty="0" sz="2400" b="1">
                <a:latin typeface="Microsoft YaHei UI"/>
                <a:cs typeface="Microsoft YaHei UI"/>
              </a:rPr>
              <a:t>2</a:t>
            </a:r>
            <a:r>
              <a:rPr dirty="0" sz="2400">
                <a:latin typeface="Microsoft YaHei UI"/>
                <a:cs typeface="Microsoft YaHei UI"/>
              </a:rPr>
              <a:t>:</a:t>
            </a:r>
            <a:r>
              <a:rPr dirty="0" sz="2400" spc="-150">
                <a:latin typeface="Microsoft YaHei UI"/>
                <a:cs typeface="Microsoft YaHei UI"/>
              </a:rPr>
              <a:t> </a:t>
            </a:r>
            <a:r>
              <a:rPr dirty="0" sz="2400" spc="-50">
                <a:latin typeface="Microsoft YaHei UI"/>
                <a:cs typeface="Microsoft YaHei UI"/>
              </a:rPr>
              <a:t>Calculate</a:t>
            </a:r>
            <a:r>
              <a:rPr dirty="0" sz="2400" spc="-85">
                <a:latin typeface="Microsoft YaHei UI"/>
                <a:cs typeface="Microsoft YaHei UI"/>
              </a:rPr>
              <a:t> </a:t>
            </a:r>
            <a:r>
              <a:rPr dirty="0" sz="2400" spc="-145">
                <a:latin typeface="Microsoft YaHei UI"/>
                <a:cs typeface="Microsoft YaHei UI"/>
              </a:rPr>
              <a:t>the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mean</a:t>
            </a:r>
            <a:r>
              <a:rPr dirty="0" sz="2400" spc="-70">
                <a:latin typeface="Microsoft YaHei UI"/>
                <a:cs typeface="Microsoft YaHei UI"/>
              </a:rPr>
              <a:t> </a:t>
            </a:r>
            <a:r>
              <a:rPr dirty="0" sz="2400" spc="-190">
                <a:latin typeface="Microsoft YaHei UI"/>
                <a:cs typeface="Microsoft YaHei UI"/>
              </a:rPr>
              <a:t>of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20">
                <a:latin typeface="Microsoft YaHei UI"/>
                <a:cs typeface="Microsoft YaHei UI"/>
              </a:rPr>
              <a:t>each</a:t>
            </a:r>
            <a:r>
              <a:rPr dirty="0" sz="2400" spc="-80">
                <a:latin typeface="Microsoft YaHei UI"/>
                <a:cs typeface="Microsoft YaHei UI"/>
              </a:rPr>
              <a:t> cluster</a:t>
            </a:r>
            <a:r>
              <a:rPr dirty="0" sz="2400" spc="-85">
                <a:latin typeface="Microsoft YaHei UI"/>
                <a:cs typeface="Microsoft YaHei UI"/>
              </a:rPr>
              <a:t> </a:t>
            </a:r>
            <a:r>
              <a:rPr dirty="0" sz="2400" spc="80">
                <a:latin typeface="Microsoft YaHei UI"/>
                <a:cs typeface="Microsoft YaHei UI"/>
              </a:rPr>
              <a:t>C.</a:t>
            </a:r>
            <a:endParaRPr sz="2400">
              <a:latin typeface="Microsoft YaHei UI"/>
              <a:cs typeface="Microsoft YaHei UI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2400" spc="-60" b="1">
                <a:latin typeface="Microsoft YaHei UI"/>
                <a:cs typeface="Microsoft YaHei UI"/>
              </a:rPr>
              <a:t>Step</a:t>
            </a:r>
            <a:r>
              <a:rPr dirty="0" sz="2400" spc="-120" b="1">
                <a:latin typeface="Microsoft YaHei UI"/>
                <a:cs typeface="Microsoft YaHei UI"/>
              </a:rPr>
              <a:t> </a:t>
            </a:r>
            <a:r>
              <a:rPr dirty="0" sz="2400" b="1">
                <a:latin typeface="Microsoft YaHei UI"/>
                <a:cs typeface="Microsoft YaHei UI"/>
              </a:rPr>
              <a:t>3</a:t>
            </a:r>
            <a:r>
              <a:rPr dirty="0" sz="2400">
                <a:latin typeface="Microsoft YaHei UI"/>
                <a:cs typeface="Microsoft YaHei UI"/>
              </a:rPr>
              <a:t>:</a:t>
            </a:r>
            <a:r>
              <a:rPr dirty="0" sz="2400" spc="-180">
                <a:latin typeface="Microsoft YaHei UI"/>
                <a:cs typeface="Microsoft YaHei UI"/>
              </a:rPr>
              <a:t> </a:t>
            </a:r>
            <a:r>
              <a:rPr dirty="0" sz="2400" spc="-20">
                <a:latin typeface="Microsoft YaHei UI"/>
                <a:cs typeface="Microsoft YaHei UI"/>
              </a:rPr>
              <a:t>Check</a:t>
            </a:r>
            <a:r>
              <a:rPr dirty="0" sz="2400" spc="-120">
                <a:latin typeface="Microsoft YaHei UI"/>
                <a:cs typeface="Microsoft YaHei UI"/>
              </a:rPr>
              <a:t> </a:t>
            </a:r>
            <a:r>
              <a:rPr dirty="0" sz="2400" spc="-135">
                <a:latin typeface="Microsoft YaHei UI"/>
                <a:cs typeface="Microsoft YaHei UI"/>
              </a:rPr>
              <a:t>whether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20">
                <a:latin typeface="Microsoft YaHei UI"/>
                <a:cs typeface="Microsoft YaHei UI"/>
              </a:rPr>
              <a:t>each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data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195">
                <a:latin typeface="Microsoft YaHei UI"/>
                <a:cs typeface="Microsoft YaHei UI"/>
              </a:rPr>
              <a:t>point</a:t>
            </a:r>
            <a:r>
              <a:rPr dirty="0" sz="2400" spc="15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has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 spc="-155">
                <a:latin typeface="Microsoft YaHei UI"/>
                <a:cs typeface="Microsoft YaHei UI"/>
              </a:rPr>
              <a:t>the</a:t>
            </a:r>
            <a:r>
              <a:rPr dirty="0" sz="2400" spc="-25">
                <a:latin typeface="Microsoft YaHei UI"/>
                <a:cs typeface="Microsoft YaHei UI"/>
              </a:rPr>
              <a:t> </a:t>
            </a:r>
            <a:r>
              <a:rPr dirty="0" sz="2400" spc="-175">
                <a:latin typeface="Microsoft YaHei UI"/>
                <a:cs typeface="Microsoft YaHei UI"/>
              </a:rPr>
              <a:t>right</a:t>
            </a:r>
            <a:r>
              <a:rPr dirty="0" sz="2400" spc="-5">
                <a:latin typeface="Microsoft YaHei UI"/>
                <a:cs typeface="Microsoft YaHei UI"/>
              </a:rPr>
              <a:t> </a:t>
            </a:r>
            <a:r>
              <a:rPr dirty="0" sz="2400" spc="-40">
                <a:latin typeface="Microsoft YaHei UI"/>
                <a:cs typeface="Microsoft YaHei UI"/>
              </a:rPr>
              <a:t>cluster </a:t>
            </a:r>
            <a:r>
              <a:rPr dirty="0" sz="2400" spc="-10">
                <a:latin typeface="Microsoft YaHei UI"/>
                <a:cs typeface="Microsoft YaHei UI"/>
              </a:rPr>
              <a:t>label.</a:t>
            </a:r>
            <a:endParaRPr sz="2400">
              <a:latin typeface="Microsoft YaHei UI"/>
              <a:cs typeface="Microsoft YaHei UI"/>
            </a:endParaRPr>
          </a:p>
          <a:p>
            <a:pPr marL="12700" marR="244475" indent="1013460">
              <a:lnSpc>
                <a:spcPct val="100000"/>
              </a:lnSpc>
            </a:pPr>
            <a:r>
              <a:rPr dirty="0" sz="2400" spc="-10">
                <a:latin typeface="Microsoft YaHei UI"/>
                <a:cs typeface="Microsoft YaHei UI"/>
              </a:rPr>
              <a:t>For</a:t>
            </a:r>
            <a:r>
              <a:rPr dirty="0" sz="2400" spc="-170">
                <a:latin typeface="Microsoft YaHei UI"/>
                <a:cs typeface="Microsoft YaHei UI"/>
              </a:rPr>
              <a:t> </a:t>
            </a:r>
            <a:r>
              <a:rPr dirty="0" sz="2400" spc="-20">
                <a:latin typeface="Microsoft YaHei UI"/>
                <a:cs typeface="Microsoft YaHei UI"/>
              </a:rPr>
              <a:t>each</a:t>
            </a:r>
            <a:r>
              <a:rPr dirty="0" sz="2400" spc="-140">
                <a:latin typeface="Microsoft YaHei UI"/>
                <a:cs typeface="Microsoft YaHei UI"/>
              </a:rPr>
              <a:t> </a:t>
            </a:r>
            <a:r>
              <a:rPr dirty="0" sz="2400" spc="-110">
                <a:latin typeface="Microsoft YaHei UI"/>
                <a:cs typeface="Microsoft YaHei UI"/>
              </a:rPr>
              <a:t>data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 spc="-140">
                <a:latin typeface="Microsoft YaHei UI"/>
                <a:cs typeface="Microsoft YaHei UI"/>
              </a:rPr>
              <a:t>point,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65">
                <a:latin typeface="Microsoft YaHei UI"/>
                <a:cs typeface="Microsoft YaHei UI"/>
              </a:rPr>
              <a:t>calculate</a:t>
            </a:r>
            <a:r>
              <a:rPr dirty="0" sz="2400" spc="-95">
                <a:latin typeface="Microsoft YaHei UI"/>
                <a:cs typeface="Microsoft YaHei UI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its</a:t>
            </a:r>
            <a:r>
              <a:rPr dirty="0" sz="2400" spc="-100">
                <a:latin typeface="Microsoft YaHei UI"/>
                <a:cs typeface="Microsoft YaHei UI"/>
              </a:rPr>
              <a:t> </a:t>
            </a:r>
            <a:r>
              <a:rPr dirty="0" sz="2400" spc="-60">
                <a:latin typeface="Microsoft YaHei UI"/>
                <a:cs typeface="Microsoft YaHei UI"/>
              </a:rPr>
              <a:t>distances</a:t>
            </a:r>
            <a:r>
              <a:rPr dirty="0" sz="2400" spc="-95">
                <a:latin typeface="Microsoft YaHei UI"/>
                <a:cs typeface="Microsoft YaHei UI"/>
              </a:rPr>
              <a:t> </a:t>
            </a:r>
            <a:r>
              <a:rPr dirty="0" sz="2400" spc="-225">
                <a:latin typeface="Microsoft YaHei UI"/>
                <a:cs typeface="Microsoft YaHei UI"/>
              </a:rPr>
              <a:t>to</a:t>
            </a:r>
            <a:r>
              <a:rPr dirty="0" sz="2400" spc="-45">
                <a:latin typeface="Microsoft YaHei UI"/>
                <a:cs typeface="Microsoft YaHei UI"/>
              </a:rPr>
              <a:t> all</a:t>
            </a:r>
            <a:r>
              <a:rPr dirty="0" sz="2400" spc="-95">
                <a:latin typeface="Microsoft YaHei UI"/>
                <a:cs typeface="Microsoft YaHei UI"/>
              </a:rPr>
              <a:t> </a:t>
            </a:r>
            <a:r>
              <a:rPr dirty="0" sz="2400" spc="10">
                <a:latin typeface="Microsoft YaHei UI"/>
                <a:cs typeface="Microsoft YaHei UI"/>
              </a:rPr>
              <a:t>K </a:t>
            </a:r>
            <a:r>
              <a:rPr dirty="0" sz="2400" spc="-45">
                <a:latin typeface="Microsoft YaHei UI"/>
                <a:cs typeface="Microsoft YaHei UI"/>
              </a:rPr>
              <a:t>centers.</a:t>
            </a:r>
            <a:r>
              <a:rPr dirty="0" sz="2400" spc="-90">
                <a:latin typeface="Microsoft YaHei UI"/>
                <a:cs typeface="Microsoft YaHei UI"/>
              </a:rPr>
              <a:t> If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145">
                <a:latin typeface="Microsoft YaHei UI"/>
                <a:cs typeface="Microsoft YaHei UI"/>
              </a:rPr>
              <a:t>the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95">
                <a:latin typeface="Microsoft YaHei UI"/>
                <a:cs typeface="Microsoft YaHei UI"/>
              </a:rPr>
              <a:t>minimum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85">
                <a:latin typeface="Microsoft YaHei UI"/>
                <a:cs typeface="Microsoft YaHei UI"/>
              </a:rPr>
              <a:t>distance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is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spc="-200">
                <a:latin typeface="Microsoft YaHei UI"/>
                <a:cs typeface="Microsoft YaHei UI"/>
              </a:rPr>
              <a:t>not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145">
                <a:latin typeface="Microsoft YaHei UI"/>
                <a:cs typeface="Microsoft YaHei UI"/>
              </a:rPr>
              <a:t>the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65">
                <a:latin typeface="Microsoft YaHei UI"/>
                <a:cs typeface="Microsoft YaHei UI"/>
              </a:rPr>
              <a:t>value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spc="-170">
                <a:latin typeface="Microsoft YaHei UI"/>
                <a:cs typeface="Microsoft YaHei UI"/>
              </a:rPr>
              <a:t>for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20">
                <a:latin typeface="Microsoft YaHei UI"/>
                <a:cs typeface="Microsoft YaHei UI"/>
              </a:rPr>
              <a:t>this </a:t>
            </a:r>
            <a:r>
              <a:rPr dirty="0" sz="2400" spc="-110">
                <a:latin typeface="Microsoft YaHei UI"/>
                <a:cs typeface="Microsoft YaHei UI"/>
              </a:rPr>
              <a:t>data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90">
                <a:latin typeface="Microsoft YaHei UI"/>
                <a:cs typeface="Microsoft YaHei UI"/>
              </a:rPr>
              <a:t>point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225">
                <a:latin typeface="Microsoft YaHei UI"/>
                <a:cs typeface="Microsoft YaHei UI"/>
              </a:rPr>
              <a:t>to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its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cluster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70">
                <a:latin typeface="Microsoft YaHei UI"/>
                <a:cs typeface="Microsoft YaHei UI"/>
              </a:rPr>
              <a:t>center,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45">
                <a:latin typeface="Microsoft YaHei UI"/>
                <a:cs typeface="Microsoft YaHei UI"/>
              </a:rPr>
              <a:t>the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80">
                <a:latin typeface="Microsoft YaHei UI"/>
                <a:cs typeface="Microsoft YaHei UI"/>
              </a:rPr>
              <a:t>cluster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55">
                <a:latin typeface="Microsoft YaHei UI"/>
                <a:cs typeface="Microsoft YaHei UI"/>
              </a:rPr>
              <a:t>identity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90">
                <a:latin typeface="Microsoft YaHei UI"/>
                <a:cs typeface="Microsoft YaHei UI"/>
              </a:rPr>
              <a:t>of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20">
                <a:latin typeface="Microsoft YaHei UI"/>
                <a:cs typeface="Microsoft YaHei UI"/>
              </a:rPr>
              <a:t>this </a:t>
            </a:r>
            <a:r>
              <a:rPr dirty="0" sz="2400" spc="-110">
                <a:latin typeface="Microsoft YaHei UI"/>
                <a:cs typeface="Microsoft YaHei UI"/>
              </a:rPr>
              <a:t>data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90">
                <a:latin typeface="Microsoft YaHei UI"/>
                <a:cs typeface="Microsoft YaHei UI"/>
              </a:rPr>
              <a:t>point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30">
                <a:latin typeface="Microsoft YaHei UI"/>
                <a:cs typeface="Microsoft YaHei UI"/>
              </a:rPr>
              <a:t>will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 spc="-145">
                <a:latin typeface="Microsoft YaHei UI"/>
                <a:cs typeface="Microsoft YaHei UI"/>
              </a:rPr>
              <a:t>then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25">
                <a:latin typeface="Microsoft YaHei UI"/>
                <a:cs typeface="Microsoft YaHei UI"/>
              </a:rPr>
              <a:t>be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 spc="-160">
                <a:latin typeface="Microsoft YaHei UI"/>
                <a:cs typeface="Microsoft YaHei UI"/>
              </a:rPr>
              <a:t>updated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 spc="-225">
                <a:latin typeface="Microsoft YaHei UI"/>
                <a:cs typeface="Microsoft YaHei UI"/>
              </a:rPr>
              <a:t>to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 spc="-145">
                <a:latin typeface="Microsoft YaHei UI"/>
                <a:cs typeface="Microsoft YaHei UI"/>
              </a:rPr>
              <a:t>the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130">
                <a:latin typeface="Microsoft YaHei UI"/>
                <a:cs typeface="Microsoft YaHei UI"/>
              </a:rPr>
              <a:t>one</a:t>
            </a:r>
            <a:r>
              <a:rPr dirty="0" sz="2400" spc="-35">
                <a:latin typeface="Microsoft YaHei UI"/>
                <a:cs typeface="Microsoft YaHei UI"/>
              </a:rPr>
              <a:t> </a:t>
            </a:r>
            <a:r>
              <a:rPr dirty="0" sz="2400" spc="-160">
                <a:latin typeface="Microsoft YaHei UI"/>
                <a:cs typeface="Microsoft YaHei UI"/>
              </a:rPr>
              <a:t>that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60">
                <a:latin typeface="Microsoft YaHei UI"/>
                <a:cs typeface="Microsoft YaHei UI"/>
              </a:rPr>
              <a:t>gives</a:t>
            </a:r>
            <a:r>
              <a:rPr dirty="0" sz="2400" spc="-40">
                <a:latin typeface="Microsoft YaHei UI"/>
                <a:cs typeface="Microsoft YaHei UI"/>
              </a:rPr>
              <a:t> </a:t>
            </a:r>
            <a:r>
              <a:rPr dirty="0" sz="2400" spc="-25">
                <a:latin typeface="Microsoft YaHei UI"/>
                <a:cs typeface="Microsoft YaHei UI"/>
              </a:rPr>
              <a:t>the </a:t>
            </a:r>
            <a:r>
              <a:rPr dirty="0" sz="2400" spc="-195">
                <a:latin typeface="Microsoft YaHei UI"/>
                <a:cs typeface="Microsoft YaHei UI"/>
              </a:rPr>
              <a:t>minimum</a:t>
            </a:r>
            <a:r>
              <a:rPr dirty="0" sz="2400" spc="-5">
                <a:latin typeface="Microsoft YaHei UI"/>
                <a:cs typeface="Microsoft YaHei UI"/>
              </a:rPr>
              <a:t> </a:t>
            </a:r>
            <a:r>
              <a:rPr dirty="0" sz="2400" spc="-10">
                <a:latin typeface="Microsoft YaHei UI"/>
                <a:cs typeface="Microsoft YaHei UI"/>
              </a:rPr>
              <a:t>distance.</a:t>
            </a:r>
            <a:endParaRPr sz="2400">
              <a:latin typeface="Microsoft YaHei UI"/>
              <a:cs typeface="Microsoft YaHei UI"/>
            </a:endParaRPr>
          </a:p>
          <a:p>
            <a:pPr marL="12700" marR="243204">
              <a:lnSpc>
                <a:spcPct val="97700"/>
              </a:lnSpc>
              <a:spcBef>
                <a:spcPts val="65"/>
              </a:spcBef>
              <a:tabLst>
                <a:tab pos="1180465" algn="l"/>
              </a:tabLst>
            </a:pPr>
            <a:r>
              <a:rPr dirty="0" sz="2400" spc="-60" b="1">
                <a:latin typeface="Microsoft YaHei UI"/>
                <a:cs typeface="Microsoft YaHei UI"/>
              </a:rPr>
              <a:t>Step</a:t>
            </a:r>
            <a:r>
              <a:rPr dirty="0" sz="2400" spc="-120" b="1">
                <a:latin typeface="Microsoft YaHei UI"/>
                <a:cs typeface="Microsoft YaHei UI"/>
              </a:rPr>
              <a:t> </a:t>
            </a:r>
            <a:r>
              <a:rPr dirty="0" sz="2400" spc="-40" b="1">
                <a:latin typeface="Microsoft YaHei UI"/>
                <a:cs typeface="Microsoft YaHei UI"/>
              </a:rPr>
              <a:t>4</a:t>
            </a:r>
            <a:r>
              <a:rPr dirty="0" sz="2400" spc="-40">
                <a:latin typeface="Microsoft YaHei UI"/>
                <a:cs typeface="Microsoft YaHei UI"/>
              </a:rPr>
              <a:t>:</a:t>
            </a:r>
            <a:r>
              <a:rPr dirty="0" sz="2400" spc="-185">
                <a:latin typeface="Microsoft YaHei UI"/>
                <a:cs typeface="Microsoft YaHei UI"/>
              </a:rPr>
              <a:t> </a:t>
            </a:r>
            <a:r>
              <a:rPr dirty="0" sz="2400" spc="-140">
                <a:latin typeface="Microsoft YaHei UI"/>
                <a:cs typeface="Microsoft YaHei UI"/>
              </a:rPr>
              <a:t>After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20">
                <a:latin typeface="Microsoft YaHei UI"/>
                <a:cs typeface="Microsoft YaHei UI"/>
              </a:rPr>
              <a:t>each</a:t>
            </a:r>
            <a:r>
              <a:rPr dirty="0" sz="2400" spc="-90">
                <a:latin typeface="Microsoft YaHei UI"/>
                <a:cs typeface="Microsoft YaHei UI"/>
              </a:rPr>
              <a:t> </a:t>
            </a:r>
            <a:r>
              <a:rPr dirty="0" sz="2400" spc="-120">
                <a:latin typeface="Microsoft YaHei UI"/>
                <a:cs typeface="Microsoft YaHei UI"/>
              </a:rPr>
              <a:t>epoch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100">
                <a:latin typeface="Microsoft YaHei UI"/>
                <a:cs typeface="Microsoft YaHei UI"/>
              </a:rPr>
              <a:t>checking</a:t>
            </a:r>
            <a:r>
              <a:rPr dirty="0" sz="2400" spc="-60">
                <a:latin typeface="Microsoft YaHei UI"/>
                <a:cs typeface="Microsoft YaHei UI"/>
              </a:rPr>
              <a:t> </a:t>
            </a:r>
            <a:r>
              <a:rPr dirty="0" sz="2400" spc="-90">
                <a:latin typeface="Microsoft YaHei UI"/>
                <a:cs typeface="Microsoft YaHei UI"/>
              </a:rPr>
              <a:t>(one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 spc="-170">
                <a:latin typeface="Microsoft YaHei UI"/>
                <a:cs typeface="Microsoft YaHei UI"/>
              </a:rPr>
              <a:t>turn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70">
                <a:latin typeface="Microsoft YaHei UI"/>
                <a:cs typeface="Microsoft YaHei UI"/>
              </a:rPr>
              <a:t>for</a:t>
            </a:r>
            <a:r>
              <a:rPr dirty="0" sz="2400" spc="-45">
                <a:latin typeface="Microsoft YaHei UI"/>
                <a:cs typeface="Microsoft YaHei UI"/>
              </a:rPr>
              <a:t> all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 spc="-20">
                <a:latin typeface="Microsoft YaHei UI"/>
                <a:cs typeface="Microsoft YaHei UI"/>
              </a:rPr>
              <a:t>data </a:t>
            </a:r>
            <a:r>
              <a:rPr dirty="0" sz="2400" spc="-10">
                <a:latin typeface="Microsoft YaHei UI"/>
                <a:cs typeface="Microsoft YaHei UI"/>
              </a:rPr>
              <a:t>points),</a:t>
            </a:r>
            <a:r>
              <a:rPr dirty="0" sz="2400">
                <a:latin typeface="Microsoft YaHei UI"/>
                <a:cs typeface="Microsoft YaHei UI"/>
              </a:rPr>
              <a:t>	</a:t>
            </a:r>
            <a:r>
              <a:rPr dirty="0" sz="2400" spc="-145">
                <a:latin typeface="Microsoft YaHei UI"/>
                <a:cs typeface="Microsoft YaHei UI"/>
              </a:rPr>
              <a:t>if</a:t>
            </a:r>
            <a:r>
              <a:rPr dirty="0" sz="2400" spc="-50">
                <a:latin typeface="Microsoft YaHei UI"/>
                <a:cs typeface="Microsoft YaHei UI"/>
              </a:rPr>
              <a:t> </a:t>
            </a:r>
            <a:r>
              <a:rPr dirty="0" sz="2400" spc="-180">
                <a:latin typeface="Microsoft YaHei UI"/>
                <a:cs typeface="Microsoft YaHei UI"/>
              </a:rPr>
              <a:t>no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70">
                <a:latin typeface="Microsoft YaHei UI"/>
                <a:cs typeface="Microsoft YaHei UI"/>
              </a:rPr>
              <a:t>updating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30">
                <a:latin typeface="Microsoft YaHei UI"/>
                <a:cs typeface="Microsoft YaHei UI"/>
              </a:rPr>
              <a:t>occurs,</a:t>
            </a:r>
            <a:r>
              <a:rPr dirty="0" sz="2400" spc="-70">
                <a:latin typeface="Microsoft YaHei UI"/>
                <a:cs typeface="Microsoft YaHei UI"/>
              </a:rPr>
              <a:t> </a:t>
            </a:r>
            <a:r>
              <a:rPr dirty="0" sz="2400">
                <a:latin typeface="Microsoft YaHei UI"/>
                <a:cs typeface="Microsoft YaHei UI"/>
              </a:rPr>
              <a:t>i.e,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spc="245">
                <a:latin typeface="Microsoft YaHei UI"/>
                <a:cs typeface="Microsoft YaHei UI"/>
              </a:rPr>
              <a:t>J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spc="-30">
                <a:latin typeface="Microsoft YaHei UI"/>
                <a:cs typeface="Microsoft YaHei UI"/>
              </a:rPr>
              <a:t>reaches</a:t>
            </a:r>
            <a:r>
              <a:rPr dirty="0" sz="2400" spc="-55">
                <a:latin typeface="Microsoft YaHei UI"/>
                <a:cs typeface="Microsoft YaHei UI"/>
              </a:rPr>
              <a:t> </a:t>
            </a:r>
            <a:r>
              <a:rPr dirty="0" sz="2400" spc="-145">
                <a:latin typeface="Microsoft YaHei UI"/>
                <a:cs typeface="Microsoft YaHei UI"/>
              </a:rPr>
              <a:t>the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155">
                <a:latin typeface="Microsoft YaHei UI"/>
                <a:cs typeface="Microsoft YaHei UI"/>
              </a:rPr>
              <a:t>minimum </a:t>
            </a:r>
            <a:r>
              <a:rPr dirty="0" sz="2400" spc="-30">
                <a:latin typeface="Microsoft YaHei UI"/>
                <a:cs typeface="Microsoft YaHei UI"/>
              </a:rPr>
              <a:t>value,</a:t>
            </a:r>
            <a:r>
              <a:rPr dirty="0" sz="2400" spc="-125">
                <a:latin typeface="Microsoft YaHei UI"/>
                <a:cs typeface="Microsoft YaHei UI"/>
              </a:rPr>
              <a:t> </a:t>
            </a:r>
            <a:r>
              <a:rPr dirty="0" sz="2400" spc="-145">
                <a:latin typeface="Microsoft YaHei UI"/>
                <a:cs typeface="Microsoft YaHei UI"/>
              </a:rPr>
              <a:t>then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95">
                <a:latin typeface="Microsoft YaHei UI"/>
                <a:cs typeface="Microsoft YaHei UI"/>
              </a:rPr>
              <a:t>stop;</a:t>
            </a:r>
            <a:r>
              <a:rPr dirty="0" sz="2400" spc="-70">
                <a:latin typeface="Microsoft YaHei UI"/>
                <a:cs typeface="Microsoft YaHei UI"/>
              </a:rPr>
              <a:t> </a:t>
            </a:r>
            <a:r>
              <a:rPr dirty="0" sz="2400" spc="-95">
                <a:latin typeface="Microsoft YaHei UI"/>
                <a:cs typeface="Microsoft YaHei UI"/>
              </a:rPr>
              <a:t>otherwise,</a:t>
            </a:r>
            <a:r>
              <a:rPr dirty="0" sz="2400" spc="-70">
                <a:latin typeface="Microsoft YaHei UI"/>
                <a:cs typeface="Microsoft YaHei UI"/>
              </a:rPr>
              <a:t> </a:t>
            </a:r>
            <a:r>
              <a:rPr dirty="0" sz="2400" spc="-215">
                <a:latin typeface="Microsoft YaHei UI"/>
                <a:cs typeface="Microsoft YaHei UI"/>
              </a:rPr>
              <a:t>go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70">
                <a:latin typeface="Microsoft YaHei UI"/>
                <a:cs typeface="Microsoft YaHei UI"/>
              </a:rPr>
              <a:t>back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 spc="-225">
                <a:latin typeface="Microsoft YaHei UI"/>
                <a:cs typeface="Microsoft YaHei UI"/>
              </a:rPr>
              <a:t>to</a:t>
            </a:r>
            <a:r>
              <a:rPr dirty="0" sz="2400" spc="-45">
                <a:latin typeface="Microsoft YaHei UI"/>
                <a:cs typeface="Microsoft YaHei UI"/>
              </a:rPr>
              <a:t> </a:t>
            </a:r>
            <a:r>
              <a:rPr dirty="0" sz="2400" spc="-55">
                <a:latin typeface="Microsoft YaHei UI"/>
                <a:cs typeface="Microsoft YaHei UI"/>
              </a:rPr>
              <a:t>Step</a:t>
            </a:r>
            <a:r>
              <a:rPr dirty="0" sz="2400" spc="-65">
                <a:latin typeface="Microsoft YaHei UI"/>
                <a:cs typeface="Microsoft YaHei UI"/>
              </a:rPr>
              <a:t> </a:t>
            </a:r>
            <a:r>
              <a:rPr dirty="0" sz="2400" spc="-25">
                <a:latin typeface="Microsoft YaHei UI"/>
                <a:cs typeface="Microsoft YaHei UI"/>
              </a:rPr>
              <a:t>2.</a:t>
            </a:r>
            <a:endParaRPr sz="2400">
              <a:latin typeface="Microsoft YaHei UI"/>
              <a:cs typeface="Microsoft YaHei U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5827" rIns="0" bIns="0" rtlCol="0" vert="horz">
            <a:spAutoFit/>
          </a:bodyPr>
          <a:lstStyle/>
          <a:p>
            <a:pPr marL="1069975">
              <a:lnSpc>
                <a:spcPct val="100000"/>
              </a:lnSpc>
              <a:spcBef>
                <a:spcPts val="95"/>
              </a:spcBef>
            </a:pPr>
            <a:r>
              <a:rPr dirty="0" spc="-25">
                <a:latin typeface="Microsoft YaHei UI"/>
                <a:cs typeface="Microsoft YaHei UI"/>
              </a:rPr>
              <a:t>K-</a:t>
            </a:r>
            <a:r>
              <a:rPr dirty="0">
                <a:latin typeface="Microsoft YaHei UI"/>
                <a:cs typeface="Microsoft YaHei UI"/>
              </a:rPr>
              <a:t>means</a:t>
            </a:r>
            <a:r>
              <a:rPr dirty="0" spc="-40">
                <a:latin typeface="Microsoft YaHei UI"/>
                <a:cs typeface="Microsoft YaHei UI"/>
              </a:rPr>
              <a:t> </a:t>
            </a:r>
            <a:r>
              <a:rPr dirty="0">
                <a:latin typeface="Microsoft YaHei UI"/>
                <a:cs typeface="Microsoft YaHei UI"/>
              </a:rPr>
              <a:t>clustering</a:t>
            </a:r>
            <a:r>
              <a:rPr dirty="0" spc="-40">
                <a:latin typeface="Microsoft YaHei UI"/>
                <a:cs typeface="Microsoft YaHei UI"/>
              </a:rPr>
              <a:t> </a:t>
            </a:r>
            <a:r>
              <a:rPr dirty="0" spc="-10">
                <a:latin typeface="Microsoft YaHei UI"/>
                <a:cs typeface="Microsoft YaHei UI"/>
              </a:rPr>
              <a:t>algorithm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0">
                <a:latin typeface="Microsoft YaHei UI"/>
                <a:cs typeface="Microsoft YaHei UI"/>
              </a:rPr>
              <a:t>29</a:t>
            </a:r>
            <a:endParaRPr sz="1400">
              <a:latin typeface="Microsoft YaHei UI"/>
              <a:cs typeface="Microsoft YaHei U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73726" y="174512"/>
            <a:ext cx="8027670" cy="226060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213360" indent="-200660">
              <a:lnSpc>
                <a:spcPct val="100000"/>
              </a:lnSpc>
              <a:spcBef>
                <a:spcPts val="185"/>
              </a:spcBef>
              <a:buAutoNum type="arabicPeriod"/>
              <a:tabLst>
                <a:tab pos="213360" algn="l"/>
              </a:tabLst>
            </a:pP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分配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 spc="50">
                <a:latin typeface="Microsoft JhengHei UI"/>
                <a:cs typeface="Microsoft JhengHei UI"/>
              </a:rPr>
              <a:t>步骤 </a:t>
            </a:r>
            <a:r>
              <a:rPr dirty="0" sz="900">
                <a:latin typeface="Arial MT"/>
                <a:cs typeface="Arial MT"/>
              </a:rPr>
              <a:t>(Assignment</a:t>
            </a:r>
            <a:r>
              <a:rPr dirty="0" sz="900" spc="1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step):</a:t>
            </a:r>
            <a:endParaRPr sz="900">
              <a:latin typeface="Arial MT"/>
              <a:cs typeface="Arial MT"/>
            </a:endParaRPr>
          </a:p>
          <a:p>
            <a:pPr marL="213995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"a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data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point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assigned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cluster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which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minimum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distance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center"</a:t>
            </a:r>
            <a:endParaRPr sz="900">
              <a:latin typeface="Arial MT"/>
              <a:cs typeface="Arial MT"/>
            </a:endParaRPr>
          </a:p>
          <a:p>
            <a:pPr marL="213995">
              <a:lnSpc>
                <a:spcPct val="100000"/>
              </a:lnSpc>
              <a:spcBef>
                <a:spcPts val="120"/>
              </a:spcBef>
            </a:pPr>
            <a:r>
              <a:rPr dirty="0" sz="900">
                <a:latin typeface="Microsoft JhengHei UI"/>
                <a:cs typeface="Microsoft JhengHei UI"/>
              </a:rPr>
              <a:t>（⼀个数据点会被分配给那个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离它距离最近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>
                <a:latin typeface="Microsoft JhengHei UI"/>
                <a:cs typeface="Microsoft JhengHei UI"/>
              </a:rPr>
              <a:t>的中⼼。</a:t>
            </a:r>
            <a:r>
              <a:rPr dirty="0" sz="900" spc="-50">
                <a:latin typeface="Microsoft JhengHei UI"/>
                <a:cs typeface="Microsoft JhengHei UI"/>
              </a:rPr>
              <a:t>）</a:t>
            </a:r>
            <a:endParaRPr sz="900">
              <a:latin typeface="Microsoft JhengHei UI"/>
              <a:cs typeface="Microsoft JhengHei UI"/>
            </a:endParaRPr>
          </a:p>
          <a:p>
            <a:pPr marL="213995" marR="5080">
              <a:lnSpc>
                <a:spcPct val="120900"/>
              </a:lnSpc>
            </a:pPr>
            <a:r>
              <a:rPr dirty="0" sz="900" spc="60">
                <a:latin typeface="Microsoft JhengHei UI"/>
                <a:cs typeface="Microsoft JhengHei UI"/>
              </a:rPr>
              <a:t>遍历你所有 </a:t>
            </a:r>
            <a:r>
              <a:rPr dirty="0" sz="900">
                <a:latin typeface="Arial MT"/>
                <a:cs typeface="Arial MT"/>
              </a:rPr>
              <a:t>N</a:t>
            </a:r>
            <a:r>
              <a:rPr dirty="0" sz="900" spc="345">
                <a:latin typeface="Arial MT"/>
                <a:cs typeface="Arial MT"/>
              </a:rPr>
              <a:t> </a:t>
            </a:r>
            <a:r>
              <a:rPr dirty="0" sz="900" spc="15">
                <a:latin typeface="Microsoft JhengHei UI"/>
                <a:cs typeface="Microsoft JhengHei UI"/>
              </a:rPr>
              <a:t>个数据点。对于每⼀个数据点，你都要计算它到所有 </a:t>
            </a:r>
            <a:r>
              <a:rPr dirty="0" sz="900">
                <a:latin typeface="Arial MT"/>
                <a:cs typeface="Arial MT"/>
              </a:rPr>
              <a:t>K</a:t>
            </a:r>
            <a:r>
              <a:rPr dirty="0" sz="900" spc="345">
                <a:latin typeface="Arial MT"/>
                <a:cs typeface="Arial MT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个当前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 spc="90">
                <a:latin typeface="Microsoft JhengHei UI"/>
                <a:cs typeface="Microsoft JhengHei UI"/>
              </a:rPr>
              <a:t>中⼼点 </a:t>
            </a:r>
            <a:r>
              <a:rPr dirty="0" sz="900">
                <a:latin typeface="Arial MT"/>
                <a:cs typeface="Arial MT"/>
              </a:rPr>
              <a:t>cj”</a:t>
            </a:r>
            <a:r>
              <a:rPr dirty="0" sz="900">
                <a:latin typeface="Microsoft JhengHei UI"/>
                <a:cs typeface="Microsoft JhengHei UI"/>
              </a:rPr>
              <a:t>的距离（通常是欧⼏⾥得距离），然后把它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分配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 spc="-10">
                <a:latin typeface="Microsoft JhengHei UI"/>
                <a:cs typeface="Microsoft JhengHei UI"/>
              </a:rPr>
              <a:t>给最近的那个</a:t>
            </a:r>
            <a:r>
              <a:rPr dirty="0" sz="900" spc="-20">
                <a:latin typeface="Microsoft JhengHei UI"/>
                <a:cs typeface="Microsoft JhengHei UI"/>
              </a:rPr>
              <a:t>中⼼。</a:t>
            </a:r>
            <a:endParaRPr sz="900">
              <a:latin typeface="Microsoft JhengHei UI"/>
              <a:cs typeface="Microsoft JhengHei UI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900">
              <a:latin typeface="Microsoft JhengHei UI"/>
              <a:cs typeface="Microsoft JhengHei UI"/>
            </a:endParaRPr>
          </a:p>
          <a:p>
            <a:pPr marL="213360" indent="-200660">
              <a:lnSpc>
                <a:spcPct val="100000"/>
              </a:lnSpc>
              <a:buAutoNum type="arabicPeriod" startAt="2"/>
              <a:tabLst>
                <a:tab pos="213360" algn="l"/>
              </a:tabLst>
            </a:pP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更新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 spc="45">
                <a:latin typeface="Microsoft JhengHei UI"/>
                <a:cs typeface="Microsoft JhengHei UI"/>
              </a:rPr>
              <a:t>步骤 </a:t>
            </a:r>
            <a:r>
              <a:rPr dirty="0" sz="900">
                <a:latin typeface="Arial MT"/>
                <a:cs typeface="Arial MT"/>
              </a:rPr>
              <a:t>(Update</a:t>
            </a:r>
            <a:r>
              <a:rPr dirty="0" sz="900" spc="11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step):</a:t>
            </a:r>
            <a:endParaRPr sz="900">
              <a:latin typeface="Arial MT"/>
              <a:cs typeface="Arial MT"/>
            </a:endParaRPr>
          </a:p>
          <a:p>
            <a:pPr marL="213995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Arial MT"/>
                <a:cs typeface="Arial MT"/>
              </a:rPr>
              <a:t>"the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cluster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centers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high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density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regions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data"</a:t>
            </a:r>
            <a:endParaRPr sz="900">
              <a:latin typeface="Arial MT"/>
              <a:cs typeface="Arial MT"/>
            </a:endParaRPr>
          </a:p>
          <a:p>
            <a:pPr marL="213995">
              <a:lnSpc>
                <a:spcPct val="100000"/>
              </a:lnSpc>
              <a:spcBef>
                <a:spcPts val="125"/>
              </a:spcBef>
            </a:pPr>
            <a:r>
              <a:rPr dirty="0" sz="900">
                <a:latin typeface="Microsoft JhengHei UI"/>
                <a:cs typeface="Microsoft JhengHei UI"/>
              </a:rPr>
              <a:t>（簇的中⼼被设置在数据的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⾼密度区域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>
                <a:latin typeface="Microsoft JhengHei UI"/>
                <a:cs typeface="Microsoft JhengHei UI"/>
              </a:rPr>
              <a:t>。</a:t>
            </a:r>
            <a:r>
              <a:rPr dirty="0" sz="900" spc="-50">
                <a:latin typeface="Microsoft JhengHei UI"/>
                <a:cs typeface="Microsoft JhengHei UI"/>
              </a:rPr>
              <a:t>）</a:t>
            </a:r>
            <a:endParaRPr sz="900">
              <a:latin typeface="Microsoft JhengHei UI"/>
              <a:cs typeface="Microsoft JhengHei UI"/>
            </a:endParaRPr>
          </a:p>
          <a:p>
            <a:pPr marL="213995" marR="36830">
              <a:lnSpc>
                <a:spcPct val="120900"/>
              </a:lnSpc>
            </a:pPr>
            <a:r>
              <a:rPr dirty="0" sz="900">
                <a:latin typeface="Microsoft JhengHei UI"/>
                <a:cs typeface="Microsoft JhengHei UI"/>
              </a:rPr>
              <a:t>在（</a:t>
            </a:r>
            <a:r>
              <a:rPr dirty="0" sz="900">
                <a:latin typeface="Arial MT"/>
                <a:cs typeface="Arial MT"/>
              </a:rPr>
              <a:t>1</a:t>
            </a:r>
            <a:r>
              <a:rPr dirty="0" sz="900">
                <a:latin typeface="Microsoft JhengHei UI"/>
                <a:cs typeface="Microsoft JhengHei UI"/>
              </a:rPr>
              <a:t>）中，所有的数据点都被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分配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 spc="60">
                <a:latin typeface="Microsoft JhengHei UI"/>
                <a:cs typeface="Microsoft JhengHei UI"/>
              </a:rPr>
              <a:t>给了某个中⼼。现在，对于每⼀个中⼼   </a:t>
            </a:r>
            <a:r>
              <a:rPr dirty="0" sz="900">
                <a:latin typeface="Arial MT"/>
                <a:cs typeface="Arial MT"/>
              </a:rPr>
              <a:t>$\mathbf{c}_j$</a:t>
            </a:r>
            <a:r>
              <a:rPr dirty="0" sz="900">
                <a:latin typeface="Microsoft JhengHei UI"/>
                <a:cs typeface="Microsoft JhengHei UI"/>
              </a:rPr>
              <a:t>，我们重新计算它的位置，把它移动到所有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分配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 spc="-15">
                <a:latin typeface="Microsoft JhengHei UI"/>
                <a:cs typeface="Microsoft JhengHei UI"/>
              </a:rPr>
              <a:t>给它的那</a:t>
            </a:r>
            <a:r>
              <a:rPr dirty="0" sz="900">
                <a:latin typeface="Microsoft JhengHei UI"/>
                <a:cs typeface="Microsoft JhengHei UI"/>
              </a:rPr>
              <a:t>些数据点的</a:t>
            </a:r>
            <a:r>
              <a:rPr dirty="0" sz="900">
                <a:latin typeface="Arial MT"/>
                <a:cs typeface="Arial MT"/>
              </a:rPr>
              <a:t>**“</a:t>
            </a:r>
            <a:r>
              <a:rPr dirty="0" sz="900">
                <a:latin typeface="Microsoft JhengHei UI"/>
                <a:cs typeface="Microsoft JhengHei UI"/>
              </a:rPr>
              <a:t>正中央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>
                <a:latin typeface="Microsoft JhengHei UI"/>
                <a:cs typeface="Microsoft JhengHei UI"/>
              </a:rPr>
              <a:t>（即平均值</a:t>
            </a:r>
            <a:r>
              <a:rPr dirty="0" sz="900">
                <a:latin typeface="Arial MT"/>
                <a:cs typeface="Arial MT"/>
              </a:rPr>
              <a:t>**</a:t>
            </a:r>
            <a:r>
              <a:rPr dirty="0" sz="900">
                <a:latin typeface="Microsoft JhengHei UI"/>
                <a:cs typeface="Microsoft JhengHei UI"/>
              </a:rPr>
              <a:t>或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质⼼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>
                <a:latin typeface="Microsoft JhengHei UI"/>
                <a:cs typeface="Microsoft JhengHei UI"/>
              </a:rPr>
              <a:t>）</a:t>
            </a:r>
            <a:r>
              <a:rPr dirty="0" sz="900" spc="-50">
                <a:latin typeface="Microsoft JhengHei UI"/>
                <a:cs typeface="Microsoft JhengHei UI"/>
              </a:rPr>
              <a:t>。</a:t>
            </a:r>
            <a:endParaRPr sz="900">
              <a:latin typeface="Microsoft JhengHei UI"/>
              <a:cs typeface="Microsoft JhengHei UI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latin typeface="Microsoft JhengHei UI"/>
                <a:cs typeface="Microsoft JhengHei UI"/>
              </a:rPr>
              <a:t>这个算法就是不断地重复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（</a:t>
            </a:r>
            <a:r>
              <a:rPr dirty="0" sz="900">
                <a:latin typeface="Arial MT"/>
                <a:cs typeface="Arial MT"/>
              </a:rPr>
              <a:t>1</a:t>
            </a:r>
            <a:r>
              <a:rPr dirty="0" sz="900">
                <a:latin typeface="Microsoft JhengHei UI"/>
                <a:cs typeface="Microsoft JhengHei UI"/>
              </a:rPr>
              <a:t>）</a:t>
            </a:r>
            <a:r>
              <a:rPr dirty="0" sz="900" spc="145">
                <a:latin typeface="Microsoft JhengHei UI"/>
                <a:cs typeface="Microsoft JhengHei UI"/>
              </a:rPr>
              <a:t>分配 </a:t>
            </a:r>
            <a:r>
              <a:rPr dirty="0" sz="900">
                <a:latin typeface="Microsoft JhengHei UI"/>
                <a:cs typeface="Microsoft JhengHei UI"/>
              </a:rPr>
              <a:t>（</a:t>
            </a:r>
            <a:r>
              <a:rPr dirty="0" sz="900">
                <a:latin typeface="Arial MT"/>
                <a:cs typeface="Arial MT"/>
              </a:rPr>
              <a:t>2</a:t>
            </a:r>
            <a:r>
              <a:rPr dirty="0" sz="900">
                <a:latin typeface="Microsoft JhengHei UI"/>
                <a:cs typeface="Microsoft JhengHei UI"/>
              </a:rPr>
              <a:t>）</a:t>
            </a:r>
            <a:r>
              <a:rPr dirty="0" sz="900" spc="150">
                <a:latin typeface="Microsoft JhengHei UI"/>
                <a:cs typeface="Microsoft JhengHei UI"/>
              </a:rPr>
              <a:t>更新 </a:t>
            </a:r>
            <a:r>
              <a:rPr dirty="0" sz="900">
                <a:latin typeface="Arial MT"/>
                <a:cs typeface="Arial MT"/>
              </a:rPr>
              <a:t>$\to$</a:t>
            </a:r>
            <a:r>
              <a:rPr dirty="0" sz="900">
                <a:latin typeface="Microsoft JhengHei UI"/>
                <a:cs typeface="Microsoft JhengHei UI"/>
              </a:rPr>
              <a:t>（</a:t>
            </a:r>
            <a:r>
              <a:rPr dirty="0" sz="900">
                <a:latin typeface="Arial MT"/>
                <a:cs typeface="Arial MT"/>
              </a:rPr>
              <a:t>1</a:t>
            </a:r>
            <a:r>
              <a:rPr dirty="0" sz="900">
                <a:latin typeface="Microsoft JhengHei UI"/>
                <a:cs typeface="Microsoft JhengHei UI"/>
              </a:rPr>
              <a:t>）</a:t>
            </a:r>
            <a:r>
              <a:rPr dirty="0" sz="900" spc="150">
                <a:latin typeface="Microsoft JhengHei UI"/>
                <a:cs typeface="Microsoft JhengHei UI"/>
              </a:rPr>
              <a:t>分配 </a:t>
            </a:r>
            <a:r>
              <a:rPr dirty="0" sz="900">
                <a:latin typeface="Microsoft JhengHei UI"/>
                <a:cs typeface="Microsoft JhengHei UI"/>
              </a:rPr>
              <a:t>（</a:t>
            </a:r>
            <a:r>
              <a:rPr dirty="0" sz="900">
                <a:latin typeface="Arial MT"/>
                <a:cs typeface="Arial MT"/>
              </a:rPr>
              <a:t>2</a:t>
            </a:r>
            <a:r>
              <a:rPr dirty="0" sz="900">
                <a:latin typeface="Microsoft JhengHei UI"/>
                <a:cs typeface="Microsoft JhengHei UI"/>
              </a:rPr>
              <a:t>）更新</a:t>
            </a:r>
            <a:r>
              <a:rPr dirty="0" sz="900">
                <a:latin typeface="Arial MT"/>
                <a:cs typeface="Arial MT"/>
              </a:rPr>
              <a:t>...”</a:t>
            </a:r>
            <a:r>
              <a:rPr dirty="0" sz="900" spc="-5">
                <a:latin typeface="Microsoft JhengHei UI"/>
                <a:cs typeface="Microsoft JhengHei UI"/>
              </a:rPr>
              <a:t>，直到中⼼点的位置不再变化为⽌。</a:t>
            </a:r>
            <a:endParaRPr sz="900">
              <a:latin typeface="Microsoft JhengHei UI"/>
              <a:cs typeface="Microsoft JhengHei U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921" y="2524160"/>
            <a:ext cx="947642" cy="33053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0677" y="2551932"/>
            <a:ext cx="651228" cy="25077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58297" y="2559970"/>
            <a:ext cx="1579913" cy="6203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2551" y="3173838"/>
            <a:ext cx="877082" cy="49542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8802" y="3239864"/>
            <a:ext cx="2176169" cy="29348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6650" y="3874075"/>
            <a:ext cx="410535" cy="436026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704469" y="3995484"/>
            <a:ext cx="26670" cy="52069"/>
          </a:xfrm>
          <a:custGeom>
            <a:avLst/>
            <a:gdLst/>
            <a:ahLst/>
            <a:cxnLst/>
            <a:rect l="l" t="t" r="r" b="b"/>
            <a:pathLst>
              <a:path w="26670" h="52070">
                <a:moveTo>
                  <a:pt x="7493" y="8839"/>
                </a:moveTo>
                <a:lnTo>
                  <a:pt x="6832" y="6375"/>
                </a:lnTo>
                <a:lnTo>
                  <a:pt x="6337" y="4648"/>
                </a:lnTo>
                <a:lnTo>
                  <a:pt x="5626" y="2476"/>
                </a:lnTo>
                <a:lnTo>
                  <a:pt x="5397" y="1739"/>
                </a:lnTo>
                <a:lnTo>
                  <a:pt x="5334" y="1511"/>
                </a:lnTo>
                <a:lnTo>
                  <a:pt x="3632" y="0"/>
                </a:lnTo>
                <a:lnTo>
                  <a:pt x="1841" y="0"/>
                </a:lnTo>
                <a:lnTo>
                  <a:pt x="596" y="1384"/>
                </a:lnTo>
                <a:lnTo>
                  <a:pt x="520" y="1511"/>
                </a:lnTo>
                <a:lnTo>
                  <a:pt x="393" y="1739"/>
                </a:lnTo>
                <a:lnTo>
                  <a:pt x="0" y="3111"/>
                </a:lnTo>
                <a:lnTo>
                  <a:pt x="317" y="4191"/>
                </a:lnTo>
                <a:lnTo>
                  <a:pt x="863" y="6375"/>
                </a:lnTo>
                <a:lnTo>
                  <a:pt x="1993" y="10363"/>
                </a:lnTo>
                <a:lnTo>
                  <a:pt x="3594" y="11252"/>
                </a:lnTo>
                <a:lnTo>
                  <a:pt x="6642" y="10363"/>
                </a:lnTo>
                <a:lnTo>
                  <a:pt x="7493" y="8839"/>
                </a:lnTo>
                <a:close/>
              </a:path>
              <a:path w="26670" h="52070">
                <a:moveTo>
                  <a:pt x="26581" y="50012"/>
                </a:moveTo>
                <a:lnTo>
                  <a:pt x="26301" y="47929"/>
                </a:lnTo>
                <a:lnTo>
                  <a:pt x="25425" y="47205"/>
                </a:lnTo>
                <a:lnTo>
                  <a:pt x="17411" y="47205"/>
                </a:lnTo>
                <a:lnTo>
                  <a:pt x="18122" y="46634"/>
                </a:lnTo>
                <a:lnTo>
                  <a:pt x="19761" y="45732"/>
                </a:lnTo>
                <a:lnTo>
                  <a:pt x="20294" y="43929"/>
                </a:lnTo>
                <a:lnTo>
                  <a:pt x="18707" y="41033"/>
                </a:lnTo>
                <a:lnTo>
                  <a:pt x="16891" y="40500"/>
                </a:lnTo>
                <a:lnTo>
                  <a:pt x="13601" y="42316"/>
                </a:lnTo>
                <a:lnTo>
                  <a:pt x="11582" y="43459"/>
                </a:lnTo>
                <a:lnTo>
                  <a:pt x="8572" y="47205"/>
                </a:lnTo>
                <a:lnTo>
                  <a:pt x="8699" y="47205"/>
                </a:lnTo>
                <a:lnTo>
                  <a:pt x="8813" y="49872"/>
                </a:lnTo>
                <a:lnTo>
                  <a:pt x="12776" y="52019"/>
                </a:lnTo>
                <a:lnTo>
                  <a:pt x="17843" y="52019"/>
                </a:lnTo>
                <a:lnTo>
                  <a:pt x="24752" y="51155"/>
                </a:lnTo>
                <a:lnTo>
                  <a:pt x="25819" y="51003"/>
                </a:lnTo>
                <a:lnTo>
                  <a:pt x="26581" y="500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2463" y="3810016"/>
            <a:ext cx="1354205" cy="339023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26438" y="3881798"/>
            <a:ext cx="370075" cy="27114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686280" y="3763519"/>
            <a:ext cx="2469502" cy="34844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32986" y="4560753"/>
            <a:ext cx="647779" cy="26124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59250" y="4529304"/>
            <a:ext cx="228679" cy="322416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83366" y="4498936"/>
            <a:ext cx="2376677" cy="322167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753342" y="4506256"/>
            <a:ext cx="1260125" cy="314423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34613" y="5060811"/>
            <a:ext cx="427757" cy="277005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31674" y="4978646"/>
            <a:ext cx="2921755" cy="325065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724424" y="4999025"/>
            <a:ext cx="1452179" cy="291459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01037" y="5429378"/>
            <a:ext cx="2777925" cy="646484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057205" y="5492942"/>
            <a:ext cx="403707" cy="232066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541802" y="5535362"/>
            <a:ext cx="139192" cy="241867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745625" y="5468330"/>
            <a:ext cx="1458326" cy="307223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680023" y="2570614"/>
            <a:ext cx="750197" cy="336134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512872" y="2719707"/>
            <a:ext cx="34087" cy="86173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867300" y="2602372"/>
            <a:ext cx="1146594" cy="512000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5705178" y="3237913"/>
            <a:ext cx="3045460" cy="716280"/>
            <a:chOff x="5705178" y="3237913"/>
            <a:chExt cx="3045460" cy="716280"/>
          </a:xfrm>
        </p:grpSpPr>
        <p:pic>
          <p:nvPicPr>
            <p:cNvPr id="28" name="object 28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705178" y="3237913"/>
              <a:ext cx="3045143" cy="696746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748819" y="3730414"/>
              <a:ext cx="222998" cy="223470"/>
            </a:xfrm>
            <a:prstGeom prst="rect">
              <a:avLst/>
            </a:prstGeom>
          </p:spPr>
        </p:pic>
      </p:grpSp>
      <p:pic>
        <p:nvPicPr>
          <p:cNvPr id="30" name="object 30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689553" y="4065929"/>
            <a:ext cx="735358" cy="259606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491828" y="4018302"/>
            <a:ext cx="2349325" cy="339382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803929" y="4410275"/>
            <a:ext cx="767392" cy="36422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3707" rIns="0" bIns="0" rtlCol="0" vert="horz">
            <a:spAutoFit/>
          </a:bodyPr>
          <a:lstStyle/>
          <a:p>
            <a:pPr marL="90805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K-</a:t>
            </a:r>
            <a:r>
              <a:rPr dirty="0"/>
              <a:t>means</a:t>
            </a:r>
            <a:r>
              <a:rPr dirty="0" spc="-145"/>
              <a:t> </a:t>
            </a:r>
            <a:r>
              <a:rPr dirty="0"/>
              <a:t>algorithm</a:t>
            </a:r>
            <a:r>
              <a:rPr dirty="0" spc="-145"/>
              <a:t> </a:t>
            </a:r>
            <a:r>
              <a:rPr dirty="0" spc="-10"/>
              <a:t>description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779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70"/>
              </a:spcBef>
              <a:buClr>
                <a:srgbClr val="FF0000"/>
              </a:buClr>
              <a:buSzPct val="53571"/>
              <a:buChar char="■"/>
              <a:tabLst>
                <a:tab pos="297815" algn="l"/>
              </a:tabLst>
            </a:pPr>
            <a:r>
              <a:rPr dirty="0"/>
              <a:t>Choose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number</a:t>
            </a:r>
            <a:r>
              <a:rPr dirty="0" spc="-55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clusters</a:t>
            </a:r>
            <a:r>
              <a:rPr dirty="0" spc="-50"/>
              <a:t> </a:t>
            </a:r>
            <a:r>
              <a:rPr dirty="0"/>
              <a:t>-</a:t>
            </a:r>
            <a:r>
              <a:rPr dirty="0" spc="-60"/>
              <a:t> </a:t>
            </a:r>
            <a:r>
              <a:rPr dirty="0" spc="-50"/>
              <a:t>K</a:t>
            </a:r>
          </a:p>
          <a:p>
            <a:pPr marL="297815" indent="-28511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Char char="■"/>
              <a:tabLst>
                <a:tab pos="297815" algn="l"/>
              </a:tabLst>
            </a:pPr>
            <a:r>
              <a:rPr dirty="0"/>
              <a:t>Randomly</a:t>
            </a:r>
            <a:r>
              <a:rPr dirty="0" spc="-60"/>
              <a:t> </a:t>
            </a:r>
            <a:r>
              <a:rPr dirty="0"/>
              <a:t>choose</a:t>
            </a:r>
            <a:r>
              <a:rPr dirty="0" spc="-55"/>
              <a:t> </a:t>
            </a:r>
            <a:r>
              <a:rPr dirty="0"/>
              <a:t>initial</a:t>
            </a:r>
            <a:r>
              <a:rPr dirty="0" spc="-60"/>
              <a:t> </a:t>
            </a:r>
            <a:r>
              <a:rPr dirty="0"/>
              <a:t>positions</a:t>
            </a:r>
            <a:r>
              <a:rPr dirty="0" spc="-55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/>
              <a:t>K</a:t>
            </a:r>
            <a:r>
              <a:rPr dirty="0" spc="-60"/>
              <a:t> </a:t>
            </a:r>
            <a:r>
              <a:rPr dirty="0" spc="-10"/>
              <a:t>centroids</a:t>
            </a:r>
          </a:p>
          <a:p>
            <a:pPr marL="298450" marR="5080" indent="-285750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Char char="■"/>
              <a:tabLst>
                <a:tab pos="298450" algn="l"/>
              </a:tabLst>
            </a:pPr>
            <a:r>
              <a:rPr dirty="0"/>
              <a:t>Assign</a:t>
            </a:r>
            <a:r>
              <a:rPr dirty="0" spc="-50"/>
              <a:t> </a:t>
            </a:r>
            <a:r>
              <a:rPr dirty="0"/>
              <a:t>each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points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“nearest</a:t>
            </a:r>
            <a:r>
              <a:rPr dirty="0" spc="-50"/>
              <a:t> </a:t>
            </a:r>
            <a:r>
              <a:rPr dirty="0" spc="-10"/>
              <a:t>centroid” </a:t>
            </a:r>
            <a:r>
              <a:rPr dirty="0"/>
              <a:t>(depends</a:t>
            </a:r>
            <a:r>
              <a:rPr dirty="0" spc="-70"/>
              <a:t> </a:t>
            </a:r>
            <a:r>
              <a:rPr dirty="0"/>
              <a:t>on</a:t>
            </a:r>
            <a:r>
              <a:rPr dirty="0" spc="-70"/>
              <a:t> </a:t>
            </a:r>
            <a:r>
              <a:rPr dirty="0"/>
              <a:t>distance</a:t>
            </a:r>
            <a:r>
              <a:rPr dirty="0" spc="-70"/>
              <a:t> </a:t>
            </a:r>
            <a:r>
              <a:rPr dirty="0" spc="-10"/>
              <a:t>measure)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0472" y="4239839"/>
            <a:ext cx="4299406" cy="243049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30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779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70"/>
              </a:spcBef>
              <a:buClr>
                <a:srgbClr val="FF0000"/>
              </a:buClr>
              <a:buSzPct val="53571"/>
              <a:buChar char="■"/>
              <a:tabLst>
                <a:tab pos="297815" algn="l"/>
              </a:tabLst>
            </a:pPr>
            <a:r>
              <a:rPr dirty="0"/>
              <a:t>Choose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number</a:t>
            </a:r>
            <a:r>
              <a:rPr dirty="0" spc="-55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clusters</a:t>
            </a:r>
            <a:r>
              <a:rPr dirty="0" spc="-50"/>
              <a:t> </a:t>
            </a:r>
            <a:r>
              <a:rPr dirty="0"/>
              <a:t>-</a:t>
            </a:r>
            <a:r>
              <a:rPr dirty="0" spc="-60"/>
              <a:t> </a:t>
            </a:r>
            <a:r>
              <a:rPr dirty="0" spc="-50"/>
              <a:t>K</a:t>
            </a:r>
          </a:p>
          <a:p>
            <a:pPr marL="297815" indent="-28511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Char char="■"/>
              <a:tabLst>
                <a:tab pos="297815" algn="l"/>
              </a:tabLst>
            </a:pPr>
            <a:r>
              <a:rPr dirty="0"/>
              <a:t>Randomly</a:t>
            </a:r>
            <a:r>
              <a:rPr dirty="0" spc="-60"/>
              <a:t> </a:t>
            </a:r>
            <a:r>
              <a:rPr dirty="0"/>
              <a:t>choose</a:t>
            </a:r>
            <a:r>
              <a:rPr dirty="0" spc="-55"/>
              <a:t> </a:t>
            </a:r>
            <a:r>
              <a:rPr dirty="0"/>
              <a:t>initial</a:t>
            </a:r>
            <a:r>
              <a:rPr dirty="0" spc="-60"/>
              <a:t> </a:t>
            </a:r>
            <a:r>
              <a:rPr dirty="0"/>
              <a:t>positions</a:t>
            </a:r>
            <a:r>
              <a:rPr dirty="0" spc="-55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/>
              <a:t>K</a:t>
            </a:r>
            <a:r>
              <a:rPr dirty="0" spc="-60"/>
              <a:t> </a:t>
            </a:r>
            <a:r>
              <a:rPr dirty="0" spc="-10"/>
              <a:t>centroids</a:t>
            </a:r>
          </a:p>
          <a:p>
            <a:pPr marL="298450" marR="5080" indent="-285750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Char char="■"/>
              <a:tabLst>
                <a:tab pos="298450" algn="l"/>
              </a:tabLst>
            </a:pPr>
            <a:r>
              <a:rPr dirty="0"/>
              <a:t>Assign</a:t>
            </a:r>
            <a:r>
              <a:rPr dirty="0" spc="-50"/>
              <a:t> </a:t>
            </a:r>
            <a:r>
              <a:rPr dirty="0"/>
              <a:t>each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points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“nearest</a:t>
            </a:r>
            <a:r>
              <a:rPr dirty="0" spc="-50"/>
              <a:t> </a:t>
            </a:r>
            <a:r>
              <a:rPr dirty="0" spc="-10"/>
              <a:t>centroid” </a:t>
            </a:r>
            <a:r>
              <a:rPr dirty="0"/>
              <a:t>(depends</a:t>
            </a:r>
            <a:r>
              <a:rPr dirty="0" spc="-70"/>
              <a:t> </a:t>
            </a:r>
            <a:r>
              <a:rPr dirty="0"/>
              <a:t>on</a:t>
            </a:r>
            <a:r>
              <a:rPr dirty="0" spc="-70"/>
              <a:t> </a:t>
            </a:r>
            <a:r>
              <a:rPr dirty="0"/>
              <a:t>distance</a:t>
            </a:r>
            <a:r>
              <a:rPr dirty="0" spc="-70"/>
              <a:t> </a:t>
            </a:r>
            <a:r>
              <a:rPr dirty="0" spc="-10"/>
              <a:t>measure)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9111" y="4237008"/>
            <a:ext cx="4297883" cy="23619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3707" rIns="0" bIns="0" rtlCol="0" vert="horz">
            <a:spAutoFit/>
          </a:bodyPr>
          <a:lstStyle/>
          <a:p>
            <a:pPr marL="90805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K-</a:t>
            </a:r>
            <a:r>
              <a:rPr dirty="0"/>
              <a:t>means</a:t>
            </a:r>
            <a:r>
              <a:rPr dirty="0" spc="-145"/>
              <a:t> </a:t>
            </a:r>
            <a:r>
              <a:rPr dirty="0"/>
              <a:t>algorithm</a:t>
            </a:r>
            <a:r>
              <a:rPr dirty="0" spc="-145"/>
              <a:t> </a:t>
            </a:r>
            <a:r>
              <a:rPr dirty="0" spc="-10"/>
              <a:t>description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31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54481" y="1500225"/>
            <a:ext cx="8568055" cy="3529329"/>
          </a:xfrm>
          <a:custGeom>
            <a:avLst/>
            <a:gdLst/>
            <a:ahLst/>
            <a:cxnLst/>
            <a:rect l="l" t="t" r="r" b="b"/>
            <a:pathLst>
              <a:path w="8568055" h="3529329">
                <a:moveTo>
                  <a:pt x="8567737" y="0"/>
                </a:moveTo>
                <a:lnTo>
                  <a:pt x="0" y="0"/>
                </a:lnTo>
                <a:lnTo>
                  <a:pt x="0" y="3529012"/>
                </a:lnTo>
                <a:lnTo>
                  <a:pt x="8567737" y="3529012"/>
                </a:lnTo>
                <a:lnTo>
                  <a:pt x="85677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90422" y="1447393"/>
            <a:ext cx="7774305" cy="300990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70"/>
              </a:spcBef>
              <a:buClr>
                <a:srgbClr val="FF0000"/>
              </a:buClr>
              <a:buSzPct val="53571"/>
              <a:buChar char="■"/>
              <a:tabLst>
                <a:tab pos="297815" algn="l"/>
              </a:tabLst>
            </a:pPr>
            <a:r>
              <a:rPr dirty="0" sz="2800">
                <a:latin typeface="Tahoma"/>
                <a:cs typeface="Tahoma"/>
              </a:rPr>
              <a:t>Choose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number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clusters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-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50">
                <a:latin typeface="Tahoma"/>
                <a:cs typeface="Tahoma"/>
              </a:rPr>
              <a:t>K</a:t>
            </a:r>
            <a:endParaRPr sz="2800">
              <a:latin typeface="Tahoma"/>
              <a:cs typeface="Tahoma"/>
            </a:endParaRPr>
          </a:p>
          <a:p>
            <a:pPr marL="297815" indent="-28511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Char char="■"/>
              <a:tabLst>
                <a:tab pos="297815" algn="l"/>
              </a:tabLst>
            </a:pPr>
            <a:r>
              <a:rPr dirty="0" sz="2800">
                <a:latin typeface="Tahoma"/>
                <a:cs typeface="Tahoma"/>
              </a:rPr>
              <a:t>Randomly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choose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initial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positions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K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centroids</a:t>
            </a:r>
            <a:endParaRPr sz="2800">
              <a:latin typeface="Tahoma"/>
              <a:cs typeface="Tahoma"/>
            </a:endParaRPr>
          </a:p>
          <a:p>
            <a:pPr marL="298450" marR="991235" indent="-285750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Char char="■"/>
              <a:tabLst>
                <a:tab pos="298450" algn="l"/>
              </a:tabLst>
            </a:pPr>
            <a:r>
              <a:rPr dirty="0" sz="2800">
                <a:latin typeface="Tahoma"/>
                <a:cs typeface="Tahoma"/>
              </a:rPr>
              <a:t>Assign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each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points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“nearest </a:t>
            </a:r>
            <a:r>
              <a:rPr dirty="0" sz="2800">
                <a:latin typeface="Tahoma"/>
                <a:cs typeface="Tahoma"/>
              </a:rPr>
              <a:t>centroid”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(depends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distance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measure)</a:t>
            </a:r>
            <a:endParaRPr sz="2800">
              <a:latin typeface="Tahoma"/>
              <a:cs typeface="Tahoma"/>
            </a:endParaRPr>
          </a:p>
          <a:p>
            <a:pPr marL="297815" indent="-28511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Char char="■"/>
              <a:tabLst>
                <a:tab pos="297815" algn="l"/>
              </a:tabLst>
            </a:pPr>
            <a:r>
              <a:rPr dirty="0" sz="2800" spc="-20">
                <a:latin typeface="Tahoma"/>
                <a:cs typeface="Tahoma"/>
              </a:rPr>
              <a:t>Re-</a:t>
            </a:r>
            <a:r>
              <a:rPr dirty="0" sz="2800">
                <a:latin typeface="Tahoma"/>
                <a:cs typeface="Tahoma"/>
              </a:rPr>
              <a:t>compute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centroid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positions</a:t>
            </a:r>
            <a:endParaRPr sz="2800">
              <a:latin typeface="Tahoma"/>
              <a:cs typeface="Tahoma"/>
            </a:endParaRPr>
          </a:p>
          <a:p>
            <a:pPr marL="297815" indent="-285115">
              <a:lnSpc>
                <a:spcPct val="100000"/>
              </a:lnSpc>
              <a:spcBef>
                <a:spcPts val="660"/>
              </a:spcBef>
              <a:buClr>
                <a:srgbClr val="FF0000"/>
              </a:buClr>
              <a:buSzPct val="53571"/>
              <a:buChar char="■"/>
              <a:tabLst>
                <a:tab pos="297815" algn="l"/>
              </a:tabLst>
            </a:pPr>
            <a:r>
              <a:rPr dirty="0" sz="2800">
                <a:latin typeface="Tahoma"/>
                <a:cs typeface="Tahoma"/>
              </a:rPr>
              <a:t>If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solution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converges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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Stop!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62775" y="2815704"/>
            <a:ext cx="6200775" cy="4031615"/>
            <a:chOff x="462775" y="2815704"/>
            <a:chExt cx="6200775" cy="4031615"/>
          </a:xfrm>
        </p:grpSpPr>
        <p:sp>
          <p:nvSpPr>
            <p:cNvPr id="5" name="object 5" descr=""/>
            <p:cNvSpPr/>
            <p:nvPr/>
          </p:nvSpPr>
          <p:spPr>
            <a:xfrm>
              <a:off x="462775" y="2815704"/>
              <a:ext cx="652780" cy="1482725"/>
            </a:xfrm>
            <a:custGeom>
              <a:avLst/>
              <a:gdLst/>
              <a:ahLst/>
              <a:cxnLst/>
              <a:rect l="l" t="t" r="r" b="b"/>
              <a:pathLst>
                <a:path w="652780" h="1482725">
                  <a:moveTo>
                    <a:pt x="652462" y="1472628"/>
                  </a:moveTo>
                  <a:lnTo>
                    <a:pt x="9525" y="1472628"/>
                  </a:lnTo>
                  <a:lnTo>
                    <a:pt x="9525" y="42862"/>
                  </a:lnTo>
                  <a:lnTo>
                    <a:pt x="504837" y="42862"/>
                  </a:lnTo>
                  <a:lnTo>
                    <a:pt x="504837" y="76200"/>
                  </a:lnTo>
                  <a:lnTo>
                    <a:pt x="571512" y="42862"/>
                  </a:lnTo>
                  <a:lnTo>
                    <a:pt x="581037" y="38100"/>
                  </a:lnTo>
                  <a:lnTo>
                    <a:pt x="571512" y="33337"/>
                  </a:lnTo>
                  <a:lnTo>
                    <a:pt x="504837" y="0"/>
                  </a:lnTo>
                  <a:lnTo>
                    <a:pt x="504837" y="33337"/>
                  </a:lnTo>
                  <a:lnTo>
                    <a:pt x="4762" y="33337"/>
                  </a:lnTo>
                  <a:lnTo>
                    <a:pt x="4762" y="38100"/>
                  </a:lnTo>
                  <a:lnTo>
                    <a:pt x="0" y="38100"/>
                  </a:lnTo>
                  <a:lnTo>
                    <a:pt x="0" y="1477391"/>
                  </a:lnTo>
                  <a:lnTo>
                    <a:pt x="4762" y="1477391"/>
                  </a:lnTo>
                  <a:lnTo>
                    <a:pt x="4762" y="1482153"/>
                  </a:lnTo>
                  <a:lnTo>
                    <a:pt x="652462" y="1482153"/>
                  </a:lnTo>
                  <a:lnTo>
                    <a:pt x="652462" y="1472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5032" y="4486364"/>
              <a:ext cx="4648073" cy="23606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67460" y="803401"/>
            <a:ext cx="790448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K-</a:t>
            </a:r>
            <a:r>
              <a:rPr dirty="0"/>
              <a:t>means</a:t>
            </a:r>
            <a:r>
              <a:rPr dirty="0" spc="-145"/>
              <a:t> </a:t>
            </a:r>
            <a:r>
              <a:rPr dirty="0"/>
              <a:t>algorithm</a:t>
            </a:r>
            <a:r>
              <a:rPr dirty="0" spc="-145"/>
              <a:t> </a:t>
            </a:r>
            <a:r>
              <a:rPr dirty="0" spc="-10"/>
              <a:t>description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32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4867" rIns="0" bIns="0" rtlCol="0" vert="horz">
            <a:spAutoFit/>
          </a:bodyPr>
          <a:lstStyle/>
          <a:p>
            <a:pPr marL="1069975">
              <a:lnSpc>
                <a:spcPct val="100000"/>
              </a:lnSpc>
              <a:spcBef>
                <a:spcPts val="105"/>
              </a:spcBef>
            </a:pPr>
            <a:r>
              <a:rPr dirty="0" sz="4400" spc="-20"/>
              <a:t>K-</a:t>
            </a:r>
            <a:r>
              <a:rPr dirty="0" sz="4400"/>
              <a:t>means</a:t>
            </a:r>
            <a:r>
              <a:rPr dirty="0" sz="4400" spc="-50"/>
              <a:t> </a:t>
            </a:r>
            <a:r>
              <a:rPr dirty="0" sz="4400" spc="-10"/>
              <a:t>Clustering</a:t>
            </a:r>
            <a:endParaRPr sz="44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123" y="2090927"/>
            <a:ext cx="3442716" cy="22860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60035" y="2131885"/>
            <a:ext cx="3410712" cy="221456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6103" y="4507247"/>
            <a:ext cx="3331704" cy="219739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88408" y="4485132"/>
            <a:ext cx="3469494" cy="224082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33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47191" rIns="0" bIns="0" rtlCol="0" vert="horz">
            <a:spAutoFit/>
          </a:bodyPr>
          <a:lstStyle/>
          <a:p>
            <a:pPr marL="890905">
              <a:lnSpc>
                <a:spcPct val="100000"/>
              </a:lnSpc>
              <a:spcBef>
                <a:spcPts val="105"/>
              </a:spcBef>
            </a:pPr>
            <a:r>
              <a:rPr dirty="0" sz="4400" spc="-10"/>
              <a:t>Issues</a:t>
            </a:r>
            <a:endParaRPr sz="4400"/>
          </a:p>
        </p:txBody>
      </p:sp>
      <p:sp>
        <p:nvSpPr>
          <p:cNvPr id="3" name="object 3" descr=""/>
          <p:cNvSpPr txBox="1"/>
          <p:nvPr/>
        </p:nvSpPr>
        <p:spPr>
          <a:xfrm>
            <a:off x="834313" y="2058301"/>
            <a:ext cx="7410450" cy="284035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7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numbers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clusters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must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specified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in </a:t>
            </a:r>
            <a:r>
              <a:rPr dirty="0" sz="2800" spc="-10">
                <a:latin typeface="Tahoma"/>
                <a:cs typeface="Tahoma"/>
              </a:rPr>
              <a:t>advance</a:t>
            </a:r>
            <a:endParaRPr sz="2800">
              <a:latin typeface="Tahoma"/>
              <a:cs typeface="Tahoma"/>
            </a:endParaRPr>
          </a:p>
          <a:p>
            <a:pPr marL="355600" marR="180340" indent="-342900">
              <a:lnSpc>
                <a:spcPts val="3020"/>
              </a:lnSpc>
              <a:spcBef>
                <a:spcPts val="186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This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method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not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suitable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for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clusters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with non-</a:t>
            </a:r>
            <a:r>
              <a:rPr dirty="0" sz="2800">
                <a:latin typeface="Tahoma"/>
                <a:cs typeface="Tahoma"/>
              </a:rPr>
              <a:t>convex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shapes</a:t>
            </a:r>
            <a:endParaRPr sz="2800">
              <a:latin typeface="Tahoma"/>
              <a:cs typeface="Tahoma"/>
            </a:endParaRPr>
          </a:p>
          <a:p>
            <a:pPr marL="355600" marR="142240" indent="-342900">
              <a:lnSpc>
                <a:spcPts val="3020"/>
              </a:lnSpc>
              <a:spcBef>
                <a:spcPts val="185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This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method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sensitive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noise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outlier elements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34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6737" y="3528910"/>
            <a:ext cx="1850275" cy="38131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8180" y="3472218"/>
            <a:ext cx="1306584" cy="53210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85693" y="4548416"/>
            <a:ext cx="1500035" cy="38665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8698" y="3301326"/>
            <a:ext cx="294061" cy="90551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2332" y="4911547"/>
            <a:ext cx="841184" cy="36728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03160" y="4934203"/>
            <a:ext cx="442076" cy="328193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8344" y="5358491"/>
            <a:ext cx="1538870" cy="379213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0677" y="5835916"/>
            <a:ext cx="681421" cy="34426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47191" rIns="0" bIns="0" rtlCol="0" vert="horz">
            <a:spAutoFit/>
          </a:bodyPr>
          <a:lstStyle/>
          <a:p>
            <a:pPr marL="890905">
              <a:lnSpc>
                <a:spcPct val="100000"/>
              </a:lnSpc>
              <a:spcBef>
                <a:spcPts val="105"/>
              </a:spcBef>
            </a:pPr>
            <a:r>
              <a:rPr dirty="0" sz="4400" spc="-10"/>
              <a:t>Issues</a:t>
            </a:r>
            <a:endParaRPr sz="4400"/>
          </a:p>
        </p:txBody>
      </p:sp>
      <p:sp>
        <p:nvSpPr>
          <p:cNvPr id="3" name="object 3" descr=""/>
          <p:cNvSpPr txBox="1"/>
          <p:nvPr/>
        </p:nvSpPr>
        <p:spPr>
          <a:xfrm>
            <a:off x="834313" y="1986305"/>
            <a:ext cx="7273290" cy="1837689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355600" marR="42545" indent="-342900">
              <a:lnSpc>
                <a:spcPts val="3020"/>
              </a:lnSpc>
              <a:spcBef>
                <a:spcPts val="47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This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method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not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suitable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for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clusters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with non-</a:t>
            </a:r>
            <a:r>
              <a:rPr dirty="0" sz="2800">
                <a:latin typeface="Tahoma"/>
                <a:cs typeface="Tahoma"/>
              </a:rPr>
              <a:t>convex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shapes</a:t>
            </a:r>
            <a:endParaRPr sz="2800">
              <a:latin typeface="Tahoma"/>
              <a:cs typeface="Tahoma"/>
            </a:endParaRPr>
          </a:p>
          <a:p>
            <a:pPr marL="355600" marR="5080" indent="-342900">
              <a:lnSpc>
                <a:spcPts val="3020"/>
              </a:lnSpc>
              <a:spcBef>
                <a:spcPts val="186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This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method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sensitive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noise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outlier elements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39" y="3762071"/>
            <a:ext cx="5316984" cy="2755484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74676" y="3950208"/>
            <a:ext cx="3434079" cy="2883535"/>
            <a:chOff x="74676" y="3950208"/>
            <a:chExt cx="3434079" cy="288353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731" y="4076700"/>
              <a:ext cx="3208825" cy="232410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676" y="3950208"/>
              <a:ext cx="2159508" cy="151028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8739" y="5396484"/>
              <a:ext cx="2159508" cy="1437132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35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0171" y="2381897"/>
            <a:ext cx="8364855" cy="32219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Tahoma"/>
              <a:buChar char="■"/>
              <a:tabLst>
                <a:tab pos="354965" algn="l"/>
              </a:tabLst>
            </a:pPr>
            <a:r>
              <a:rPr dirty="0" sz="2800" b="1">
                <a:latin typeface="Tahoma"/>
                <a:cs typeface="Tahoma"/>
              </a:rPr>
              <a:t>Repeated</a:t>
            </a:r>
            <a:r>
              <a:rPr dirty="0" sz="2800" spc="-100" b="1">
                <a:latin typeface="Tahoma"/>
                <a:cs typeface="Tahoma"/>
              </a:rPr>
              <a:t> </a:t>
            </a:r>
            <a:r>
              <a:rPr dirty="0" sz="2800" spc="-25" b="1">
                <a:latin typeface="Tahoma"/>
                <a:cs typeface="Tahoma"/>
              </a:rPr>
              <a:t>k-</a:t>
            </a:r>
            <a:r>
              <a:rPr dirty="0" sz="2800" spc="-10" b="1">
                <a:latin typeface="Tahoma"/>
                <a:cs typeface="Tahoma"/>
              </a:rPr>
              <a:t>means</a:t>
            </a:r>
            <a:endParaRPr sz="28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Try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several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random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initializations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take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best.</a:t>
            </a:r>
            <a:endParaRPr sz="24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130"/>
              </a:spcBef>
              <a:buClr>
                <a:srgbClr val="FF0000"/>
              </a:buClr>
              <a:buFont typeface="Tahoma"/>
              <a:buChar char="■"/>
            </a:pP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lr>
                <a:srgbClr val="3333CC"/>
              </a:buClr>
              <a:buSzPct val="58928"/>
              <a:buFont typeface="Tahoma"/>
              <a:buChar char="■"/>
              <a:tabLst>
                <a:tab pos="354965" algn="l"/>
              </a:tabLst>
            </a:pPr>
            <a:r>
              <a:rPr dirty="0" sz="2800" b="1">
                <a:latin typeface="Tahoma"/>
                <a:cs typeface="Tahoma"/>
              </a:rPr>
              <a:t>Better</a:t>
            </a:r>
            <a:r>
              <a:rPr dirty="0" sz="2800" spc="-80" b="1">
                <a:latin typeface="Tahoma"/>
                <a:cs typeface="Tahoma"/>
              </a:rPr>
              <a:t> </a:t>
            </a:r>
            <a:r>
              <a:rPr dirty="0" sz="2800" spc="-10" b="1">
                <a:latin typeface="Tahoma"/>
                <a:cs typeface="Tahoma"/>
              </a:rPr>
              <a:t>initialization</a:t>
            </a:r>
            <a:endParaRPr sz="2800">
              <a:latin typeface="Tahoma"/>
              <a:cs typeface="Tahoma"/>
            </a:endParaRPr>
          </a:p>
          <a:p>
            <a:pPr lvl="1" marL="755650" marR="1344930" indent="-285750">
              <a:lnSpc>
                <a:spcPct val="100000"/>
              </a:lnSpc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Use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some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better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heuristic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allocate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initial </a:t>
            </a:r>
            <a:r>
              <a:rPr dirty="0" sz="2400">
                <a:latin typeface="Tahoma"/>
                <a:cs typeface="Tahoma"/>
              </a:rPr>
              <a:t>distribution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code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vectors.</a:t>
            </a:r>
            <a:endParaRPr sz="2400">
              <a:latin typeface="Tahoma"/>
              <a:cs typeface="Tahoma"/>
            </a:endParaRPr>
          </a:p>
          <a:p>
            <a:pPr lvl="2" marL="1155065" marR="5080" indent="-228600">
              <a:lnSpc>
                <a:spcPts val="2880"/>
              </a:lnSpc>
              <a:spcBef>
                <a:spcPts val="100"/>
              </a:spcBef>
              <a:buClr>
                <a:srgbClr val="3333CC"/>
              </a:buClr>
              <a:buSzPct val="48000"/>
              <a:buFont typeface="Tahoma"/>
              <a:buChar char="■"/>
              <a:tabLst>
                <a:tab pos="1155065" algn="l"/>
              </a:tabLst>
            </a:pPr>
            <a:r>
              <a:rPr dirty="0" sz="2500" spc="-235" i="1">
                <a:latin typeface="Verdana"/>
                <a:cs typeface="Verdana"/>
              </a:rPr>
              <a:t>Designing</a:t>
            </a:r>
            <a:r>
              <a:rPr dirty="0" sz="2500" spc="-110" i="1">
                <a:latin typeface="Verdana"/>
                <a:cs typeface="Verdana"/>
              </a:rPr>
              <a:t> </a:t>
            </a:r>
            <a:r>
              <a:rPr dirty="0" sz="2500" spc="-235" i="1">
                <a:latin typeface="Verdana"/>
                <a:cs typeface="Verdana"/>
              </a:rPr>
              <a:t>good</a:t>
            </a:r>
            <a:r>
              <a:rPr dirty="0" sz="2500" spc="-110" i="1">
                <a:latin typeface="Verdana"/>
                <a:cs typeface="Verdana"/>
              </a:rPr>
              <a:t> </a:t>
            </a:r>
            <a:r>
              <a:rPr dirty="0" sz="2500" spc="-195" i="1">
                <a:latin typeface="Verdana"/>
                <a:cs typeface="Verdana"/>
              </a:rPr>
              <a:t>initialization</a:t>
            </a:r>
            <a:r>
              <a:rPr dirty="0" sz="2500" spc="-100" i="1">
                <a:latin typeface="Verdana"/>
                <a:cs typeface="Verdana"/>
              </a:rPr>
              <a:t> </a:t>
            </a:r>
            <a:r>
              <a:rPr dirty="0" sz="2500" spc="-195" i="1">
                <a:latin typeface="Verdana"/>
                <a:cs typeface="Verdana"/>
              </a:rPr>
              <a:t>is</a:t>
            </a:r>
            <a:r>
              <a:rPr dirty="0" sz="2500" spc="-105" i="1">
                <a:latin typeface="Verdana"/>
                <a:cs typeface="Verdana"/>
              </a:rPr>
              <a:t> </a:t>
            </a:r>
            <a:r>
              <a:rPr dirty="0" sz="2500" spc="-225" i="1">
                <a:latin typeface="Verdana"/>
                <a:cs typeface="Verdana"/>
              </a:rPr>
              <a:t>not</a:t>
            </a:r>
            <a:r>
              <a:rPr dirty="0" sz="2500" spc="-100" i="1">
                <a:latin typeface="Verdana"/>
                <a:cs typeface="Verdana"/>
              </a:rPr>
              <a:t> </a:t>
            </a:r>
            <a:r>
              <a:rPr dirty="0" sz="2500" spc="-265" i="1">
                <a:latin typeface="Verdana"/>
                <a:cs typeface="Verdana"/>
              </a:rPr>
              <a:t>any</a:t>
            </a:r>
            <a:r>
              <a:rPr dirty="0" sz="2500" spc="-105" i="1">
                <a:latin typeface="Verdana"/>
                <a:cs typeface="Verdana"/>
              </a:rPr>
              <a:t> </a:t>
            </a:r>
            <a:r>
              <a:rPr dirty="0" sz="2500" spc="-225" i="1">
                <a:latin typeface="Verdana"/>
                <a:cs typeface="Verdana"/>
              </a:rPr>
              <a:t>easier</a:t>
            </a:r>
            <a:r>
              <a:rPr dirty="0" sz="2500" spc="-100" i="1">
                <a:latin typeface="Verdana"/>
                <a:cs typeface="Verdana"/>
              </a:rPr>
              <a:t> </a:t>
            </a:r>
            <a:r>
              <a:rPr dirty="0" sz="2500" spc="-20" i="1">
                <a:latin typeface="Verdana"/>
                <a:cs typeface="Verdana"/>
              </a:rPr>
              <a:t>than </a:t>
            </a:r>
            <a:r>
              <a:rPr dirty="0" sz="2500" spc="-229" i="1">
                <a:latin typeface="Verdana"/>
                <a:cs typeface="Verdana"/>
              </a:rPr>
              <a:t>designing</a:t>
            </a:r>
            <a:r>
              <a:rPr dirty="0" sz="2500" spc="-100" i="1">
                <a:latin typeface="Verdana"/>
                <a:cs typeface="Verdana"/>
              </a:rPr>
              <a:t> </a:t>
            </a:r>
            <a:r>
              <a:rPr dirty="0" sz="2500" spc="-235" i="1">
                <a:latin typeface="Verdana"/>
                <a:cs typeface="Verdana"/>
              </a:rPr>
              <a:t>good</a:t>
            </a:r>
            <a:r>
              <a:rPr dirty="0" sz="2500" spc="-95" i="1">
                <a:latin typeface="Verdana"/>
                <a:cs typeface="Verdana"/>
              </a:rPr>
              <a:t> </a:t>
            </a:r>
            <a:r>
              <a:rPr dirty="0" sz="2500" spc="-210" i="1">
                <a:latin typeface="Verdana"/>
                <a:cs typeface="Verdana"/>
              </a:rPr>
              <a:t>clustering</a:t>
            </a:r>
            <a:r>
              <a:rPr dirty="0" sz="2500" spc="-95" i="1">
                <a:latin typeface="Verdana"/>
                <a:cs typeface="Verdana"/>
              </a:rPr>
              <a:t> </a:t>
            </a:r>
            <a:r>
              <a:rPr dirty="0" sz="2500" spc="-240" i="1">
                <a:latin typeface="Verdana"/>
                <a:cs typeface="Verdana"/>
              </a:rPr>
              <a:t>algorithm</a:t>
            </a:r>
            <a:r>
              <a:rPr dirty="0" sz="2500" spc="-95" i="1">
                <a:latin typeface="Verdana"/>
                <a:cs typeface="Verdana"/>
              </a:rPr>
              <a:t> </a:t>
            </a:r>
            <a:r>
              <a:rPr dirty="0" sz="2500" spc="-229" i="1">
                <a:latin typeface="Verdana"/>
                <a:cs typeface="Verdana"/>
              </a:rPr>
              <a:t>at</a:t>
            </a:r>
            <a:r>
              <a:rPr dirty="0" sz="2500" spc="-90" i="1">
                <a:latin typeface="Verdana"/>
                <a:cs typeface="Verdana"/>
              </a:rPr>
              <a:t> </a:t>
            </a:r>
            <a:r>
              <a:rPr dirty="0" sz="2500" spc="-235" i="1">
                <a:latin typeface="Verdana"/>
                <a:cs typeface="Verdana"/>
              </a:rPr>
              <a:t>the</a:t>
            </a:r>
            <a:r>
              <a:rPr dirty="0" sz="2500" spc="-90" i="1">
                <a:latin typeface="Verdana"/>
                <a:cs typeface="Verdana"/>
              </a:rPr>
              <a:t> </a:t>
            </a:r>
            <a:r>
              <a:rPr dirty="0" sz="2500" spc="-185" i="1">
                <a:latin typeface="Verdana"/>
                <a:cs typeface="Verdana"/>
              </a:rPr>
              <a:t>first</a:t>
            </a:r>
            <a:r>
              <a:rPr dirty="0" sz="2500" spc="-90" i="1">
                <a:latin typeface="Verdana"/>
                <a:cs typeface="Verdana"/>
              </a:rPr>
              <a:t> </a:t>
            </a:r>
            <a:r>
              <a:rPr dirty="0" sz="2500" spc="-150" i="1">
                <a:latin typeface="Verdana"/>
                <a:cs typeface="Verdana"/>
              </a:rPr>
              <a:t>place!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4381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95"/>
              </a:spcBef>
            </a:pPr>
            <a:r>
              <a:rPr dirty="0"/>
              <a:t>Two</a:t>
            </a:r>
            <a:r>
              <a:rPr dirty="0" spc="-85"/>
              <a:t> </a:t>
            </a:r>
            <a:r>
              <a:rPr dirty="0"/>
              <a:t>ways</a:t>
            </a:r>
            <a:r>
              <a:rPr dirty="0" spc="-85"/>
              <a:t> </a:t>
            </a:r>
            <a:r>
              <a:rPr dirty="0"/>
              <a:t>to</a:t>
            </a:r>
            <a:r>
              <a:rPr dirty="0" spc="-80"/>
              <a:t> </a:t>
            </a:r>
            <a:r>
              <a:rPr dirty="0"/>
              <a:t>improve</a:t>
            </a:r>
            <a:r>
              <a:rPr dirty="0" spc="-85"/>
              <a:t> </a:t>
            </a:r>
            <a:r>
              <a:rPr dirty="0" spc="-30"/>
              <a:t>k-</a:t>
            </a:r>
            <a:r>
              <a:rPr dirty="0" spc="-10"/>
              <a:t>means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36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578424" y="1942553"/>
            <a:ext cx="4422775" cy="434975"/>
            <a:chOff x="1578424" y="1942553"/>
            <a:chExt cx="4422775" cy="43497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8424" y="1953189"/>
              <a:ext cx="1691723" cy="39835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1936" y="1962670"/>
              <a:ext cx="1431963" cy="35345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8442" y="1944255"/>
              <a:ext cx="647302" cy="349453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1352" y="1942553"/>
              <a:ext cx="409816" cy="434695"/>
            </a:xfrm>
            <a:prstGeom prst="rect">
              <a:avLst/>
            </a:prstGeom>
          </p:spPr>
        </p:pic>
      </p:grp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76242" y="3712895"/>
            <a:ext cx="4617897" cy="811441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41868" y="5580367"/>
            <a:ext cx="3516464" cy="426572"/>
          </a:xfrm>
          <a:prstGeom prst="rect">
            <a:avLst/>
          </a:prstGeom>
        </p:spPr>
      </p:pic>
      <p:sp>
        <p:nvSpPr>
          <p:cNvPr id="12" name="object 12" descr=""/>
          <p:cNvSpPr/>
          <p:nvPr/>
        </p:nvSpPr>
        <p:spPr>
          <a:xfrm>
            <a:off x="5166893" y="5884893"/>
            <a:ext cx="19685" cy="28575"/>
          </a:xfrm>
          <a:custGeom>
            <a:avLst/>
            <a:gdLst/>
            <a:ahLst/>
            <a:cxnLst/>
            <a:rect l="l" t="t" r="r" b="b"/>
            <a:pathLst>
              <a:path w="19685" h="28575">
                <a:moveTo>
                  <a:pt x="16892" y="0"/>
                </a:moveTo>
                <a:lnTo>
                  <a:pt x="13817" y="0"/>
                </a:lnTo>
                <a:lnTo>
                  <a:pt x="12928" y="443"/>
                </a:lnTo>
                <a:lnTo>
                  <a:pt x="0" y="15745"/>
                </a:lnTo>
                <a:lnTo>
                  <a:pt x="469" y="21494"/>
                </a:lnTo>
                <a:lnTo>
                  <a:pt x="8153" y="27994"/>
                </a:lnTo>
                <a:lnTo>
                  <a:pt x="13906" y="27514"/>
                </a:lnTo>
                <a:lnTo>
                  <a:pt x="18669" y="21883"/>
                </a:lnTo>
                <a:lnTo>
                  <a:pt x="19443" y="19580"/>
                </a:lnTo>
                <a:lnTo>
                  <a:pt x="18453" y="3213"/>
                </a:lnTo>
                <a:lnTo>
                  <a:pt x="18338" y="1291"/>
                </a:lnTo>
                <a:lnTo>
                  <a:pt x="168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17576" y="990600"/>
            <a:ext cx="711835" cy="582295"/>
            <a:chOff x="417576" y="990600"/>
            <a:chExt cx="711835" cy="582295"/>
          </a:xfrm>
        </p:grpSpPr>
        <p:sp>
          <p:nvSpPr>
            <p:cNvPr id="3" name="object 3" descr=""/>
            <p:cNvSpPr/>
            <p:nvPr/>
          </p:nvSpPr>
          <p:spPr>
            <a:xfrm>
              <a:off x="417576" y="1098804"/>
              <a:ext cx="382905" cy="474345"/>
            </a:xfrm>
            <a:custGeom>
              <a:avLst/>
              <a:gdLst/>
              <a:ahLst/>
              <a:cxnLst/>
              <a:rect l="l" t="t" r="r" b="b"/>
              <a:pathLst>
                <a:path w="382905" h="474344">
                  <a:moveTo>
                    <a:pt x="0" y="473963"/>
                  </a:moveTo>
                  <a:lnTo>
                    <a:pt x="382523" y="473963"/>
                  </a:lnTo>
                  <a:lnTo>
                    <a:pt x="382523" y="0"/>
                  </a:lnTo>
                  <a:lnTo>
                    <a:pt x="0" y="0"/>
                  </a:lnTo>
                  <a:lnTo>
                    <a:pt x="0" y="473963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00" y="1098804"/>
              <a:ext cx="329184" cy="47396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762000" y="990600"/>
              <a:ext cx="32384" cy="422275"/>
            </a:xfrm>
            <a:custGeom>
              <a:avLst/>
              <a:gdLst/>
              <a:ahLst/>
              <a:cxnLst/>
              <a:rect l="l" t="t" r="r" b="b"/>
              <a:pathLst>
                <a:path w="32384" h="422275">
                  <a:moveTo>
                    <a:pt x="0" y="422275"/>
                  </a:moveTo>
                  <a:lnTo>
                    <a:pt x="32004" y="422275"/>
                  </a:lnTo>
                  <a:lnTo>
                    <a:pt x="32004" y="0"/>
                  </a:lnTo>
                  <a:lnTo>
                    <a:pt x="0" y="0"/>
                  </a:lnTo>
                  <a:lnTo>
                    <a:pt x="0" y="422275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8490" y="490537"/>
            <a:ext cx="573405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RBF</a:t>
            </a:r>
            <a:r>
              <a:rPr dirty="0" spc="-100"/>
              <a:t> </a:t>
            </a:r>
            <a:r>
              <a:rPr dirty="0"/>
              <a:t>Networks</a:t>
            </a:r>
            <a:r>
              <a:rPr dirty="0" spc="-100"/>
              <a:t> </a:t>
            </a:r>
            <a:r>
              <a:rPr dirty="0"/>
              <a:t>vs.</a:t>
            </a:r>
            <a:r>
              <a:rPr dirty="0" spc="-105"/>
              <a:t> </a:t>
            </a:r>
            <a:r>
              <a:rPr dirty="0" spc="-25"/>
              <a:t>MLP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0" y="1412875"/>
            <a:ext cx="8964930" cy="5329555"/>
          </a:xfrm>
          <a:custGeom>
            <a:avLst/>
            <a:gdLst/>
            <a:ahLst/>
            <a:cxnLst/>
            <a:rect l="l" t="t" r="r" b="b"/>
            <a:pathLst>
              <a:path w="8964930" h="5329555">
                <a:moveTo>
                  <a:pt x="8964612" y="0"/>
                </a:moveTo>
                <a:lnTo>
                  <a:pt x="0" y="0"/>
                </a:lnTo>
                <a:lnTo>
                  <a:pt x="0" y="5329237"/>
                </a:lnTo>
                <a:lnTo>
                  <a:pt x="8964612" y="5329237"/>
                </a:lnTo>
                <a:lnTo>
                  <a:pt x="89646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78739" y="1384934"/>
            <a:ext cx="8766810" cy="5082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ts val="287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Tahoma"/>
              <a:buChar char="■"/>
              <a:tabLst>
                <a:tab pos="354965" algn="l"/>
              </a:tabLst>
            </a:pPr>
            <a:r>
              <a:rPr dirty="0" sz="2400" spc="-10" b="1">
                <a:latin typeface="Tahoma"/>
                <a:cs typeface="Tahoma"/>
              </a:rPr>
              <a:t>Similarities</a:t>
            </a:r>
            <a:endParaRPr sz="2400">
              <a:latin typeface="Tahoma"/>
              <a:cs typeface="Tahoma"/>
            </a:endParaRPr>
          </a:p>
          <a:p>
            <a:pPr lvl="1" marL="755650" marR="67310" indent="-285750">
              <a:lnSpc>
                <a:spcPts val="1920"/>
              </a:lnSpc>
              <a:spcBef>
                <a:spcPts val="455"/>
              </a:spcBef>
              <a:buClr>
                <a:srgbClr val="FF0000"/>
              </a:buClr>
              <a:buSzPct val="55000"/>
              <a:buChar char="■"/>
              <a:tabLst>
                <a:tab pos="755650" algn="l"/>
              </a:tabLst>
            </a:pP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RBF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Networks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MLP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are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800000"/>
                </a:solidFill>
                <a:latin typeface="Tahoma"/>
                <a:cs typeface="Tahoma"/>
              </a:rPr>
              <a:t>layered</a:t>
            </a:r>
            <a:r>
              <a:rPr dirty="0" sz="2000" spc="-35">
                <a:solidFill>
                  <a:srgbClr val="800000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800000"/>
                </a:solidFill>
                <a:latin typeface="Tahoma"/>
                <a:cs typeface="Tahoma"/>
              </a:rPr>
              <a:t>feedforward</a:t>
            </a:r>
            <a:r>
              <a:rPr dirty="0" sz="2000" spc="-40">
                <a:solidFill>
                  <a:srgbClr val="800000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800000"/>
                </a:solidFill>
                <a:latin typeface="Tahoma"/>
                <a:cs typeface="Tahoma"/>
              </a:rPr>
              <a:t>networks</a:t>
            </a:r>
            <a:r>
              <a:rPr dirty="0" sz="2000" spc="-30">
                <a:solidFill>
                  <a:srgbClr val="800000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that </a:t>
            </a:r>
            <a:r>
              <a:rPr dirty="0" sz="2000">
                <a:latin typeface="Tahoma"/>
                <a:cs typeface="Tahoma"/>
              </a:rPr>
              <a:t>produce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800000"/>
                </a:solidFill>
                <a:latin typeface="Tahoma"/>
                <a:cs typeface="Tahoma"/>
              </a:rPr>
              <a:t>nonlinear</a:t>
            </a:r>
            <a:r>
              <a:rPr dirty="0" sz="2000" spc="-50">
                <a:solidFill>
                  <a:srgbClr val="800000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800000"/>
                </a:solidFill>
                <a:latin typeface="Tahoma"/>
                <a:cs typeface="Tahoma"/>
              </a:rPr>
              <a:t>function</a:t>
            </a:r>
            <a:r>
              <a:rPr dirty="0" sz="2000" spc="-55">
                <a:solidFill>
                  <a:srgbClr val="800000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800000"/>
                </a:solidFill>
                <a:latin typeface="Tahoma"/>
                <a:cs typeface="Tahoma"/>
              </a:rPr>
              <a:t>mappings</a:t>
            </a:r>
            <a:r>
              <a:rPr dirty="0" sz="2000" spc="-10">
                <a:latin typeface="Tahoma"/>
                <a:cs typeface="Tahoma"/>
              </a:rPr>
              <a:t>;</a:t>
            </a:r>
            <a:endParaRPr sz="2000">
              <a:latin typeface="Tahoma"/>
              <a:cs typeface="Tahoma"/>
            </a:endParaRPr>
          </a:p>
          <a:p>
            <a:pPr lvl="1" marL="755015" indent="-285115">
              <a:lnSpc>
                <a:spcPts val="2435"/>
              </a:lnSpc>
              <a:buClr>
                <a:srgbClr val="FF0000"/>
              </a:buClr>
              <a:buSzPct val="55000"/>
              <a:buChar char="■"/>
              <a:tabLst>
                <a:tab pos="755015" algn="l"/>
              </a:tabLst>
            </a:pPr>
            <a:r>
              <a:rPr dirty="0" sz="2000">
                <a:latin typeface="Tahoma"/>
                <a:cs typeface="Tahoma"/>
              </a:rPr>
              <a:t>They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are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both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proven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800000"/>
                </a:solidFill>
                <a:latin typeface="Tahoma"/>
                <a:cs typeface="Tahoma"/>
              </a:rPr>
              <a:t>universal</a:t>
            </a:r>
            <a:r>
              <a:rPr dirty="0" sz="2000" spc="-30">
                <a:solidFill>
                  <a:srgbClr val="800000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800000"/>
                </a:solidFill>
                <a:latin typeface="Tahoma"/>
                <a:cs typeface="Tahoma"/>
              </a:rPr>
              <a:t>approximators</a:t>
            </a:r>
            <a:r>
              <a:rPr dirty="0" sz="2100" spc="-10" i="1">
                <a:latin typeface="Verdana"/>
                <a:cs typeface="Verdana"/>
              </a:rPr>
              <a:t>;</a:t>
            </a:r>
            <a:endParaRPr sz="2100">
              <a:latin typeface="Verdana"/>
              <a:cs typeface="Verdana"/>
            </a:endParaRPr>
          </a:p>
          <a:p>
            <a:pPr marL="354965" indent="-342265">
              <a:lnSpc>
                <a:spcPts val="2865"/>
              </a:lnSpc>
              <a:buClr>
                <a:srgbClr val="3333CC"/>
              </a:buClr>
              <a:buSzPct val="60416"/>
              <a:buFont typeface="Tahoma"/>
              <a:buChar char="■"/>
              <a:tabLst>
                <a:tab pos="354965" algn="l"/>
              </a:tabLst>
            </a:pPr>
            <a:r>
              <a:rPr dirty="0" sz="2400" spc="-10" b="1">
                <a:latin typeface="Tahoma"/>
                <a:cs typeface="Tahoma"/>
              </a:rPr>
              <a:t>Differences</a:t>
            </a:r>
            <a:endParaRPr sz="2400">
              <a:latin typeface="Tahoma"/>
              <a:cs typeface="Tahoma"/>
            </a:endParaRPr>
          </a:p>
          <a:p>
            <a:pPr lvl="1" marL="755650" marR="254000" indent="-285750">
              <a:lnSpc>
                <a:spcPct val="80000"/>
              </a:lnSpc>
              <a:spcBef>
                <a:spcPts val="470"/>
              </a:spcBef>
              <a:buClr>
                <a:srgbClr val="FF0000"/>
              </a:buClr>
              <a:buSzPct val="55000"/>
              <a:buChar char="■"/>
              <a:tabLst>
                <a:tab pos="755650" algn="l"/>
              </a:tabLst>
            </a:pPr>
            <a:r>
              <a:rPr dirty="0" sz="2000">
                <a:latin typeface="Tahoma"/>
                <a:cs typeface="Tahoma"/>
              </a:rPr>
              <a:t>An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RBF</a:t>
            </a:r>
            <a:r>
              <a:rPr dirty="0" sz="20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network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has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only</a:t>
            </a:r>
            <a:r>
              <a:rPr dirty="0" sz="2000" spc="-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one</a:t>
            </a:r>
            <a:r>
              <a:rPr dirty="0" sz="20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hidden</a:t>
            </a:r>
            <a:r>
              <a:rPr dirty="0" sz="20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layer</a:t>
            </a:r>
            <a:r>
              <a:rPr dirty="0" sz="2000">
                <a:latin typeface="Tahoma"/>
                <a:cs typeface="Tahoma"/>
              </a:rPr>
              <a:t>,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while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0000FF"/>
                </a:solidFill>
                <a:latin typeface="Tahoma"/>
                <a:cs typeface="Tahoma"/>
              </a:rPr>
              <a:t>MLP</a:t>
            </a:r>
            <a:r>
              <a:rPr dirty="0" sz="2000" spc="-3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networks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have </a:t>
            </a:r>
            <a:r>
              <a:rPr dirty="0" sz="2000">
                <a:solidFill>
                  <a:srgbClr val="0000FF"/>
                </a:solidFill>
                <a:latin typeface="Tahoma"/>
                <a:cs typeface="Tahoma"/>
              </a:rPr>
              <a:t>one</a:t>
            </a:r>
            <a:r>
              <a:rPr dirty="0" sz="2000" spc="-3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0000FF"/>
                </a:solidFill>
                <a:latin typeface="Tahoma"/>
                <a:cs typeface="Tahoma"/>
              </a:rPr>
              <a:t>or</a:t>
            </a:r>
            <a:r>
              <a:rPr dirty="0" sz="2000" spc="-3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0000FF"/>
                </a:solidFill>
                <a:latin typeface="Tahoma"/>
                <a:cs typeface="Tahoma"/>
              </a:rPr>
              <a:t>more</a:t>
            </a:r>
            <a:r>
              <a:rPr dirty="0" sz="2000" spc="-3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0000FF"/>
                </a:solidFill>
                <a:latin typeface="Tahoma"/>
                <a:cs typeface="Tahoma"/>
              </a:rPr>
              <a:t>hidden</a:t>
            </a:r>
            <a:r>
              <a:rPr dirty="0" sz="2000" spc="-3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0000FF"/>
                </a:solidFill>
                <a:latin typeface="Tahoma"/>
                <a:cs typeface="Tahoma"/>
              </a:rPr>
              <a:t>layers</a:t>
            </a:r>
            <a:r>
              <a:rPr dirty="0" sz="2000" spc="-3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depending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on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application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task;</a:t>
            </a:r>
            <a:endParaRPr sz="2000">
              <a:latin typeface="Tahoma"/>
              <a:cs typeface="Tahoma"/>
            </a:endParaRPr>
          </a:p>
          <a:p>
            <a:pPr lvl="1" marL="755650" marR="531495" indent="-285750">
              <a:lnSpc>
                <a:spcPct val="80000"/>
              </a:lnSpc>
              <a:spcBef>
                <a:spcPts val="480"/>
              </a:spcBef>
              <a:buClr>
                <a:srgbClr val="FF0000"/>
              </a:buClr>
              <a:buSzPct val="55000"/>
              <a:buChar char="■"/>
              <a:tabLst>
                <a:tab pos="755650" algn="l"/>
              </a:tabLst>
            </a:pP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nodes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hidden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output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layers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MLP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use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0000FF"/>
                </a:solidFill>
                <a:latin typeface="Tahoma"/>
                <a:cs typeface="Tahoma"/>
              </a:rPr>
              <a:t>same </a:t>
            </a:r>
            <a:r>
              <a:rPr dirty="0" sz="2000">
                <a:solidFill>
                  <a:srgbClr val="0000FF"/>
                </a:solidFill>
                <a:latin typeface="Tahoma"/>
                <a:cs typeface="Tahoma"/>
              </a:rPr>
              <a:t>activation</a:t>
            </a:r>
            <a:r>
              <a:rPr dirty="0" sz="2000" spc="-5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0000FF"/>
                </a:solidFill>
                <a:latin typeface="Tahoma"/>
                <a:cs typeface="Tahoma"/>
              </a:rPr>
              <a:t>function</a:t>
            </a:r>
            <a:r>
              <a:rPr dirty="0" sz="2000">
                <a:latin typeface="Tahoma"/>
                <a:cs typeface="Tahoma"/>
              </a:rPr>
              <a:t>,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while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RBF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uses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different</a:t>
            </a:r>
            <a:r>
              <a:rPr dirty="0" sz="2000" spc="-5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activation</a:t>
            </a:r>
            <a:r>
              <a:rPr dirty="0" sz="2000" spc="-5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functions</a:t>
            </a:r>
            <a:r>
              <a:rPr dirty="0" sz="2000" spc="-5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at </a:t>
            </a:r>
            <a:r>
              <a:rPr dirty="0" sz="2000">
                <a:latin typeface="Tahoma"/>
                <a:cs typeface="Tahoma"/>
              </a:rPr>
              <a:t>each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node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(Gaussians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parameterized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by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different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centers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and </a:t>
            </a:r>
            <a:r>
              <a:rPr dirty="0" sz="2000" spc="-10">
                <a:latin typeface="Tahoma"/>
                <a:cs typeface="Tahoma"/>
              </a:rPr>
              <a:t>variances);</a:t>
            </a:r>
            <a:endParaRPr sz="2000">
              <a:latin typeface="Tahoma"/>
              <a:cs typeface="Tahoma"/>
            </a:endParaRPr>
          </a:p>
          <a:p>
            <a:pPr lvl="1" marL="755650" marR="5080" indent="-285750">
              <a:lnSpc>
                <a:spcPts val="1920"/>
              </a:lnSpc>
              <a:spcBef>
                <a:spcPts val="459"/>
              </a:spcBef>
              <a:buClr>
                <a:srgbClr val="FF0000"/>
              </a:buClr>
              <a:buSzPct val="55000"/>
              <a:buChar char="■"/>
              <a:tabLst>
                <a:tab pos="755650" algn="l"/>
              </a:tabLst>
            </a:pP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0000FF"/>
                </a:solidFill>
                <a:latin typeface="Tahoma"/>
                <a:cs typeface="Tahoma"/>
              </a:rPr>
              <a:t>hidden</a:t>
            </a:r>
            <a:r>
              <a:rPr dirty="0" sz="2000" spc="-3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dirty="0" sz="2000" spc="-3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0000FF"/>
                </a:solidFill>
                <a:latin typeface="Tahoma"/>
                <a:cs typeface="Tahoma"/>
              </a:rPr>
              <a:t>output</a:t>
            </a:r>
            <a:r>
              <a:rPr dirty="0" sz="2000" spc="-3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0000FF"/>
                </a:solidFill>
                <a:latin typeface="Tahoma"/>
                <a:cs typeface="Tahoma"/>
              </a:rPr>
              <a:t>layers</a:t>
            </a:r>
            <a:r>
              <a:rPr dirty="0" sz="2000" spc="-3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MLP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are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0000FF"/>
                </a:solidFill>
                <a:latin typeface="Tahoma"/>
                <a:cs typeface="Tahoma"/>
              </a:rPr>
              <a:t>both</a:t>
            </a:r>
            <a:r>
              <a:rPr dirty="0" sz="2000" spc="-3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0000FF"/>
                </a:solidFill>
                <a:latin typeface="Tahoma"/>
                <a:cs typeface="Tahoma"/>
              </a:rPr>
              <a:t>nonlinear</a:t>
            </a:r>
            <a:r>
              <a:rPr dirty="0" sz="2000">
                <a:latin typeface="Tahoma"/>
                <a:cs typeface="Tahoma"/>
              </a:rPr>
              <a:t>,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while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only</a:t>
            </a:r>
            <a:r>
              <a:rPr dirty="0" sz="20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FF0000"/>
                </a:solidFill>
                <a:latin typeface="Tahoma"/>
                <a:cs typeface="Tahoma"/>
              </a:rPr>
              <a:t>the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hidden</a:t>
            </a:r>
            <a:r>
              <a:rPr dirty="0" sz="2000" spc="-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layer</a:t>
            </a:r>
            <a:r>
              <a:rPr dirty="0" sz="20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RBF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nonlinear</a:t>
            </a:r>
            <a:r>
              <a:rPr dirty="0" sz="20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output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layer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linear);</a:t>
            </a:r>
            <a:endParaRPr sz="2000">
              <a:latin typeface="Tahoma"/>
              <a:cs typeface="Tahoma"/>
            </a:endParaRPr>
          </a:p>
          <a:p>
            <a:pPr lvl="1" marL="755650" marR="560070" indent="-285750">
              <a:lnSpc>
                <a:spcPts val="1920"/>
              </a:lnSpc>
              <a:spcBef>
                <a:spcPts val="480"/>
              </a:spcBef>
              <a:buClr>
                <a:srgbClr val="FF0000"/>
              </a:buClr>
              <a:buSzPct val="55000"/>
              <a:buChar char="■"/>
              <a:tabLst>
                <a:tab pos="755650" algn="l"/>
              </a:tabLst>
            </a:pP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activation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functions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RBF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nodes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compute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Tahoma"/>
                <a:cs typeface="Tahoma"/>
              </a:rPr>
              <a:t>Euclidean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distance</a:t>
            </a:r>
            <a:r>
              <a:rPr dirty="0" sz="2000" spc="-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between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input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examples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centers,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while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the </a:t>
            </a:r>
            <a:r>
              <a:rPr dirty="0" sz="2000">
                <a:latin typeface="Tahoma"/>
                <a:cs typeface="Tahoma"/>
              </a:rPr>
              <a:t>activation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functions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MLP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compute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0000FF"/>
                </a:solidFill>
                <a:latin typeface="Tahoma"/>
                <a:cs typeface="Tahoma"/>
              </a:rPr>
              <a:t>inner</a:t>
            </a:r>
            <a:r>
              <a:rPr dirty="0" sz="20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0000FF"/>
                </a:solidFill>
                <a:latin typeface="Tahoma"/>
                <a:cs typeface="Tahoma"/>
              </a:rPr>
              <a:t>products</a:t>
            </a:r>
            <a:r>
              <a:rPr dirty="0" sz="2000" spc="-3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from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input </a:t>
            </a:r>
            <a:r>
              <a:rPr dirty="0" sz="2000">
                <a:latin typeface="Tahoma"/>
                <a:cs typeface="Tahoma"/>
              </a:rPr>
              <a:t>examples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incoming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weights;</a:t>
            </a:r>
            <a:endParaRPr sz="20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SzPct val="55000"/>
              <a:buChar char="■"/>
              <a:tabLst>
                <a:tab pos="755015" algn="l"/>
              </a:tabLst>
            </a:pPr>
            <a:r>
              <a:rPr dirty="0" sz="2000">
                <a:latin typeface="Tahoma"/>
                <a:cs typeface="Tahoma"/>
              </a:rPr>
              <a:t>MLP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constructs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0000FF"/>
                </a:solidFill>
                <a:latin typeface="Tahoma"/>
                <a:cs typeface="Tahoma"/>
              </a:rPr>
              <a:t>global</a:t>
            </a:r>
            <a:r>
              <a:rPr dirty="0" sz="2000" spc="-4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0000FF"/>
                </a:solidFill>
                <a:latin typeface="Tahoma"/>
                <a:cs typeface="Tahoma"/>
              </a:rPr>
              <a:t>approximations</a:t>
            </a:r>
            <a:r>
              <a:rPr dirty="0" sz="2000" spc="-4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while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RBF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construct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Tahoma"/>
                <a:cs typeface="Tahoma"/>
              </a:rPr>
              <a:t>local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21689" y="6379845"/>
            <a:ext cx="1812289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solidFill>
                  <a:srgbClr val="FF0000"/>
                </a:solidFill>
                <a:latin typeface="Tahoma"/>
                <a:cs typeface="Tahoma"/>
              </a:rPr>
              <a:t>approximations</a:t>
            </a:r>
            <a:r>
              <a:rPr dirty="0" sz="2000" spc="-10"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37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00430" y="146905"/>
            <a:ext cx="6685280" cy="6419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25425" indent="-212725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225425" algn="l"/>
              </a:tabLst>
            </a:pPr>
            <a:r>
              <a:rPr dirty="0" sz="900" spc="30">
                <a:latin typeface="Microsoft JhengHei UI"/>
                <a:cs typeface="Microsoft JhengHei UI"/>
              </a:rPr>
              <a:t>都是前馈⽹络： 两者都是“分层”的，并且信息“前向”传递</a:t>
            </a:r>
            <a:r>
              <a:rPr dirty="0" sz="900" spc="50">
                <a:latin typeface="Microsoft JhengHei UI"/>
                <a:cs typeface="Microsoft JhengHei UI"/>
              </a:rPr>
              <a:t>（没有环路）</a:t>
            </a:r>
            <a:r>
              <a:rPr dirty="0" sz="900">
                <a:latin typeface="Microsoft JhengHei UI"/>
                <a:cs typeface="Microsoft JhengHei UI"/>
              </a:rPr>
              <a:t>。</a:t>
            </a:r>
            <a:endParaRPr sz="900">
              <a:latin typeface="Microsoft JhengHei UI"/>
              <a:cs typeface="Microsoft JhengHei UI"/>
            </a:endParaRPr>
          </a:p>
          <a:p>
            <a:pPr marL="225425" indent="-212725">
              <a:lnSpc>
                <a:spcPct val="100000"/>
              </a:lnSpc>
              <a:spcBef>
                <a:spcPts val="785"/>
              </a:spcBef>
              <a:buAutoNum type="arabicPeriod"/>
              <a:tabLst>
                <a:tab pos="225425" algn="l"/>
              </a:tabLst>
            </a:pPr>
            <a:r>
              <a:rPr dirty="0" sz="900">
                <a:latin typeface="Microsoft JhengHei UI"/>
                <a:cs typeface="Microsoft JhengHei UI"/>
              </a:rPr>
              <a:t>都能⾮线性拟合：   它们的主要⼯作都是“函数拟合”，即学习输⼊到输出的⾮线性映射关系（⽐如拟合复杂的曲线或曲⾯）</a:t>
            </a:r>
            <a:r>
              <a:rPr dirty="0" sz="900" spc="-50">
                <a:latin typeface="Microsoft JhengHei UI"/>
                <a:cs typeface="Microsoft JhengHei UI"/>
              </a:rPr>
              <a:t>。</a:t>
            </a:r>
            <a:endParaRPr sz="900">
              <a:latin typeface="Microsoft JhengHei UI"/>
              <a:cs typeface="Microsoft JhengHei UI"/>
            </a:endParaRPr>
          </a:p>
          <a:p>
            <a:pPr marL="225425" indent="-212725">
              <a:lnSpc>
                <a:spcPct val="100000"/>
              </a:lnSpc>
              <a:spcBef>
                <a:spcPts val="790"/>
              </a:spcBef>
              <a:buAutoNum type="arabicPeriod"/>
              <a:tabLst>
                <a:tab pos="225425" algn="l"/>
              </a:tabLst>
            </a:pPr>
            <a:r>
              <a:rPr dirty="0" sz="900" spc="-5">
                <a:latin typeface="Microsoft JhengHei UI"/>
                <a:cs typeface="Microsoft JhengHei UI"/>
              </a:rPr>
              <a:t>都是“万能逼近器”：   理论上都已被证明，只要给予⾜够多的神经元，它们都能以任意精度逼近任何连续函数。</a:t>
            </a:r>
            <a:endParaRPr sz="900">
              <a:latin typeface="Microsoft JhengHei UI"/>
              <a:cs typeface="Microsoft JhengHei U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92715" y="1157617"/>
            <a:ext cx="5248275" cy="1518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25425" indent="-212725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225425" algn="l"/>
              </a:tabLst>
            </a:pPr>
            <a:r>
              <a:rPr dirty="0" sz="900">
                <a:latin typeface="Microsoft JhengHei UI"/>
                <a:cs typeface="Microsoft JhengHei UI"/>
              </a:rPr>
              <a:t>⽹络深度（结构</a:t>
            </a:r>
            <a:r>
              <a:rPr dirty="0" sz="900" spc="-25">
                <a:latin typeface="Microsoft JhengHei UI"/>
                <a:cs typeface="Microsoft JhengHei UI"/>
              </a:rPr>
              <a:t>）：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900" spc="55">
                <a:latin typeface="Microsoft JhengHei UI"/>
                <a:cs typeface="Microsoft JhengHei UI"/>
              </a:rPr>
              <a:t>RBF：</a:t>
            </a:r>
            <a:r>
              <a:rPr dirty="0" sz="900" spc="15">
                <a:latin typeface="Microsoft JhengHei UI"/>
                <a:cs typeface="Microsoft JhengHei UI"/>
              </a:rPr>
              <a:t> 通常只有⼀个隐藏层。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900">
                <a:latin typeface="Microsoft JhengHei UI"/>
                <a:cs typeface="Microsoft JhengHei UI"/>
              </a:rPr>
              <a:t>MLP：</a:t>
            </a:r>
            <a:r>
              <a:rPr dirty="0" sz="900" spc="70">
                <a:latin typeface="Microsoft JhengHei UI"/>
                <a:cs typeface="Microsoft JhengHei UI"/>
              </a:rPr>
              <a:t> 可以有⼀个或多个隐藏层</a:t>
            </a:r>
            <a:r>
              <a:rPr dirty="0" sz="900" spc="50">
                <a:latin typeface="Microsoft JhengHei UI"/>
                <a:cs typeface="Microsoft JhengHei UI"/>
              </a:rPr>
              <a:t>（</a:t>
            </a:r>
            <a:r>
              <a:rPr dirty="0" sz="900" spc="25">
                <a:latin typeface="Microsoft JhengHei UI"/>
                <a:cs typeface="Microsoft JhengHei UI"/>
              </a:rPr>
              <a:t>即“深度学习”中的“深度</a:t>
            </a:r>
            <a:r>
              <a:rPr dirty="0" sz="900">
                <a:latin typeface="Microsoft JhengHei UI"/>
                <a:cs typeface="Microsoft JhengHei UI"/>
              </a:rPr>
              <a:t>”）。</a:t>
            </a:r>
            <a:endParaRPr sz="900">
              <a:latin typeface="Microsoft JhengHei UI"/>
              <a:cs typeface="Microsoft JhengHei U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900">
              <a:latin typeface="Microsoft JhengHei UI"/>
              <a:cs typeface="Microsoft JhengHei UI"/>
            </a:endParaRPr>
          </a:p>
          <a:p>
            <a:pPr marL="154305" indent="-141605">
              <a:lnSpc>
                <a:spcPct val="100000"/>
              </a:lnSpc>
              <a:buAutoNum type="arabicPeriod" startAt="2"/>
              <a:tabLst>
                <a:tab pos="154305" algn="l"/>
              </a:tabLst>
            </a:pPr>
            <a:r>
              <a:rPr dirty="0" sz="900">
                <a:latin typeface="Microsoft JhengHei UI"/>
                <a:cs typeface="Microsoft JhengHei UI"/>
              </a:rPr>
              <a:t>输出层（计算</a:t>
            </a:r>
            <a:r>
              <a:rPr dirty="0" sz="900" spc="-25">
                <a:latin typeface="Microsoft JhengHei UI"/>
                <a:cs typeface="Microsoft JhengHei UI"/>
              </a:rPr>
              <a:t>）：</a:t>
            </a:r>
            <a:endParaRPr sz="900">
              <a:latin typeface="Microsoft JhengHei UI"/>
              <a:cs typeface="Microsoft JhengHei UI"/>
            </a:endParaRPr>
          </a:p>
          <a:p>
            <a:pPr marL="12700" marR="5080">
              <a:lnSpc>
                <a:spcPct val="172800"/>
              </a:lnSpc>
            </a:pPr>
            <a:r>
              <a:rPr dirty="0" sz="900">
                <a:latin typeface="Microsoft JhengHei UI"/>
                <a:cs typeface="Microsoft JhengHei UI"/>
              </a:rPr>
              <a:t>MLP：</a:t>
            </a:r>
            <a:r>
              <a:rPr dirty="0" sz="900" spc="5">
                <a:latin typeface="Microsoft JhengHei UI"/>
                <a:cs typeface="Microsoft JhengHei UI"/>
              </a:rPr>
              <a:t> 隐藏层和输出层都是⾮线性的</a:t>
            </a:r>
            <a:r>
              <a:rPr dirty="0" sz="900">
                <a:latin typeface="Microsoft JhengHei UI"/>
                <a:cs typeface="Microsoft JhengHei UI"/>
              </a:rPr>
              <a:t>（</a:t>
            </a:r>
            <a:r>
              <a:rPr dirty="0" sz="900" spc="20">
                <a:latin typeface="Microsoft JhengHei UI"/>
                <a:cs typeface="Microsoft JhengHei UI"/>
              </a:rPr>
              <a:t>输出层通常也有⼀个激活函数，如 </a:t>
            </a:r>
            <a:r>
              <a:rPr dirty="0" sz="900">
                <a:latin typeface="Microsoft JhengHei UI"/>
                <a:cs typeface="Microsoft JhengHei UI"/>
              </a:rPr>
              <a:t>Sigmoid</a:t>
            </a:r>
            <a:r>
              <a:rPr dirty="0" sz="900" spc="235">
                <a:latin typeface="Microsoft JhengHei UI"/>
                <a:cs typeface="Microsoft JhengHei UI"/>
              </a:rPr>
              <a:t> 或 </a:t>
            </a:r>
            <a:r>
              <a:rPr dirty="0" sz="900">
                <a:latin typeface="Microsoft JhengHei UI"/>
                <a:cs typeface="Microsoft JhengHei UI"/>
              </a:rPr>
              <a:t>Softmax）</a:t>
            </a:r>
            <a:r>
              <a:rPr dirty="0" sz="900" spc="-50">
                <a:latin typeface="Microsoft JhengHei UI"/>
                <a:cs typeface="Microsoft JhengHei UI"/>
              </a:rPr>
              <a:t>。</a:t>
            </a:r>
            <a:r>
              <a:rPr dirty="0" sz="900" spc="55">
                <a:latin typeface="Microsoft JhengHei UI"/>
                <a:cs typeface="Microsoft JhengHei UI"/>
              </a:rPr>
              <a:t> RBF：</a:t>
            </a:r>
            <a:r>
              <a:rPr dirty="0" sz="900" spc="35">
                <a:latin typeface="Microsoft JhengHei UI"/>
                <a:cs typeface="Microsoft JhengHei UI"/>
              </a:rPr>
              <a:t>  只有隐藏层是⾮线性的</a:t>
            </a:r>
            <a:r>
              <a:rPr dirty="0" sz="900">
                <a:latin typeface="Microsoft JhengHei UI"/>
                <a:cs typeface="Microsoft JhengHei UI"/>
              </a:rPr>
              <a:t>（⾼斯函数）；输出层是线性的（</a:t>
            </a:r>
            <a:r>
              <a:rPr dirty="0" sz="900" spc="35">
                <a:latin typeface="Microsoft JhengHei UI"/>
                <a:cs typeface="Microsoft JhengHei UI"/>
              </a:rPr>
              <a:t>它只是⼀个简单的“加权求和”  </a:t>
            </a:r>
            <a:r>
              <a:rPr dirty="0" sz="900">
                <a:latin typeface="Microsoft JhengHei UI"/>
                <a:cs typeface="Microsoft JhengHei UI"/>
              </a:rPr>
              <a:t>）</a:t>
            </a:r>
            <a:r>
              <a:rPr dirty="0" sz="900" spc="-50">
                <a:latin typeface="Microsoft JhengHei UI"/>
                <a:cs typeface="Microsoft JhengHei UI"/>
              </a:rPr>
              <a:t>。</a:t>
            </a:r>
            <a:endParaRPr sz="900">
              <a:latin typeface="Microsoft JhengHei UI"/>
              <a:cs typeface="Microsoft JhengHei U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92715" y="2911221"/>
            <a:ext cx="3234690" cy="6419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>
                <a:latin typeface="Microsoft JhengHei UI"/>
                <a:cs typeface="Microsoft JhengHei UI"/>
              </a:rPr>
              <a:t>3.</a:t>
            </a:r>
            <a:r>
              <a:rPr dirty="0" sz="900" spc="50">
                <a:latin typeface="Microsoft JhengHei UI"/>
                <a:cs typeface="Microsoft JhengHei UI"/>
              </a:rPr>
              <a:t> 神经元激活⽅式</a:t>
            </a:r>
            <a:r>
              <a:rPr dirty="0" sz="900">
                <a:latin typeface="Microsoft JhengHei UI"/>
                <a:cs typeface="Microsoft JhengHei UI"/>
              </a:rPr>
              <a:t>（核⼼区别</a:t>
            </a:r>
            <a:r>
              <a:rPr dirty="0" sz="900" spc="-25">
                <a:latin typeface="Microsoft JhengHei UI"/>
                <a:cs typeface="Microsoft JhengHei UI"/>
              </a:rPr>
              <a:t>）：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900">
                <a:latin typeface="Microsoft JhengHei UI"/>
                <a:cs typeface="Microsoft JhengHei UI"/>
              </a:rPr>
              <a:t>MLP：</a:t>
            </a:r>
            <a:r>
              <a:rPr dirty="0" sz="900" spc="60">
                <a:latin typeface="Microsoft JhengHei UI"/>
                <a:cs typeface="Microsoft JhengHei UI"/>
              </a:rPr>
              <a:t> 激活是基于“内积” </a:t>
            </a:r>
            <a:r>
              <a:rPr dirty="0" sz="900">
                <a:latin typeface="Microsoft JhengHei UI"/>
                <a:cs typeface="Microsoft JhengHei UI"/>
              </a:rPr>
              <a:t>(inner</a:t>
            </a:r>
            <a:r>
              <a:rPr dirty="0" sz="900" spc="160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products)</a:t>
            </a:r>
            <a:r>
              <a:rPr dirty="0" sz="900" spc="-50">
                <a:latin typeface="Microsoft JhengHei UI"/>
                <a:cs typeface="Microsoft JhengHei UI"/>
              </a:rPr>
              <a:t>。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900" spc="55">
                <a:latin typeface="Microsoft JhengHei UI"/>
                <a:cs typeface="Microsoft JhengHei UI"/>
              </a:rPr>
              <a:t>RBF：</a:t>
            </a:r>
            <a:r>
              <a:rPr dirty="0" sz="900" spc="50">
                <a:latin typeface="Microsoft JhengHei UI"/>
                <a:cs typeface="Microsoft JhengHei UI"/>
              </a:rPr>
              <a:t> 激活是基于“欧⼏⾥得距离” </a:t>
            </a:r>
            <a:r>
              <a:rPr dirty="0" sz="900">
                <a:latin typeface="Microsoft JhengHei UI"/>
                <a:cs typeface="Microsoft JhengHei UI"/>
              </a:rPr>
              <a:t>(Euclidean</a:t>
            </a:r>
            <a:r>
              <a:rPr dirty="0" sz="900" spc="190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distance)</a:t>
            </a:r>
            <a:r>
              <a:rPr dirty="0" sz="900" spc="-25">
                <a:latin typeface="Microsoft JhengHei UI"/>
                <a:cs typeface="Microsoft JhengHei UI"/>
              </a:rPr>
              <a:t>。即</a:t>
            </a:r>
            <a:endParaRPr sz="900">
              <a:latin typeface="Microsoft JhengHei UI"/>
              <a:cs typeface="Microsoft JhengHei U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386907" y="3148194"/>
            <a:ext cx="2906395" cy="4051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5">
                <a:latin typeface="Microsoft JhengHei UI"/>
                <a:cs typeface="Microsoft JhengHei UI"/>
              </a:rPr>
              <a:t>，它计算的是输⼊和权重的“加权总和”。</a:t>
            </a:r>
            <a:endParaRPr sz="900">
              <a:latin typeface="Microsoft JhengHei UI"/>
              <a:cs typeface="Microsoft JhengHei UI"/>
            </a:endParaRPr>
          </a:p>
          <a:p>
            <a:pPr marL="705485">
              <a:lnSpc>
                <a:spcPct val="100000"/>
              </a:lnSpc>
              <a:spcBef>
                <a:spcPts val="785"/>
              </a:spcBef>
            </a:pPr>
            <a:r>
              <a:rPr dirty="0" sz="900" spc="20">
                <a:latin typeface="Microsoft JhengHei UI"/>
                <a:cs typeface="Microsoft JhengHei UI"/>
              </a:rPr>
              <a:t>，它计算的是输⼊ </a:t>
            </a:r>
            <a:r>
              <a:rPr dirty="0" sz="900">
                <a:latin typeface="Microsoft JhengHei UI"/>
                <a:cs typeface="Microsoft JhengHei UI"/>
              </a:rPr>
              <a:t>x</a:t>
            </a:r>
            <a:r>
              <a:rPr dirty="0" sz="900" spc="70">
                <a:latin typeface="Microsoft JhengHei UI"/>
                <a:cs typeface="Microsoft JhengHei UI"/>
              </a:rPr>
              <a:t> 和中⼼ </a:t>
            </a:r>
            <a:r>
              <a:rPr dirty="0" sz="900" spc="55">
                <a:latin typeface="Microsoft JhengHei UI"/>
                <a:cs typeface="Microsoft JhengHei UI"/>
              </a:rPr>
              <a:t>c</a:t>
            </a:r>
            <a:r>
              <a:rPr dirty="0" sz="900" spc="70">
                <a:latin typeface="Microsoft JhengHei UI"/>
                <a:cs typeface="Microsoft JhengHei UI"/>
              </a:rPr>
              <a:t> 有多“近”。</a:t>
            </a:r>
            <a:endParaRPr sz="900">
              <a:latin typeface="Microsoft JhengHei UI"/>
              <a:cs typeface="Microsoft JhengHei U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92715" y="3788023"/>
            <a:ext cx="8118475" cy="1518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54305" indent="-141605">
              <a:lnSpc>
                <a:spcPct val="100000"/>
              </a:lnSpc>
              <a:spcBef>
                <a:spcPts val="130"/>
              </a:spcBef>
              <a:buAutoNum type="arabicPeriod" startAt="4"/>
              <a:tabLst>
                <a:tab pos="154305" algn="l"/>
              </a:tabLst>
            </a:pPr>
            <a:r>
              <a:rPr dirty="0" sz="900" spc="35">
                <a:latin typeface="Microsoft JhengHei UI"/>
                <a:cs typeface="Microsoft JhengHei UI"/>
              </a:rPr>
              <a:t>激活函数的“个性”：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900">
                <a:latin typeface="Microsoft JhengHei UI"/>
                <a:cs typeface="Microsoft JhengHei UI"/>
              </a:rPr>
              <a:t>MLP：  所有隐藏神经元使⽤完全相同的激活函数（</a:t>
            </a:r>
            <a:r>
              <a:rPr dirty="0" sz="900" spc="40">
                <a:latin typeface="Microsoft JhengHei UI"/>
                <a:cs typeface="Microsoft JhengHei UI"/>
              </a:rPr>
              <a:t>⽐如⼤家都是  </a:t>
            </a:r>
            <a:r>
              <a:rPr dirty="0" sz="900">
                <a:latin typeface="Microsoft JhengHei UI"/>
                <a:cs typeface="Microsoft JhengHei UI"/>
              </a:rPr>
              <a:t>ReLU）</a:t>
            </a:r>
            <a:r>
              <a:rPr dirty="0" sz="900" spc="-50">
                <a:latin typeface="Microsoft JhengHei UI"/>
                <a:cs typeface="Microsoft JhengHei UI"/>
              </a:rPr>
              <a:t>。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6221095" algn="l"/>
              </a:tabLst>
            </a:pPr>
            <a:r>
              <a:rPr dirty="0" sz="900" spc="55">
                <a:latin typeface="Microsoft JhengHei UI"/>
                <a:cs typeface="Microsoft JhengHei UI"/>
              </a:rPr>
              <a:t>RBF：</a:t>
            </a:r>
            <a:r>
              <a:rPr dirty="0" sz="900" spc="290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每个隐藏神经元使⽤不同的激活函数（因为每个⾼斯函数</a:t>
            </a:r>
            <a:r>
              <a:rPr dirty="0" sz="900" spc="295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$\phi_i$</a:t>
            </a:r>
            <a:r>
              <a:rPr dirty="0" sz="900" spc="290">
                <a:latin typeface="Microsoft JhengHei UI"/>
                <a:cs typeface="Microsoft JhengHei UI"/>
              </a:rPr>
              <a:t> </a:t>
            </a:r>
            <a:r>
              <a:rPr dirty="0" sz="900" spc="50">
                <a:latin typeface="Microsoft JhengHei UI"/>
                <a:cs typeface="Microsoft JhengHei UI"/>
              </a:rPr>
              <a:t>都有⾃⼰独⼀⽆⼆的</a:t>
            </a:r>
            <a:r>
              <a:rPr dirty="0" sz="900">
                <a:latin typeface="Microsoft JhengHei UI"/>
                <a:cs typeface="Microsoft JhengHei UI"/>
              </a:rPr>
              <a:t>“</a:t>
            </a:r>
            <a:r>
              <a:rPr dirty="0" sz="900" spc="50">
                <a:latin typeface="Microsoft JhengHei UI"/>
                <a:cs typeface="Microsoft JhengHei UI"/>
              </a:rPr>
              <a:t>中⼼</a:t>
            </a:r>
            <a:r>
              <a:rPr dirty="0" sz="900">
                <a:latin typeface="Microsoft JhengHei UI"/>
                <a:cs typeface="Microsoft JhengHei UI"/>
              </a:rPr>
              <a:t>”</a:t>
            </a:r>
            <a:r>
              <a:rPr dirty="0" sz="900" spc="295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ci</a:t>
            </a:r>
            <a:r>
              <a:rPr dirty="0" sz="900" spc="290">
                <a:latin typeface="Microsoft JhengHei UI"/>
                <a:cs typeface="Microsoft JhengHei UI"/>
              </a:rPr>
              <a:t> </a:t>
            </a:r>
            <a:r>
              <a:rPr dirty="0" sz="900" spc="105">
                <a:latin typeface="Microsoft JhengHei UI"/>
                <a:cs typeface="Microsoft JhengHei UI"/>
              </a:rPr>
              <a:t>和</a:t>
            </a:r>
            <a:r>
              <a:rPr dirty="0" sz="900">
                <a:latin typeface="Microsoft JhengHei UI"/>
                <a:cs typeface="Microsoft JhengHei UI"/>
              </a:rPr>
              <a:t>“</a:t>
            </a:r>
            <a:r>
              <a:rPr dirty="0" sz="900" spc="105">
                <a:latin typeface="Microsoft JhengHei UI"/>
                <a:cs typeface="Microsoft JhengHei UI"/>
              </a:rPr>
              <a:t>宽度</a:t>
            </a:r>
            <a:r>
              <a:rPr dirty="0" sz="900" spc="-50">
                <a:latin typeface="Microsoft JhengHei UI"/>
                <a:cs typeface="Microsoft JhengHei UI"/>
              </a:rPr>
              <a:t>”</a:t>
            </a:r>
            <a:r>
              <a:rPr dirty="0" sz="900">
                <a:latin typeface="Microsoft JhengHei UI"/>
                <a:cs typeface="Microsoft JhengHei UI"/>
              </a:rPr>
              <a:t>	）</a:t>
            </a:r>
            <a:r>
              <a:rPr dirty="0" sz="900" spc="-50">
                <a:latin typeface="Microsoft JhengHei UI"/>
                <a:cs typeface="Microsoft JhengHei UI"/>
              </a:rPr>
              <a:t>。</a:t>
            </a:r>
            <a:endParaRPr sz="900">
              <a:latin typeface="Microsoft JhengHei UI"/>
              <a:cs typeface="Microsoft JhengHei U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900">
              <a:latin typeface="Microsoft JhengHei UI"/>
              <a:cs typeface="Microsoft JhengHei UI"/>
            </a:endParaRPr>
          </a:p>
          <a:p>
            <a:pPr marL="154305" indent="-141605">
              <a:lnSpc>
                <a:spcPct val="100000"/>
              </a:lnSpc>
              <a:buAutoNum type="arabicPeriod" startAt="5"/>
              <a:tabLst>
                <a:tab pos="154305" algn="l"/>
              </a:tabLst>
            </a:pPr>
            <a:r>
              <a:rPr dirty="0" sz="900">
                <a:latin typeface="Microsoft JhengHei UI"/>
                <a:cs typeface="Microsoft JhengHei UI"/>
              </a:rPr>
              <a:t>拟合⽅式（</a:t>
            </a:r>
            <a:r>
              <a:rPr dirty="0" sz="900" spc="75">
                <a:latin typeface="Microsoft JhengHei UI"/>
                <a:cs typeface="Microsoft JhengHei UI"/>
              </a:rPr>
              <a:t>全局 </a:t>
            </a:r>
            <a:r>
              <a:rPr dirty="0" sz="900">
                <a:latin typeface="Microsoft JhengHei UI"/>
                <a:cs typeface="Microsoft JhengHei UI"/>
              </a:rPr>
              <a:t>vs</a:t>
            </a:r>
            <a:r>
              <a:rPr dirty="0" sz="900" spc="75">
                <a:latin typeface="Microsoft JhengHei UI"/>
                <a:cs typeface="Microsoft JhengHei UI"/>
              </a:rPr>
              <a:t> 局部</a:t>
            </a:r>
            <a:r>
              <a:rPr dirty="0" sz="900" spc="-25">
                <a:latin typeface="Microsoft JhengHei UI"/>
                <a:cs typeface="Microsoft JhengHei UI"/>
              </a:rPr>
              <a:t>）：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900">
                <a:latin typeface="Microsoft JhengHei UI"/>
                <a:cs typeface="Microsoft JhengHei UI"/>
              </a:rPr>
              <a:t>MLP：   构建的是“全局”近似。⼀个输⼊会激活所有神经元。改变⼀个权重会（在某种程度上）</a:t>
            </a:r>
            <a:r>
              <a:rPr dirty="0" sz="900" spc="-5">
                <a:latin typeface="Microsoft JhengHei UI"/>
                <a:cs typeface="Microsoft JhengHei UI"/>
              </a:rPr>
              <a:t>影响整个函数的形状。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900" spc="55">
                <a:latin typeface="Microsoft JhengHei UI"/>
                <a:cs typeface="Microsoft JhengHei UI"/>
              </a:rPr>
              <a:t>RBF：</a:t>
            </a:r>
            <a:r>
              <a:rPr dirty="0" sz="900" spc="45">
                <a:latin typeface="Microsoft JhengHei UI"/>
                <a:cs typeface="Microsoft JhengHei UI"/>
              </a:rPr>
              <a:t> 构建的是“局部”近似。⼀个输⼊只会激活它“附近”的少数 </a:t>
            </a:r>
            <a:r>
              <a:rPr dirty="0" sz="900" spc="60">
                <a:latin typeface="Microsoft JhengHei UI"/>
                <a:cs typeface="Microsoft JhengHei UI"/>
              </a:rPr>
              <a:t>RBF</a:t>
            </a:r>
            <a:r>
              <a:rPr dirty="0" sz="900" spc="110">
                <a:latin typeface="Microsoft JhengHei UI"/>
                <a:cs typeface="Microsoft JhengHei UI"/>
              </a:rPr>
              <a:t> 神经元</a:t>
            </a:r>
            <a:r>
              <a:rPr dirty="0" sz="900">
                <a:latin typeface="Microsoft JhengHei UI"/>
                <a:cs typeface="Microsoft JhengHei UI"/>
              </a:rPr>
              <a:t>（“</a:t>
            </a:r>
            <a:r>
              <a:rPr dirty="0" sz="900" spc="60">
                <a:latin typeface="Microsoft JhengHei UI"/>
                <a:cs typeface="Microsoft JhengHei UI"/>
              </a:rPr>
              <a:t>⾼斯⼭丘</a:t>
            </a:r>
            <a:r>
              <a:rPr dirty="0" sz="900">
                <a:latin typeface="Microsoft JhengHei UI"/>
                <a:cs typeface="Microsoft JhengHei UI"/>
              </a:rPr>
              <a:t>”）</a:t>
            </a:r>
            <a:r>
              <a:rPr dirty="0" sz="900" spc="10">
                <a:latin typeface="Microsoft JhengHei UI"/>
                <a:cs typeface="Microsoft JhengHei UI"/>
              </a:rPr>
              <a:t>。它像“打补丁”⼀样，⽤很多“局部”函数拼凑出“全局”函数。</a:t>
            </a:r>
            <a:endParaRPr sz="900">
              <a:latin typeface="Microsoft JhengHei UI"/>
              <a:cs typeface="Microsoft JhengHei U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2652" y="2525626"/>
            <a:ext cx="540414" cy="18930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68469" y="3075222"/>
            <a:ext cx="2162941" cy="541582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7506" y="4337548"/>
            <a:ext cx="428345" cy="37243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38342" y="4428837"/>
            <a:ext cx="165191" cy="20006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39590" y="4298752"/>
            <a:ext cx="181519" cy="14106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6492" y="1098803"/>
            <a:ext cx="1153795" cy="896619"/>
            <a:chOff x="126492" y="1098803"/>
            <a:chExt cx="1153795" cy="896619"/>
          </a:xfrm>
        </p:grpSpPr>
        <p:sp>
          <p:nvSpPr>
            <p:cNvPr id="3" name="object 3" descr=""/>
            <p:cNvSpPr/>
            <p:nvPr/>
          </p:nvSpPr>
          <p:spPr>
            <a:xfrm>
              <a:off x="417576" y="1098803"/>
              <a:ext cx="382905" cy="474345"/>
            </a:xfrm>
            <a:custGeom>
              <a:avLst/>
              <a:gdLst/>
              <a:ahLst/>
              <a:cxnLst/>
              <a:rect l="l" t="t" r="r" b="b"/>
              <a:pathLst>
                <a:path w="382905" h="474344">
                  <a:moveTo>
                    <a:pt x="0" y="473963"/>
                  </a:moveTo>
                  <a:lnTo>
                    <a:pt x="382523" y="473963"/>
                  </a:lnTo>
                  <a:lnTo>
                    <a:pt x="382523" y="0"/>
                  </a:lnTo>
                  <a:lnTo>
                    <a:pt x="0" y="0"/>
                  </a:lnTo>
                  <a:lnTo>
                    <a:pt x="0" y="473963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00" y="1098803"/>
              <a:ext cx="329184" cy="47396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41019" y="1520951"/>
              <a:ext cx="370840" cy="474345"/>
            </a:xfrm>
            <a:custGeom>
              <a:avLst/>
              <a:gdLst/>
              <a:ahLst/>
              <a:cxnLst/>
              <a:rect l="l" t="t" r="r" b="b"/>
              <a:pathLst>
                <a:path w="370840" h="474344">
                  <a:moveTo>
                    <a:pt x="0" y="473963"/>
                  </a:moveTo>
                  <a:lnTo>
                    <a:pt x="370332" y="473963"/>
                  </a:lnTo>
                  <a:lnTo>
                    <a:pt x="370332" y="0"/>
                  </a:lnTo>
                  <a:lnTo>
                    <a:pt x="0" y="0"/>
                  </a:lnTo>
                  <a:lnTo>
                    <a:pt x="0" y="47396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1351" y="1520951"/>
              <a:ext cx="368807" cy="47396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492" y="1447799"/>
              <a:ext cx="560832" cy="422148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143319" y="990600"/>
            <a:ext cx="8712200" cy="3994785"/>
            <a:chOff x="143319" y="990600"/>
            <a:chExt cx="8712200" cy="3994785"/>
          </a:xfrm>
        </p:grpSpPr>
        <p:sp>
          <p:nvSpPr>
            <p:cNvPr id="9" name="object 9" descr=""/>
            <p:cNvSpPr/>
            <p:nvPr/>
          </p:nvSpPr>
          <p:spPr>
            <a:xfrm>
              <a:off x="762000" y="990599"/>
              <a:ext cx="32384" cy="898525"/>
            </a:xfrm>
            <a:custGeom>
              <a:avLst/>
              <a:gdLst/>
              <a:ahLst/>
              <a:cxnLst/>
              <a:rect l="l" t="t" r="r" b="b"/>
              <a:pathLst>
                <a:path w="32384" h="898525">
                  <a:moveTo>
                    <a:pt x="32004" y="822960"/>
                  </a:moveTo>
                  <a:lnTo>
                    <a:pt x="0" y="822960"/>
                  </a:lnTo>
                  <a:lnTo>
                    <a:pt x="0" y="898271"/>
                  </a:lnTo>
                  <a:lnTo>
                    <a:pt x="32004" y="898271"/>
                  </a:lnTo>
                  <a:lnTo>
                    <a:pt x="32004" y="822960"/>
                  </a:lnTo>
                  <a:close/>
                </a:path>
                <a:path w="32384" h="898525">
                  <a:moveTo>
                    <a:pt x="32004" y="0"/>
                  </a:moveTo>
                  <a:lnTo>
                    <a:pt x="0" y="0"/>
                  </a:lnTo>
                  <a:lnTo>
                    <a:pt x="0" y="790956"/>
                  </a:lnTo>
                  <a:lnTo>
                    <a:pt x="32004" y="790956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484" y="1781555"/>
              <a:ext cx="8226552" cy="3200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43319" y="1888871"/>
              <a:ext cx="8712200" cy="3096895"/>
            </a:xfrm>
            <a:custGeom>
              <a:avLst/>
              <a:gdLst/>
              <a:ahLst/>
              <a:cxnLst/>
              <a:rect l="l" t="t" r="r" b="b"/>
              <a:pathLst>
                <a:path w="8712200" h="3096895">
                  <a:moveTo>
                    <a:pt x="8712200" y="0"/>
                  </a:moveTo>
                  <a:lnTo>
                    <a:pt x="0" y="0"/>
                  </a:lnTo>
                  <a:lnTo>
                    <a:pt x="0" y="3096348"/>
                  </a:lnTo>
                  <a:lnTo>
                    <a:pt x="8712200" y="3096348"/>
                  </a:lnTo>
                  <a:lnTo>
                    <a:pt x="8712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6185" rIns="0" bIns="0" rtlCol="0" vert="horz">
            <a:spAutoFit/>
          </a:bodyPr>
          <a:lstStyle/>
          <a:p>
            <a:pPr marL="1065530">
              <a:lnSpc>
                <a:spcPct val="100000"/>
              </a:lnSpc>
              <a:spcBef>
                <a:spcPts val="95"/>
              </a:spcBef>
            </a:pPr>
            <a:r>
              <a:rPr dirty="0"/>
              <a:t>RBF</a:t>
            </a:r>
            <a:r>
              <a:rPr dirty="0" spc="-105"/>
              <a:t> </a:t>
            </a:r>
            <a:r>
              <a:rPr dirty="0"/>
              <a:t>Training</a:t>
            </a:r>
            <a:r>
              <a:rPr dirty="0" spc="-100"/>
              <a:t> </a:t>
            </a:r>
            <a:r>
              <a:rPr dirty="0" spc="-10"/>
              <a:t>Algorithm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8661400" y="6440400"/>
            <a:ext cx="194945" cy="21590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1400" spc="-25">
                <a:latin typeface="Tahoma"/>
                <a:cs typeface="Tahoma"/>
              </a:rPr>
              <a:t>38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43255" y="4797552"/>
            <a:ext cx="8892540" cy="2016760"/>
          </a:xfrm>
          <a:custGeom>
            <a:avLst/>
            <a:gdLst/>
            <a:ahLst/>
            <a:cxnLst/>
            <a:rect l="l" t="t" r="r" b="b"/>
            <a:pathLst>
              <a:path w="8892540" h="2016759">
                <a:moveTo>
                  <a:pt x="8892540" y="0"/>
                </a:moveTo>
                <a:lnTo>
                  <a:pt x="0" y="0"/>
                </a:lnTo>
                <a:lnTo>
                  <a:pt x="0" y="2016252"/>
                </a:lnTo>
                <a:lnTo>
                  <a:pt x="8892540" y="2016252"/>
                </a:lnTo>
                <a:lnTo>
                  <a:pt x="88925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71259" y="1921255"/>
            <a:ext cx="8536940" cy="3634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5765" indent="-342265">
              <a:lnSpc>
                <a:spcPts val="1185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Tahoma"/>
              <a:buChar char="■"/>
              <a:tabLst>
                <a:tab pos="405765" algn="l"/>
              </a:tabLst>
            </a:pPr>
            <a:r>
              <a:rPr dirty="0" sz="2400" b="1">
                <a:latin typeface="Tahoma"/>
                <a:cs typeface="Tahoma"/>
              </a:rPr>
              <a:t>Initialization:</a:t>
            </a:r>
            <a:r>
              <a:rPr dirty="0" sz="2400" spc="-10" b="1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Examples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{(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x</a:t>
            </a:r>
            <a:r>
              <a:rPr dirty="0" baseline="-17921" sz="2325">
                <a:latin typeface="Tahoma"/>
                <a:cs typeface="Tahoma"/>
              </a:rPr>
              <a:t>e</a:t>
            </a:r>
            <a:r>
              <a:rPr dirty="0" sz="2400">
                <a:latin typeface="Tahoma"/>
                <a:cs typeface="Tahoma"/>
              </a:rPr>
              <a:t>,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</a:t>
            </a:r>
            <a:r>
              <a:rPr dirty="0" baseline="-17921" sz="2325">
                <a:latin typeface="Tahoma"/>
                <a:cs typeface="Tahoma"/>
              </a:rPr>
              <a:t>e</a:t>
            </a:r>
            <a:r>
              <a:rPr dirty="0" baseline="-17921" sz="2325" spc="3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)}</a:t>
            </a:r>
            <a:r>
              <a:rPr dirty="0" baseline="-17921" sz="2325" spc="-15">
                <a:latin typeface="Tahoma"/>
                <a:cs typeface="Tahoma"/>
              </a:rPr>
              <a:t>e=1</a:t>
            </a:r>
            <a:endParaRPr baseline="-17921" sz="2325">
              <a:latin typeface="Tahoma"/>
              <a:cs typeface="Tahoma"/>
            </a:endParaRPr>
          </a:p>
          <a:p>
            <a:pPr algn="r" marR="2631440">
              <a:lnSpc>
                <a:spcPts val="925"/>
              </a:lnSpc>
            </a:pPr>
            <a:r>
              <a:rPr dirty="0" sz="1550" spc="-50">
                <a:latin typeface="Tahoma"/>
                <a:cs typeface="Tahoma"/>
              </a:rPr>
              <a:t>N</a:t>
            </a:r>
            <a:endParaRPr sz="1550">
              <a:latin typeface="Tahoma"/>
              <a:cs typeface="Tahoma"/>
            </a:endParaRPr>
          </a:p>
          <a:p>
            <a:pPr marL="405765" indent="-342265">
              <a:lnSpc>
                <a:spcPct val="100000"/>
              </a:lnSpc>
              <a:spcBef>
                <a:spcPts val="1345"/>
              </a:spcBef>
              <a:buClr>
                <a:srgbClr val="3333CC"/>
              </a:buClr>
              <a:buSzPct val="60416"/>
              <a:buFont typeface="Tahoma"/>
              <a:buChar char="■"/>
              <a:tabLst>
                <a:tab pos="405765" algn="l"/>
              </a:tabLst>
            </a:pPr>
            <a:r>
              <a:rPr dirty="0" sz="2400" spc="-10" b="1">
                <a:latin typeface="Tahoma"/>
                <a:cs typeface="Tahoma"/>
              </a:rPr>
              <a:t>Determine:</a:t>
            </a:r>
            <a:endParaRPr sz="2400">
              <a:latin typeface="Tahoma"/>
              <a:cs typeface="Tahoma"/>
            </a:endParaRPr>
          </a:p>
          <a:p>
            <a:pPr lvl="1" marL="806450" marR="55880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806450" algn="l"/>
              </a:tabLst>
            </a:pP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structure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number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basis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functions </a:t>
            </a:r>
            <a:r>
              <a:rPr dirty="0" sz="2400">
                <a:latin typeface="Tahoma"/>
                <a:cs typeface="Tahoma"/>
              </a:rPr>
              <a:t>φ</a:t>
            </a:r>
            <a:r>
              <a:rPr dirty="0" baseline="-17921" sz="2325">
                <a:latin typeface="Tahoma"/>
                <a:cs typeface="Tahoma"/>
              </a:rPr>
              <a:t>i</a:t>
            </a:r>
            <a:r>
              <a:rPr dirty="0" sz="2400">
                <a:latin typeface="Tahoma"/>
                <a:cs typeface="Tahoma"/>
              </a:rPr>
              <a:t>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i=1,2,...,M</a:t>
            </a:r>
            <a:endParaRPr sz="2400">
              <a:latin typeface="Tahoma"/>
              <a:cs typeface="Tahoma"/>
            </a:endParaRPr>
          </a:p>
          <a:p>
            <a:pPr lvl="1" marL="805815" indent="-28511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805815" algn="l"/>
              </a:tabLst>
            </a:pP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basis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function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centers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t</a:t>
            </a:r>
            <a:r>
              <a:rPr dirty="0" baseline="-17921" sz="2325">
                <a:latin typeface="Tahoma"/>
                <a:cs typeface="Tahoma"/>
              </a:rPr>
              <a:t>i</a:t>
            </a:r>
            <a:r>
              <a:rPr dirty="0" sz="2400">
                <a:latin typeface="Tahoma"/>
                <a:cs typeface="Tahoma"/>
              </a:rPr>
              <a:t>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i=1,2,...,M</a:t>
            </a:r>
            <a:endParaRPr sz="2400">
              <a:latin typeface="Tahoma"/>
              <a:cs typeface="Tahoma"/>
            </a:endParaRPr>
          </a:p>
          <a:p>
            <a:pPr lvl="2" marL="1205865" indent="-227965">
              <a:lnSpc>
                <a:spcPct val="100000"/>
              </a:lnSpc>
              <a:spcBef>
                <a:spcPts val="380"/>
              </a:spcBef>
              <a:buClr>
                <a:srgbClr val="3333CC"/>
              </a:buClr>
              <a:buSzPct val="50000"/>
              <a:buChar char="■"/>
              <a:tabLst>
                <a:tab pos="1205865" algn="l"/>
              </a:tabLst>
            </a:pPr>
            <a:r>
              <a:rPr dirty="0" sz="2000">
                <a:latin typeface="Tahoma"/>
                <a:cs typeface="Tahoma"/>
              </a:rPr>
              <a:t>e.g.: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using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100" spc="-195" b="1" i="1">
                <a:solidFill>
                  <a:srgbClr val="FF0000"/>
                </a:solidFill>
                <a:latin typeface="Verdana"/>
                <a:cs typeface="Verdana"/>
              </a:rPr>
              <a:t>k-</a:t>
            </a:r>
            <a:r>
              <a:rPr dirty="0" sz="2100" spc="-254" b="1" i="1">
                <a:solidFill>
                  <a:srgbClr val="FF0000"/>
                </a:solidFill>
                <a:latin typeface="Verdana"/>
                <a:cs typeface="Verdana"/>
              </a:rPr>
              <a:t>means</a:t>
            </a:r>
            <a:r>
              <a:rPr dirty="0" sz="2100" spc="-120" b="1" i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z="2100" spc="-190" b="1" i="1">
                <a:solidFill>
                  <a:srgbClr val="FF0000"/>
                </a:solidFill>
                <a:latin typeface="Verdana"/>
                <a:cs typeface="Verdana"/>
              </a:rPr>
              <a:t>clustering</a:t>
            </a:r>
            <a:r>
              <a:rPr dirty="0" sz="2100" spc="-120" b="1" i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latin typeface="Tahoma"/>
                <a:cs typeface="Tahoma"/>
              </a:rPr>
              <a:t>algorithm</a:t>
            </a:r>
            <a:endParaRPr sz="2000">
              <a:latin typeface="Tahoma"/>
              <a:cs typeface="Tahoma"/>
            </a:endParaRPr>
          </a:p>
          <a:p>
            <a:pPr lvl="1" marL="805815" indent="-285115">
              <a:lnSpc>
                <a:spcPts val="1185"/>
              </a:lnSpc>
              <a:spcBef>
                <a:spcPts val="550"/>
              </a:spcBef>
              <a:buClr>
                <a:srgbClr val="FF0000"/>
              </a:buClr>
              <a:buSzPct val="54166"/>
              <a:buChar char="■"/>
              <a:tabLst>
                <a:tab pos="805815" algn="l"/>
              </a:tabLst>
            </a:pP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basis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function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variances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σ</a:t>
            </a:r>
            <a:r>
              <a:rPr dirty="0" baseline="-17921" sz="2325">
                <a:latin typeface="Tahoma"/>
                <a:cs typeface="Tahoma"/>
              </a:rPr>
              <a:t>i</a:t>
            </a:r>
            <a:r>
              <a:rPr dirty="0" baseline="-17921" sz="2325" spc="509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i=1,2,...,M</a:t>
            </a:r>
            <a:endParaRPr sz="2400">
              <a:latin typeface="Tahoma"/>
              <a:cs typeface="Tahoma"/>
            </a:endParaRPr>
          </a:p>
          <a:p>
            <a:pPr algn="ctr" marL="1298575">
              <a:lnSpc>
                <a:spcPts val="925"/>
              </a:lnSpc>
            </a:pPr>
            <a:r>
              <a:rPr dirty="0" sz="1550" spc="-50">
                <a:latin typeface="Tahoma"/>
                <a:cs typeface="Tahoma"/>
              </a:rPr>
              <a:t>2</a:t>
            </a:r>
            <a:endParaRPr sz="1550">
              <a:latin typeface="Tahoma"/>
              <a:cs typeface="Tahoma"/>
            </a:endParaRPr>
          </a:p>
          <a:p>
            <a:pPr marL="405765" indent="-342265">
              <a:lnSpc>
                <a:spcPct val="100000"/>
              </a:lnSpc>
              <a:spcBef>
                <a:spcPts val="1095"/>
              </a:spcBef>
              <a:buClr>
                <a:srgbClr val="3333CC"/>
              </a:buClr>
              <a:buSzPct val="60416"/>
              <a:buFont typeface="Tahoma"/>
              <a:buChar char="■"/>
              <a:tabLst>
                <a:tab pos="405765" algn="l"/>
              </a:tabLst>
            </a:pPr>
            <a:r>
              <a:rPr dirty="0" sz="2400" spc="-10" b="1">
                <a:latin typeface="Tahoma"/>
                <a:cs typeface="Tahoma"/>
              </a:rPr>
              <a:t>Compute:</a:t>
            </a:r>
            <a:endParaRPr sz="2400">
              <a:latin typeface="Tahoma"/>
              <a:cs typeface="Tahoma"/>
            </a:endParaRPr>
          </a:p>
          <a:p>
            <a:pPr lvl="1" marL="805815" indent="-285115">
              <a:lnSpc>
                <a:spcPct val="100000"/>
              </a:lnSpc>
              <a:spcBef>
                <a:spcPts val="355"/>
              </a:spcBef>
              <a:buClr>
                <a:srgbClr val="FF0000"/>
              </a:buClr>
              <a:buSzPct val="55000"/>
              <a:buChar char="■"/>
              <a:tabLst>
                <a:tab pos="805815" algn="l"/>
              </a:tabLst>
            </a:pP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outputs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from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each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example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with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Gaussian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basis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functions: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79259" y="6276060"/>
            <a:ext cx="17024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55000"/>
              <a:buChar char="■"/>
              <a:tabLst>
                <a:tab pos="297815" algn="l"/>
              </a:tabLst>
            </a:pP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weights: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956407" y="5542470"/>
            <a:ext cx="3016250" cy="684530"/>
            <a:chOff x="2956407" y="5542470"/>
            <a:chExt cx="3016250" cy="684530"/>
          </a:xfrm>
        </p:grpSpPr>
        <p:sp>
          <p:nvSpPr>
            <p:cNvPr id="18" name="object 18" descr=""/>
            <p:cNvSpPr/>
            <p:nvPr/>
          </p:nvSpPr>
          <p:spPr>
            <a:xfrm>
              <a:off x="2956407" y="5774550"/>
              <a:ext cx="167640" cy="276860"/>
            </a:xfrm>
            <a:custGeom>
              <a:avLst/>
              <a:gdLst/>
              <a:ahLst/>
              <a:cxnLst/>
              <a:rect l="l" t="t" r="r" b="b"/>
              <a:pathLst>
                <a:path w="167639" h="276860">
                  <a:moveTo>
                    <a:pt x="121564" y="0"/>
                  </a:moveTo>
                  <a:lnTo>
                    <a:pt x="120053" y="0"/>
                  </a:lnTo>
                  <a:lnTo>
                    <a:pt x="117043" y="1498"/>
                  </a:lnTo>
                  <a:lnTo>
                    <a:pt x="114769" y="3759"/>
                  </a:lnTo>
                  <a:lnTo>
                    <a:pt x="95897" y="76098"/>
                  </a:lnTo>
                  <a:lnTo>
                    <a:pt x="82308" y="78359"/>
                  </a:lnTo>
                  <a:lnTo>
                    <a:pt x="38506" y="96443"/>
                  </a:lnTo>
                  <a:lnTo>
                    <a:pt x="7556" y="132600"/>
                  </a:lnTo>
                  <a:lnTo>
                    <a:pt x="0" y="161988"/>
                  </a:lnTo>
                  <a:lnTo>
                    <a:pt x="1511" y="174040"/>
                  </a:lnTo>
                  <a:lnTo>
                    <a:pt x="23406" y="205689"/>
                  </a:lnTo>
                  <a:lnTo>
                    <a:pt x="59651" y="217754"/>
                  </a:lnTo>
                  <a:lnTo>
                    <a:pt x="46062" y="271246"/>
                  </a:lnTo>
                  <a:lnTo>
                    <a:pt x="46062" y="273507"/>
                  </a:lnTo>
                  <a:lnTo>
                    <a:pt x="46812" y="275767"/>
                  </a:lnTo>
                  <a:lnTo>
                    <a:pt x="49834" y="276517"/>
                  </a:lnTo>
                  <a:lnTo>
                    <a:pt x="51346" y="276517"/>
                  </a:lnTo>
                  <a:lnTo>
                    <a:pt x="54368" y="275767"/>
                  </a:lnTo>
                  <a:lnTo>
                    <a:pt x="56629" y="272745"/>
                  </a:lnTo>
                  <a:lnTo>
                    <a:pt x="70980" y="217754"/>
                  </a:lnTo>
                  <a:lnTo>
                    <a:pt x="85318" y="215493"/>
                  </a:lnTo>
                  <a:lnTo>
                    <a:pt x="99669" y="211721"/>
                  </a:lnTo>
                  <a:lnTo>
                    <a:pt x="109111" y="207949"/>
                  </a:lnTo>
                  <a:lnTo>
                    <a:pt x="61912" y="207949"/>
                  </a:lnTo>
                  <a:lnTo>
                    <a:pt x="52857" y="206451"/>
                  </a:lnTo>
                  <a:lnTo>
                    <a:pt x="23406" y="171030"/>
                  </a:lnTo>
                  <a:lnTo>
                    <a:pt x="23406" y="167259"/>
                  </a:lnTo>
                  <a:lnTo>
                    <a:pt x="24050" y="158978"/>
                  </a:lnTo>
                  <a:lnTo>
                    <a:pt x="24168" y="157467"/>
                  </a:lnTo>
                  <a:lnTo>
                    <a:pt x="43040" y="113017"/>
                  </a:lnTo>
                  <a:lnTo>
                    <a:pt x="83057" y="88150"/>
                  </a:lnTo>
                  <a:lnTo>
                    <a:pt x="93624" y="86639"/>
                  </a:lnTo>
                  <a:lnTo>
                    <a:pt x="141383" y="86639"/>
                  </a:lnTo>
                  <a:lnTo>
                    <a:pt x="132892" y="82118"/>
                  </a:lnTo>
                  <a:lnTo>
                    <a:pt x="120053" y="78359"/>
                  </a:lnTo>
                  <a:lnTo>
                    <a:pt x="107226" y="76847"/>
                  </a:lnTo>
                  <a:lnTo>
                    <a:pt x="126098" y="4508"/>
                  </a:lnTo>
                  <a:lnTo>
                    <a:pt x="126098" y="3759"/>
                  </a:lnTo>
                  <a:lnTo>
                    <a:pt x="124587" y="749"/>
                  </a:lnTo>
                  <a:lnTo>
                    <a:pt x="121564" y="0"/>
                  </a:lnTo>
                  <a:close/>
                </a:path>
                <a:path w="167639" h="276860">
                  <a:moveTo>
                    <a:pt x="104952" y="86639"/>
                  </a:moveTo>
                  <a:lnTo>
                    <a:pt x="93624" y="86639"/>
                  </a:lnTo>
                  <a:lnTo>
                    <a:pt x="61912" y="207949"/>
                  </a:lnTo>
                  <a:lnTo>
                    <a:pt x="73240" y="207949"/>
                  </a:lnTo>
                  <a:lnTo>
                    <a:pt x="104952" y="86639"/>
                  </a:lnTo>
                  <a:close/>
                </a:path>
                <a:path w="167639" h="276860">
                  <a:moveTo>
                    <a:pt x="141383" y="86639"/>
                  </a:moveTo>
                  <a:lnTo>
                    <a:pt x="104952" y="86639"/>
                  </a:lnTo>
                  <a:lnTo>
                    <a:pt x="114020" y="88150"/>
                  </a:lnTo>
                  <a:lnTo>
                    <a:pt x="123075" y="91160"/>
                  </a:lnTo>
                  <a:lnTo>
                    <a:pt x="130632" y="96443"/>
                  </a:lnTo>
                  <a:lnTo>
                    <a:pt x="136664" y="103974"/>
                  </a:lnTo>
                  <a:lnTo>
                    <a:pt x="141198" y="113017"/>
                  </a:lnTo>
                  <a:lnTo>
                    <a:pt x="143459" y="122809"/>
                  </a:lnTo>
                  <a:lnTo>
                    <a:pt x="143459" y="127330"/>
                  </a:lnTo>
                  <a:lnTo>
                    <a:pt x="142824" y="135623"/>
                  </a:lnTo>
                  <a:lnTo>
                    <a:pt x="142709" y="137121"/>
                  </a:lnTo>
                  <a:lnTo>
                    <a:pt x="123837" y="180822"/>
                  </a:lnTo>
                  <a:lnTo>
                    <a:pt x="83057" y="206451"/>
                  </a:lnTo>
                  <a:lnTo>
                    <a:pt x="73240" y="207949"/>
                  </a:lnTo>
                  <a:lnTo>
                    <a:pt x="109111" y="207949"/>
                  </a:lnTo>
                  <a:lnTo>
                    <a:pt x="141198" y="186855"/>
                  </a:lnTo>
                  <a:lnTo>
                    <a:pt x="165366" y="147675"/>
                  </a:lnTo>
                  <a:lnTo>
                    <a:pt x="167552" y="132600"/>
                  </a:lnTo>
                  <a:lnTo>
                    <a:pt x="167627" y="131851"/>
                  </a:lnTo>
                  <a:lnTo>
                    <a:pt x="166115" y="119799"/>
                  </a:lnTo>
                  <a:lnTo>
                    <a:pt x="160832" y="107746"/>
                  </a:lnTo>
                  <a:lnTo>
                    <a:pt x="154038" y="97193"/>
                  </a:lnTo>
                  <a:lnTo>
                    <a:pt x="144221" y="88150"/>
                  </a:lnTo>
                  <a:lnTo>
                    <a:pt x="141383" y="866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36874" y="5918454"/>
              <a:ext cx="134404" cy="11529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3365652" y="5864961"/>
              <a:ext cx="2606675" cy="64135"/>
            </a:xfrm>
            <a:custGeom>
              <a:avLst/>
              <a:gdLst/>
              <a:ahLst/>
              <a:cxnLst/>
              <a:rect l="l" t="t" r="r" b="b"/>
              <a:pathLst>
                <a:path w="2606675" h="64135">
                  <a:moveTo>
                    <a:pt x="0" y="0"/>
                  </a:moveTo>
                  <a:lnTo>
                    <a:pt x="212940" y="0"/>
                  </a:lnTo>
                </a:path>
                <a:path w="2606675" h="64135">
                  <a:moveTo>
                    <a:pt x="0" y="64046"/>
                  </a:moveTo>
                  <a:lnTo>
                    <a:pt x="212940" y="64046"/>
                  </a:lnTo>
                </a:path>
                <a:path w="2606675" h="64135">
                  <a:moveTo>
                    <a:pt x="336016" y="32397"/>
                  </a:moveTo>
                  <a:lnTo>
                    <a:pt x="2606522" y="32397"/>
                  </a:lnTo>
                </a:path>
              </a:pathLst>
            </a:custGeom>
            <a:ln w="120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33380" y="5647956"/>
              <a:ext cx="457568" cy="197408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4370654" y="5695429"/>
              <a:ext cx="132715" cy="0"/>
            </a:xfrm>
            <a:custGeom>
              <a:avLst/>
              <a:gdLst/>
              <a:ahLst/>
              <a:cxnLst/>
              <a:rect l="l" t="t" r="r" b="b"/>
              <a:pathLst>
                <a:path w="132714" h="0">
                  <a:moveTo>
                    <a:pt x="0" y="0"/>
                  </a:moveTo>
                  <a:lnTo>
                    <a:pt x="132143" y="0"/>
                  </a:lnTo>
                </a:path>
              </a:pathLst>
            </a:custGeom>
            <a:ln w="120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554893" y="5556034"/>
              <a:ext cx="100965" cy="306705"/>
            </a:xfrm>
            <a:custGeom>
              <a:avLst/>
              <a:gdLst/>
              <a:ahLst/>
              <a:cxnLst/>
              <a:rect l="l" t="t" r="r" b="b"/>
              <a:pathLst>
                <a:path w="100964" h="306704">
                  <a:moveTo>
                    <a:pt x="15862" y="7531"/>
                  </a:moveTo>
                  <a:lnTo>
                    <a:pt x="15100" y="4521"/>
                  </a:lnTo>
                  <a:lnTo>
                    <a:pt x="13601" y="2260"/>
                  </a:lnTo>
                  <a:lnTo>
                    <a:pt x="10579" y="0"/>
                  </a:lnTo>
                  <a:lnTo>
                    <a:pt x="4533" y="0"/>
                  </a:lnTo>
                  <a:lnTo>
                    <a:pt x="2273" y="2260"/>
                  </a:lnTo>
                  <a:lnTo>
                    <a:pt x="762" y="4521"/>
                  </a:lnTo>
                  <a:lnTo>
                    <a:pt x="0" y="7531"/>
                  </a:lnTo>
                  <a:lnTo>
                    <a:pt x="0" y="299135"/>
                  </a:lnTo>
                  <a:lnTo>
                    <a:pt x="762" y="301396"/>
                  </a:lnTo>
                  <a:lnTo>
                    <a:pt x="2273" y="304406"/>
                  </a:lnTo>
                  <a:lnTo>
                    <a:pt x="5295" y="305917"/>
                  </a:lnTo>
                  <a:lnTo>
                    <a:pt x="7556" y="306666"/>
                  </a:lnTo>
                  <a:lnTo>
                    <a:pt x="10579" y="305917"/>
                  </a:lnTo>
                  <a:lnTo>
                    <a:pt x="13601" y="304406"/>
                  </a:lnTo>
                  <a:lnTo>
                    <a:pt x="15100" y="301396"/>
                  </a:lnTo>
                  <a:lnTo>
                    <a:pt x="15862" y="299135"/>
                  </a:lnTo>
                  <a:lnTo>
                    <a:pt x="15862" y="7531"/>
                  </a:lnTo>
                  <a:close/>
                </a:path>
                <a:path w="100964" h="306704">
                  <a:moveTo>
                    <a:pt x="100431" y="7531"/>
                  </a:moveTo>
                  <a:lnTo>
                    <a:pt x="99669" y="4521"/>
                  </a:lnTo>
                  <a:lnTo>
                    <a:pt x="98158" y="2260"/>
                  </a:lnTo>
                  <a:lnTo>
                    <a:pt x="95148" y="0"/>
                  </a:lnTo>
                  <a:lnTo>
                    <a:pt x="89103" y="0"/>
                  </a:lnTo>
                  <a:lnTo>
                    <a:pt x="86842" y="2260"/>
                  </a:lnTo>
                  <a:lnTo>
                    <a:pt x="85331" y="4521"/>
                  </a:lnTo>
                  <a:lnTo>
                    <a:pt x="84569" y="7531"/>
                  </a:lnTo>
                  <a:lnTo>
                    <a:pt x="84569" y="299135"/>
                  </a:lnTo>
                  <a:lnTo>
                    <a:pt x="85331" y="301396"/>
                  </a:lnTo>
                  <a:lnTo>
                    <a:pt x="86842" y="304406"/>
                  </a:lnTo>
                  <a:lnTo>
                    <a:pt x="89103" y="305917"/>
                  </a:lnTo>
                  <a:lnTo>
                    <a:pt x="92125" y="306666"/>
                  </a:lnTo>
                  <a:lnTo>
                    <a:pt x="95148" y="305917"/>
                  </a:lnTo>
                  <a:lnTo>
                    <a:pt x="98158" y="304406"/>
                  </a:lnTo>
                  <a:lnTo>
                    <a:pt x="99669" y="301396"/>
                  </a:lnTo>
                  <a:lnTo>
                    <a:pt x="100431" y="299135"/>
                  </a:lnTo>
                  <a:lnTo>
                    <a:pt x="100431" y="75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87785" y="5649468"/>
              <a:ext cx="232562" cy="182333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5013985" y="5695429"/>
              <a:ext cx="213995" cy="0"/>
            </a:xfrm>
            <a:custGeom>
              <a:avLst/>
              <a:gdLst/>
              <a:ahLst/>
              <a:cxnLst/>
              <a:rect l="l" t="t" r="r" b="b"/>
              <a:pathLst>
                <a:path w="213995" h="0">
                  <a:moveTo>
                    <a:pt x="0" y="0"/>
                  </a:moveTo>
                  <a:lnTo>
                    <a:pt x="213677" y="0"/>
                  </a:lnTo>
                </a:path>
              </a:pathLst>
            </a:custGeom>
            <a:ln w="120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15254" y="5593715"/>
              <a:ext cx="156298" cy="238086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5518366" y="5556034"/>
              <a:ext cx="100965" cy="306705"/>
            </a:xfrm>
            <a:custGeom>
              <a:avLst/>
              <a:gdLst/>
              <a:ahLst/>
              <a:cxnLst/>
              <a:rect l="l" t="t" r="r" b="b"/>
              <a:pathLst>
                <a:path w="100964" h="306704">
                  <a:moveTo>
                    <a:pt x="15862" y="7531"/>
                  </a:moveTo>
                  <a:lnTo>
                    <a:pt x="15100" y="4521"/>
                  </a:lnTo>
                  <a:lnTo>
                    <a:pt x="13601" y="2260"/>
                  </a:lnTo>
                  <a:lnTo>
                    <a:pt x="11328" y="0"/>
                  </a:lnTo>
                  <a:lnTo>
                    <a:pt x="5295" y="0"/>
                  </a:lnTo>
                  <a:lnTo>
                    <a:pt x="762" y="4521"/>
                  </a:lnTo>
                  <a:lnTo>
                    <a:pt x="0" y="7531"/>
                  </a:lnTo>
                  <a:lnTo>
                    <a:pt x="0" y="299135"/>
                  </a:lnTo>
                  <a:lnTo>
                    <a:pt x="762" y="301396"/>
                  </a:lnTo>
                  <a:lnTo>
                    <a:pt x="3022" y="304406"/>
                  </a:lnTo>
                  <a:lnTo>
                    <a:pt x="5295" y="305917"/>
                  </a:lnTo>
                  <a:lnTo>
                    <a:pt x="8305" y="306666"/>
                  </a:lnTo>
                  <a:lnTo>
                    <a:pt x="11328" y="305917"/>
                  </a:lnTo>
                  <a:lnTo>
                    <a:pt x="13601" y="304406"/>
                  </a:lnTo>
                  <a:lnTo>
                    <a:pt x="15100" y="301396"/>
                  </a:lnTo>
                  <a:lnTo>
                    <a:pt x="15862" y="299135"/>
                  </a:lnTo>
                  <a:lnTo>
                    <a:pt x="15862" y="7531"/>
                  </a:lnTo>
                  <a:close/>
                </a:path>
                <a:path w="100964" h="306704">
                  <a:moveTo>
                    <a:pt x="100431" y="7531"/>
                  </a:moveTo>
                  <a:lnTo>
                    <a:pt x="99669" y="4521"/>
                  </a:lnTo>
                  <a:lnTo>
                    <a:pt x="98158" y="2260"/>
                  </a:lnTo>
                  <a:lnTo>
                    <a:pt x="95897" y="0"/>
                  </a:lnTo>
                  <a:lnTo>
                    <a:pt x="89852" y="0"/>
                  </a:lnTo>
                  <a:lnTo>
                    <a:pt x="85331" y="4521"/>
                  </a:lnTo>
                  <a:lnTo>
                    <a:pt x="84569" y="7531"/>
                  </a:lnTo>
                  <a:lnTo>
                    <a:pt x="84569" y="299135"/>
                  </a:lnTo>
                  <a:lnTo>
                    <a:pt x="85331" y="301396"/>
                  </a:lnTo>
                  <a:lnTo>
                    <a:pt x="87591" y="304406"/>
                  </a:lnTo>
                  <a:lnTo>
                    <a:pt x="89852" y="305917"/>
                  </a:lnTo>
                  <a:lnTo>
                    <a:pt x="92875" y="306666"/>
                  </a:lnTo>
                  <a:lnTo>
                    <a:pt x="95897" y="305917"/>
                  </a:lnTo>
                  <a:lnTo>
                    <a:pt x="98158" y="304406"/>
                  </a:lnTo>
                  <a:lnTo>
                    <a:pt x="99669" y="301396"/>
                  </a:lnTo>
                  <a:lnTo>
                    <a:pt x="100431" y="299135"/>
                  </a:lnTo>
                  <a:lnTo>
                    <a:pt x="100431" y="75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14695" y="5542470"/>
              <a:ext cx="83807" cy="120561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4257395" y="5546991"/>
              <a:ext cx="1688464" cy="297180"/>
            </a:xfrm>
            <a:custGeom>
              <a:avLst/>
              <a:gdLst/>
              <a:ahLst/>
              <a:cxnLst/>
              <a:rect l="l" t="t" r="r" b="b"/>
              <a:pathLst>
                <a:path w="1688464" h="297179">
                  <a:moveTo>
                    <a:pt x="95897" y="0"/>
                  </a:moveTo>
                  <a:lnTo>
                    <a:pt x="80797" y="0"/>
                  </a:lnTo>
                  <a:lnTo>
                    <a:pt x="61925" y="13563"/>
                  </a:lnTo>
                  <a:lnTo>
                    <a:pt x="31711" y="46723"/>
                  </a:lnTo>
                  <a:lnTo>
                    <a:pt x="11328" y="85140"/>
                  </a:lnTo>
                  <a:lnTo>
                    <a:pt x="1511" y="126580"/>
                  </a:lnTo>
                  <a:lnTo>
                    <a:pt x="0" y="148437"/>
                  </a:lnTo>
                  <a:lnTo>
                    <a:pt x="1511" y="170294"/>
                  </a:lnTo>
                  <a:lnTo>
                    <a:pt x="11328" y="211734"/>
                  </a:lnTo>
                  <a:lnTo>
                    <a:pt x="31711" y="250913"/>
                  </a:lnTo>
                  <a:lnTo>
                    <a:pt x="61925" y="283311"/>
                  </a:lnTo>
                  <a:lnTo>
                    <a:pt x="80797" y="296875"/>
                  </a:lnTo>
                  <a:lnTo>
                    <a:pt x="95897" y="296875"/>
                  </a:lnTo>
                  <a:lnTo>
                    <a:pt x="79286" y="283311"/>
                  </a:lnTo>
                  <a:lnTo>
                    <a:pt x="64185" y="267487"/>
                  </a:lnTo>
                  <a:lnTo>
                    <a:pt x="41529" y="232067"/>
                  </a:lnTo>
                  <a:lnTo>
                    <a:pt x="27940" y="191389"/>
                  </a:lnTo>
                  <a:lnTo>
                    <a:pt x="23406" y="148437"/>
                  </a:lnTo>
                  <a:lnTo>
                    <a:pt x="24168" y="126580"/>
                  </a:lnTo>
                  <a:lnTo>
                    <a:pt x="33223" y="85140"/>
                  </a:lnTo>
                  <a:lnTo>
                    <a:pt x="51346" y="46723"/>
                  </a:lnTo>
                  <a:lnTo>
                    <a:pt x="79286" y="13563"/>
                  </a:lnTo>
                  <a:lnTo>
                    <a:pt x="95897" y="0"/>
                  </a:lnTo>
                  <a:close/>
                </a:path>
                <a:path w="1688464" h="297179">
                  <a:moveTo>
                    <a:pt x="1688350" y="148437"/>
                  </a:moveTo>
                  <a:lnTo>
                    <a:pt x="1683054" y="105486"/>
                  </a:lnTo>
                  <a:lnTo>
                    <a:pt x="1667954" y="65557"/>
                  </a:lnTo>
                  <a:lnTo>
                    <a:pt x="1643037" y="29387"/>
                  </a:lnTo>
                  <a:lnTo>
                    <a:pt x="1607553" y="0"/>
                  </a:lnTo>
                  <a:lnTo>
                    <a:pt x="1592453" y="0"/>
                  </a:lnTo>
                  <a:lnTo>
                    <a:pt x="1609064" y="13563"/>
                  </a:lnTo>
                  <a:lnTo>
                    <a:pt x="1624164" y="29387"/>
                  </a:lnTo>
                  <a:lnTo>
                    <a:pt x="1646821" y="65557"/>
                  </a:lnTo>
                  <a:lnTo>
                    <a:pt x="1660410" y="105486"/>
                  </a:lnTo>
                  <a:lnTo>
                    <a:pt x="1664944" y="148437"/>
                  </a:lnTo>
                  <a:lnTo>
                    <a:pt x="1664182" y="170294"/>
                  </a:lnTo>
                  <a:lnTo>
                    <a:pt x="1655127" y="211734"/>
                  </a:lnTo>
                  <a:lnTo>
                    <a:pt x="1637004" y="250913"/>
                  </a:lnTo>
                  <a:lnTo>
                    <a:pt x="1609064" y="283311"/>
                  </a:lnTo>
                  <a:lnTo>
                    <a:pt x="1592453" y="296875"/>
                  </a:lnTo>
                  <a:lnTo>
                    <a:pt x="1607553" y="296875"/>
                  </a:lnTo>
                  <a:lnTo>
                    <a:pt x="1643037" y="268236"/>
                  </a:lnTo>
                  <a:lnTo>
                    <a:pt x="1667954" y="232067"/>
                  </a:lnTo>
                  <a:lnTo>
                    <a:pt x="1683054" y="191389"/>
                  </a:lnTo>
                  <a:lnTo>
                    <a:pt x="1686839" y="170294"/>
                  </a:lnTo>
                  <a:lnTo>
                    <a:pt x="1688350" y="1484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09261" y="5968936"/>
              <a:ext cx="131381" cy="210972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4773866" y="6047295"/>
              <a:ext cx="169545" cy="137160"/>
            </a:xfrm>
            <a:custGeom>
              <a:avLst/>
              <a:gdLst/>
              <a:ahLst/>
              <a:cxnLst/>
              <a:rect l="l" t="t" r="r" b="b"/>
              <a:pathLst>
                <a:path w="169545" h="137160">
                  <a:moveTo>
                    <a:pt x="160083" y="0"/>
                  </a:moveTo>
                  <a:lnTo>
                    <a:pt x="76263" y="0"/>
                  </a:lnTo>
                  <a:lnTo>
                    <a:pt x="69469" y="1511"/>
                  </a:lnTo>
                  <a:lnTo>
                    <a:pt x="33223" y="21107"/>
                  </a:lnTo>
                  <a:lnTo>
                    <a:pt x="7556" y="57264"/>
                  </a:lnTo>
                  <a:lnTo>
                    <a:pt x="0" y="88912"/>
                  </a:lnTo>
                  <a:lnTo>
                    <a:pt x="762" y="95694"/>
                  </a:lnTo>
                  <a:lnTo>
                    <a:pt x="24917" y="131864"/>
                  </a:lnTo>
                  <a:lnTo>
                    <a:pt x="47574" y="137134"/>
                  </a:lnTo>
                  <a:lnTo>
                    <a:pt x="60413" y="136385"/>
                  </a:lnTo>
                  <a:lnTo>
                    <a:pt x="73240" y="131864"/>
                  </a:lnTo>
                  <a:lnTo>
                    <a:pt x="82302" y="127342"/>
                  </a:lnTo>
                  <a:lnTo>
                    <a:pt x="49834" y="127342"/>
                  </a:lnTo>
                  <a:lnTo>
                    <a:pt x="41529" y="126593"/>
                  </a:lnTo>
                  <a:lnTo>
                    <a:pt x="22656" y="96456"/>
                  </a:lnTo>
                  <a:lnTo>
                    <a:pt x="22764" y="92684"/>
                  </a:lnTo>
                  <a:lnTo>
                    <a:pt x="33223" y="51244"/>
                  </a:lnTo>
                  <a:lnTo>
                    <a:pt x="61163" y="24117"/>
                  </a:lnTo>
                  <a:lnTo>
                    <a:pt x="77774" y="20345"/>
                  </a:lnTo>
                  <a:lnTo>
                    <a:pt x="156298" y="20345"/>
                  </a:lnTo>
                  <a:lnTo>
                    <a:pt x="160832" y="19596"/>
                  </a:lnTo>
                  <a:lnTo>
                    <a:pt x="164604" y="17335"/>
                  </a:lnTo>
                  <a:lnTo>
                    <a:pt x="166878" y="14325"/>
                  </a:lnTo>
                  <a:lnTo>
                    <a:pt x="168389" y="10553"/>
                  </a:lnTo>
                  <a:lnTo>
                    <a:pt x="169138" y="7543"/>
                  </a:lnTo>
                  <a:lnTo>
                    <a:pt x="167627" y="3771"/>
                  </a:lnTo>
                  <a:lnTo>
                    <a:pt x="165366" y="761"/>
                  </a:lnTo>
                  <a:lnTo>
                    <a:pt x="160083" y="0"/>
                  </a:lnTo>
                  <a:close/>
                </a:path>
                <a:path w="169545" h="137160">
                  <a:moveTo>
                    <a:pt x="120815" y="20345"/>
                  </a:moveTo>
                  <a:lnTo>
                    <a:pt x="77774" y="20345"/>
                  </a:lnTo>
                  <a:lnTo>
                    <a:pt x="86080" y="21107"/>
                  </a:lnTo>
                  <a:lnTo>
                    <a:pt x="92875" y="24117"/>
                  </a:lnTo>
                  <a:lnTo>
                    <a:pt x="98158" y="27889"/>
                  </a:lnTo>
                  <a:lnTo>
                    <a:pt x="102692" y="33159"/>
                  </a:lnTo>
                  <a:lnTo>
                    <a:pt x="104952" y="40690"/>
                  </a:lnTo>
                  <a:lnTo>
                    <a:pt x="105714" y="48234"/>
                  </a:lnTo>
                  <a:lnTo>
                    <a:pt x="105660" y="51244"/>
                  </a:lnTo>
                  <a:lnTo>
                    <a:pt x="95135" y="92684"/>
                  </a:lnTo>
                  <a:lnTo>
                    <a:pt x="66446" y="122821"/>
                  </a:lnTo>
                  <a:lnTo>
                    <a:pt x="49834" y="127342"/>
                  </a:lnTo>
                  <a:lnTo>
                    <a:pt x="82302" y="127342"/>
                  </a:lnTo>
                  <a:lnTo>
                    <a:pt x="115531" y="96456"/>
                  </a:lnTo>
                  <a:lnTo>
                    <a:pt x="129120" y="51244"/>
                  </a:lnTo>
                  <a:lnTo>
                    <a:pt x="128358" y="42951"/>
                  </a:lnTo>
                  <a:lnTo>
                    <a:pt x="126098" y="30149"/>
                  </a:lnTo>
                  <a:lnTo>
                    <a:pt x="120815" y="203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85283" y="5936538"/>
              <a:ext cx="83820" cy="120561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4956593" y="6110592"/>
              <a:ext cx="50800" cy="116205"/>
            </a:xfrm>
            <a:custGeom>
              <a:avLst/>
              <a:gdLst/>
              <a:ahLst/>
              <a:cxnLst/>
              <a:rect l="l" t="t" r="r" b="b"/>
              <a:pathLst>
                <a:path w="50800" h="116204">
                  <a:moveTo>
                    <a:pt x="42290" y="0"/>
                  </a:moveTo>
                  <a:lnTo>
                    <a:pt x="30962" y="9791"/>
                  </a:lnTo>
                  <a:lnTo>
                    <a:pt x="32473" y="13563"/>
                  </a:lnTo>
                  <a:lnTo>
                    <a:pt x="34734" y="15074"/>
                  </a:lnTo>
                  <a:lnTo>
                    <a:pt x="38506" y="15824"/>
                  </a:lnTo>
                  <a:lnTo>
                    <a:pt x="42290" y="15074"/>
                  </a:lnTo>
                  <a:lnTo>
                    <a:pt x="45300" y="13563"/>
                  </a:lnTo>
                  <a:lnTo>
                    <a:pt x="47574" y="11303"/>
                  </a:lnTo>
                  <a:lnTo>
                    <a:pt x="49085" y="8293"/>
                  </a:lnTo>
                  <a:lnTo>
                    <a:pt x="49834" y="6032"/>
                  </a:lnTo>
                  <a:lnTo>
                    <a:pt x="48323" y="2260"/>
                  </a:lnTo>
                  <a:lnTo>
                    <a:pt x="46062" y="749"/>
                  </a:lnTo>
                  <a:lnTo>
                    <a:pt x="42290" y="0"/>
                  </a:lnTo>
                  <a:close/>
                </a:path>
                <a:path w="50800" h="116204">
                  <a:moveTo>
                    <a:pt x="38509" y="42189"/>
                  </a:moveTo>
                  <a:lnTo>
                    <a:pt x="24917" y="42189"/>
                  </a:lnTo>
                  <a:lnTo>
                    <a:pt x="27939" y="43700"/>
                  </a:lnTo>
                  <a:lnTo>
                    <a:pt x="28689" y="45961"/>
                  </a:lnTo>
                  <a:lnTo>
                    <a:pt x="28046" y="50482"/>
                  </a:lnTo>
                  <a:lnTo>
                    <a:pt x="27939" y="51231"/>
                  </a:lnTo>
                  <a:lnTo>
                    <a:pt x="25679" y="57264"/>
                  </a:lnTo>
                  <a:lnTo>
                    <a:pt x="9817" y="94183"/>
                  </a:lnTo>
                  <a:lnTo>
                    <a:pt x="8305" y="101714"/>
                  </a:lnTo>
                  <a:lnTo>
                    <a:pt x="8305" y="102476"/>
                  </a:lnTo>
                  <a:lnTo>
                    <a:pt x="24168" y="116039"/>
                  </a:lnTo>
                  <a:lnTo>
                    <a:pt x="29451" y="115277"/>
                  </a:lnTo>
                  <a:lnTo>
                    <a:pt x="33985" y="113017"/>
                  </a:lnTo>
                  <a:lnTo>
                    <a:pt x="37333" y="110007"/>
                  </a:lnTo>
                  <a:lnTo>
                    <a:pt x="24917" y="110007"/>
                  </a:lnTo>
                  <a:lnTo>
                    <a:pt x="22656" y="109258"/>
                  </a:lnTo>
                  <a:lnTo>
                    <a:pt x="21145" y="106997"/>
                  </a:lnTo>
                  <a:lnTo>
                    <a:pt x="21894" y="106997"/>
                  </a:lnTo>
                  <a:lnTo>
                    <a:pt x="22546" y="102476"/>
                  </a:lnTo>
                  <a:lnTo>
                    <a:pt x="22656" y="101714"/>
                  </a:lnTo>
                  <a:lnTo>
                    <a:pt x="24168" y="94945"/>
                  </a:lnTo>
                  <a:lnTo>
                    <a:pt x="40017" y="58775"/>
                  </a:lnTo>
                  <a:lnTo>
                    <a:pt x="41528" y="51231"/>
                  </a:lnTo>
                  <a:lnTo>
                    <a:pt x="41528" y="50482"/>
                  </a:lnTo>
                  <a:lnTo>
                    <a:pt x="40779" y="46710"/>
                  </a:lnTo>
                  <a:lnTo>
                    <a:pt x="38509" y="42189"/>
                  </a:lnTo>
                  <a:close/>
                </a:path>
                <a:path w="50800" h="116204">
                  <a:moveTo>
                    <a:pt x="48323" y="85902"/>
                  </a:moveTo>
                  <a:lnTo>
                    <a:pt x="46062" y="85902"/>
                  </a:lnTo>
                  <a:lnTo>
                    <a:pt x="43802" y="86652"/>
                  </a:lnTo>
                  <a:lnTo>
                    <a:pt x="42290" y="88163"/>
                  </a:lnTo>
                  <a:lnTo>
                    <a:pt x="39268" y="97193"/>
                  </a:lnTo>
                  <a:lnTo>
                    <a:pt x="35496" y="103974"/>
                  </a:lnTo>
                  <a:lnTo>
                    <a:pt x="30962" y="108496"/>
                  </a:lnTo>
                  <a:lnTo>
                    <a:pt x="27939" y="110007"/>
                  </a:lnTo>
                  <a:lnTo>
                    <a:pt x="37333" y="110007"/>
                  </a:lnTo>
                  <a:lnTo>
                    <a:pt x="41528" y="106235"/>
                  </a:lnTo>
                  <a:lnTo>
                    <a:pt x="46812" y="97955"/>
                  </a:lnTo>
                  <a:lnTo>
                    <a:pt x="50596" y="88912"/>
                  </a:lnTo>
                  <a:lnTo>
                    <a:pt x="50596" y="88163"/>
                  </a:lnTo>
                  <a:lnTo>
                    <a:pt x="49834" y="86652"/>
                  </a:lnTo>
                  <a:lnTo>
                    <a:pt x="48323" y="85902"/>
                  </a:lnTo>
                  <a:close/>
                </a:path>
                <a:path w="50800" h="116204">
                  <a:moveTo>
                    <a:pt x="26428" y="36918"/>
                  </a:moveTo>
                  <a:lnTo>
                    <a:pt x="0" y="64046"/>
                  </a:lnTo>
                  <a:lnTo>
                    <a:pt x="0" y="66306"/>
                  </a:lnTo>
                  <a:lnTo>
                    <a:pt x="2273" y="67056"/>
                  </a:lnTo>
                  <a:lnTo>
                    <a:pt x="3771" y="67056"/>
                  </a:lnTo>
                  <a:lnTo>
                    <a:pt x="6045" y="66306"/>
                  </a:lnTo>
                  <a:lnTo>
                    <a:pt x="7556" y="64046"/>
                  </a:lnTo>
                  <a:lnTo>
                    <a:pt x="10579" y="55753"/>
                  </a:lnTo>
                  <a:lnTo>
                    <a:pt x="14350" y="48971"/>
                  </a:lnTo>
                  <a:lnTo>
                    <a:pt x="18884" y="44462"/>
                  </a:lnTo>
                  <a:lnTo>
                    <a:pt x="21894" y="42951"/>
                  </a:lnTo>
                  <a:lnTo>
                    <a:pt x="24917" y="42189"/>
                  </a:lnTo>
                  <a:lnTo>
                    <a:pt x="38509" y="42189"/>
                  </a:lnTo>
                  <a:lnTo>
                    <a:pt x="37757" y="40690"/>
                  </a:lnTo>
                  <a:lnTo>
                    <a:pt x="34734" y="39179"/>
                  </a:lnTo>
                  <a:lnTo>
                    <a:pt x="30962" y="37680"/>
                  </a:lnTo>
                  <a:lnTo>
                    <a:pt x="26428" y="369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3004870" y="6252845"/>
            <a:ext cx="248221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650" i="1">
                <a:latin typeface="Times New Roman"/>
                <a:cs typeface="Times New Roman"/>
              </a:rPr>
              <a:t>W</a:t>
            </a:r>
            <a:r>
              <a:rPr dirty="0" sz="2650" spc="425" i="1">
                <a:latin typeface="Times New Roman"/>
                <a:cs typeface="Times New Roman"/>
              </a:rPr>
              <a:t> </a:t>
            </a:r>
            <a:r>
              <a:rPr dirty="0" sz="2650" spc="-484">
                <a:latin typeface="Tahoma"/>
                <a:cs typeface="Tahoma"/>
              </a:rPr>
              <a:t>=</a:t>
            </a:r>
            <a:r>
              <a:rPr dirty="0" sz="2650" spc="-195">
                <a:latin typeface="Tahoma"/>
                <a:cs typeface="Tahoma"/>
              </a:rPr>
              <a:t> </a:t>
            </a:r>
            <a:r>
              <a:rPr dirty="0" sz="2650">
                <a:latin typeface="Tahoma"/>
                <a:cs typeface="Tahoma"/>
              </a:rPr>
              <a:t>(Ф</a:t>
            </a:r>
            <a:r>
              <a:rPr dirty="0" baseline="43010" sz="2325">
                <a:latin typeface="Tahoma"/>
                <a:cs typeface="Tahoma"/>
              </a:rPr>
              <a:t>T</a:t>
            </a:r>
            <a:r>
              <a:rPr dirty="0" sz="2650">
                <a:latin typeface="Tahoma"/>
                <a:cs typeface="Tahoma"/>
              </a:rPr>
              <a:t>Ф)</a:t>
            </a:r>
            <a:r>
              <a:rPr dirty="0" baseline="43010" sz="2325">
                <a:latin typeface="Tahoma"/>
                <a:cs typeface="Tahoma"/>
              </a:rPr>
              <a:t>–1</a:t>
            </a:r>
            <a:r>
              <a:rPr dirty="0" baseline="43010" sz="2325" spc="-434">
                <a:latin typeface="Tahoma"/>
                <a:cs typeface="Tahoma"/>
              </a:rPr>
              <a:t> </a:t>
            </a:r>
            <a:r>
              <a:rPr dirty="0" sz="2650" spc="50">
                <a:latin typeface="Tahoma"/>
                <a:cs typeface="Tahoma"/>
              </a:rPr>
              <a:t>Ф</a:t>
            </a:r>
            <a:r>
              <a:rPr dirty="0" baseline="43010" sz="2325" spc="75" i="1">
                <a:latin typeface="Times New Roman"/>
                <a:cs typeface="Times New Roman"/>
              </a:rPr>
              <a:t>T</a:t>
            </a:r>
            <a:r>
              <a:rPr dirty="0" baseline="43010" sz="2325" spc="-22" i="1">
                <a:latin typeface="Times New Roman"/>
                <a:cs typeface="Times New Roman"/>
              </a:rPr>
              <a:t> </a:t>
            </a:r>
            <a:r>
              <a:rPr dirty="0" sz="2650" spc="-50" i="1">
                <a:latin typeface="Times New Roman"/>
                <a:cs typeface="Times New Roman"/>
              </a:rPr>
              <a:t>d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3390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641541"/>
            <a:ext cx="9144000" cy="21645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536189" y="4850447"/>
            <a:ext cx="1657985" cy="690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44"/>
                </a:solidFill>
                <a:latin typeface="Tahoma"/>
                <a:cs typeface="Tahoma"/>
              </a:rPr>
              <a:t>VISIT</a:t>
            </a:r>
            <a:r>
              <a:rPr dirty="0" sz="2400" spc="-80" b="1">
                <a:solidFill>
                  <a:srgbClr val="000044"/>
                </a:solidFill>
                <a:latin typeface="Tahoma"/>
                <a:cs typeface="Tahoma"/>
              </a:rPr>
              <a:t> </a:t>
            </a:r>
            <a:r>
              <a:rPr dirty="0" sz="2400" spc="-25" b="1">
                <a:solidFill>
                  <a:srgbClr val="000044"/>
                </a:solidFill>
                <a:latin typeface="Tahoma"/>
                <a:cs typeface="Tahoma"/>
              </a:rPr>
              <a:t>US</a:t>
            </a:r>
            <a:endParaRPr sz="24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  <a:spcBef>
                <a:spcPts val="910"/>
              </a:spcBef>
            </a:pPr>
            <a:r>
              <a:rPr dirty="0" u="sng" sz="120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  <a:hlinkClick r:id="rId4"/>
              </a:rPr>
              <a:t>WWW.XJTLU.EDU.CN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2183" y="4570476"/>
            <a:ext cx="986028" cy="98602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77817" y="5968276"/>
            <a:ext cx="1815007" cy="37664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68623" y="5953061"/>
            <a:ext cx="324332" cy="40802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99132" y="2828544"/>
            <a:ext cx="4732020" cy="1146175"/>
          </a:xfrm>
          <a:prstGeom prst="rect"/>
          <a:solidFill>
            <a:srgbClr val="000544"/>
          </a:solidFill>
        </p:spPr>
        <p:txBody>
          <a:bodyPr wrap="square" lIns="0" tIns="33020" rIns="0" bIns="0" rtlCol="0" vert="horz">
            <a:spAutoFit/>
          </a:bodyPr>
          <a:lstStyle/>
          <a:p>
            <a:pPr marL="477520">
              <a:lnSpc>
                <a:spcPct val="100000"/>
              </a:lnSpc>
              <a:spcBef>
                <a:spcPts val="260"/>
              </a:spcBef>
            </a:pPr>
            <a:r>
              <a:rPr dirty="0" sz="6000" spc="-740">
                <a:solidFill>
                  <a:srgbClr val="FFFFFF"/>
                </a:solidFill>
              </a:rPr>
              <a:t>THANK</a:t>
            </a:r>
            <a:r>
              <a:rPr dirty="0" sz="6000" spc="-395">
                <a:solidFill>
                  <a:srgbClr val="FFFFFF"/>
                </a:solidFill>
              </a:rPr>
              <a:t> </a:t>
            </a:r>
            <a:r>
              <a:rPr dirty="0" sz="6000" spc="-790">
                <a:solidFill>
                  <a:srgbClr val="FFFFFF"/>
                </a:solidFill>
              </a:rPr>
              <a:t>YOU</a:t>
            </a:r>
            <a:endParaRPr sz="6000"/>
          </a:p>
        </p:txBody>
      </p:sp>
      <p:sp>
        <p:nvSpPr>
          <p:cNvPr id="9" name="object 9" descr=""/>
          <p:cNvSpPr/>
          <p:nvPr/>
        </p:nvSpPr>
        <p:spPr>
          <a:xfrm>
            <a:off x="2558795" y="4643628"/>
            <a:ext cx="289560" cy="66040"/>
          </a:xfrm>
          <a:custGeom>
            <a:avLst/>
            <a:gdLst/>
            <a:ahLst/>
            <a:cxnLst/>
            <a:rect l="l" t="t" r="r" b="b"/>
            <a:pathLst>
              <a:path w="289560" h="66039">
                <a:moveTo>
                  <a:pt x="289560" y="0"/>
                </a:moveTo>
                <a:lnTo>
                  <a:pt x="0" y="0"/>
                </a:lnTo>
                <a:lnTo>
                  <a:pt x="0" y="65532"/>
                </a:lnTo>
                <a:lnTo>
                  <a:pt x="289560" y="65532"/>
                </a:lnTo>
                <a:lnTo>
                  <a:pt x="289560" y="0"/>
                </a:lnTo>
                <a:close/>
              </a:path>
            </a:pathLst>
          </a:custGeom>
          <a:solidFill>
            <a:srgbClr val="BA55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728777" y="4844097"/>
            <a:ext cx="184277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44"/>
                </a:solidFill>
                <a:latin typeface="Tahoma"/>
                <a:cs typeface="Tahoma"/>
              </a:rPr>
              <a:t>FOLLOW</a:t>
            </a:r>
            <a:r>
              <a:rPr dirty="0" sz="2400" spc="-80" b="1">
                <a:solidFill>
                  <a:srgbClr val="000044"/>
                </a:solidFill>
                <a:latin typeface="Tahoma"/>
                <a:cs typeface="Tahoma"/>
              </a:rPr>
              <a:t> </a:t>
            </a:r>
            <a:r>
              <a:rPr dirty="0" sz="2400" spc="-25" b="1">
                <a:solidFill>
                  <a:srgbClr val="000044"/>
                </a:solidFill>
                <a:latin typeface="Tahoma"/>
                <a:cs typeface="Tahoma"/>
              </a:rPr>
              <a:t>US</a:t>
            </a:r>
            <a:endParaRPr sz="2400">
              <a:latin typeface="Tahoma"/>
              <a:cs typeface="Tahoma"/>
            </a:endParaRPr>
          </a:p>
          <a:p>
            <a:pPr marL="33020">
              <a:lnSpc>
                <a:spcPct val="100000"/>
              </a:lnSpc>
              <a:spcBef>
                <a:spcPts val="960"/>
              </a:spcBef>
            </a:pPr>
            <a:r>
              <a:rPr dirty="0" sz="1200" spc="-10" b="1">
                <a:solidFill>
                  <a:srgbClr val="BA55A0"/>
                </a:solidFill>
                <a:latin typeface="Tahoma"/>
                <a:cs typeface="Tahoma"/>
              </a:rPr>
              <a:t>@XJTLU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751319" y="4643628"/>
            <a:ext cx="289560" cy="66040"/>
          </a:xfrm>
          <a:custGeom>
            <a:avLst/>
            <a:gdLst/>
            <a:ahLst/>
            <a:cxnLst/>
            <a:rect l="l" t="t" r="r" b="b"/>
            <a:pathLst>
              <a:path w="289559" h="66039">
                <a:moveTo>
                  <a:pt x="289559" y="0"/>
                </a:moveTo>
                <a:lnTo>
                  <a:pt x="0" y="0"/>
                </a:lnTo>
                <a:lnTo>
                  <a:pt x="0" y="65532"/>
                </a:lnTo>
                <a:lnTo>
                  <a:pt x="289559" y="65532"/>
                </a:lnTo>
                <a:lnTo>
                  <a:pt x="289559" y="0"/>
                </a:lnTo>
                <a:close/>
              </a:path>
            </a:pathLst>
          </a:custGeom>
          <a:solidFill>
            <a:srgbClr val="BA55A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5622035" y="4570476"/>
            <a:ext cx="1036319" cy="975360"/>
            <a:chOff x="5622035" y="4570476"/>
            <a:chExt cx="1036319" cy="975360"/>
          </a:xfrm>
        </p:grpSpPr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22035" y="4570476"/>
              <a:ext cx="1036319" cy="49228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29655" y="5077968"/>
              <a:ext cx="492251" cy="46786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73723" y="5053584"/>
              <a:ext cx="483107" cy="492251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39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2025-12-08T08:14:41Z</dcterms:created>
  <dcterms:modified xsi:type="dcterms:W3CDTF">2025-12-08T08:14:41Z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2025-12-08T00:00:00Z</vt:filetime>
  </property>
  <property fmtid="{D5CDD505-2E9C-101B-9397-08002B2CF9AE}" pid="3" name="LastSaved">
    <vt:filetime>2025-12-08T00:00:00Z</vt:filetime>
  </property>
  <property fmtid="{D5CDD505-2E9C-101B-9397-08002B2CF9AE}" pid="4" name="Producer">
    <vt:lpwstr>iLovePDF</vt:lpwstr>
  </property>
</Properties>
</file>