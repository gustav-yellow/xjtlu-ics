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5" y="1098804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099" y="10988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20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352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492" y="1447800"/>
            <a:ext cx="560831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3484" y="1781555"/>
            <a:ext cx="8226552" cy="3200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9144000" cy="33909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5" y="1098804"/>
            <a:ext cx="382905" cy="474345"/>
          </a:xfrm>
          <a:custGeom>
            <a:avLst/>
            <a:gdLst/>
            <a:ahLst/>
            <a:cxnLst/>
            <a:rect l="l" t="t" r="r" b="b"/>
            <a:pathLst>
              <a:path w="382905" h="474344">
                <a:moveTo>
                  <a:pt x="0" y="473963"/>
                </a:moveTo>
                <a:lnTo>
                  <a:pt x="382523" y="473963"/>
                </a:lnTo>
                <a:lnTo>
                  <a:pt x="382523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099" y="10988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20" y="1520951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4">
                <a:moveTo>
                  <a:pt x="0" y="473963"/>
                </a:moveTo>
                <a:lnTo>
                  <a:pt x="370332" y="473963"/>
                </a:lnTo>
                <a:lnTo>
                  <a:pt x="370332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352" y="1520951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1447800"/>
            <a:ext cx="560831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22960"/>
                </a:moveTo>
                <a:lnTo>
                  <a:pt x="0" y="82296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22960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790956"/>
                </a:lnTo>
                <a:lnTo>
                  <a:pt x="32004" y="790956"/>
                </a:lnTo>
                <a:lnTo>
                  <a:pt x="32004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3484" y="1781555"/>
            <a:ext cx="8226552" cy="320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6169" y="464248"/>
            <a:ext cx="7741919" cy="11762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8000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6277" y="2166619"/>
            <a:ext cx="7776209" cy="3121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3300" y="6427700"/>
            <a:ext cx="283845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png"/><Relationship Id="rId5" Type="http://schemas.openxmlformats.org/officeDocument/2006/relationships/image" Target="../media/image12.jpg"/><Relationship Id="rId6" Type="http://schemas.openxmlformats.org/officeDocument/2006/relationships/image" Target="../media/image13.pn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XJTLU.EDU.CN/" TargetMode="External"/><Relationship Id="rId3" Type="http://schemas.openxmlformats.org/officeDocument/2006/relationships/image" Target="../media/image51.jp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jpg"/><Relationship Id="rId7" Type="http://schemas.openxmlformats.org/officeDocument/2006/relationships/image" Target="../media/image55.jpg"/><Relationship Id="rId8" Type="http://schemas.openxmlformats.org/officeDocument/2006/relationships/image" Target="../media/image5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5940" y="4955857"/>
            <a:ext cx="7179309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10" b="1">
                <a:solidFill>
                  <a:srgbClr val="000044"/>
                </a:solidFill>
                <a:latin typeface="Cambria"/>
                <a:cs typeface="Cambria"/>
              </a:rPr>
              <a:t>ASSOCIATIVE</a:t>
            </a:r>
            <a:r>
              <a:rPr dirty="0" sz="2800" spc="25" b="1">
                <a:solidFill>
                  <a:srgbClr val="000044"/>
                </a:solidFill>
                <a:latin typeface="Cambria"/>
                <a:cs typeface="Cambria"/>
              </a:rPr>
              <a:t> </a:t>
            </a:r>
            <a:r>
              <a:rPr dirty="0" sz="2800" spc="-150" b="1">
                <a:solidFill>
                  <a:srgbClr val="000044"/>
                </a:solidFill>
                <a:latin typeface="Cambria"/>
                <a:cs typeface="Cambria"/>
              </a:rPr>
              <a:t>MEMORIES</a:t>
            </a:r>
            <a:r>
              <a:rPr dirty="0" sz="2800" spc="30" b="1">
                <a:solidFill>
                  <a:srgbClr val="000044"/>
                </a:solidFill>
                <a:latin typeface="Cambria"/>
                <a:cs typeface="Cambria"/>
              </a:rPr>
              <a:t> </a:t>
            </a:r>
            <a:r>
              <a:rPr dirty="0" sz="2800" b="1">
                <a:solidFill>
                  <a:srgbClr val="000044"/>
                </a:solidFill>
                <a:latin typeface="Cambria"/>
                <a:cs typeface="Cambria"/>
              </a:rPr>
              <a:t>&amp;</a:t>
            </a:r>
            <a:r>
              <a:rPr dirty="0" sz="2800" spc="30" b="1">
                <a:solidFill>
                  <a:srgbClr val="000044"/>
                </a:solidFill>
                <a:latin typeface="Cambria"/>
                <a:cs typeface="Cambria"/>
              </a:rPr>
              <a:t> </a:t>
            </a:r>
            <a:r>
              <a:rPr dirty="0" sz="2800" spc="-250" b="1">
                <a:solidFill>
                  <a:srgbClr val="000044"/>
                </a:solidFill>
                <a:latin typeface="Cambria"/>
                <a:cs typeface="Cambria"/>
              </a:rPr>
              <a:t>HOPFIELD</a:t>
            </a:r>
            <a:r>
              <a:rPr dirty="0" sz="2800" spc="30" b="1">
                <a:solidFill>
                  <a:srgbClr val="000044"/>
                </a:solidFill>
                <a:latin typeface="Cambria"/>
                <a:cs typeface="Cambria"/>
              </a:rPr>
              <a:t> </a:t>
            </a:r>
            <a:r>
              <a:rPr dirty="0" sz="2800" spc="-175" b="1">
                <a:solidFill>
                  <a:srgbClr val="000044"/>
                </a:solidFill>
                <a:latin typeface="Cambria"/>
                <a:cs typeface="Cambria"/>
              </a:rPr>
              <a:t>NETWORK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5491797"/>
            <a:ext cx="2861310" cy="204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60" b="1">
                <a:latin typeface="Tahoma"/>
                <a:cs typeface="Tahoma"/>
              </a:rPr>
              <a:t>INT301</a:t>
            </a:r>
            <a:r>
              <a:rPr dirty="0" sz="1150" spc="190" b="1">
                <a:latin typeface="Tahoma"/>
                <a:cs typeface="Tahoma"/>
              </a:rPr>
              <a:t> </a:t>
            </a:r>
            <a:r>
              <a:rPr dirty="0" sz="1150" spc="-30" b="1">
                <a:latin typeface="Tahoma"/>
                <a:cs typeface="Tahoma"/>
              </a:rPr>
              <a:t>Bio-</a:t>
            </a:r>
            <a:r>
              <a:rPr dirty="0" sz="1150" spc="-35" b="1">
                <a:latin typeface="Tahoma"/>
                <a:cs typeface="Tahoma"/>
              </a:rPr>
              <a:t>computation,</a:t>
            </a:r>
            <a:r>
              <a:rPr dirty="0" sz="1150" spc="-45" b="1">
                <a:latin typeface="Tahoma"/>
                <a:cs typeface="Tahoma"/>
              </a:rPr>
              <a:t> </a:t>
            </a:r>
            <a:r>
              <a:rPr dirty="0" sz="1150" spc="-60" b="1">
                <a:latin typeface="Tahoma"/>
                <a:cs typeface="Tahoma"/>
              </a:rPr>
              <a:t>Week</a:t>
            </a:r>
            <a:r>
              <a:rPr dirty="0" sz="1150" spc="-25" b="1">
                <a:latin typeface="Tahoma"/>
                <a:cs typeface="Tahoma"/>
              </a:rPr>
              <a:t> </a:t>
            </a:r>
            <a:r>
              <a:rPr dirty="0" sz="1150" spc="-75" b="1">
                <a:latin typeface="Tahoma"/>
                <a:cs typeface="Tahoma"/>
              </a:rPr>
              <a:t>12,</a:t>
            </a:r>
            <a:r>
              <a:rPr dirty="0" sz="1150" spc="-15" b="1">
                <a:latin typeface="Tahoma"/>
                <a:cs typeface="Tahoma"/>
              </a:rPr>
              <a:t> </a:t>
            </a:r>
            <a:r>
              <a:rPr dirty="0" sz="1150" spc="-40" b="1">
                <a:latin typeface="Tahoma"/>
                <a:cs typeface="Tahoma"/>
              </a:rPr>
              <a:t>2025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41541"/>
            <a:ext cx="9144000" cy="21645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4768596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32292" y="5929884"/>
            <a:ext cx="355092" cy="445008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793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/>
              <a:t>Memory</a:t>
            </a:r>
            <a:r>
              <a:rPr dirty="0" sz="4000" spc="-135"/>
              <a:t> </a:t>
            </a:r>
            <a:r>
              <a:rPr dirty="0" sz="4000"/>
              <a:t>in</a:t>
            </a:r>
            <a:r>
              <a:rPr dirty="0" sz="4000" spc="-120"/>
              <a:t> </a:t>
            </a:r>
            <a:r>
              <a:rPr dirty="0" sz="4000"/>
              <a:t>Computer</a:t>
            </a:r>
            <a:r>
              <a:rPr dirty="0" sz="4000" spc="-125"/>
              <a:t> </a:t>
            </a:r>
            <a:r>
              <a:rPr dirty="0" sz="4000" spc="-10"/>
              <a:t>System</a:t>
            </a:r>
            <a:endParaRPr sz="40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18286" y="2093620"/>
            <a:ext cx="7613650" cy="3743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986155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Standard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computer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memory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accessed </a:t>
            </a:r>
            <a:r>
              <a:rPr dirty="0" sz="2800">
                <a:latin typeface="Tahoma"/>
                <a:cs typeface="Tahoma"/>
              </a:rPr>
              <a:t>through</a:t>
            </a:r>
            <a:r>
              <a:rPr dirty="0" sz="2800" spc="-85"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assigned</a:t>
            </a:r>
            <a:r>
              <a:rPr dirty="0" sz="2800" spc="-8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00FF"/>
                </a:solidFill>
                <a:latin typeface="Tahoma"/>
                <a:cs typeface="Tahoma"/>
              </a:rPr>
              <a:t>addresses</a:t>
            </a:r>
            <a:r>
              <a:rPr dirty="0" sz="2800" spc="-1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When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user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searches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file,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CPU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must </a:t>
            </a:r>
            <a:r>
              <a:rPr dirty="0" sz="2800">
                <a:latin typeface="Tahoma"/>
                <a:cs typeface="Tahoma"/>
              </a:rPr>
              <a:t>convert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request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numerical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instruction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search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through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memory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>
                <a:latin typeface="Tahoma"/>
                <a:cs typeface="Tahoma"/>
              </a:rPr>
              <a:t>corresponding</a:t>
            </a:r>
            <a:r>
              <a:rPr dirty="0" sz="2800" spc="-1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address</a:t>
            </a:r>
            <a:endParaRPr sz="2800">
              <a:latin typeface="Tahoma"/>
              <a:cs typeface="Tahoma"/>
            </a:endParaRPr>
          </a:p>
          <a:p>
            <a:pPr marL="355600" marR="78740" indent="-342900">
              <a:lnSpc>
                <a:spcPct val="100000"/>
              </a:lnSpc>
              <a:spcBef>
                <a:spcPts val="1200"/>
              </a:spcBef>
              <a:buClr>
                <a:srgbClr val="3333CC"/>
              </a:buClr>
              <a:buSzPct val="58928"/>
              <a:buChar char="■"/>
              <a:tabLst>
                <a:tab pos="355600" algn="l"/>
              </a:tabLst>
            </a:pP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computer's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memory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most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commonly </a:t>
            </a:r>
            <a:r>
              <a:rPr dirty="0" sz="2800">
                <a:latin typeface="Tahoma"/>
                <a:cs typeface="Tahoma"/>
              </a:rPr>
              <a:t>referred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RAM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(random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access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memory).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2847" y="490258"/>
            <a:ext cx="4988560" cy="106743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/>
              <a:t>Associative</a:t>
            </a:r>
            <a:r>
              <a:rPr dirty="0" spc="-125"/>
              <a:t> </a:t>
            </a:r>
            <a:r>
              <a:rPr dirty="0" spc="-10"/>
              <a:t>Memory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Pattern</a:t>
            </a:r>
            <a:r>
              <a:rPr dirty="0" spc="-35"/>
              <a:t> </a:t>
            </a:r>
            <a:r>
              <a:rPr dirty="0" spc="-10"/>
              <a:t>Association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18286" y="2381897"/>
            <a:ext cx="7560945" cy="33166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marR="449580" indent="-2286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241300" algn="l"/>
              </a:tabLst>
            </a:pPr>
            <a:r>
              <a:rPr dirty="0" sz="2800">
                <a:latin typeface="Tahoma"/>
                <a:cs typeface="Tahoma"/>
              </a:rPr>
              <a:t>An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associative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memory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33CC"/>
                </a:solidFill>
                <a:latin typeface="Tahoma"/>
                <a:cs typeface="Tahoma"/>
              </a:rPr>
              <a:t>content- </a:t>
            </a:r>
            <a:r>
              <a:rPr dirty="0" sz="2800" b="1">
                <a:solidFill>
                  <a:srgbClr val="0033CC"/>
                </a:solidFill>
                <a:latin typeface="Tahoma"/>
                <a:cs typeface="Tahoma"/>
              </a:rPr>
              <a:t>addressable</a:t>
            </a:r>
            <a:r>
              <a:rPr dirty="0" sz="2800" spc="-60" b="1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33CC"/>
                </a:solidFill>
                <a:latin typeface="Tahoma"/>
                <a:cs typeface="Tahoma"/>
              </a:rPr>
              <a:t>structure</a:t>
            </a:r>
            <a:r>
              <a:rPr dirty="0" sz="2800" spc="-55" b="1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maps</a:t>
            </a:r>
            <a:r>
              <a:rPr dirty="0" u="heavy" sz="2800" spc="-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800" spc="-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set</a:t>
            </a:r>
            <a:r>
              <a:rPr dirty="0" u="heavy" sz="2800" spc="-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of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input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patterns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to</a:t>
            </a:r>
            <a:r>
              <a:rPr dirty="0" u="heavy" sz="28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set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of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output</a:t>
            </a:r>
            <a:r>
              <a:rPr dirty="0" u="heavy" sz="2800" spc="-4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28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patterns.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80"/>
              </a:spcBef>
              <a:buClr>
                <a:srgbClr val="3333CC"/>
              </a:buClr>
              <a:buFont typeface="Tahoma"/>
              <a:buChar char="■"/>
            </a:pPr>
            <a:endParaRPr sz="2800">
              <a:latin typeface="Tahoma"/>
              <a:cs typeface="Tahoma"/>
            </a:endParaRPr>
          </a:p>
          <a:p>
            <a:pPr marL="241300" marR="5080" indent="-228600">
              <a:lnSpc>
                <a:spcPct val="100000"/>
              </a:lnSpc>
              <a:buClr>
                <a:srgbClr val="3333CC"/>
              </a:buClr>
              <a:buSzPct val="58928"/>
              <a:buFont typeface="Tahoma"/>
              <a:buChar char="■"/>
              <a:tabLst>
                <a:tab pos="241300" algn="l"/>
              </a:tabLst>
            </a:pP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That</a:t>
            </a:r>
            <a:r>
              <a:rPr dirty="0" sz="2800" spc="-5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is,</a:t>
            </a:r>
            <a:r>
              <a:rPr dirty="0" sz="2800" spc="-5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memory</a:t>
            </a:r>
            <a:r>
              <a:rPr dirty="0" sz="2800" spc="-50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can</a:t>
            </a:r>
            <a:r>
              <a:rPr dirty="0" sz="2800" spc="-5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be</a:t>
            </a:r>
            <a:r>
              <a:rPr dirty="0" sz="2800" spc="-4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directly</a:t>
            </a:r>
            <a:r>
              <a:rPr dirty="0" sz="2800" spc="-5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8000"/>
                </a:solidFill>
                <a:latin typeface="Tahoma"/>
                <a:cs typeface="Tahoma"/>
              </a:rPr>
              <a:t>accessed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by</a:t>
            </a:r>
            <a:r>
              <a:rPr dirty="0" sz="2800" spc="-40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the</a:t>
            </a:r>
            <a:r>
              <a:rPr dirty="0" sz="2800" spc="-3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content,</a:t>
            </a:r>
            <a:r>
              <a:rPr dirty="0" sz="2800" spc="-40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rather</a:t>
            </a:r>
            <a:r>
              <a:rPr dirty="0" sz="2800" spc="-40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than</a:t>
            </a:r>
            <a:r>
              <a:rPr dirty="0" sz="2800" spc="-40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the</a:t>
            </a:r>
            <a:r>
              <a:rPr dirty="0" sz="2800" spc="-3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8000"/>
                </a:solidFill>
                <a:latin typeface="Tahoma"/>
                <a:cs typeface="Tahoma"/>
              </a:rPr>
              <a:t>physical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address</a:t>
            </a:r>
            <a:r>
              <a:rPr dirty="0" sz="2800" spc="-40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in</a:t>
            </a:r>
            <a:r>
              <a:rPr dirty="0" sz="2800" spc="-3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8000"/>
                </a:solidFill>
                <a:latin typeface="Tahoma"/>
                <a:cs typeface="Tahoma"/>
              </a:rPr>
              <a:t>the</a:t>
            </a:r>
            <a:r>
              <a:rPr dirty="0" sz="2800" spc="-35" b="1">
                <a:solidFill>
                  <a:srgbClr val="008000"/>
                </a:solidFill>
                <a:latin typeface="Tahoma"/>
                <a:cs typeface="Tahoma"/>
              </a:rPr>
              <a:t> </a:t>
            </a:r>
            <a:r>
              <a:rPr dirty="0" sz="2800" spc="-10" b="1">
                <a:solidFill>
                  <a:srgbClr val="008000"/>
                </a:solidFill>
                <a:latin typeface="Tahoma"/>
                <a:cs typeface="Tahoma"/>
              </a:rPr>
              <a:t>memory.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0295" y="2167394"/>
            <a:ext cx="7342505" cy="3999229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marR="5080" indent="-228600">
              <a:lnSpc>
                <a:spcPct val="79900"/>
              </a:lnSpc>
              <a:spcBef>
                <a:spcPts val="770"/>
              </a:spcBef>
              <a:buClr>
                <a:srgbClr val="3333CC"/>
              </a:buClr>
              <a:buSzPct val="58928"/>
              <a:buChar char="■"/>
              <a:tabLst>
                <a:tab pos="241300" algn="l"/>
              </a:tabLst>
            </a:pPr>
            <a:r>
              <a:rPr dirty="0" sz="2800">
                <a:latin typeface="Tahoma"/>
                <a:cs typeface="Tahoma"/>
              </a:rPr>
              <a:t>Associative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memory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often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linked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ahoma"/>
                <a:cs typeface="Tahoma"/>
              </a:rPr>
              <a:t>pattern association</a:t>
            </a:r>
            <a:endParaRPr sz="2800">
              <a:latin typeface="Tahoma"/>
              <a:cs typeface="Tahoma"/>
            </a:endParaRPr>
          </a:p>
          <a:p>
            <a:pPr lvl="1" marL="814069" indent="-229870">
              <a:lnSpc>
                <a:spcPts val="2110"/>
              </a:lnSpc>
              <a:buClr>
                <a:srgbClr val="FF0000"/>
              </a:buClr>
              <a:buSzPct val="54166"/>
              <a:buChar char="■"/>
              <a:tabLst>
                <a:tab pos="814069" algn="l"/>
              </a:tabLst>
            </a:pPr>
            <a:r>
              <a:rPr dirty="0" sz="2400">
                <a:latin typeface="Tahoma"/>
                <a:cs typeface="Tahoma"/>
              </a:rPr>
              <a:t>Associating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patterns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are</a:t>
            </a:r>
            <a:endParaRPr sz="2400">
              <a:latin typeface="Tahoma"/>
              <a:cs typeface="Tahoma"/>
            </a:endParaRPr>
          </a:p>
          <a:p>
            <a:pPr lvl="2" marL="1160145" indent="-233045">
              <a:lnSpc>
                <a:spcPts val="2565"/>
              </a:lnSpc>
              <a:buClr>
                <a:srgbClr val="3333CC"/>
              </a:buClr>
              <a:buSzPct val="50000"/>
              <a:buChar char="—"/>
              <a:tabLst>
                <a:tab pos="1160145" algn="l"/>
              </a:tabLst>
            </a:pPr>
            <a:r>
              <a:rPr dirty="0" sz="2400" spc="-10">
                <a:latin typeface="Tahoma"/>
                <a:cs typeface="Tahoma"/>
              </a:rPr>
              <a:t>similar</a:t>
            </a:r>
            <a:endParaRPr sz="2400">
              <a:latin typeface="Tahoma"/>
              <a:cs typeface="Tahoma"/>
            </a:endParaRPr>
          </a:p>
          <a:p>
            <a:pPr lvl="2" marL="1160145" indent="-233045">
              <a:lnSpc>
                <a:spcPts val="2590"/>
              </a:lnSpc>
              <a:buClr>
                <a:srgbClr val="3333CC"/>
              </a:buClr>
              <a:buSzPct val="50000"/>
              <a:buChar char="—"/>
              <a:tabLst>
                <a:tab pos="1160145" algn="l"/>
              </a:tabLst>
            </a:pPr>
            <a:r>
              <a:rPr dirty="0" sz="2400" spc="-10">
                <a:latin typeface="Tahoma"/>
                <a:cs typeface="Tahoma"/>
              </a:rPr>
              <a:t>contrary</a:t>
            </a:r>
            <a:endParaRPr sz="2400">
              <a:latin typeface="Tahoma"/>
              <a:cs typeface="Tahoma"/>
            </a:endParaRPr>
          </a:p>
          <a:p>
            <a:pPr lvl="2" marL="1160145" indent="-233045">
              <a:lnSpc>
                <a:spcPts val="2590"/>
              </a:lnSpc>
              <a:buClr>
                <a:srgbClr val="3333CC"/>
              </a:buClr>
              <a:buSzPct val="50000"/>
              <a:buChar char="—"/>
              <a:tabLst>
                <a:tab pos="1160145" algn="l"/>
              </a:tabLst>
            </a:pP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close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proximity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(spatial)</a:t>
            </a:r>
            <a:endParaRPr sz="2400">
              <a:latin typeface="Tahoma"/>
              <a:cs typeface="Tahoma"/>
            </a:endParaRPr>
          </a:p>
          <a:p>
            <a:pPr lvl="2" marL="1160145" indent="-233045">
              <a:lnSpc>
                <a:spcPts val="2735"/>
              </a:lnSpc>
              <a:buClr>
                <a:srgbClr val="3333CC"/>
              </a:buClr>
              <a:buSzPct val="50000"/>
              <a:buChar char="—"/>
              <a:tabLst>
                <a:tab pos="1160145" algn="l"/>
              </a:tabLst>
            </a:pP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close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succession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(temporal)</a:t>
            </a:r>
            <a:endParaRPr sz="2400">
              <a:latin typeface="Tahoma"/>
              <a:cs typeface="Tahoma"/>
            </a:endParaRPr>
          </a:p>
          <a:p>
            <a:pPr lvl="1" marL="814069" indent="-229870">
              <a:lnSpc>
                <a:spcPts val="2710"/>
              </a:lnSpc>
              <a:spcBef>
                <a:spcPts val="2065"/>
              </a:spcBef>
              <a:buClr>
                <a:srgbClr val="FF0000"/>
              </a:buClr>
              <a:buSzPct val="54166"/>
              <a:buChar char="■"/>
              <a:tabLst>
                <a:tab pos="814069" algn="l"/>
              </a:tabLst>
            </a:pPr>
            <a:r>
              <a:rPr dirty="0" sz="2400">
                <a:latin typeface="Tahoma"/>
                <a:cs typeface="Tahoma"/>
              </a:rPr>
              <a:t>Associative</a:t>
            </a:r>
            <a:r>
              <a:rPr dirty="0" sz="2400" spc="-9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recall</a:t>
            </a:r>
            <a:endParaRPr sz="2400">
              <a:latin typeface="Tahoma"/>
              <a:cs typeface="Tahoma"/>
            </a:endParaRPr>
          </a:p>
          <a:p>
            <a:pPr lvl="2" marL="1160145" indent="-233045">
              <a:lnSpc>
                <a:spcPts val="2565"/>
              </a:lnSpc>
              <a:buClr>
                <a:srgbClr val="3333CC"/>
              </a:buClr>
              <a:buSzPct val="50000"/>
              <a:buChar char="—"/>
              <a:tabLst>
                <a:tab pos="1160145" algn="l"/>
              </a:tabLst>
            </a:pPr>
            <a:r>
              <a:rPr dirty="0" sz="2400">
                <a:latin typeface="Tahoma"/>
                <a:cs typeface="Tahoma"/>
              </a:rPr>
              <a:t>evoke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associated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patterns</a:t>
            </a:r>
            <a:endParaRPr sz="2400">
              <a:latin typeface="Tahoma"/>
              <a:cs typeface="Tahoma"/>
            </a:endParaRPr>
          </a:p>
          <a:p>
            <a:pPr lvl="2" marL="1160145" indent="-233045">
              <a:lnSpc>
                <a:spcPts val="2590"/>
              </a:lnSpc>
              <a:buClr>
                <a:srgbClr val="3333CC"/>
              </a:buClr>
              <a:buSzPct val="50000"/>
              <a:buChar char="—"/>
              <a:tabLst>
                <a:tab pos="1160145" algn="l"/>
              </a:tabLst>
            </a:pPr>
            <a:r>
              <a:rPr dirty="0" sz="2400">
                <a:latin typeface="Tahoma"/>
                <a:cs typeface="Tahoma"/>
              </a:rPr>
              <a:t>recall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part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it</a:t>
            </a:r>
            <a:endParaRPr sz="2400">
              <a:latin typeface="Tahoma"/>
              <a:cs typeface="Tahoma"/>
            </a:endParaRPr>
          </a:p>
          <a:p>
            <a:pPr lvl="2" marL="1160145" indent="-233045">
              <a:lnSpc>
                <a:spcPts val="2735"/>
              </a:lnSpc>
              <a:buClr>
                <a:srgbClr val="3333CC"/>
              </a:buClr>
              <a:buSzPct val="50000"/>
              <a:buChar char="—"/>
              <a:tabLst>
                <a:tab pos="1160145" algn="l"/>
              </a:tabLst>
            </a:pPr>
            <a:r>
              <a:rPr dirty="0" sz="2400">
                <a:latin typeface="Tahoma"/>
                <a:cs typeface="Tahoma"/>
              </a:rPr>
              <a:t>evoke/recall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incomplete/noisy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patterns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2847" y="490258"/>
            <a:ext cx="4988560" cy="106743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/>
              <a:t>Associative</a:t>
            </a:r>
            <a:r>
              <a:rPr dirty="0" spc="-125"/>
              <a:t> </a:t>
            </a:r>
            <a:r>
              <a:rPr dirty="0" spc="-10"/>
              <a:t>Memory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Pattern</a:t>
            </a:r>
            <a:r>
              <a:rPr dirty="0" spc="-35"/>
              <a:t> </a:t>
            </a:r>
            <a:r>
              <a:rPr dirty="0" spc="-10"/>
              <a:t>Association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027" y="2110320"/>
            <a:ext cx="8083550" cy="412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98425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Tahoma"/>
              <a:buChar char="■"/>
              <a:tabLst>
                <a:tab pos="355600" algn="l"/>
              </a:tabLst>
            </a:pPr>
            <a:r>
              <a:rPr dirty="0" sz="2800" spc="-105" b="1">
                <a:latin typeface="Tahoma"/>
                <a:cs typeface="Tahoma"/>
              </a:rPr>
              <a:t>Two </a:t>
            </a:r>
            <a:r>
              <a:rPr dirty="0" sz="2800" spc="-60" b="1">
                <a:latin typeface="Tahoma"/>
                <a:cs typeface="Tahoma"/>
              </a:rPr>
              <a:t>types</a:t>
            </a:r>
            <a:r>
              <a:rPr dirty="0" sz="2800" spc="-145" b="1">
                <a:latin typeface="Tahoma"/>
                <a:cs typeface="Tahoma"/>
              </a:rPr>
              <a:t> </a:t>
            </a:r>
            <a:r>
              <a:rPr dirty="0" sz="2800" spc="-30" b="1">
                <a:latin typeface="Tahoma"/>
                <a:cs typeface="Tahoma"/>
              </a:rPr>
              <a:t>of</a:t>
            </a:r>
            <a:r>
              <a:rPr dirty="0" sz="2800" spc="-110" b="1">
                <a:latin typeface="Tahoma"/>
                <a:cs typeface="Tahoma"/>
              </a:rPr>
              <a:t> </a:t>
            </a:r>
            <a:r>
              <a:rPr dirty="0" sz="2800" spc="-45" b="1">
                <a:latin typeface="Tahoma"/>
                <a:cs typeface="Tahoma"/>
              </a:rPr>
              <a:t>associative</a:t>
            </a:r>
            <a:r>
              <a:rPr dirty="0" sz="2800" spc="-95" b="1">
                <a:latin typeface="Tahoma"/>
                <a:cs typeface="Tahoma"/>
              </a:rPr>
              <a:t> </a:t>
            </a:r>
            <a:r>
              <a:rPr dirty="0" sz="2800" spc="-150" b="1">
                <a:latin typeface="Tahoma"/>
                <a:cs typeface="Tahoma"/>
              </a:rPr>
              <a:t>memory</a:t>
            </a:r>
            <a:r>
              <a:rPr dirty="0" sz="2800" spc="-150">
                <a:latin typeface="Tahoma"/>
                <a:cs typeface="Tahoma"/>
              </a:rPr>
              <a:t>:</a:t>
            </a:r>
            <a:r>
              <a:rPr dirty="0" sz="2800" spc="-95">
                <a:latin typeface="Tahoma"/>
                <a:cs typeface="Tahoma"/>
              </a:rPr>
              <a:t> </a:t>
            </a:r>
            <a:r>
              <a:rPr dirty="0" sz="2800" spc="-10" b="1" i="1">
                <a:solidFill>
                  <a:srgbClr val="CC3300"/>
                </a:solidFill>
                <a:latin typeface="Arial"/>
                <a:cs typeface="Arial"/>
              </a:rPr>
              <a:t>auto- </a:t>
            </a:r>
            <a:r>
              <a:rPr dirty="0" sz="2800" b="1" i="1">
                <a:solidFill>
                  <a:srgbClr val="CC3300"/>
                </a:solidFill>
                <a:latin typeface="Arial"/>
                <a:cs typeface="Arial"/>
              </a:rPr>
              <a:t>associative</a:t>
            </a:r>
            <a:r>
              <a:rPr dirty="0" sz="2800" spc="-20" b="1" i="1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114">
                <a:latin typeface="Tahoma"/>
                <a:cs typeface="Tahoma"/>
              </a:rPr>
              <a:t> </a:t>
            </a:r>
            <a:r>
              <a:rPr dirty="0" sz="2800" spc="-20" b="1" i="1">
                <a:solidFill>
                  <a:srgbClr val="CC3300"/>
                </a:solidFill>
                <a:latin typeface="Arial"/>
                <a:cs typeface="Arial"/>
              </a:rPr>
              <a:t>hetero-</a:t>
            </a:r>
            <a:r>
              <a:rPr dirty="0" sz="2800" spc="-10" b="1" i="1">
                <a:solidFill>
                  <a:srgbClr val="CC3300"/>
                </a:solidFill>
                <a:latin typeface="Arial"/>
                <a:cs typeface="Arial"/>
              </a:rPr>
              <a:t>associative</a:t>
            </a:r>
            <a:r>
              <a:rPr dirty="0" sz="2800" spc="-10">
                <a:latin typeface="Tahoma"/>
                <a:cs typeface="Tahoma"/>
              </a:rPr>
              <a:t>.</a:t>
            </a:r>
            <a:endParaRPr sz="2800">
              <a:latin typeface="Tahoma"/>
              <a:cs typeface="Tahoma"/>
            </a:endParaRPr>
          </a:p>
          <a:p>
            <a:pPr algn="just" marL="353695" indent="-34099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353695" algn="l"/>
              </a:tabLst>
            </a:pPr>
            <a:r>
              <a:rPr dirty="0" sz="2800" spc="-25">
                <a:latin typeface="Tahoma"/>
                <a:cs typeface="Tahoma"/>
              </a:rPr>
              <a:t>Auto-</a:t>
            </a:r>
            <a:r>
              <a:rPr dirty="0" sz="2800" spc="-10">
                <a:latin typeface="Tahoma"/>
                <a:cs typeface="Tahoma"/>
              </a:rPr>
              <a:t>association</a:t>
            </a:r>
            <a:endParaRPr sz="2800">
              <a:latin typeface="Tahoma"/>
              <a:cs typeface="Tahoma"/>
            </a:endParaRPr>
          </a:p>
          <a:p>
            <a:pPr algn="just" lvl="1" marL="755650" marR="366395" indent="-285750">
              <a:lnSpc>
                <a:spcPct val="100000"/>
              </a:lnSpc>
              <a:spcBef>
                <a:spcPts val="655"/>
              </a:spcBef>
              <a:buSzPct val="55555"/>
              <a:buChar char="—"/>
              <a:tabLst>
                <a:tab pos="755650" algn="l"/>
                <a:tab pos="756920" algn="l"/>
              </a:tabLst>
            </a:pPr>
            <a:r>
              <a:rPr dirty="0" sz="27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700">
                <a:latin typeface="Tahoma"/>
                <a:cs typeface="Tahoma"/>
              </a:rPr>
              <a:t>retrieves</a:t>
            </a:r>
            <a:r>
              <a:rPr dirty="0" sz="2700" spc="-95">
                <a:latin typeface="Tahoma"/>
                <a:cs typeface="Tahoma"/>
              </a:rPr>
              <a:t> </a:t>
            </a:r>
            <a:r>
              <a:rPr dirty="0" sz="2700" spc="80">
                <a:latin typeface="Tahoma"/>
                <a:cs typeface="Tahoma"/>
              </a:rPr>
              <a:t>a</a:t>
            </a:r>
            <a:r>
              <a:rPr dirty="0" sz="2700" spc="-95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previously</a:t>
            </a:r>
            <a:r>
              <a:rPr dirty="0" sz="2700" spc="-90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stored</a:t>
            </a:r>
            <a:r>
              <a:rPr dirty="0" sz="2700" spc="-95">
                <a:latin typeface="Tahoma"/>
                <a:cs typeface="Tahoma"/>
              </a:rPr>
              <a:t> </a:t>
            </a:r>
            <a:r>
              <a:rPr dirty="0" sz="2700" spc="-30">
                <a:latin typeface="Tahoma"/>
                <a:cs typeface="Tahoma"/>
              </a:rPr>
              <a:t>pattern</a:t>
            </a:r>
            <a:r>
              <a:rPr dirty="0" sz="2700" spc="-95">
                <a:latin typeface="Tahoma"/>
                <a:cs typeface="Tahoma"/>
              </a:rPr>
              <a:t> </a:t>
            </a:r>
            <a:r>
              <a:rPr dirty="0" sz="2700" spc="-45">
                <a:latin typeface="Tahoma"/>
                <a:cs typeface="Tahoma"/>
              </a:rPr>
              <a:t>that</a:t>
            </a:r>
            <a:r>
              <a:rPr dirty="0" sz="2700" spc="-95">
                <a:latin typeface="Tahoma"/>
                <a:cs typeface="Tahoma"/>
              </a:rPr>
              <a:t> </a:t>
            </a:r>
            <a:r>
              <a:rPr dirty="0" sz="2700" spc="-20">
                <a:latin typeface="Tahoma"/>
                <a:cs typeface="Tahoma"/>
              </a:rPr>
              <a:t>most </a:t>
            </a:r>
            <a:r>
              <a:rPr dirty="0" sz="2700">
                <a:solidFill>
                  <a:srgbClr val="0033CC"/>
                </a:solidFill>
                <a:latin typeface="Tahoma"/>
                <a:cs typeface="Tahoma"/>
              </a:rPr>
              <a:t>closely</a:t>
            </a:r>
            <a:r>
              <a:rPr dirty="0" sz="2700" spc="25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0033CC"/>
                </a:solidFill>
                <a:latin typeface="Tahoma"/>
                <a:cs typeface="Tahoma"/>
              </a:rPr>
              <a:t>resembles</a:t>
            </a:r>
            <a:r>
              <a:rPr dirty="0" sz="2700" spc="25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the</a:t>
            </a:r>
            <a:r>
              <a:rPr dirty="0" sz="2700" spc="20">
                <a:latin typeface="Tahoma"/>
                <a:cs typeface="Tahoma"/>
              </a:rPr>
              <a:t> </a:t>
            </a:r>
            <a:r>
              <a:rPr dirty="0" sz="2700" spc="-10">
                <a:latin typeface="Tahoma"/>
                <a:cs typeface="Tahoma"/>
              </a:rPr>
              <a:t>current</a:t>
            </a:r>
            <a:r>
              <a:rPr dirty="0" sz="2700" spc="30">
                <a:latin typeface="Tahoma"/>
                <a:cs typeface="Tahoma"/>
              </a:rPr>
              <a:t> </a:t>
            </a:r>
            <a:r>
              <a:rPr dirty="0" sz="2700" spc="-10">
                <a:latin typeface="Tahoma"/>
                <a:cs typeface="Tahoma"/>
              </a:rPr>
              <a:t>pattern.</a:t>
            </a:r>
            <a:endParaRPr sz="2700">
              <a:latin typeface="Tahoma"/>
              <a:cs typeface="Tahoma"/>
            </a:endParaRPr>
          </a:p>
          <a:p>
            <a:pPr algn="just" marL="353695" indent="-340995">
              <a:lnSpc>
                <a:spcPct val="100000"/>
              </a:lnSpc>
              <a:spcBef>
                <a:spcPts val="660"/>
              </a:spcBef>
              <a:buClr>
                <a:srgbClr val="3333CC"/>
              </a:buClr>
              <a:buSzPct val="58928"/>
              <a:buChar char="■"/>
              <a:tabLst>
                <a:tab pos="353695" algn="l"/>
              </a:tabLst>
            </a:pPr>
            <a:r>
              <a:rPr dirty="0" sz="2800" spc="-20">
                <a:latin typeface="Tahoma"/>
                <a:cs typeface="Tahoma"/>
              </a:rPr>
              <a:t>Hetero-</a:t>
            </a:r>
            <a:r>
              <a:rPr dirty="0" sz="2800" spc="-10">
                <a:latin typeface="Tahoma"/>
                <a:cs typeface="Tahoma"/>
              </a:rPr>
              <a:t>association</a:t>
            </a:r>
            <a:endParaRPr sz="2800">
              <a:latin typeface="Tahoma"/>
              <a:cs typeface="Tahoma"/>
            </a:endParaRPr>
          </a:p>
          <a:p>
            <a:pPr algn="just" lvl="1" marL="755650" marR="5080" indent="-285750">
              <a:lnSpc>
                <a:spcPct val="100000"/>
              </a:lnSpc>
              <a:spcBef>
                <a:spcPts val="655"/>
              </a:spcBef>
              <a:buSzPct val="55555"/>
              <a:buChar char="—"/>
              <a:tabLst>
                <a:tab pos="755650" algn="l"/>
                <a:tab pos="756920" algn="l"/>
              </a:tabLst>
            </a:pPr>
            <a:r>
              <a:rPr dirty="0" sz="27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700">
                <a:latin typeface="Tahoma"/>
                <a:cs typeface="Tahoma"/>
              </a:rPr>
              <a:t>the</a:t>
            </a:r>
            <a:r>
              <a:rPr dirty="0" sz="2700" spc="-125">
                <a:latin typeface="Tahoma"/>
                <a:cs typeface="Tahoma"/>
              </a:rPr>
              <a:t> </a:t>
            </a:r>
            <a:r>
              <a:rPr dirty="0" sz="2700" spc="-10">
                <a:latin typeface="Tahoma"/>
                <a:cs typeface="Tahoma"/>
              </a:rPr>
              <a:t>retrieved</a:t>
            </a:r>
            <a:r>
              <a:rPr dirty="0" sz="2700" spc="-125">
                <a:latin typeface="Tahoma"/>
                <a:cs typeface="Tahoma"/>
              </a:rPr>
              <a:t> </a:t>
            </a:r>
            <a:r>
              <a:rPr dirty="0" sz="2700" spc="-30">
                <a:latin typeface="Tahoma"/>
                <a:cs typeface="Tahoma"/>
              </a:rPr>
              <a:t>pattern</a:t>
            </a:r>
            <a:r>
              <a:rPr dirty="0" sz="2700" spc="-120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is,</a:t>
            </a:r>
            <a:r>
              <a:rPr dirty="0" sz="2700" spc="-120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in</a:t>
            </a:r>
            <a:r>
              <a:rPr dirty="0" sz="2700" spc="-120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general,</a:t>
            </a:r>
            <a:r>
              <a:rPr dirty="0" sz="2700" spc="-120">
                <a:latin typeface="Tahoma"/>
                <a:cs typeface="Tahoma"/>
              </a:rPr>
              <a:t> </a:t>
            </a:r>
            <a:r>
              <a:rPr dirty="0" sz="2700" spc="-35">
                <a:solidFill>
                  <a:srgbClr val="0033CC"/>
                </a:solidFill>
                <a:latin typeface="Tahoma"/>
                <a:cs typeface="Tahoma"/>
              </a:rPr>
              <a:t>different</a:t>
            </a:r>
            <a:r>
              <a:rPr dirty="0" sz="2700" spc="-114">
                <a:solidFill>
                  <a:srgbClr val="0033CC"/>
                </a:solidFill>
                <a:latin typeface="Tahoma"/>
                <a:cs typeface="Tahoma"/>
              </a:rPr>
              <a:t> </a:t>
            </a:r>
            <a:r>
              <a:rPr dirty="0" sz="2700" spc="-20">
                <a:latin typeface="Tahoma"/>
                <a:cs typeface="Tahoma"/>
              </a:rPr>
              <a:t>from </a:t>
            </a:r>
            <a:r>
              <a:rPr dirty="0" sz="2700">
                <a:latin typeface="Tahoma"/>
                <a:cs typeface="Tahoma"/>
              </a:rPr>
              <a:t>the</a:t>
            </a:r>
            <a:r>
              <a:rPr dirty="0" sz="2700" spc="-165">
                <a:latin typeface="Tahoma"/>
                <a:cs typeface="Tahoma"/>
              </a:rPr>
              <a:t> </a:t>
            </a:r>
            <a:r>
              <a:rPr dirty="0" sz="2700" spc="-20">
                <a:latin typeface="Tahoma"/>
                <a:cs typeface="Tahoma"/>
              </a:rPr>
              <a:t>input</a:t>
            </a:r>
            <a:r>
              <a:rPr dirty="0" sz="2700" spc="-155">
                <a:latin typeface="Tahoma"/>
                <a:cs typeface="Tahoma"/>
              </a:rPr>
              <a:t> </a:t>
            </a:r>
            <a:r>
              <a:rPr dirty="0" sz="2700" spc="-30">
                <a:latin typeface="Tahoma"/>
                <a:cs typeface="Tahoma"/>
              </a:rPr>
              <a:t>pattern</a:t>
            </a:r>
            <a:r>
              <a:rPr dirty="0" sz="2700" spc="-160">
                <a:latin typeface="Tahoma"/>
                <a:cs typeface="Tahoma"/>
              </a:rPr>
              <a:t> </a:t>
            </a:r>
            <a:r>
              <a:rPr dirty="0" sz="2700" spc="-10">
                <a:latin typeface="Tahoma"/>
                <a:cs typeface="Tahoma"/>
              </a:rPr>
              <a:t>not</a:t>
            </a:r>
            <a:r>
              <a:rPr dirty="0" sz="2700" spc="-160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only</a:t>
            </a:r>
            <a:r>
              <a:rPr dirty="0" sz="2700" spc="-155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in</a:t>
            </a:r>
            <a:r>
              <a:rPr dirty="0" sz="2700" spc="-160">
                <a:latin typeface="Tahoma"/>
                <a:cs typeface="Tahoma"/>
              </a:rPr>
              <a:t> </a:t>
            </a:r>
            <a:r>
              <a:rPr dirty="0" sz="2700" spc="-10">
                <a:latin typeface="Tahoma"/>
                <a:cs typeface="Tahoma"/>
              </a:rPr>
              <a:t>content</a:t>
            </a:r>
            <a:r>
              <a:rPr dirty="0" sz="2700" spc="-155">
                <a:latin typeface="Tahoma"/>
                <a:cs typeface="Tahoma"/>
              </a:rPr>
              <a:t> </a:t>
            </a:r>
            <a:r>
              <a:rPr dirty="0" sz="2700" spc="-25">
                <a:latin typeface="Tahoma"/>
                <a:cs typeface="Tahoma"/>
              </a:rPr>
              <a:t>but</a:t>
            </a:r>
            <a:r>
              <a:rPr dirty="0" sz="2700" spc="-160">
                <a:latin typeface="Tahoma"/>
                <a:cs typeface="Tahoma"/>
              </a:rPr>
              <a:t> </a:t>
            </a:r>
            <a:r>
              <a:rPr dirty="0" sz="2700" spc="-10">
                <a:latin typeface="Tahoma"/>
                <a:cs typeface="Tahoma"/>
              </a:rPr>
              <a:t>possibly </a:t>
            </a:r>
            <a:r>
              <a:rPr dirty="0" sz="2700" spc="55">
                <a:latin typeface="Tahoma"/>
                <a:cs typeface="Tahoma"/>
              </a:rPr>
              <a:t>also</a:t>
            </a:r>
            <a:r>
              <a:rPr dirty="0" sz="2700" spc="-110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in</a:t>
            </a:r>
            <a:r>
              <a:rPr dirty="0" sz="2700" spc="-105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type</a:t>
            </a:r>
            <a:r>
              <a:rPr dirty="0" sz="2700" spc="-105">
                <a:latin typeface="Tahoma"/>
                <a:cs typeface="Tahoma"/>
              </a:rPr>
              <a:t> </a:t>
            </a:r>
            <a:r>
              <a:rPr dirty="0" sz="2700">
                <a:latin typeface="Tahoma"/>
                <a:cs typeface="Tahoma"/>
              </a:rPr>
              <a:t>and</a:t>
            </a:r>
            <a:r>
              <a:rPr dirty="0" sz="2700" spc="-105">
                <a:latin typeface="Tahoma"/>
                <a:cs typeface="Tahoma"/>
              </a:rPr>
              <a:t> </a:t>
            </a:r>
            <a:r>
              <a:rPr dirty="0" sz="2700" spc="-10">
                <a:latin typeface="Tahoma"/>
                <a:cs typeface="Tahoma"/>
              </a:rPr>
              <a:t>format.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2378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Associative</a:t>
            </a:r>
            <a:r>
              <a:rPr dirty="0" sz="4400" spc="-125"/>
              <a:t> </a:t>
            </a:r>
            <a:r>
              <a:rPr dirty="0" sz="4400" spc="-10"/>
              <a:t>Memories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2378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Associative</a:t>
            </a:r>
            <a:r>
              <a:rPr dirty="0" sz="4400" spc="-125"/>
              <a:t> </a:t>
            </a:r>
            <a:r>
              <a:rPr dirty="0" sz="4400" spc="-10"/>
              <a:t>Memories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616902" y="2237663"/>
            <a:ext cx="188912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20" b="1">
                <a:latin typeface="Cambria"/>
                <a:cs typeface="Cambria"/>
              </a:rPr>
              <a:t>Auto-</a:t>
            </a:r>
            <a:r>
              <a:rPr dirty="0" sz="1800" spc="-10" b="1">
                <a:latin typeface="Cambria"/>
                <a:cs typeface="Cambria"/>
              </a:rPr>
              <a:t>association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8490" y="4182109"/>
            <a:ext cx="214820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20" b="1">
                <a:latin typeface="Cambria"/>
                <a:cs typeface="Cambria"/>
              </a:rPr>
              <a:t>Hetero-</a:t>
            </a:r>
            <a:r>
              <a:rPr dirty="0" sz="1800" spc="-10" b="1">
                <a:latin typeface="Cambria"/>
                <a:cs typeface="Cambria"/>
              </a:rPr>
              <a:t>association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934" y="2904426"/>
            <a:ext cx="2173605" cy="103060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220527" y="3273044"/>
            <a:ext cx="7442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10">
                <a:latin typeface="Tahoma"/>
                <a:cs typeface="Tahoma"/>
              </a:rPr>
              <a:t>memory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335024" y="2935223"/>
            <a:ext cx="5614035" cy="914400"/>
            <a:chOff x="1335024" y="2935223"/>
            <a:chExt cx="5614035" cy="914400"/>
          </a:xfrm>
        </p:grpSpPr>
        <p:sp>
          <p:nvSpPr>
            <p:cNvPr id="8" name="object 8" descr=""/>
            <p:cNvSpPr/>
            <p:nvPr/>
          </p:nvSpPr>
          <p:spPr>
            <a:xfrm>
              <a:off x="2195474" y="3344138"/>
              <a:ext cx="4753610" cy="86360"/>
            </a:xfrm>
            <a:custGeom>
              <a:avLst/>
              <a:gdLst/>
              <a:ahLst/>
              <a:cxnLst/>
              <a:rect l="l" t="t" r="r" b="b"/>
              <a:pathLst>
                <a:path w="4753609" h="86360">
                  <a:moveTo>
                    <a:pt x="1368463" y="37490"/>
                  </a:moveTo>
                  <a:lnTo>
                    <a:pt x="1359674" y="33185"/>
                  </a:lnTo>
                  <a:lnTo>
                    <a:pt x="1291958" y="0"/>
                  </a:lnTo>
                  <a:lnTo>
                    <a:pt x="1292225" y="33185"/>
                  </a:lnTo>
                  <a:lnTo>
                    <a:pt x="1292225" y="33350"/>
                  </a:lnTo>
                  <a:lnTo>
                    <a:pt x="0" y="43840"/>
                  </a:lnTo>
                  <a:lnTo>
                    <a:pt x="76" y="53365"/>
                  </a:lnTo>
                  <a:lnTo>
                    <a:pt x="1292301" y="42875"/>
                  </a:lnTo>
                  <a:lnTo>
                    <a:pt x="1292580" y="76200"/>
                  </a:lnTo>
                  <a:lnTo>
                    <a:pt x="1368463" y="37490"/>
                  </a:lnTo>
                  <a:close/>
                </a:path>
                <a:path w="4753609" h="86360">
                  <a:moveTo>
                    <a:pt x="4744263" y="52882"/>
                  </a:moveTo>
                  <a:lnTo>
                    <a:pt x="4695825" y="52882"/>
                  </a:lnTo>
                  <a:lnTo>
                    <a:pt x="4676762" y="52882"/>
                  </a:lnTo>
                  <a:lnTo>
                    <a:pt x="4676495" y="86055"/>
                  </a:lnTo>
                  <a:lnTo>
                    <a:pt x="4744263" y="52882"/>
                  </a:lnTo>
                  <a:close/>
                </a:path>
                <a:path w="4753609" h="86360">
                  <a:moveTo>
                    <a:pt x="4753013" y="48602"/>
                  </a:moveTo>
                  <a:lnTo>
                    <a:pt x="4677130" y="9855"/>
                  </a:lnTo>
                  <a:lnTo>
                    <a:pt x="4676927" y="32727"/>
                  </a:lnTo>
                  <a:lnTo>
                    <a:pt x="4676851" y="43205"/>
                  </a:lnTo>
                  <a:lnTo>
                    <a:pt x="3425901" y="32727"/>
                  </a:lnTo>
                  <a:lnTo>
                    <a:pt x="3425825" y="42252"/>
                  </a:lnTo>
                  <a:lnTo>
                    <a:pt x="4676762" y="52730"/>
                  </a:lnTo>
                  <a:lnTo>
                    <a:pt x="4695825" y="52882"/>
                  </a:lnTo>
                  <a:lnTo>
                    <a:pt x="4744593" y="52730"/>
                  </a:lnTo>
                  <a:lnTo>
                    <a:pt x="4753013" y="486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5024" y="2935223"/>
              <a:ext cx="841248" cy="914400"/>
            </a:xfrm>
            <a:prstGeom prst="rect">
              <a:avLst/>
            </a:prstGeom>
          </p:spPr>
        </p:pic>
      </p:grp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43934" y="5714047"/>
            <a:ext cx="2173605" cy="103060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220527" y="6082665"/>
            <a:ext cx="7442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10">
                <a:latin typeface="Tahoma"/>
                <a:cs typeface="Tahoma"/>
              </a:rPr>
              <a:t>memory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341119" y="5657088"/>
            <a:ext cx="5607685" cy="1012190"/>
            <a:chOff x="1341119" y="5657088"/>
            <a:chExt cx="5607685" cy="1012190"/>
          </a:xfrm>
        </p:grpSpPr>
        <p:sp>
          <p:nvSpPr>
            <p:cNvPr id="13" name="object 13" descr=""/>
            <p:cNvSpPr/>
            <p:nvPr/>
          </p:nvSpPr>
          <p:spPr>
            <a:xfrm>
              <a:off x="2195474" y="6153784"/>
              <a:ext cx="4753610" cy="86360"/>
            </a:xfrm>
            <a:custGeom>
              <a:avLst/>
              <a:gdLst/>
              <a:ahLst/>
              <a:cxnLst/>
              <a:rect l="l" t="t" r="r" b="b"/>
              <a:pathLst>
                <a:path w="4753609" h="86360">
                  <a:moveTo>
                    <a:pt x="1368463" y="37477"/>
                  </a:moveTo>
                  <a:lnTo>
                    <a:pt x="1359700" y="33185"/>
                  </a:lnTo>
                  <a:lnTo>
                    <a:pt x="1291958" y="0"/>
                  </a:lnTo>
                  <a:lnTo>
                    <a:pt x="1292225" y="33185"/>
                  </a:lnTo>
                  <a:lnTo>
                    <a:pt x="1292225" y="33337"/>
                  </a:lnTo>
                  <a:lnTo>
                    <a:pt x="0" y="43827"/>
                  </a:lnTo>
                  <a:lnTo>
                    <a:pt x="76" y="53352"/>
                  </a:lnTo>
                  <a:lnTo>
                    <a:pt x="1292301" y="42862"/>
                  </a:lnTo>
                  <a:lnTo>
                    <a:pt x="1292580" y="76200"/>
                  </a:lnTo>
                  <a:lnTo>
                    <a:pt x="1368463" y="37477"/>
                  </a:lnTo>
                  <a:close/>
                </a:path>
                <a:path w="4753609" h="86360">
                  <a:moveTo>
                    <a:pt x="4744263" y="52870"/>
                  </a:moveTo>
                  <a:lnTo>
                    <a:pt x="4695825" y="52870"/>
                  </a:lnTo>
                  <a:lnTo>
                    <a:pt x="4676762" y="52870"/>
                  </a:lnTo>
                  <a:lnTo>
                    <a:pt x="4676495" y="86055"/>
                  </a:lnTo>
                  <a:lnTo>
                    <a:pt x="4744263" y="52870"/>
                  </a:lnTo>
                  <a:close/>
                </a:path>
                <a:path w="4753609" h="86360">
                  <a:moveTo>
                    <a:pt x="4753013" y="48590"/>
                  </a:moveTo>
                  <a:lnTo>
                    <a:pt x="4677130" y="9855"/>
                  </a:lnTo>
                  <a:lnTo>
                    <a:pt x="4676927" y="32715"/>
                  </a:lnTo>
                  <a:lnTo>
                    <a:pt x="4676851" y="43180"/>
                  </a:lnTo>
                  <a:lnTo>
                    <a:pt x="3425901" y="32715"/>
                  </a:lnTo>
                  <a:lnTo>
                    <a:pt x="3425825" y="42240"/>
                  </a:lnTo>
                  <a:lnTo>
                    <a:pt x="4676762" y="52705"/>
                  </a:lnTo>
                  <a:lnTo>
                    <a:pt x="4695825" y="52870"/>
                  </a:lnTo>
                  <a:lnTo>
                    <a:pt x="4744593" y="52705"/>
                  </a:lnTo>
                  <a:lnTo>
                    <a:pt x="4753013" y="485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1119" y="5657088"/>
              <a:ext cx="836676" cy="1011936"/>
            </a:xfrm>
            <a:prstGeom prst="rect">
              <a:avLst/>
            </a:prstGeom>
          </p:spPr>
        </p:pic>
      </p:grpSp>
      <p:pic>
        <p:nvPicPr>
          <p:cNvPr id="15" name="object 1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43934" y="4561522"/>
            <a:ext cx="2173605" cy="103060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4220527" y="4930140"/>
            <a:ext cx="74422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10">
                <a:latin typeface="Tahoma"/>
                <a:cs typeface="Tahoma"/>
              </a:rPr>
              <a:t>memory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335024" y="4575047"/>
            <a:ext cx="5614035" cy="1001394"/>
            <a:chOff x="1335024" y="4575047"/>
            <a:chExt cx="5614035" cy="1001394"/>
          </a:xfrm>
        </p:grpSpPr>
        <p:sp>
          <p:nvSpPr>
            <p:cNvPr id="18" name="object 18" descr=""/>
            <p:cNvSpPr/>
            <p:nvPr/>
          </p:nvSpPr>
          <p:spPr>
            <a:xfrm>
              <a:off x="2195474" y="5001247"/>
              <a:ext cx="4753610" cy="86360"/>
            </a:xfrm>
            <a:custGeom>
              <a:avLst/>
              <a:gdLst/>
              <a:ahLst/>
              <a:cxnLst/>
              <a:rect l="l" t="t" r="r" b="b"/>
              <a:pathLst>
                <a:path w="4753609" h="86360">
                  <a:moveTo>
                    <a:pt x="1368463" y="37477"/>
                  </a:moveTo>
                  <a:lnTo>
                    <a:pt x="1359700" y="33185"/>
                  </a:lnTo>
                  <a:lnTo>
                    <a:pt x="1291958" y="0"/>
                  </a:lnTo>
                  <a:lnTo>
                    <a:pt x="1292225" y="33185"/>
                  </a:lnTo>
                  <a:lnTo>
                    <a:pt x="1292225" y="33350"/>
                  </a:lnTo>
                  <a:lnTo>
                    <a:pt x="0" y="43827"/>
                  </a:lnTo>
                  <a:lnTo>
                    <a:pt x="76" y="53352"/>
                  </a:lnTo>
                  <a:lnTo>
                    <a:pt x="1292301" y="42875"/>
                  </a:lnTo>
                  <a:lnTo>
                    <a:pt x="1292580" y="76200"/>
                  </a:lnTo>
                  <a:lnTo>
                    <a:pt x="1368463" y="37477"/>
                  </a:lnTo>
                  <a:close/>
                </a:path>
                <a:path w="4753609" h="86360">
                  <a:moveTo>
                    <a:pt x="4744263" y="52870"/>
                  </a:moveTo>
                  <a:lnTo>
                    <a:pt x="4695825" y="52870"/>
                  </a:lnTo>
                  <a:lnTo>
                    <a:pt x="4676762" y="52870"/>
                  </a:lnTo>
                  <a:lnTo>
                    <a:pt x="4676495" y="86055"/>
                  </a:lnTo>
                  <a:lnTo>
                    <a:pt x="4744263" y="52870"/>
                  </a:lnTo>
                  <a:close/>
                </a:path>
                <a:path w="4753609" h="86360">
                  <a:moveTo>
                    <a:pt x="4753013" y="48590"/>
                  </a:moveTo>
                  <a:lnTo>
                    <a:pt x="4677130" y="9855"/>
                  </a:lnTo>
                  <a:lnTo>
                    <a:pt x="4676940" y="32715"/>
                  </a:lnTo>
                  <a:lnTo>
                    <a:pt x="4676851" y="43192"/>
                  </a:lnTo>
                  <a:lnTo>
                    <a:pt x="3425901" y="32715"/>
                  </a:lnTo>
                  <a:lnTo>
                    <a:pt x="3425825" y="42240"/>
                  </a:lnTo>
                  <a:lnTo>
                    <a:pt x="4676762" y="52717"/>
                  </a:lnTo>
                  <a:lnTo>
                    <a:pt x="4695825" y="52870"/>
                  </a:lnTo>
                  <a:lnTo>
                    <a:pt x="4744593" y="52717"/>
                  </a:lnTo>
                  <a:lnTo>
                    <a:pt x="4753013" y="485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5024" y="4575047"/>
              <a:ext cx="842772" cy="1001267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7027227" y="4745990"/>
            <a:ext cx="13722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ahoma"/>
                <a:cs typeface="Tahoma"/>
              </a:rPr>
              <a:t>Former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800" spc="155">
                <a:latin typeface="Tahoma"/>
                <a:cs typeface="Tahoma"/>
              </a:rPr>
              <a:t>US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President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08876" y="2900172"/>
            <a:ext cx="844296" cy="9144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07352" y="5657088"/>
            <a:ext cx="908303" cy="1018032"/>
          </a:xfrm>
          <a:prstGeom prst="rect">
            <a:avLst/>
          </a:prstGeom>
        </p:spPr>
      </p:pic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7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1677" y="2045652"/>
            <a:ext cx="2094864" cy="341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100" b="1">
                <a:latin typeface="Cambria"/>
                <a:cs typeface="Cambria"/>
              </a:rPr>
              <a:t>Stored</a:t>
            </a:r>
            <a:r>
              <a:rPr dirty="0" sz="2050" spc="459" b="1">
                <a:latin typeface="Cambria"/>
                <a:cs typeface="Cambria"/>
              </a:rPr>
              <a:t> </a:t>
            </a:r>
            <a:r>
              <a:rPr dirty="0" sz="2050" spc="-10" b="1">
                <a:latin typeface="Cambria"/>
                <a:cs typeface="Cambria"/>
              </a:rPr>
              <a:t>Patterns</a:t>
            </a:r>
            <a:endParaRPr sz="2050">
              <a:latin typeface="Cambria"/>
              <a:cs typeface="Cambri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672" y="2546985"/>
            <a:ext cx="1521142" cy="273081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378127" y="5101478"/>
            <a:ext cx="1198880" cy="140906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939"/>
              </a:spcBef>
            </a:pPr>
            <a:r>
              <a:rPr dirty="0" sz="3000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baseline="42857" sz="2625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r>
              <a:rPr dirty="0" baseline="42857" sz="2625" spc="52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3000" spc="780">
                <a:latin typeface="Cambria"/>
                <a:cs typeface="Cambria"/>
              </a:rPr>
              <a:t>ϵ</a:t>
            </a:r>
            <a:r>
              <a:rPr dirty="0" sz="3000" spc="-155">
                <a:latin typeface="Cambria"/>
                <a:cs typeface="Cambria"/>
              </a:rPr>
              <a:t> </a:t>
            </a:r>
            <a:r>
              <a:rPr dirty="0" sz="3000" spc="60" i="1">
                <a:latin typeface="Cambria"/>
                <a:cs typeface="Cambria"/>
              </a:rPr>
              <a:t>R</a:t>
            </a:r>
            <a:r>
              <a:rPr dirty="0" baseline="42857" sz="2625" spc="89" i="1">
                <a:latin typeface="Cambria"/>
                <a:cs typeface="Cambria"/>
              </a:rPr>
              <a:t>n</a:t>
            </a:r>
            <a:endParaRPr baseline="42857" sz="2625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1845"/>
              </a:spcBef>
            </a:pPr>
            <a:r>
              <a:rPr dirty="0" sz="3000" b="1">
                <a:solidFill>
                  <a:srgbClr val="FF0000"/>
                </a:solidFill>
                <a:latin typeface="Cambria"/>
                <a:cs typeface="Cambria"/>
              </a:rPr>
              <a:t>y</a:t>
            </a:r>
            <a:r>
              <a:rPr dirty="0" baseline="42857" sz="2625" i="1">
                <a:solidFill>
                  <a:srgbClr val="FF0000"/>
                </a:solidFill>
                <a:latin typeface="Cambria"/>
                <a:cs typeface="Cambria"/>
              </a:rPr>
              <a:t>i</a:t>
            </a:r>
            <a:r>
              <a:rPr dirty="0" baseline="42857" sz="2625" spc="600" i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3000" spc="780">
                <a:latin typeface="Cambria"/>
                <a:cs typeface="Cambria"/>
              </a:rPr>
              <a:t>ϵ</a:t>
            </a:r>
            <a:r>
              <a:rPr dirty="0" sz="3000" spc="-130">
                <a:latin typeface="Cambria"/>
                <a:cs typeface="Cambria"/>
              </a:rPr>
              <a:t> </a:t>
            </a:r>
            <a:r>
              <a:rPr dirty="0" sz="3000" spc="-25" i="1">
                <a:latin typeface="Cambria"/>
                <a:cs typeface="Cambria"/>
              </a:rPr>
              <a:t>R</a:t>
            </a:r>
            <a:r>
              <a:rPr dirty="0" baseline="42857" sz="2625" spc="-37" i="1">
                <a:latin typeface="Cambria"/>
                <a:cs typeface="Cambria"/>
              </a:rPr>
              <a:t>m</a:t>
            </a:r>
            <a:endParaRPr baseline="42857" sz="2625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50"/>
              <a:t>7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3040481" y="2475834"/>
            <a:ext cx="1962785" cy="2528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7625" marR="30480" indent="-10160">
              <a:lnSpc>
                <a:spcPct val="141600"/>
              </a:lnSpc>
              <a:spcBef>
                <a:spcPts val="90"/>
              </a:spcBef>
              <a:tabLst>
                <a:tab pos="799465" algn="l"/>
              </a:tabLst>
            </a:pPr>
            <a:r>
              <a:rPr dirty="0" sz="5800" spc="-25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baseline="43117" sz="5025" spc="-37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r>
              <a:rPr dirty="0" baseline="43117" sz="5025" i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5800">
                <a:latin typeface="Cambria"/>
                <a:cs typeface="Cambria"/>
              </a:rPr>
              <a:t>Ξ</a:t>
            </a:r>
            <a:r>
              <a:rPr dirty="0" sz="5800" spc="-55">
                <a:latin typeface="Cambria"/>
                <a:cs typeface="Cambria"/>
              </a:rPr>
              <a:t> </a:t>
            </a:r>
            <a:r>
              <a:rPr dirty="0" sz="5800" spc="45" b="1">
                <a:solidFill>
                  <a:srgbClr val="FF0000"/>
                </a:solidFill>
                <a:latin typeface="Cambria"/>
                <a:cs typeface="Cambria"/>
              </a:rPr>
              <a:t>y</a:t>
            </a:r>
            <a:r>
              <a:rPr dirty="0" baseline="43117" sz="5025" spc="67" i="1">
                <a:solidFill>
                  <a:srgbClr val="FF0000"/>
                </a:solidFill>
                <a:latin typeface="Cambria"/>
                <a:cs typeface="Cambria"/>
              </a:rPr>
              <a:t>i </a:t>
            </a:r>
            <a:r>
              <a:rPr dirty="0" sz="5800" spc="-25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baseline="43117" sz="5025" spc="-37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r>
              <a:rPr dirty="0" baseline="43117" sz="5025" i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baseline="43117" sz="5025" spc="-997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5800" spc="670">
                <a:latin typeface="Cambria"/>
                <a:cs typeface="Cambria"/>
              </a:rPr>
              <a:t>s</a:t>
            </a:r>
            <a:r>
              <a:rPr dirty="0" sz="5800" spc="175">
                <a:latin typeface="Cambria"/>
                <a:cs typeface="Cambria"/>
              </a:rPr>
              <a:t> </a:t>
            </a:r>
            <a:r>
              <a:rPr dirty="0" sz="5800" spc="70" b="1">
                <a:solidFill>
                  <a:srgbClr val="FF0000"/>
                </a:solidFill>
                <a:latin typeface="Cambria"/>
                <a:cs typeface="Cambria"/>
              </a:rPr>
              <a:t>y</a:t>
            </a:r>
            <a:r>
              <a:rPr dirty="0" baseline="43117" sz="5025" spc="104" i="1">
                <a:solidFill>
                  <a:srgbClr val="FF0000"/>
                </a:solidFill>
                <a:latin typeface="Cambria"/>
                <a:cs typeface="Cambria"/>
              </a:rPr>
              <a:t>i</a:t>
            </a:r>
            <a:endParaRPr baseline="43117" sz="5025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293677" y="3188652"/>
            <a:ext cx="1994535" cy="341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-10" b="1">
                <a:latin typeface="Cambria"/>
                <a:cs typeface="Cambria"/>
              </a:rPr>
              <a:t>Autoassociative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293677" y="4403090"/>
            <a:ext cx="2290445" cy="341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-10" b="1">
                <a:latin typeface="Cambria"/>
                <a:cs typeface="Cambria"/>
              </a:rPr>
              <a:t>Heteroassociative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2378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Associative</a:t>
            </a:r>
            <a:r>
              <a:rPr dirty="0" sz="4400" spc="-125"/>
              <a:t> </a:t>
            </a:r>
            <a:r>
              <a:rPr dirty="0" sz="4400" spc="-10"/>
              <a:t>Memories</a:t>
            </a:r>
            <a:endParaRPr sz="4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6277" y="4820983"/>
            <a:ext cx="7480934" cy="188531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ts val="3070"/>
              </a:lnSpc>
              <a:spcBef>
                <a:spcPts val="105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>
                <a:latin typeface="Tahoma"/>
                <a:cs typeface="Tahoma"/>
              </a:rPr>
              <a:t>Goal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learning:</a:t>
            </a:r>
            <a:endParaRPr sz="2600">
              <a:latin typeface="Tahoma"/>
              <a:cs typeface="Tahoma"/>
            </a:endParaRPr>
          </a:p>
          <a:p>
            <a:pPr lvl="1" marL="755015" indent="-285750">
              <a:lnSpc>
                <a:spcPts val="289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obtain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500" spc="-20" b="1" i="1">
                <a:latin typeface="Verdana"/>
                <a:cs typeface="Verdana"/>
              </a:rPr>
              <a:t>w_ij</a:t>
            </a:r>
            <a:endParaRPr sz="2500">
              <a:latin typeface="Verdana"/>
              <a:cs typeface="Verdana"/>
            </a:endParaRPr>
          </a:p>
          <a:p>
            <a:pPr lvl="1" marL="755015" indent="-285750">
              <a:lnSpc>
                <a:spcPts val="288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pairs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35">
                <a:latin typeface="Tahoma"/>
                <a:cs typeface="Tahoma"/>
              </a:rPr>
              <a:t>{</a:t>
            </a:r>
            <a:r>
              <a:rPr dirty="0" sz="2500" spc="-135" b="1" i="1">
                <a:latin typeface="Verdana"/>
                <a:cs typeface="Verdana"/>
              </a:rPr>
              <a:t>s</a:t>
            </a:r>
            <a:r>
              <a:rPr dirty="0" sz="2500" spc="-150" b="1" i="1">
                <a:latin typeface="Verdana"/>
                <a:cs typeface="Verdana"/>
              </a:rPr>
              <a:t> </a:t>
            </a:r>
            <a:r>
              <a:rPr dirty="0" sz="2400" spc="-25" b="1">
                <a:latin typeface="Tahoma"/>
                <a:cs typeface="Tahoma"/>
              </a:rPr>
              <a:t>:</a:t>
            </a:r>
            <a:r>
              <a:rPr dirty="0" sz="2500" spc="-25" b="1" i="1">
                <a:latin typeface="Verdana"/>
                <a:cs typeface="Verdana"/>
              </a:rPr>
              <a:t>t</a:t>
            </a:r>
            <a:r>
              <a:rPr dirty="0" sz="2400" spc="-25">
                <a:latin typeface="Tahoma"/>
                <a:cs typeface="Tahoma"/>
              </a:rPr>
              <a:t>}</a:t>
            </a:r>
            <a:endParaRPr sz="2400">
              <a:latin typeface="Tahoma"/>
              <a:cs typeface="Tahoma"/>
            </a:endParaRPr>
          </a:p>
          <a:p>
            <a:pPr lvl="1" marL="755015" marR="5080" indent="-285750">
              <a:lnSpc>
                <a:spcPts val="2880"/>
              </a:lnSpc>
              <a:spcBef>
                <a:spcPts val="13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such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when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500" spc="-254" b="1" i="1">
                <a:latin typeface="Verdana"/>
                <a:cs typeface="Verdana"/>
              </a:rPr>
              <a:t>s</a:t>
            </a:r>
            <a:r>
              <a:rPr dirty="0" sz="2500" spc="-105" b="1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applied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layer,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500" spc="-155" b="1" i="1">
                <a:latin typeface="Verdana"/>
                <a:cs typeface="Verdana"/>
              </a:rPr>
              <a:t>t</a:t>
            </a:r>
            <a:r>
              <a:rPr dirty="0" sz="2500" spc="-110" b="1" i="1">
                <a:latin typeface="Verdana"/>
                <a:cs typeface="Verdana"/>
              </a:rPr>
              <a:t> </a:t>
            </a:r>
            <a:r>
              <a:rPr dirty="0" sz="2400" spc="-25">
                <a:latin typeface="Tahoma"/>
                <a:cs typeface="Tahoma"/>
              </a:rPr>
              <a:t>is </a:t>
            </a:r>
            <a:r>
              <a:rPr dirty="0" sz="2400">
                <a:latin typeface="Tahoma"/>
                <a:cs typeface="Tahoma"/>
              </a:rPr>
              <a:t>computed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10">
                <a:latin typeface="Tahoma"/>
                <a:cs typeface="Tahoma"/>
              </a:rPr>
              <a:t> layer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26" y="3158248"/>
            <a:ext cx="2854121" cy="16090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299252" y="4325137"/>
            <a:ext cx="53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 b="1" i="1">
                <a:latin typeface="Arial"/>
                <a:cs typeface="Arial"/>
              </a:rPr>
              <a:t>y_m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46727" y="3067837"/>
            <a:ext cx="5607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5" b="1" i="1">
                <a:latin typeface="Arial"/>
                <a:cs typeface="Arial"/>
              </a:rPr>
              <a:t>w</a:t>
            </a:r>
            <a:r>
              <a:rPr dirty="0" sz="1800" spc="-15" b="1" i="1">
                <a:latin typeface="Arial"/>
                <a:cs typeface="Arial"/>
              </a:rPr>
              <a:t>_</a:t>
            </a:r>
            <a:r>
              <a:rPr dirty="0" sz="1600" spc="-15" b="1" i="1">
                <a:latin typeface="Arial"/>
                <a:cs typeface="Arial"/>
              </a:rPr>
              <a:t>11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18027" y="4350537"/>
            <a:ext cx="46291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 b="1" i="1">
                <a:latin typeface="Arial"/>
                <a:cs typeface="Arial"/>
              </a:rPr>
              <a:t>x_n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91127" y="3525799"/>
            <a:ext cx="781050" cy="1270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2875">
              <a:lnSpc>
                <a:spcPct val="125000"/>
              </a:lnSpc>
              <a:spcBef>
                <a:spcPts val="100"/>
              </a:spcBef>
            </a:pPr>
            <a:r>
              <a:rPr dirty="0" sz="2000" spc="-20" b="1" i="1">
                <a:latin typeface="Arial"/>
                <a:cs typeface="Arial"/>
              </a:rPr>
              <a:t>w</a:t>
            </a:r>
            <a:r>
              <a:rPr dirty="0" sz="1800" spc="-20" b="1" i="1">
                <a:latin typeface="Arial"/>
                <a:cs typeface="Arial"/>
              </a:rPr>
              <a:t>_</a:t>
            </a:r>
            <a:r>
              <a:rPr dirty="0" sz="1600" spc="-20" b="1" i="1">
                <a:latin typeface="Arial"/>
                <a:cs typeface="Arial"/>
              </a:rPr>
              <a:t>1m </a:t>
            </a:r>
            <a:r>
              <a:rPr dirty="0" sz="2000" spc="-20" b="1" i="1">
                <a:latin typeface="Arial"/>
                <a:cs typeface="Arial"/>
              </a:rPr>
              <a:t>w</a:t>
            </a:r>
            <a:r>
              <a:rPr dirty="0" sz="1800" spc="-20" b="1" i="1">
                <a:latin typeface="Arial"/>
                <a:cs typeface="Arial"/>
              </a:rPr>
              <a:t>_n</a:t>
            </a:r>
            <a:r>
              <a:rPr dirty="0" sz="1600" spc="-20" b="1" i="1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39700">
              <a:lnSpc>
                <a:spcPct val="100000"/>
              </a:lnSpc>
              <a:spcBef>
                <a:spcPts val="1400"/>
              </a:spcBef>
            </a:pPr>
            <a:r>
              <a:rPr dirty="0" sz="2000" spc="-20" b="1" i="1">
                <a:latin typeface="Arial"/>
                <a:cs typeface="Arial"/>
              </a:rPr>
              <a:t>w</a:t>
            </a:r>
            <a:r>
              <a:rPr dirty="0" sz="1800" spc="-20" b="1" i="1">
                <a:latin typeface="Arial"/>
                <a:cs typeface="Arial"/>
              </a:rPr>
              <a:t>_</a:t>
            </a:r>
            <a:r>
              <a:rPr dirty="0" sz="1600" spc="-20" b="1" i="1">
                <a:latin typeface="Arial"/>
                <a:cs typeface="Arial"/>
              </a:rPr>
              <a:t>nm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59227" y="3194837"/>
            <a:ext cx="372935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1820" algn="l"/>
                <a:tab pos="2806065" algn="l"/>
                <a:tab pos="3377565" algn="l"/>
              </a:tabLst>
            </a:pPr>
            <a:r>
              <a:rPr dirty="0" sz="2000" spc="-25" b="1" i="1">
                <a:latin typeface="Arial"/>
                <a:cs typeface="Arial"/>
              </a:rPr>
              <a:t>s_</a:t>
            </a:r>
            <a:r>
              <a:rPr dirty="0" sz="1600" spc="-25" b="1" i="1">
                <a:latin typeface="Arial"/>
                <a:cs typeface="Arial"/>
              </a:rPr>
              <a:t>1</a:t>
            </a:r>
            <a:r>
              <a:rPr dirty="0" sz="1600" b="1" i="1">
                <a:latin typeface="Arial"/>
                <a:cs typeface="Arial"/>
              </a:rPr>
              <a:t>	</a:t>
            </a:r>
            <a:r>
              <a:rPr dirty="0" sz="2000" spc="-25" b="1" i="1">
                <a:latin typeface="Arial"/>
                <a:cs typeface="Arial"/>
              </a:rPr>
              <a:t>x_</a:t>
            </a:r>
            <a:r>
              <a:rPr dirty="0" sz="1600" spc="-25" b="1" i="1">
                <a:latin typeface="Arial"/>
                <a:cs typeface="Arial"/>
              </a:rPr>
              <a:t>1</a:t>
            </a:r>
            <a:r>
              <a:rPr dirty="0" sz="1600" b="1" i="1">
                <a:latin typeface="Arial"/>
                <a:cs typeface="Arial"/>
              </a:rPr>
              <a:t>	</a:t>
            </a:r>
            <a:r>
              <a:rPr dirty="0" baseline="2777" sz="3000" spc="-37" b="1" i="1">
                <a:latin typeface="Arial"/>
                <a:cs typeface="Arial"/>
              </a:rPr>
              <a:t>y_</a:t>
            </a:r>
            <a:r>
              <a:rPr dirty="0" baseline="3472" sz="2400" spc="-37" b="1" i="1">
                <a:latin typeface="Arial"/>
                <a:cs typeface="Arial"/>
              </a:rPr>
              <a:t>1</a:t>
            </a:r>
            <a:r>
              <a:rPr dirty="0" baseline="3472" sz="2400" b="1" i="1">
                <a:latin typeface="Arial"/>
                <a:cs typeface="Arial"/>
              </a:rPr>
              <a:t>	</a:t>
            </a:r>
            <a:r>
              <a:rPr dirty="0" baseline="-2777" sz="3000" spc="-37" b="1" i="1">
                <a:latin typeface="Arial"/>
                <a:cs typeface="Arial"/>
              </a:rPr>
              <a:t>t_</a:t>
            </a:r>
            <a:r>
              <a:rPr dirty="0" baseline="-3472" sz="2400" spc="-37" b="1" i="1">
                <a:latin typeface="Arial"/>
                <a:cs typeface="Arial"/>
              </a:rPr>
              <a:t>1</a:t>
            </a:r>
            <a:endParaRPr baseline="-3472" sz="2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559227" y="4312437"/>
            <a:ext cx="4311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 b="1" i="1">
                <a:latin typeface="Arial"/>
                <a:cs typeface="Arial"/>
              </a:rPr>
              <a:t>s_</a:t>
            </a:r>
            <a:r>
              <a:rPr dirty="0" sz="1600" spc="-25" b="1" i="1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13627" y="4350537"/>
            <a:ext cx="4775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5" b="1" i="1">
                <a:latin typeface="Arial"/>
                <a:cs typeface="Arial"/>
              </a:rPr>
              <a:t>t_m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71856" y="1845564"/>
            <a:ext cx="8484235" cy="1257300"/>
          </a:xfrm>
          <a:custGeom>
            <a:avLst/>
            <a:gdLst/>
            <a:ahLst/>
            <a:cxnLst/>
            <a:rect l="l" t="t" r="r" b="b"/>
            <a:pathLst>
              <a:path w="8484235" h="1257300">
                <a:moveTo>
                  <a:pt x="8484108" y="0"/>
                </a:moveTo>
                <a:lnTo>
                  <a:pt x="0" y="0"/>
                </a:lnTo>
                <a:lnTo>
                  <a:pt x="0" y="1257300"/>
                </a:lnTo>
                <a:lnTo>
                  <a:pt x="8484108" y="1257300"/>
                </a:lnTo>
                <a:lnTo>
                  <a:pt x="84841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51027" y="1876577"/>
            <a:ext cx="8296275" cy="10864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indent="-456565">
              <a:lnSpc>
                <a:spcPts val="3000"/>
              </a:lnSpc>
              <a:spcBef>
                <a:spcPts val="105"/>
              </a:spcBef>
              <a:buChar char="▪"/>
              <a:tabLst>
                <a:tab pos="469265" algn="l"/>
              </a:tabLst>
            </a:pPr>
            <a:r>
              <a:rPr dirty="0" sz="2600">
                <a:latin typeface="Tahoma"/>
                <a:cs typeface="Tahoma"/>
              </a:rPr>
              <a:t>Network</a:t>
            </a:r>
            <a:r>
              <a:rPr dirty="0" sz="2600" spc="-6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structure:</a:t>
            </a:r>
            <a:r>
              <a:rPr dirty="0" sz="2600" spc="-6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single</a:t>
            </a:r>
            <a:r>
              <a:rPr dirty="0" sz="2600" spc="-6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layer</a:t>
            </a:r>
            <a:endParaRPr sz="2600">
              <a:latin typeface="Tahoma"/>
              <a:cs typeface="Tahoma"/>
            </a:endParaRPr>
          </a:p>
          <a:p>
            <a:pPr lvl="1" marL="812165" indent="-342900">
              <a:lnSpc>
                <a:spcPts val="2615"/>
              </a:lnSpc>
              <a:buChar char="▪"/>
              <a:tabLst>
                <a:tab pos="812165" algn="l"/>
              </a:tabLst>
            </a:pP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layer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non-</a:t>
            </a:r>
            <a:r>
              <a:rPr dirty="0" sz="2400">
                <a:latin typeface="Tahoma"/>
                <a:cs typeface="Tahoma"/>
              </a:rPr>
              <a:t>linear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units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layer</a:t>
            </a:r>
            <a:endParaRPr sz="2400">
              <a:latin typeface="Tahoma"/>
              <a:cs typeface="Tahoma"/>
            </a:endParaRPr>
          </a:p>
          <a:p>
            <a:pPr lvl="1" marL="812165" indent="-342900">
              <a:lnSpc>
                <a:spcPts val="2735"/>
              </a:lnSpc>
              <a:buChar char="▪"/>
              <a:tabLst>
                <a:tab pos="812165" algn="l"/>
              </a:tabLst>
            </a:pPr>
            <a:r>
              <a:rPr dirty="0" sz="2400">
                <a:latin typeface="Tahoma"/>
                <a:cs typeface="Tahoma"/>
              </a:rPr>
              <a:t>similar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simple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classification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2378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Simple</a:t>
            </a:r>
            <a:r>
              <a:rPr dirty="0" sz="4400" spc="-50"/>
              <a:t> </a:t>
            </a:r>
            <a:r>
              <a:rPr dirty="0" sz="4400" spc="-25"/>
              <a:t>AM</a:t>
            </a:r>
            <a:endParaRPr sz="4400"/>
          </a:p>
        </p:txBody>
      </p:sp>
      <p:sp>
        <p:nvSpPr>
          <p:cNvPr id="14" name="object 14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55573" y="1716354"/>
            <a:ext cx="7772400" cy="5097145"/>
          </a:xfrm>
          <a:custGeom>
            <a:avLst/>
            <a:gdLst/>
            <a:ahLst/>
            <a:cxnLst/>
            <a:rect l="l" t="t" r="r" b="b"/>
            <a:pathLst>
              <a:path w="7772400" h="5097145">
                <a:moveTo>
                  <a:pt x="7772400" y="0"/>
                </a:moveTo>
                <a:lnTo>
                  <a:pt x="0" y="0"/>
                </a:lnTo>
                <a:lnTo>
                  <a:pt x="0" y="5097018"/>
                </a:lnTo>
                <a:lnTo>
                  <a:pt x="7772400" y="5097018"/>
                </a:lnTo>
                <a:lnTo>
                  <a:pt x="777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34313" y="1670126"/>
            <a:ext cx="6635115" cy="97536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15"/>
              </a:spcBef>
              <a:buClr>
                <a:srgbClr val="3333CC"/>
              </a:buClr>
              <a:buSzPct val="59615"/>
              <a:buChar char="■"/>
              <a:tabLst>
                <a:tab pos="241300" algn="l"/>
              </a:tabLst>
            </a:pPr>
            <a:r>
              <a:rPr dirty="0" sz="2600">
                <a:solidFill>
                  <a:srgbClr val="333399"/>
                </a:solidFill>
                <a:latin typeface="Tahoma"/>
                <a:cs typeface="Tahoma"/>
              </a:rPr>
              <a:t>Similar</a:t>
            </a:r>
            <a:r>
              <a:rPr dirty="0" sz="2600" spc="-35">
                <a:solidFill>
                  <a:srgbClr val="333399"/>
                </a:solidFill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Hebbian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learning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for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classification</a:t>
            </a:r>
            <a:endParaRPr sz="26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Clr>
                <a:srgbClr val="3333CC"/>
              </a:buClr>
              <a:buSzPct val="59615"/>
              <a:buChar char="■"/>
              <a:tabLst>
                <a:tab pos="241300" algn="l"/>
              </a:tabLst>
            </a:pPr>
            <a:r>
              <a:rPr dirty="0" sz="2600">
                <a:latin typeface="Tahoma"/>
                <a:cs typeface="Tahoma"/>
              </a:rPr>
              <a:t>Algorithm: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(bipolar</a:t>
            </a:r>
            <a:r>
              <a:rPr dirty="0" sz="2600" spc="-5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or</a:t>
            </a:r>
            <a:r>
              <a:rPr dirty="0" sz="2600" spc="-5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binary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patterns)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77213" y="2677758"/>
            <a:ext cx="4291330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20"/>
              </a:spcBef>
              <a:buClr>
                <a:srgbClr val="FF0000"/>
              </a:buClr>
              <a:buSzPct val="54166"/>
              <a:buChar char="■"/>
              <a:tabLst>
                <a:tab pos="242570" algn="l"/>
              </a:tabLst>
            </a:pP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each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samples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500" spc="-254" b="1" i="1">
                <a:latin typeface="Verdana"/>
                <a:cs typeface="Verdana"/>
              </a:rPr>
              <a:t>s</a:t>
            </a:r>
            <a:r>
              <a:rPr dirty="0" sz="2500" spc="-150" b="1" i="1">
                <a:latin typeface="Verdana"/>
                <a:cs typeface="Verdana"/>
              </a:rPr>
              <a:t> </a:t>
            </a:r>
            <a:r>
              <a:rPr dirty="0" sz="2400" spc="-25" b="1">
                <a:latin typeface="Tahoma"/>
                <a:cs typeface="Tahoma"/>
              </a:rPr>
              <a:t>:</a:t>
            </a:r>
            <a:r>
              <a:rPr dirty="0" sz="2500" spc="-25" b="1" i="1">
                <a:latin typeface="Verdana"/>
                <a:cs typeface="Verdana"/>
              </a:rPr>
              <a:t>t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72563" y="3131769"/>
            <a:ext cx="5617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increases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both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4313" y="5560628"/>
            <a:ext cx="7007225" cy="11550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241300" marR="5080" indent="-228600">
              <a:lnSpc>
                <a:spcPts val="2810"/>
              </a:lnSpc>
              <a:spcBef>
                <a:spcPts val="585"/>
              </a:spcBef>
              <a:buClr>
                <a:srgbClr val="3333CC"/>
              </a:buClr>
              <a:buSzPct val="59615"/>
              <a:buChar char="■"/>
              <a:tabLst>
                <a:tab pos="241300" algn="l"/>
              </a:tabLst>
            </a:pP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Instead</a:t>
            </a:r>
            <a:r>
              <a:rPr dirty="0" sz="2600" spc="-9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dirty="0" sz="26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obtaining</a:t>
            </a:r>
            <a:r>
              <a:rPr dirty="0" sz="26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700" spc="-400" b="1" i="1">
                <a:solidFill>
                  <a:srgbClr val="FF0000"/>
                </a:solidFill>
                <a:latin typeface="Verdana"/>
                <a:cs typeface="Verdana"/>
              </a:rPr>
              <a:t>W</a:t>
            </a:r>
            <a:r>
              <a:rPr dirty="0" sz="2700" spc="-12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by</a:t>
            </a:r>
            <a:r>
              <a:rPr dirty="0" sz="26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iterative</a:t>
            </a:r>
            <a:r>
              <a:rPr dirty="0" sz="26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updates,</a:t>
            </a:r>
            <a:r>
              <a:rPr dirty="0" sz="26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0000"/>
                </a:solidFill>
                <a:latin typeface="Tahoma"/>
                <a:cs typeface="Tahoma"/>
              </a:rPr>
              <a:t>it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can</a:t>
            </a:r>
            <a:r>
              <a:rPr dirty="0" sz="26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be</a:t>
            </a:r>
            <a:r>
              <a:rPr dirty="0" sz="26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computed</a:t>
            </a:r>
            <a:r>
              <a:rPr dirty="0" sz="26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from</a:t>
            </a:r>
            <a:r>
              <a:rPr dirty="0" sz="26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dirty="0" sz="26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training</a:t>
            </a:r>
            <a:r>
              <a:rPr dirty="0" sz="26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set</a:t>
            </a:r>
            <a:r>
              <a:rPr dirty="0" sz="2600" spc="-25">
                <a:solidFill>
                  <a:srgbClr val="FF0000"/>
                </a:solidFill>
                <a:latin typeface="Tahoma"/>
                <a:cs typeface="Tahoma"/>
              </a:rPr>
              <a:t> by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calculating</a:t>
            </a:r>
            <a:r>
              <a:rPr dirty="0" sz="2600" spc="-6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the</a:t>
            </a:r>
            <a:r>
              <a:rPr dirty="0" sz="26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0000FF"/>
                </a:solidFill>
                <a:latin typeface="Tahoma"/>
                <a:cs typeface="Tahoma"/>
              </a:rPr>
              <a:t>outer</a:t>
            </a:r>
            <a:r>
              <a:rPr dirty="0" sz="2600" spc="-2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0000FF"/>
                </a:solidFill>
                <a:latin typeface="Tahoma"/>
                <a:cs typeface="Tahoma"/>
              </a:rPr>
              <a:t>product</a:t>
            </a:r>
            <a:r>
              <a:rPr dirty="0" sz="2600" spc="-25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dirty="0" sz="26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700" spc="-275" b="1" i="1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dirty="0" sz="2700" spc="-110" b="1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and</a:t>
            </a:r>
            <a:r>
              <a:rPr dirty="0" sz="26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700" spc="-25" b="1" i="1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dirty="0" sz="2600" spc="-25">
                <a:solidFill>
                  <a:srgbClr val="FF0000"/>
                </a:solidFill>
                <a:latin typeface="Tahoma"/>
                <a:cs typeface="Tahoma"/>
              </a:rPr>
              <a:t>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692800" y="2665412"/>
            <a:ext cx="163004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03580" algn="l"/>
              </a:tabLst>
            </a:pPr>
            <a:r>
              <a:rPr dirty="0" sz="2350" spc="-20">
                <a:latin typeface="Cambria"/>
                <a:cs typeface="Cambria"/>
              </a:rPr>
              <a:t></a:t>
            </a:r>
            <a:r>
              <a:rPr dirty="0" sz="2350" spc="-20" i="1">
                <a:latin typeface="Cambria"/>
                <a:cs typeface="Cambria"/>
              </a:rPr>
              <a:t>w</a:t>
            </a:r>
            <a:r>
              <a:rPr dirty="0" baseline="-24691" sz="2025" spc="-30" i="1">
                <a:latin typeface="Cambria"/>
                <a:cs typeface="Cambria"/>
              </a:rPr>
              <a:t>ij</a:t>
            </a:r>
            <a:r>
              <a:rPr dirty="0" baseline="-24691" sz="2025" i="1">
                <a:latin typeface="Cambria"/>
                <a:cs typeface="Cambria"/>
              </a:rPr>
              <a:t>	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340">
                <a:latin typeface="Cambria"/>
                <a:cs typeface="Cambria"/>
              </a:rPr>
              <a:t> </a:t>
            </a:r>
            <a:r>
              <a:rPr dirty="0" sz="2350" spc="85" i="1">
                <a:latin typeface="Cambria"/>
                <a:cs typeface="Cambria"/>
              </a:rPr>
              <a:t>s</a:t>
            </a:r>
            <a:r>
              <a:rPr dirty="0" baseline="-24691" sz="2025" spc="127" i="1">
                <a:latin typeface="Cambria"/>
                <a:cs typeface="Cambria"/>
              </a:rPr>
              <a:t>i</a:t>
            </a:r>
            <a:r>
              <a:rPr dirty="0" baseline="-24691" sz="2025" spc="225" i="1">
                <a:latin typeface="Cambria"/>
                <a:cs typeface="Cambria"/>
              </a:rPr>
              <a:t>  </a:t>
            </a:r>
            <a:r>
              <a:rPr dirty="0" sz="2350" spc="-1764">
                <a:latin typeface="Cambria"/>
                <a:cs typeface="Cambria"/>
              </a:rPr>
              <a:t></a:t>
            </a:r>
            <a:r>
              <a:rPr dirty="0" sz="2350" spc="-180">
                <a:latin typeface="Cambria"/>
                <a:cs typeface="Cambria"/>
              </a:rPr>
              <a:t> </a:t>
            </a:r>
            <a:r>
              <a:rPr dirty="0" sz="2350" spc="-155" i="1">
                <a:latin typeface="Cambria"/>
                <a:cs typeface="Cambria"/>
              </a:rPr>
              <a:t>t</a:t>
            </a:r>
            <a:r>
              <a:rPr dirty="0" sz="2350" spc="-35" i="1">
                <a:latin typeface="Cambria"/>
                <a:cs typeface="Cambria"/>
              </a:rPr>
              <a:t> </a:t>
            </a:r>
            <a:r>
              <a:rPr dirty="0" baseline="-24691" sz="2025" spc="-75" i="1">
                <a:latin typeface="Cambria"/>
                <a:cs typeface="Cambria"/>
              </a:rPr>
              <a:t>j</a:t>
            </a:r>
            <a:endParaRPr baseline="-24691" sz="2025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07575" y="4732426"/>
            <a:ext cx="131445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30" i="1">
                <a:latin typeface="Cambria"/>
                <a:cs typeface="Cambria"/>
              </a:rPr>
              <a:t>P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04841" y="4909845"/>
            <a:ext cx="128778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350" i="1">
                <a:latin typeface="Cambria"/>
                <a:cs typeface="Cambria"/>
              </a:rPr>
              <a:t>W</a:t>
            </a:r>
            <a:r>
              <a:rPr dirty="0" sz="2350" spc="340" i="1">
                <a:latin typeface="Cambria"/>
                <a:cs typeface="Cambria"/>
              </a:rPr>
              <a:t> </a:t>
            </a:r>
            <a:r>
              <a:rPr dirty="0" sz="2350" spc="-35">
                <a:latin typeface="Cambria"/>
                <a:cs typeface="Cambria"/>
              </a:rPr>
              <a:t>=</a:t>
            </a:r>
            <a:r>
              <a:rPr dirty="0" sz="2350" spc="-200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{</a:t>
            </a:r>
            <a:r>
              <a:rPr dirty="0" sz="2350" i="1">
                <a:latin typeface="Cambria"/>
                <a:cs typeface="Cambria"/>
              </a:rPr>
              <a:t>w</a:t>
            </a:r>
            <a:r>
              <a:rPr dirty="0" baseline="-24691" sz="2025" i="1">
                <a:latin typeface="Cambria"/>
                <a:cs typeface="Cambria"/>
              </a:rPr>
              <a:t>ij</a:t>
            </a:r>
            <a:r>
              <a:rPr dirty="0" baseline="-24691" sz="2025" spc="225" i="1">
                <a:latin typeface="Cambria"/>
                <a:cs typeface="Cambria"/>
              </a:rPr>
              <a:t> </a:t>
            </a:r>
            <a:r>
              <a:rPr dirty="0" sz="2350" spc="155">
                <a:latin typeface="Cambria"/>
                <a:cs typeface="Cambria"/>
              </a:rPr>
              <a:t>}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59774" y="4761103"/>
            <a:ext cx="2268855" cy="561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350" i="1">
                <a:latin typeface="Cambria"/>
                <a:cs typeface="Cambria"/>
              </a:rPr>
              <a:t>w</a:t>
            </a:r>
            <a:r>
              <a:rPr dirty="0" baseline="-24691" sz="2025" i="1">
                <a:latin typeface="Cambria"/>
                <a:cs typeface="Cambria"/>
              </a:rPr>
              <a:t>ij</a:t>
            </a:r>
            <a:r>
              <a:rPr dirty="0" baseline="-24691" sz="2025" spc="615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-40">
                <a:latin typeface="Cambria"/>
                <a:cs typeface="Cambria"/>
              </a:rPr>
              <a:t> </a:t>
            </a:r>
            <a:r>
              <a:rPr dirty="0" baseline="-8730" sz="5250" spc="457">
                <a:latin typeface="Cambria"/>
                <a:cs typeface="Cambria"/>
              </a:rPr>
              <a:t>Σ</a:t>
            </a:r>
            <a:r>
              <a:rPr dirty="0" sz="2350" spc="305" i="1">
                <a:latin typeface="Cambria"/>
                <a:cs typeface="Cambria"/>
              </a:rPr>
              <a:t>s</a:t>
            </a:r>
            <a:r>
              <a:rPr dirty="0" baseline="-24691" sz="2025" spc="457" i="1">
                <a:latin typeface="Cambria"/>
                <a:cs typeface="Cambria"/>
              </a:rPr>
              <a:t>i</a:t>
            </a:r>
            <a:r>
              <a:rPr dirty="0" baseline="-24691" sz="2025" spc="-22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(</a:t>
            </a:r>
            <a:r>
              <a:rPr dirty="0" sz="2350" spc="-170">
                <a:latin typeface="Cambria"/>
                <a:cs typeface="Cambria"/>
              </a:rPr>
              <a:t> </a:t>
            </a:r>
            <a:r>
              <a:rPr dirty="0" sz="2350" spc="-110" i="1">
                <a:latin typeface="Cambria"/>
                <a:cs typeface="Cambria"/>
              </a:rPr>
              <a:t>p</a:t>
            </a:r>
            <a:r>
              <a:rPr dirty="0" sz="2350" spc="-110">
                <a:latin typeface="Cambria"/>
                <a:cs typeface="Cambria"/>
              </a:rPr>
              <a:t>)</a:t>
            </a:r>
            <a:r>
              <a:rPr dirty="0" sz="2350" spc="-110" i="1">
                <a:latin typeface="Cambria"/>
                <a:cs typeface="Cambria"/>
              </a:rPr>
              <a:t>t</a:t>
            </a:r>
            <a:r>
              <a:rPr dirty="0" sz="2350" spc="-190" i="1">
                <a:latin typeface="Cambria"/>
                <a:cs typeface="Cambria"/>
              </a:rPr>
              <a:t> </a:t>
            </a:r>
            <a:r>
              <a:rPr dirty="0" baseline="-24691" sz="2025" i="1">
                <a:latin typeface="Cambria"/>
                <a:cs typeface="Cambria"/>
              </a:rPr>
              <a:t>j</a:t>
            </a:r>
            <a:r>
              <a:rPr dirty="0" baseline="-24691" sz="2025" spc="7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(</a:t>
            </a:r>
            <a:r>
              <a:rPr dirty="0" sz="2350" spc="-170">
                <a:latin typeface="Cambria"/>
                <a:cs typeface="Cambria"/>
              </a:rPr>
              <a:t> </a:t>
            </a:r>
            <a:r>
              <a:rPr dirty="0" sz="2350" spc="-25" i="1">
                <a:latin typeface="Cambria"/>
                <a:cs typeface="Cambria"/>
              </a:rPr>
              <a:t>p</a:t>
            </a:r>
            <a:r>
              <a:rPr dirty="0" sz="2350" spc="-25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41980" y="5317413"/>
            <a:ext cx="297815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25" i="1">
                <a:latin typeface="Cambria"/>
                <a:cs typeface="Cambria"/>
              </a:rPr>
              <a:t>p</a:t>
            </a:r>
            <a:r>
              <a:rPr dirty="0" sz="1350" spc="-25">
                <a:latin typeface="Cambria"/>
                <a:cs typeface="Cambria"/>
              </a:rPr>
              <a:t>=1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51813" y="3085769"/>
            <a:ext cx="840105" cy="394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97815" indent="-259715">
              <a:lnSpc>
                <a:spcPct val="100000"/>
              </a:lnSpc>
              <a:spcBef>
                <a:spcPts val="120"/>
              </a:spcBef>
              <a:buClr>
                <a:srgbClr val="FF0000"/>
              </a:buClr>
              <a:buSzPct val="54166"/>
              <a:buFont typeface="Tahoma"/>
              <a:buChar char="■"/>
              <a:tabLst>
                <a:tab pos="297815" algn="l"/>
              </a:tabLst>
            </a:pPr>
            <a:r>
              <a:rPr dirty="0" sz="2400" spc="-290">
                <a:latin typeface="Cambria"/>
                <a:cs typeface="Cambria"/>
              </a:rPr>
              <a:t></a:t>
            </a:r>
            <a:r>
              <a:rPr dirty="0" sz="2400" spc="-290" i="1">
                <a:latin typeface="Cambria"/>
                <a:cs typeface="Cambria"/>
              </a:rPr>
              <a:t>w</a:t>
            </a:r>
            <a:r>
              <a:rPr dirty="0" baseline="-23809" sz="2100" spc="-434" i="1">
                <a:latin typeface="Cambria"/>
                <a:cs typeface="Cambria"/>
              </a:rPr>
              <a:t>ij</a:t>
            </a:r>
            <a:endParaRPr baseline="-23809" sz="2100">
              <a:latin typeface="Cambria"/>
              <a:cs typeface="Cambr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2378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Simple</a:t>
            </a:r>
            <a:r>
              <a:rPr dirty="0" sz="4400" spc="-50"/>
              <a:t> </a:t>
            </a:r>
            <a:r>
              <a:rPr dirty="0" sz="4400" spc="-25"/>
              <a:t>AM</a:t>
            </a:r>
            <a:endParaRPr sz="4400"/>
          </a:p>
        </p:txBody>
      </p:sp>
      <p:sp>
        <p:nvSpPr>
          <p:cNvPr id="14" name="object 14" descr=""/>
          <p:cNvSpPr txBox="1"/>
          <p:nvPr/>
        </p:nvSpPr>
        <p:spPr>
          <a:xfrm>
            <a:off x="796213" y="3423919"/>
            <a:ext cx="7208520" cy="140335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622300">
              <a:lnSpc>
                <a:spcPct val="100000"/>
              </a:lnSpc>
              <a:spcBef>
                <a:spcPts val="680"/>
              </a:spcBef>
            </a:pPr>
            <a:r>
              <a:rPr dirty="0" sz="2400">
                <a:latin typeface="Tahoma"/>
                <a:cs typeface="Tahoma"/>
              </a:rPr>
              <a:t>(binary)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have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same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sign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(bipolar)</a:t>
            </a:r>
            <a:endParaRPr sz="2400">
              <a:latin typeface="Tahoma"/>
              <a:cs typeface="Tahoma"/>
            </a:endParaRPr>
          </a:p>
          <a:p>
            <a:pPr marL="279400" marR="43180" indent="-2286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Char char="■"/>
              <a:tabLst>
                <a:tab pos="279400" algn="l"/>
              </a:tabLst>
            </a:pPr>
            <a:r>
              <a:rPr dirty="0" sz="2800" spc="-10">
                <a:latin typeface="Tahoma"/>
                <a:cs typeface="Tahoma"/>
              </a:rPr>
              <a:t>If</a:t>
            </a:r>
            <a:r>
              <a:rPr dirty="0" sz="2800" spc="-409">
                <a:latin typeface="Tahoma"/>
                <a:cs typeface="Tahoma"/>
              </a:rPr>
              <a:t> </a:t>
            </a:r>
            <a:r>
              <a:rPr dirty="0" baseline="1157" sz="3600" spc="-405">
                <a:latin typeface="Cambria"/>
                <a:cs typeface="Cambria"/>
              </a:rPr>
              <a:t></a:t>
            </a:r>
            <a:r>
              <a:rPr dirty="0" baseline="1157" sz="3600" spc="-405" i="1">
                <a:latin typeface="Cambria"/>
                <a:cs typeface="Cambria"/>
              </a:rPr>
              <a:t>w</a:t>
            </a:r>
            <a:r>
              <a:rPr dirty="0" baseline="-21825" sz="2100" spc="-405" i="1">
                <a:latin typeface="Cambria"/>
                <a:cs typeface="Cambria"/>
              </a:rPr>
              <a:t>ij</a:t>
            </a:r>
            <a:r>
              <a:rPr dirty="0" baseline="-21825" sz="2100" spc="195" i="1">
                <a:latin typeface="Cambria"/>
                <a:cs typeface="Cambria"/>
              </a:rPr>
              <a:t>  </a:t>
            </a:r>
            <a:r>
              <a:rPr dirty="0" baseline="1157" sz="3600">
                <a:latin typeface="Cambria"/>
                <a:cs typeface="Cambria"/>
              </a:rPr>
              <a:t>=</a:t>
            </a:r>
            <a:r>
              <a:rPr dirty="0" baseline="1157" sz="3600" spc="67">
                <a:latin typeface="Cambria"/>
                <a:cs typeface="Cambria"/>
              </a:rPr>
              <a:t> </a:t>
            </a:r>
            <a:r>
              <a:rPr dirty="0" baseline="1157" sz="3600" spc="-187">
                <a:latin typeface="Cambria"/>
                <a:cs typeface="Cambria"/>
              </a:rPr>
              <a:t>0</a:t>
            </a:r>
            <a:r>
              <a:rPr dirty="0" baseline="1157" sz="3600" spc="-277">
                <a:latin typeface="Cambria"/>
                <a:cs typeface="Cambria"/>
              </a:rPr>
              <a:t> </a:t>
            </a:r>
            <a:r>
              <a:rPr dirty="0" sz="2800">
                <a:latin typeface="Tahoma"/>
                <a:cs typeface="Tahoma"/>
              </a:rPr>
              <a:t>initially,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then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after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updates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all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 spc="-50">
                <a:latin typeface="Tahoma"/>
                <a:cs typeface="Tahoma"/>
              </a:rPr>
              <a:t>P </a:t>
            </a:r>
            <a:r>
              <a:rPr dirty="0" sz="2800">
                <a:latin typeface="Tahoma"/>
                <a:cs typeface="Tahoma"/>
              </a:rPr>
              <a:t>training</a:t>
            </a:r>
            <a:r>
              <a:rPr dirty="0" sz="2800" spc="-8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patterns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745855" y="6427787"/>
            <a:ext cx="123189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>
                <a:latin typeface="Tahoma"/>
                <a:cs typeface="Tahoma"/>
              </a:rPr>
              <a:t>9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3763" y="1182954"/>
            <a:ext cx="8964930" cy="5486400"/>
          </a:xfrm>
          <a:custGeom>
            <a:avLst/>
            <a:gdLst/>
            <a:ahLst/>
            <a:cxnLst/>
            <a:rect l="l" t="t" r="r" b="b"/>
            <a:pathLst>
              <a:path w="8964930" h="5486400">
                <a:moveTo>
                  <a:pt x="8964739" y="0"/>
                </a:moveTo>
                <a:lnTo>
                  <a:pt x="0" y="0"/>
                </a:lnTo>
                <a:lnTo>
                  <a:pt x="0" y="5486400"/>
                </a:lnTo>
                <a:lnTo>
                  <a:pt x="8964739" y="5486400"/>
                </a:lnTo>
                <a:lnTo>
                  <a:pt x="8964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22504" y="1140666"/>
            <a:ext cx="6965315" cy="9740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5600" marR="5080" indent="-342900">
              <a:lnSpc>
                <a:spcPct val="115300"/>
              </a:lnSpc>
              <a:spcBef>
                <a:spcPts val="90"/>
              </a:spcBef>
              <a:buClr>
                <a:srgbClr val="3333CC"/>
              </a:buClr>
              <a:buSzPct val="59615"/>
              <a:buFont typeface="Tahoma"/>
              <a:buChar char="■"/>
              <a:tabLst>
                <a:tab pos="355600" algn="l"/>
              </a:tabLst>
            </a:pPr>
            <a:r>
              <a:rPr dirty="0" sz="2600" b="1">
                <a:solidFill>
                  <a:srgbClr val="FF0000"/>
                </a:solidFill>
                <a:latin typeface="Tahoma"/>
                <a:cs typeface="Tahoma"/>
              </a:rPr>
              <a:t>Outer</a:t>
            </a:r>
            <a:r>
              <a:rPr dirty="0" sz="2600" spc="-60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ahoma"/>
                <a:cs typeface="Tahoma"/>
              </a:rPr>
              <a:t>product</a:t>
            </a:r>
            <a:r>
              <a:rPr dirty="0" sz="2600">
                <a:latin typeface="Tahoma"/>
                <a:cs typeface="Tahoma"/>
              </a:rPr>
              <a:t>: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Let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700" spc="-275" b="1" i="1">
                <a:latin typeface="Verdana"/>
                <a:cs typeface="Verdana"/>
              </a:rPr>
              <a:t>s</a:t>
            </a:r>
            <a:r>
              <a:rPr dirty="0" sz="2700" spc="-165" b="1" i="1">
                <a:latin typeface="Verdana"/>
                <a:cs typeface="Verdana"/>
              </a:rPr>
              <a:t>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700" spc="-155" b="1" i="1">
                <a:latin typeface="Verdana"/>
                <a:cs typeface="Verdana"/>
              </a:rPr>
              <a:t>t</a:t>
            </a:r>
            <a:r>
              <a:rPr dirty="0" sz="2700" spc="-114" b="1" i="1">
                <a:latin typeface="Verdana"/>
                <a:cs typeface="Verdana"/>
              </a:rPr>
              <a:t> </a:t>
            </a:r>
            <a:r>
              <a:rPr dirty="0" sz="2600">
                <a:latin typeface="Tahoma"/>
                <a:cs typeface="Tahoma"/>
              </a:rPr>
              <a:t>be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 b="1">
                <a:latin typeface="Tahoma"/>
                <a:cs typeface="Tahoma"/>
              </a:rPr>
              <a:t>row</a:t>
            </a:r>
            <a:r>
              <a:rPr dirty="0" sz="2600" spc="30" b="1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vectors. </a:t>
            </a:r>
            <a:r>
              <a:rPr dirty="0" sz="2600">
                <a:latin typeface="Tahoma"/>
                <a:cs typeface="Tahoma"/>
              </a:rPr>
              <a:t>Then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for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particular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training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pair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700" spc="-25" b="1" i="1">
                <a:latin typeface="Verdana"/>
                <a:cs typeface="Verdana"/>
              </a:rPr>
              <a:t>s:t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80103" y="4936438"/>
            <a:ext cx="370395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/*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every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pair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*/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80103" y="5286973"/>
            <a:ext cx="3767454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470910" algn="l"/>
              </a:tabLst>
            </a:pPr>
            <a:r>
              <a:rPr dirty="0" sz="2400">
                <a:latin typeface="Tahoma"/>
                <a:cs typeface="Tahoma"/>
              </a:rPr>
              <a:t>/*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every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row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500" spc="-420" b="1" i="1">
                <a:latin typeface="Verdana"/>
                <a:cs typeface="Verdana"/>
              </a:rPr>
              <a:t>W</a:t>
            </a:r>
            <a:r>
              <a:rPr dirty="0" sz="2500" b="1" i="1">
                <a:latin typeface="Verdana"/>
                <a:cs typeface="Verdana"/>
              </a:rPr>
              <a:t>	</a:t>
            </a:r>
            <a:r>
              <a:rPr dirty="0" sz="2400" spc="-25">
                <a:latin typeface="Tahoma"/>
                <a:cs typeface="Tahoma"/>
              </a:rPr>
              <a:t>*/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9704" y="4936438"/>
            <a:ext cx="243332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p=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P</a:t>
            </a:r>
            <a:endParaRPr sz="2400">
              <a:latin typeface="Tahoma"/>
              <a:cs typeface="Tahoma"/>
            </a:endParaRPr>
          </a:p>
          <a:p>
            <a:pPr marL="469265">
              <a:lnSpc>
                <a:spcPct val="100000"/>
              </a:lnSpc>
            </a:pPr>
            <a:r>
              <a:rPr dirty="0" sz="2400">
                <a:latin typeface="Tahoma"/>
                <a:cs typeface="Tahoma"/>
              </a:rPr>
              <a:t>i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n</a:t>
            </a:r>
            <a:endParaRPr sz="2400">
              <a:latin typeface="Tahoma"/>
              <a:cs typeface="Tahoma"/>
            </a:endParaRPr>
          </a:p>
          <a:p>
            <a:pPr marL="1041400">
              <a:lnSpc>
                <a:spcPct val="100000"/>
              </a:lnSpc>
            </a:pPr>
            <a:r>
              <a:rPr dirty="0" sz="2400">
                <a:latin typeface="Tahoma"/>
                <a:cs typeface="Tahoma"/>
              </a:rPr>
              <a:t>j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m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80103" y="5667959"/>
            <a:ext cx="44386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/*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every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element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j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row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*/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96335" y="2642806"/>
            <a:ext cx="1029969" cy="5099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19480" algn="l"/>
              </a:tabLst>
            </a:pPr>
            <a:r>
              <a:rPr dirty="0" sz="3150" spc="-395">
                <a:latin typeface="Cambria"/>
                <a:cs typeface="Cambria"/>
              </a:rPr>
              <a:t>[</a:t>
            </a:r>
            <a:r>
              <a:rPr dirty="0" sz="3150">
                <a:latin typeface="Cambria"/>
                <a:cs typeface="Cambria"/>
              </a:rPr>
              <a:t>	</a:t>
            </a:r>
            <a:r>
              <a:rPr dirty="0" sz="3150" spc="-395">
                <a:latin typeface="Cambria"/>
                <a:cs typeface="Cambria"/>
              </a:rPr>
              <a:t>]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646855" y="2926905"/>
            <a:ext cx="111760" cy="231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latin typeface="Cambria"/>
                <a:cs typeface="Cambria"/>
              </a:rPr>
              <a:t>1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60354" y="2926905"/>
            <a:ext cx="149860" cy="2317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 i="1">
                <a:latin typeface="Cambria"/>
                <a:cs typeface="Cambria"/>
              </a:rPr>
              <a:t>m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702606" y="2053818"/>
            <a:ext cx="329882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640839" algn="l"/>
              </a:tabLst>
            </a:pPr>
            <a:r>
              <a:rPr dirty="0" baseline="-3546" sz="3525" spc="-300">
                <a:latin typeface="Cambria"/>
                <a:cs typeface="Cambria"/>
              </a:rPr>
              <a:t></a:t>
            </a:r>
            <a:r>
              <a:rPr dirty="0" baseline="1182" sz="3525" spc="-300" i="1">
                <a:latin typeface="Cambria"/>
                <a:cs typeface="Cambria"/>
              </a:rPr>
              <a:t>s</a:t>
            </a:r>
            <a:r>
              <a:rPr dirty="0" baseline="-22633" sz="2025" spc="-300">
                <a:latin typeface="Cambria"/>
                <a:cs typeface="Cambria"/>
              </a:rPr>
              <a:t>1</a:t>
            </a:r>
            <a:r>
              <a:rPr dirty="0" baseline="1182" sz="3525" spc="-300" i="1">
                <a:latin typeface="Cambria"/>
                <a:cs typeface="Cambria"/>
              </a:rPr>
              <a:t>t</a:t>
            </a:r>
            <a:r>
              <a:rPr dirty="0" baseline="-22633" sz="2025" spc="-300">
                <a:latin typeface="Cambria"/>
                <a:cs typeface="Cambria"/>
              </a:rPr>
              <a:t>1</a:t>
            </a:r>
            <a:r>
              <a:rPr dirty="0" baseline="1182" sz="3525" spc="-300">
                <a:latin typeface="Cambria"/>
                <a:cs typeface="Cambria"/>
              </a:rPr>
              <a:t>......</a:t>
            </a:r>
            <a:r>
              <a:rPr dirty="0" baseline="1182" sz="3525" spc="-300" i="1">
                <a:latin typeface="Cambria"/>
                <a:cs typeface="Cambria"/>
              </a:rPr>
              <a:t>s</a:t>
            </a:r>
            <a:r>
              <a:rPr dirty="0" baseline="-22633" sz="2025" spc="-300">
                <a:latin typeface="Cambria"/>
                <a:cs typeface="Cambria"/>
              </a:rPr>
              <a:t>1</a:t>
            </a:r>
            <a:r>
              <a:rPr dirty="0" baseline="1182" sz="3525" spc="-300" i="1">
                <a:latin typeface="Cambria"/>
                <a:cs typeface="Cambria"/>
              </a:rPr>
              <a:t>t</a:t>
            </a:r>
            <a:r>
              <a:rPr dirty="0" baseline="-22633" sz="2025" spc="-300" i="1">
                <a:latin typeface="Cambria"/>
                <a:cs typeface="Cambria"/>
              </a:rPr>
              <a:t>m</a:t>
            </a:r>
            <a:r>
              <a:rPr dirty="0" baseline="-22633" sz="2025" spc="352" i="1">
                <a:latin typeface="Cambria"/>
                <a:cs typeface="Cambria"/>
              </a:rPr>
              <a:t> </a:t>
            </a:r>
            <a:r>
              <a:rPr dirty="0" baseline="-3546" sz="3525" spc="-2265">
                <a:latin typeface="Cambria"/>
                <a:cs typeface="Cambria"/>
              </a:rPr>
              <a:t></a:t>
            </a:r>
            <a:r>
              <a:rPr dirty="0" baseline="-3546" sz="3525">
                <a:latin typeface="Cambria"/>
                <a:cs typeface="Cambria"/>
              </a:rPr>
              <a:t>	</a:t>
            </a:r>
            <a:r>
              <a:rPr dirty="0" baseline="-4728" sz="3525" spc="-555">
                <a:latin typeface="Cambria"/>
                <a:cs typeface="Cambria"/>
              </a:rPr>
              <a:t></a:t>
            </a:r>
            <a:r>
              <a:rPr dirty="0" sz="2350" spc="-370">
                <a:latin typeface="Cambria"/>
                <a:cs typeface="Cambria"/>
              </a:rPr>
              <a:t></a:t>
            </a:r>
            <a:r>
              <a:rPr dirty="0" sz="2350" spc="-370" i="1">
                <a:latin typeface="Cambria"/>
                <a:cs typeface="Cambria"/>
              </a:rPr>
              <a:t>w</a:t>
            </a:r>
            <a:r>
              <a:rPr dirty="0" baseline="-24691" sz="2025" spc="-555">
                <a:latin typeface="Cambria"/>
                <a:cs typeface="Cambria"/>
              </a:rPr>
              <a:t>11</a:t>
            </a:r>
            <a:r>
              <a:rPr dirty="0" sz="2350" spc="-370">
                <a:latin typeface="Cambria"/>
                <a:cs typeface="Cambria"/>
              </a:rPr>
              <a:t>......</a:t>
            </a:r>
            <a:r>
              <a:rPr dirty="0" sz="2350" spc="-370" i="1">
                <a:latin typeface="Cambria"/>
                <a:cs typeface="Cambria"/>
              </a:rPr>
              <a:t>w</a:t>
            </a:r>
            <a:r>
              <a:rPr dirty="0" baseline="-24691" sz="2025" spc="-555">
                <a:latin typeface="Cambria"/>
                <a:cs typeface="Cambria"/>
              </a:rPr>
              <a:t>1</a:t>
            </a:r>
            <a:r>
              <a:rPr dirty="0" baseline="-24691" sz="2025" spc="-555" i="1">
                <a:latin typeface="Cambria"/>
                <a:cs typeface="Cambria"/>
              </a:rPr>
              <a:t>m</a:t>
            </a:r>
            <a:r>
              <a:rPr dirty="0" baseline="-24691" sz="2025" spc="254" i="1">
                <a:latin typeface="Cambria"/>
                <a:cs typeface="Cambria"/>
              </a:rPr>
              <a:t> </a:t>
            </a:r>
            <a:r>
              <a:rPr dirty="0" baseline="-4728" sz="3525" spc="-2265">
                <a:latin typeface="Cambria"/>
                <a:cs typeface="Cambria"/>
              </a:rPr>
              <a:t></a:t>
            </a:r>
            <a:endParaRPr baseline="-4728" sz="3525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15306" y="2502827"/>
            <a:ext cx="141160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258570" algn="l"/>
              </a:tabLst>
            </a:pPr>
            <a:r>
              <a:rPr dirty="0" baseline="27186" sz="3525" spc="-1095">
                <a:latin typeface="Cambria"/>
                <a:cs typeface="Cambria"/>
              </a:rPr>
              <a:t></a:t>
            </a:r>
            <a:r>
              <a:rPr dirty="0" sz="2350" spc="-730" i="1">
                <a:latin typeface="Cambria"/>
                <a:cs typeface="Cambria"/>
              </a:rPr>
              <a:t>s</a:t>
            </a:r>
            <a:r>
              <a:rPr dirty="0" sz="2350" spc="-5" i="1">
                <a:latin typeface="Cambria"/>
                <a:cs typeface="Cambria"/>
              </a:rPr>
              <a:t> </a:t>
            </a:r>
            <a:r>
              <a:rPr dirty="0" sz="2350" spc="-170" i="1">
                <a:latin typeface="Cambria"/>
                <a:cs typeface="Cambria"/>
              </a:rPr>
              <a:t>t</a:t>
            </a:r>
            <a:r>
              <a:rPr dirty="0" sz="2350" spc="-40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......</a:t>
            </a:r>
            <a:r>
              <a:rPr dirty="0" sz="2350" i="1">
                <a:latin typeface="Cambria"/>
                <a:cs typeface="Cambria"/>
              </a:rPr>
              <a:t>s</a:t>
            </a:r>
            <a:r>
              <a:rPr dirty="0" sz="2350" spc="10" i="1">
                <a:latin typeface="Cambria"/>
                <a:cs typeface="Cambria"/>
              </a:rPr>
              <a:t> </a:t>
            </a:r>
            <a:r>
              <a:rPr dirty="0" sz="2350" spc="-50" i="1">
                <a:latin typeface="Cambria"/>
                <a:cs typeface="Cambria"/>
              </a:rPr>
              <a:t>t</a:t>
            </a:r>
            <a:r>
              <a:rPr dirty="0" sz="2350" i="1">
                <a:latin typeface="Cambria"/>
                <a:cs typeface="Cambria"/>
              </a:rPr>
              <a:t>	</a:t>
            </a:r>
            <a:r>
              <a:rPr dirty="0" baseline="27186" sz="3525" spc="-2265">
                <a:latin typeface="Cambria"/>
                <a:cs typeface="Cambria"/>
              </a:rPr>
              <a:t></a:t>
            </a:r>
            <a:endParaRPr baseline="27186" sz="3525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30962" y="2360879"/>
            <a:ext cx="13970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1510">
                <a:latin typeface="Cambria"/>
                <a:cs typeface="Cambria"/>
              </a:rPr>
              <a:t>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37248" y="2725026"/>
            <a:ext cx="169227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350" spc="-305">
                <a:latin typeface="Cambria"/>
                <a:cs typeface="Cambria"/>
              </a:rPr>
              <a:t></a:t>
            </a:r>
            <a:r>
              <a:rPr dirty="0" sz="2350" spc="-305" i="1">
                <a:latin typeface="Cambria"/>
                <a:cs typeface="Cambria"/>
              </a:rPr>
              <a:t>W</a:t>
            </a:r>
            <a:r>
              <a:rPr dirty="0" sz="2350" spc="-305">
                <a:latin typeface="Cambria"/>
                <a:cs typeface="Cambria"/>
              </a:rPr>
              <a:t>(</a:t>
            </a:r>
            <a:r>
              <a:rPr dirty="0" sz="2350" spc="-305" i="1">
                <a:latin typeface="Cambria"/>
                <a:cs typeface="Cambria"/>
              </a:rPr>
              <a:t>p</a:t>
            </a:r>
            <a:r>
              <a:rPr dirty="0" sz="2350" spc="-305">
                <a:latin typeface="Cambria"/>
                <a:cs typeface="Cambria"/>
              </a:rPr>
              <a:t>)</a:t>
            </a:r>
            <a:r>
              <a:rPr dirty="0" sz="2350" spc="-150">
                <a:latin typeface="Cambria"/>
                <a:cs typeface="Cambria"/>
              </a:rPr>
              <a:t> </a:t>
            </a:r>
            <a:r>
              <a:rPr dirty="0" sz="2350" spc="-35">
                <a:latin typeface="Cambria"/>
                <a:cs typeface="Cambria"/>
              </a:rPr>
              <a:t>=</a:t>
            </a:r>
            <a:r>
              <a:rPr dirty="0" sz="2350" spc="-185">
                <a:latin typeface="Cambria"/>
                <a:cs typeface="Cambria"/>
              </a:rPr>
              <a:t> </a:t>
            </a:r>
            <a:r>
              <a:rPr dirty="0" sz="2350" spc="-50" i="1">
                <a:latin typeface="Cambria"/>
                <a:cs typeface="Cambria"/>
              </a:rPr>
              <a:t>s</a:t>
            </a:r>
            <a:r>
              <a:rPr dirty="0" baseline="43209" sz="2025" spc="-75" i="1">
                <a:latin typeface="Cambria"/>
                <a:cs typeface="Cambria"/>
              </a:rPr>
              <a:t>T</a:t>
            </a:r>
            <a:r>
              <a:rPr dirty="0" baseline="43209" sz="2025" spc="-22" i="1">
                <a:latin typeface="Cambria"/>
                <a:cs typeface="Cambria"/>
              </a:rPr>
              <a:t> </a:t>
            </a:r>
            <a:r>
              <a:rPr dirty="0" sz="2350" spc="-25">
                <a:latin typeface="Cambria"/>
                <a:cs typeface="Cambria"/>
              </a:rPr>
              <a:t>(</a:t>
            </a:r>
            <a:r>
              <a:rPr dirty="0" sz="2350" spc="-25" i="1">
                <a:latin typeface="Cambria"/>
                <a:cs typeface="Cambria"/>
              </a:rPr>
              <a:t>p</a:t>
            </a:r>
            <a:r>
              <a:rPr dirty="0" sz="2350" spc="-25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155" y="2832011"/>
            <a:ext cx="209550" cy="206375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2232558" y="2725026"/>
            <a:ext cx="68262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50" spc="-95" i="1">
                <a:latin typeface="Cambria"/>
                <a:cs typeface="Cambria"/>
              </a:rPr>
              <a:t>t</a:t>
            </a:r>
            <a:r>
              <a:rPr dirty="0" sz="2350" spc="-95">
                <a:latin typeface="Cambria"/>
                <a:cs typeface="Cambria"/>
              </a:rPr>
              <a:t>(</a:t>
            </a:r>
            <a:r>
              <a:rPr dirty="0" sz="2350" spc="-95" i="1">
                <a:latin typeface="Cambria"/>
                <a:cs typeface="Cambria"/>
              </a:rPr>
              <a:t>p</a:t>
            </a:r>
            <a:r>
              <a:rPr dirty="0" sz="2350" spc="-95">
                <a:latin typeface="Cambria"/>
                <a:cs typeface="Cambria"/>
              </a:rPr>
              <a:t>)</a:t>
            </a:r>
            <a:r>
              <a:rPr dirty="0" sz="2350" spc="-135">
                <a:latin typeface="Cambria"/>
                <a:cs typeface="Cambria"/>
              </a:rPr>
              <a:t> </a:t>
            </a:r>
            <a:r>
              <a:rPr dirty="0" sz="2350" spc="-50">
                <a:latin typeface="Cambria"/>
                <a:cs typeface="Cambria"/>
              </a:rPr>
              <a:t>=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586645" y="2725026"/>
            <a:ext cx="113855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61390" algn="l"/>
              </a:tabLst>
            </a:pPr>
            <a:r>
              <a:rPr dirty="0" sz="2350" spc="-170" i="1">
                <a:latin typeface="Cambria"/>
                <a:cs typeface="Cambria"/>
              </a:rPr>
              <a:t>t</a:t>
            </a:r>
            <a:r>
              <a:rPr dirty="0" sz="2350" spc="-5" i="1">
                <a:latin typeface="Cambria"/>
                <a:cs typeface="Cambria"/>
              </a:rPr>
              <a:t> </a:t>
            </a:r>
            <a:r>
              <a:rPr dirty="0" sz="2350" spc="-10">
                <a:latin typeface="Cambria"/>
                <a:cs typeface="Cambria"/>
              </a:rPr>
              <a:t>,......</a:t>
            </a:r>
            <a:r>
              <a:rPr dirty="0" sz="2350" spc="-10" i="1">
                <a:latin typeface="Cambria"/>
                <a:cs typeface="Cambria"/>
              </a:rPr>
              <a:t>t</a:t>
            </a:r>
            <a:r>
              <a:rPr dirty="0" sz="2350" i="1">
                <a:latin typeface="Cambria"/>
                <a:cs typeface="Cambria"/>
              </a:rPr>
              <a:t>	</a:t>
            </a:r>
            <a:r>
              <a:rPr dirty="0" sz="2350" spc="-50">
                <a:latin typeface="Cambria"/>
                <a:cs typeface="Cambria"/>
              </a:rPr>
              <a:t>=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928717" y="2579204"/>
            <a:ext cx="158051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37235" algn="l"/>
              </a:tabLst>
            </a:pPr>
            <a:r>
              <a:rPr dirty="0" sz="1350">
                <a:latin typeface="Cambria"/>
                <a:cs typeface="Cambria"/>
              </a:rPr>
              <a:t>2</a:t>
            </a:r>
            <a:r>
              <a:rPr dirty="0" sz="1350" spc="45">
                <a:latin typeface="Cambria"/>
                <a:cs typeface="Cambria"/>
              </a:rPr>
              <a:t> </a:t>
            </a:r>
            <a:r>
              <a:rPr dirty="0" sz="1350" spc="-60">
                <a:latin typeface="Cambria"/>
                <a:cs typeface="Cambria"/>
              </a:rPr>
              <a:t>1</a:t>
            </a:r>
            <a:r>
              <a:rPr dirty="0" sz="1350">
                <a:latin typeface="Cambria"/>
                <a:cs typeface="Cambria"/>
              </a:rPr>
              <a:t>	2</a:t>
            </a:r>
            <a:r>
              <a:rPr dirty="0" sz="1350" spc="190">
                <a:latin typeface="Cambria"/>
                <a:cs typeface="Cambria"/>
              </a:rPr>
              <a:t> </a:t>
            </a:r>
            <a:r>
              <a:rPr dirty="0" sz="1350" spc="-114" i="1">
                <a:latin typeface="Cambria"/>
                <a:cs typeface="Cambria"/>
              </a:rPr>
              <a:t>m</a:t>
            </a:r>
            <a:r>
              <a:rPr dirty="0" sz="1350" spc="-75" i="1">
                <a:latin typeface="Cambria"/>
                <a:cs typeface="Cambria"/>
              </a:rPr>
              <a:t> </a:t>
            </a:r>
            <a:r>
              <a:rPr dirty="0" baseline="-11820" sz="3525" spc="-2190">
                <a:latin typeface="Cambria"/>
                <a:cs typeface="Cambria"/>
              </a:rPr>
              <a:t></a:t>
            </a:r>
            <a:r>
              <a:rPr dirty="0" baseline="-11820" sz="3525" spc="-187">
                <a:latin typeface="Cambria"/>
                <a:cs typeface="Cambria"/>
              </a:rPr>
              <a:t> </a:t>
            </a:r>
            <a:r>
              <a:rPr dirty="0" baseline="-27186" sz="3525" spc="-52">
                <a:latin typeface="Cambria"/>
                <a:cs typeface="Cambria"/>
              </a:rPr>
              <a:t>=</a:t>
            </a:r>
            <a:r>
              <a:rPr dirty="0" baseline="-27186" sz="3525" spc="-292">
                <a:latin typeface="Cambria"/>
                <a:cs typeface="Cambria"/>
              </a:rPr>
              <a:t> </a:t>
            </a:r>
            <a:r>
              <a:rPr dirty="0" baseline="-11820" sz="3525" spc="-2265">
                <a:latin typeface="Cambria"/>
                <a:cs typeface="Cambria"/>
              </a:rPr>
              <a:t></a:t>
            </a:r>
            <a:endParaRPr baseline="-11820" sz="3525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740706" y="2640152"/>
            <a:ext cx="139700" cy="666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530"/>
              </a:lnSpc>
              <a:spcBef>
                <a:spcPts val="90"/>
              </a:spcBef>
            </a:pPr>
            <a:r>
              <a:rPr dirty="0" sz="2350" spc="-1510">
                <a:latin typeface="Cambria"/>
                <a:cs typeface="Cambria"/>
              </a:rPr>
              <a:t>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ts val="2530"/>
              </a:lnSpc>
            </a:pPr>
            <a:r>
              <a:rPr dirty="0" sz="2350" spc="-1510">
                <a:latin typeface="Cambria"/>
                <a:cs typeface="Cambria"/>
              </a:rPr>
              <a:t>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961659" y="2928696"/>
            <a:ext cx="50927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1635" algn="l"/>
              </a:tabLst>
            </a:pPr>
            <a:r>
              <a:rPr dirty="0" baseline="1182" sz="3525" spc="-2265">
                <a:latin typeface="Cambria"/>
                <a:cs typeface="Cambria"/>
              </a:rPr>
              <a:t></a:t>
            </a:r>
            <a:r>
              <a:rPr dirty="0" baseline="1182" sz="3525">
                <a:latin typeface="Cambria"/>
                <a:cs typeface="Cambria"/>
              </a:rPr>
              <a:t>	</a:t>
            </a:r>
            <a:r>
              <a:rPr dirty="0" sz="2350" spc="-1510">
                <a:latin typeface="Cambria"/>
                <a:cs typeface="Cambria"/>
              </a:rPr>
              <a:t>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823542" y="2360879"/>
            <a:ext cx="139700" cy="95059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530"/>
              </a:lnSpc>
              <a:spcBef>
                <a:spcPts val="90"/>
              </a:spcBef>
            </a:pPr>
            <a:r>
              <a:rPr dirty="0" sz="2350" spc="-1510">
                <a:latin typeface="Cambria"/>
                <a:cs typeface="Cambria"/>
              </a:rPr>
              <a:t>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ts val="2235"/>
              </a:lnSpc>
            </a:pPr>
            <a:r>
              <a:rPr dirty="0" sz="2350" spc="-1510">
                <a:latin typeface="Cambria"/>
                <a:cs typeface="Cambria"/>
              </a:rPr>
              <a:t></a:t>
            </a:r>
            <a:endParaRPr sz="2350">
              <a:latin typeface="Cambria"/>
              <a:cs typeface="Cambria"/>
            </a:endParaRPr>
          </a:p>
          <a:p>
            <a:pPr marL="12700">
              <a:lnSpc>
                <a:spcPts val="2530"/>
              </a:lnSpc>
            </a:pPr>
            <a:r>
              <a:rPr dirty="0" sz="2350" spc="-1510">
                <a:latin typeface="Cambria"/>
                <a:cs typeface="Cambria"/>
              </a:rPr>
              <a:t>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905607" y="2077732"/>
            <a:ext cx="519430" cy="12344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2530"/>
              </a:lnSpc>
              <a:spcBef>
                <a:spcPts val="90"/>
              </a:spcBef>
            </a:pPr>
            <a:r>
              <a:rPr dirty="0" sz="2350" spc="-595">
                <a:latin typeface="Cambria"/>
                <a:cs typeface="Cambria"/>
              </a:rPr>
              <a:t></a:t>
            </a:r>
            <a:r>
              <a:rPr dirty="0" baseline="4728" sz="3525" spc="-892" i="1">
                <a:latin typeface="Cambria"/>
                <a:cs typeface="Cambria"/>
              </a:rPr>
              <a:t>s</a:t>
            </a:r>
            <a:r>
              <a:rPr dirty="0" baseline="-18518" sz="2025" spc="-892">
                <a:latin typeface="Cambria"/>
                <a:cs typeface="Cambria"/>
              </a:rPr>
              <a:t>1</a:t>
            </a:r>
            <a:r>
              <a:rPr dirty="0" baseline="-18518" sz="2025" spc="82">
                <a:latin typeface="Cambria"/>
                <a:cs typeface="Cambria"/>
              </a:rPr>
              <a:t> </a:t>
            </a:r>
            <a:r>
              <a:rPr dirty="0" sz="2350" spc="-1510">
                <a:latin typeface="Cambria"/>
                <a:cs typeface="Cambria"/>
              </a:rPr>
              <a:t></a:t>
            </a:r>
            <a:endParaRPr sz="2350">
              <a:latin typeface="Cambria"/>
              <a:cs typeface="Cambria"/>
            </a:endParaRPr>
          </a:p>
          <a:p>
            <a:pPr marL="38100">
              <a:lnSpc>
                <a:spcPts val="2235"/>
              </a:lnSpc>
              <a:tabLst>
                <a:tab pos="366395" algn="l"/>
              </a:tabLst>
            </a:pPr>
            <a:r>
              <a:rPr dirty="0" sz="2350" spc="-1510">
                <a:latin typeface="Cambria"/>
                <a:cs typeface="Cambria"/>
              </a:rPr>
              <a:t>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1510">
                <a:latin typeface="Cambria"/>
                <a:cs typeface="Cambria"/>
              </a:rPr>
              <a:t></a:t>
            </a:r>
            <a:endParaRPr sz="2350">
              <a:latin typeface="Cambria"/>
              <a:cs typeface="Cambria"/>
            </a:endParaRPr>
          </a:p>
          <a:p>
            <a:pPr marL="38100">
              <a:lnSpc>
                <a:spcPts val="2235"/>
              </a:lnSpc>
              <a:tabLst>
                <a:tab pos="366395" algn="l"/>
              </a:tabLst>
            </a:pPr>
            <a:r>
              <a:rPr dirty="0" sz="2350" spc="-1510">
                <a:latin typeface="Cambria"/>
                <a:cs typeface="Cambria"/>
              </a:rPr>
              <a:t>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1510">
                <a:latin typeface="Cambria"/>
                <a:cs typeface="Cambria"/>
              </a:rPr>
              <a:t></a:t>
            </a:r>
            <a:endParaRPr sz="2350">
              <a:latin typeface="Cambria"/>
              <a:cs typeface="Cambria"/>
            </a:endParaRPr>
          </a:p>
          <a:p>
            <a:pPr marL="38100">
              <a:lnSpc>
                <a:spcPts val="2530"/>
              </a:lnSpc>
              <a:tabLst>
                <a:tab pos="366395" algn="l"/>
              </a:tabLst>
            </a:pPr>
            <a:r>
              <a:rPr dirty="0" sz="2350" spc="-1510">
                <a:latin typeface="Cambria"/>
                <a:cs typeface="Cambria"/>
              </a:rPr>
              <a:t>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1510">
                <a:latin typeface="Cambria"/>
                <a:cs typeface="Cambria"/>
              </a:rPr>
              <a:t>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740706" y="3212604"/>
            <a:ext cx="322262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33170" algn="l"/>
                <a:tab pos="1602740" algn="l"/>
                <a:tab pos="3094990" algn="l"/>
              </a:tabLst>
            </a:pPr>
            <a:r>
              <a:rPr dirty="0" baseline="1182" sz="3525" spc="-2265">
                <a:latin typeface="Cambria"/>
                <a:cs typeface="Cambria"/>
              </a:rPr>
              <a:t></a:t>
            </a:r>
            <a:r>
              <a:rPr dirty="0" baseline="1182" sz="3525">
                <a:latin typeface="Cambria"/>
                <a:cs typeface="Cambria"/>
              </a:rPr>
              <a:t>	</a:t>
            </a:r>
            <a:r>
              <a:rPr dirty="0" baseline="1182" sz="3525" spc="-2279">
                <a:latin typeface="Cambria"/>
                <a:cs typeface="Cambria"/>
              </a:rPr>
              <a:t></a:t>
            </a:r>
            <a:r>
              <a:rPr dirty="0" baseline="1182" sz="3525">
                <a:latin typeface="Cambria"/>
                <a:cs typeface="Cambria"/>
              </a:rPr>
              <a:t>	</a:t>
            </a:r>
            <a:r>
              <a:rPr dirty="0" sz="2350" spc="-1510">
                <a:latin typeface="Cambria"/>
                <a:cs typeface="Cambria"/>
              </a:rPr>
              <a:t>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1510">
                <a:latin typeface="Cambria"/>
                <a:cs typeface="Cambria"/>
              </a:rPr>
              <a:t>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931007" y="3213379"/>
            <a:ext cx="46863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0995" algn="l"/>
              </a:tabLst>
            </a:pPr>
            <a:r>
              <a:rPr dirty="0" sz="2350" spc="-1510">
                <a:latin typeface="Cambria"/>
                <a:cs typeface="Cambria"/>
              </a:rPr>
              <a:t>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1510">
                <a:latin typeface="Cambria"/>
                <a:cs typeface="Cambria"/>
              </a:rPr>
              <a:t>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905607" y="3474135"/>
            <a:ext cx="519430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2350" spc="-545">
                <a:latin typeface="Cambria"/>
                <a:cs typeface="Cambria"/>
              </a:rPr>
              <a:t></a:t>
            </a:r>
            <a:r>
              <a:rPr dirty="0" baseline="14184" sz="3525" spc="-817" i="1">
                <a:latin typeface="Cambria"/>
                <a:cs typeface="Cambria"/>
              </a:rPr>
              <a:t>s</a:t>
            </a:r>
            <a:r>
              <a:rPr dirty="0" sz="1350" spc="-545" i="1">
                <a:latin typeface="Cambria"/>
                <a:cs typeface="Cambria"/>
              </a:rPr>
              <a:t>n</a:t>
            </a:r>
            <a:r>
              <a:rPr dirty="0" sz="1350" spc="-70" i="1">
                <a:latin typeface="Cambria"/>
                <a:cs typeface="Cambria"/>
              </a:rPr>
              <a:t> </a:t>
            </a:r>
            <a:r>
              <a:rPr dirty="0" sz="2350" spc="-1510">
                <a:latin typeface="Cambria"/>
                <a:cs typeface="Cambria"/>
              </a:rPr>
              <a:t>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715306" y="3400843"/>
            <a:ext cx="3273425" cy="3829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628139" algn="l"/>
              </a:tabLst>
            </a:pPr>
            <a:r>
              <a:rPr dirty="0" baseline="-14184" sz="3525" spc="-270">
                <a:latin typeface="Cambria"/>
                <a:cs typeface="Cambria"/>
              </a:rPr>
              <a:t></a:t>
            </a:r>
            <a:r>
              <a:rPr dirty="0" sz="2350" spc="-180" i="1">
                <a:latin typeface="Cambria"/>
                <a:cs typeface="Cambria"/>
              </a:rPr>
              <a:t>s</a:t>
            </a:r>
            <a:r>
              <a:rPr dirty="0" baseline="-24691" sz="2025" spc="-270" i="1">
                <a:latin typeface="Cambria"/>
                <a:cs typeface="Cambria"/>
              </a:rPr>
              <a:t>n</a:t>
            </a:r>
            <a:r>
              <a:rPr dirty="0" sz="2350" spc="-180" i="1">
                <a:latin typeface="Cambria"/>
                <a:cs typeface="Cambria"/>
              </a:rPr>
              <a:t>t</a:t>
            </a:r>
            <a:r>
              <a:rPr dirty="0" baseline="-24691" sz="2025" spc="-270">
                <a:latin typeface="Cambria"/>
                <a:cs typeface="Cambria"/>
              </a:rPr>
              <a:t>1</a:t>
            </a:r>
            <a:r>
              <a:rPr dirty="0" sz="2350" spc="-180">
                <a:latin typeface="Cambria"/>
                <a:cs typeface="Cambria"/>
              </a:rPr>
              <a:t>......</a:t>
            </a:r>
            <a:r>
              <a:rPr dirty="0" sz="2350" spc="-180" i="1">
                <a:latin typeface="Cambria"/>
                <a:cs typeface="Cambria"/>
              </a:rPr>
              <a:t>s</a:t>
            </a:r>
            <a:r>
              <a:rPr dirty="0" baseline="-24691" sz="2025" spc="-270" i="1">
                <a:latin typeface="Cambria"/>
                <a:cs typeface="Cambria"/>
              </a:rPr>
              <a:t>n</a:t>
            </a:r>
            <a:r>
              <a:rPr dirty="0" sz="2350" spc="-180" i="1">
                <a:latin typeface="Cambria"/>
                <a:cs typeface="Cambria"/>
              </a:rPr>
              <a:t>t</a:t>
            </a:r>
            <a:r>
              <a:rPr dirty="0" baseline="-24691" sz="2025" spc="-270" i="1">
                <a:latin typeface="Cambria"/>
                <a:cs typeface="Cambria"/>
              </a:rPr>
              <a:t>m</a:t>
            </a:r>
            <a:r>
              <a:rPr dirty="0" baseline="-24691" sz="2025" spc="-37" i="1">
                <a:latin typeface="Cambria"/>
                <a:cs typeface="Cambria"/>
              </a:rPr>
              <a:t> </a:t>
            </a:r>
            <a:r>
              <a:rPr dirty="0" baseline="-14184" sz="3525" spc="-2265">
                <a:latin typeface="Cambria"/>
                <a:cs typeface="Cambria"/>
              </a:rPr>
              <a:t></a:t>
            </a:r>
            <a:r>
              <a:rPr dirty="0" baseline="-14184" sz="3525">
                <a:latin typeface="Cambria"/>
                <a:cs typeface="Cambria"/>
              </a:rPr>
              <a:t>	</a:t>
            </a:r>
            <a:r>
              <a:rPr dirty="0" baseline="-14184" sz="3525" spc="-525">
                <a:latin typeface="Cambria"/>
                <a:cs typeface="Cambria"/>
              </a:rPr>
              <a:t></a:t>
            </a:r>
            <a:r>
              <a:rPr dirty="0" baseline="1182" sz="3525" spc="-525">
                <a:latin typeface="Cambria"/>
                <a:cs typeface="Cambria"/>
              </a:rPr>
              <a:t></a:t>
            </a:r>
            <a:r>
              <a:rPr dirty="0" baseline="1182" sz="3525" spc="-525" i="1">
                <a:latin typeface="Cambria"/>
                <a:cs typeface="Cambria"/>
              </a:rPr>
              <a:t>w</a:t>
            </a:r>
            <a:r>
              <a:rPr dirty="0" baseline="-22633" sz="2025" spc="-525" i="1">
                <a:latin typeface="Cambria"/>
                <a:cs typeface="Cambria"/>
              </a:rPr>
              <a:t>n</a:t>
            </a:r>
            <a:r>
              <a:rPr dirty="0" baseline="-22633" sz="2025" spc="-525">
                <a:latin typeface="Cambria"/>
                <a:cs typeface="Cambria"/>
              </a:rPr>
              <a:t>1</a:t>
            </a:r>
            <a:r>
              <a:rPr dirty="0" baseline="1182" sz="3525" spc="-525">
                <a:latin typeface="Cambria"/>
                <a:cs typeface="Cambria"/>
              </a:rPr>
              <a:t>......</a:t>
            </a:r>
            <a:r>
              <a:rPr dirty="0" baseline="1182" sz="3525" spc="-525" i="1">
                <a:latin typeface="Cambria"/>
                <a:cs typeface="Cambria"/>
              </a:rPr>
              <a:t>w</a:t>
            </a:r>
            <a:r>
              <a:rPr dirty="0" baseline="-22633" sz="2025" spc="-525" i="1">
                <a:latin typeface="Cambria"/>
                <a:cs typeface="Cambria"/>
              </a:rPr>
              <a:t>nm</a:t>
            </a:r>
            <a:r>
              <a:rPr dirty="0" baseline="-22633" sz="2025" spc="-127" i="1">
                <a:latin typeface="Cambria"/>
                <a:cs typeface="Cambria"/>
              </a:rPr>
              <a:t> </a:t>
            </a:r>
            <a:r>
              <a:rPr dirty="0" baseline="-14184" sz="3525" spc="-2265">
                <a:latin typeface="Cambria"/>
                <a:cs typeface="Cambria"/>
              </a:rPr>
              <a:t></a:t>
            </a:r>
            <a:endParaRPr baseline="-14184" sz="3525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307717" y="3895712"/>
            <a:ext cx="11874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35" i="1">
                <a:latin typeface="Cambria"/>
                <a:cs typeface="Cambria"/>
              </a:rPr>
              <a:t>P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491014" y="4050906"/>
            <a:ext cx="499109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spc="-125" i="1">
                <a:latin typeface="Cambria"/>
                <a:cs typeface="Cambria"/>
              </a:rPr>
              <a:t>t</a:t>
            </a:r>
            <a:r>
              <a:rPr dirty="0" sz="2000" spc="-245" i="1">
                <a:latin typeface="Cambria"/>
                <a:cs typeface="Cambria"/>
              </a:rPr>
              <a:t> </a:t>
            </a:r>
            <a:r>
              <a:rPr dirty="0" sz="2000" spc="-85">
                <a:latin typeface="Cambria"/>
                <a:cs typeface="Cambria"/>
              </a:rPr>
              <a:t>(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sz="2000" spc="-35" i="1">
                <a:latin typeface="Cambria"/>
                <a:cs typeface="Cambria"/>
              </a:rPr>
              <a:t>p</a:t>
            </a:r>
            <a:r>
              <a:rPr dirty="0" sz="2000" spc="-35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22504" y="4406569"/>
            <a:ext cx="8663305" cy="5562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034539">
              <a:lnSpc>
                <a:spcPts val="1205"/>
              </a:lnSpc>
              <a:spcBef>
                <a:spcPts val="125"/>
              </a:spcBef>
            </a:pPr>
            <a:r>
              <a:rPr dirty="0" sz="1150" spc="-10" i="1">
                <a:latin typeface="Cambria"/>
                <a:cs typeface="Cambria"/>
              </a:rPr>
              <a:t>p</a:t>
            </a:r>
            <a:r>
              <a:rPr dirty="0" sz="1150" spc="-110" i="1">
                <a:latin typeface="Cambria"/>
                <a:cs typeface="Cambria"/>
              </a:rPr>
              <a:t> </a:t>
            </a:r>
            <a:r>
              <a:rPr dirty="0" sz="1150" spc="-25">
                <a:latin typeface="Cambria"/>
                <a:cs typeface="Cambria"/>
              </a:rPr>
              <a:t>=1</a:t>
            </a:r>
            <a:endParaRPr sz="1150">
              <a:latin typeface="Cambria"/>
              <a:cs typeface="Cambria"/>
            </a:endParaRPr>
          </a:p>
          <a:p>
            <a:pPr marL="354965" indent="-342265">
              <a:lnSpc>
                <a:spcPts val="2945"/>
              </a:lnSpc>
              <a:buClr>
                <a:srgbClr val="3333CC"/>
              </a:buClr>
              <a:buSzPct val="59615"/>
              <a:buChar char="■"/>
              <a:tabLst>
                <a:tab pos="354965" algn="l"/>
                <a:tab pos="5151120" algn="l"/>
              </a:tabLst>
            </a:pPr>
            <a:r>
              <a:rPr dirty="0" sz="2600">
                <a:latin typeface="Tahoma"/>
                <a:cs typeface="Tahoma"/>
              </a:rPr>
              <a:t>It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involves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3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nested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loops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p,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i,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50">
                <a:latin typeface="Tahoma"/>
                <a:cs typeface="Tahoma"/>
              </a:rPr>
              <a:t>j</a:t>
            </a:r>
            <a:r>
              <a:rPr dirty="0" sz="2600">
                <a:latin typeface="Tahoma"/>
                <a:cs typeface="Tahoma"/>
              </a:rPr>
              <a:t>	(order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is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irrelevant)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0" name="object 3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60471" y="4144276"/>
            <a:ext cx="184149" cy="180975"/>
          </a:xfrm>
          <a:prstGeom prst="rect">
            <a:avLst/>
          </a:prstGeom>
        </p:spPr>
      </p:pic>
      <p:sp>
        <p:nvSpPr>
          <p:cNvPr id="31" name="object 31" descr=""/>
          <p:cNvSpPr txBox="1"/>
          <p:nvPr/>
        </p:nvSpPr>
        <p:spPr>
          <a:xfrm>
            <a:off x="540004" y="3928338"/>
            <a:ext cx="2699385" cy="490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335">
                <a:latin typeface="Tahoma"/>
                <a:cs typeface="Tahoma"/>
              </a:rPr>
              <a:t> </a:t>
            </a:r>
            <a:r>
              <a:rPr dirty="0" baseline="1388" sz="3000" i="1">
                <a:latin typeface="Cambria"/>
                <a:cs typeface="Cambria"/>
              </a:rPr>
              <a:t>W</a:t>
            </a:r>
            <a:r>
              <a:rPr dirty="0" baseline="1388" sz="3000" spc="37" i="1">
                <a:latin typeface="Cambria"/>
                <a:cs typeface="Cambria"/>
              </a:rPr>
              <a:t> </a:t>
            </a:r>
            <a:r>
              <a:rPr dirty="0" baseline="1388" sz="3000" spc="-127">
                <a:latin typeface="Cambria"/>
                <a:cs typeface="Cambria"/>
              </a:rPr>
              <a:t>(</a:t>
            </a:r>
            <a:r>
              <a:rPr dirty="0" baseline="1388" sz="3000" spc="-390">
                <a:latin typeface="Cambria"/>
                <a:cs typeface="Cambria"/>
              </a:rPr>
              <a:t> </a:t>
            </a:r>
            <a:r>
              <a:rPr dirty="0" baseline="1388" sz="3000" spc="172" i="1">
                <a:latin typeface="Cambria"/>
                <a:cs typeface="Cambria"/>
              </a:rPr>
              <a:t>P</a:t>
            </a:r>
            <a:r>
              <a:rPr dirty="0" baseline="1388" sz="3000" spc="172">
                <a:latin typeface="Cambria"/>
                <a:cs typeface="Cambria"/>
              </a:rPr>
              <a:t>)</a:t>
            </a:r>
            <a:r>
              <a:rPr dirty="0" baseline="1388" sz="3000" spc="179">
                <a:latin typeface="Cambria"/>
                <a:cs typeface="Cambria"/>
              </a:rPr>
              <a:t> </a:t>
            </a:r>
            <a:r>
              <a:rPr dirty="0" baseline="1388" sz="3000">
                <a:latin typeface="Cambria"/>
                <a:cs typeface="Cambria"/>
              </a:rPr>
              <a:t>=</a:t>
            </a:r>
            <a:r>
              <a:rPr dirty="0" baseline="1388" sz="3000" spc="209">
                <a:latin typeface="Cambria"/>
                <a:cs typeface="Cambria"/>
              </a:rPr>
              <a:t> </a:t>
            </a:r>
            <a:r>
              <a:rPr dirty="0" baseline="-7285" sz="4575" spc="802">
                <a:latin typeface="Cambria"/>
                <a:cs typeface="Cambria"/>
              </a:rPr>
              <a:t>Σ</a:t>
            </a:r>
            <a:r>
              <a:rPr dirty="0" baseline="-7285" sz="4575" spc="-254">
                <a:latin typeface="Cambria"/>
                <a:cs typeface="Cambria"/>
              </a:rPr>
              <a:t> </a:t>
            </a:r>
            <a:r>
              <a:rPr dirty="0" baseline="1388" sz="3000" spc="104" i="1">
                <a:latin typeface="Cambria"/>
                <a:cs typeface="Cambria"/>
              </a:rPr>
              <a:t>s</a:t>
            </a:r>
            <a:r>
              <a:rPr dirty="0" baseline="45893" sz="1725" spc="104" i="1">
                <a:latin typeface="Cambria"/>
                <a:cs typeface="Cambria"/>
              </a:rPr>
              <a:t>T</a:t>
            </a:r>
            <a:r>
              <a:rPr dirty="0" baseline="45893" sz="1725" spc="322" i="1">
                <a:latin typeface="Cambria"/>
                <a:cs typeface="Cambria"/>
              </a:rPr>
              <a:t> </a:t>
            </a:r>
            <a:r>
              <a:rPr dirty="0" baseline="1388" sz="3000" spc="-127">
                <a:latin typeface="Cambria"/>
                <a:cs typeface="Cambria"/>
              </a:rPr>
              <a:t>(</a:t>
            </a:r>
            <a:r>
              <a:rPr dirty="0" baseline="1388" sz="3000" spc="-75">
                <a:latin typeface="Cambria"/>
                <a:cs typeface="Cambria"/>
              </a:rPr>
              <a:t> </a:t>
            </a:r>
            <a:r>
              <a:rPr dirty="0" baseline="1388" sz="3000" spc="-37" i="1">
                <a:latin typeface="Cambria"/>
                <a:cs typeface="Cambria"/>
              </a:rPr>
              <a:t>p</a:t>
            </a:r>
            <a:r>
              <a:rPr dirty="0" baseline="1388" sz="3000" spc="-37">
                <a:latin typeface="Cambria"/>
                <a:cs typeface="Cambria"/>
              </a:rPr>
              <a:t>)</a:t>
            </a:r>
            <a:endParaRPr baseline="1388" sz="300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026272" y="6137262"/>
            <a:ext cx="29540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500" spc="-10" b="1" i="1">
                <a:latin typeface="Cambria"/>
                <a:cs typeface="Cambria"/>
              </a:rPr>
              <a:t>w</a:t>
            </a:r>
            <a:r>
              <a:rPr dirty="0" baseline="-22988" sz="2175" spc="-15" b="1" i="1">
                <a:latin typeface="Cambria"/>
                <a:cs typeface="Cambria"/>
              </a:rPr>
              <a:t>ij</a:t>
            </a:r>
            <a:r>
              <a:rPr dirty="0" baseline="-22988" sz="2175" spc="209" b="1" i="1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:=</a:t>
            </a:r>
            <a:r>
              <a:rPr dirty="0" sz="2500" spc="-130">
                <a:latin typeface="Cambria"/>
                <a:cs typeface="Cambria"/>
              </a:rPr>
              <a:t> </a:t>
            </a:r>
            <a:r>
              <a:rPr dirty="0" sz="2500" b="1" i="1">
                <a:latin typeface="Cambria"/>
                <a:cs typeface="Cambria"/>
              </a:rPr>
              <a:t>w</a:t>
            </a:r>
            <a:r>
              <a:rPr dirty="0" baseline="-22988" sz="2175" b="1" i="1">
                <a:latin typeface="Cambria"/>
                <a:cs typeface="Cambria"/>
              </a:rPr>
              <a:t>ij</a:t>
            </a:r>
            <a:r>
              <a:rPr dirty="0" baseline="-22988" sz="2175" spc="487" b="1" i="1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+</a:t>
            </a:r>
            <a:r>
              <a:rPr dirty="0" sz="2500" spc="-90">
                <a:latin typeface="Cambria"/>
                <a:cs typeface="Cambria"/>
              </a:rPr>
              <a:t> </a:t>
            </a:r>
            <a:r>
              <a:rPr dirty="0" sz="2500" b="1" i="1">
                <a:latin typeface="Cambria"/>
                <a:cs typeface="Cambria"/>
              </a:rPr>
              <a:t>s</a:t>
            </a:r>
            <a:r>
              <a:rPr dirty="0" baseline="-22988" sz="2175" b="1" i="1">
                <a:latin typeface="Cambria"/>
                <a:cs typeface="Cambria"/>
              </a:rPr>
              <a:t>i </a:t>
            </a:r>
            <a:r>
              <a:rPr dirty="0" sz="2500" spc="-130">
                <a:latin typeface="Cambria"/>
                <a:cs typeface="Cambria"/>
              </a:rPr>
              <a:t>(</a:t>
            </a:r>
            <a:r>
              <a:rPr dirty="0" sz="2500" spc="-140">
                <a:latin typeface="Cambria"/>
                <a:cs typeface="Cambria"/>
              </a:rPr>
              <a:t> </a:t>
            </a:r>
            <a:r>
              <a:rPr dirty="0" sz="2500" spc="-145" b="1" i="1">
                <a:latin typeface="Cambria"/>
                <a:cs typeface="Cambria"/>
              </a:rPr>
              <a:t>p</a:t>
            </a:r>
            <a:r>
              <a:rPr dirty="0" sz="2500" spc="-145">
                <a:latin typeface="Cambria"/>
                <a:cs typeface="Cambria"/>
              </a:rPr>
              <a:t>)</a:t>
            </a:r>
            <a:r>
              <a:rPr dirty="0" sz="2500" spc="-254">
                <a:latin typeface="Cambria"/>
                <a:cs typeface="Cambria"/>
              </a:rPr>
              <a:t> </a:t>
            </a:r>
            <a:r>
              <a:rPr dirty="0" sz="2500" spc="-1900">
                <a:latin typeface="Cambria"/>
                <a:cs typeface="Cambria"/>
              </a:rPr>
              <a:t></a:t>
            </a:r>
            <a:r>
              <a:rPr dirty="0" sz="2500" spc="-240">
                <a:latin typeface="Cambria"/>
                <a:cs typeface="Cambria"/>
              </a:rPr>
              <a:t> </a:t>
            </a:r>
            <a:r>
              <a:rPr dirty="0" sz="2500" spc="-235" b="1" i="1">
                <a:latin typeface="Cambria"/>
                <a:cs typeface="Cambria"/>
              </a:rPr>
              <a:t>t</a:t>
            </a:r>
            <a:r>
              <a:rPr dirty="0" sz="2500" spc="-175" b="1" i="1">
                <a:latin typeface="Cambria"/>
                <a:cs typeface="Cambria"/>
              </a:rPr>
              <a:t> </a:t>
            </a:r>
            <a:r>
              <a:rPr dirty="0" baseline="-22988" sz="2175" b="1" i="1">
                <a:latin typeface="Cambria"/>
                <a:cs typeface="Cambria"/>
              </a:rPr>
              <a:t>j</a:t>
            </a:r>
            <a:r>
              <a:rPr dirty="0" baseline="-22988" sz="2175" spc="-22" b="1" i="1">
                <a:latin typeface="Cambria"/>
                <a:cs typeface="Cambria"/>
              </a:rPr>
              <a:t> </a:t>
            </a:r>
            <a:r>
              <a:rPr dirty="0" sz="2500" spc="-130">
                <a:latin typeface="Cambria"/>
                <a:cs typeface="Cambria"/>
              </a:rPr>
              <a:t>(</a:t>
            </a:r>
            <a:r>
              <a:rPr dirty="0" sz="2500" spc="-140">
                <a:latin typeface="Cambria"/>
                <a:cs typeface="Cambria"/>
              </a:rPr>
              <a:t> </a:t>
            </a:r>
            <a:r>
              <a:rPr dirty="0" sz="2500" spc="-25" b="1" i="1">
                <a:latin typeface="Cambria"/>
                <a:cs typeface="Cambria"/>
              </a:rPr>
              <a:t>p</a:t>
            </a:r>
            <a:r>
              <a:rPr dirty="0" sz="2500" spc="-25">
                <a:latin typeface="Cambria"/>
                <a:cs typeface="Cambria"/>
              </a:rPr>
              <a:t>)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229677" y="464248"/>
            <a:ext cx="297942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Simple</a:t>
            </a:r>
            <a:r>
              <a:rPr dirty="0" sz="4400" spc="-50"/>
              <a:t> </a:t>
            </a:r>
            <a:r>
              <a:rPr dirty="0" sz="4400" spc="-25"/>
              <a:t>AM</a:t>
            </a:r>
            <a:endParaRPr sz="4400"/>
          </a:p>
        </p:txBody>
      </p:sp>
      <p:sp>
        <p:nvSpPr>
          <p:cNvPr id="34" name="object 3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83564" y="1268755"/>
            <a:ext cx="7772400" cy="5486400"/>
          </a:xfrm>
          <a:custGeom>
            <a:avLst/>
            <a:gdLst/>
            <a:ahLst/>
            <a:cxnLst/>
            <a:rect l="l" t="t" r="r" b="b"/>
            <a:pathLst>
              <a:path w="7772400" h="5486400">
                <a:moveTo>
                  <a:pt x="7772400" y="0"/>
                </a:moveTo>
                <a:lnTo>
                  <a:pt x="0" y="0"/>
                </a:lnTo>
                <a:lnTo>
                  <a:pt x="0" y="5486400"/>
                </a:lnTo>
                <a:lnTo>
                  <a:pt x="7772400" y="5486400"/>
                </a:lnTo>
                <a:lnTo>
                  <a:pt x="777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62304" y="1221380"/>
            <a:ext cx="7543800" cy="130619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5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>
                <a:latin typeface="Tahoma"/>
                <a:cs typeface="Tahoma"/>
              </a:rPr>
              <a:t>Does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this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method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provide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good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association?</a:t>
            </a:r>
            <a:endParaRPr sz="2600">
              <a:latin typeface="Tahoma"/>
              <a:cs typeface="Tahoma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Recall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samples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(after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are </a:t>
            </a:r>
            <a:r>
              <a:rPr dirty="0" sz="2400">
                <a:latin typeface="Tahoma"/>
                <a:cs typeface="Tahoma"/>
              </a:rPr>
              <a:t>learned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10">
                <a:latin typeface="Tahoma"/>
                <a:cs typeface="Tahoma"/>
              </a:rPr>
              <a:t> computed)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51664" y="2589847"/>
            <a:ext cx="46037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20" b="1" i="1">
                <a:latin typeface="Cambria"/>
                <a:cs typeface="Cambria"/>
              </a:rPr>
              <a:t>t</a:t>
            </a:r>
            <a:r>
              <a:rPr dirty="0" sz="2100" spc="-20">
                <a:latin typeface="Cambria"/>
                <a:cs typeface="Cambria"/>
              </a:rPr>
              <a:t>(</a:t>
            </a:r>
            <a:r>
              <a:rPr dirty="0" sz="2100" spc="-20" b="1" i="1">
                <a:latin typeface="Cambria"/>
                <a:cs typeface="Cambria"/>
              </a:rPr>
              <a:t>k</a:t>
            </a:r>
            <a:r>
              <a:rPr dirty="0" sz="2100" spc="-2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19504" y="2574950"/>
            <a:ext cx="7112634" cy="76644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298450" marR="5080" indent="-285750">
              <a:lnSpc>
                <a:spcPct val="102499"/>
              </a:lnSpc>
              <a:spcBef>
                <a:spcPts val="25"/>
              </a:spcBef>
              <a:buClr>
                <a:srgbClr val="FF0000"/>
              </a:buClr>
              <a:buSzPct val="54166"/>
              <a:buChar char="■"/>
              <a:tabLst>
                <a:tab pos="298450" algn="l"/>
                <a:tab pos="1263015" algn="l"/>
                <a:tab pos="1896110" algn="l"/>
                <a:tab pos="1923414" algn="l"/>
                <a:tab pos="5212715" algn="l"/>
              </a:tabLst>
            </a:pPr>
            <a:r>
              <a:rPr dirty="0" sz="2400" spc="-10">
                <a:latin typeface="Tahoma"/>
                <a:cs typeface="Tahoma"/>
              </a:rPr>
              <a:t>Apply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baseline="3623" sz="3450" spc="-30" b="1" i="1">
                <a:latin typeface="Cambria"/>
                <a:cs typeface="Cambria"/>
              </a:rPr>
              <a:t>s</a:t>
            </a:r>
            <a:r>
              <a:rPr dirty="0" baseline="3623" sz="3450" spc="-30">
                <a:latin typeface="Cambria"/>
                <a:cs typeface="Cambria"/>
              </a:rPr>
              <a:t>(</a:t>
            </a:r>
            <a:r>
              <a:rPr dirty="0" baseline="3623" sz="3450" spc="-30" b="1" i="1">
                <a:latin typeface="Cambria"/>
                <a:cs typeface="Cambria"/>
              </a:rPr>
              <a:t>k</a:t>
            </a:r>
            <a:r>
              <a:rPr dirty="0" baseline="3623" sz="3450" spc="-30">
                <a:latin typeface="Cambria"/>
                <a:cs typeface="Cambria"/>
              </a:rPr>
              <a:t>)</a:t>
            </a:r>
            <a:r>
              <a:rPr dirty="0" baseline="3623" sz="3450">
                <a:latin typeface="Cambria"/>
                <a:cs typeface="Cambria"/>
              </a:rPr>
              <a:t>	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layer,</a:t>
            </a:r>
            <a:r>
              <a:rPr dirty="0" sz="2400" spc="-20">
                <a:latin typeface="Tahoma"/>
                <a:cs typeface="Tahoma"/>
              </a:rPr>
              <a:t> hope</a:t>
            </a:r>
            <a:r>
              <a:rPr dirty="0" sz="2400">
                <a:latin typeface="Tahoma"/>
                <a:cs typeface="Tahoma"/>
              </a:rPr>
              <a:t>	appear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baseline="1157" sz="3600">
                <a:latin typeface="Tahoma"/>
                <a:cs typeface="Tahoma"/>
              </a:rPr>
              <a:t>other,</a:t>
            </a:r>
            <a:r>
              <a:rPr dirty="0" baseline="1157" sz="3600" spc="-22">
                <a:latin typeface="Tahoma"/>
                <a:cs typeface="Tahoma"/>
              </a:rPr>
              <a:t> </a:t>
            </a:r>
            <a:r>
              <a:rPr dirty="0" baseline="1157" sz="3600" spc="-30">
                <a:latin typeface="Tahoma"/>
                <a:cs typeface="Tahoma"/>
              </a:rPr>
              <a:t>e.g.</a:t>
            </a:r>
            <a:r>
              <a:rPr dirty="0" baseline="1157" sz="3600">
                <a:latin typeface="Tahoma"/>
                <a:cs typeface="Tahoma"/>
              </a:rPr>
              <a:t>		</a:t>
            </a:r>
            <a:r>
              <a:rPr dirty="0" sz="2350" b="1" i="1">
                <a:latin typeface="Cambria"/>
                <a:cs typeface="Cambria"/>
              </a:rPr>
              <a:t>f</a:t>
            </a:r>
            <a:r>
              <a:rPr dirty="0" sz="2350" spc="-45" b="1" i="1">
                <a:latin typeface="Cambria"/>
                <a:cs typeface="Cambria"/>
              </a:rPr>
              <a:t> </a:t>
            </a:r>
            <a:r>
              <a:rPr dirty="0" sz="2350" spc="-90">
                <a:latin typeface="Cambria"/>
                <a:cs typeface="Cambria"/>
              </a:rPr>
              <a:t>(</a:t>
            </a:r>
            <a:r>
              <a:rPr dirty="0" sz="2350" spc="-90" b="1" i="1">
                <a:latin typeface="Cambria"/>
                <a:cs typeface="Cambria"/>
              </a:rPr>
              <a:t>s</a:t>
            </a:r>
            <a:r>
              <a:rPr dirty="0" sz="2350" spc="-90">
                <a:latin typeface="Cambria"/>
                <a:cs typeface="Cambria"/>
              </a:rPr>
              <a:t>(</a:t>
            </a:r>
            <a:r>
              <a:rPr dirty="0" sz="2350" spc="-90" b="1" i="1">
                <a:latin typeface="Cambria"/>
                <a:cs typeface="Cambria"/>
              </a:rPr>
              <a:t>k</a:t>
            </a:r>
            <a:r>
              <a:rPr dirty="0" sz="2350" spc="-90">
                <a:latin typeface="Cambria"/>
                <a:cs typeface="Cambria"/>
              </a:rPr>
              <a:t>)</a:t>
            </a:r>
            <a:r>
              <a:rPr dirty="0" sz="2350" spc="-90" b="1" i="1">
                <a:latin typeface="Cambria"/>
                <a:cs typeface="Cambria"/>
              </a:rPr>
              <a:t>W</a:t>
            </a:r>
            <a:r>
              <a:rPr dirty="0" sz="2350" spc="-65" b="1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)</a:t>
            </a:r>
            <a:r>
              <a:rPr dirty="0" sz="2350" spc="-10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-5">
                <a:latin typeface="Cambria"/>
                <a:cs typeface="Cambria"/>
              </a:rPr>
              <a:t> </a:t>
            </a:r>
            <a:r>
              <a:rPr dirty="0" sz="2350" spc="-20" b="1" i="1">
                <a:latin typeface="Cambria"/>
                <a:cs typeface="Cambria"/>
              </a:rPr>
              <a:t>t</a:t>
            </a:r>
            <a:r>
              <a:rPr dirty="0" sz="2350" spc="-20">
                <a:latin typeface="Cambria"/>
                <a:cs typeface="Cambria"/>
              </a:rPr>
              <a:t>(</a:t>
            </a:r>
            <a:r>
              <a:rPr dirty="0" sz="2350" spc="-20" b="1" i="1">
                <a:latin typeface="Cambria"/>
                <a:cs typeface="Cambria"/>
              </a:rPr>
              <a:t>k</a:t>
            </a:r>
            <a:r>
              <a:rPr dirty="0" sz="2350" spc="-20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791891" y="5812434"/>
            <a:ext cx="645795" cy="356235"/>
          </a:xfrm>
          <a:custGeom>
            <a:avLst/>
            <a:gdLst/>
            <a:ahLst/>
            <a:cxnLst/>
            <a:rect l="l" t="t" r="r" b="b"/>
            <a:pathLst>
              <a:path w="645795" h="356235">
                <a:moveTo>
                  <a:pt x="44488" y="0"/>
                </a:moveTo>
                <a:lnTo>
                  <a:pt x="44488" y="355815"/>
                </a:lnTo>
              </a:path>
              <a:path w="645795" h="356235">
                <a:moveTo>
                  <a:pt x="0" y="0"/>
                </a:moveTo>
                <a:lnTo>
                  <a:pt x="0" y="355815"/>
                </a:lnTo>
              </a:path>
              <a:path w="645795" h="356235">
                <a:moveTo>
                  <a:pt x="645566" y="0"/>
                </a:moveTo>
                <a:lnTo>
                  <a:pt x="645566" y="355815"/>
                </a:lnTo>
              </a:path>
              <a:path w="645795" h="356235">
                <a:moveTo>
                  <a:pt x="601065" y="0"/>
                </a:moveTo>
                <a:lnTo>
                  <a:pt x="601065" y="355815"/>
                </a:lnTo>
              </a:path>
            </a:pathLst>
          </a:custGeom>
          <a:ln w="148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81404" y="3379495"/>
            <a:ext cx="6684009" cy="126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6550" marR="43180" indent="-28575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54166"/>
              <a:buChar char="■"/>
              <a:tabLst>
                <a:tab pos="336550" algn="l"/>
              </a:tabLst>
            </a:pPr>
            <a:r>
              <a:rPr dirty="0" sz="2400">
                <a:latin typeface="Tahoma"/>
                <a:cs typeface="Tahoma"/>
              </a:rPr>
              <a:t>May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always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succeed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(each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contains </a:t>
            </a:r>
            <a:r>
              <a:rPr dirty="0" sz="2400">
                <a:latin typeface="Tahoma"/>
                <a:cs typeface="Tahoma"/>
              </a:rPr>
              <a:t>some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information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samples)</a:t>
            </a:r>
            <a:endParaRPr sz="2400">
              <a:latin typeface="Tahoma"/>
              <a:cs typeface="Tahoma"/>
            </a:endParaRPr>
          </a:p>
          <a:p>
            <a:pPr algn="ctr" marR="252095">
              <a:lnSpc>
                <a:spcPts val="505"/>
              </a:lnSpc>
              <a:tabLst>
                <a:tab pos="1869439" algn="l"/>
              </a:tabLst>
            </a:pPr>
            <a:r>
              <a:rPr dirty="0" sz="1350" spc="25" i="1">
                <a:latin typeface="Cambria"/>
                <a:cs typeface="Cambria"/>
              </a:rPr>
              <a:t>P</a:t>
            </a:r>
            <a:r>
              <a:rPr dirty="0" sz="1350" i="1">
                <a:latin typeface="Cambria"/>
                <a:cs typeface="Cambria"/>
              </a:rPr>
              <a:t>	</a:t>
            </a:r>
            <a:r>
              <a:rPr dirty="0" sz="1350" spc="25" i="1">
                <a:latin typeface="Cambria"/>
                <a:cs typeface="Cambria"/>
              </a:rPr>
              <a:t>P</a:t>
            </a:r>
            <a:endParaRPr sz="1350">
              <a:latin typeface="Cambria"/>
              <a:cs typeface="Cambria"/>
            </a:endParaRPr>
          </a:p>
          <a:p>
            <a:pPr marL="544830">
              <a:lnSpc>
                <a:spcPts val="3515"/>
              </a:lnSpc>
            </a:pPr>
            <a:r>
              <a:rPr dirty="0" sz="2350" spc="-45" i="1">
                <a:latin typeface="Cambria"/>
                <a:cs typeface="Cambria"/>
              </a:rPr>
              <a:t>s</a:t>
            </a:r>
            <a:r>
              <a:rPr dirty="0" sz="2350" spc="-45">
                <a:latin typeface="Cambria"/>
                <a:cs typeface="Cambria"/>
              </a:rPr>
              <a:t>(</a:t>
            </a:r>
            <a:r>
              <a:rPr dirty="0" sz="2350" spc="-45" i="1">
                <a:latin typeface="Cambria"/>
                <a:cs typeface="Cambria"/>
              </a:rPr>
              <a:t>k</a:t>
            </a:r>
            <a:r>
              <a:rPr dirty="0" sz="2350" spc="-310" i="1">
                <a:latin typeface="Cambria"/>
                <a:cs typeface="Cambria"/>
              </a:rPr>
              <a:t> </a:t>
            </a:r>
            <a:r>
              <a:rPr dirty="0" sz="2350" spc="-80">
                <a:latin typeface="Cambria"/>
                <a:cs typeface="Cambria"/>
              </a:rPr>
              <a:t>)</a:t>
            </a:r>
            <a:r>
              <a:rPr dirty="0" sz="2350" spc="-80" i="1">
                <a:latin typeface="Cambria"/>
                <a:cs typeface="Cambria"/>
              </a:rPr>
              <a:t>W</a:t>
            </a:r>
            <a:r>
              <a:rPr dirty="0" sz="2350" spc="270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-10">
                <a:latin typeface="Cambria"/>
                <a:cs typeface="Cambria"/>
              </a:rPr>
              <a:t> </a:t>
            </a:r>
            <a:r>
              <a:rPr dirty="0" sz="2350" spc="-45" i="1">
                <a:latin typeface="Cambria"/>
                <a:cs typeface="Cambria"/>
              </a:rPr>
              <a:t>s</a:t>
            </a:r>
            <a:r>
              <a:rPr dirty="0" sz="2350" spc="-45">
                <a:latin typeface="Cambria"/>
                <a:cs typeface="Cambria"/>
              </a:rPr>
              <a:t>(</a:t>
            </a:r>
            <a:r>
              <a:rPr dirty="0" sz="2350" spc="-45" i="1">
                <a:latin typeface="Cambria"/>
                <a:cs typeface="Cambria"/>
              </a:rPr>
              <a:t>k</a:t>
            </a:r>
            <a:r>
              <a:rPr dirty="0" sz="2350" spc="-310" i="1">
                <a:latin typeface="Cambria"/>
                <a:cs typeface="Cambria"/>
              </a:rPr>
              <a:t> </a:t>
            </a:r>
            <a:r>
              <a:rPr dirty="0" sz="2350" spc="240">
                <a:latin typeface="Cambria"/>
                <a:cs typeface="Cambria"/>
              </a:rPr>
              <a:t>)</a:t>
            </a:r>
            <a:r>
              <a:rPr dirty="0" baseline="-8730" sz="5250" spc="359">
                <a:latin typeface="Cambria"/>
                <a:cs typeface="Cambria"/>
              </a:rPr>
              <a:t>Σ</a:t>
            </a:r>
            <a:r>
              <a:rPr dirty="0" sz="2350" spc="240" i="1">
                <a:latin typeface="Cambria"/>
                <a:cs typeface="Cambria"/>
              </a:rPr>
              <a:t>s</a:t>
            </a:r>
            <a:r>
              <a:rPr dirty="0" baseline="43209" sz="2025" spc="359" i="1">
                <a:latin typeface="Cambria"/>
                <a:cs typeface="Cambria"/>
              </a:rPr>
              <a:t>T</a:t>
            </a:r>
            <a:r>
              <a:rPr dirty="0" baseline="43209" sz="2025" spc="22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(</a:t>
            </a:r>
            <a:r>
              <a:rPr dirty="0" sz="2350" spc="-175">
                <a:latin typeface="Cambria"/>
                <a:cs typeface="Cambria"/>
              </a:rPr>
              <a:t> </a:t>
            </a:r>
            <a:r>
              <a:rPr dirty="0" sz="2350" spc="-70" i="1">
                <a:latin typeface="Cambria"/>
                <a:cs typeface="Cambria"/>
              </a:rPr>
              <a:t>p</a:t>
            </a:r>
            <a:r>
              <a:rPr dirty="0" sz="2350" spc="-70">
                <a:latin typeface="Cambria"/>
                <a:cs typeface="Cambria"/>
              </a:rPr>
              <a:t>)</a:t>
            </a:r>
            <a:r>
              <a:rPr dirty="0" sz="2350" spc="-285">
                <a:latin typeface="Cambria"/>
                <a:cs typeface="Cambria"/>
              </a:rPr>
              <a:t> </a:t>
            </a:r>
            <a:r>
              <a:rPr dirty="0" sz="2350" spc="-70" i="1">
                <a:latin typeface="Cambria"/>
                <a:cs typeface="Cambria"/>
              </a:rPr>
              <a:t>t</a:t>
            </a:r>
            <a:r>
              <a:rPr dirty="0" sz="2350" spc="-70">
                <a:latin typeface="Cambria"/>
                <a:cs typeface="Cambria"/>
              </a:rPr>
              <a:t>(</a:t>
            </a:r>
            <a:r>
              <a:rPr dirty="0" sz="2350" spc="-175">
                <a:latin typeface="Cambria"/>
                <a:cs typeface="Cambria"/>
              </a:rPr>
              <a:t> </a:t>
            </a:r>
            <a:r>
              <a:rPr dirty="0" sz="2350" i="1">
                <a:latin typeface="Cambria"/>
                <a:cs typeface="Cambria"/>
              </a:rPr>
              <a:t>p</a:t>
            </a:r>
            <a:r>
              <a:rPr dirty="0" sz="2350">
                <a:latin typeface="Cambria"/>
                <a:cs typeface="Cambria"/>
              </a:rPr>
              <a:t>)</a:t>
            </a:r>
            <a:r>
              <a:rPr dirty="0" sz="2350" spc="40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25">
                <a:latin typeface="Cambria"/>
                <a:cs typeface="Cambria"/>
              </a:rPr>
              <a:t> </a:t>
            </a:r>
            <a:r>
              <a:rPr dirty="0" baseline="-8730" sz="5250" spc="262">
                <a:latin typeface="Cambria"/>
                <a:cs typeface="Cambria"/>
              </a:rPr>
              <a:t>Σ</a:t>
            </a:r>
            <a:r>
              <a:rPr dirty="0" sz="2350" spc="175" i="1">
                <a:latin typeface="Cambria"/>
                <a:cs typeface="Cambria"/>
              </a:rPr>
              <a:t>s</a:t>
            </a:r>
            <a:r>
              <a:rPr dirty="0" sz="2350" spc="175">
                <a:latin typeface="Cambria"/>
                <a:cs typeface="Cambria"/>
              </a:rPr>
              <a:t>(</a:t>
            </a:r>
            <a:r>
              <a:rPr dirty="0" sz="2350" spc="175" i="1">
                <a:latin typeface="Cambria"/>
                <a:cs typeface="Cambria"/>
              </a:rPr>
              <a:t>k</a:t>
            </a:r>
            <a:r>
              <a:rPr dirty="0" sz="2350" spc="-310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)</a:t>
            </a:r>
            <a:r>
              <a:rPr dirty="0" sz="2350" i="1">
                <a:latin typeface="Cambria"/>
                <a:cs typeface="Cambria"/>
              </a:rPr>
              <a:t>s</a:t>
            </a:r>
            <a:r>
              <a:rPr dirty="0" baseline="43209" sz="2025" i="1">
                <a:latin typeface="Cambria"/>
                <a:cs typeface="Cambria"/>
              </a:rPr>
              <a:t>T</a:t>
            </a:r>
            <a:r>
              <a:rPr dirty="0" baseline="43209" sz="2025" spc="30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(</a:t>
            </a:r>
            <a:r>
              <a:rPr dirty="0" sz="2350" spc="-175">
                <a:latin typeface="Cambria"/>
                <a:cs typeface="Cambria"/>
              </a:rPr>
              <a:t> </a:t>
            </a:r>
            <a:r>
              <a:rPr dirty="0" sz="2350" spc="-75" i="1">
                <a:latin typeface="Cambria"/>
                <a:cs typeface="Cambria"/>
              </a:rPr>
              <a:t>p</a:t>
            </a:r>
            <a:r>
              <a:rPr dirty="0" sz="2350" spc="-75">
                <a:latin typeface="Cambria"/>
                <a:cs typeface="Cambria"/>
              </a:rPr>
              <a:t>)</a:t>
            </a:r>
            <a:r>
              <a:rPr dirty="0" sz="2350" spc="-75" i="1">
                <a:latin typeface="Cambria"/>
                <a:cs typeface="Cambria"/>
              </a:rPr>
              <a:t>t</a:t>
            </a:r>
            <a:r>
              <a:rPr dirty="0" sz="2350" spc="-75">
                <a:latin typeface="Cambria"/>
                <a:cs typeface="Cambria"/>
              </a:rPr>
              <a:t>(</a:t>
            </a:r>
            <a:r>
              <a:rPr dirty="0" sz="2350" spc="-175">
                <a:latin typeface="Cambria"/>
                <a:cs typeface="Cambria"/>
              </a:rPr>
              <a:t> </a:t>
            </a:r>
            <a:r>
              <a:rPr dirty="0" sz="2350" spc="-25" i="1">
                <a:latin typeface="Cambria"/>
                <a:cs typeface="Cambria"/>
              </a:rPr>
              <a:t>p</a:t>
            </a:r>
            <a:r>
              <a:rPr dirty="0" sz="2350" spc="-25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495194" y="4644555"/>
            <a:ext cx="4391025" cy="1752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43280">
              <a:lnSpc>
                <a:spcPts val="1520"/>
              </a:lnSpc>
              <a:spcBef>
                <a:spcPts val="105"/>
              </a:spcBef>
              <a:tabLst>
                <a:tab pos="2713355" algn="l"/>
              </a:tabLst>
            </a:pPr>
            <a:r>
              <a:rPr dirty="0" sz="1350" spc="-25" i="1">
                <a:latin typeface="Cambria"/>
                <a:cs typeface="Cambria"/>
              </a:rPr>
              <a:t>p</a:t>
            </a:r>
            <a:r>
              <a:rPr dirty="0" sz="1350" spc="-25">
                <a:latin typeface="Cambria"/>
                <a:cs typeface="Cambria"/>
              </a:rPr>
              <a:t>=1</a:t>
            </a:r>
            <a:r>
              <a:rPr dirty="0" sz="1350">
                <a:latin typeface="Cambria"/>
                <a:cs typeface="Cambria"/>
              </a:rPr>
              <a:t>	</a:t>
            </a:r>
            <a:r>
              <a:rPr dirty="0" sz="1350" spc="-25" i="1">
                <a:latin typeface="Cambria"/>
                <a:cs typeface="Cambria"/>
              </a:rPr>
              <a:t>p</a:t>
            </a:r>
            <a:r>
              <a:rPr dirty="0" sz="1350" spc="-25">
                <a:latin typeface="Cambria"/>
                <a:cs typeface="Cambria"/>
              </a:rPr>
              <a:t>=1</a:t>
            </a:r>
            <a:endParaRPr sz="1350">
              <a:latin typeface="Cambria"/>
              <a:cs typeface="Cambria"/>
            </a:endParaRPr>
          </a:p>
          <a:p>
            <a:pPr marL="50800">
              <a:lnSpc>
                <a:spcPts val="4100"/>
              </a:lnSpc>
            </a:pP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105">
                <a:latin typeface="Cambria"/>
                <a:cs typeface="Cambria"/>
              </a:rPr>
              <a:t> </a:t>
            </a:r>
            <a:r>
              <a:rPr dirty="0" sz="2350" spc="-45" i="1">
                <a:latin typeface="Cambria"/>
                <a:cs typeface="Cambria"/>
              </a:rPr>
              <a:t>s</a:t>
            </a:r>
            <a:r>
              <a:rPr dirty="0" sz="2350" spc="-45">
                <a:latin typeface="Cambria"/>
                <a:cs typeface="Cambria"/>
              </a:rPr>
              <a:t>(</a:t>
            </a:r>
            <a:r>
              <a:rPr dirty="0" sz="2350" spc="-45" i="1">
                <a:latin typeface="Cambria"/>
                <a:cs typeface="Cambria"/>
              </a:rPr>
              <a:t>k</a:t>
            </a:r>
            <a:r>
              <a:rPr dirty="0" sz="2350" spc="-305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)</a:t>
            </a:r>
            <a:r>
              <a:rPr dirty="0" sz="2350" spc="-160">
                <a:latin typeface="Cambria"/>
                <a:cs typeface="Cambria"/>
              </a:rPr>
              <a:t> </a:t>
            </a:r>
            <a:r>
              <a:rPr dirty="0" sz="2350" i="1">
                <a:latin typeface="Cambria"/>
                <a:cs typeface="Cambria"/>
              </a:rPr>
              <a:t>s</a:t>
            </a:r>
            <a:r>
              <a:rPr dirty="0" baseline="43209" sz="2025" i="1">
                <a:latin typeface="Cambria"/>
                <a:cs typeface="Cambria"/>
              </a:rPr>
              <a:t>T</a:t>
            </a:r>
            <a:r>
              <a:rPr dirty="0" baseline="43209" sz="2025" spc="195" i="1">
                <a:latin typeface="Cambria"/>
                <a:cs typeface="Cambria"/>
              </a:rPr>
              <a:t> </a:t>
            </a:r>
            <a:r>
              <a:rPr dirty="0" sz="2350" spc="-110">
                <a:latin typeface="Cambria"/>
                <a:cs typeface="Cambria"/>
              </a:rPr>
              <a:t>(</a:t>
            </a:r>
            <a:r>
              <a:rPr dirty="0" sz="2350" spc="-110" i="1">
                <a:latin typeface="Cambria"/>
                <a:cs typeface="Cambria"/>
              </a:rPr>
              <a:t>k</a:t>
            </a:r>
            <a:r>
              <a:rPr dirty="0" sz="2350" spc="-300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)</a:t>
            </a:r>
            <a:r>
              <a:rPr dirty="0" sz="2350" spc="-270">
                <a:latin typeface="Cambria"/>
                <a:cs typeface="Cambria"/>
              </a:rPr>
              <a:t> </a:t>
            </a:r>
            <a:r>
              <a:rPr dirty="0" sz="2350" spc="-75" i="1">
                <a:latin typeface="Cambria"/>
                <a:cs typeface="Cambria"/>
              </a:rPr>
              <a:t>t</a:t>
            </a:r>
            <a:r>
              <a:rPr dirty="0" sz="2350" spc="-75">
                <a:latin typeface="Cambria"/>
                <a:cs typeface="Cambria"/>
              </a:rPr>
              <a:t>(</a:t>
            </a:r>
            <a:r>
              <a:rPr dirty="0" sz="2350" spc="-75" i="1">
                <a:latin typeface="Cambria"/>
                <a:cs typeface="Cambria"/>
              </a:rPr>
              <a:t>k</a:t>
            </a:r>
            <a:r>
              <a:rPr dirty="0" sz="2350" spc="-305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)</a:t>
            </a:r>
            <a:r>
              <a:rPr dirty="0" sz="2350" spc="-130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+</a:t>
            </a:r>
            <a:r>
              <a:rPr dirty="0" sz="2350" spc="90">
                <a:latin typeface="Cambria"/>
                <a:cs typeface="Cambria"/>
              </a:rPr>
              <a:t> </a:t>
            </a:r>
            <a:r>
              <a:rPr dirty="0" baseline="-8730" sz="5250" spc="262">
                <a:latin typeface="Cambria"/>
                <a:cs typeface="Cambria"/>
              </a:rPr>
              <a:t>Σ</a:t>
            </a:r>
            <a:r>
              <a:rPr dirty="0" sz="2350" spc="175" i="1">
                <a:latin typeface="Cambria"/>
                <a:cs typeface="Cambria"/>
              </a:rPr>
              <a:t>s</a:t>
            </a:r>
            <a:r>
              <a:rPr dirty="0" sz="2350" spc="175">
                <a:latin typeface="Cambria"/>
                <a:cs typeface="Cambria"/>
              </a:rPr>
              <a:t>(</a:t>
            </a:r>
            <a:r>
              <a:rPr dirty="0" sz="2350" spc="175" i="1">
                <a:latin typeface="Cambria"/>
                <a:cs typeface="Cambria"/>
              </a:rPr>
              <a:t>k</a:t>
            </a:r>
            <a:r>
              <a:rPr dirty="0" sz="2350" spc="-305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)</a:t>
            </a:r>
            <a:r>
              <a:rPr dirty="0" sz="2350" spc="-155">
                <a:latin typeface="Cambria"/>
                <a:cs typeface="Cambria"/>
              </a:rPr>
              <a:t> </a:t>
            </a:r>
            <a:r>
              <a:rPr dirty="0" sz="2350" i="1">
                <a:latin typeface="Cambria"/>
                <a:cs typeface="Cambria"/>
              </a:rPr>
              <a:t>s</a:t>
            </a:r>
            <a:r>
              <a:rPr dirty="0" baseline="43209" sz="2025" i="1">
                <a:latin typeface="Cambria"/>
                <a:cs typeface="Cambria"/>
              </a:rPr>
              <a:t>T</a:t>
            </a:r>
            <a:r>
              <a:rPr dirty="0" baseline="43209" sz="2025" spc="195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(</a:t>
            </a:r>
            <a:r>
              <a:rPr dirty="0" sz="2350" spc="-160">
                <a:latin typeface="Cambria"/>
                <a:cs typeface="Cambria"/>
              </a:rPr>
              <a:t> </a:t>
            </a:r>
            <a:r>
              <a:rPr dirty="0" sz="2350" spc="-70" i="1">
                <a:latin typeface="Cambria"/>
                <a:cs typeface="Cambria"/>
              </a:rPr>
              <a:t>p</a:t>
            </a:r>
            <a:r>
              <a:rPr dirty="0" sz="2350" spc="-70">
                <a:latin typeface="Cambria"/>
                <a:cs typeface="Cambria"/>
              </a:rPr>
              <a:t>)</a:t>
            </a:r>
            <a:r>
              <a:rPr dirty="0" sz="2350" spc="-275">
                <a:latin typeface="Cambria"/>
                <a:cs typeface="Cambria"/>
              </a:rPr>
              <a:t> </a:t>
            </a:r>
            <a:r>
              <a:rPr dirty="0" sz="2350" spc="-70" i="1">
                <a:latin typeface="Cambria"/>
                <a:cs typeface="Cambria"/>
              </a:rPr>
              <a:t>t</a:t>
            </a:r>
            <a:r>
              <a:rPr dirty="0" sz="2350" spc="-70">
                <a:latin typeface="Cambria"/>
                <a:cs typeface="Cambria"/>
              </a:rPr>
              <a:t>(</a:t>
            </a:r>
            <a:r>
              <a:rPr dirty="0" sz="2350" spc="-160">
                <a:latin typeface="Cambria"/>
                <a:cs typeface="Cambria"/>
              </a:rPr>
              <a:t> </a:t>
            </a:r>
            <a:r>
              <a:rPr dirty="0" sz="2350" spc="-25" i="1">
                <a:latin typeface="Cambria"/>
                <a:cs typeface="Cambria"/>
              </a:rPr>
              <a:t>p</a:t>
            </a:r>
            <a:r>
              <a:rPr dirty="0" sz="2350" spc="-25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  <a:p>
            <a:pPr algn="ctr" marL="422275">
              <a:lnSpc>
                <a:spcPct val="100000"/>
              </a:lnSpc>
              <a:spcBef>
                <a:spcPts val="185"/>
              </a:spcBef>
            </a:pPr>
            <a:r>
              <a:rPr dirty="0" sz="1350" spc="55" i="1">
                <a:latin typeface="Cambria"/>
                <a:cs typeface="Cambria"/>
              </a:rPr>
              <a:t>p</a:t>
            </a:r>
            <a:r>
              <a:rPr dirty="0" sz="1350" spc="55">
                <a:latin typeface="Cambria"/>
                <a:cs typeface="Cambria"/>
              </a:rPr>
              <a:t>s</a:t>
            </a:r>
            <a:r>
              <a:rPr dirty="0" sz="1350" spc="55" i="1">
                <a:latin typeface="Cambria"/>
                <a:cs typeface="Cambria"/>
              </a:rPr>
              <a:t>k</a:t>
            </a:r>
            <a:endParaRPr sz="135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160"/>
              </a:spcBef>
              <a:tabLst>
                <a:tab pos="378460" algn="l"/>
              </a:tabLst>
            </a:pPr>
            <a:r>
              <a:rPr dirty="0" sz="2350" spc="-50">
                <a:latin typeface="Cambria"/>
                <a:cs typeface="Cambria"/>
              </a:rPr>
              <a:t>=</a:t>
            </a:r>
            <a:r>
              <a:rPr dirty="0" sz="2350">
                <a:latin typeface="Cambria"/>
                <a:cs typeface="Cambria"/>
              </a:rPr>
              <a:t>	</a:t>
            </a:r>
            <a:r>
              <a:rPr dirty="0" sz="2350" spc="-45" i="1">
                <a:latin typeface="Cambria"/>
                <a:cs typeface="Cambria"/>
              </a:rPr>
              <a:t>s</a:t>
            </a:r>
            <a:r>
              <a:rPr dirty="0" sz="2350" spc="-45">
                <a:latin typeface="Cambria"/>
                <a:cs typeface="Cambria"/>
              </a:rPr>
              <a:t>(</a:t>
            </a:r>
            <a:r>
              <a:rPr dirty="0" sz="2350" spc="-45" i="1">
                <a:latin typeface="Cambria"/>
                <a:cs typeface="Cambria"/>
              </a:rPr>
              <a:t>k</a:t>
            </a:r>
            <a:r>
              <a:rPr dirty="0" sz="2350" spc="-310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)</a:t>
            </a:r>
            <a:r>
              <a:rPr dirty="0" sz="2350" spc="195">
                <a:latin typeface="Cambria"/>
                <a:cs typeface="Cambria"/>
              </a:rPr>
              <a:t> </a:t>
            </a:r>
            <a:r>
              <a:rPr dirty="0" baseline="57613" sz="2025">
                <a:latin typeface="Cambria"/>
                <a:cs typeface="Cambria"/>
              </a:rPr>
              <a:t>2</a:t>
            </a:r>
            <a:r>
              <a:rPr dirty="0" baseline="57613" sz="2025" spc="525">
                <a:latin typeface="Cambria"/>
                <a:cs typeface="Cambria"/>
              </a:rPr>
              <a:t> </a:t>
            </a:r>
            <a:r>
              <a:rPr dirty="0" sz="2350" spc="-75" i="1">
                <a:latin typeface="Cambria"/>
                <a:cs typeface="Cambria"/>
              </a:rPr>
              <a:t>t</a:t>
            </a:r>
            <a:r>
              <a:rPr dirty="0" sz="2350" spc="-75">
                <a:latin typeface="Cambria"/>
                <a:cs typeface="Cambria"/>
              </a:rPr>
              <a:t>(</a:t>
            </a:r>
            <a:r>
              <a:rPr dirty="0" sz="2350" spc="-75" i="1">
                <a:latin typeface="Cambria"/>
                <a:cs typeface="Cambria"/>
              </a:rPr>
              <a:t>k</a:t>
            </a:r>
            <a:r>
              <a:rPr dirty="0" sz="2350" spc="-310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)</a:t>
            </a:r>
            <a:r>
              <a:rPr dirty="0" sz="2350" spc="-155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+</a:t>
            </a:r>
            <a:r>
              <a:rPr dirty="0" sz="2350" spc="20">
                <a:latin typeface="Cambria"/>
                <a:cs typeface="Cambria"/>
              </a:rPr>
              <a:t> </a:t>
            </a:r>
            <a:r>
              <a:rPr dirty="0" baseline="-8730" sz="5250" spc="277">
                <a:latin typeface="Cambria"/>
                <a:cs typeface="Cambria"/>
              </a:rPr>
              <a:t>Σ</a:t>
            </a:r>
            <a:r>
              <a:rPr dirty="0" sz="2350" spc="185" i="1">
                <a:latin typeface="Cambria"/>
                <a:cs typeface="Cambria"/>
              </a:rPr>
              <a:t>s</a:t>
            </a:r>
            <a:r>
              <a:rPr dirty="0" sz="2350" spc="185">
                <a:latin typeface="Cambria"/>
                <a:cs typeface="Cambria"/>
              </a:rPr>
              <a:t>(</a:t>
            </a:r>
            <a:r>
              <a:rPr dirty="0" sz="2350" spc="185" i="1">
                <a:latin typeface="Cambria"/>
                <a:cs typeface="Cambria"/>
              </a:rPr>
              <a:t>k</a:t>
            </a:r>
            <a:r>
              <a:rPr dirty="0" sz="2350" spc="-310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)</a:t>
            </a:r>
            <a:r>
              <a:rPr dirty="0" sz="2350" spc="-175">
                <a:latin typeface="Cambria"/>
                <a:cs typeface="Cambria"/>
              </a:rPr>
              <a:t> </a:t>
            </a:r>
            <a:r>
              <a:rPr dirty="0" sz="2350" spc="90" i="1">
                <a:latin typeface="Cambria"/>
                <a:cs typeface="Cambria"/>
              </a:rPr>
              <a:t>s</a:t>
            </a:r>
            <a:r>
              <a:rPr dirty="0" baseline="43209" sz="2025" spc="135" i="1">
                <a:latin typeface="Cambria"/>
                <a:cs typeface="Cambria"/>
              </a:rPr>
              <a:t>T</a:t>
            </a:r>
            <a:r>
              <a:rPr dirty="0" baseline="43209" sz="2025" spc="-15" i="1">
                <a:latin typeface="Cambria"/>
                <a:cs typeface="Cambria"/>
              </a:rPr>
              <a:t> </a:t>
            </a:r>
            <a:r>
              <a:rPr dirty="0" sz="2350" spc="-135">
                <a:latin typeface="Cambria"/>
                <a:cs typeface="Cambria"/>
              </a:rPr>
              <a:t>(</a:t>
            </a:r>
            <a:r>
              <a:rPr dirty="0" sz="2350" spc="-175">
                <a:latin typeface="Cambria"/>
                <a:cs typeface="Cambria"/>
              </a:rPr>
              <a:t> </a:t>
            </a:r>
            <a:r>
              <a:rPr dirty="0" sz="2350" spc="-70" i="1">
                <a:latin typeface="Cambria"/>
                <a:cs typeface="Cambria"/>
              </a:rPr>
              <a:t>p</a:t>
            </a:r>
            <a:r>
              <a:rPr dirty="0" sz="2350" spc="-70">
                <a:latin typeface="Cambria"/>
                <a:cs typeface="Cambria"/>
              </a:rPr>
              <a:t>)</a:t>
            </a:r>
            <a:r>
              <a:rPr dirty="0" sz="2350" spc="-285">
                <a:latin typeface="Cambria"/>
                <a:cs typeface="Cambria"/>
              </a:rPr>
              <a:t> </a:t>
            </a:r>
            <a:r>
              <a:rPr dirty="0" sz="2350" spc="-70" i="1">
                <a:latin typeface="Cambria"/>
                <a:cs typeface="Cambria"/>
              </a:rPr>
              <a:t>t</a:t>
            </a:r>
            <a:r>
              <a:rPr dirty="0" sz="2350" spc="-70">
                <a:latin typeface="Cambria"/>
                <a:cs typeface="Cambria"/>
              </a:rPr>
              <a:t>(</a:t>
            </a:r>
            <a:r>
              <a:rPr dirty="0" sz="2350" spc="-175">
                <a:latin typeface="Cambria"/>
                <a:cs typeface="Cambria"/>
              </a:rPr>
              <a:t> </a:t>
            </a:r>
            <a:r>
              <a:rPr dirty="0" sz="2350" spc="-25" i="1">
                <a:latin typeface="Cambria"/>
                <a:cs typeface="Cambria"/>
              </a:rPr>
              <a:t>p</a:t>
            </a:r>
            <a:r>
              <a:rPr dirty="0" sz="2350" spc="-25">
                <a:latin typeface="Cambria"/>
                <a:cs typeface="Cambria"/>
              </a:rPr>
              <a:t>)</a:t>
            </a:r>
            <a:endParaRPr sz="2350">
              <a:latin typeface="Cambria"/>
              <a:cs typeface="Cambria"/>
            </a:endParaRPr>
          </a:p>
          <a:p>
            <a:pPr algn="ctr" marR="278130">
              <a:lnSpc>
                <a:spcPct val="100000"/>
              </a:lnSpc>
              <a:spcBef>
                <a:spcPts val="190"/>
              </a:spcBef>
            </a:pPr>
            <a:r>
              <a:rPr dirty="0" sz="1350" spc="55" i="1">
                <a:latin typeface="Cambria"/>
                <a:cs typeface="Cambria"/>
              </a:rPr>
              <a:t>p</a:t>
            </a:r>
            <a:r>
              <a:rPr dirty="0" sz="1350" spc="55">
                <a:latin typeface="Cambria"/>
                <a:cs typeface="Cambria"/>
              </a:rPr>
              <a:t>s</a:t>
            </a:r>
            <a:r>
              <a:rPr dirty="0" sz="1350" spc="55" i="1">
                <a:latin typeface="Cambria"/>
                <a:cs typeface="Cambria"/>
              </a:rPr>
              <a:t>k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93559" y="6124435"/>
            <a:ext cx="122491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6550" marR="5080" indent="-323850">
              <a:lnSpc>
                <a:spcPct val="100000"/>
              </a:lnSpc>
              <a:spcBef>
                <a:spcPts val="105"/>
              </a:spcBef>
            </a:pPr>
            <a:r>
              <a:rPr dirty="0" sz="2000" spc="-30" b="1">
                <a:latin typeface="Tahoma"/>
                <a:cs typeface="Tahoma"/>
              </a:rPr>
              <a:t>cross-</a:t>
            </a:r>
            <a:r>
              <a:rPr dirty="0" sz="2000" spc="-95" b="1">
                <a:latin typeface="Tahoma"/>
                <a:cs typeface="Tahoma"/>
              </a:rPr>
              <a:t>talk </a:t>
            </a:r>
            <a:r>
              <a:rPr dirty="0" sz="2000" spc="-20" b="1">
                <a:latin typeface="Tahoma"/>
                <a:cs typeface="Tahoma"/>
              </a:rPr>
              <a:t>term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106599" y="6098146"/>
            <a:ext cx="4689475" cy="455930"/>
          </a:xfrm>
          <a:custGeom>
            <a:avLst/>
            <a:gdLst/>
            <a:ahLst/>
            <a:cxnLst/>
            <a:rect l="l" t="t" r="r" b="b"/>
            <a:pathLst>
              <a:path w="4689475" h="455929">
                <a:moveTo>
                  <a:pt x="1030300" y="82816"/>
                </a:moveTo>
                <a:lnTo>
                  <a:pt x="945718" y="72631"/>
                </a:lnTo>
                <a:lnTo>
                  <a:pt x="956945" y="104013"/>
                </a:lnTo>
                <a:lnTo>
                  <a:pt x="0" y="446633"/>
                </a:lnTo>
                <a:lnTo>
                  <a:pt x="3200" y="455599"/>
                </a:lnTo>
                <a:lnTo>
                  <a:pt x="960158" y="112979"/>
                </a:lnTo>
                <a:lnTo>
                  <a:pt x="971397" y="144373"/>
                </a:lnTo>
                <a:lnTo>
                  <a:pt x="1016152" y="97599"/>
                </a:lnTo>
                <a:lnTo>
                  <a:pt x="1030300" y="82816"/>
                </a:lnTo>
                <a:close/>
              </a:path>
              <a:path w="4689475" h="455929">
                <a:moveTo>
                  <a:pt x="4689005" y="370293"/>
                </a:moveTo>
                <a:lnTo>
                  <a:pt x="3277209" y="32423"/>
                </a:lnTo>
                <a:lnTo>
                  <a:pt x="3278263" y="27990"/>
                </a:lnTo>
                <a:lnTo>
                  <a:pt x="3284969" y="0"/>
                </a:lnTo>
                <a:lnTo>
                  <a:pt x="3202000" y="19316"/>
                </a:lnTo>
                <a:lnTo>
                  <a:pt x="3267240" y="74117"/>
                </a:lnTo>
                <a:lnTo>
                  <a:pt x="3274987" y="41694"/>
                </a:lnTo>
                <a:lnTo>
                  <a:pt x="4686795" y="379552"/>
                </a:lnTo>
                <a:lnTo>
                  <a:pt x="4689005" y="370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56944" y="6111735"/>
            <a:ext cx="1083310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6065" marR="5080" indent="-253365">
              <a:lnSpc>
                <a:spcPct val="100000"/>
              </a:lnSpc>
              <a:spcBef>
                <a:spcPts val="105"/>
              </a:spcBef>
            </a:pPr>
            <a:r>
              <a:rPr dirty="0" sz="2000" spc="-55" b="1">
                <a:latin typeface="Tahoma"/>
                <a:cs typeface="Tahoma"/>
              </a:rPr>
              <a:t>principal </a:t>
            </a:r>
            <a:r>
              <a:rPr dirty="0" sz="2000" spc="-20" b="1">
                <a:latin typeface="Tahoma"/>
                <a:cs typeface="Tahoma"/>
              </a:rPr>
              <a:t>term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229677" y="464248"/>
            <a:ext cx="297942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Simple</a:t>
            </a:r>
            <a:r>
              <a:rPr dirty="0" sz="4400" spc="-50"/>
              <a:t> </a:t>
            </a:r>
            <a:r>
              <a:rPr dirty="0" sz="4400" spc="-25"/>
              <a:t>AM</a:t>
            </a:r>
            <a:endParaRPr sz="4400"/>
          </a:p>
        </p:txBody>
      </p:sp>
      <p:sp>
        <p:nvSpPr>
          <p:cNvPr id="13" name="object 13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11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69366" y="2311282"/>
            <a:ext cx="8529320" cy="3682365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550"/>
              </a:spcBef>
              <a:buClr>
                <a:srgbClr val="3333CC"/>
              </a:buClr>
              <a:buSzPct val="60416"/>
              <a:buChar char="■"/>
              <a:tabLst>
                <a:tab pos="380365" algn="l"/>
              </a:tabLst>
            </a:pP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Principal</a:t>
            </a:r>
            <a:r>
              <a:rPr dirty="0" sz="2400" spc="-4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term</a:t>
            </a:r>
            <a:r>
              <a:rPr dirty="0" sz="2400" spc="-5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gives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association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between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500" spc="-95" b="1" i="1">
                <a:latin typeface="Verdana"/>
                <a:cs typeface="Verdana"/>
              </a:rPr>
              <a:t>s</a:t>
            </a:r>
            <a:r>
              <a:rPr dirty="0" sz="2400" spc="-95" b="1">
                <a:latin typeface="Tahoma"/>
                <a:cs typeface="Tahoma"/>
              </a:rPr>
              <a:t>(</a:t>
            </a:r>
            <a:r>
              <a:rPr dirty="0" sz="2500" spc="-95" b="1" i="1">
                <a:latin typeface="Verdana"/>
                <a:cs typeface="Verdana"/>
              </a:rPr>
              <a:t>k</a:t>
            </a:r>
            <a:r>
              <a:rPr dirty="0" sz="2400" spc="-95" b="1">
                <a:latin typeface="Tahoma"/>
                <a:cs typeface="Tahoma"/>
              </a:rPr>
              <a:t>)</a:t>
            </a:r>
            <a:r>
              <a:rPr dirty="0" sz="240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500" spc="-10" b="1" i="1">
                <a:latin typeface="Verdana"/>
                <a:cs typeface="Verdana"/>
              </a:rPr>
              <a:t>t</a:t>
            </a:r>
            <a:r>
              <a:rPr dirty="0" sz="2400" spc="-10" b="1">
                <a:latin typeface="Tahoma"/>
                <a:cs typeface="Tahoma"/>
              </a:rPr>
              <a:t>(</a:t>
            </a:r>
            <a:r>
              <a:rPr dirty="0" sz="2500" spc="-10" b="1" i="1">
                <a:latin typeface="Verdana"/>
                <a:cs typeface="Verdana"/>
              </a:rPr>
              <a:t>k</a:t>
            </a:r>
            <a:r>
              <a:rPr dirty="0" sz="2400" spc="-10" b="1">
                <a:latin typeface="Tahoma"/>
                <a:cs typeface="Tahoma"/>
              </a:rPr>
              <a:t>)</a:t>
            </a:r>
            <a:r>
              <a:rPr dirty="0" sz="2400" spc="-1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381000" marR="30480" indent="-342900">
              <a:lnSpc>
                <a:spcPts val="2880"/>
              </a:lnSpc>
              <a:spcBef>
                <a:spcPts val="650"/>
              </a:spcBef>
              <a:buClr>
                <a:srgbClr val="3333CC"/>
              </a:buClr>
              <a:buSzPct val="60416"/>
              <a:buChar char="■"/>
              <a:tabLst>
                <a:tab pos="381000" algn="l"/>
              </a:tabLst>
            </a:pP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Cross-</a:t>
            </a: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talk</a:t>
            </a:r>
            <a:r>
              <a:rPr dirty="0" sz="24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represents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correlation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between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500" spc="-100" b="1" i="1">
                <a:latin typeface="Verdana"/>
                <a:cs typeface="Verdana"/>
              </a:rPr>
              <a:t>s</a:t>
            </a:r>
            <a:r>
              <a:rPr dirty="0" sz="2400" spc="-100" b="1">
                <a:latin typeface="Tahoma"/>
                <a:cs typeface="Tahoma"/>
              </a:rPr>
              <a:t>(</a:t>
            </a:r>
            <a:r>
              <a:rPr dirty="0" sz="2500" spc="-100" b="1" i="1">
                <a:latin typeface="Verdana"/>
                <a:cs typeface="Verdana"/>
              </a:rPr>
              <a:t>k</a:t>
            </a:r>
            <a:r>
              <a:rPr dirty="0" sz="2400" spc="-100" b="1">
                <a:latin typeface="Tahoma"/>
                <a:cs typeface="Tahoma"/>
              </a:rPr>
              <a:t>):</a:t>
            </a:r>
            <a:r>
              <a:rPr dirty="0" sz="2500" spc="-100" b="1" i="1">
                <a:latin typeface="Verdana"/>
                <a:cs typeface="Verdana"/>
              </a:rPr>
              <a:t>t</a:t>
            </a:r>
            <a:r>
              <a:rPr dirty="0" sz="2400" spc="-100" b="1">
                <a:latin typeface="Tahoma"/>
                <a:cs typeface="Tahoma"/>
              </a:rPr>
              <a:t>(</a:t>
            </a:r>
            <a:r>
              <a:rPr dirty="0" sz="2500" spc="-100" b="1" i="1">
                <a:latin typeface="Verdana"/>
                <a:cs typeface="Verdana"/>
              </a:rPr>
              <a:t>k</a:t>
            </a:r>
            <a:r>
              <a:rPr dirty="0" sz="2400" spc="-100" b="1">
                <a:latin typeface="Tahoma"/>
                <a:cs typeface="Tahoma"/>
              </a:rPr>
              <a:t>)</a:t>
            </a:r>
            <a:r>
              <a:rPr dirty="0" sz="2400" spc="-25" b="1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and </a:t>
            </a:r>
            <a:r>
              <a:rPr dirty="0" sz="2400">
                <a:latin typeface="Tahoma"/>
                <a:cs typeface="Tahoma"/>
              </a:rPr>
              <a:t>other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pairs.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When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cross-</a:t>
            </a:r>
            <a:r>
              <a:rPr dirty="0" sz="2400">
                <a:latin typeface="Tahoma"/>
                <a:cs typeface="Tahoma"/>
              </a:rPr>
              <a:t>talk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large,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500" spc="-95" b="1" i="1">
                <a:latin typeface="Verdana"/>
                <a:cs typeface="Verdana"/>
              </a:rPr>
              <a:t>s</a:t>
            </a:r>
            <a:r>
              <a:rPr dirty="0" sz="2400" spc="-95" b="1">
                <a:latin typeface="Tahoma"/>
                <a:cs typeface="Tahoma"/>
              </a:rPr>
              <a:t>(</a:t>
            </a:r>
            <a:r>
              <a:rPr dirty="0" sz="2500" spc="-95" b="1" i="1">
                <a:latin typeface="Verdana"/>
                <a:cs typeface="Verdana"/>
              </a:rPr>
              <a:t>k</a:t>
            </a:r>
            <a:r>
              <a:rPr dirty="0" sz="2400" spc="-95" b="1">
                <a:latin typeface="Tahoma"/>
                <a:cs typeface="Tahoma"/>
              </a:rPr>
              <a:t>)</a:t>
            </a:r>
            <a:r>
              <a:rPr dirty="0" sz="2400" spc="2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will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recall </a:t>
            </a:r>
            <a:r>
              <a:rPr dirty="0" sz="2400">
                <a:latin typeface="Tahoma"/>
                <a:cs typeface="Tahoma"/>
              </a:rPr>
              <a:t>something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500" spc="-10" b="1" i="1">
                <a:latin typeface="Verdana"/>
                <a:cs typeface="Verdana"/>
              </a:rPr>
              <a:t>t</a:t>
            </a:r>
            <a:r>
              <a:rPr dirty="0" sz="2400" spc="-10" b="1">
                <a:latin typeface="Tahoma"/>
                <a:cs typeface="Tahoma"/>
              </a:rPr>
              <a:t>(</a:t>
            </a:r>
            <a:r>
              <a:rPr dirty="0" sz="2500" spc="-10" b="1" i="1">
                <a:latin typeface="Verdana"/>
                <a:cs typeface="Verdana"/>
              </a:rPr>
              <a:t>k</a:t>
            </a:r>
            <a:r>
              <a:rPr dirty="0" sz="2400" spc="-10" b="1">
                <a:latin typeface="Tahoma"/>
                <a:cs typeface="Tahoma"/>
              </a:rPr>
              <a:t>)</a:t>
            </a:r>
            <a:r>
              <a:rPr dirty="0" sz="2400" spc="-1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381000" marR="63500" indent="-342900">
              <a:lnSpc>
                <a:spcPts val="288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81000" algn="l"/>
                <a:tab pos="6629400" algn="l"/>
                <a:tab pos="8364855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500" spc="-105" b="1" i="1">
                <a:latin typeface="Verdana"/>
                <a:cs typeface="Verdana"/>
              </a:rPr>
              <a:t>s</a:t>
            </a:r>
            <a:r>
              <a:rPr dirty="0" sz="2400" spc="-105" b="1">
                <a:latin typeface="Tahoma"/>
                <a:cs typeface="Tahoma"/>
              </a:rPr>
              <a:t>(</a:t>
            </a:r>
            <a:r>
              <a:rPr dirty="0" sz="2500" spc="-105" b="1" i="1">
                <a:latin typeface="Verdana"/>
                <a:cs typeface="Verdana"/>
              </a:rPr>
              <a:t>p</a:t>
            </a:r>
            <a:r>
              <a:rPr dirty="0" sz="2400" spc="-105" b="1">
                <a:latin typeface="Tahoma"/>
                <a:cs typeface="Tahoma"/>
              </a:rPr>
              <a:t>)</a:t>
            </a:r>
            <a:r>
              <a:rPr dirty="0" sz="2400" spc="2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orthogonal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each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then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baseline="12345" sz="3375" i="1">
                <a:latin typeface="Cambria"/>
                <a:cs typeface="Cambria"/>
              </a:rPr>
              <a:t>s</a:t>
            </a:r>
            <a:r>
              <a:rPr dirty="0" baseline="12345" sz="3375">
                <a:latin typeface="Cambria"/>
                <a:cs typeface="Cambria"/>
              </a:rPr>
              <a:t>(</a:t>
            </a:r>
            <a:r>
              <a:rPr dirty="0" baseline="12345" sz="3375" i="1">
                <a:latin typeface="Cambria"/>
                <a:cs typeface="Cambria"/>
              </a:rPr>
              <a:t>k</a:t>
            </a:r>
            <a:r>
              <a:rPr dirty="0" baseline="12345" sz="3375">
                <a:latin typeface="Cambria"/>
                <a:cs typeface="Cambria"/>
              </a:rPr>
              <a:t>)</a:t>
            </a:r>
            <a:r>
              <a:rPr dirty="0" baseline="12345" sz="3375" i="1">
                <a:latin typeface="Cambria"/>
                <a:cs typeface="Cambria"/>
              </a:rPr>
              <a:t>s</a:t>
            </a:r>
            <a:r>
              <a:rPr dirty="0" baseline="64102" sz="1950" i="1">
                <a:latin typeface="Cambria"/>
                <a:cs typeface="Cambria"/>
              </a:rPr>
              <a:t>T</a:t>
            </a:r>
            <a:r>
              <a:rPr dirty="0" baseline="64102" sz="1950" spc="262" i="1">
                <a:latin typeface="Cambria"/>
                <a:cs typeface="Cambria"/>
              </a:rPr>
              <a:t> </a:t>
            </a:r>
            <a:r>
              <a:rPr dirty="0" baseline="12345" sz="3375" spc="-179">
                <a:latin typeface="Cambria"/>
                <a:cs typeface="Cambria"/>
              </a:rPr>
              <a:t>(</a:t>
            </a:r>
            <a:r>
              <a:rPr dirty="0" baseline="12345" sz="3375" spc="-209">
                <a:latin typeface="Cambria"/>
                <a:cs typeface="Cambria"/>
              </a:rPr>
              <a:t> </a:t>
            </a:r>
            <a:r>
              <a:rPr dirty="0" baseline="12345" sz="3375" spc="-44" i="1">
                <a:latin typeface="Cambria"/>
                <a:cs typeface="Cambria"/>
              </a:rPr>
              <a:t>p</a:t>
            </a:r>
            <a:r>
              <a:rPr dirty="0" baseline="12345" sz="3375" spc="-44">
                <a:latin typeface="Cambria"/>
                <a:cs typeface="Cambria"/>
              </a:rPr>
              <a:t>)</a:t>
            </a:r>
            <a:r>
              <a:rPr dirty="0" baseline="12345" sz="3375" spc="-30">
                <a:latin typeface="Cambria"/>
                <a:cs typeface="Cambria"/>
              </a:rPr>
              <a:t> </a:t>
            </a:r>
            <a:r>
              <a:rPr dirty="0" baseline="12345" sz="3375">
                <a:latin typeface="Cambria"/>
                <a:cs typeface="Cambria"/>
              </a:rPr>
              <a:t>=</a:t>
            </a:r>
            <a:r>
              <a:rPr dirty="0" baseline="12345" sz="3375" spc="97">
                <a:latin typeface="Cambria"/>
                <a:cs typeface="Cambria"/>
              </a:rPr>
              <a:t> </a:t>
            </a:r>
            <a:r>
              <a:rPr dirty="0" baseline="12345" sz="3375" spc="-75">
                <a:latin typeface="Cambria"/>
                <a:cs typeface="Cambria"/>
              </a:rPr>
              <a:t>0</a:t>
            </a:r>
            <a:r>
              <a:rPr dirty="0" baseline="12345" sz="3375">
                <a:latin typeface="Cambria"/>
                <a:cs typeface="Cambria"/>
              </a:rPr>
              <a:t>	</a:t>
            </a:r>
            <a:r>
              <a:rPr dirty="0" sz="2400" spc="-50">
                <a:latin typeface="Tahoma"/>
                <a:cs typeface="Tahoma"/>
              </a:rPr>
              <a:t>, </a:t>
            </a:r>
            <a:r>
              <a:rPr dirty="0" sz="2400">
                <a:latin typeface="Tahoma"/>
                <a:cs typeface="Tahoma"/>
              </a:rPr>
              <a:t>no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sample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500" spc="-100" b="1" i="1">
                <a:latin typeface="Verdana"/>
                <a:cs typeface="Verdana"/>
              </a:rPr>
              <a:t>s</a:t>
            </a:r>
            <a:r>
              <a:rPr dirty="0" sz="2400" spc="-100" b="1">
                <a:latin typeface="Tahoma"/>
                <a:cs typeface="Tahoma"/>
              </a:rPr>
              <a:t>(</a:t>
            </a:r>
            <a:r>
              <a:rPr dirty="0" sz="2500" spc="-100" b="1" i="1">
                <a:latin typeface="Verdana"/>
                <a:cs typeface="Verdana"/>
              </a:rPr>
              <a:t>k</a:t>
            </a:r>
            <a:r>
              <a:rPr dirty="0" sz="2400" spc="-100" b="1">
                <a:latin typeface="Tahoma"/>
                <a:cs typeface="Tahoma"/>
              </a:rPr>
              <a:t>):</a:t>
            </a:r>
            <a:r>
              <a:rPr dirty="0" sz="2500" spc="-100" b="1" i="1">
                <a:latin typeface="Verdana"/>
                <a:cs typeface="Verdana"/>
              </a:rPr>
              <a:t>t</a:t>
            </a:r>
            <a:r>
              <a:rPr dirty="0" sz="2400" spc="-100" b="1">
                <a:latin typeface="Tahoma"/>
                <a:cs typeface="Tahoma"/>
              </a:rPr>
              <a:t>(</a:t>
            </a:r>
            <a:r>
              <a:rPr dirty="0" sz="2500" spc="-100" b="1" i="1">
                <a:latin typeface="Verdana"/>
                <a:cs typeface="Verdana"/>
              </a:rPr>
              <a:t>k</a:t>
            </a:r>
            <a:r>
              <a:rPr dirty="0" sz="2400" spc="-100" b="1">
                <a:latin typeface="Tahoma"/>
                <a:cs typeface="Tahoma"/>
              </a:rPr>
              <a:t>)</a:t>
            </a:r>
            <a:r>
              <a:rPr dirty="0" sz="2400" spc="-10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contribute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0">
                <a:latin typeface="Tahoma"/>
                <a:cs typeface="Tahoma"/>
              </a:rPr>
              <a:t> result.</a:t>
            </a:r>
            <a:endParaRPr sz="2400">
              <a:latin typeface="Tahoma"/>
              <a:cs typeface="Tahoma"/>
            </a:endParaRPr>
          </a:p>
          <a:p>
            <a:pPr marL="381000" marR="398780" indent="-342900">
              <a:lnSpc>
                <a:spcPts val="288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81000" algn="l"/>
              </a:tabLst>
            </a:pPr>
            <a:r>
              <a:rPr dirty="0" sz="2400">
                <a:latin typeface="Tahoma"/>
                <a:cs typeface="Tahoma"/>
              </a:rPr>
              <a:t>However,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most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500" spc="-254" b="1" i="1">
                <a:latin typeface="Verdana"/>
                <a:cs typeface="Verdana"/>
              </a:rPr>
              <a:t>n</a:t>
            </a:r>
            <a:r>
              <a:rPr dirty="0" sz="2500" spc="-110" b="1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orthogonal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500" spc="-25" i="1">
                <a:latin typeface="Verdana"/>
                <a:cs typeface="Verdana"/>
              </a:rPr>
              <a:t>n</a:t>
            </a:r>
            <a:r>
              <a:rPr dirty="0" sz="2400" spc="-25">
                <a:latin typeface="Tahoma"/>
                <a:cs typeface="Tahoma"/>
              </a:rPr>
              <a:t>- </a:t>
            </a:r>
            <a:r>
              <a:rPr dirty="0" sz="2400">
                <a:latin typeface="Tahoma"/>
                <a:cs typeface="Tahoma"/>
              </a:rPr>
              <a:t>dimensional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space.</a:t>
            </a:r>
            <a:endParaRPr sz="24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380"/>
              </a:spcBef>
              <a:buClr>
                <a:srgbClr val="3333CC"/>
              </a:buClr>
              <a:buSzPct val="60416"/>
              <a:buChar char="■"/>
              <a:tabLst>
                <a:tab pos="380365" algn="l"/>
              </a:tabLst>
            </a:pPr>
            <a:r>
              <a:rPr dirty="0" sz="2400" spc="-10">
                <a:latin typeface="Tahoma"/>
                <a:cs typeface="Tahoma"/>
              </a:rPr>
              <a:t>Cross-</a:t>
            </a:r>
            <a:r>
              <a:rPr dirty="0" sz="2400">
                <a:latin typeface="Tahoma"/>
                <a:cs typeface="Tahoma"/>
              </a:rPr>
              <a:t>talk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increases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when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500" spc="-280" b="1" i="1">
                <a:latin typeface="Verdana"/>
                <a:cs typeface="Verdana"/>
              </a:rPr>
              <a:t>P</a:t>
            </a:r>
            <a:r>
              <a:rPr dirty="0" sz="2500" spc="-155" b="1" i="1">
                <a:latin typeface="Verdana"/>
                <a:cs typeface="Verdana"/>
              </a:rPr>
              <a:t> </a:t>
            </a:r>
            <a:r>
              <a:rPr dirty="0" sz="2400" spc="-10">
                <a:latin typeface="Tahoma"/>
                <a:cs typeface="Tahoma"/>
              </a:rPr>
              <a:t>increases.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Simple</a:t>
            </a:r>
            <a:r>
              <a:rPr dirty="0" sz="4400" spc="-50"/>
              <a:t> </a:t>
            </a:r>
            <a:r>
              <a:rPr dirty="0" sz="4400" spc="-25"/>
              <a:t>AM</a:t>
            </a:r>
            <a:endParaRPr sz="4400"/>
          </a:p>
        </p:txBody>
      </p:sp>
      <p:sp>
        <p:nvSpPr>
          <p:cNvPr id="4" name="object 4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12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5541" y="1296149"/>
            <a:ext cx="7772400" cy="5517515"/>
          </a:xfrm>
          <a:custGeom>
            <a:avLst/>
            <a:gdLst/>
            <a:ahLst/>
            <a:cxnLst/>
            <a:rect l="l" t="t" r="r" b="b"/>
            <a:pathLst>
              <a:path w="7772400" h="5517515">
                <a:moveTo>
                  <a:pt x="7772400" y="0"/>
                </a:moveTo>
                <a:lnTo>
                  <a:pt x="0" y="0"/>
                </a:lnTo>
                <a:lnTo>
                  <a:pt x="0" y="5517235"/>
                </a:lnTo>
                <a:lnTo>
                  <a:pt x="7772400" y="5517235"/>
                </a:lnTo>
                <a:lnTo>
                  <a:pt x="777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74281" y="1282828"/>
            <a:ext cx="7353934" cy="409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0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Binary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pairs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500" spc="-254" b="1" i="1">
                <a:latin typeface="Verdana"/>
                <a:cs typeface="Verdana"/>
              </a:rPr>
              <a:t>s</a:t>
            </a:r>
            <a:r>
              <a:rPr dirty="0" sz="2500" spc="-150" b="1" i="1">
                <a:latin typeface="Verdana"/>
                <a:cs typeface="Verdana"/>
              </a:rPr>
              <a:t> </a:t>
            </a:r>
            <a:r>
              <a:rPr dirty="0" sz="2400" spc="-60" b="1">
                <a:latin typeface="Tahoma"/>
                <a:cs typeface="Tahoma"/>
              </a:rPr>
              <a:t>:</a:t>
            </a:r>
            <a:r>
              <a:rPr dirty="0" sz="2500" spc="-60" b="1" i="1">
                <a:latin typeface="Verdana"/>
                <a:cs typeface="Verdana"/>
              </a:rPr>
              <a:t>t</a:t>
            </a:r>
            <a:r>
              <a:rPr dirty="0" sz="2500" spc="-155" b="1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0" b="1">
                <a:latin typeface="Tahoma"/>
                <a:cs typeface="Tahoma"/>
              </a:rPr>
              <a:t>|</a:t>
            </a:r>
            <a:r>
              <a:rPr dirty="0" sz="2500" spc="-20" b="1" i="1">
                <a:latin typeface="Verdana"/>
                <a:cs typeface="Verdana"/>
              </a:rPr>
              <a:t>s</a:t>
            </a:r>
            <a:r>
              <a:rPr dirty="0" sz="2400" spc="-20" b="1">
                <a:latin typeface="Tahoma"/>
                <a:cs typeface="Tahoma"/>
              </a:rPr>
              <a:t>|</a:t>
            </a:r>
            <a:r>
              <a:rPr dirty="0" sz="2400" spc="-5" b="1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4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|</a:t>
            </a:r>
            <a:r>
              <a:rPr dirty="0" sz="2500" b="1" i="1">
                <a:latin typeface="Verdana"/>
                <a:cs typeface="Verdana"/>
              </a:rPr>
              <a:t>t</a:t>
            </a:r>
            <a:r>
              <a:rPr dirty="0" sz="2400" b="1">
                <a:latin typeface="Tahoma"/>
                <a:cs typeface="Tahoma"/>
              </a:rPr>
              <a:t>|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2.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54583" y="1675981"/>
            <a:ext cx="1240790" cy="6381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ts val="3545"/>
              </a:lnSpc>
              <a:spcBef>
                <a:spcPts val="110"/>
              </a:spcBef>
            </a:pPr>
            <a:r>
              <a:rPr dirty="0" baseline="13550" sz="3075">
                <a:latin typeface="Cambria"/>
                <a:cs typeface="Cambria"/>
              </a:rPr>
              <a:t>=</a:t>
            </a:r>
            <a:r>
              <a:rPr dirty="0" baseline="13550" sz="3075" spc="390">
                <a:latin typeface="Cambria"/>
                <a:cs typeface="Cambria"/>
              </a:rPr>
              <a:t> </a:t>
            </a:r>
            <a:r>
              <a:rPr dirty="0" sz="3100" spc="509">
                <a:latin typeface="Cambria"/>
                <a:cs typeface="Cambria"/>
              </a:rPr>
              <a:t>Σ</a:t>
            </a:r>
            <a:r>
              <a:rPr dirty="0" sz="3100" spc="160">
                <a:latin typeface="Cambria"/>
                <a:cs typeface="Cambria"/>
              </a:rPr>
              <a:t> </a:t>
            </a:r>
            <a:r>
              <a:rPr dirty="0" baseline="13550" sz="3075" b="1" i="1">
                <a:latin typeface="Cambria"/>
                <a:cs typeface="Cambria"/>
              </a:rPr>
              <a:t>x</a:t>
            </a:r>
            <a:r>
              <a:rPr dirty="0" baseline="13550" sz="3075" spc="-322" b="1" i="1">
                <a:latin typeface="Cambria"/>
                <a:cs typeface="Cambria"/>
              </a:rPr>
              <a:t> </a:t>
            </a:r>
            <a:r>
              <a:rPr dirty="0" sz="1200" b="1" i="1">
                <a:latin typeface="Cambria"/>
                <a:cs typeface="Cambria"/>
              </a:rPr>
              <a:t>i</a:t>
            </a:r>
            <a:r>
              <a:rPr dirty="0" sz="1200" spc="35" b="1" i="1">
                <a:latin typeface="Cambria"/>
                <a:cs typeface="Cambria"/>
              </a:rPr>
              <a:t> </a:t>
            </a:r>
            <a:r>
              <a:rPr dirty="0" baseline="13550" sz="3075" spc="-322" b="1" i="1">
                <a:latin typeface="Cambria"/>
                <a:cs typeface="Cambria"/>
              </a:rPr>
              <a:t>w</a:t>
            </a:r>
            <a:r>
              <a:rPr dirty="0" baseline="13550" sz="3075" spc="-225" b="1" i="1">
                <a:latin typeface="Cambria"/>
                <a:cs typeface="Cambria"/>
              </a:rPr>
              <a:t> </a:t>
            </a:r>
            <a:r>
              <a:rPr dirty="0" sz="1200" spc="-25" b="1" i="1">
                <a:latin typeface="Cambria"/>
                <a:cs typeface="Cambria"/>
              </a:rPr>
              <a:t>ij</a:t>
            </a:r>
            <a:endParaRPr sz="1200">
              <a:latin typeface="Cambria"/>
              <a:cs typeface="Cambria"/>
            </a:endParaRPr>
          </a:p>
          <a:p>
            <a:pPr marL="405130">
              <a:lnSpc>
                <a:spcPts val="1265"/>
              </a:lnSpc>
            </a:pPr>
            <a:r>
              <a:rPr dirty="0" sz="1200" spc="-50" b="1" i="1">
                <a:latin typeface="Cambria"/>
                <a:cs typeface="Cambria"/>
              </a:rPr>
              <a:t>i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8881" y="1663814"/>
            <a:ext cx="6266180" cy="829310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384"/>
              </a:spcBef>
              <a:buClr>
                <a:srgbClr val="3333CC"/>
              </a:buClr>
              <a:buSzPct val="60416"/>
              <a:buChar char="■"/>
              <a:tabLst>
                <a:tab pos="380365" algn="l"/>
                <a:tab pos="5500370" algn="l"/>
              </a:tabLst>
            </a:pPr>
            <a:r>
              <a:rPr dirty="0" sz="2400">
                <a:latin typeface="Tahoma"/>
                <a:cs typeface="Tahoma"/>
              </a:rPr>
              <a:t>Total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units: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sz="2050" b="1" i="1">
                <a:latin typeface="Cambria"/>
                <a:cs typeface="Cambria"/>
              </a:rPr>
              <a:t>y</a:t>
            </a:r>
            <a:r>
              <a:rPr dirty="0" sz="2050" spc="75" b="1" i="1">
                <a:latin typeface="Cambria"/>
                <a:cs typeface="Cambria"/>
              </a:rPr>
              <a:t> </a:t>
            </a:r>
            <a:r>
              <a:rPr dirty="0" sz="2050" spc="265">
                <a:latin typeface="Cambria"/>
                <a:cs typeface="Cambria"/>
              </a:rPr>
              <a:t>_</a:t>
            </a:r>
            <a:r>
              <a:rPr dirty="0" sz="2050" spc="75">
                <a:latin typeface="Cambria"/>
                <a:cs typeface="Cambria"/>
              </a:rPr>
              <a:t> </a:t>
            </a:r>
            <a:r>
              <a:rPr dirty="0" sz="2050" b="1" i="1">
                <a:latin typeface="Cambria"/>
                <a:cs typeface="Cambria"/>
              </a:rPr>
              <a:t>in</a:t>
            </a:r>
            <a:r>
              <a:rPr dirty="0" sz="2050" spc="-20" b="1" i="1">
                <a:latin typeface="Cambria"/>
                <a:cs typeface="Cambria"/>
              </a:rPr>
              <a:t> </a:t>
            </a:r>
            <a:r>
              <a:rPr dirty="0" baseline="-23148" sz="1800" spc="-75" b="1" i="1">
                <a:latin typeface="Cambria"/>
                <a:cs typeface="Cambria"/>
              </a:rPr>
              <a:t>j</a:t>
            </a:r>
            <a:endParaRPr baseline="-23148" sz="1800">
              <a:latin typeface="Cambria"/>
              <a:cs typeface="Cambria"/>
            </a:endParaRPr>
          </a:p>
          <a:p>
            <a:pPr marL="380365" indent="-342265">
              <a:lnSpc>
                <a:spcPct val="100000"/>
              </a:lnSpc>
              <a:spcBef>
                <a:spcPts val="284"/>
              </a:spcBef>
              <a:buClr>
                <a:srgbClr val="3333CC"/>
              </a:buClr>
              <a:buSzPct val="60416"/>
              <a:buChar char="■"/>
              <a:tabLst>
                <a:tab pos="380365" algn="l"/>
              </a:tabLst>
            </a:pPr>
            <a:r>
              <a:rPr dirty="0" sz="2400">
                <a:latin typeface="Tahoma"/>
                <a:cs typeface="Tahoma"/>
              </a:rPr>
              <a:t>Activation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function: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threshold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70608" y="3058312"/>
            <a:ext cx="16573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150">
                <a:latin typeface="Cambria"/>
                <a:cs typeface="Cambria"/>
              </a:rPr>
              <a:t>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45208" y="2809125"/>
            <a:ext cx="35560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200" spc="-640">
                <a:latin typeface="Cambria"/>
                <a:cs typeface="Cambria"/>
              </a:rPr>
              <a:t></a:t>
            </a:r>
            <a:r>
              <a:rPr dirty="0" baseline="-27777" sz="3300" spc="-960">
                <a:latin typeface="Cambria"/>
                <a:cs typeface="Cambria"/>
              </a:rPr>
              <a:t>0</a:t>
            </a:r>
            <a:endParaRPr baseline="-27777" sz="33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00111" y="2949156"/>
            <a:ext cx="7175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 i="1">
                <a:latin typeface="Cambria"/>
                <a:cs typeface="Cambria"/>
              </a:rPr>
              <a:t>j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00744" y="2469736"/>
            <a:ext cx="1849120" cy="84518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680"/>
              </a:spcBef>
              <a:tabLst>
                <a:tab pos="604520" algn="l"/>
              </a:tabLst>
            </a:pPr>
            <a:r>
              <a:rPr dirty="0" sz="2200" spc="-25" b="1" i="1">
                <a:latin typeface="Cambria"/>
                <a:cs typeface="Cambria"/>
              </a:rPr>
              <a:t>if</a:t>
            </a:r>
            <a:r>
              <a:rPr dirty="0" sz="2200" b="1" i="1">
                <a:latin typeface="Cambria"/>
                <a:cs typeface="Cambria"/>
              </a:rPr>
              <a:t>	</a:t>
            </a:r>
            <a:r>
              <a:rPr dirty="0" sz="2200" spc="-130" b="1" i="1">
                <a:latin typeface="Cambria"/>
                <a:cs typeface="Cambria"/>
              </a:rPr>
              <a:t>y</a:t>
            </a:r>
            <a:r>
              <a:rPr dirty="0" sz="2200" spc="-25" b="1" i="1">
                <a:latin typeface="Cambria"/>
                <a:cs typeface="Cambria"/>
              </a:rPr>
              <a:t> </a:t>
            </a:r>
            <a:r>
              <a:rPr dirty="0" sz="2200" spc="300">
                <a:latin typeface="Cambria"/>
                <a:cs typeface="Cambria"/>
              </a:rPr>
              <a:t>_</a:t>
            </a:r>
            <a:r>
              <a:rPr dirty="0" sz="2200" spc="-50">
                <a:latin typeface="Cambria"/>
                <a:cs typeface="Cambria"/>
              </a:rPr>
              <a:t> </a:t>
            </a:r>
            <a:r>
              <a:rPr dirty="0" sz="2200" b="1" i="1">
                <a:latin typeface="Cambria"/>
                <a:cs typeface="Cambria"/>
              </a:rPr>
              <a:t>in</a:t>
            </a:r>
            <a:r>
              <a:rPr dirty="0" baseline="-23504" sz="1950" b="1" i="1">
                <a:latin typeface="Cambria"/>
                <a:cs typeface="Cambria"/>
              </a:rPr>
              <a:t>j</a:t>
            </a:r>
            <a:r>
              <a:rPr dirty="0" baseline="-23504" sz="1950" spc="202" b="1" i="1">
                <a:latin typeface="Cambria"/>
                <a:cs typeface="Cambria"/>
              </a:rPr>
              <a:t>  </a:t>
            </a:r>
            <a:r>
              <a:rPr dirty="0" sz="2200">
                <a:latin typeface="Cambria"/>
                <a:cs typeface="Cambria"/>
              </a:rPr>
              <a:t>&gt;</a:t>
            </a:r>
            <a:r>
              <a:rPr dirty="0" sz="2200" spc="35">
                <a:latin typeface="Cambria"/>
                <a:cs typeface="Cambria"/>
              </a:rPr>
              <a:t> </a:t>
            </a:r>
            <a:r>
              <a:rPr dirty="0" sz="2200" spc="-50">
                <a:latin typeface="Cambria"/>
                <a:cs typeface="Cambria"/>
              </a:rPr>
              <a:t>0</a:t>
            </a:r>
            <a:endParaRPr sz="2200">
              <a:latin typeface="Cambria"/>
              <a:cs typeface="Cambria"/>
            </a:endParaRPr>
          </a:p>
          <a:p>
            <a:pPr marL="111760">
              <a:lnSpc>
                <a:spcPct val="100000"/>
              </a:lnSpc>
              <a:spcBef>
                <a:spcPts val="585"/>
              </a:spcBef>
              <a:tabLst>
                <a:tab pos="653415" algn="l"/>
              </a:tabLst>
            </a:pPr>
            <a:r>
              <a:rPr dirty="0" sz="2200" spc="-25" b="1" i="1">
                <a:latin typeface="Cambria"/>
                <a:cs typeface="Cambria"/>
              </a:rPr>
              <a:t>if</a:t>
            </a:r>
            <a:r>
              <a:rPr dirty="0" sz="2200" b="1" i="1">
                <a:latin typeface="Cambria"/>
                <a:cs typeface="Cambria"/>
              </a:rPr>
              <a:t>	</a:t>
            </a:r>
            <a:r>
              <a:rPr dirty="0" sz="2200" spc="-130" b="1" i="1">
                <a:latin typeface="Cambria"/>
                <a:cs typeface="Cambria"/>
              </a:rPr>
              <a:t>y</a:t>
            </a:r>
            <a:r>
              <a:rPr dirty="0" sz="2200" spc="-25" b="1" i="1">
                <a:latin typeface="Cambria"/>
                <a:cs typeface="Cambria"/>
              </a:rPr>
              <a:t> </a:t>
            </a:r>
            <a:r>
              <a:rPr dirty="0" sz="2200" spc="300">
                <a:latin typeface="Cambria"/>
                <a:cs typeface="Cambria"/>
              </a:rPr>
              <a:t>_</a:t>
            </a:r>
            <a:r>
              <a:rPr dirty="0" sz="2200" spc="-45">
                <a:latin typeface="Cambria"/>
                <a:cs typeface="Cambria"/>
              </a:rPr>
              <a:t> </a:t>
            </a:r>
            <a:r>
              <a:rPr dirty="0" sz="2200" b="1" i="1">
                <a:latin typeface="Cambria"/>
                <a:cs typeface="Cambria"/>
              </a:rPr>
              <a:t>in</a:t>
            </a:r>
            <a:r>
              <a:rPr dirty="0" baseline="-23504" sz="1950" b="1" i="1">
                <a:latin typeface="Cambria"/>
                <a:cs typeface="Cambria"/>
              </a:rPr>
              <a:t>j</a:t>
            </a:r>
            <a:r>
              <a:rPr dirty="0" baseline="-23504" sz="1950" spc="172" b="1" i="1">
                <a:latin typeface="Cambria"/>
                <a:cs typeface="Cambria"/>
              </a:rPr>
              <a:t>  </a:t>
            </a:r>
            <a:r>
              <a:rPr dirty="0" sz="2200" spc="-990">
                <a:latin typeface="Cambria"/>
                <a:cs typeface="Cambria"/>
              </a:rPr>
              <a:t></a:t>
            </a:r>
            <a:r>
              <a:rPr dirty="0" sz="2200" spc="35">
                <a:latin typeface="Cambria"/>
                <a:cs typeface="Cambria"/>
              </a:rPr>
              <a:t> </a:t>
            </a:r>
            <a:r>
              <a:rPr dirty="0" sz="2200" spc="-50">
                <a:latin typeface="Cambria"/>
                <a:cs typeface="Cambria"/>
              </a:rPr>
              <a:t>0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12760" y="2760319"/>
            <a:ext cx="86106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48615" algn="l"/>
              </a:tabLst>
            </a:pPr>
            <a:r>
              <a:rPr dirty="0" sz="2200" spc="-50" b="1" i="1">
                <a:latin typeface="Cambria"/>
                <a:cs typeface="Cambria"/>
              </a:rPr>
              <a:t>y</a:t>
            </a:r>
            <a:r>
              <a:rPr dirty="0" sz="2200" b="1" i="1">
                <a:latin typeface="Cambria"/>
                <a:cs typeface="Cambria"/>
              </a:rPr>
              <a:t>	</a:t>
            </a:r>
            <a:r>
              <a:rPr dirty="0" sz="2200">
                <a:latin typeface="Cambria"/>
                <a:cs typeface="Cambria"/>
              </a:rPr>
              <a:t>=</a:t>
            </a:r>
            <a:r>
              <a:rPr dirty="0" sz="2200" spc="40">
                <a:latin typeface="Cambria"/>
                <a:cs typeface="Cambria"/>
              </a:rPr>
              <a:t> </a:t>
            </a:r>
            <a:r>
              <a:rPr dirty="0" baseline="40404" sz="3300" spc="-1117">
                <a:latin typeface="Cambria"/>
                <a:cs typeface="Cambria"/>
              </a:rPr>
              <a:t></a:t>
            </a:r>
            <a:r>
              <a:rPr dirty="0" baseline="44191" sz="3300" spc="-1117">
                <a:latin typeface="Cambria"/>
                <a:cs typeface="Cambria"/>
              </a:rPr>
              <a:t>1</a:t>
            </a:r>
            <a:endParaRPr baseline="44191" sz="33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552113" y="4314977"/>
            <a:ext cx="312420" cy="5086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465">
                <a:latin typeface="Cambria"/>
                <a:cs typeface="Cambria"/>
              </a:rPr>
              <a:t>Σ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4281" y="3380854"/>
            <a:ext cx="7348220" cy="106172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Weights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computed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(sum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products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all </a:t>
            </a: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pairs)</a:t>
            </a:r>
            <a:endParaRPr sz="2400">
              <a:latin typeface="Tahoma"/>
              <a:cs typeface="Tahoma"/>
            </a:endParaRPr>
          </a:p>
          <a:p>
            <a:pPr algn="ctr" marR="877569">
              <a:lnSpc>
                <a:spcPct val="100000"/>
              </a:lnSpc>
              <a:spcBef>
                <a:spcPts val="1205"/>
              </a:spcBef>
            </a:pPr>
            <a:r>
              <a:rPr dirty="0" sz="1200" spc="-50" b="1" i="1">
                <a:latin typeface="Cambria"/>
                <a:cs typeface="Cambria"/>
              </a:rPr>
              <a:t>P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47947" y="4360621"/>
            <a:ext cx="121285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 spc="-50" b="1" i="1">
                <a:latin typeface="Cambria"/>
                <a:cs typeface="Cambria"/>
              </a:rPr>
              <a:t>T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89082" y="4565700"/>
            <a:ext cx="751840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95325" algn="l"/>
              </a:tabLst>
            </a:pPr>
            <a:r>
              <a:rPr dirty="0" sz="1200" spc="-50" b="1" i="1">
                <a:latin typeface="Cambria"/>
                <a:cs typeface="Cambria"/>
              </a:rPr>
              <a:t>i</a:t>
            </a:r>
            <a:r>
              <a:rPr dirty="0" sz="1200" b="1" i="1">
                <a:latin typeface="Cambria"/>
                <a:cs typeface="Cambria"/>
              </a:rPr>
              <a:t>	</a:t>
            </a:r>
            <a:r>
              <a:rPr dirty="0" sz="1200" spc="-50" b="1" i="1">
                <a:latin typeface="Cambria"/>
                <a:cs typeface="Cambria"/>
              </a:rPr>
              <a:t>j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880358" y="4387431"/>
            <a:ext cx="13017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50" b="1" i="1">
                <a:latin typeface="Cambria"/>
                <a:cs typeface="Cambria"/>
              </a:rPr>
              <a:t>s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74281" y="4205843"/>
            <a:ext cx="3044825" cy="110109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540"/>
              </a:spcBef>
            </a:pPr>
            <a:r>
              <a:rPr dirty="0" sz="2100" b="1" i="1">
                <a:latin typeface="Cambria"/>
                <a:cs typeface="Cambria"/>
              </a:rPr>
              <a:t>W</a:t>
            </a:r>
            <a:r>
              <a:rPr dirty="0" sz="2100" spc="290" b="1" i="1">
                <a:latin typeface="Cambria"/>
                <a:cs typeface="Cambria"/>
              </a:rPr>
              <a:t> </a:t>
            </a:r>
            <a:r>
              <a:rPr dirty="0" sz="2100" spc="-50">
                <a:latin typeface="Cambria"/>
                <a:cs typeface="Cambria"/>
              </a:rPr>
              <a:t>=</a:t>
            </a:r>
            <a:endParaRPr sz="21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630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Training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samples: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590899" y="4753457"/>
            <a:ext cx="267970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 spc="-25" b="1" i="1">
                <a:latin typeface="Cambria"/>
                <a:cs typeface="Cambria"/>
              </a:rPr>
              <a:t>p</a:t>
            </a:r>
            <a:r>
              <a:rPr dirty="0" sz="1200" spc="-25">
                <a:latin typeface="Cambria"/>
                <a:cs typeface="Cambria"/>
              </a:rPr>
              <a:t>=1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91990" y="4387431"/>
            <a:ext cx="946150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10">
                <a:latin typeface="Cambria"/>
                <a:cs typeface="Cambria"/>
              </a:rPr>
              <a:t>(</a:t>
            </a:r>
            <a:r>
              <a:rPr dirty="0" sz="2100" spc="-120">
                <a:latin typeface="Cambria"/>
                <a:cs typeface="Cambria"/>
              </a:rPr>
              <a:t> </a:t>
            </a:r>
            <a:r>
              <a:rPr dirty="0" sz="2100" spc="-20" b="1" i="1">
                <a:latin typeface="Cambria"/>
                <a:cs typeface="Cambria"/>
              </a:rPr>
              <a:t>p</a:t>
            </a:r>
            <a:r>
              <a:rPr dirty="0" sz="2100" spc="-20">
                <a:latin typeface="Cambria"/>
                <a:cs typeface="Cambria"/>
              </a:rPr>
              <a:t>)</a:t>
            </a:r>
            <a:r>
              <a:rPr dirty="0" sz="2100" spc="-20" b="1" i="1">
                <a:latin typeface="Cambria"/>
                <a:cs typeface="Cambria"/>
              </a:rPr>
              <a:t>t</a:t>
            </a:r>
            <a:r>
              <a:rPr dirty="0" sz="2100" spc="190" b="1" i="1">
                <a:latin typeface="Cambria"/>
                <a:cs typeface="Cambria"/>
              </a:rPr>
              <a:t> </a:t>
            </a:r>
            <a:r>
              <a:rPr dirty="0" sz="2100" spc="-110">
                <a:latin typeface="Cambria"/>
                <a:cs typeface="Cambria"/>
              </a:rPr>
              <a:t>(</a:t>
            </a:r>
            <a:r>
              <a:rPr dirty="0" sz="2100" spc="-120">
                <a:latin typeface="Cambria"/>
                <a:cs typeface="Cambria"/>
              </a:rPr>
              <a:t> </a:t>
            </a:r>
            <a:r>
              <a:rPr dirty="0" sz="2100" spc="-70" b="1" i="1">
                <a:latin typeface="Cambria"/>
                <a:cs typeface="Cambria"/>
              </a:rPr>
              <a:t>p</a:t>
            </a:r>
            <a:r>
              <a:rPr dirty="0" sz="2100" spc="-70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573081" y="5181879"/>
            <a:ext cx="4743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latin typeface="Tahoma"/>
                <a:cs typeface="Tahoma"/>
              </a:rPr>
              <a:t>s(p)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847016" y="5181879"/>
            <a:ext cx="44577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latin typeface="Tahoma"/>
                <a:cs typeface="Tahoma"/>
              </a:rPr>
              <a:t>t(p)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2322131" y="5499890"/>
          <a:ext cx="4281170" cy="1249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2805"/>
                <a:gridCol w="2018030"/>
                <a:gridCol w="1334135"/>
              </a:tblGrid>
              <a:tr h="306070">
                <a:tc>
                  <a:txBody>
                    <a:bodyPr/>
                    <a:lstStyle/>
                    <a:p>
                      <a:pPr marL="31750">
                        <a:lnSpc>
                          <a:spcPts val="2305"/>
                        </a:lnSpc>
                        <a:spcBef>
                          <a:spcPts val="5"/>
                        </a:spcBef>
                      </a:pPr>
                      <a:r>
                        <a:rPr dirty="0" sz="2000" spc="-25">
                          <a:latin typeface="Tahoma"/>
                          <a:cs typeface="Tahoma"/>
                        </a:rPr>
                        <a:t>p=1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ts val="2305"/>
                        </a:lnSpc>
                        <a:spcBef>
                          <a:spcPts val="5"/>
                        </a:spcBef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(1</a:t>
                      </a:r>
                      <a:r>
                        <a:rPr dirty="0" sz="2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-25">
                          <a:latin typeface="Tahoma"/>
                          <a:cs typeface="Tahoma"/>
                        </a:rPr>
                        <a:t>0)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305"/>
                        </a:lnSpc>
                        <a:spcBef>
                          <a:spcPts val="5"/>
                        </a:spcBef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(1,</a:t>
                      </a:r>
                      <a:r>
                        <a:rPr dirty="0" sz="2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-25">
                          <a:latin typeface="Tahoma"/>
                          <a:cs typeface="Tahoma"/>
                        </a:rPr>
                        <a:t>0)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</a:pPr>
                      <a:r>
                        <a:rPr dirty="0" sz="2000" spc="-25">
                          <a:latin typeface="Tahoma"/>
                          <a:cs typeface="Tahoma"/>
                        </a:rPr>
                        <a:t>p=2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ts val="2300"/>
                        </a:lnSpc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(1</a:t>
                      </a:r>
                      <a:r>
                        <a:rPr dirty="0" sz="2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-25">
                          <a:latin typeface="Tahoma"/>
                          <a:cs typeface="Tahoma"/>
                        </a:rPr>
                        <a:t>0)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300"/>
                        </a:lnSpc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(1,</a:t>
                      </a:r>
                      <a:r>
                        <a:rPr dirty="0" sz="2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-25">
                          <a:latin typeface="Tahoma"/>
                          <a:cs typeface="Tahoma"/>
                        </a:rPr>
                        <a:t>0)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304165">
                <a:tc>
                  <a:txBody>
                    <a:bodyPr/>
                    <a:lstStyle/>
                    <a:p>
                      <a:pPr marL="31750">
                        <a:lnSpc>
                          <a:spcPts val="2300"/>
                        </a:lnSpc>
                      </a:pPr>
                      <a:r>
                        <a:rPr dirty="0" sz="2000" spc="-25">
                          <a:latin typeface="Tahoma"/>
                          <a:cs typeface="Tahoma"/>
                        </a:rPr>
                        <a:t>p=3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ts val="2300"/>
                        </a:lnSpc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(0</a:t>
                      </a:r>
                      <a:r>
                        <a:rPr dirty="0" sz="2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-25">
                          <a:latin typeface="Tahoma"/>
                          <a:cs typeface="Tahoma"/>
                        </a:rPr>
                        <a:t>1)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300"/>
                        </a:lnSpc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(0,</a:t>
                      </a:r>
                      <a:r>
                        <a:rPr dirty="0" sz="2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-25">
                          <a:latin typeface="Tahoma"/>
                          <a:cs typeface="Tahoma"/>
                        </a:rPr>
                        <a:t>1)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334010">
                <a:tc>
                  <a:txBody>
                    <a:bodyPr/>
                    <a:lstStyle/>
                    <a:p>
                      <a:pPr marL="31750">
                        <a:lnSpc>
                          <a:spcPts val="2395"/>
                        </a:lnSpc>
                      </a:pPr>
                      <a:r>
                        <a:rPr dirty="0" sz="2000" spc="-25">
                          <a:latin typeface="Tahoma"/>
                          <a:cs typeface="Tahoma"/>
                        </a:rPr>
                        <a:t>p=4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56870">
                        <a:lnSpc>
                          <a:spcPts val="2395"/>
                        </a:lnSpc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(0</a:t>
                      </a:r>
                      <a:r>
                        <a:rPr dirty="0" sz="2000" spc="-2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0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>
                          <a:latin typeface="Tahoma"/>
                          <a:cs typeface="Tahoma"/>
                        </a:rPr>
                        <a:t>1</a:t>
                      </a:r>
                      <a:r>
                        <a:rPr dirty="0" sz="2000" spc="-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-25">
                          <a:latin typeface="Tahoma"/>
                          <a:cs typeface="Tahoma"/>
                        </a:rPr>
                        <a:t>1)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395"/>
                        </a:lnSpc>
                      </a:pPr>
                      <a:r>
                        <a:rPr dirty="0" sz="2000">
                          <a:latin typeface="Tahoma"/>
                          <a:cs typeface="Tahoma"/>
                        </a:rPr>
                        <a:t>(0,</a:t>
                      </a:r>
                      <a:r>
                        <a:rPr dirty="0" sz="2000" spc="-1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2000" spc="-25">
                          <a:latin typeface="Tahoma"/>
                          <a:cs typeface="Tahoma"/>
                        </a:rPr>
                        <a:t>1)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229677" y="586168"/>
            <a:ext cx="69621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10"/>
              <a:t> </a:t>
            </a:r>
            <a:r>
              <a:rPr dirty="0"/>
              <a:t>1:</a:t>
            </a:r>
            <a:r>
              <a:rPr dirty="0" spc="-10"/>
              <a:t> </a:t>
            </a:r>
            <a:r>
              <a:rPr dirty="0" spc="-20"/>
              <a:t>hetero-</a:t>
            </a:r>
            <a:r>
              <a:rPr dirty="0" spc="-10"/>
              <a:t>associative</a:t>
            </a:r>
          </a:p>
        </p:txBody>
      </p:sp>
      <p:sp>
        <p:nvSpPr>
          <p:cNvPr id="23" name="object 23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863725" y="1844256"/>
            <a:ext cx="501650" cy="612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ts val="2285"/>
              </a:lnSpc>
              <a:spcBef>
                <a:spcPts val="135"/>
              </a:spcBef>
            </a:pPr>
            <a:r>
              <a:rPr dirty="0" sz="2150">
                <a:latin typeface="Cambria"/>
                <a:cs typeface="Cambria"/>
              </a:rPr>
              <a:t>(</a:t>
            </a:r>
            <a:r>
              <a:rPr dirty="0" baseline="3875" sz="3225">
                <a:latin typeface="Cambria"/>
                <a:cs typeface="Cambria"/>
              </a:rPr>
              <a:t>1</a:t>
            </a:r>
            <a:r>
              <a:rPr dirty="0" baseline="3875" sz="3225" spc="-7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</a:t>
            </a:r>
            <a:endParaRPr sz="2150">
              <a:latin typeface="Cambria"/>
              <a:cs typeface="Cambria"/>
            </a:endParaRPr>
          </a:p>
          <a:p>
            <a:pPr marL="38100">
              <a:lnSpc>
                <a:spcPts val="2285"/>
              </a:lnSpc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28423" sz="3225" spc="-142">
                <a:latin typeface="Cambria"/>
                <a:cs typeface="Cambria"/>
              </a:rPr>
              <a:t>0</a:t>
            </a:r>
            <a:r>
              <a:rPr dirty="0" baseline="-28423" sz="3225" spc="-315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305137" y="1822665"/>
            <a:ext cx="949325" cy="634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3500">
              <a:lnSpc>
                <a:spcPts val="2370"/>
              </a:lnSpc>
              <a:spcBef>
                <a:spcPts val="135"/>
              </a:spcBef>
              <a:tabLst>
                <a:tab pos="568960" algn="l"/>
              </a:tabLst>
            </a:pPr>
            <a:r>
              <a:rPr dirty="0" baseline="-3875" sz="3225" spc="-37">
                <a:latin typeface="Cambria"/>
                <a:cs typeface="Cambria"/>
              </a:rPr>
              <a:t>(</a:t>
            </a:r>
            <a:r>
              <a:rPr dirty="0" sz="2150" spc="-25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0</a:t>
            </a:r>
            <a:r>
              <a:rPr dirty="0" sz="2150" spc="75">
                <a:latin typeface="Cambria"/>
                <a:cs typeface="Cambria"/>
              </a:rPr>
              <a:t> </a:t>
            </a:r>
            <a:r>
              <a:rPr dirty="0" baseline="-3875" sz="3225" spc="-2062">
                <a:latin typeface="Cambria"/>
                <a:cs typeface="Cambria"/>
              </a:rPr>
              <a:t></a:t>
            </a:r>
            <a:endParaRPr baseline="-3875" sz="3225">
              <a:latin typeface="Cambria"/>
              <a:cs typeface="Cambria"/>
            </a:endParaRPr>
          </a:p>
          <a:p>
            <a:pPr marL="63500">
              <a:lnSpc>
                <a:spcPts val="2370"/>
              </a:lnSpc>
              <a:tabLst>
                <a:tab pos="618490" algn="l"/>
              </a:tabLst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28423" sz="3225" spc="-75">
                <a:latin typeface="Cambria"/>
                <a:cs typeface="Cambria"/>
              </a:rPr>
              <a:t>0</a:t>
            </a:r>
            <a:r>
              <a:rPr dirty="0" baseline="-28423" sz="3225">
                <a:latin typeface="Cambria"/>
                <a:cs typeface="Cambria"/>
              </a:rPr>
              <a:t>	</a:t>
            </a:r>
            <a:r>
              <a:rPr dirty="0" baseline="-28423" sz="3225" spc="-142">
                <a:latin typeface="Cambria"/>
                <a:cs typeface="Cambria"/>
              </a:rPr>
              <a:t>0</a:t>
            </a:r>
            <a:r>
              <a:rPr dirty="0" baseline="-28423" sz="3225" spc="-330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82012" y="2276233"/>
            <a:ext cx="443230" cy="462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150" spc="-1315">
                <a:latin typeface="Cambria"/>
                <a:cs typeface="Cambria"/>
              </a:rPr>
              <a:t></a:t>
            </a:r>
            <a:r>
              <a:rPr dirty="0" sz="2150" spc="-215">
                <a:latin typeface="Cambria"/>
                <a:cs typeface="Cambria"/>
              </a:rPr>
              <a:t> </a:t>
            </a:r>
            <a:r>
              <a:rPr dirty="0" baseline="-14619" sz="4275" spc="-187">
                <a:latin typeface="Cambria"/>
                <a:cs typeface="Cambria"/>
              </a:rPr>
              <a:t>(</a:t>
            </a:r>
            <a:r>
              <a:rPr dirty="0" baseline="-15503" sz="3225" spc="-187">
                <a:latin typeface="Cambria"/>
                <a:cs typeface="Cambria"/>
              </a:rPr>
              <a:t>1</a:t>
            </a:r>
            <a:endParaRPr baseline="-15503" sz="3225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513" y="2540266"/>
            <a:ext cx="193674" cy="19367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37604" y="2440089"/>
            <a:ext cx="170942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892810" algn="l"/>
              </a:tabLst>
            </a:pPr>
            <a:r>
              <a:rPr dirty="0" sz="2150" i="1">
                <a:latin typeface="Cambria"/>
                <a:cs typeface="Cambria"/>
              </a:rPr>
              <a:t>s</a:t>
            </a:r>
            <a:r>
              <a:rPr dirty="0" baseline="42222" sz="1875" i="1">
                <a:latin typeface="Cambria"/>
                <a:cs typeface="Cambria"/>
              </a:rPr>
              <a:t>T</a:t>
            </a:r>
            <a:r>
              <a:rPr dirty="0" baseline="42222" sz="1875" spc="390" i="1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(1)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125" i="1">
                <a:latin typeface="Cambria"/>
                <a:cs typeface="Cambria"/>
              </a:rPr>
              <a:t>t</a:t>
            </a:r>
            <a:r>
              <a:rPr dirty="0" sz="2150" spc="-125">
                <a:latin typeface="Cambria"/>
                <a:cs typeface="Cambria"/>
              </a:rPr>
              <a:t>(1)</a:t>
            </a:r>
            <a:r>
              <a:rPr dirty="0" sz="2150" spc="4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= </a:t>
            </a:r>
            <a:r>
              <a:rPr dirty="0" baseline="15503" sz="3225" spc="-2047">
                <a:latin typeface="Cambria"/>
                <a:cs typeface="Cambria"/>
              </a:rPr>
              <a:t></a:t>
            </a:r>
            <a:endParaRPr baseline="15503" sz="3225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96806" y="2353944"/>
            <a:ext cx="716915" cy="462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150" spc="-160">
                <a:latin typeface="Cambria"/>
                <a:cs typeface="Cambria"/>
              </a:rPr>
              <a:t>0</a:t>
            </a:r>
            <a:r>
              <a:rPr dirty="0" baseline="-2923" sz="4275" spc="-240">
                <a:latin typeface="Cambria"/>
                <a:cs typeface="Cambria"/>
              </a:rPr>
              <a:t>)</a:t>
            </a:r>
            <a:r>
              <a:rPr dirty="0" baseline="-2923" sz="4275" spc="-142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=</a:t>
            </a:r>
            <a:r>
              <a:rPr dirty="0" sz="2150" spc="35">
                <a:latin typeface="Cambria"/>
                <a:cs typeface="Cambria"/>
              </a:rPr>
              <a:t> </a:t>
            </a:r>
            <a:r>
              <a:rPr dirty="0" baseline="15503" sz="3225" spc="-2047">
                <a:latin typeface="Cambria"/>
                <a:cs typeface="Cambria"/>
              </a:rPr>
              <a:t></a:t>
            </a:r>
            <a:endParaRPr baseline="15503" sz="3225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63725" y="2627185"/>
            <a:ext cx="501650" cy="6242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ts val="2335"/>
              </a:lnSpc>
              <a:spcBef>
                <a:spcPts val="135"/>
              </a:spcBef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5167" sz="3225" spc="-142">
                <a:latin typeface="Cambria"/>
                <a:cs typeface="Cambria"/>
              </a:rPr>
              <a:t>0</a:t>
            </a:r>
            <a:r>
              <a:rPr dirty="0" baseline="-5167" sz="3225" spc="-315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  <a:p>
            <a:pPr marL="38100">
              <a:lnSpc>
                <a:spcPts val="2335"/>
              </a:lnSpc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34883" sz="3225" spc="-142">
                <a:latin typeface="Cambria"/>
                <a:cs typeface="Cambria"/>
              </a:rPr>
              <a:t>0</a:t>
            </a:r>
            <a:r>
              <a:rPr dirty="0" baseline="-34883" sz="3225" spc="-315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305137" y="2362377"/>
            <a:ext cx="949325" cy="8890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43180">
              <a:lnSpc>
                <a:spcPts val="2335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  <a:p>
            <a:pPr algn="r" marR="43180">
              <a:lnSpc>
                <a:spcPts val="2085"/>
              </a:lnSpc>
              <a:tabLst>
                <a:tab pos="554990" algn="l"/>
              </a:tabLst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5167" sz="3225" spc="-75">
                <a:latin typeface="Cambria"/>
                <a:cs typeface="Cambria"/>
              </a:rPr>
              <a:t>0</a:t>
            </a:r>
            <a:r>
              <a:rPr dirty="0" baseline="-5167" sz="3225">
                <a:latin typeface="Cambria"/>
                <a:cs typeface="Cambria"/>
              </a:rPr>
              <a:t>	</a:t>
            </a:r>
            <a:r>
              <a:rPr dirty="0" baseline="-5167" sz="3225" spc="-142">
                <a:latin typeface="Cambria"/>
                <a:cs typeface="Cambria"/>
              </a:rPr>
              <a:t>0</a:t>
            </a:r>
            <a:r>
              <a:rPr dirty="0" baseline="-5167" sz="3225" spc="-330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  <a:p>
            <a:pPr marL="63500">
              <a:lnSpc>
                <a:spcPts val="2335"/>
              </a:lnSpc>
              <a:tabLst>
                <a:tab pos="618490" algn="l"/>
              </a:tabLst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34883" sz="3225" spc="-75">
                <a:latin typeface="Cambria"/>
                <a:cs typeface="Cambria"/>
              </a:rPr>
              <a:t>0</a:t>
            </a:r>
            <a:r>
              <a:rPr dirty="0" baseline="-34883" sz="3225">
                <a:latin typeface="Cambria"/>
                <a:cs typeface="Cambria"/>
              </a:rPr>
              <a:t>	</a:t>
            </a:r>
            <a:r>
              <a:rPr dirty="0" baseline="-34883" sz="3225" spc="-142">
                <a:latin typeface="Cambria"/>
                <a:cs typeface="Cambria"/>
              </a:rPr>
              <a:t>0</a:t>
            </a:r>
            <a:r>
              <a:rPr dirty="0" baseline="-34883" sz="3225" spc="-330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084091" y="3130918"/>
            <a:ext cx="13208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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63725" y="3014476"/>
            <a:ext cx="501650" cy="111887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5"/>
              </a:spcBef>
              <a:tabLst>
                <a:tab pos="356235" algn="l"/>
              </a:tabLst>
            </a:pPr>
            <a:r>
              <a:rPr dirty="0" sz="2150" spc="-1365">
                <a:latin typeface="Cambria"/>
                <a:cs typeface="Cambria"/>
              </a:rPr>
              <a:t>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1365">
                <a:latin typeface="Cambria"/>
                <a:cs typeface="Cambria"/>
              </a:rPr>
              <a:t></a:t>
            </a:r>
            <a:endParaRPr sz="2150">
              <a:latin typeface="Cambria"/>
              <a:cs typeface="Cambria"/>
            </a:endParaRPr>
          </a:p>
          <a:p>
            <a:pPr marL="59055">
              <a:lnSpc>
                <a:spcPts val="2115"/>
              </a:lnSpc>
              <a:spcBef>
                <a:spcPts val="840"/>
              </a:spcBef>
            </a:pPr>
            <a:r>
              <a:rPr dirty="0" sz="2000">
                <a:latin typeface="Cambria"/>
                <a:cs typeface="Cambria"/>
              </a:rPr>
              <a:t>(</a:t>
            </a:r>
            <a:r>
              <a:rPr dirty="0" sz="2000" spc="-200">
                <a:latin typeface="Cambria"/>
                <a:cs typeface="Cambria"/>
              </a:rPr>
              <a:t> </a:t>
            </a:r>
            <a:r>
              <a:rPr dirty="0" baseline="4166" sz="3000" spc="-195">
                <a:latin typeface="Cambria"/>
                <a:cs typeface="Cambria"/>
              </a:rPr>
              <a:t>0</a:t>
            </a:r>
            <a:r>
              <a:rPr dirty="0" baseline="4166" sz="3000" spc="-359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</a:t>
            </a:r>
            <a:endParaRPr sz="2000">
              <a:latin typeface="Cambria"/>
              <a:cs typeface="Cambria"/>
            </a:endParaRPr>
          </a:p>
          <a:p>
            <a:pPr marL="59055">
              <a:lnSpc>
                <a:spcPts val="2115"/>
              </a:lnSpc>
            </a:pPr>
            <a:r>
              <a:rPr dirty="0" sz="2000" spc="-1240">
                <a:latin typeface="Cambria"/>
                <a:cs typeface="Cambria"/>
              </a:rPr>
              <a:t></a:t>
            </a:r>
            <a:r>
              <a:rPr dirty="0" sz="2000" spc="-200">
                <a:latin typeface="Cambria"/>
                <a:cs typeface="Cambria"/>
              </a:rPr>
              <a:t> </a:t>
            </a:r>
            <a:r>
              <a:rPr dirty="0" baseline="-27777" sz="3000" spc="-195">
                <a:latin typeface="Cambria"/>
                <a:cs typeface="Cambria"/>
              </a:rPr>
              <a:t>0</a:t>
            </a:r>
            <a:r>
              <a:rPr dirty="0" baseline="-27777" sz="3000" spc="-359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150285" y="3036220"/>
            <a:ext cx="852805" cy="109728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217804">
              <a:lnSpc>
                <a:spcPct val="100000"/>
              </a:lnSpc>
              <a:spcBef>
                <a:spcPts val="885"/>
              </a:spcBef>
            </a:pPr>
            <a:r>
              <a:rPr dirty="0" sz="2150" spc="-1365">
                <a:latin typeface="Cambria"/>
                <a:cs typeface="Cambria"/>
              </a:rPr>
              <a:t></a:t>
            </a:r>
            <a:endParaRPr sz="2150">
              <a:latin typeface="Cambria"/>
              <a:cs typeface="Cambria"/>
            </a:endParaRPr>
          </a:p>
          <a:p>
            <a:pPr marL="63500">
              <a:lnSpc>
                <a:spcPts val="2195"/>
              </a:lnSpc>
              <a:spcBef>
                <a:spcPts val="685"/>
              </a:spcBef>
              <a:tabLst>
                <a:tab pos="551815" algn="l"/>
              </a:tabLst>
            </a:pPr>
            <a:r>
              <a:rPr dirty="0" baseline="-4166" sz="3000">
                <a:latin typeface="Cambria"/>
                <a:cs typeface="Cambria"/>
              </a:rPr>
              <a:t>(</a:t>
            </a:r>
            <a:r>
              <a:rPr dirty="0" baseline="-4166" sz="3000" spc="-300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0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30">
                <a:latin typeface="Cambria"/>
                <a:cs typeface="Cambria"/>
              </a:rPr>
              <a:t>0</a:t>
            </a:r>
            <a:r>
              <a:rPr dirty="0" sz="2000" spc="-240">
                <a:latin typeface="Cambria"/>
                <a:cs typeface="Cambria"/>
              </a:rPr>
              <a:t> </a:t>
            </a:r>
            <a:r>
              <a:rPr dirty="0" baseline="-4166" sz="3000" spc="-1935">
                <a:latin typeface="Cambria"/>
                <a:cs typeface="Cambria"/>
              </a:rPr>
              <a:t></a:t>
            </a:r>
            <a:endParaRPr baseline="-4166" sz="3000">
              <a:latin typeface="Cambria"/>
              <a:cs typeface="Cambria"/>
            </a:endParaRPr>
          </a:p>
          <a:p>
            <a:pPr marL="63500">
              <a:lnSpc>
                <a:spcPts val="2195"/>
              </a:lnSpc>
              <a:tabLst>
                <a:tab pos="551815" algn="l"/>
              </a:tabLst>
            </a:pPr>
            <a:r>
              <a:rPr dirty="0" sz="2000" spc="-1240">
                <a:latin typeface="Cambria"/>
                <a:cs typeface="Cambria"/>
              </a:rPr>
              <a:t></a:t>
            </a:r>
            <a:r>
              <a:rPr dirty="0" sz="2000" spc="-200">
                <a:latin typeface="Cambria"/>
                <a:cs typeface="Cambria"/>
              </a:rPr>
              <a:t> </a:t>
            </a:r>
            <a:r>
              <a:rPr dirty="0" baseline="-27777" sz="3000" spc="-75">
                <a:latin typeface="Cambria"/>
                <a:cs typeface="Cambria"/>
              </a:rPr>
              <a:t>0</a:t>
            </a:r>
            <a:r>
              <a:rPr dirty="0" baseline="-27777" sz="3000">
                <a:latin typeface="Cambria"/>
                <a:cs typeface="Cambria"/>
              </a:rPr>
              <a:t>	</a:t>
            </a:r>
            <a:r>
              <a:rPr dirty="0" baseline="-27777" sz="3000" spc="-195">
                <a:latin typeface="Cambria"/>
                <a:cs typeface="Cambria"/>
              </a:rPr>
              <a:t>0</a:t>
            </a:r>
            <a:r>
              <a:rPr dirty="0" baseline="-27777" sz="3000" spc="-359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373" y="4213250"/>
            <a:ext cx="177799" cy="17462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476681" y="4039819"/>
            <a:ext cx="2113915" cy="4241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821690" algn="l"/>
                <a:tab pos="1726564" algn="l"/>
              </a:tabLst>
            </a:pPr>
            <a:r>
              <a:rPr dirty="0" sz="2000" i="1">
                <a:latin typeface="Cambria"/>
                <a:cs typeface="Cambria"/>
              </a:rPr>
              <a:t>s</a:t>
            </a:r>
            <a:r>
              <a:rPr dirty="0" baseline="43478" sz="1725" i="1">
                <a:latin typeface="Cambria"/>
                <a:cs typeface="Cambria"/>
              </a:rPr>
              <a:t>T</a:t>
            </a:r>
            <a:r>
              <a:rPr dirty="0" baseline="43478" sz="1725" spc="217" i="1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(3)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90" i="1">
                <a:latin typeface="Cambria"/>
                <a:cs typeface="Cambria"/>
              </a:rPr>
              <a:t>t</a:t>
            </a:r>
            <a:r>
              <a:rPr dirty="0" sz="2000" spc="-90">
                <a:latin typeface="Cambria"/>
                <a:cs typeface="Cambria"/>
              </a:rPr>
              <a:t>(3)</a:t>
            </a:r>
            <a:r>
              <a:rPr dirty="0" sz="2000" spc="-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=</a:t>
            </a:r>
            <a:r>
              <a:rPr dirty="0" sz="2000" spc="-60">
                <a:latin typeface="Cambria"/>
                <a:cs typeface="Cambria"/>
              </a:rPr>
              <a:t> </a:t>
            </a:r>
            <a:r>
              <a:rPr dirty="0" baseline="15277" sz="3000" spc="-1935">
                <a:latin typeface="Cambria"/>
                <a:cs typeface="Cambria"/>
              </a:rPr>
              <a:t></a:t>
            </a:r>
            <a:r>
              <a:rPr dirty="0" baseline="15277" sz="3000">
                <a:latin typeface="Cambria"/>
                <a:cs typeface="Cambria"/>
              </a:rPr>
              <a:t>	</a:t>
            </a:r>
            <a:r>
              <a:rPr dirty="0" baseline="15277" sz="3000" spc="-727">
                <a:latin typeface="Cambria"/>
                <a:cs typeface="Cambria"/>
              </a:rPr>
              <a:t></a:t>
            </a:r>
            <a:r>
              <a:rPr dirty="0" baseline="-3205" sz="3900" spc="-727">
                <a:latin typeface="Cambria"/>
                <a:cs typeface="Cambria"/>
              </a:rPr>
              <a:t>(</a:t>
            </a:r>
            <a:r>
              <a:rPr dirty="0" sz="2000" spc="-484">
                <a:latin typeface="Cambria"/>
                <a:cs typeface="Cambria"/>
              </a:rPr>
              <a:t>0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23794" y="4039819"/>
            <a:ext cx="625475" cy="4241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000" spc="-250">
                <a:latin typeface="Cambria"/>
                <a:cs typeface="Cambria"/>
              </a:rPr>
              <a:t>1</a:t>
            </a:r>
            <a:r>
              <a:rPr dirty="0" baseline="-3205" sz="3900" spc="-375">
                <a:latin typeface="Cambria"/>
                <a:cs typeface="Cambria"/>
              </a:rPr>
              <a:t>)</a:t>
            </a:r>
            <a:r>
              <a:rPr dirty="0" baseline="-3205" sz="3900" spc="-232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=</a:t>
            </a:r>
            <a:r>
              <a:rPr dirty="0" sz="2000" spc="-40">
                <a:latin typeface="Cambria"/>
                <a:cs typeface="Cambria"/>
              </a:rPr>
              <a:t> </a:t>
            </a:r>
            <a:r>
              <a:rPr dirty="0" baseline="15277" sz="3000" spc="-1935">
                <a:latin typeface="Cambria"/>
                <a:cs typeface="Cambria"/>
              </a:rPr>
              <a:t></a:t>
            </a:r>
            <a:endParaRPr baseline="15277" sz="30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10664" y="4290390"/>
            <a:ext cx="4032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240">
                <a:latin typeface="Cambria"/>
                <a:cs typeface="Cambria"/>
              </a:rPr>
              <a:t></a:t>
            </a:r>
            <a:r>
              <a:rPr dirty="0" sz="2000" spc="-200">
                <a:latin typeface="Cambria"/>
                <a:cs typeface="Cambria"/>
              </a:rPr>
              <a:t> </a:t>
            </a:r>
            <a:r>
              <a:rPr dirty="0" baseline="-5555" sz="3000" spc="-195">
                <a:latin typeface="Cambria"/>
                <a:cs typeface="Cambria"/>
              </a:rPr>
              <a:t>0</a:t>
            </a:r>
            <a:r>
              <a:rPr dirty="0" baseline="-5555" sz="3000" spc="-359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85264" y="4533798"/>
            <a:ext cx="4540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00" spc="-655">
                <a:latin typeface="Cambria"/>
                <a:cs typeface="Cambria"/>
              </a:rPr>
              <a:t></a:t>
            </a:r>
            <a:r>
              <a:rPr dirty="0" baseline="-34722" sz="3000" spc="-982">
                <a:latin typeface="Cambria"/>
                <a:cs typeface="Cambria"/>
              </a:rPr>
              <a:t>1</a:t>
            </a:r>
            <a:r>
              <a:rPr dirty="0" baseline="-34722" sz="3000" spc="-89">
                <a:latin typeface="Cambria"/>
                <a:cs typeface="Cambria"/>
              </a:rPr>
              <a:t> </a:t>
            </a:r>
            <a:r>
              <a:rPr dirty="0" sz="2000" spc="-130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150285" y="4046969"/>
            <a:ext cx="852805" cy="8166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43180">
              <a:lnSpc>
                <a:spcPts val="2160"/>
              </a:lnSpc>
              <a:spcBef>
                <a:spcPts val="95"/>
              </a:spcBef>
            </a:pPr>
            <a:r>
              <a:rPr dirty="0" sz="2000" spc="-129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  <a:p>
            <a:pPr algn="r" marR="43180">
              <a:lnSpc>
                <a:spcPts val="1914"/>
              </a:lnSpc>
              <a:tabLst>
                <a:tab pos="488315" algn="l"/>
              </a:tabLst>
            </a:pPr>
            <a:r>
              <a:rPr dirty="0" sz="2000" spc="-1240">
                <a:latin typeface="Cambria"/>
                <a:cs typeface="Cambria"/>
              </a:rPr>
              <a:t></a:t>
            </a:r>
            <a:r>
              <a:rPr dirty="0" sz="2000" spc="-200">
                <a:latin typeface="Cambria"/>
                <a:cs typeface="Cambria"/>
              </a:rPr>
              <a:t> </a:t>
            </a:r>
            <a:r>
              <a:rPr dirty="0" baseline="-5555" sz="3000" spc="-75">
                <a:latin typeface="Cambria"/>
                <a:cs typeface="Cambria"/>
              </a:rPr>
              <a:t>0</a:t>
            </a:r>
            <a:r>
              <a:rPr dirty="0" baseline="-5555" sz="3000">
                <a:latin typeface="Cambria"/>
                <a:cs typeface="Cambria"/>
              </a:rPr>
              <a:t>	</a:t>
            </a:r>
            <a:r>
              <a:rPr dirty="0" baseline="-5555" sz="3000" spc="-195">
                <a:latin typeface="Cambria"/>
                <a:cs typeface="Cambria"/>
              </a:rPr>
              <a:t>0</a:t>
            </a:r>
            <a:r>
              <a:rPr dirty="0" baseline="-5555" sz="3000" spc="-359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160"/>
              </a:lnSpc>
              <a:tabLst>
                <a:tab pos="528320" algn="l"/>
              </a:tabLst>
            </a:pPr>
            <a:r>
              <a:rPr dirty="0" sz="2000" spc="-1240">
                <a:latin typeface="Cambria"/>
                <a:cs typeface="Cambria"/>
              </a:rPr>
              <a:t></a:t>
            </a:r>
            <a:r>
              <a:rPr dirty="0" sz="2000" spc="-200">
                <a:latin typeface="Cambria"/>
                <a:cs typeface="Cambria"/>
              </a:rPr>
              <a:t> </a:t>
            </a:r>
            <a:r>
              <a:rPr dirty="0" baseline="-34722" sz="3000" spc="-75">
                <a:latin typeface="Cambria"/>
                <a:cs typeface="Cambria"/>
              </a:rPr>
              <a:t>0</a:t>
            </a:r>
            <a:r>
              <a:rPr dirty="0" baseline="-34722" sz="3000">
                <a:latin typeface="Cambria"/>
                <a:cs typeface="Cambria"/>
              </a:rPr>
              <a:t>	</a:t>
            </a:r>
            <a:r>
              <a:rPr dirty="0" baseline="-34722" sz="3000" spc="-195">
                <a:latin typeface="Cambria"/>
                <a:cs typeface="Cambria"/>
              </a:rPr>
              <a:t>1</a:t>
            </a:r>
            <a:r>
              <a:rPr dirty="0" baseline="-34722" sz="3000" spc="-82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910664" y="4753406"/>
            <a:ext cx="4032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2100" algn="l"/>
              </a:tabLst>
            </a:pPr>
            <a:r>
              <a:rPr dirty="0" sz="2000" spc="-1290">
                <a:latin typeface="Cambria"/>
                <a:cs typeface="Cambria"/>
              </a:rPr>
              <a:t>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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201085" y="4753406"/>
            <a:ext cx="7639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2780" algn="l"/>
              </a:tabLst>
            </a:pPr>
            <a:r>
              <a:rPr dirty="0" sz="2000" spc="-1290">
                <a:latin typeface="Cambria"/>
                <a:cs typeface="Cambria"/>
              </a:rPr>
              <a:t>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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995568" y="1806156"/>
            <a:ext cx="501650" cy="612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ts val="2285"/>
              </a:lnSpc>
              <a:spcBef>
                <a:spcPts val="135"/>
              </a:spcBef>
            </a:pPr>
            <a:r>
              <a:rPr dirty="0" sz="2150">
                <a:latin typeface="Cambria"/>
                <a:cs typeface="Cambria"/>
              </a:rPr>
              <a:t>(</a:t>
            </a:r>
            <a:r>
              <a:rPr dirty="0" baseline="3875" sz="3225">
                <a:latin typeface="Cambria"/>
                <a:cs typeface="Cambria"/>
              </a:rPr>
              <a:t>1 </a:t>
            </a:r>
            <a:r>
              <a:rPr dirty="0" sz="2150" spc="-1365">
                <a:latin typeface="Cambria"/>
                <a:cs typeface="Cambria"/>
              </a:rPr>
              <a:t></a:t>
            </a:r>
            <a:endParaRPr sz="2150">
              <a:latin typeface="Cambria"/>
              <a:cs typeface="Cambria"/>
            </a:endParaRPr>
          </a:p>
          <a:p>
            <a:pPr marL="38100">
              <a:lnSpc>
                <a:spcPts val="2285"/>
              </a:lnSpc>
            </a:pPr>
            <a:r>
              <a:rPr dirty="0" sz="2150" spc="-660">
                <a:latin typeface="Cambria"/>
                <a:cs typeface="Cambria"/>
              </a:rPr>
              <a:t></a:t>
            </a:r>
            <a:r>
              <a:rPr dirty="0" baseline="-28423" sz="3225" spc="-989">
                <a:latin typeface="Cambria"/>
                <a:cs typeface="Cambria"/>
              </a:rPr>
              <a:t>1</a:t>
            </a:r>
            <a:r>
              <a:rPr dirty="0" baseline="-28423" sz="3225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437615" y="1784565"/>
            <a:ext cx="949960" cy="634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63500">
              <a:lnSpc>
                <a:spcPts val="2370"/>
              </a:lnSpc>
              <a:spcBef>
                <a:spcPts val="135"/>
              </a:spcBef>
              <a:tabLst>
                <a:tab pos="569595" algn="l"/>
              </a:tabLst>
            </a:pPr>
            <a:r>
              <a:rPr dirty="0" baseline="-3875" sz="3225" spc="-37">
                <a:latin typeface="Cambria"/>
                <a:cs typeface="Cambria"/>
              </a:rPr>
              <a:t>(</a:t>
            </a:r>
            <a:r>
              <a:rPr dirty="0" sz="2150" spc="-25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0</a:t>
            </a:r>
            <a:r>
              <a:rPr dirty="0" sz="2150" spc="85">
                <a:latin typeface="Cambria"/>
                <a:cs typeface="Cambria"/>
              </a:rPr>
              <a:t> </a:t>
            </a:r>
            <a:r>
              <a:rPr dirty="0" baseline="-3875" sz="3225" spc="-2062">
                <a:latin typeface="Cambria"/>
                <a:cs typeface="Cambria"/>
              </a:rPr>
              <a:t></a:t>
            </a:r>
            <a:endParaRPr baseline="-3875" sz="3225">
              <a:latin typeface="Cambria"/>
              <a:cs typeface="Cambria"/>
            </a:endParaRPr>
          </a:p>
          <a:p>
            <a:pPr marL="63500">
              <a:lnSpc>
                <a:spcPts val="2370"/>
              </a:lnSpc>
              <a:tabLst>
                <a:tab pos="569595" algn="l"/>
              </a:tabLst>
            </a:pPr>
            <a:r>
              <a:rPr dirty="0" sz="2150" spc="-685">
                <a:latin typeface="Cambria"/>
                <a:cs typeface="Cambria"/>
              </a:rPr>
              <a:t></a:t>
            </a:r>
            <a:r>
              <a:rPr dirty="0" baseline="-28423" sz="3225" spc="-1027">
                <a:latin typeface="Cambria"/>
                <a:cs typeface="Cambria"/>
              </a:rPr>
              <a:t>1</a:t>
            </a:r>
            <a:r>
              <a:rPr dirty="0" baseline="-28423" sz="3225">
                <a:latin typeface="Cambria"/>
                <a:cs typeface="Cambria"/>
              </a:rPr>
              <a:t>	0</a:t>
            </a:r>
            <a:r>
              <a:rPr dirty="0" baseline="-28423" sz="3225" spc="127">
                <a:latin typeface="Cambria"/>
                <a:cs typeface="Cambria"/>
              </a:rPr>
              <a:t> </a:t>
            </a:r>
            <a:r>
              <a:rPr dirty="0" sz="2150" spc="-137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313995" y="2238133"/>
            <a:ext cx="443230" cy="462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150" spc="-1315">
                <a:latin typeface="Cambria"/>
                <a:cs typeface="Cambria"/>
              </a:rPr>
              <a:t></a:t>
            </a:r>
            <a:r>
              <a:rPr dirty="0" sz="2150" spc="-215">
                <a:latin typeface="Cambria"/>
                <a:cs typeface="Cambria"/>
              </a:rPr>
              <a:t> </a:t>
            </a:r>
            <a:r>
              <a:rPr dirty="0" baseline="-14619" sz="4275" spc="-187">
                <a:latin typeface="Cambria"/>
                <a:cs typeface="Cambria"/>
              </a:rPr>
              <a:t>(</a:t>
            </a:r>
            <a:r>
              <a:rPr dirty="0" baseline="-15503" sz="3225" spc="-187">
                <a:latin typeface="Cambria"/>
                <a:cs typeface="Cambria"/>
              </a:rPr>
              <a:t>1</a:t>
            </a:r>
            <a:endParaRPr baseline="-15503" sz="3225">
              <a:latin typeface="Cambria"/>
              <a:cs typeface="Cambr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360671" y="2401989"/>
            <a:ext cx="68199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150" i="1">
                <a:latin typeface="Cambria"/>
                <a:cs typeface="Cambria"/>
              </a:rPr>
              <a:t>s</a:t>
            </a:r>
            <a:r>
              <a:rPr dirty="0" baseline="42222" sz="1875" i="1">
                <a:latin typeface="Cambria"/>
                <a:cs typeface="Cambria"/>
              </a:rPr>
              <a:t>T</a:t>
            </a:r>
            <a:r>
              <a:rPr dirty="0" baseline="42222" sz="1875" spc="390" i="1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(2)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270119" y="2401989"/>
            <a:ext cx="90868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sz="2150" i="1">
                <a:latin typeface="Cambria"/>
                <a:cs typeface="Cambria"/>
              </a:rPr>
              <a:t>t</a:t>
            </a:r>
            <a:r>
              <a:rPr dirty="0" sz="2150">
                <a:latin typeface="Cambria"/>
                <a:cs typeface="Cambria"/>
              </a:rPr>
              <a:t>(2)</a:t>
            </a:r>
            <a:r>
              <a:rPr dirty="0" sz="2150" spc="1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=</a:t>
            </a:r>
            <a:r>
              <a:rPr dirty="0" sz="2150" spc="-35">
                <a:latin typeface="Cambria"/>
                <a:cs typeface="Cambria"/>
              </a:rPr>
              <a:t> </a:t>
            </a:r>
            <a:r>
              <a:rPr dirty="0" baseline="15503" sz="3225" spc="-2047">
                <a:latin typeface="Cambria"/>
                <a:cs typeface="Cambria"/>
              </a:rPr>
              <a:t></a:t>
            </a:r>
            <a:endParaRPr baseline="15503" sz="3225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929056" y="2315844"/>
            <a:ext cx="716915" cy="4629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150" spc="-160">
                <a:latin typeface="Cambria"/>
                <a:cs typeface="Cambria"/>
              </a:rPr>
              <a:t>0</a:t>
            </a:r>
            <a:r>
              <a:rPr dirty="0" baseline="-2923" sz="4275" spc="-240">
                <a:latin typeface="Cambria"/>
                <a:cs typeface="Cambria"/>
              </a:rPr>
              <a:t>)</a:t>
            </a:r>
            <a:r>
              <a:rPr dirty="0" baseline="-2923" sz="4275" spc="-142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=</a:t>
            </a:r>
            <a:r>
              <a:rPr dirty="0" sz="2150" spc="35">
                <a:latin typeface="Cambria"/>
                <a:cs typeface="Cambria"/>
              </a:rPr>
              <a:t> </a:t>
            </a:r>
            <a:r>
              <a:rPr dirty="0" baseline="15503" sz="3225" spc="-2047">
                <a:latin typeface="Cambria"/>
                <a:cs typeface="Cambria"/>
              </a:rPr>
              <a:t></a:t>
            </a:r>
            <a:endParaRPr baseline="15503" sz="3225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995568" y="2589085"/>
            <a:ext cx="501650" cy="6242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ts val="2335"/>
              </a:lnSpc>
              <a:spcBef>
                <a:spcPts val="135"/>
              </a:spcBef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5167" sz="3225" spc="-142">
                <a:latin typeface="Cambria"/>
                <a:cs typeface="Cambria"/>
              </a:rPr>
              <a:t>0</a:t>
            </a:r>
            <a:r>
              <a:rPr dirty="0" baseline="-5167" sz="3225" spc="-315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  <a:p>
            <a:pPr marL="38100">
              <a:lnSpc>
                <a:spcPts val="2335"/>
              </a:lnSpc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34883" sz="3225" spc="-142">
                <a:latin typeface="Cambria"/>
                <a:cs typeface="Cambria"/>
              </a:rPr>
              <a:t>0</a:t>
            </a:r>
            <a:r>
              <a:rPr dirty="0" baseline="-34883" sz="3225" spc="-315">
                <a:latin typeface="Cambria"/>
                <a:cs typeface="Cambria"/>
              </a:rPr>
              <a:t> </a:t>
            </a: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437615" y="2324277"/>
            <a:ext cx="949960" cy="8890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43180">
              <a:lnSpc>
                <a:spcPts val="2335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  <a:p>
            <a:pPr algn="r" marR="43180">
              <a:lnSpc>
                <a:spcPts val="2085"/>
              </a:lnSpc>
              <a:tabLst>
                <a:tab pos="555625" algn="l"/>
              </a:tabLst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5167" sz="3225" spc="-75">
                <a:latin typeface="Cambria"/>
                <a:cs typeface="Cambria"/>
              </a:rPr>
              <a:t>0</a:t>
            </a:r>
            <a:r>
              <a:rPr dirty="0" baseline="-5167" sz="3225">
                <a:latin typeface="Cambria"/>
                <a:cs typeface="Cambria"/>
              </a:rPr>
              <a:t>	</a:t>
            </a:r>
            <a:r>
              <a:rPr dirty="0" baseline="-5167" sz="3225" spc="-142">
                <a:latin typeface="Cambria"/>
                <a:cs typeface="Cambria"/>
              </a:rPr>
              <a:t>0</a:t>
            </a:r>
            <a:r>
              <a:rPr dirty="0" baseline="-5167" sz="3225" spc="-315">
                <a:latin typeface="Cambria"/>
                <a:cs typeface="Cambria"/>
              </a:rPr>
              <a:t> </a:t>
            </a:r>
            <a:r>
              <a:rPr dirty="0" sz="2150" spc="-137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  <a:p>
            <a:pPr marL="63500">
              <a:lnSpc>
                <a:spcPts val="2335"/>
              </a:lnSpc>
              <a:tabLst>
                <a:tab pos="619125" algn="l"/>
              </a:tabLst>
            </a:pPr>
            <a:r>
              <a:rPr dirty="0" sz="2150" spc="-1315">
                <a:latin typeface="Cambria"/>
                <a:cs typeface="Cambria"/>
              </a:rPr>
              <a:t></a:t>
            </a:r>
            <a:r>
              <a:rPr dirty="0" sz="2150" spc="-170">
                <a:latin typeface="Cambria"/>
                <a:cs typeface="Cambria"/>
              </a:rPr>
              <a:t> </a:t>
            </a:r>
            <a:r>
              <a:rPr dirty="0" baseline="-34883" sz="3225" spc="-75">
                <a:latin typeface="Cambria"/>
                <a:cs typeface="Cambria"/>
              </a:rPr>
              <a:t>0</a:t>
            </a:r>
            <a:r>
              <a:rPr dirty="0" baseline="-34883" sz="3225">
                <a:latin typeface="Cambria"/>
                <a:cs typeface="Cambria"/>
              </a:rPr>
              <a:t>	</a:t>
            </a:r>
            <a:r>
              <a:rPr dirty="0" baseline="-34883" sz="3225" spc="-142">
                <a:latin typeface="Cambria"/>
                <a:cs typeface="Cambria"/>
              </a:rPr>
              <a:t>0</a:t>
            </a:r>
            <a:r>
              <a:rPr dirty="0" baseline="-34883" sz="3225" spc="-315">
                <a:latin typeface="Cambria"/>
                <a:cs typeface="Cambria"/>
              </a:rPr>
              <a:t> </a:t>
            </a:r>
            <a:r>
              <a:rPr dirty="0" sz="2150" spc="-137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0899" y="2502166"/>
            <a:ext cx="193674" cy="193674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5995568" y="3049416"/>
            <a:ext cx="523240" cy="10464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80"/>
              </a:spcBef>
              <a:tabLst>
                <a:tab pos="356235" algn="l"/>
              </a:tabLst>
            </a:pPr>
            <a:r>
              <a:rPr dirty="0" sz="2150" spc="-1365">
                <a:latin typeface="Cambria"/>
                <a:cs typeface="Cambria"/>
              </a:rPr>
              <a:t>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1365">
                <a:latin typeface="Cambria"/>
                <a:cs typeface="Cambria"/>
              </a:rPr>
              <a:t></a:t>
            </a:r>
            <a:endParaRPr sz="2150">
              <a:latin typeface="Cambria"/>
              <a:cs typeface="Cambria"/>
            </a:endParaRPr>
          </a:p>
          <a:p>
            <a:pPr marL="63500">
              <a:lnSpc>
                <a:spcPts val="2345"/>
              </a:lnSpc>
              <a:spcBef>
                <a:spcPts val="380"/>
              </a:spcBef>
            </a:pPr>
            <a:r>
              <a:rPr dirty="0" sz="2200">
                <a:latin typeface="Cambria"/>
                <a:cs typeface="Cambria"/>
              </a:rPr>
              <a:t>(</a:t>
            </a:r>
            <a:r>
              <a:rPr dirty="0" sz="2200" spc="-204">
                <a:latin typeface="Cambria"/>
                <a:cs typeface="Cambria"/>
              </a:rPr>
              <a:t> </a:t>
            </a:r>
            <a:r>
              <a:rPr dirty="0" baseline="3787" sz="3300" spc="-172">
                <a:latin typeface="Cambria"/>
                <a:cs typeface="Cambria"/>
              </a:rPr>
              <a:t>0</a:t>
            </a:r>
            <a:r>
              <a:rPr dirty="0" baseline="3787" sz="3300" spc="-390">
                <a:latin typeface="Cambria"/>
                <a:cs typeface="Cambria"/>
              </a:rPr>
              <a:t> </a:t>
            </a:r>
            <a:r>
              <a:rPr dirty="0" sz="2200" spc="-1415">
                <a:latin typeface="Cambria"/>
                <a:cs typeface="Cambria"/>
              </a:rPr>
              <a:t></a:t>
            </a:r>
            <a:endParaRPr sz="2200">
              <a:latin typeface="Cambria"/>
              <a:cs typeface="Cambria"/>
            </a:endParaRPr>
          </a:p>
          <a:p>
            <a:pPr marL="63500">
              <a:lnSpc>
                <a:spcPts val="2345"/>
              </a:lnSpc>
            </a:pPr>
            <a:r>
              <a:rPr dirty="0" sz="2200" spc="-1365">
                <a:latin typeface="Cambria"/>
                <a:cs typeface="Cambria"/>
              </a:rPr>
              <a:t></a:t>
            </a:r>
            <a:r>
              <a:rPr dirty="0" sz="2200" spc="-215">
                <a:latin typeface="Cambria"/>
                <a:cs typeface="Cambria"/>
              </a:rPr>
              <a:t> </a:t>
            </a:r>
            <a:r>
              <a:rPr dirty="0" baseline="-29040" sz="3300" spc="-172">
                <a:latin typeface="Cambria"/>
                <a:cs typeface="Cambria"/>
              </a:rPr>
              <a:t>0</a:t>
            </a:r>
            <a:r>
              <a:rPr dirty="0" baseline="-29040" sz="3300" spc="-397">
                <a:latin typeface="Cambria"/>
                <a:cs typeface="Cambria"/>
              </a:rPr>
              <a:t> </a:t>
            </a:r>
            <a:r>
              <a:rPr dirty="0" sz="2200" spc="-1415">
                <a:latin typeface="Cambria"/>
                <a:cs typeface="Cambria"/>
              </a:rPr>
              <a:t>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435088" y="3071196"/>
            <a:ext cx="952500" cy="1024890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309"/>
              </a:spcBef>
              <a:tabLst>
                <a:tab pos="794385" algn="l"/>
              </a:tabLst>
            </a:pPr>
            <a:r>
              <a:rPr dirty="0" sz="2150" spc="-1365">
                <a:latin typeface="Cambria"/>
                <a:cs typeface="Cambria"/>
              </a:rPr>
              <a:t>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1365">
                <a:latin typeface="Cambria"/>
                <a:cs typeface="Cambria"/>
              </a:rPr>
              <a:t></a:t>
            </a:r>
            <a:endParaRPr sz="2150">
              <a:latin typeface="Cambria"/>
              <a:cs typeface="Cambria"/>
            </a:endParaRPr>
          </a:p>
          <a:p>
            <a:pPr marL="63500">
              <a:lnSpc>
                <a:spcPts val="2430"/>
              </a:lnSpc>
              <a:spcBef>
                <a:spcPts val="204"/>
              </a:spcBef>
              <a:tabLst>
                <a:tab pos="608330" algn="l"/>
              </a:tabLst>
            </a:pPr>
            <a:r>
              <a:rPr dirty="0" baseline="-3787" sz="3300">
                <a:latin typeface="Cambria"/>
                <a:cs typeface="Cambria"/>
              </a:rPr>
              <a:t>(</a:t>
            </a:r>
            <a:r>
              <a:rPr dirty="0" baseline="-3787" sz="3300" spc="-300">
                <a:latin typeface="Cambria"/>
                <a:cs typeface="Cambria"/>
              </a:rPr>
              <a:t> </a:t>
            </a:r>
            <a:r>
              <a:rPr dirty="0" sz="2200" spc="-60">
                <a:latin typeface="Cambria"/>
                <a:cs typeface="Cambria"/>
              </a:rPr>
              <a:t>0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114">
                <a:latin typeface="Cambria"/>
                <a:cs typeface="Cambria"/>
              </a:rPr>
              <a:t>0</a:t>
            </a:r>
            <a:r>
              <a:rPr dirty="0" sz="2200" spc="-265">
                <a:latin typeface="Cambria"/>
                <a:cs typeface="Cambria"/>
              </a:rPr>
              <a:t> </a:t>
            </a:r>
            <a:r>
              <a:rPr dirty="0" baseline="-3787" sz="3300" spc="-2137">
                <a:latin typeface="Cambria"/>
                <a:cs typeface="Cambria"/>
              </a:rPr>
              <a:t></a:t>
            </a:r>
            <a:endParaRPr baseline="-3787" sz="3300">
              <a:latin typeface="Cambria"/>
              <a:cs typeface="Cambria"/>
            </a:endParaRPr>
          </a:p>
          <a:p>
            <a:pPr marL="63500">
              <a:lnSpc>
                <a:spcPts val="2430"/>
              </a:lnSpc>
              <a:tabLst>
                <a:tab pos="608330" algn="l"/>
              </a:tabLst>
            </a:pPr>
            <a:r>
              <a:rPr dirty="0" sz="2200" spc="-1365">
                <a:latin typeface="Cambria"/>
                <a:cs typeface="Cambria"/>
              </a:rPr>
              <a:t></a:t>
            </a:r>
            <a:r>
              <a:rPr dirty="0" sz="2200" spc="-215">
                <a:latin typeface="Cambria"/>
                <a:cs typeface="Cambria"/>
              </a:rPr>
              <a:t> </a:t>
            </a:r>
            <a:r>
              <a:rPr dirty="0" baseline="-29040" sz="3300" spc="-75">
                <a:latin typeface="Cambria"/>
                <a:cs typeface="Cambria"/>
              </a:rPr>
              <a:t>0</a:t>
            </a:r>
            <a:r>
              <a:rPr dirty="0" baseline="-29040" sz="3300">
                <a:latin typeface="Cambria"/>
                <a:cs typeface="Cambria"/>
              </a:rPr>
              <a:t>	</a:t>
            </a:r>
            <a:r>
              <a:rPr dirty="0" baseline="-29040" sz="3300" spc="-172">
                <a:latin typeface="Cambria"/>
                <a:cs typeface="Cambria"/>
              </a:rPr>
              <a:t>0</a:t>
            </a:r>
            <a:r>
              <a:rPr dirty="0" baseline="-29040" sz="3300" spc="-397">
                <a:latin typeface="Cambria"/>
                <a:cs typeface="Cambria"/>
              </a:rPr>
              <a:t> </a:t>
            </a:r>
            <a:r>
              <a:rPr dirty="0" sz="2200" spc="-1425">
                <a:latin typeface="Cambria"/>
                <a:cs typeface="Cambria"/>
              </a:rPr>
              <a:t>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305539" y="3994721"/>
            <a:ext cx="149225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065530" algn="l"/>
              </a:tabLst>
            </a:pPr>
            <a:r>
              <a:rPr dirty="0" sz="2200" spc="-40" i="1">
                <a:latin typeface="Cambria"/>
                <a:cs typeface="Cambria"/>
              </a:rPr>
              <a:t>t</a:t>
            </a:r>
            <a:r>
              <a:rPr dirty="0" sz="2200" spc="-40">
                <a:latin typeface="Cambria"/>
                <a:cs typeface="Cambria"/>
              </a:rPr>
              <a:t>(4)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=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baseline="16414" sz="3300" spc="-2137">
                <a:latin typeface="Cambria"/>
                <a:cs typeface="Cambria"/>
              </a:rPr>
              <a:t></a:t>
            </a:r>
            <a:r>
              <a:rPr dirty="0" baseline="16414" sz="3300">
                <a:latin typeface="Cambria"/>
                <a:cs typeface="Cambria"/>
              </a:rPr>
              <a:t>	</a:t>
            </a:r>
            <a:r>
              <a:rPr dirty="0" baseline="16414" sz="3300" spc="-794">
                <a:latin typeface="Cambria"/>
                <a:cs typeface="Cambria"/>
              </a:rPr>
              <a:t></a:t>
            </a:r>
            <a:r>
              <a:rPr dirty="0" baseline="-2873" sz="4350" spc="-794">
                <a:latin typeface="Cambria"/>
                <a:cs typeface="Cambria"/>
              </a:rPr>
              <a:t>(</a:t>
            </a:r>
            <a:r>
              <a:rPr dirty="0" sz="2200" spc="-530">
                <a:latin typeface="Cambria"/>
                <a:cs typeface="Cambria"/>
              </a:rPr>
              <a:t>0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955446" y="3994721"/>
            <a:ext cx="690245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200" spc="-254">
                <a:latin typeface="Cambria"/>
                <a:cs typeface="Cambria"/>
              </a:rPr>
              <a:t>1</a:t>
            </a:r>
            <a:r>
              <a:rPr dirty="0" baseline="-2873" sz="4350" spc="-382">
                <a:latin typeface="Cambria"/>
                <a:cs typeface="Cambria"/>
              </a:rPr>
              <a:t>)</a:t>
            </a:r>
            <a:r>
              <a:rPr dirty="0" baseline="-2873" sz="4350" spc="-284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=</a:t>
            </a:r>
            <a:r>
              <a:rPr dirty="0" sz="2200" spc="-15">
                <a:latin typeface="Cambria"/>
                <a:cs typeface="Cambria"/>
              </a:rPr>
              <a:t> </a:t>
            </a:r>
            <a:r>
              <a:rPr dirty="0" baseline="16414" sz="3300" spc="-2122">
                <a:latin typeface="Cambria"/>
                <a:cs typeface="Cambria"/>
              </a:rPr>
              <a:t></a:t>
            </a:r>
            <a:endParaRPr baseline="16414" sz="3300">
              <a:latin typeface="Cambria"/>
              <a:cs typeface="Cambri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413516" y="4082376"/>
            <a:ext cx="67437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200" i="1">
                <a:latin typeface="Cambria"/>
                <a:cs typeface="Cambria"/>
              </a:rPr>
              <a:t>s</a:t>
            </a:r>
            <a:r>
              <a:rPr dirty="0" baseline="44444" sz="1875" i="1">
                <a:latin typeface="Cambria"/>
                <a:cs typeface="Cambria"/>
              </a:rPr>
              <a:t>T</a:t>
            </a:r>
            <a:r>
              <a:rPr dirty="0" baseline="44444" sz="1875" spc="322" i="1">
                <a:latin typeface="Cambria"/>
                <a:cs typeface="Cambria"/>
              </a:rPr>
              <a:t> </a:t>
            </a:r>
            <a:r>
              <a:rPr dirty="0" sz="2200" spc="-25">
                <a:latin typeface="Cambria"/>
                <a:cs typeface="Cambria"/>
              </a:rPr>
              <a:t>(4)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046571" y="4274489"/>
            <a:ext cx="4464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710">
                <a:latin typeface="Cambria"/>
                <a:cs typeface="Cambria"/>
              </a:rPr>
              <a:t></a:t>
            </a:r>
            <a:r>
              <a:rPr dirty="0" baseline="-5050" sz="3300" spc="-1064">
                <a:latin typeface="Cambria"/>
                <a:cs typeface="Cambria"/>
              </a:rPr>
              <a:t>1</a:t>
            </a:r>
            <a:r>
              <a:rPr dirty="0" baseline="-5050" sz="3300" spc="-82">
                <a:latin typeface="Cambria"/>
                <a:cs typeface="Cambria"/>
              </a:rPr>
              <a:t> </a:t>
            </a:r>
            <a:r>
              <a:rPr dirty="0" sz="2200" spc="-1415">
                <a:latin typeface="Cambria"/>
                <a:cs typeface="Cambria"/>
              </a:rPr>
              <a:t>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02872" y="4184256"/>
            <a:ext cx="196850" cy="196850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6046571" y="4546409"/>
            <a:ext cx="4464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4485" algn="l"/>
              </a:tabLst>
            </a:pPr>
            <a:r>
              <a:rPr dirty="0" sz="2200" spc="-1415">
                <a:latin typeface="Cambria"/>
                <a:cs typeface="Cambria"/>
              </a:rPr>
              <a:t>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1415">
                <a:latin typeface="Cambria"/>
                <a:cs typeface="Cambria"/>
              </a:rPr>
              <a:t>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485888" y="4546409"/>
            <a:ext cx="848994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27075" algn="l"/>
              </a:tabLst>
            </a:pPr>
            <a:r>
              <a:rPr dirty="0" sz="2200" spc="-1415">
                <a:latin typeface="Cambria"/>
                <a:cs typeface="Cambria"/>
              </a:rPr>
              <a:t>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1415">
                <a:latin typeface="Cambria"/>
                <a:cs typeface="Cambria"/>
              </a:rPr>
              <a:t>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021171" y="4791722"/>
            <a:ext cx="49720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200" spc="-710">
                <a:latin typeface="Cambria"/>
                <a:cs typeface="Cambria"/>
              </a:rPr>
              <a:t></a:t>
            </a:r>
            <a:r>
              <a:rPr dirty="0" baseline="12626" sz="3300" spc="-1064">
                <a:latin typeface="Cambria"/>
                <a:cs typeface="Cambria"/>
              </a:rPr>
              <a:t>1</a:t>
            </a:r>
            <a:r>
              <a:rPr dirty="0" baseline="12626" sz="3300" spc="-82">
                <a:latin typeface="Cambria"/>
                <a:cs typeface="Cambria"/>
              </a:rPr>
              <a:t> </a:t>
            </a:r>
            <a:r>
              <a:rPr dirty="0" sz="2200" spc="-1415">
                <a:latin typeface="Cambria"/>
                <a:cs typeface="Cambria"/>
              </a:rPr>
              <a:t>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447788" y="4002570"/>
            <a:ext cx="925194" cy="10877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43180">
              <a:lnSpc>
                <a:spcPts val="2390"/>
              </a:lnSpc>
              <a:spcBef>
                <a:spcPts val="125"/>
              </a:spcBef>
            </a:pPr>
            <a:r>
              <a:rPr dirty="0" sz="2200" spc="-1415">
                <a:latin typeface="Cambria"/>
                <a:cs typeface="Cambria"/>
              </a:rPr>
              <a:t></a:t>
            </a:r>
            <a:endParaRPr sz="2200">
              <a:latin typeface="Cambria"/>
              <a:cs typeface="Cambria"/>
            </a:endParaRPr>
          </a:p>
          <a:p>
            <a:pPr algn="r" marR="43180">
              <a:lnSpc>
                <a:spcPts val="2390"/>
              </a:lnSpc>
              <a:tabLst>
                <a:tab pos="518795" algn="l"/>
              </a:tabLst>
            </a:pPr>
            <a:r>
              <a:rPr dirty="0" sz="2200" spc="-1365">
                <a:latin typeface="Cambria"/>
                <a:cs typeface="Cambria"/>
              </a:rPr>
              <a:t></a:t>
            </a:r>
            <a:r>
              <a:rPr dirty="0" sz="2200" spc="-215">
                <a:latin typeface="Cambria"/>
                <a:cs typeface="Cambria"/>
              </a:rPr>
              <a:t> </a:t>
            </a:r>
            <a:r>
              <a:rPr dirty="0" baseline="-5050" sz="3300" spc="-75">
                <a:latin typeface="Cambria"/>
                <a:cs typeface="Cambria"/>
              </a:rPr>
              <a:t>0</a:t>
            </a:r>
            <a:r>
              <a:rPr dirty="0" baseline="-5050" sz="3300">
                <a:latin typeface="Cambria"/>
                <a:cs typeface="Cambria"/>
              </a:rPr>
              <a:t>	</a:t>
            </a:r>
            <a:r>
              <a:rPr dirty="0" baseline="-5050" sz="3300" spc="-172">
                <a:latin typeface="Cambria"/>
                <a:cs typeface="Cambria"/>
              </a:rPr>
              <a:t>1</a:t>
            </a:r>
            <a:r>
              <a:rPr dirty="0" baseline="-5050" sz="3300" spc="-82">
                <a:latin typeface="Cambria"/>
                <a:cs typeface="Cambria"/>
              </a:rPr>
              <a:t> </a:t>
            </a:r>
            <a:r>
              <a:rPr dirty="0" sz="2200" spc="-1415">
                <a:latin typeface="Cambria"/>
                <a:cs typeface="Cambria"/>
              </a:rPr>
              <a:t></a:t>
            </a:r>
            <a:endParaRPr sz="2200">
              <a:latin typeface="Cambria"/>
              <a:cs typeface="Cambria"/>
            </a:endParaRPr>
          </a:p>
          <a:p>
            <a:pPr algn="r" marR="43180">
              <a:lnSpc>
                <a:spcPct val="100000"/>
              </a:lnSpc>
              <a:spcBef>
                <a:spcPts val="910"/>
              </a:spcBef>
              <a:tabLst>
                <a:tab pos="518795" algn="l"/>
              </a:tabLst>
            </a:pPr>
            <a:r>
              <a:rPr dirty="0" baseline="-12626" sz="3300" spc="-2047">
                <a:latin typeface="Cambria"/>
                <a:cs typeface="Cambria"/>
              </a:rPr>
              <a:t></a:t>
            </a:r>
            <a:r>
              <a:rPr dirty="0" baseline="-12626" sz="3300" spc="-322">
                <a:latin typeface="Cambria"/>
                <a:cs typeface="Cambria"/>
              </a:rPr>
              <a:t> </a:t>
            </a:r>
            <a:r>
              <a:rPr dirty="0" sz="2200" spc="-50">
                <a:latin typeface="Cambria"/>
                <a:cs typeface="Cambria"/>
              </a:rPr>
              <a:t>0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114">
                <a:latin typeface="Cambria"/>
                <a:cs typeface="Cambria"/>
              </a:rPr>
              <a:t>1</a:t>
            </a:r>
            <a:r>
              <a:rPr dirty="0" sz="2200" spc="-55">
                <a:latin typeface="Cambria"/>
                <a:cs typeface="Cambria"/>
              </a:rPr>
              <a:t> </a:t>
            </a:r>
            <a:r>
              <a:rPr dirty="0" baseline="-12626" sz="3300" spc="-2122">
                <a:latin typeface="Cambria"/>
                <a:cs typeface="Cambria"/>
              </a:rPr>
              <a:t></a:t>
            </a:r>
            <a:endParaRPr baseline="-12626" sz="3300">
              <a:latin typeface="Cambria"/>
              <a:cs typeface="Cambria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6657847" y="6138354"/>
            <a:ext cx="868044" cy="590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ts val="2215"/>
              </a:lnSpc>
              <a:spcBef>
                <a:spcPts val="110"/>
              </a:spcBef>
              <a:tabLst>
                <a:tab pos="713105" algn="l"/>
              </a:tabLst>
            </a:pPr>
            <a:r>
              <a:rPr dirty="0" sz="2100" spc="-1355">
                <a:latin typeface="Cambria"/>
                <a:cs typeface="Cambria"/>
              </a:rPr>
              <a:t>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135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  <a:p>
            <a:pPr marL="50800">
              <a:lnSpc>
                <a:spcPts val="2215"/>
              </a:lnSpc>
              <a:tabLst>
                <a:tab pos="563245" algn="l"/>
              </a:tabLst>
            </a:pPr>
            <a:r>
              <a:rPr dirty="0" baseline="-13227" sz="3150" spc="-1957">
                <a:latin typeface="Cambria"/>
                <a:cs typeface="Cambria"/>
              </a:rPr>
              <a:t></a:t>
            </a:r>
            <a:r>
              <a:rPr dirty="0" baseline="-13227" sz="3150" spc="-390">
                <a:latin typeface="Cambria"/>
                <a:cs typeface="Cambria"/>
              </a:rPr>
              <a:t> </a:t>
            </a:r>
            <a:r>
              <a:rPr dirty="0" sz="2100" spc="-50">
                <a:latin typeface="Cambria"/>
                <a:cs typeface="Cambria"/>
              </a:rPr>
              <a:t>0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675">
                <a:latin typeface="Cambria"/>
                <a:cs typeface="Cambria"/>
              </a:rPr>
              <a:t>2</a:t>
            </a:r>
            <a:r>
              <a:rPr dirty="0" baseline="-13227" sz="3150" spc="-1012">
                <a:latin typeface="Cambria"/>
                <a:cs typeface="Cambria"/>
              </a:rPr>
              <a:t></a:t>
            </a:r>
            <a:endParaRPr baseline="-13227" sz="3150">
              <a:latin typeface="Cambria"/>
              <a:cs typeface="Cambria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657847" y="5882766"/>
            <a:ext cx="868044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34035" algn="l"/>
              </a:tabLst>
            </a:pPr>
            <a:r>
              <a:rPr dirty="0" sz="2100" spc="-1305">
                <a:latin typeface="Cambria"/>
                <a:cs typeface="Cambria"/>
              </a:rPr>
              <a:t></a:t>
            </a:r>
            <a:r>
              <a:rPr dirty="0" sz="2100" spc="-260">
                <a:latin typeface="Cambria"/>
                <a:cs typeface="Cambria"/>
              </a:rPr>
              <a:t> </a:t>
            </a:r>
            <a:r>
              <a:rPr dirty="0" baseline="-21164" sz="3150" spc="-75">
                <a:latin typeface="Cambria"/>
                <a:cs typeface="Cambria"/>
              </a:rPr>
              <a:t>0</a:t>
            </a:r>
            <a:r>
              <a:rPr dirty="0" baseline="-21164" sz="3150">
                <a:latin typeface="Cambria"/>
                <a:cs typeface="Cambria"/>
              </a:rPr>
              <a:t>	</a:t>
            </a:r>
            <a:r>
              <a:rPr dirty="0" baseline="-21164" sz="3150" spc="-179">
                <a:latin typeface="Cambria"/>
                <a:cs typeface="Cambria"/>
              </a:rPr>
              <a:t>1</a:t>
            </a:r>
            <a:r>
              <a:rPr dirty="0" baseline="-21164" sz="3150" spc="-165">
                <a:latin typeface="Cambria"/>
                <a:cs typeface="Cambria"/>
              </a:rPr>
              <a:t> </a:t>
            </a:r>
            <a:r>
              <a:rPr dirty="0" sz="2100" spc="-135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670547" y="5371591"/>
            <a:ext cx="855344" cy="5575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43180">
              <a:lnSpc>
                <a:spcPts val="2085"/>
              </a:lnSpc>
              <a:spcBef>
                <a:spcPts val="110"/>
              </a:spcBef>
              <a:tabLst>
                <a:tab pos="662305" algn="l"/>
              </a:tabLst>
            </a:pPr>
            <a:r>
              <a:rPr dirty="0" sz="2100" spc="-1355">
                <a:latin typeface="Cambria"/>
                <a:cs typeface="Cambria"/>
              </a:rPr>
              <a:t>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135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  <a:p>
            <a:pPr algn="r" marR="43180">
              <a:lnSpc>
                <a:spcPts val="2085"/>
              </a:lnSpc>
            </a:pPr>
            <a:r>
              <a:rPr dirty="0" sz="2100">
                <a:latin typeface="Cambria"/>
                <a:cs typeface="Cambria"/>
              </a:rPr>
              <a:t>0</a:t>
            </a:r>
            <a:r>
              <a:rPr dirty="0" sz="2100" spc="-65">
                <a:latin typeface="Cambria"/>
                <a:cs typeface="Cambria"/>
              </a:rPr>
              <a:t> </a:t>
            </a:r>
            <a:r>
              <a:rPr dirty="0" baseline="-9259" sz="3150" spc="-2032">
                <a:latin typeface="Cambria"/>
                <a:cs typeface="Cambria"/>
              </a:rPr>
              <a:t></a:t>
            </a:r>
            <a:endParaRPr baseline="-9259" sz="3150">
              <a:latin typeface="Cambria"/>
              <a:cs typeface="Cambria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695947" y="5181295"/>
            <a:ext cx="79184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5145" algn="l"/>
              </a:tabLst>
            </a:pPr>
            <a:r>
              <a:rPr dirty="0" baseline="-3968" sz="3150">
                <a:latin typeface="Cambria"/>
                <a:cs typeface="Cambria"/>
              </a:rPr>
              <a:t>(</a:t>
            </a:r>
            <a:r>
              <a:rPr dirty="0" baseline="-3968" sz="3150" spc="-330">
                <a:latin typeface="Cambria"/>
                <a:cs typeface="Cambria"/>
              </a:rPr>
              <a:t> </a:t>
            </a:r>
            <a:r>
              <a:rPr dirty="0" sz="2100" spc="-50">
                <a:latin typeface="Cambria"/>
                <a:cs typeface="Cambria"/>
              </a:rPr>
              <a:t>2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675">
                <a:latin typeface="Cambria"/>
                <a:cs typeface="Cambria"/>
              </a:rPr>
              <a:t>0</a:t>
            </a:r>
            <a:r>
              <a:rPr dirty="0" baseline="-3968" sz="3150" spc="-1012">
                <a:latin typeface="Cambria"/>
                <a:cs typeface="Cambria"/>
              </a:rPr>
              <a:t></a:t>
            </a:r>
            <a:endParaRPr baseline="-3968" sz="3150">
              <a:latin typeface="Cambria"/>
              <a:cs typeface="Cambria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132728" y="5777204"/>
            <a:ext cx="8528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100" i="1">
                <a:latin typeface="Cambria"/>
                <a:cs typeface="Cambria"/>
              </a:rPr>
              <a:t>W</a:t>
            </a:r>
            <a:r>
              <a:rPr dirty="0" sz="2100" spc="270" i="1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=</a:t>
            </a:r>
            <a:r>
              <a:rPr dirty="0" sz="2100" spc="-35">
                <a:latin typeface="Cambria"/>
                <a:cs typeface="Cambria"/>
              </a:rPr>
              <a:t> </a:t>
            </a:r>
            <a:r>
              <a:rPr dirty="0" baseline="31746" sz="3150" spc="-1095">
                <a:latin typeface="Cambria"/>
                <a:cs typeface="Cambria"/>
              </a:rPr>
              <a:t></a:t>
            </a:r>
            <a:r>
              <a:rPr dirty="0" baseline="41005" sz="3150" spc="-1095">
                <a:latin typeface="Cambria"/>
                <a:cs typeface="Cambria"/>
              </a:rPr>
              <a:t>1</a:t>
            </a:r>
            <a:endParaRPr baseline="41005" sz="3150">
              <a:latin typeface="Cambria"/>
              <a:cs typeface="Cambria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57860" y="5826277"/>
            <a:ext cx="354901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043555" algn="l"/>
              </a:tabLst>
            </a:pPr>
            <a:r>
              <a:rPr dirty="0" baseline="3086" sz="2700" b="1">
                <a:latin typeface="Tahoma"/>
                <a:cs typeface="Tahoma"/>
              </a:rPr>
              <a:t>Computing</a:t>
            </a:r>
            <a:r>
              <a:rPr dirty="0" baseline="3086" sz="2700" spc="-75" b="1">
                <a:latin typeface="Tahoma"/>
                <a:cs typeface="Tahoma"/>
              </a:rPr>
              <a:t> </a:t>
            </a:r>
            <a:r>
              <a:rPr dirty="0" baseline="3086" sz="2700" b="1">
                <a:latin typeface="Tahoma"/>
                <a:cs typeface="Tahoma"/>
              </a:rPr>
              <a:t>the</a:t>
            </a:r>
            <a:r>
              <a:rPr dirty="0" baseline="3086" sz="2700" spc="-67" b="1">
                <a:latin typeface="Tahoma"/>
                <a:cs typeface="Tahoma"/>
              </a:rPr>
              <a:t> </a:t>
            </a:r>
            <a:r>
              <a:rPr dirty="0" baseline="3086" sz="2700" spc="-15" b="1">
                <a:latin typeface="Tahoma"/>
                <a:cs typeface="Tahoma"/>
              </a:rPr>
              <a:t>weights</a:t>
            </a:r>
            <a:r>
              <a:rPr dirty="0" baseline="3086" sz="2700" b="1">
                <a:latin typeface="Tahoma"/>
                <a:cs typeface="Tahoma"/>
              </a:rPr>
              <a:t>	</a:t>
            </a:r>
            <a:r>
              <a:rPr dirty="0" sz="2100" b="1" i="1">
                <a:latin typeface="Cambria"/>
                <a:cs typeface="Cambria"/>
              </a:rPr>
              <a:t>W</a:t>
            </a:r>
            <a:r>
              <a:rPr dirty="0" sz="2100" spc="290" b="1" i="1">
                <a:latin typeface="Cambria"/>
                <a:cs typeface="Cambria"/>
              </a:rPr>
              <a:t> </a:t>
            </a:r>
            <a:r>
              <a:rPr dirty="0" sz="2100" spc="-50">
                <a:latin typeface="Cambria"/>
                <a:cs typeface="Cambria"/>
              </a:rPr>
              <a:t>=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132656" y="5668060"/>
            <a:ext cx="121285" cy="2133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00" spc="-50" b="1" i="1">
                <a:latin typeface="Cambria"/>
                <a:cs typeface="Cambria"/>
              </a:rPr>
              <a:t>P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039857" y="5753786"/>
            <a:ext cx="312420" cy="6515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3625"/>
              </a:lnSpc>
              <a:spcBef>
                <a:spcPts val="114"/>
              </a:spcBef>
            </a:pPr>
            <a:r>
              <a:rPr dirty="0" sz="3150" spc="465">
                <a:latin typeface="Cambria"/>
                <a:cs typeface="Cambria"/>
              </a:rPr>
              <a:t>Σ</a:t>
            </a:r>
            <a:endParaRPr sz="3150">
              <a:latin typeface="Cambria"/>
              <a:cs typeface="Cambria"/>
            </a:endParaRPr>
          </a:p>
          <a:p>
            <a:pPr marL="51435">
              <a:lnSpc>
                <a:spcPts val="1285"/>
              </a:lnSpc>
            </a:pPr>
            <a:r>
              <a:rPr dirty="0" sz="1200" spc="-25" b="1" i="1">
                <a:latin typeface="Cambria"/>
                <a:cs typeface="Cambria"/>
              </a:rPr>
              <a:t>p</a:t>
            </a:r>
            <a:r>
              <a:rPr dirty="0" sz="1200" spc="-25">
                <a:latin typeface="Cambria"/>
                <a:cs typeface="Cambria"/>
              </a:rPr>
              <a:t>=1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330014" y="5826277"/>
            <a:ext cx="1334135" cy="3917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ts val="1970"/>
              </a:lnSpc>
              <a:spcBef>
                <a:spcPts val="110"/>
              </a:spcBef>
            </a:pPr>
            <a:r>
              <a:rPr dirty="0" sz="2100" b="1" i="1">
                <a:latin typeface="Cambria"/>
                <a:cs typeface="Cambria"/>
              </a:rPr>
              <a:t>s</a:t>
            </a:r>
            <a:r>
              <a:rPr dirty="0" sz="2100" spc="-120" b="1" i="1">
                <a:latin typeface="Cambria"/>
                <a:cs typeface="Cambria"/>
              </a:rPr>
              <a:t> </a:t>
            </a:r>
            <a:r>
              <a:rPr dirty="0" baseline="50925" sz="1800" b="1" i="1">
                <a:latin typeface="Cambria"/>
                <a:cs typeface="Cambria"/>
              </a:rPr>
              <a:t>T</a:t>
            </a:r>
            <a:r>
              <a:rPr dirty="0" baseline="50925" sz="1800" spc="44" b="1" i="1">
                <a:latin typeface="Cambria"/>
                <a:cs typeface="Cambria"/>
              </a:rPr>
              <a:t> </a:t>
            </a:r>
            <a:r>
              <a:rPr dirty="0" sz="2100" spc="-110">
                <a:latin typeface="Cambria"/>
                <a:cs typeface="Cambria"/>
              </a:rPr>
              <a:t>(</a:t>
            </a:r>
            <a:r>
              <a:rPr dirty="0" sz="2100" spc="-120">
                <a:latin typeface="Cambria"/>
                <a:cs typeface="Cambria"/>
              </a:rPr>
              <a:t> </a:t>
            </a:r>
            <a:r>
              <a:rPr dirty="0" sz="2100" spc="-20" b="1" i="1">
                <a:latin typeface="Cambria"/>
                <a:cs typeface="Cambria"/>
              </a:rPr>
              <a:t>p</a:t>
            </a:r>
            <a:r>
              <a:rPr dirty="0" sz="2100" spc="-20">
                <a:latin typeface="Cambria"/>
                <a:cs typeface="Cambria"/>
              </a:rPr>
              <a:t>)</a:t>
            </a:r>
            <a:r>
              <a:rPr dirty="0" sz="2100" spc="-20" b="1" i="1">
                <a:latin typeface="Cambria"/>
                <a:cs typeface="Cambria"/>
              </a:rPr>
              <a:t>t</a:t>
            </a:r>
            <a:r>
              <a:rPr dirty="0" sz="2100" spc="340" b="1" i="1">
                <a:latin typeface="Cambria"/>
                <a:cs typeface="Cambria"/>
              </a:rPr>
              <a:t> </a:t>
            </a:r>
            <a:r>
              <a:rPr dirty="0" sz="2100" spc="-110">
                <a:latin typeface="Cambria"/>
                <a:cs typeface="Cambria"/>
              </a:rPr>
              <a:t>(</a:t>
            </a:r>
            <a:r>
              <a:rPr dirty="0" sz="2100" spc="-120">
                <a:latin typeface="Cambria"/>
                <a:cs typeface="Cambria"/>
              </a:rPr>
              <a:t> </a:t>
            </a:r>
            <a:r>
              <a:rPr dirty="0" sz="2100" spc="-25" b="1" i="1">
                <a:latin typeface="Cambria"/>
                <a:cs typeface="Cambria"/>
              </a:rPr>
              <a:t>p</a:t>
            </a:r>
            <a:r>
              <a:rPr dirty="0" sz="2100" spc="-25">
                <a:latin typeface="Cambria"/>
                <a:cs typeface="Cambria"/>
              </a:rPr>
              <a:t>)</a:t>
            </a:r>
            <a:endParaRPr sz="2100">
              <a:latin typeface="Cambria"/>
              <a:cs typeface="Cambria"/>
            </a:endParaRPr>
          </a:p>
          <a:p>
            <a:pPr marL="159385">
              <a:lnSpc>
                <a:spcPts val="890"/>
              </a:lnSpc>
              <a:tabLst>
                <a:tab pos="842010" algn="l"/>
              </a:tabLst>
            </a:pPr>
            <a:r>
              <a:rPr dirty="0" sz="1200" spc="-50" b="1" i="1">
                <a:latin typeface="Cambria"/>
                <a:cs typeface="Cambria"/>
              </a:rPr>
              <a:t>i</a:t>
            </a:r>
            <a:r>
              <a:rPr dirty="0" sz="1200" b="1" i="1">
                <a:latin typeface="Cambria"/>
                <a:cs typeface="Cambria"/>
              </a:rPr>
              <a:t>	</a:t>
            </a:r>
            <a:r>
              <a:rPr dirty="0" sz="1200" spc="-50" b="1" i="1">
                <a:latin typeface="Cambria"/>
                <a:cs typeface="Cambria"/>
              </a:rPr>
              <a:t>j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19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10"/>
              <a:t> </a:t>
            </a:r>
            <a:r>
              <a:rPr dirty="0"/>
              <a:t>1:</a:t>
            </a:r>
            <a:r>
              <a:rPr dirty="0" spc="-10"/>
              <a:t> </a:t>
            </a:r>
            <a:r>
              <a:rPr dirty="0" spc="-20"/>
              <a:t>hetero-</a:t>
            </a:r>
            <a:r>
              <a:rPr dirty="0" spc="-10"/>
              <a:t>associative</a:t>
            </a:r>
          </a:p>
        </p:txBody>
      </p:sp>
      <p:sp>
        <p:nvSpPr>
          <p:cNvPr id="51" name="object 51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14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8512" y="2063140"/>
            <a:ext cx="163385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ahoma"/>
                <a:cs typeface="Tahoma"/>
              </a:rPr>
              <a:t>x=(1</a:t>
            </a:r>
            <a:r>
              <a:rPr dirty="0" sz="2200" spc="-25" b="1">
                <a:latin typeface="Tahoma"/>
                <a:cs typeface="Tahoma"/>
              </a:rPr>
              <a:t> </a:t>
            </a:r>
            <a:r>
              <a:rPr dirty="0" sz="2200" b="1">
                <a:latin typeface="Tahoma"/>
                <a:cs typeface="Tahoma"/>
              </a:rPr>
              <a:t>0</a:t>
            </a:r>
            <a:r>
              <a:rPr dirty="0" sz="2200" spc="-25" b="1">
                <a:latin typeface="Tahoma"/>
                <a:cs typeface="Tahoma"/>
              </a:rPr>
              <a:t> </a:t>
            </a:r>
            <a:r>
              <a:rPr dirty="0" sz="2200" b="1">
                <a:latin typeface="Tahoma"/>
                <a:cs typeface="Tahoma"/>
              </a:rPr>
              <a:t>0</a:t>
            </a:r>
            <a:r>
              <a:rPr dirty="0" sz="2200" spc="-20" b="1">
                <a:latin typeface="Tahoma"/>
                <a:cs typeface="Tahoma"/>
              </a:rPr>
              <a:t> </a:t>
            </a:r>
            <a:r>
              <a:rPr dirty="0" sz="2200" spc="-25" b="1">
                <a:latin typeface="Tahoma"/>
                <a:cs typeface="Tahoma"/>
              </a:rPr>
              <a:t>0)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91713" y="2063140"/>
            <a:ext cx="461073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ahoma"/>
                <a:cs typeface="Tahoma"/>
              </a:rPr>
              <a:t>x=(0</a:t>
            </a:r>
            <a:r>
              <a:rPr dirty="0" sz="2200" spc="-25" b="1">
                <a:latin typeface="Tahoma"/>
                <a:cs typeface="Tahoma"/>
              </a:rPr>
              <a:t> </a:t>
            </a:r>
            <a:r>
              <a:rPr dirty="0" sz="2200" b="1">
                <a:latin typeface="Tahoma"/>
                <a:cs typeface="Tahoma"/>
              </a:rPr>
              <a:t>1</a:t>
            </a:r>
            <a:r>
              <a:rPr dirty="0" sz="2200" spc="-20" b="1">
                <a:latin typeface="Tahoma"/>
                <a:cs typeface="Tahoma"/>
              </a:rPr>
              <a:t> </a:t>
            </a:r>
            <a:r>
              <a:rPr dirty="0" sz="2200" b="1">
                <a:latin typeface="Tahoma"/>
                <a:cs typeface="Tahoma"/>
              </a:rPr>
              <a:t>0</a:t>
            </a:r>
            <a:r>
              <a:rPr dirty="0" sz="2200" spc="-20" b="1">
                <a:latin typeface="Tahoma"/>
                <a:cs typeface="Tahoma"/>
              </a:rPr>
              <a:t> </a:t>
            </a:r>
            <a:r>
              <a:rPr dirty="0" sz="2200" b="1">
                <a:latin typeface="Tahoma"/>
                <a:cs typeface="Tahoma"/>
              </a:rPr>
              <a:t>0)</a:t>
            </a:r>
            <a:r>
              <a:rPr dirty="0" sz="2200" spc="-25" b="1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similar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to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S(1)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and</a:t>
            </a:r>
            <a:r>
              <a:rPr dirty="0" sz="2200" spc="-20">
                <a:latin typeface="Tahoma"/>
                <a:cs typeface="Tahoma"/>
              </a:rPr>
              <a:t> S(2)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70762" y="4497730"/>
            <a:ext cx="163385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ahoma"/>
                <a:cs typeface="Tahoma"/>
              </a:rPr>
              <a:t>x=(0</a:t>
            </a:r>
            <a:r>
              <a:rPr dirty="0" sz="2200" spc="-25" b="1">
                <a:latin typeface="Tahoma"/>
                <a:cs typeface="Tahoma"/>
              </a:rPr>
              <a:t> </a:t>
            </a:r>
            <a:r>
              <a:rPr dirty="0" sz="2200" b="1">
                <a:latin typeface="Tahoma"/>
                <a:cs typeface="Tahoma"/>
              </a:rPr>
              <a:t>1</a:t>
            </a:r>
            <a:r>
              <a:rPr dirty="0" sz="2200" spc="-25" b="1">
                <a:latin typeface="Tahoma"/>
                <a:cs typeface="Tahoma"/>
              </a:rPr>
              <a:t> </a:t>
            </a:r>
            <a:r>
              <a:rPr dirty="0" sz="2200" b="1">
                <a:latin typeface="Tahoma"/>
                <a:cs typeface="Tahoma"/>
              </a:rPr>
              <a:t>1</a:t>
            </a:r>
            <a:r>
              <a:rPr dirty="0" sz="2200" spc="-20" b="1">
                <a:latin typeface="Tahoma"/>
                <a:cs typeface="Tahoma"/>
              </a:rPr>
              <a:t> </a:t>
            </a:r>
            <a:r>
              <a:rPr dirty="0" sz="2200" spc="-25" b="1">
                <a:latin typeface="Tahoma"/>
                <a:cs typeface="Tahoma"/>
              </a:rPr>
              <a:t>0)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40572" y="3308832"/>
            <a:ext cx="51752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0205" algn="l"/>
              </a:tabLst>
            </a:pPr>
            <a:r>
              <a:rPr dirty="0" sz="2100" spc="-50">
                <a:latin typeface="Cambria"/>
                <a:cs typeface="Cambria"/>
              </a:rPr>
              <a:t>0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60">
                <a:latin typeface="Cambria"/>
                <a:cs typeface="Cambria"/>
              </a:rPr>
              <a:t>1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8883" y="3043262"/>
            <a:ext cx="1426210" cy="450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8625" algn="l"/>
                <a:tab pos="811530" algn="l"/>
                <a:tab pos="1194435" algn="l"/>
              </a:tabLst>
            </a:pPr>
            <a:r>
              <a:rPr dirty="0" sz="2750" spc="-400">
                <a:latin typeface="Cambria"/>
                <a:cs typeface="Cambria"/>
              </a:rPr>
              <a:t>(</a:t>
            </a:r>
            <a:r>
              <a:rPr dirty="0" sz="2100" spc="-400">
                <a:latin typeface="Cambria"/>
                <a:cs typeface="Cambria"/>
              </a:rPr>
              <a:t>1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50">
                <a:latin typeface="Cambria"/>
                <a:cs typeface="Cambria"/>
              </a:rPr>
              <a:t>0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50">
                <a:latin typeface="Cambria"/>
                <a:cs typeface="Cambria"/>
              </a:rPr>
              <a:t>0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320">
                <a:latin typeface="Cambria"/>
                <a:cs typeface="Cambria"/>
              </a:rPr>
              <a:t>0</a:t>
            </a:r>
            <a:r>
              <a:rPr dirty="0" sz="2750" spc="-320">
                <a:latin typeface="Cambria"/>
                <a:cs typeface="Cambria"/>
              </a:rPr>
              <a:t>)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47428" y="3043262"/>
            <a:ext cx="929005" cy="450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84530" algn="l"/>
              </a:tabLst>
            </a:pPr>
            <a:r>
              <a:rPr dirty="0" sz="2100">
                <a:latin typeface="Cambria"/>
                <a:cs typeface="Cambria"/>
              </a:rPr>
              <a:t>=</a:t>
            </a:r>
            <a:r>
              <a:rPr dirty="0" sz="2100" spc="-20">
                <a:latin typeface="Cambria"/>
                <a:cs typeface="Cambria"/>
              </a:rPr>
              <a:t> </a:t>
            </a:r>
            <a:r>
              <a:rPr dirty="0" sz="2750" spc="-285">
                <a:latin typeface="Cambria"/>
                <a:cs typeface="Cambria"/>
              </a:rPr>
              <a:t>(</a:t>
            </a:r>
            <a:r>
              <a:rPr dirty="0" sz="2100" spc="-285">
                <a:latin typeface="Cambria"/>
                <a:cs typeface="Cambria"/>
              </a:rPr>
              <a:t>2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175">
                <a:latin typeface="Cambria"/>
                <a:cs typeface="Cambria"/>
              </a:rPr>
              <a:t>0</a:t>
            </a:r>
            <a:r>
              <a:rPr dirty="0" sz="2750" spc="-175">
                <a:latin typeface="Cambria"/>
                <a:cs typeface="Cambria"/>
              </a:rPr>
              <a:t>)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83332" y="3316554"/>
            <a:ext cx="1289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35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72043" y="3550958"/>
            <a:ext cx="8782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67690" algn="l"/>
              </a:tabLst>
            </a:pPr>
            <a:r>
              <a:rPr dirty="0" sz="2100" spc="-1305">
                <a:latin typeface="Cambria"/>
                <a:cs typeface="Cambria"/>
              </a:rPr>
              <a:t></a:t>
            </a:r>
            <a:r>
              <a:rPr dirty="0" sz="2100" spc="-250">
                <a:latin typeface="Cambria"/>
                <a:cs typeface="Cambria"/>
              </a:rPr>
              <a:t> </a:t>
            </a:r>
            <a:r>
              <a:rPr dirty="0" baseline="-22486" sz="3150" spc="-75">
                <a:latin typeface="Cambria"/>
                <a:cs typeface="Cambria"/>
              </a:rPr>
              <a:t>0</a:t>
            </a:r>
            <a:r>
              <a:rPr dirty="0" baseline="-22486" sz="3150">
                <a:latin typeface="Cambria"/>
                <a:cs typeface="Cambria"/>
              </a:rPr>
              <a:t>	</a:t>
            </a:r>
            <a:r>
              <a:rPr dirty="0" baseline="-22486" sz="3150" spc="-997">
                <a:latin typeface="Cambria"/>
                <a:cs typeface="Cambria"/>
              </a:rPr>
              <a:t>2</a:t>
            </a:r>
            <a:r>
              <a:rPr dirty="0" sz="2100" spc="-66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010143" y="3316554"/>
            <a:ext cx="1289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355">
                <a:latin typeface="Cambria"/>
                <a:cs typeface="Cambria"/>
              </a:rPr>
              <a:t>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10143" y="3058299"/>
            <a:ext cx="8020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85800" algn="l"/>
              </a:tabLst>
            </a:pPr>
            <a:r>
              <a:rPr dirty="0" sz="2100" spc="-1355">
                <a:latin typeface="Cambria"/>
                <a:cs typeface="Cambria"/>
              </a:rPr>
              <a:t>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136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72043" y="2800032"/>
            <a:ext cx="8782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17525" algn="l"/>
              </a:tabLst>
            </a:pPr>
            <a:r>
              <a:rPr dirty="0" sz="2100" spc="-730">
                <a:latin typeface="Cambria"/>
                <a:cs typeface="Cambria"/>
              </a:rPr>
              <a:t></a:t>
            </a:r>
            <a:r>
              <a:rPr dirty="0" baseline="-33068" sz="3150" spc="-1095">
                <a:latin typeface="Cambria"/>
                <a:cs typeface="Cambria"/>
              </a:rPr>
              <a:t>1</a:t>
            </a:r>
            <a:r>
              <a:rPr dirty="0" baseline="-33068" sz="3150">
                <a:latin typeface="Cambria"/>
                <a:cs typeface="Cambria"/>
              </a:rPr>
              <a:t>	0</a:t>
            </a:r>
            <a:r>
              <a:rPr dirty="0" baseline="-33068" sz="3150" spc="-30">
                <a:latin typeface="Cambria"/>
                <a:cs typeface="Cambria"/>
              </a:rPr>
              <a:t> </a:t>
            </a:r>
            <a:r>
              <a:rPr dirty="0" sz="2100" spc="-135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010143" y="2608453"/>
            <a:ext cx="8020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9590" algn="l"/>
              </a:tabLst>
            </a:pPr>
            <a:r>
              <a:rPr dirty="0" baseline="-3968" sz="3150">
                <a:latin typeface="Cambria"/>
                <a:cs typeface="Cambria"/>
              </a:rPr>
              <a:t>(</a:t>
            </a:r>
            <a:r>
              <a:rPr dirty="0" baseline="-3968" sz="3150" spc="-315">
                <a:latin typeface="Cambria"/>
                <a:cs typeface="Cambria"/>
              </a:rPr>
              <a:t> </a:t>
            </a:r>
            <a:r>
              <a:rPr dirty="0" sz="2100" spc="-50">
                <a:latin typeface="Cambria"/>
                <a:cs typeface="Cambria"/>
              </a:rPr>
              <a:t>2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665">
                <a:latin typeface="Cambria"/>
                <a:cs typeface="Cambria"/>
              </a:rPr>
              <a:t>0</a:t>
            </a:r>
            <a:r>
              <a:rPr dirty="0" baseline="-3968" sz="3150" spc="-997">
                <a:latin typeface="Cambria"/>
                <a:cs typeface="Cambria"/>
              </a:rPr>
              <a:t></a:t>
            </a:r>
            <a:endParaRPr baseline="-3968" sz="31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19353" y="3723588"/>
            <a:ext cx="2230755" cy="6559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03350">
              <a:lnSpc>
                <a:spcPts val="2475"/>
              </a:lnSpc>
              <a:spcBef>
                <a:spcPts val="110"/>
              </a:spcBef>
              <a:tabLst>
                <a:tab pos="2076450" algn="l"/>
              </a:tabLst>
            </a:pPr>
            <a:r>
              <a:rPr dirty="0" sz="2100" spc="-1355">
                <a:latin typeface="Cambria"/>
                <a:cs typeface="Cambria"/>
              </a:rPr>
              <a:t>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1365">
                <a:latin typeface="Cambria"/>
                <a:cs typeface="Cambria"/>
              </a:rPr>
              <a:t></a:t>
            </a:r>
            <a:endParaRPr sz="2100">
              <a:latin typeface="Cambria"/>
              <a:cs typeface="Cambria"/>
            </a:endParaRPr>
          </a:p>
          <a:p>
            <a:pPr marL="50800">
              <a:lnSpc>
                <a:spcPts val="2475"/>
              </a:lnSpc>
              <a:tabLst>
                <a:tab pos="959485" algn="l"/>
              </a:tabLst>
            </a:pPr>
            <a:r>
              <a:rPr dirty="0" sz="2100" spc="-25" b="1" i="1">
                <a:latin typeface="Cambria"/>
                <a:cs typeface="Cambria"/>
              </a:rPr>
              <a:t>y</a:t>
            </a:r>
            <a:r>
              <a:rPr dirty="0" baseline="-25462" sz="1800" spc="-37">
                <a:latin typeface="Cambria"/>
                <a:cs typeface="Cambria"/>
              </a:rPr>
              <a:t>1</a:t>
            </a:r>
            <a:r>
              <a:rPr dirty="0" baseline="-25462" sz="1800" spc="217">
                <a:latin typeface="Cambria"/>
                <a:cs typeface="Cambria"/>
              </a:rPr>
              <a:t> </a:t>
            </a:r>
            <a:r>
              <a:rPr dirty="0" sz="2100" spc="-20">
                <a:latin typeface="Cambria"/>
                <a:cs typeface="Cambria"/>
              </a:rPr>
              <a:t>=</a:t>
            </a:r>
            <a:r>
              <a:rPr dirty="0" sz="2100" spc="-200">
                <a:latin typeface="Cambria"/>
                <a:cs typeface="Cambria"/>
              </a:rPr>
              <a:t> </a:t>
            </a:r>
            <a:r>
              <a:rPr dirty="0" sz="2100" spc="-25">
                <a:latin typeface="Cambria"/>
                <a:cs typeface="Cambria"/>
              </a:rPr>
              <a:t>1,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b="1" i="1">
                <a:latin typeface="Cambria"/>
                <a:cs typeface="Cambria"/>
              </a:rPr>
              <a:t>y</a:t>
            </a:r>
            <a:r>
              <a:rPr dirty="0" baseline="-25462" sz="1800">
                <a:latin typeface="Cambria"/>
                <a:cs typeface="Cambria"/>
              </a:rPr>
              <a:t>2</a:t>
            </a:r>
            <a:r>
              <a:rPr dirty="0" baseline="-25462" sz="1800" spc="540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=</a:t>
            </a:r>
            <a:r>
              <a:rPr dirty="0" sz="2100" spc="-50">
                <a:latin typeface="Cambria"/>
                <a:cs typeface="Cambria"/>
              </a:rPr>
              <a:t> 0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351270" y="3077146"/>
            <a:ext cx="1106170" cy="450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836294" algn="l"/>
              </a:tabLst>
            </a:pPr>
            <a:r>
              <a:rPr dirty="0" baseline="14550" sz="3150" spc="-1957">
                <a:latin typeface="Cambria"/>
                <a:cs typeface="Cambria"/>
              </a:rPr>
              <a:t></a:t>
            </a:r>
            <a:r>
              <a:rPr dirty="0" baseline="14550" sz="3150" spc="22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=</a:t>
            </a:r>
            <a:r>
              <a:rPr dirty="0" sz="2100" spc="-15">
                <a:latin typeface="Cambria"/>
                <a:cs typeface="Cambria"/>
              </a:rPr>
              <a:t> </a:t>
            </a:r>
            <a:r>
              <a:rPr dirty="0" sz="2750" spc="-400">
                <a:latin typeface="Cambria"/>
                <a:cs typeface="Cambria"/>
              </a:rPr>
              <a:t>(</a:t>
            </a:r>
            <a:r>
              <a:rPr dirty="0" sz="2100" spc="-400">
                <a:latin typeface="Cambria"/>
                <a:cs typeface="Cambria"/>
              </a:rPr>
              <a:t>1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75">
                <a:latin typeface="Cambria"/>
                <a:cs typeface="Cambria"/>
              </a:rPr>
              <a:t>0</a:t>
            </a:r>
            <a:r>
              <a:rPr dirty="0" sz="2750" spc="-75">
                <a:latin typeface="Cambria"/>
                <a:cs typeface="Cambria"/>
              </a:rPr>
              <a:t>)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678131" y="3350043"/>
            <a:ext cx="878205" cy="5816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ts val="2180"/>
              </a:lnSpc>
              <a:spcBef>
                <a:spcPts val="110"/>
              </a:spcBef>
              <a:tabLst>
                <a:tab pos="538480" algn="l"/>
              </a:tabLst>
            </a:pPr>
            <a:r>
              <a:rPr dirty="0" sz="2100" spc="-1305">
                <a:latin typeface="Cambria"/>
                <a:cs typeface="Cambria"/>
              </a:rPr>
              <a:t></a:t>
            </a:r>
            <a:r>
              <a:rPr dirty="0" sz="2100" spc="-250">
                <a:latin typeface="Cambria"/>
                <a:cs typeface="Cambria"/>
              </a:rPr>
              <a:t> </a:t>
            </a:r>
            <a:r>
              <a:rPr dirty="0" baseline="1322" sz="3150" spc="-75">
                <a:latin typeface="Cambria"/>
                <a:cs typeface="Cambria"/>
              </a:rPr>
              <a:t>0</a:t>
            </a:r>
            <a:r>
              <a:rPr dirty="0" baseline="1322" sz="3150">
                <a:latin typeface="Cambria"/>
                <a:cs typeface="Cambria"/>
              </a:rPr>
              <a:t>	</a:t>
            </a:r>
            <a:r>
              <a:rPr dirty="0" baseline="1322" sz="3150" spc="-187">
                <a:latin typeface="Cambria"/>
                <a:cs typeface="Cambria"/>
              </a:rPr>
              <a:t>1</a:t>
            </a:r>
            <a:r>
              <a:rPr dirty="0" baseline="1322" sz="3150" spc="-89">
                <a:latin typeface="Cambria"/>
                <a:cs typeface="Cambria"/>
              </a:rPr>
              <a:t> </a:t>
            </a:r>
            <a:r>
              <a:rPr dirty="0" sz="2100" spc="-135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  <a:p>
            <a:pPr marL="50800">
              <a:lnSpc>
                <a:spcPts val="2180"/>
              </a:lnSpc>
              <a:tabLst>
                <a:tab pos="567690" algn="l"/>
              </a:tabLst>
            </a:pPr>
            <a:r>
              <a:rPr dirty="0" sz="2100" spc="-1305">
                <a:latin typeface="Cambria"/>
                <a:cs typeface="Cambria"/>
              </a:rPr>
              <a:t></a:t>
            </a:r>
            <a:r>
              <a:rPr dirty="0" sz="2100" spc="-250">
                <a:latin typeface="Cambria"/>
                <a:cs typeface="Cambria"/>
              </a:rPr>
              <a:t> </a:t>
            </a:r>
            <a:r>
              <a:rPr dirty="0" baseline="-22486" sz="3150" spc="-75">
                <a:latin typeface="Cambria"/>
                <a:cs typeface="Cambria"/>
              </a:rPr>
              <a:t>0</a:t>
            </a:r>
            <a:r>
              <a:rPr dirty="0" baseline="-22486" sz="3150">
                <a:latin typeface="Cambria"/>
                <a:cs typeface="Cambria"/>
              </a:rPr>
              <a:t>	</a:t>
            </a:r>
            <a:r>
              <a:rPr dirty="0" baseline="-22486" sz="3150" spc="-997">
                <a:latin typeface="Cambria"/>
                <a:cs typeface="Cambria"/>
              </a:rPr>
              <a:t>2</a:t>
            </a:r>
            <a:r>
              <a:rPr dirty="0" sz="2100" spc="-66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299661" y="3077146"/>
            <a:ext cx="1583055" cy="450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474980" algn="l"/>
                <a:tab pos="836930" algn="l"/>
                <a:tab pos="1219835" algn="l"/>
              </a:tabLst>
            </a:pPr>
            <a:r>
              <a:rPr dirty="0" sz="2750" spc="-300">
                <a:latin typeface="Cambria"/>
                <a:cs typeface="Cambria"/>
              </a:rPr>
              <a:t>(</a:t>
            </a:r>
            <a:r>
              <a:rPr dirty="0" sz="2100" spc="-300">
                <a:latin typeface="Cambria"/>
                <a:cs typeface="Cambria"/>
              </a:rPr>
              <a:t>0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50">
                <a:latin typeface="Cambria"/>
                <a:cs typeface="Cambria"/>
              </a:rPr>
              <a:t>1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50">
                <a:latin typeface="Cambria"/>
                <a:cs typeface="Cambria"/>
              </a:rPr>
              <a:t>0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660">
                <a:latin typeface="Cambria"/>
                <a:cs typeface="Cambria"/>
              </a:rPr>
              <a:t>0</a:t>
            </a:r>
            <a:r>
              <a:rPr dirty="0" sz="2750" spc="-660">
                <a:latin typeface="Cambria"/>
                <a:cs typeface="Cambria"/>
              </a:rPr>
              <a:t>)</a:t>
            </a:r>
            <a:r>
              <a:rPr dirty="0" baseline="14550" sz="3150" spc="-989">
                <a:latin typeface="Cambria"/>
                <a:cs typeface="Cambria"/>
              </a:rPr>
              <a:t></a:t>
            </a:r>
            <a:endParaRPr baseline="14550" sz="31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678131" y="2834601"/>
            <a:ext cx="8782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17525" algn="l"/>
              </a:tabLst>
            </a:pPr>
            <a:r>
              <a:rPr dirty="0" sz="2100" spc="-730">
                <a:latin typeface="Cambria"/>
                <a:cs typeface="Cambria"/>
              </a:rPr>
              <a:t></a:t>
            </a:r>
            <a:r>
              <a:rPr dirty="0" baseline="-33068" sz="3150" spc="-1095">
                <a:latin typeface="Cambria"/>
                <a:cs typeface="Cambria"/>
              </a:rPr>
              <a:t>1</a:t>
            </a:r>
            <a:r>
              <a:rPr dirty="0" baseline="-33068" sz="3150">
                <a:latin typeface="Cambria"/>
                <a:cs typeface="Cambria"/>
              </a:rPr>
              <a:t>	0</a:t>
            </a:r>
            <a:r>
              <a:rPr dirty="0" baseline="-33068" sz="3150" spc="-30">
                <a:latin typeface="Cambria"/>
                <a:cs typeface="Cambria"/>
              </a:rPr>
              <a:t> </a:t>
            </a:r>
            <a:r>
              <a:rPr dirty="0" sz="2100" spc="-1355">
                <a:latin typeface="Cambria"/>
                <a:cs typeface="Cambria"/>
              </a:rPr>
              <a:t>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716231" y="2643403"/>
            <a:ext cx="80200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9590" algn="l"/>
              </a:tabLst>
            </a:pPr>
            <a:r>
              <a:rPr dirty="0" baseline="-3968" sz="3150">
                <a:latin typeface="Cambria"/>
                <a:cs typeface="Cambria"/>
              </a:rPr>
              <a:t>(</a:t>
            </a:r>
            <a:r>
              <a:rPr dirty="0" baseline="-3968" sz="3150" spc="-315">
                <a:latin typeface="Cambria"/>
                <a:cs typeface="Cambria"/>
              </a:rPr>
              <a:t> </a:t>
            </a:r>
            <a:r>
              <a:rPr dirty="0" sz="2100" spc="-50">
                <a:latin typeface="Cambria"/>
                <a:cs typeface="Cambria"/>
              </a:rPr>
              <a:t>2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665">
                <a:latin typeface="Cambria"/>
                <a:cs typeface="Cambria"/>
              </a:rPr>
              <a:t>0</a:t>
            </a:r>
            <a:r>
              <a:rPr dirty="0" baseline="-3968" sz="3150" spc="-997">
                <a:latin typeface="Cambria"/>
                <a:cs typeface="Cambria"/>
              </a:rPr>
              <a:t></a:t>
            </a:r>
            <a:endParaRPr baseline="-3968" sz="315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325530" y="3756240"/>
            <a:ext cx="2230755" cy="655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03350">
              <a:lnSpc>
                <a:spcPts val="2470"/>
              </a:lnSpc>
              <a:spcBef>
                <a:spcPts val="110"/>
              </a:spcBef>
              <a:tabLst>
                <a:tab pos="2076450" algn="l"/>
              </a:tabLst>
            </a:pPr>
            <a:r>
              <a:rPr dirty="0" sz="2100" spc="-1355">
                <a:latin typeface="Cambria"/>
                <a:cs typeface="Cambria"/>
              </a:rPr>
              <a:t>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spc="-1365">
                <a:latin typeface="Cambria"/>
                <a:cs typeface="Cambria"/>
              </a:rPr>
              <a:t></a:t>
            </a:r>
            <a:endParaRPr sz="2100">
              <a:latin typeface="Cambria"/>
              <a:cs typeface="Cambria"/>
            </a:endParaRPr>
          </a:p>
          <a:p>
            <a:pPr marL="50800">
              <a:lnSpc>
                <a:spcPts val="2470"/>
              </a:lnSpc>
              <a:tabLst>
                <a:tab pos="958850" algn="l"/>
              </a:tabLst>
            </a:pPr>
            <a:r>
              <a:rPr dirty="0" sz="2100" spc="-25" b="1" i="1">
                <a:latin typeface="Cambria"/>
                <a:cs typeface="Cambria"/>
              </a:rPr>
              <a:t>y</a:t>
            </a:r>
            <a:r>
              <a:rPr dirty="0" baseline="-25462" sz="1800" spc="-37">
                <a:latin typeface="Cambria"/>
                <a:cs typeface="Cambria"/>
              </a:rPr>
              <a:t>1</a:t>
            </a:r>
            <a:r>
              <a:rPr dirty="0" baseline="-25462" sz="1800" spc="217">
                <a:latin typeface="Cambria"/>
                <a:cs typeface="Cambria"/>
              </a:rPr>
              <a:t> </a:t>
            </a:r>
            <a:r>
              <a:rPr dirty="0" sz="2100" spc="-20">
                <a:latin typeface="Cambria"/>
                <a:cs typeface="Cambria"/>
              </a:rPr>
              <a:t>=</a:t>
            </a:r>
            <a:r>
              <a:rPr dirty="0" sz="2100" spc="-200">
                <a:latin typeface="Cambria"/>
                <a:cs typeface="Cambria"/>
              </a:rPr>
              <a:t> </a:t>
            </a:r>
            <a:r>
              <a:rPr dirty="0" sz="2100" spc="-25">
                <a:latin typeface="Cambria"/>
                <a:cs typeface="Cambria"/>
              </a:rPr>
              <a:t>1,</a:t>
            </a:r>
            <a:r>
              <a:rPr dirty="0" sz="2100">
                <a:latin typeface="Cambria"/>
                <a:cs typeface="Cambria"/>
              </a:rPr>
              <a:t>	</a:t>
            </a:r>
            <a:r>
              <a:rPr dirty="0" sz="2100" b="1" i="1">
                <a:latin typeface="Cambria"/>
                <a:cs typeface="Cambria"/>
              </a:rPr>
              <a:t>y</a:t>
            </a:r>
            <a:r>
              <a:rPr dirty="0" baseline="-25462" sz="1800">
                <a:latin typeface="Cambria"/>
                <a:cs typeface="Cambria"/>
              </a:rPr>
              <a:t>2</a:t>
            </a:r>
            <a:r>
              <a:rPr dirty="0" baseline="-25462" sz="1800" spc="540">
                <a:latin typeface="Cambria"/>
                <a:cs typeface="Cambria"/>
              </a:rPr>
              <a:t> </a:t>
            </a:r>
            <a:r>
              <a:rPr dirty="0" sz="2100">
                <a:latin typeface="Cambria"/>
                <a:cs typeface="Cambria"/>
              </a:rPr>
              <a:t>=</a:t>
            </a:r>
            <a:r>
              <a:rPr dirty="0" sz="2100" spc="-50">
                <a:latin typeface="Cambria"/>
                <a:cs typeface="Cambria"/>
              </a:rPr>
              <a:t> 0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627172" y="5425757"/>
            <a:ext cx="1068070" cy="427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821690" algn="l"/>
              </a:tabLst>
            </a:pPr>
            <a:r>
              <a:rPr dirty="0" baseline="13888" sz="3000" spc="-1889">
                <a:latin typeface="Cambria"/>
                <a:cs typeface="Cambria"/>
              </a:rPr>
              <a:t></a:t>
            </a:r>
            <a:r>
              <a:rPr dirty="0" baseline="13888" sz="3000" spc="172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=</a:t>
            </a:r>
            <a:r>
              <a:rPr dirty="0" sz="2000" spc="75">
                <a:latin typeface="Cambria"/>
                <a:cs typeface="Cambria"/>
              </a:rPr>
              <a:t> </a:t>
            </a:r>
            <a:r>
              <a:rPr dirty="0" sz="2600" spc="-375">
                <a:latin typeface="Cambria"/>
                <a:cs typeface="Cambria"/>
              </a:rPr>
              <a:t>(</a:t>
            </a:r>
            <a:r>
              <a:rPr dirty="0" sz="2000" spc="-375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14">
                <a:latin typeface="Cambria"/>
                <a:cs typeface="Cambria"/>
              </a:rPr>
              <a:t>1</a:t>
            </a:r>
            <a:r>
              <a:rPr dirty="0" sz="2600" spc="-114">
                <a:latin typeface="Cambria"/>
                <a:cs typeface="Cambria"/>
              </a:rPr>
              <a:t>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665272" y="6063894"/>
            <a:ext cx="1212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310">
                <a:latin typeface="Cambria"/>
                <a:cs typeface="Cambria"/>
              </a:rPr>
              <a:t>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944738" y="5682538"/>
            <a:ext cx="880110" cy="549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ts val="2065"/>
              </a:lnSpc>
              <a:spcBef>
                <a:spcPts val="95"/>
              </a:spcBef>
              <a:tabLst>
                <a:tab pos="545465" algn="l"/>
              </a:tabLst>
            </a:pPr>
            <a:r>
              <a:rPr dirty="0" sz="2000" spc="-1260">
                <a:latin typeface="Cambria"/>
                <a:cs typeface="Cambria"/>
              </a:rPr>
              <a:t></a:t>
            </a:r>
            <a:r>
              <a:rPr dirty="0" sz="2000" spc="-155">
                <a:latin typeface="Cambria"/>
                <a:cs typeface="Cambria"/>
              </a:rPr>
              <a:t> </a:t>
            </a:r>
            <a:r>
              <a:rPr dirty="0" baseline="1388" sz="3000" spc="-75">
                <a:latin typeface="Cambria"/>
                <a:cs typeface="Cambria"/>
              </a:rPr>
              <a:t>0</a:t>
            </a:r>
            <a:r>
              <a:rPr dirty="0" baseline="1388" sz="3000">
                <a:latin typeface="Cambria"/>
                <a:cs typeface="Cambria"/>
              </a:rPr>
              <a:t>	1</a:t>
            </a:r>
            <a:r>
              <a:rPr dirty="0" baseline="1388" sz="3000" spc="-120">
                <a:latin typeface="Cambria"/>
                <a:cs typeface="Cambria"/>
              </a:rPr>
              <a:t> </a:t>
            </a:r>
            <a:r>
              <a:rPr dirty="0" sz="2000" spc="-131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  <a:p>
            <a:pPr marL="50800">
              <a:lnSpc>
                <a:spcPts val="2065"/>
              </a:lnSpc>
              <a:tabLst>
                <a:tab pos="575310" algn="l"/>
              </a:tabLst>
            </a:pPr>
            <a:r>
              <a:rPr dirty="0" sz="2000" spc="-1260">
                <a:latin typeface="Cambria"/>
                <a:cs typeface="Cambria"/>
              </a:rPr>
              <a:t></a:t>
            </a:r>
            <a:r>
              <a:rPr dirty="0" sz="2000" spc="-155">
                <a:latin typeface="Cambria"/>
                <a:cs typeface="Cambria"/>
              </a:rPr>
              <a:t> </a:t>
            </a:r>
            <a:r>
              <a:rPr dirty="0" baseline="-22222" sz="3000" spc="-75">
                <a:latin typeface="Cambria"/>
                <a:cs typeface="Cambria"/>
              </a:rPr>
              <a:t>0</a:t>
            </a:r>
            <a:r>
              <a:rPr dirty="0" baseline="-22222" sz="3000">
                <a:latin typeface="Cambria"/>
                <a:cs typeface="Cambria"/>
              </a:rPr>
              <a:t>	</a:t>
            </a:r>
            <a:r>
              <a:rPr dirty="0" baseline="-22222" sz="3000" spc="-209">
                <a:latin typeface="Cambria"/>
                <a:cs typeface="Cambria"/>
              </a:rPr>
              <a:t>2</a:t>
            </a:r>
            <a:r>
              <a:rPr dirty="0" baseline="-22222" sz="3000" spc="-262">
                <a:latin typeface="Cambria"/>
                <a:cs typeface="Cambria"/>
              </a:rPr>
              <a:t> </a:t>
            </a:r>
            <a:r>
              <a:rPr dirty="0" sz="2000" spc="-131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81279" y="5425757"/>
            <a:ext cx="1573530" cy="427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494030" algn="l"/>
                <a:tab pos="835025" algn="l"/>
                <a:tab pos="1202055" algn="l"/>
              </a:tabLst>
            </a:pPr>
            <a:r>
              <a:rPr dirty="0" sz="2600" spc="-25">
                <a:latin typeface="Cambria"/>
                <a:cs typeface="Cambria"/>
              </a:rPr>
              <a:t>(</a:t>
            </a:r>
            <a:r>
              <a:rPr dirty="0" sz="2000" spc="-25">
                <a:latin typeface="Cambria"/>
                <a:cs typeface="Cambria"/>
              </a:rPr>
              <a:t>0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595">
                <a:latin typeface="Cambria"/>
                <a:cs typeface="Cambria"/>
              </a:rPr>
              <a:t>0</a:t>
            </a:r>
            <a:r>
              <a:rPr dirty="0" sz="2600" spc="-595">
                <a:latin typeface="Cambria"/>
                <a:cs typeface="Cambria"/>
              </a:rPr>
              <a:t>)</a:t>
            </a:r>
            <a:r>
              <a:rPr dirty="0" baseline="13888" sz="3000" spc="-892">
                <a:latin typeface="Cambria"/>
                <a:cs typeface="Cambria"/>
              </a:rPr>
              <a:t></a:t>
            </a:r>
            <a:endParaRPr baseline="13888" sz="300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944738" y="5198605"/>
            <a:ext cx="8801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523875" algn="l"/>
              </a:tabLst>
            </a:pPr>
            <a:r>
              <a:rPr dirty="0" sz="2000" spc="-680">
                <a:latin typeface="Cambria"/>
                <a:cs typeface="Cambria"/>
              </a:rPr>
              <a:t></a:t>
            </a:r>
            <a:r>
              <a:rPr dirty="0" baseline="-31944" sz="3000" spc="-1019">
                <a:latin typeface="Cambria"/>
                <a:cs typeface="Cambria"/>
              </a:rPr>
              <a:t>1</a:t>
            </a:r>
            <a:r>
              <a:rPr dirty="0" baseline="-31944" sz="3000">
                <a:latin typeface="Cambria"/>
                <a:cs typeface="Cambria"/>
              </a:rPr>
              <a:t>	0</a:t>
            </a:r>
            <a:r>
              <a:rPr dirty="0" baseline="-31944" sz="3000" spc="127">
                <a:latin typeface="Cambria"/>
                <a:cs typeface="Cambria"/>
              </a:rPr>
              <a:t> </a:t>
            </a:r>
            <a:r>
              <a:rPr dirty="0" sz="2000" spc="-1310">
                <a:latin typeface="Cambria"/>
                <a:cs typeface="Cambria"/>
              </a:rPr>
              <a:t>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982838" y="5019116"/>
            <a:ext cx="8039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7210" algn="l"/>
              </a:tabLst>
            </a:pPr>
            <a:r>
              <a:rPr dirty="0" baseline="-4166" sz="3000" spc="-37">
                <a:latin typeface="Cambria"/>
                <a:cs typeface="Cambria"/>
              </a:rPr>
              <a:t>(</a:t>
            </a:r>
            <a:r>
              <a:rPr dirty="0" baseline="-4166" sz="3000" spc="-172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2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40">
                <a:latin typeface="Cambria"/>
                <a:cs typeface="Cambria"/>
              </a:rPr>
              <a:t>0</a:t>
            </a:r>
            <a:r>
              <a:rPr dirty="0" sz="2000" spc="-175">
                <a:latin typeface="Cambria"/>
                <a:cs typeface="Cambria"/>
              </a:rPr>
              <a:t> </a:t>
            </a:r>
            <a:r>
              <a:rPr dirty="0" baseline="-4166" sz="3000" spc="-1964">
                <a:latin typeface="Cambria"/>
                <a:cs typeface="Cambria"/>
              </a:rPr>
              <a:t></a:t>
            </a:r>
            <a:endParaRPr baseline="-4166" sz="3000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20382" y="6063894"/>
            <a:ext cx="1629410" cy="618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74775">
              <a:lnSpc>
                <a:spcPts val="2335"/>
              </a:lnSpc>
              <a:spcBef>
                <a:spcPts val="95"/>
              </a:spcBef>
            </a:pPr>
            <a:r>
              <a:rPr dirty="0" sz="2000" spc="-1310">
                <a:latin typeface="Cambria"/>
                <a:cs typeface="Cambria"/>
              </a:rPr>
              <a:t></a:t>
            </a:r>
            <a:endParaRPr sz="2000">
              <a:latin typeface="Cambria"/>
              <a:cs typeface="Cambria"/>
            </a:endParaRPr>
          </a:p>
          <a:p>
            <a:pPr marL="50800">
              <a:lnSpc>
                <a:spcPts val="2335"/>
              </a:lnSpc>
              <a:tabLst>
                <a:tab pos="971550" algn="l"/>
              </a:tabLst>
            </a:pPr>
            <a:r>
              <a:rPr dirty="0" sz="2000" b="1" i="1">
                <a:latin typeface="Cambria"/>
                <a:cs typeface="Cambria"/>
              </a:rPr>
              <a:t>y</a:t>
            </a:r>
            <a:r>
              <a:rPr dirty="0" baseline="-24154" sz="1725">
                <a:latin typeface="Cambria"/>
                <a:cs typeface="Cambria"/>
              </a:rPr>
              <a:t>1</a:t>
            </a:r>
            <a:r>
              <a:rPr dirty="0" baseline="-24154" sz="1725" spc="307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=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1,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b="1" i="1">
                <a:latin typeface="Cambria"/>
                <a:cs typeface="Cambria"/>
              </a:rPr>
              <a:t>y</a:t>
            </a:r>
            <a:r>
              <a:rPr dirty="0" baseline="-24154" sz="1725">
                <a:latin typeface="Cambria"/>
                <a:cs typeface="Cambria"/>
              </a:rPr>
              <a:t>2</a:t>
            </a:r>
            <a:r>
              <a:rPr dirty="0" baseline="-24154" sz="1725" spc="660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=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380738" y="4812398"/>
            <a:ext cx="3911600" cy="76200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  <a:tabLst>
                <a:tab pos="2531110" algn="l"/>
              </a:tabLst>
            </a:pPr>
            <a:r>
              <a:rPr dirty="0" sz="2200">
                <a:latin typeface="Tahoma"/>
                <a:cs typeface="Tahoma"/>
              </a:rPr>
              <a:t>(1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0),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(1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 spc="-25">
                <a:latin typeface="Tahoma"/>
                <a:cs typeface="Tahoma"/>
              </a:rPr>
              <a:t>0)</a:t>
            </a:r>
            <a:r>
              <a:rPr dirty="0" sz="2200">
                <a:latin typeface="Tahoma"/>
                <a:cs typeface="Tahoma"/>
              </a:rPr>
              <a:t>	class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(1,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 spc="-25">
                <a:latin typeface="Tahoma"/>
                <a:cs typeface="Tahoma"/>
              </a:rPr>
              <a:t>0)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  <a:tabLst>
                <a:tab pos="2531110" algn="l"/>
              </a:tabLst>
            </a:pPr>
            <a:r>
              <a:rPr dirty="0" sz="2200">
                <a:latin typeface="Tahoma"/>
                <a:cs typeface="Tahoma"/>
              </a:rPr>
              <a:t>(0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1),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(0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1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 spc="-25">
                <a:latin typeface="Tahoma"/>
                <a:cs typeface="Tahoma"/>
              </a:rPr>
              <a:t>1)</a:t>
            </a:r>
            <a:r>
              <a:rPr dirty="0" sz="2200">
                <a:latin typeface="Tahoma"/>
                <a:cs typeface="Tahoma"/>
              </a:rPr>
              <a:t>	class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(0,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 spc="-25">
                <a:latin typeface="Tahoma"/>
                <a:cs typeface="Tahoma"/>
              </a:rPr>
              <a:t>1)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380738" y="5951080"/>
            <a:ext cx="3275329" cy="66167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5080">
              <a:lnSpc>
                <a:spcPts val="2370"/>
              </a:lnSpc>
              <a:spcBef>
                <a:spcPts val="395"/>
              </a:spcBef>
            </a:pPr>
            <a:r>
              <a:rPr dirty="0" sz="2200">
                <a:latin typeface="Tahoma"/>
                <a:cs typeface="Tahoma"/>
              </a:rPr>
              <a:t>(0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0)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is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not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sufficiently </a:t>
            </a:r>
            <a:r>
              <a:rPr dirty="0" sz="2200">
                <a:latin typeface="Tahoma"/>
                <a:cs typeface="Tahoma"/>
              </a:rPr>
              <a:t>similar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to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any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 spc="-20">
                <a:latin typeface="Tahoma"/>
                <a:cs typeface="Tahoma"/>
              </a:rPr>
              <a:t>class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19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10"/>
              <a:t> </a:t>
            </a:r>
            <a:r>
              <a:rPr dirty="0"/>
              <a:t>1:</a:t>
            </a:r>
            <a:r>
              <a:rPr dirty="0" spc="-10"/>
              <a:t> </a:t>
            </a:r>
            <a:r>
              <a:rPr dirty="0" spc="-20"/>
              <a:t>hetero-</a:t>
            </a:r>
            <a:r>
              <a:rPr dirty="0" spc="-10"/>
              <a:t>associative</a:t>
            </a:r>
          </a:p>
        </p:txBody>
      </p:sp>
      <p:sp>
        <p:nvSpPr>
          <p:cNvPr id="31" name="object 31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15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9514" y="1772818"/>
            <a:ext cx="8783320" cy="4991100"/>
          </a:xfrm>
          <a:custGeom>
            <a:avLst/>
            <a:gdLst/>
            <a:ahLst/>
            <a:cxnLst/>
            <a:rect l="l" t="t" r="r" b="b"/>
            <a:pathLst>
              <a:path w="8783320" h="4991100">
                <a:moveTo>
                  <a:pt x="8782748" y="0"/>
                </a:moveTo>
                <a:lnTo>
                  <a:pt x="0" y="0"/>
                </a:lnTo>
                <a:lnTo>
                  <a:pt x="0" y="4991100"/>
                </a:lnTo>
                <a:lnTo>
                  <a:pt x="8782748" y="4991100"/>
                </a:lnTo>
                <a:lnTo>
                  <a:pt x="8782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58254" y="1759498"/>
            <a:ext cx="8214995" cy="17754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54965" indent="-342265">
              <a:lnSpc>
                <a:spcPts val="2915"/>
              </a:lnSpc>
              <a:spcBef>
                <a:spcPts val="120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Same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hetero-</a:t>
            </a:r>
            <a:r>
              <a:rPr dirty="0" sz="2400">
                <a:latin typeface="Tahoma"/>
                <a:cs typeface="Tahoma"/>
              </a:rPr>
              <a:t>associative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nets,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except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500" spc="-80" b="1" i="1">
                <a:latin typeface="Verdana"/>
                <a:cs typeface="Verdana"/>
              </a:rPr>
              <a:t>t</a:t>
            </a:r>
            <a:r>
              <a:rPr dirty="0" sz="2400" spc="-80" b="1">
                <a:latin typeface="Tahoma"/>
                <a:cs typeface="Tahoma"/>
              </a:rPr>
              <a:t>(</a:t>
            </a:r>
            <a:r>
              <a:rPr dirty="0" sz="2500" spc="-80" b="1" i="1">
                <a:latin typeface="Verdana"/>
                <a:cs typeface="Verdana"/>
              </a:rPr>
              <a:t>p</a:t>
            </a:r>
            <a:r>
              <a:rPr dirty="0" sz="2400" spc="-80" b="1">
                <a:latin typeface="Tahoma"/>
                <a:cs typeface="Tahoma"/>
              </a:rPr>
              <a:t>)</a:t>
            </a:r>
            <a:r>
              <a:rPr dirty="0" sz="2400" spc="-30" b="1">
                <a:latin typeface="Tahoma"/>
                <a:cs typeface="Tahoma"/>
              </a:rPr>
              <a:t> </a:t>
            </a:r>
            <a:r>
              <a:rPr dirty="0" sz="2400" spc="-135" b="1">
                <a:latin typeface="Tahoma"/>
                <a:cs typeface="Tahoma"/>
              </a:rPr>
              <a:t>=</a:t>
            </a:r>
            <a:r>
              <a:rPr dirty="0" sz="2500" spc="-135" b="1" i="1">
                <a:latin typeface="Verdana"/>
                <a:cs typeface="Verdana"/>
              </a:rPr>
              <a:t>s</a:t>
            </a:r>
            <a:r>
              <a:rPr dirty="0" sz="2500" spc="-150" b="1" i="1">
                <a:latin typeface="Verdana"/>
                <a:cs typeface="Verdana"/>
              </a:rPr>
              <a:t> </a:t>
            </a:r>
            <a:r>
              <a:rPr dirty="0" sz="2400" spc="-20" b="1">
                <a:latin typeface="Tahoma"/>
                <a:cs typeface="Tahoma"/>
              </a:rPr>
              <a:t>(</a:t>
            </a:r>
            <a:r>
              <a:rPr dirty="0" sz="2500" spc="-20" b="1" i="1">
                <a:latin typeface="Verdana"/>
                <a:cs typeface="Verdana"/>
              </a:rPr>
              <a:t>p</a:t>
            </a:r>
            <a:r>
              <a:rPr dirty="0" sz="2400" spc="-20" b="1">
                <a:latin typeface="Tahoma"/>
                <a:cs typeface="Tahoma"/>
              </a:rPr>
              <a:t>)</a:t>
            </a:r>
            <a:r>
              <a:rPr dirty="0" sz="2400" spc="-2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354965" marR="5080" indent="-342265">
              <a:lnSpc>
                <a:spcPts val="2730"/>
              </a:lnSpc>
              <a:spcBef>
                <a:spcPts val="130"/>
              </a:spcBef>
              <a:buClr>
                <a:srgbClr val="3333CC"/>
              </a:buClr>
              <a:buSzPct val="60416"/>
              <a:buChar char="■"/>
              <a:tabLst>
                <a:tab pos="488950" algn="l"/>
              </a:tabLst>
            </a:pPr>
            <a:r>
              <a:rPr dirty="0" sz="2400">
                <a:latin typeface="Tahoma"/>
                <a:cs typeface="Tahoma"/>
              </a:rPr>
              <a:t>Used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recall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noisy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incomplete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version. </a:t>
            </a:r>
            <a:r>
              <a:rPr dirty="0" sz="2400" spc="-10"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(</a:t>
            </a:r>
            <a:r>
              <a:rPr dirty="0" sz="2400" b="1">
                <a:latin typeface="Tahoma"/>
                <a:cs typeface="Tahoma"/>
              </a:rPr>
              <a:t>pattern</a:t>
            </a:r>
            <a:r>
              <a:rPr dirty="0" sz="2400" spc="-75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completion/pattern</a:t>
            </a:r>
            <a:r>
              <a:rPr dirty="0" sz="2400" spc="-70" b="1">
                <a:latin typeface="Tahoma"/>
                <a:cs typeface="Tahoma"/>
              </a:rPr>
              <a:t> </a:t>
            </a:r>
            <a:r>
              <a:rPr dirty="0" sz="2400" spc="-10" b="1">
                <a:latin typeface="Tahoma"/>
                <a:cs typeface="Tahoma"/>
              </a:rPr>
              <a:t>recovery</a:t>
            </a:r>
            <a:r>
              <a:rPr dirty="0" sz="2400" spc="-10"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  <a:p>
            <a:pPr marL="355600" marR="1009650" indent="-342900">
              <a:lnSpc>
                <a:spcPts val="2590"/>
              </a:lnSpc>
              <a:spcBef>
                <a:spcPts val="110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single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500" spc="-254" b="1" i="1">
                <a:latin typeface="Verdana"/>
                <a:cs typeface="Verdana"/>
              </a:rPr>
              <a:t>s</a:t>
            </a:r>
            <a:r>
              <a:rPr dirty="0" sz="2500" spc="-105" b="1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(1,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0">
                <a:latin typeface="Tahoma"/>
                <a:cs typeface="Tahoma"/>
              </a:rPr>
              <a:t> -</a:t>
            </a:r>
            <a:r>
              <a:rPr dirty="0" sz="2400">
                <a:latin typeface="Tahoma"/>
                <a:cs typeface="Tahoma"/>
              </a:rPr>
              <a:t>1)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stored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(weights </a:t>
            </a:r>
            <a:r>
              <a:rPr dirty="0" sz="2400">
                <a:latin typeface="Tahoma"/>
                <a:cs typeface="Tahoma"/>
              </a:rPr>
              <a:t>computed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outer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product)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97716" y="4155211"/>
            <a:ext cx="123189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290">
                <a:latin typeface="Cambria"/>
                <a:cs typeface="Cambria"/>
              </a:rPr>
              <a:t>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89373" y="4283717"/>
            <a:ext cx="856615" cy="68770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05"/>
              </a:spcBef>
              <a:tabLst>
                <a:tab pos="410845" algn="l"/>
              </a:tabLst>
            </a:pP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90">
                <a:latin typeface="Cambria"/>
                <a:cs typeface="Cambria"/>
              </a:rPr>
              <a:t>–</a:t>
            </a:r>
            <a:r>
              <a:rPr dirty="0" sz="2000" spc="-225">
                <a:latin typeface="Cambria"/>
                <a:cs typeface="Cambria"/>
              </a:rPr>
              <a:t> </a:t>
            </a:r>
            <a:r>
              <a:rPr dirty="0" sz="2000" spc="-645">
                <a:latin typeface="Cambria"/>
                <a:cs typeface="Cambria"/>
              </a:rPr>
              <a:t>1</a:t>
            </a:r>
            <a:r>
              <a:rPr dirty="0" baseline="-19444" sz="3000" spc="-967">
                <a:latin typeface="Cambria"/>
                <a:cs typeface="Cambria"/>
              </a:rPr>
              <a:t></a:t>
            </a:r>
            <a:endParaRPr baseline="-19444" sz="3000">
              <a:latin typeface="Cambria"/>
              <a:cs typeface="Cambria"/>
            </a:endParaRPr>
          </a:p>
          <a:p>
            <a:pPr marL="41910">
              <a:lnSpc>
                <a:spcPct val="100000"/>
              </a:lnSpc>
              <a:spcBef>
                <a:spcPts val="209"/>
              </a:spcBef>
              <a:tabLst>
                <a:tab pos="551815" algn="l"/>
              </a:tabLst>
            </a:pPr>
            <a:r>
              <a:rPr dirty="0" sz="2000" spc="90">
                <a:latin typeface="Cambria"/>
                <a:cs typeface="Cambria"/>
              </a:rPr>
              <a:t>–</a:t>
            </a:r>
            <a:r>
              <a:rPr dirty="0" sz="2000" spc="-225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30">
                <a:latin typeface="Cambria"/>
                <a:cs typeface="Cambria"/>
              </a:rPr>
              <a:t>1</a:t>
            </a:r>
            <a:r>
              <a:rPr dirty="0" sz="2000" spc="-110">
                <a:latin typeface="Cambria"/>
                <a:cs typeface="Cambria"/>
              </a:rPr>
              <a:t> </a:t>
            </a:r>
            <a:r>
              <a:rPr dirty="0" sz="2000" spc="-1655">
                <a:latin typeface="Cambria"/>
                <a:cs typeface="Cambria"/>
              </a:rPr>
              <a:t></a:t>
            </a:r>
            <a:r>
              <a:rPr dirty="0" baseline="-12500" sz="3000" spc="-2482">
                <a:latin typeface="Cambria"/>
                <a:cs typeface="Cambria"/>
              </a:rPr>
              <a:t></a:t>
            </a:r>
            <a:endParaRPr baseline="-12500" sz="3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35401" y="3625527"/>
            <a:ext cx="2236470" cy="13462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295"/>
              </a:spcBef>
              <a:tabLst>
                <a:tab pos="774700" algn="l"/>
                <a:tab pos="1414780" algn="l"/>
                <a:tab pos="1787525" algn="l"/>
              </a:tabLst>
            </a:pPr>
            <a:r>
              <a:rPr dirty="0" baseline="-4166" sz="3000" spc="-1162">
                <a:latin typeface="Cambria"/>
                <a:cs typeface="Cambria"/>
              </a:rPr>
              <a:t></a:t>
            </a:r>
            <a:r>
              <a:rPr dirty="0" sz="2000" spc="-775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90">
                <a:latin typeface="Cambria"/>
                <a:cs typeface="Cambria"/>
              </a:rPr>
              <a:t>–</a:t>
            </a:r>
            <a:r>
              <a:rPr dirty="0" sz="2000" spc="-225">
                <a:latin typeface="Cambria"/>
                <a:cs typeface="Cambria"/>
              </a:rPr>
              <a:t> </a:t>
            </a:r>
            <a:r>
              <a:rPr dirty="0" sz="2000" spc="-735">
                <a:latin typeface="Cambria"/>
                <a:cs typeface="Cambria"/>
              </a:rPr>
              <a:t>1</a:t>
            </a:r>
            <a:r>
              <a:rPr dirty="0" baseline="-4166" sz="3000" spc="-1102">
                <a:latin typeface="Cambria"/>
                <a:cs typeface="Cambria"/>
              </a:rPr>
              <a:t></a:t>
            </a:r>
            <a:endParaRPr baseline="-4166" sz="300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  <a:spcBef>
                <a:spcPts val="195"/>
              </a:spcBef>
              <a:tabLst>
                <a:tab pos="774700" algn="l"/>
                <a:tab pos="1391920" algn="l"/>
                <a:tab pos="1764664" algn="l"/>
              </a:tabLst>
            </a:pPr>
            <a:r>
              <a:rPr dirty="0" baseline="15277" sz="3000" spc="-1162">
                <a:latin typeface="Cambria"/>
                <a:cs typeface="Cambria"/>
              </a:rPr>
              <a:t></a:t>
            </a:r>
            <a:r>
              <a:rPr dirty="0" sz="2000" spc="-775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90">
                <a:latin typeface="Cambria"/>
                <a:cs typeface="Cambria"/>
              </a:rPr>
              <a:t>–</a:t>
            </a:r>
            <a:r>
              <a:rPr dirty="0" sz="2000" spc="-225">
                <a:latin typeface="Cambria"/>
                <a:cs typeface="Cambria"/>
              </a:rPr>
              <a:t> </a:t>
            </a:r>
            <a:r>
              <a:rPr dirty="0" sz="2000" spc="-645">
                <a:latin typeface="Cambria"/>
                <a:cs typeface="Cambria"/>
              </a:rPr>
              <a:t>1</a:t>
            </a:r>
            <a:r>
              <a:rPr dirty="0" baseline="15277" sz="3000" spc="-967">
                <a:latin typeface="Cambria"/>
                <a:cs typeface="Cambria"/>
              </a:rPr>
              <a:t></a:t>
            </a:r>
            <a:endParaRPr baseline="15277" sz="300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  <a:spcBef>
                <a:spcPts val="200"/>
              </a:spcBef>
              <a:tabLst>
                <a:tab pos="774700" algn="l"/>
              </a:tabLst>
            </a:pPr>
            <a:r>
              <a:rPr dirty="0" baseline="-19444" sz="3000" spc="-1162">
                <a:latin typeface="Cambria"/>
                <a:cs typeface="Cambria"/>
              </a:rPr>
              <a:t></a:t>
            </a:r>
            <a:r>
              <a:rPr dirty="0" sz="2000" spc="-775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50"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  <a:spcBef>
                <a:spcPts val="204"/>
              </a:spcBef>
              <a:tabLst>
                <a:tab pos="778510" algn="l"/>
              </a:tabLst>
            </a:pPr>
            <a:r>
              <a:rPr dirty="0" sz="2000" spc="-1025">
                <a:latin typeface="Cambria"/>
                <a:cs typeface="Cambria"/>
              </a:rPr>
              <a:t></a:t>
            </a:r>
            <a:r>
              <a:rPr dirty="0" baseline="-12500" sz="3000" spc="-1537">
                <a:latin typeface="Cambria"/>
                <a:cs typeface="Cambria"/>
              </a:rPr>
              <a:t></a:t>
            </a:r>
            <a:r>
              <a:rPr dirty="0" sz="2000" spc="-1025">
                <a:latin typeface="Cambria"/>
                <a:cs typeface="Cambria"/>
              </a:rPr>
              <a:t>–</a:t>
            </a:r>
            <a:r>
              <a:rPr dirty="0" sz="2000" spc="-215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1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90">
                <a:latin typeface="Cambria"/>
                <a:cs typeface="Cambria"/>
              </a:rPr>
              <a:t>–</a:t>
            </a:r>
            <a:r>
              <a:rPr dirty="0" sz="2000" spc="-225">
                <a:latin typeface="Cambria"/>
                <a:cs typeface="Cambria"/>
              </a:rPr>
              <a:t> </a:t>
            </a:r>
            <a:r>
              <a:rPr dirty="0" sz="2000" spc="-50"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24543" y="4141330"/>
            <a:ext cx="6972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8300" algn="l"/>
              </a:tabLst>
            </a:pPr>
            <a:r>
              <a:rPr dirty="0" sz="2000" spc="-50" b="1" i="1">
                <a:latin typeface="Cambria"/>
                <a:cs typeface="Cambria"/>
              </a:rPr>
              <a:t>W</a:t>
            </a:r>
            <a:r>
              <a:rPr dirty="0" sz="2000" b="1" i="1">
                <a:latin typeface="Cambria"/>
                <a:cs typeface="Cambria"/>
              </a:rPr>
              <a:t>	</a:t>
            </a:r>
            <a:r>
              <a:rPr dirty="0" sz="2000">
                <a:latin typeface="Cambria"/>
                <a:cs typeface="Cambria"/>
              </a:rPr>
              <a:t>=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baseline="-2777" sz="3000" spc="-1935">
                <a:latin typeface="Cambria"/>
                <a:cs typeface="Cambria"/>
              </a:rPr>
              <a:t></a:t>
            </a:r>
            <a:endParaRPr baseline="-2777" sz="30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46493" y="5157137"/>
            <a:ext cx="1480820" cy="156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445">
              <a:lnSpc>
                <a:spcPct val="107300"/>
              </a:lnSpc>
              <a:spcBef>
                <a:spcPts val="100"/>
              </a:spcBef>
            </a:pPr>
            <a:r>
              <a:rPr dirty="0" sz="2350" spc="-95">
                <a:latin typeface="Cambria"/>
                <a:cs typeface="Cambria"/>
              </a:rPr>
              <a:t>training</a:t>
            </a:r>
            <a:r>
              <a:rPr dirty="0" sz="2350" spc="-55">
                <a:latin typeface="Cambria"/>
                <a:cs typeface="Cambria"/>
              </a:rPr>
              <a:t> </a:t>
            </a:r>
            <a:r>
              <a:rPr dirty="0" sz="2350" spc="-25">
                <a:latin typeface="Cambria"/>
                <a:cs typeface="Cambria"/>
              </a:rPr>
              <a:t>pat. </a:t>
            </a:r>
            <a:r>
              <a:rPr dirty="0" sz="2350" spc="-75">
                <a:latin typeface="Cambria"/>
                <a:cs typeface="Cambria"/>
              </a:rPr>
              <a:t>noisy</a:t>
            </a:r>
            <a:r>
              <a:rPr dirty="0" sz="2350" spc="-50">
                <a:latin typeface="Cambria"/>
                <a:cs typeface="Cambria"/>
              </a:rPr>
              <a:t> </a:t>
            </a:r>
            <a:r>
              <a:rPr dirty="0" sz="2350" spc="-25">
                <a:latin typeface="Cambria"/>
                <a:cs typeface="Cambria"/>
              </a:rPr>
              <a:t>pat </a:t>
            </a:r>
            <a:r>
              <a:rPr dirty="0" sz="2350" spc="-80">
                <a:latin typeface="Cambria"/>
                <a:cs typeface="Cambria"/>
              </a:rPr>
              <a:t>missing</a:t>
            </a:r>
            <a:r>
              <a:rPr dirty="0" sz="2350" spc="-60">
                <a:latin typeface="Cambria"/>
                <a:cs typeface="Cambria"/>
              </a:rPr>
              <a:t> </a:t>
            </a:r>
            <a:r>
              <a:rPr dirty="0" sz="2350" spc="-45">
                <a:latin typeface="Cambria"/>
                <a:cs typeface="Cambria"/>
              </a:rPr>
              <a:t>info </a:t>
            </a:r>
            <a:r>
              <a:rPr dirty="0" sz="2350" spc="-140">
                <a:latin typeface="Cambria"/>
                <a:cs typeface="Cambria"/>
              </a:rPr>
              <a:t>more</a:t>
            </a:r>
            <a:r>
              <a:rPr dirty="0" sz="2350" spc="-105">
                <a:latin typeface="Cambria"/>
                <a:cs typeface="Cambria"/>
              </a:rPr>
              <a:t> </a:t>
            </a:r>
            <a:r>
              <a:rPr dirty="0" sz="2350" spc="-20">
                <a:latin typeface="Cambria"/>
                <a:cs typeface="Cambria"/>
              </a:rPr>
              <a:t>noisy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02648" y="5089194"/>
            <a:ext cx="5118100" cy="1649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461645">
              <a:lnSpc>
                <a:spcPts val="3375"/>
              </a:lnSpc>
              <a:spcBef>
                <a:spcPts val="90"/>
              </a:spcBef>
            </a:pPr>
            <a:r>
              <a:rPr dirty="0" sz="3100" spc="-640">
                <a:latin typeface="Cambria"/>
                <a:cs typeface="Cambria"/>
              </a:rPr>
              <a:t>(</a:t>
            </a:r>
            <a:r>
              <a:rPr dirty="0" sz="2350" spc="-105">
                <a:latin typeface="Cambria"/>
                <a:cs typeface="Cambria"/>
              </a:rPr>
              <a:t>11</a:t>
            </a:r>
            <a:r>
              <a:rPr dirty="0" sz="2350" spc="-170">
                <a:latin typeface="Cambria"/>
                <a:cs typeface="Cambria"/>
              </a:rPr>
              <a:t>1</a:t>
            </a:r>
            <a:r>
              <a:rPr dirty="0" sz="2350" spc="-210">
                <a:latin typeface="Cambria"/>
                <a:cs typeface="Cambria"/>
              </a:rPr>
              <a:t> </a:t>
            </a:r>
            <a:r>
              <a:rPr dirty="0" sz="2350" spc="-434">
                <a:latin typeface="Cambria"/>
                <a:cs typeface="Cambria"/>
              </a:rPr>
              <a:t>–1</a:t>
            </a:r>
            <a:r>
              <a:rPr dirty="0" sz="3100" spc="-434">
                <a:latin typeface="Cambria"/>
                <a:cs typeface="Cambria"/>
              </a:rPr>
              <a:t>)</a:t>
            </a:r>
            <a:r>
              <a:rPr dirty="0" sz="2350" spc="-434">
                <a:latin typeface="Cambria"/>
                <a:cs typeface="Cambria"/>
              </a:rPr>
              <a:t></a:t>
            </a:r>
            <a:r>
              <a:rPr dirty="0" sz="2350" spc="-434" b="1" i="1">
                <a:latin typeface="Cambria"/>
                <a:cs typeface="Cambria"/>
              </a:rPr>
              <a:t>W</a:t>
            </a:r>
            <a:r>
              <a:rPr dirty="0" sz="2350" spc="420" b="1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-25">
                <a:latin typeface="Cambria"/>
                <a:cs typeface="Cambria"/>
              </a:rPr>
              <a:t> </a:t>
            </a:r>
            <a:r>
              <a:rPr dirty="0" sz="3100" spc="-300">
                <a:latin typeface="Cambria"/>
                <a:cs typeface="Cambria"/>
              </a:rPr>
              <a:t>(</a:t>
            </a:r>
            <a:r>
              <a:rPr dirty="0" sz="2350" spc="-300">
                <a:latin typeface="Cambria"/>
                <a:cs typeface="Cambria"/>
              </a:rPr>
              <a:t>4</a:t>
            </a:r>
            <a:r>
              <a:rPr dirty="0" sz="2350" spc="-10">
                <a:latin typeface="Cambria"/>
                <a:cs typeface="Cambria"/>
              </a:rPr>
              <a:t> </a:t>
            </a:r>
            <a:r>
              <a:rPr dirty="0" sz="2350" spc="-130">
                <a:latin typeface="Cambria"/>
                <a:cs typeface="Cambria"/>
              </a:rPr>
              <a:t>4</a:t>
            </a:r>
            <a:r>
              <a:rPr dirty="0" sz="2350" spc="-10">
                <a:latin typeface="Cambria"/>
                <a:cs typeface="Cambria"/>
              </a:rPr>
              <a:t> </a:t>
            </a:r>
            <a:r>
              <a:rPr dirty="0" sz="2350" spc="-130">
                <a:latin typeface="Cambria"/>
                <a:cs typeface="Cambria"/>
              </a:rPr>
              <a:t>4</a:t>
            </a:r>
            <a:r>
              <a:rPr dirty="0" sz="2350" spc="-15">
                <a:latin typeface="Cambria"/>
                <a:cs typeface="Cambria"/>
              </a:rPr>
              <a:t> </a:t>
            </a:r>
            <a:r>
              <a:rPr dirty="0" sz="2350" spc="105">
                <a:latin typeface="Cambria"/>
                <a:cs typeface="Cambria"/>
              </a:rPr>
              <a:t>–</a:t>
            </a:r>
            <a:r>
              <a:rPr dirty="0" sz="2350" spc="-130">
                <a:latin typeface="Cambria"/>
                <a:cs typeface="Cambria"/>
              </a:rPr>
              <a:t> </a:t>
            </a:r>
            <a:r>
              <a:rPr dirty="0" sz="2350" spc="-250">
                <a:latin typeface="Cambria"/>
                <a:cs typeface="Cambria"/>
              </a:rPr>
              <a:t>4</a:t>
            </a:r>
            <a:r>
              <a:rPr dirty="0" sz="3100" spc="-250">
                <a:latin typeface="Cambria"/>
                <a:cs typeface="Cambria"/>
              </a:rPr>
              <a:t>)</a:t>
            </a:r>
            <a:r>
              <a:rPr dirty="0" sz="3100" spc="-375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</a:t>
            </a:r>
            <a:r>
              <a:rPr dirty="0" sz="2350" spc="-70">
                <a:latin typeface="Cambria"/>
                <a:cs typeface="Cambria"/>
              </a:rPr>
              <a:t> </a:t>
            </a:r>
            <a:r>
              <a:rPr dirty="0" sz="3100" spc="-640">
                <a:latin typeface="Cambria"/>
                <a:cs typeface="Cambria"/>
              </a:rPr>
              <a:t>(</a:t>
            </a:r>
            <a:r>
              <a:rPr dirty="0" sz="2350" spc="-105">
                <a:latin typeface="Cambria"/>
                <a:cs typeface="Cambria"/>
              </a:rPr>
              <a:t>11</a:t>
            </a:r>
            <a:r>
              <a:rPr dirty="0" sz="2350" spc="-170">
                <a:latin typeface="Cambria"/>
                <a:cs typeface="Cambria"/>
              </a:rPr>
              <a:t>1</a:t>
            </a:r>
            <a:r>
              <a:rPr dirty="0" sz="2350" spc="-195">
                <a:latin typeface="Cambria"/>
                <a:cs typeface="Cambria"/>
              </a:rPr>
              <a:t> </a:t>
            </a:r>
            <a:r>
              <a:rPr dirty="0" sz="2350" spc="-25">
                <a:latin typeface="Cambria"/>
                <a:cs typeface="Cambria"/>
              </a:rPr>
              <a:t>–1</a:t>
            </a:r>
            <a:r>
              <a:rPr dirty="0" sz="3100" spc="-25">
                <a:latin typeface="Cambria"/>
                <a:cs typeface="Cambria"/>
              </a:rPr>
              <a:t>)</a:t>
            </a:r>
            <a:endParaRPr sz="3100">
              <a:latin typeface="Cambria"/>
              <a:cs typeface="Cambria"/>
            </a:endParaRPr>
          </a:p>
          <a:p>
            <a:pPr algn="r" marR="443230">
              <a:lnSpc>
                <a:spcPts val="3025"/>
              </a:lnSpc>
            </a:pPr>
            <a:r>
              <a:rPr dirty="0" sz="3100" spc="-105">
                <a:latin typeface="Cambria"/>
                <a:cs typeface="Cambria"/>
              </a:rPr>
              <a:t>(</a:t>
            </a:r>
            <a:r>
              <a:rPr dirty="0" sz="2350" spc="-105">
                <a:latin typeface="Cambria"/>
                <a:cs typeface="Cambria"/>
              </a:rPr>
              <a:t>–111</a:t>
            </a:r>
            <a:r>
              <a:rPr dirty="0" sz="2350" spc="-200">
                <a:latin typeface="Cambria"/>
                <a:cs typeface="Cambria"/>
              </a:rPr>
              <a:t> </a:t>
            </a:r>
            <a:r>
              <a:rPr dirty="0" sz="2350" spc="-434">
                <a:latin typeface="Cambria"/>
                <a:cs typeface="Cambria"/>
              </a:rPr>
              <a:t>–1</a:t>
            </a:r>
            <a:r>
              <a:rPr dirty="0" sz="3100" spc="-434">
                <a:latin typeface="Cambria"/>
                <a:cs typeface="Cambria"/>
              </a:rPr>
              <a:t>)</a:t>
            </a:r>
            <a:r>
              <a:rPr dirty="0" sz="2350" spc="-434">
                <a:latin typeface="Cambria"/>
                <a:cs typeface="Cambria"/>
              </a:rPr>
              <a:t></a:t>
            </a:r>
            <a:r>
              <a:rPr dirty="0" sz="2350" spc="-434" b="1" i="1">
                <a:latin typeface="Cambria"/>
                <a:cs typeface="Cambria"/>
              </a:rPr>
              <a:t>W</a:t>
            </a:r>
            <a:r>
              <a:rPr dirty="0" sz="2350" spc="415" b="1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-25">
                <a:latin typeface="Cambria"/>
                <a:cs typeface="Cambria"/>
              </a:rPr>
              <a:t> </a:t>
            </a:r>
            <a:r>
              <a:rPr dirty="0" sz="3100" spc="-300">
                <a:latin typeface="Cambria"/>
                <a:cs typeface="Cambria"/>
              </a:rPr>
              <a:t>(</a:t>
            </a:r>
            <a:r>
              <a:rPr dirty="0" sz="2350" spc="-300">
                <a:latin typeface="Cambria"/>
                <a:cs typeface="Cambria"/>
              </a:rPr>
              <a:t>2</a:t>
            </a:r>
            <a:r>
              <a:rPr dirty="0" sz="2350" spc="-10">
                <a:latin typeface="Cambria"/>
                <a:cs typeface="Cambria"/>
              </a:rPr>
              <a:t> </a:t>
            </a:r>
            <a:r>
              <a:rPr dirty="0" sz="2350" spc="-130">
                <a:latin typeface="Cambria"/>
                <a:cs typeface="Cambria"/>
              </a:rPr>
              <a:t>2</a:t>
            </a:r>
            <a:r>
              <a:rPr dirty="0" sz="2350" spc="-10">
                <a:latin typeface="Cambria"/>
                <a:cs typeface="Cambria"/>
              </a:rPr>
              <a:t> </a:t>
            </a:r>
            <a:r>
              <a:rPr dirty="0" sz="2350" spc="-130">
                <a:latin typeface="Cambria"/>
                <a:cs typeface="Cambria"/>
              </a:rPr>
              <a:t>2</a:t>
            </a:r>
            <a:r>
              <a:rPr dirty="0" sz="2350" spc="-15">
                <a:latin typeface="Cambria"/>
                <a:cs typeface="Cambria"/>
              </a:rPr>
              <a:t> </a:t>
            </a:r>
            <a:r>
              <a:rPr dirty="0" sz="2350" spc="105">
                <a:latin typeface="Cambria"/>
                <a:cs typeface="Cambria"/>
              </a:rPr>
              <a:t>–</a:t>
            </a:r>
            <a:r>
              <a:rPr dirty="0" sz="2350" spc="-130">
                <a:latin typeface="Cambria"/>
                <a:cs typeface="Cambria"/>
              </a:rPr>
              <a:t> </a:t>
            </a:r>
            <a:r>
              <a:rPr dirty="0" sz="2350" spc="-250">
                <a:latin typeface="Cambria"/>
                <a:cs typeface="Cambria"/>
              </a:rPr>
              <a:t>2</a:t>
            </a:r>
            <a:r>
              <a:rPr dirty="0" sz="3100" spc="-250">
                <a:latin typeface="Cambria"/>
                <a:cs typeface="Cambria"/>
              </a:rPr>
              <a:t>)</a:t>
            </a:r>
            <a:r>
              <a:rPr dirty="0" sz="3100" spc="-375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</a:t>
            </a:r>
            <a:r>
              <a:rPr dirty="0" sz="2350" spc="-70">
                <a:latin typeface="Cambria"/>
                <a:cs typeface="Cambria"/>
              </a:rPr>
              <a:t> </a:t>
            </a:r>
            <a:r>
              <a:rPr dirty="0" sz="3100" spc="-640">
                <a:latin typeface="Cambria"/>
                <a:cs typeface="Cambria"/>
              </a:rPr>
              <a:t>(</a:t>
            </a:r>
            <a:r>
              <a:rPr dirty="0" sz="2350" spc="-105">
                <a:latin typeface="Cambria"/>
                <a:cs typeface="Cambria"/>
              </a:rPr>
              <a:t>11</a:t>
            </a:r>
            <a:r>
              <a:rPr dirty="0" sz="2350" spc="-170">
                <a:latin typeface="Cambria"/>
                <a:cs typeface="Cambria"/>
              </a:rPr>
              <a:t>1</a:t>
            </a:r>
            <a:r>
              <a:rPr dirty="0" sz="2350" spc="-195">
                <a:latin typeface="Cambria"/>
                <a:cs typeface="Cambria"/>
              </a:rPr>
              <a:t> </a:t>
            </a:r>
            <a:r>
              <a:rPr dirty="0" sz="2350" spc="-25">
                <a:latin typeface="Cambria"/>
                <a:cs typeface="Cambria"/>
              </a:rPr>
              <a:t>–1</a:t>
            </a:r>
            <a:r>
              <a:rPr dirty="0" sz="3100" spc="-25">
                <a:latin typeface="Cambria"/>
                <a:cs typeface="Cambria"/>
              </a:rPr>
              <a:t>)</a:t>
            </a:r>
            <a:endParaRPr sz="3100">
              <a:latin typeface="Cambria"/>
              <a:cs typeface="Cambria"/>
            </a:endParaRPr>
          </a:p>
          <a:p>
            <a:pPr algn="r" marR="378460">
              <a:lnSpc>
                <a:spcPts val="3025"/>
              </a:lnSpc>
            </a:pPr>
            <a:r>
              <a:rPr dirty="0" sz="3100" spc="-320">
                <a:latin typeface="Cambria"/>
                <a:cs typeface="Cambria"/>
              </a:rPr>
              <a:t>(</a:t>
            </a:r>
            <a:r>
              <a:rPr dirty="0" sz="2350" spc="-320">
                <a:latin typeface="Cambria"/>
                <a:cs typeface="Cambria"/>
              </a:rPr>
              <a:t>0</a:t>
            </a:r>
            <a:r>
              <a:rPr dirty="0" sz="2350" spc="-60">
                <a:latin typeface="Cambria"/>
                <a:cs typeface="Cambria"/>
              </a:rPr>
              <a:t> </a:t>
            </a:r>
            <a:r>
              <a:rPr dirty="0" sz="2350" spc="-10">
                <a:latin typeface="Cambria"/>
                <a:cs typeface="Cambria"/>
              </a:rPr>
              <a:t>01</a:t>
            </a:r>
            <a:r>
              <a:rPr dirty="0" sz="2350" spc="-200">
                <a:latin typeface="Cambria"/>
                <a:cs typeface="Cambria"/>
              </a:rPr>
              <a:t> </a:t>
            </a:r>
            <a:r>
              <a:rPr dirty="0" sz="2350" spc="-434">
                <a:latin typeface="Cambria"/>
                <a:cs typeface="Cambria"/>
              </a:rPr>
              <a:t>–1</a:t>
            </a:r>
            <a:r>
              <a:rPr dirty="0" sz="3100" spc="-434">
                <a:latin typeface="Cambria"/>
                <a:cs typeface="Cambria"/>
              </a:rPr>
              <a:t>)</a:t>
            </a:r>
            <a:r>
              <a:rPr dirty="0" sz="2350" spc="-434">
                <a:latin typeface="Cambria"/>
                <a:cs typeface="Cambria"/>
              </a:rPr>
              <a:t></a:t>
            </a:r>
            <a:r>
              <a:rPr dirty="0" sz="2350" spc="-434" b="1" i="1">
                <a:latin typeface="Cambria"/>
                <a:cs typeface="Cambria"/>
              </a:rPr>
              <a:t>W</a:t>
            </a:r>
            <a:r>
              <a:rPr dirty="0" sz="2350" spc="409" b="1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-25">
                <a:latin typeface="Cambria"/>
                <a:cs typeface="Cambria"/>
              </a:rPr>
              <a:t> </a:t>
            </a:r>
            <a:r>
              <a:rPr dirty="0" sz="3100" spc="-300">
                <a:latin typeface="Cambria"/>
                <a:cs typeface="Cambria"/>
              </a:rPr>
              <a:t>(</a:t>
            </a:r>
            <a:r>
              <a:rPr dirty="0" sz="2350" spc="-300">
                <a:latin typeface="Cambria"/>
                <a:cs typeface="Cambria"/>
              </a:rPr>
              <a:t>2</a:t>
            </a:r>
            <a:r>
              <a:rPr dirty="0" sz="2350" spc="-10">
                <a:latin typeface="Cambria"/>
                <a:cs typeface="Cambria"/>
              </a:rPr>
              <a:t> </a:t>
            </a:r>
            <a:r>
              <a:rPr dirty="0" sz="2350" spc="-130">
                <a:latin typeface="Cambria"/>
                <a:cs typeface="Cambria"/>
              </a:rPr>
              <a:t>2</a:t>
            </a:r>
            <a:r>
              <a:rPr dirty="0" sz="2350" spc="-15">
                <a:latin typeface="Cambria"/>
                <a:cs typeface="Cambria"/>
              </a:rPr>
              <a:t> </a:t>
            </a:r>
            <a:r>
              <a:rPr dirty="0" sz="2350" spc="-130">
                <a:latin typeface="Cambria"/>
                <a:cs typeface="Cambria"/>
              </a:rPr>
              <a:t>2</a:t>
            </a:r>
            <a:r>
              <a:rPr dirty="0" sz="2350" spc="-20">
                <a:latin typeface="Cambria"/>
                <a:cs typeface="Cambria"/>
              </a:rPr>
              <a:t> </a:t>
            </a:r>
            <a:r>
              <a:rPr dirty="0" sz="2350" spc="105">
                <a:latin typeface="Cambria"/>
                <a:cs typeface="Cambria"/>
              </a:rPr>
              <a:t>–</a:t>
            </a:r>
            <a:r>
              <a:rPr dirty="0" sz="2350" spc="-130">
                <a:latin typeface="Cambria"/>
                <a:cs typeface="Cambria"/>
              </a:rPr>
              <a:t> </a:t>
            </a:r>
            <a:r>
              <a:rPr dirty="0" sz="2350" spc="-250">
                <a:latin typeface="Cambria"/>
                <a:cs typeface="Cambria"/>
              </a:rPr>
              <a:t>2</a:t>
            </a:r>
            <a:r>
              <a:rPr dirty="0" sz="3100" spc="-250">
                <a:latin typeface="Cambria"/>
                <a:cs typeface="Cambria"/>
              </a:rPr>
              <a:t>)</a:t>
            </a:r>
            <a:r>
              <a:rPr dirty="0" sz="3100" spc="-380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</a:t>
            </a:r>
            <a:r>
              <a:rPr dirty="0" sz="2350" spc="-70">
                <a:latin typeface="Cambria"/>
                <a:cs typeface="Cambria"/>
              </a:rPr>
              <a:t> </a:t>
            </a:r>
            <a:r>
              <a:rPr dirty="0" sz="3100" spc="-640">
                <a:latin typeface="Cambria"/>
                <a:cs typeface="Cambria"/>
              </a:rPr>
              <a:t>(</a:t>
            </a:r>
            <a:r>
              <a:rPr dirty="0" sz="2350" spc="-105">
                <a:latin typeface="Cambria"/>
                <a:cs typeface="Cambria"/>
              </a:rPr>
              <a:t>11</a:t>
            </a:r>
            <a:r>
              <a:rPr dirty="0" sz="2350" spc="-170">
                <a:latin typeface="Cambria"/>
                <a:cs typeface="Cambria"/>
              </a:rPr>
              <a:t>1</a:t>
            </a:r>
            <a:r>
              <a:rPr dirty="0" sz="2350" spc="-195">
                <a:latin typeface="Cambria"/>
                <a:cs typeface="Cambria"/>
              </a:rPr>
              <a:t> </a:t>
            </a:r>
            <a:r>
              <a:rPr dirty="0" sz="2350" spc="-25">
                <a:latin typeface="Cambria"/>
                <a:cs typeface="Cambria"/>
              </a:rPr>
              <a:t>–1</a:t>
            </a:r>
            <a:r>
              <a:rPr dirty="0" sz="3100" spc="-25">
                <a:latin typeface="Cambria"/>
                <a:cs typeface="Cambria"/>
              </a:rPr>
              <a:t>)</a:t>
            </a:r>
            <a:endParaRPr sz="3100">
              <a:latin typeface="Cambria"/>
              <a:cs typeface="Cambria"/>
            </a:endParaRPr>
          </a:p>
          <a:p>
            <a:pPr marL="12700">
              <a:lnSpc>
                <a:spcPts val="3375"/>
              </a:lnSpc>
              <a:tabLst>
                <a:tab pos="3343275" algn="l"/>
              </a:tabLst>
            </a:pPr>
            <a:r>
              <a:rPr dirty="0" sz="3100" spc="-120">
                <a:latin typeface="Cambria"/>
                <a:cs typeface="Cambria"/>
              </a:rPr>
              <a:t>(</a:t>
            </a:r>
            <a:r>
              <a:rPr dirty="0" sz="2350" spc="-120">
                <a:latin typeface="Cambria"/>
                <a:cs typeface="Cambria"/>
              </a:rPr>
              <a:t>–1</a:t>
            </a:r>
            <a:r>
              <a:rPr dirty="0" sz="2350" spc="-200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–11</a:t>
            </a:r>
            <a:r>
              <a:rPr dirty="0" sz="2350" spc="-200">
                <a:latin typeface="Cambria"/>
                <a:cs typeface="Cambria"/>
              </a:rPr>
              <a:t> </a:t>
            </a:r>
            <a:r>
              <a:rPr dirty="0" sz="2350" spc="-434">
                <a:latin typeface="Cambria"/>
                <a:cs typeface="Cambria"/>
              </a:rPr>
              <a:t>–1</a:t>
            </a:r>
            <a:r>
              <a:rPr dirty="0" sz="3100" spc="-434">
                <a:latin typeface="Cambria"/>
                <a:cs typeface="Cambria"/>
              </a:rPr>
              <a:t>)</a:t>
            </a:r>
            <a:r>
              <a:rPr dirty="0" sz="2350" spc="-434">
                <a:latin typeface="Cambria"/>
                <a:cs typeface="Cambria"/>
              </a:rPr>
              <a:t></a:t>
            </a:r>
            <a:r>
              <a:rPr dirty="0" sz="2350" spc="-434" b="1" i="1">
                <a:latin typeface="Cambria"/>
                <a:cs typeface="Cambria"/>
              </a:rPr>
              <a:t>W</a:t>
            </a:r>
            <a:r>
              <a:rPr dirty="0" sz="2350" spc="420" b="1" i="1">
                <a:latin typeface="Cambria"/>
                <a:cs typeface="Cambria"/>
              </a:rPr>
              <a:t> </a:t>
            </a: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-25">
                <a:latin typeface="Cambria"/>
                <a:cs typeface="Cambria"/>
              </a:rPr>
              <a:t> </a:t>
            </a:r>
            <a:r>
              <a:rPr dirty="0" sz="3100" spc="-320">
                <a:latin typeface="Cambria"/>
                <a:cs typeface="Cambria"/>
              </a:rPr>
              <a:t>(</a:t>
            </a:r>
            <a:r>
              <a:rPr dirty="0" sz="2350" spc="-320">
                <a:latin typeface="Cambria"/>
                <a:cs typeface="Cambria"/>
              </a:rPr>
              <a:t>0</a:t>
            </a:r>
            <a:r>
              <a:rPr dirty="0" sz="2350" spc="-40">
                <a:latin typeface="Cambria"/>
                <a:cs typeface="Cambria"/>
              </a:rPr>
              <a:t> </a:t>
            </a:r>
            <a:r>
              <a:rPr dirty="0" sz="2350" spc="-130">
                <a:latin typeface="Cambria"/>
                <a:cs typeface="Cambria"/>
              </a:rPr>
              <a:t>0</a:t>
            </a:r>
            <a:r>
              <a:rPr dirty="0" sz="2350" spc="-50">
                <a:latin typeface="Cambria"/>
                <a:cs typeface="Cambria"/>
              </a:rPr>
              <a:t> </a:t>
            </a:r>
            <a:r>
              <a:rPr dirty="0" sz="2350" spc="-130">
                <a:latin typeface="Cambria"/>
                <a:cs typeface="Cambria"/>
              </a:rPr>
              <a:t>0</a:t>
            </a:r>
            <a:r>
              <a:rPr dirty="0" sz="2350" spc="-50">
                <a:latin typeface="Cambria"/>
                <a:cs typeface="Cambria"/>
              </a:rPr>
              <a:t> </a:t>
            </a:r>
            <a:r>
              <a:rPr dirty="0" sz="2350" spc="-25">
                <a:latin typeface="Cambria"/>
                <a:cs typeface="Cambria"/>
              </a:rPr>
              <a:t>0</a:t>
            </a:r>
            <a:r>
              <a:rPr dirty="0" sz="3100" spc="-25">
                <a:latin typeface="Cambria"/>
                <a:cs typeface="Cambria"/>
              </a:rPr>
              <a:t>)</a:t>
            </a:r>
            <a:r>
              <a:rPr dirty="0" sz="3100">
                <a:latin typeface="Cambria"/>
                <a:cs typeface="Cambria"/>
              </a:rPr>
              <a:t>	</a:t>
            </a:r>
            <a:r>
              <a:rPr dirty="0" sz="2350" spc="-90">
                <a:latin typeface="Cambria"/>
                <a:cs typeface="Cambria"/>
              </a:rPr>
              <a:t>not</a:t>
            </a:r>
            <a:r>
              <a:rPr dirty="0" sz="2350" spc="-25">
                <a:latin typeface="Cambria"/>
                <a:cs typeface="Cambria"/>
              </a:rPr>
              <a:t> </a:t>
            </a:r>
            <a:r>
              <a:rPr dirty="0" sz="2350" spc="-80">
                <a:latin typeface="Cambria"/>
                <a:cs typeface="Cambria"/>
              </a:rPr>
              <a:t>recognized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19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25"/>
              <a:t> </a:t>
            </a:r>
            <a:r>
              <a:rPr dirty="0"/>
              <a:t>2:</a:t>
            </a:r>
            <a:r>
              <a:rPr dirty="0" spc="-20"/>
              <a:t> auto-</a:t>
            </a:r>
            <a:r>
              <a:rPr dirty="0" spc="-10"/>
              <a:t>associative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16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1411" y="2004525"/>
            <a:ext cx="7846059" cy="289369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3333CC"/>
              </a:buClr>
              <a:buSzPct val="58000"/>
              <a:buFont typeface="Tahoma"/>
              <a:buChar char="■"/>
              <a:tabLst>
                <a:tab pos="354965" algn="l"/>
              </a:tabLst>
            </a:pPr>
            <a:r>
              <a:rPr dirty="0" sz="2500" spc="-370" b="1" i="1">
                <a:latin typeface="Verdana"/>
                <a:cs typeface="Verdana"/>
              </a:rPr>
              <a:t>W</a:t>
            </a:r>
            <a:r>
              <a:rPr dirty="0" sz="2500" spc="-110" b="1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always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symmetric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matrix</a:t>
            </a:r>
            <a:endParaRPr sz="240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555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Diagonal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elements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will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dominate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computation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when </a:t>
            </a:r>
            <a:r>
              <a:rPr dirty="0" sz="2400">
                <a:latin typeface="Tahoma"/>
                <a:cs typeface="Tahoma"/>
              </a:rPr>
              <a:t>multiple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stored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(=</a:t>
            </a:r>
            <a:r>
              <a:rPr dirty="0" sz="2400" spc="-25">
                <a:latin typeface="Tahoma"/>
                <a:cs typeface="Tahoma"/>
              </a:rPr>
              <a:t> P).</a:t>
            </a:r>
            <a:endParaRPr sz="2400">
              <a:latin typeface="Tahoma"/>
              <a:cs typeface="Tahoma"/>
            </a:endParaRPr>
          </a:p>
          <a:p>
            <a:pPr marL="354965" marR="250190" indent="-342900">
              <a:lnSpc>
                <a:spcPts val="2880"/>
              </a:lnSpc>
              <a:spcBef>
                <a:spcPts val="675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When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large,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500" spc="-370" b="1" i="1">
                <a:latin typeface="Verdana"/>
                <a:cs typeface="Verdana"/>
              </a:rPr>
              <a:t>W</a:t>
            </a:r>
            <a:r>
              <a:rPr dirty="0" sz="2500" spc="-155" b="1" i="1">
                <a:latin typeface="Verdana"/>
                <a:cs typeface="Verdan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close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identity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matrix.</a:t>
            </a:r>
            <a:r>
              <a:rPr dirty="0" sz="2400" spc="-20">
                <a:latin typeface="Tahoma"/>
                <a:cs typeface="Tahoma"/>
              </a:rPr>
              <a:t> This </a:t>
            </a:r>
            <a:r>
              <a:rPr dirty="0" sz="2400">
                <a:latin typeface="Tahoma"/>
                <a:cs typeface="Tahoma"/>
              </a:rPr>
              <a:t>causes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stoned </a:t>
            </a:r>
            <a:r>
              <a:rPr dirty="0" sz="2400">
                <a:latin typeface="Tahoma"/>
                <a:cs typeface="Tahoma"/>
              </a:rPr>
              <a:t>pattern.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pattern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correction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power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lost.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Replace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diagonal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elements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zero: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4619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dirty="0" spc="-25"/>
              <a:t> </a:t>
            </a:r>
            <a:r>
              <a:rPr dirty="0"/>
              <a:t>2:</a:t>
            </a:r>
            <a:r>
              <a:rPr dirty="0" spc="-20"/>
              <a:t> auto-</a:t>
            </a:r>
            <a:r>
              <a:rPr dirty="0" spc="-10"/>
              <a:t>associative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86773" y="6359436"/>
            <a:ext cx="13398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415">
                <a:latin typeface="Cambria"/>
                <a:cs typeface="Cambria"/>
              </a:rPr>
              <a:t>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19476" y="6121933"/>
            <a:ext cx="42672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34090" sz="3300">
                <a:latin typeface="Cambria"/>
                <a:cs typeface="Cambria"/>
              </a:rPr>
              <a:t>0</a:t>
            </a:r>
            <a:r>
              <a:rPr dirty="0" baseline="-34090" sz="3300" spc="292">
                <a:latin typeface="Cambria"/>
                <a:cs typeface="Cambria"/>
              </a:rPr>
              <a:t> </a:t>
            </a:r>
            <a:r>
              <a:rPr dirty="0" sz="2200" spc="-1415">
                <a:latin typeface="Cambria"/>
                <a:cs typeface="Cambria"/>
              </a:rPr>
              <a:t>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18856" y="5575655"/>
            <a:ext cx="1302385" cy="6534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080">
              <a:lnSpc>
                <a:spcPts val="2455"/>
              </a:lnSpc>
              <a:spcBef>
                <a:spcPts val="125"/>
              </a:spcBef>
            </a:pPr>
            <a:r>
              <a:rPr dirty="0" sz="2200" spc="-1415">
                <a:latin typeface="Cambria"/>
                <a:cs typeface="Cambria"/>
              </a:rPr>
              <a:t></a:t>
            </a:r>
            <a:endParaRPr sz="2200">
              <a:latin typeface="Cambria"/>
              <a:cs typeface="Cambria"/>
            </a:endParaRPr>
          </a:p>
          <a:p>
            <a:pPr algn="r" marR="5080">
              <a:lnSpc>
                <a:spcPts val="2455"/>
              </a:lnSpc>
              <a:tabLst>
                <a:tab pos="435609" algn="l"/>
                <a:tab pos="845819" algn="l"/>
              </a:tabLst>
            </a:pPr>
            <a:r>
              <a:rPr dirty="0" sz="2200" spc="-50">
                <a:latin typeface="Cambria"/>
                <a:cs typeface="Cambria"/>
              </a:rPr>
              <a:t>1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50">
                <a:latin typeface="Cambria"/>
                <a:cs typeface="Cambria"/>
              </a:rPr>
              <a:t>0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415">
                <a:latin typeface="Cambria"/>
                <a:cs typeface="Cambria"/>
              </a:rPr>
              <a:t>–1</a:t>
            </a:r>
            <a:r>
              <a:rPr dirty="0" baseline="2525" sz="3300" spc="-622">
                <a:latin typeface="Cambria"/>
                <a:cs typeface="Cambria"/>
              </a:rPr>
              <a:t></a:t>
            </a:r>
            <a:endParaRPr baseline="2525" sz="33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24686" y="5848794"/>
            <a:ext cx="25146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860">
                <a:latin typeface="Cambria"/>
                <a:cs typeface="Cambria"/>
              </a:rPr>
              <a:t></a:t>
            </a:r>
            <a:r>
              <a:rPr dirty="0" baseline="-2525" sz="3300" spc="-1289">
                <a:latin typeface="Cambria"/>
                <a:cs typeface="Cambria"/>
              </a:rPr>
              <a:t>1</a:t>
            </a:r>
            <a:endParaRPr baseline="-2525" sz="33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86586" y="4920531"/>
            <a:ext cx="1898014" cy="880744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819"/>
              </a:spcBef>
              <a:tabLst>
                <a:tab pos="593725" algn="l"/>
                <a:tab pos="1026794" algn="l"/>
                <a:tab pos="1414145" algn="l"/>
              </a:tabLst>
            </a:pPr>
            <a:r>
              <a:rPr dirty="0" baseline="-3787" sz="3300" spc="-1132">
                <a:latin typeface="Cambria"/>
                <a:cs typeface="Cambria"/>
              </a:rPr>
              <a:t></a:t>
            </a:r>
            <a:r>
              <a:rPr dirty="0" sz="2200" spc="-755">
                <a:latin typeface="Cambria"/>
                <a:cs typeface="Cambria"/>
              </a:rPr>
              <a:t>0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50">
                <a:latin typeface="Cambria"/>
                <a:cs typeface="Cambria"/>
              </a:rPr>
              <a:t>1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50">
                <a:latin typeface="Cambria"/>
                <a:cs typeface="Cambria"/>
              </a:rPr>
              <a:t>1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475">
                <a:latin typeface="Cambria"/>
                <a:cs typeface="Cambria"/>
              </a:rPr>
              <a:t>–1</a:t>
            </a:r>
            <a:r>
              <a:rPr dirty="0" baseline="-3787" sz="3300" spc="-712">
                <a:latin typeface="Cambria"/>
                <a:cs typeface="Cambria"/>
              </a:rPr>
              <a:t></a:t>
            </a:r>
            <a:endParaRPr baseline="-3787" sz="33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725"/>
              </a:spcBef>
              <a:tabLst>
                <a:tab pos="571500" algn="l"/>
                <a:tab pos="1003300" algn="l"/>
                <a:tab pos="1390650" algn="l"/>
              </a:tabLst>
            </a:pPr>
            <a:r>
              <a:rPr dirty="0" baseline="26515" sz="3300" spc="-1289">
                <a:latin typeface="Cambria"/>
                <a:cs typeface="Cambria"/>
              </a:rPr>
              <a:t></a:t>
            </a:r>
            <a:r>
              <a:rPr dirty="0" sz="2200" spc="-860">
                <a:latin typeface="Cambria"/>
                <a:cs typeface="Cambria"/>
              </a:rPr>
              <a:t>1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50">
                <a:latin typeface="Cambria"/>
                <a:cs typeface="Cambria"/>
              </a:rPr>
              <a:t>0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50">
                <a:latin typeface="Cambria"/>
                <a:cs typeface="Cambria"/>
              </a:rPr>
              <a:t>1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415">
                <a:latin typeface="Cambria"/>
                <a:cs typeface="Cambria"/>
              </a:rPr>
              <a:t>–1</a:t>
            </a:r>
            <a:r>
              <a:rPr dirty="0" baseline="26515" sz="3300" spc="-622">
                <a:latin typeface="Cambria"/>
                <a:cs typeface="Cambria"/>
              </a:rPr>
              <a:t></a:t>
            </a:r>
            <a:endParaRPr baseline="26515" sz="33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1619" y="5645429"/>
            <a:ext cx="77279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200" spc="-145" i="1">
                <a:latin typeface="Cambria"/>
                <a:cs typeface="Cambria"/>
              </a:rPr>
              <a:t>W</a:t>
            </a:r>
            <a:r>
              <a:rPr dirty="0" sz="2200" spc="-135" i="1">
                <a:latin typeface="Cambria"/>
                <a:cs typeface="Cambria"/>
              </a:rPr>
              <a:t> </a:t>
            </a:r>
            <a:r>
              <a:rPr dirty="0" sz="2200" spc="-135">
                <a:latin typeface="Cambria"/>
                <a:cs typeface="Cambria"/>
              </a:rPr>
              <a:t>'</a:t>
            </a:r>
            <a:r>
              <a:rPr dirty="0" sz="2200" spc="-25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=</a:t>
            </a:r>
            <a:r>
              <a:rPr dirty="0" sz="2200" spc="90">
                <a:latin typeface="Cambria"/>
                <a:cs typeface="Cambria"/>
              </a:rPr>
              <a:t> </a:t>
            </a:r>
            <a:r>
              <a:rPr dirty="0" baseline="13888" sz="3300" spc="-2122">
                <a:latin typeface="Cambria"/>
                <a:cs typeface="Cambria"/>
              </a:rPr>
              <a:t></a:t>
            </a:r>
            <a:endParaRPr baseline="13888" sz="33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24686" y="6359436"/>
            <a:ext cx="13398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-1415">
                <a:latin typeface="Cambria"/>
                <a:cs typeface="Cambria"/>
              </a:rPr>
              <a:t>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99286" y="6291148"/>
            <a:ext cx="120205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34090" sz="3300" spc="-585">
                <a:latin typeface="Cambria"/>
                <a:cs typeface="Cambria"/>
              </a:rPr>
              <a:t></a:t>
            </a:r>
            <a:r>
              <a:rPr dirty="0" sz="2200" spc="-390">
                <a:latin typeface="Cambria"/>
                <a:cs typeface="Cambria"/>
              </a:rPr>
              <a:t>–1</a:t>
            </a:r>
            <a:r>
              <a:rPr dirty="0" sz="2200" spc="-155">
                <a:latin typeface="Cambria"/>
                <a:cs typeface="Cambria"/>
              </a:rPr>
              <a:t> </a:t>
            </a:r>
            <a:r>
              <a:rPr dirty="0" sz="2200" spc="100">
                <a:latin typeface="Cambria"/>
                <a:cs typeface="Cambria"/>
              </a:rPr>
              <a:t>–1–1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12750" y="6257010"/>
            <a:ext cx="200723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  <a:tab pos="1306195" algn="l"/>
              </a:tabLst>
            </a:pPr>
            <a:r>
              <a:rPr dirty="0" sz="2150" spc="-25">
                <a:latin typeface="Cambria"/>
                <a:cs typeface="Cambria"/>
              </a:rPr>
              <a:t>–1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210">
                <a:latin typeface="Cambria"/>
                <a:cs typeface="Cambria"/>
              </a:rPr>
              <a:t>1)</a:t>
            </a:r>
            <a:r>
              <a:rPr dirty="0" sz="2150" spc="-15">
                <a:latin typeface="Cambria"/>
                <a:cs typeface="Cambria"/>
              </a:rPr>
              <a:t> </a:t>
            </a:r>
            <a:r>
              <a:rPr dirty="0" sz="2150" spc="-50">
                <a:latin typeface="Cambria"/>
                <a:cs typeface="Cambria"/>
              </a:rPr>
              <a:t>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75" i="1">
                <a:latin typeface="Cambria"/>
                <a:cs typeface="Cambria"/>
              </a:rPr>
              <a:t>wrong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255071" y="5769620"/>
            <a:ext cx="1532890" cy="84074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381635" algn="l"/>
              </a:tabLst>
            </a:pP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125">
                <a:latin typeface="Cambria"/>
                <a:cs typeface="Cambria"/>
              </a:rPr>
              <a:t>–1)</a:t>
            </a:r>
            <a:r>
              <a:rPr dirty="0" sz="2150" spc="-125" i="1">
                <a:latin typeface="Cambria"/>
                <a:cs typeface="Cambria"/>
              </a:rPr>
              <a:t>W</a:t>
            </a:r>
            <a:r>
              <a:rPr dirty="0" sz="2150" spc="-160" i="1">
                <a:latin typeface="Cambria"/>
                <a:cs typeface="Cambria"/>
              </a:rPr>
              <a:t> </a:t>
            </a:r>
            <a:r>
              <a:rPr dirty="0" sz="2150" spc="-135">
                <a:latin typeface="Cambria"/>
                <a:cs typeface="Cambria"/>
              </a:rPr>
              <a:t>'</a:t>
            </a:r>
            <a:r>
              <a:rPr dirty="0" sz="2150" spc="-2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=</a:t>
            </a:r>
            <a:r>
              <a:rPr dirty="0" sz="2150" spc="-10">
                <a:latin typeface="Cambria"/>
                <a:cs typeface="Cambria"/>
              </a:rPr>
              <a:t> </a:t>
            </a:r>
            <a:r>
              <a:rPr dirty="0" sz="2150" spc="-45">
                <a:latin typeface="Cambria"/>
                <a:cs typeface="Cambria"/>
              </a:rPr>
              <a:t>(2</a:t>
            </a:r>
            <a:endParaRPr sz="2150">
              <a:latin typeface="Cambria"/>
              <a:cs typeface="Cambria"/>
            </a:endParaRPr>
          </a:p>
          <a:p>
            <a:pPr marL="20955">
              <a:lnSpc>
                <a:spcPct val="100000"/>
              </a:lnSpc>
              <a:spcBef>
                <a:spcPts val="625"/>
              </a:spcBef>
              <a:tabLst>
                <a:tab pos="389890" algn="l"/>
              </a:tabLst>
            </a:pP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125">
                <a:latin typeface="Cambria"/>
                <a:cs typeface="Cambria"/>
              </a:rPr>
              <a:t>–1)</a:t>
            </a:r>
            <a:r>
              <a:rPr dirty="0" sz="2150" spc="-125" i="1">
                <a:latin typeface="Cambria"/>
                <a:cs typeface="Cambria"/>
              </a:rPr>
              <a:t>W</a:t>
            </a:r>
            <a:r>
              <a:rPr dirty="0" sz="2150" spc="-160" i="1">
                <a:latin typeface="Cambria"/>
                <a:cs typeface="Cambria"/>
              </a:rPr>
              <a:t> </a:t>
            </a:r>
            <a:r>
              <a:rPr dirty="0" sz="2150" spc="-135">
                <a:latin typeface="Cambria"/>
                <a:cs typeface="Cambria"/>
              </a:rPr>
              <a:t>'</a:t>
            </a:r>
            <a:r>
              <a:rPr dirty="0" sz="2150" spc="-2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=</a:t>
            </a:r>
            <a:r>
              <a:rPr dirty="0" sz="2150" spc="-10">
                <a:latin typeface="Cambria"/>
                <a:cs typeface="Cambria"/>
              </a:rPr>
              <a:t> </a:t>
            </a:r>
            <a:r>
              <a:rPr dirty="0" sz="2150" spc="-75">
                <a:latin typeface="Cambria"/>
                <a:cs typeface="Cambria"/>
              </a:rPr>
              <a:t>(1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686568" y="5034330"/>
            <a:ext cx="477075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7190" algn="l"/>
                <a:tab pos="674370" algn="l"/>
                <a:tab pos="3839210" algn="l"/>
                <a:tab pos="4136390" algn="l"/>
              </a:tabLst>
            </a:pPr>
            <a:r>
              <a:rPr dirty="0" sz="2150" spc="-25">
                <a:latin typeface="Cambria"/>
                <a:cs typeface="Cambria"/>
              </a:rPr>
              <a:t>(1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1</a:t>
            </a:r>
            <a:r>
              <a:rPr dirty="0" sz="2150" spc="195">
                <a:latin typeface="Cambria"/>
                <a:cs typeface="Cambria"/>
              </a:rPr>
              <a:t> </a:t>
            </a:r>
            <a:r>
              <a:rPr dirty="0" sz="2150" spc="-125">
                <a:latin typeface="Cambria"/>
                <a:cs typeface="Cambria"/>
              </a:rPr>
              <a:t>–1)</a:t>
            </a:r>
            <a:r>
              <a:rPr dirty="0" sz="2150" spc="-125" i="1">
                <a:latin typeface="Cambria"/>
                <a:cs typeface="Cambria"/>
              </a:rPr>
              <a:t>W</a:t>
            </a:r>
            <a:r>
              <a:rPr dirty="0" sz="2150" spc="-170" i="1">
                <a:latin typeface="Cambria"/>
                <a:cs typeface="Cambria"/>
              </a:rPr>
              <a:t> </a:t>
            </a:r>
            <a:r>
              <a:rPr dirty="0" sz="2150" spc="-135">
                <a:latin typeface="Cambria"/>
                <a:cs typeface="Cambria"/>
              </a:rPr>
              <a:t>'</a:t>
            </a:r>
            <a:r>
              <a:rPr dirty="0" sz="2150" spc="-2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=</a:t>
            </a:r>
            <a:r>
              <a:rPr dirty="0" sz="2150" spc="-6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(3</a:t>
            </a:r>
            <a:r>
              <a:rPr dirty="0" sz="2150" spc="3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3</a:t>
            </a:r>
            <a:r>
              <a:rPr dirty="0" sz="2150" spc="35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3</a:t>
            </a:r>
            <a:r>
              <a:rPr dirty="0" sz="2150" spc="415">
                <a:latin typeface="Cambria"/>
                <a:cs typeface="Cambria"/>
              </a:rPr>
              <a:t> </a:t>
            </a:r>
            <a:r>
              <a:rPr dirty="0" sz="2150" spc="95">
                <a:latin typeface="Cambria"/>
                <a:cs typeface="Cambria"/>
              </a:rPr>
              <a:t>–</a:t>
            </a:r>
            <a:r>
              <a:rPr dirty="0" sz="2150" spc="-185">
                <a:latin typeface="Cambria"/>
                <a:cs typeface="Cambria"/>
              </a:rPr>
              <a:t> </a:t>
            </a:r>
            <a:r>
              <a:rPr dirty="0" sz="2150" spc="-160">
                <a:latin typeface="Cambria"/>
                <a:cs typeface="Cambria"/>
              </a:rPr>
              <a:t>3)</a:t>
            </a:r>
            <a:r>
              <a:rPr dirty="0" sz="2150" spc="-2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</a:t>
            </a:r>
            <a:r>
              <a:rPr dirty="0" sz="2150" spc="-105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(1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1</a:t>
            </a:r>
            <a:r>
              <a:rPr dirty="0" sz="2150" spc="300">
                <a:latin typeface="Cambria"/>
                <a:cs typeface="Cambria"/>
              </a:rPr>
              <a:t> </a:t>
            </a:r>
            <a:r>
              <a:rPr dirty="0" sz="2150" spc="-45">
                <a:latin typeface="Cambria"/>
                <a:cs typeface="Cambria"/>
              </a:rPr>
              <a:t>–1)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143504" y="5769620"/>
            <a:ext cx="942975" cy="84074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algn="r" marR="34290">
              <a:lnSpc>
                <a:spcPct val="100000"/>
              </a:lnSpc>
              <a:spcBef>
                <a:spcPts val="730"/>
              </a:spcBef>
              <a:tabLst>
                <a:tab pos="478790" algn="l"/>
              </a:tabLst>
            </a:pPr>
            <a:r>
              <a:rPr dirty="0" sz="2150" spc="-25">
                <a:latin typeface="Cambria"/>
                <a:cs typeface="Cambria"/>
              </a:rPr>
              <a:t>(0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0</a:t>
            </a:r>
            <a:endParaRPr sz="215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625"/>
              </a:spcBef>
              <a:tabLst>
                <a:tab pos="614680" algn="l"/>
              </a:tabLst>
            </a:pPr>
            <a:r>
              <a:rPr dirty="0" sz="2150" spc="-25">
                <a:latin typeface="Cambria"/>
                <a:cs typeface="Cambria"/>
              </a:rPr>
              <a:t>(–1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25">
                <a:latin typeface="Cambria"/>
                <a:cs typeface="Cambria"/>
              </a:rPr>
              <a:t>–1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82911" y="5441886"/>
            <a:ext cx="224536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5625" algn="l"/>
                <a:tab pos="852169" algn="l"/>
              </a:tabLst>
            </a:pPr>
            <a:r>
              <a:rPr dirty="0" sz="2150" spc="-25">
                <a:latin typeface="Cambria"/>
                <a:cs typeface="Cambria"/>
              </a:rPr>
              <a:t>(–1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1</a:t>
            </a:r>
            <a:r>
              <a:rPr dirty="0" sz="2150" spc="345">
                <a:latin typeface="Cambria"/>
                <a:cs typeface="Cambria"/>
              </a:rPr>
              <a:t> </a:t>
            </a:r>
            <a:r>
              <a:rPr dirty="0" sz="2150" spc="-125">
                <a:latin typeface="Cambria"/>
                <a:cs typeface="Cambria"/>
              </a:rPr>
              <a:t>–1)</a:t>
            </a:r>
            <a:r>
              <a:rPr dirty="0" sz="2150" spc="-125" i="1">
                <a:latin typeface="Cambria"/>
                <a:cs typeface="Cambria"/>
              </a:rPr>
              <a:t>W</a:t>
            </a:r>
            <a:r>
              <a:rPr dirty="0" sz="2150" spc="-170" i="1">
                <a:latin typeface="Cambria"/>
                <a:cs typeface="Cambria"/>
              </a:rPr>
              <a:t> </a:t>
            </a:r>
            <a:r>
              <a:rPr dirty="0" sz="2150" spc="-135">
                <a:latin typeface="Cambria"/>
                <a:cs typeface="Cambria"/>
              </a:rPr>
              <a:t>'</a:t>
            </a:r>
            <a:r>
              <a:rPr dirty="0" sz="2150" spc="-2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=</a:t>
            </a:r>
            <a:r>
              <a:rPr dirty="0" sz="2150" spc="-45">
                <a:latin typeface="Cambria"/>
                <a:cs typeface="Cambria"/>
              </a:rPr>
              <a:t> </a:t>
            </a:r>
            <a:r>
              <a:rPr dirty="0" sz="2150" spc="-75">
                <a:latin typeface="Cambria"/>
                <a:cs typeface="Cambria"/>
              </a:rPr>
              <a:t>(3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92787" y="5362038"/>
            <a:ext cx="3141345" cy="1324610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30"/>
              </a:spcBef>
              <a:tabLst>
                <a:tab pos="377190" algn="l"/>
                <a:tab pos="746125" algn="l"/>
                <a:tab pos="1904364" algn="l"/>
                <a:tab pos="2244090" algn="l"/>
                <a:tab pos="2613025" algn="l"/>
              </a:tabLst>
            </a:pP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–1)</a:t>
            </a:r>
            <a:r>
              <a:rPr dirty="0" sz="2150" spc="-7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</a:t>
            </a:r>
            <a:r>
              <a:rPr dirty="0" sz="2150" spc="-105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(1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25">
                <a:latin typeface="Cambria"/>
                <a:cs typeface="Cambria"/>
              </a:rPr>
              <a:t>–1)</a:t>
            </a:r>
            <a:endParaRPr sz="2150">
              <a:latin typeface="Cambria"/>
              <a:cs typeface="Cambria"/>
            </a:endParaRPr>
          </a:p>
          <a:p>
            <a:pPr marL="135255">
              <a:lnSpc>
                <a:spcPct val="100000"/>
              </a:lnSpc>
              <a:spcBef>
                <a:spcPts val="625"/>
              </a:spcBef>
              <a:tabLst>
                <a:tab pos="495934" algn="l"/>
                <a:tab pos="864869" algn="l"/>
                <a:tab pos="2023110" algn="l"/>
                <a:tab pos="2362835" algn="l"/>
                <a:tab pos="2731770" algn="l"/>
              </a:tabLst>
            </a:pPr>
            <a:r>
              <a:rPr dirty="0" sz="2150" spc="-50">
                <a:latin typeface="Cambria"/>
                <a:cs typeface="Cambria"/>
              </a:rPr>
              <a:t>2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–1)</a:t>
            </a:r>
            <a:r>
              <a:rPr dirty="0" sz="2150" spc="-7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</a:t>
            </a:r>
            <a:r>
              <a:rPr dirty="0" sz="2150" spc="-105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(1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25">
                <a:latin typeface="Cambria"/>
                <a:cs typeface="Cambria"/>
              </a:rPr>
              <a:t>–1)</a:t>
            </a:r>
            <a:endParaRPr sz="215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1230"/>
              </a:spcBef>
              <a:tabLst>
                <a:tab pos="2767965" algn="l"/>
              </a:tabLst>
            </a:pPr>
            <a:r>
              <a:rPr dirty="0" baseline="15503" sz="3225" spc="-75">
                <a:latin typeface="Cambria"/>
                <a:cs typeface="Cambria"/>
              </a:rPr>
              <a:t>1</a:t>
            </a:r>
            <a:r>
              <a:rPr dirty="0" baseline="15503" sz="3225">
                <a:latin typeface="Cambria"/>
                <a:cs typeface="Cambria"/>
              </a:rPr>
              <a:t>	</a:t>
            </a:r>
            <a:r>
              <a:rPr dirty="0" sz="1400" spc="-25">
                <a:latin typeface="Tahoma"/>
                <a:cs typeface="Tahoma"/>
              </a:rPr>
              <a:t>17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The</a:t>
            </a:r>
            <a:r>
              <a:rPr dirty="0" sz="4400" spc="-70"/>
              <a:t> </a:t>
            </a:r>
            <a:r>
              <a:rPr dirty="0" sz="4400"/>
              <a:t>Hopfield</a:t>
            </a:r>
            <a:r>
              <a:rPr dirty="0" sz="4400" spc="-75"/>
              <a:t> </a:t>
            </a:r>
            <a:r>
              <a:rPr dirty="0" sz="4400" spc="-10"/>
              <a:t>Network</a:t>
            </a:r>
            <a:endParaRPr sz="44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30263" y="2248928"/>
            <a:ext cx="8239125" cy="4034154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5600" marR="56515" indent="-342900">
              <a:lnSpc>
                <a:spcPct val="79900"/>
              </a:lnSpc>
              <a:spcBef>
                <a:spcPts val="67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In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1982,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Hopfield,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Caltech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physicist,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mathematically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tied </a:t>
            </a:r>
            <a:r>
              <a:rPr dirty="0" sz="2400">
                <a:latin typeface="Tahoma"/>
                <a:cs typeface="Tahoma"/>
              </a:rPr>
              <a:t>together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many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ideas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previous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research.</a:t>
            </a:r>
            <a:endParaRPr sz="2400">
              <a:latin typeface="Tahoma"/>
              <a:cs typeface="Tahoma"/>
            </a:endParaRPr>
          </a:p>
          <a:p>
            <a:pPr marL="355600" marR="117475" indent="-342900">
              <a:lnSpc>
                <a:spcPct val="79900"/>
              </a:lnSpc>
              <a:spcBef>
                <a:spcPts val="575"/>
              </a:spcBef>
              <a:buClr>
                <a:srgbClr val="3333CC"/>
              </a:buClr>
              <a:buSzPct val="60416"/>
              <a:buChar char="■"/>
              <a:tabLst>
                <a:tab pos="355600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fully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connected,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symmetrically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weighted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where </a:t>
            </a:r>
            <a:r>
              <a:rPr dirty="0" sz="2400">
                <a:latin typeface="Tahoma"/>
                <a:cs typeface="Tahoma"/>
              </a:rPr>
              <a:t>each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both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node.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ts val="2870"/>
              </a:lnSpc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Used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for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ts val="2875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Associated</a:t>
            </a:r>
            <a:r>
              <a:rPr dirty="0" sz="2400" spc="-7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memories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ts val="2880"/>
              </a:lnSpc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Combinatorial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optimization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50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Major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contribution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John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Hopfield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NN</a:t>
            </a:r>
            <a:endParaRPr sz="2400">
              <a:latin typeface="Tahoma"/>
              <a:cs typeface="Tahoma"/>
            </a:endParaRPr>
          </a:p>
          <a:p>
            <a:pPr lvl="1" marL="755015" indent="-285115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Treating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dynamic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system</a:t>
            </a:r>
            <a:endParaRPr sz="2400">
              <a:latin typeface="Tahoma"/>
              <a:cs typeface="Tahoma"/>
            </a:endParaRPr>
          </a:p>
          <a:p>
            <a:pPr lvl="1" marL="755650" marR="5080" indent="-285750">
              <a:lnSpc>
                <a:spcPts val="2730"/>
              </a:lnSpc>
              <a:spcBef>
                <a:spcPts val="64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Introduced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notion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energy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function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attractors </a:t>
            </a:r>
            <a:r>
              <a:rPr dirty="0" sz="2400">
                <a:latin typeface="Tahoma"/>
                <a:cs typeface="Tahoma"/>
              </a:rPr>
              <a:t>into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NN</a:t>
            </a:r>
            <a:r>
              <a:rPr dirty="0" sz="2400" spc="-10">
                <a:latin typeface="Tahoma"/>
                <a:cs typeface="Tahoma"/>
              </a:rPr>
              <a:t> research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7052" y="2046186"/>
            <a:ext cx="7980045" cy="4008754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281305" indent="-268605">
              <a:lnSpc>
                <a:spcPct val="100000"/>
              </a:lnSpc>
              <a:spcBef>
                <a:spcPts val="1225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Different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forms: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discrete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&amp;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continuous</a:t>
            </a:r>
            <a:endParaRPr sz="2800">
              <a:latin typeface="Tahoma"/>
              <a:cs typeface="Tahoma"/>
            </a:endParaRPr>
          </a:p>
          <a:p>
            <a:pPr marL="12700" marR="392430" indent="268605">
              <a:lnSpc>
                <a:spcPct val="79900"/>
              </a:lnSpc>
              <a:spcBef>
                <a:spcPts val="1800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We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will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focus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discrete</a:t>
            </a:r>
            <a:r>
              <a:rPr dirty="0" sz="2800" spc="15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Hopfield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model, </a:t>
            </a:r>
            <a:r>
              <a:rPr dirty="0" sz="2800">
                <a:latin typeface="Tahoma"/>
                <a:cs typeface="Tahoma"/>
              </a:rPr>
              <a:t>because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its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mathematical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description</a:t>
            </a:r>
            <a:r>
              <a:rPr dirty="0" sz="2800" spc="-7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75">
                <a:latin typeface="Tahoma"/>
                <a:cs typeface="Tahoma"/>
              </a:rPr>
              <a:t> </a:t>
            </a:r>
            <a:r>
              <a:rPr dirty="0" sz="2800" spc="-20">
                <a:latin typeface="Tahoma"/>
                <a:cs typeface="Tahoma"/>
              </a:rPr>
              <a:t>more </a:t>
            </a:r>
            <a:r>
              <a:rPr dirty="0" sz="2800" spc="-10">
                <a:latin typeface="Tahoma"/>
                <a:cs typeface="Tahoma"/>
              </a:rPr>
              <a:t>straightforward.</a:t>
            </a:r>
            <a:endParaRPr sz="2800">
              <a:latin typeface="Tahoma"/>
              <a:cs typeface="Tahoma"/>
            </a:endParaRPr>
          </a:p>
          <a:p>
            <a:pPr marL="12700" marR="5080" indent="268605">
              <a:lnSpc>
                <a:spcPct val="79900"/>
              </a:lnSpc>
              <a:spcBef>
                <a:spcPts val="1800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discrete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model,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neuron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3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either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or</a:t>
            </a:r>
            <a:r>
              <a:rPr dirty="0" sz="2800" spc="-25">
                <a:latin typeface="Tahoma"/>
                <a:cs typeface="Tahoma"/>
              </a:rPr>
              <a:t> –1.</a:t>
            </a:r>
            <a:endParaRPr sz="2800">
              <a:latin typeface="Tahoma"/>
              <a:cs typeface="Tahoma"/>
            </a:endParaRPr>
          </a:p>
          <a:p>
            <a:pPr marL="12700" marR="271145" indent="268605">
              <a:lnSpc>
                <a:spcPct val="79900"/>
              </a:lnSpc>
              <a:spcBef>
                <a:spcPts val="1800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In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its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simplest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form,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output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function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25">
                <a:latin typeface="Tahoma"/>
                <a:cs typeface="Tahoma"/>
              </a:rPr>
              <a:t>the </a:t>
            </a: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sign</a:t>
            </a:r>
            <a:r>
              <a:rPr dirty="0" sz="2800" spc="-80" b="1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2800" b="1">
                <a:solidFill>
                  <a:srgbClr val="0000FF"/>
                </a:solidFill>
                <a:latin typeface="Tahoma"/>
                <a:cs typeface="Tahoma"/>
              </a:rPr>
              <a:t>function</a:t>
            </a:r>
            <a:r>
              <a:rPr dirty="0" sz="2800">
                <a:latin typeface="Tahoma"/>
                <a:cs typeface="Tahoma"/>
              </a:rPr>
              <a:t>,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which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yields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arguments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290">
                <a:latin typeface="Cambria"/>
                <a:cs typeface="Cambria"/>
              </a:rPr>
              <a:t></a:t>
            </a:r>
            <a:r>
              <a:rPr dirty="0" sz="2800" spc="254">
                <a:latin typeface="Cambria"/>
                <a:cs typeface="Cambria"/>
              </a:rPr>
              <a:t> </a:t>
            </a:r>
            <a:r>
              <a:rPr dirty="0" sz="2800" spc="-50">
                <a:latin typeface="Tahoma"/>
                <a:cs typeface="Tahoma"/>
              </a:rPr>
              <a:t>0 </a:t>
            </a:r>
            <a:r>
              <a:rPr dirty="0" sz="2800">
                <a:latin typeface="Tahoma"/>
                <a:cs typeface="Tahoma"/>
              </a:rPr>
              <a:t>and</a:t>
            </a:r>
            <a:r>
              <a:rPr dirty="0" sz="2800" spc="-2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–1</a:t>
            </a:r>
            <a:r>
              <a:rPr dirty="0" sz="2800" spc="-2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otherwise.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The</a:t>
            </a:r>
            <a:r>
              <a:rPr dirty="0" sz="4400" spc="-70"/>
              <a:t> </a:t>
            </a:r>
            <a:r>
              <a:rPr dirty="0" sz="4400"/>
              <a:t>Hopfield</a:t>
            </a:r>
            <a:r>
              <a:rPr dirty="0" sz="4400" spc="-75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20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18045" y="4819649"/>
            <a:ext cx="2832100" cy="1925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3850" marR="43180" indent="-285750">
              <a:lnSpc>
                <a:spcPct val="119800"/>
              </a:lnSpc>
              <a:spcBef>
                <a:spcPts val="100"/>
              </a:spcBef>
              <a:buChar char="■"/>
              <a:tabLst>
                <a:tab pos="323850" algn="l"/>
                <a:tab pos="501650" algn="l"/>
              </a:tabLst>
            </a:pPr>
            <a:r>
              <a:rPr dirty="0" sz="1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baseline="5341" sz="3900" spc="75" b="1" i="1">
                <a:latin typeface="Cambria"/>
                <a:cs typeface="Cambria"/>
              </a:rPr>
              <a:t>x</a:t>
            </a:r>
            <a:r>
              <a:rPr dirty="0" baseline="-14814" sz="2250" spc="75" b="1" i="1">
                <a:latin typeface="Cambria"/>
                <a:cs typeface="Cambria"/>
              </a:rPr>
              <a:t>i</a:t>
            </a:r>
            <a:r>
              <a:rPr dirty="0" baseline="-14814" sz="2250" spc="142" b="1" i="1">
                <a:latin typeface="Cambria"/>
                <a:cs typeface="Cambria"/>
              </a:rPr>
              <a:t>  </a:t>
            </a:r>
            <a:r>
              <a:rPr dirty="0" sz="2600">
                <a:latin typeface="Tahoma"/>
                <a:cs typeface="Tahoma"/>
              </a:rPr>
              <a:t>are</a:t>
            </a:r>
            <a:r>
              <a:rPr dirty="0" sz="2600" spc="-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external </a:t>
            </a:r>
            <a:r>
              <a:rPr dirty="0" sz="2600">
                <a:latin typeface="Tahoma"/>
                <a:cs typeface="Tahoma"/>
              </a:rPr>
              <a:t>inputs,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which </a:t>
            </a:r>
            <a:r>
              <a:rPr dirty="0" sz="2600">
                <a:latin typeface="Tahoma"/>
                <a:cs typeface="Tahoma"/>
              </a:rPr>
              <a:t>may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be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transient </a:t>
            </a:r>
            <a:r>
              <a:rPr dirty="0" sz="2600">
                <a:latin typeface="Tahoma"/>
                <a:cs typeface="Tahoma"/>
              </a:rPr>
              <a:t>or</a:t>
            </a:r>
            <a:r>
              <a:rPr dirty="0" sz="2600" spc="-10">
                <a:latin typeface="Tahoma"/>
                <a:cs typeface="Tahoma"/>
              </a:rPr>
              <a:t> permanent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95779" y="4349254"/>
            <a:ext cx="409575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>
                <a:latin typeface="Cambria"/>
                <a:cs typeface="Cambria"/>
              </a:rPr>
              <a:t>=</a:t>
            </a:r>
            <a:r>
              <a:rPr dirty="0" sz="2350" spc="5">
                <a:latin typeface="Cambria"/>
                <a:cs typeface="Cambria"/>
              </a:rPr>
              <a:t> </a:t>
            </a:r>
            <a:r>
              <a:rPr dirty="0" sz="2350" spc="-50">
                <a:latin typeface="Cambria"/>
                <a:cs typeface="Cambria"/>
              </a:rPr>
              <a:t>0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0845" y="1969947"/>
            <a:ext cx="8855710" cy="240474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20"/>
              </a:spcBef>
              <a:buClr>
                <a:srgbClr val="3333CC"/>
              </a:buClr>
              <a:buSzPct val="59615"/>
              <a:buFont typeface="Tahoma"/>
              <a:buChar char="■"/>
              <a:tabLst>
                <a:tab pos="380365" algn="l"/>
              </a:tabLst>
            </a:pPr>
            <a:r>
              <a:rPr dirty="0" sz="2600" spc="-10" b="1">
                <a:latin typeface="Tahoma"/>
                <a:cs typeface="Tahoma"/>
              </a:rPr>
              <a:t>Architecture:</a:t>
            </a:r>
            <a:endParaRPr sz="2600">
              <a:latin typeface="Tahoma"/>
              <a:cs typeface="Tahoma"/>
            </a:endParaRPr>
          </a:p>
          <a:p>
            <a:pPr lvl="1" marL="780415" indent="-285115">
              <a:lnSpc>
                <a:spcPct val="100000"/>
              </a:lnSpc>
              <a:spcBef>
                <a:spcPts val="620"/>
              </a:spcBef>
              <a:buClr>
                <a:srgbClr val="FF0000"/>
              </a:buClr>
              <a:buSzPct val="53846"/>
              <a:buChar char="■"/>
              <a:tabLst>
                <a:tab pos="780415" algn="l"/>
              </a:tabLst>
            </a:pPr>
            <a:r>
              <a:rPr dirty="0" sz="2600">
                <a:latin typeface="Tahoma"/>
                <a:cs typeface="Tahoma"/>
              </a:rPr>
              <a:t>single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layer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(units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serve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both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output)</a:t>
            </a:r>
            <a:endParaRPr sz="2600">
              <a:latin typeface="Tahoma"/>
              <a:cs typeface="Tahoma"/>
            </a:endParaRPr>
          </a:p>
          <a:p>
            <a:pPr lvl="1" marL="780415" indent="-285115">
              <a:lnSpc>
                <a:spcPct val="100000"/>
              </a:lnSpc>
              <a:spcBef>
                <a:spcPts val="620"/>
              </a:spcBef>
              <a:buClr>
                <a:srgbClr val="FF0000"/>
              </a:buClr>
              <a:buSzPct val="53846"/>
              <a:buChar char="■"/>
              <a:tabLst>
                <a:tab pos="780415" algn="l"/>
              </a:tabLst>
            </a:pPr>
            <a:r>
              <a:rPr dirty="0" sz="2600">
                <a:latin typeface="Tahoma"/>
                <a:cs typeface="Tahoma"/>
              </a:rPr>
              <a:t>nodes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are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threshold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units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(binary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or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bipolar)</a:t>
            </a:r>
            <a:endParaRPr sz="2600">
              <a:latin typeface="Tahoma"/>
              <a:cs typeface="Tahoma"/>
            </a:endParaRPr>
          </a:p>
          <a:p>
            <a:pPr lvl="1" marL="780415" indent="-285115">
              <a:lnSpc>
                <a:spcPct val="100000"/>
              </a:lnSpc>
              <a:spcBef>
                <a:spcPts val="620"/>
              </a:spcBef>
              <a:buClr>
                <a:srgbClr val="FF0000"/>
              </a:buClr>
              <a:buSzPct val="53846"/>
              <a:buChar char="■"/>
              <a:tabLst>
                <a:tab pos="780415" algn="l"/>
              </a:tabLst>
            </a:pPr>
            <a:r>
              <a:rPr dirty="0" sz="2600">
                <a:latin typeface="Tahoma"/>
                <a:cs typeface="Tahoma"/>
              </a:rPr>
              <a:t>weights: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fully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connected,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symmetric,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zero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diagonal</a:t>
            </a:r>
            <a:endParaRPr sz="2600">
              <a:latin typeface="Tahoma"/>
              <a:cs typeface="Tahoma"/>
            </a:endParaRPr>
          </a:p>
          <a:p>
            <a:pPr marL="1221740">
              <a:lnSpc>
                <a:spcPct val="100000"/>
              </a:lnSpc>
              <a:spcBef>
                <a:spcPts val="944"/>
              </a:spcBef>
            </a:pPr>
            <a:r>
              <a:rPr dirty="0" baseline="14184" sz="3525" b="1" i="1">
                <a:latin typeface="Cambria"/>
                <a:cs typeface="Cambria"/>
              </a:rPr>
              <a:t>w</a:t>
            </a:r>
            <a:r>
              <a:rPr dirty="0" sz="1350" b="1" i="1">
                <a:latin typeface="Cambria"/>
                <a:cs typeface="Cambria"/>
              </a:rPr>
              <a:t>ij</a:t>
            </a:r>
            <a:r>
              <a:rPr dirty="0" sz="1350" spc="459" b="1" i="1">
                <a:latin typeface="Cambria"/>
                <a:cs typeface="Cambria"/>
              </a:rPr>
              <a:t> </a:t>
            </a:r>
            <a:r>
              <a:rPr dirty="0" baseline="14184" sz="3525">
                <a:latin typeface="Cambria"/>
                <a:cs typeface="Cambria"/>
              </a:rPr>
              <a:t>=</a:t>
            </a:r>
            <a:r>
              <a:rPr dirty="0" baseline="14184" sz="3525" spc="37">
                <a:latin typeface="Cambria"/>
                <a:cs typeface="Cambria"/>
              </a:rPr>
              <a:t> </a:t>
            </a:r>
            <a:r>
              <a:rPr dirty="0" baseline="14184" sz="3525" spc="-367" b="1" i="1">
                <a:latin typeface="Cambria"/>
                <a:cs typeface="Cambria"/>
              </a:rPr>
              <a:t>w</a:t>
            </a:r>
            <a:r>
              <a:rPr dirty="0" baseline="14184" sz="3525" spc="-284" b="1" i="1">
                <a:latin typeface="Cambria"/>
                <a:cs typeface="Cambria"/>
              </a:rPr>
              <a:t> </a:t>
            </a:r>
            <a:r>
              <a:rPr dirty="0" sz="1350" spc="-25" b="1" i="1">
                <a:latin typeface="Cambria"/>
                <a:cs typeface="Cambria"/>
              </a:rPr>
              <a:t>ji</a:t>
            </a:r>
            <a:endParaRPr sz="13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44802" y="4425340"/>
            <a:ext cx="38862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4184" sz="3525" spc="-37" b="1" i="1">
                <a:latin typeface="Cambria"/>
                <a:cs typeface="Cambria"/>
              </a:rPr>
              <a:t>w</a:t>
            </a:r>
            <a:r>
              <a:rPr dirty="0" sz="1350" spc="-25" b="1" i="1">
                <a:latin typeface="Cambria"/>
                <a:cs typeface="Cambria"/>
              </a:rPr>
              <a:t>ii</a:t>
            </a:r>
            <a:endParaRPr sz="135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3913" y="3922776"/>
            <a:ext cx="4577814" cy="293522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747" y="3632834"/>
            <a:ext cx="878204" cy="878205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747354" y="3921277"/>
            <a:ext cx="12446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50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7947" y="3632834"/>
            <a:ext cx="878205" cy="87820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966554" y="3921277"/>
            <a:ext cx="12446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50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7147" y="3632834"/>
            <a:ext cx="878205" cy="87820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185754" y="3921277"/>
            <a:ext cx="12446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50"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2147" y="3632834"/>
            <a:ext cx="878205" cy="87820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090754" y="3921277"/>
            <a:ext cx="12446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50" i="1">
                <a:latin typeface="Cambria"/>
                <a:cs typeface="Cambria"/>
              </a:rPr>
              <a:t>n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860290" y="3623627"/>
            <a:ext cx="479425" cy="4610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50" b="1">
                <a:latin typeface="Cambria"/>
                <a:cs typeface="Cambria"/>
              </a:rPr>
              <a:t>.</a:t>
            </a:r>
            <a:r>
              <a:rPr dirty="0" sz="2850" spc="120" b="1">
                <a:latin typeface="Cambria"/>
                <a:cs typeface="Cambria"/>
              </a:rPr>
              <a:t> </a:t>
            </a:r>
            <a:r>
              <a:rPr dirty="0" sz="2850" b="1">
                <a:latin typeface="Cambria"/>
                <a:cs typeface="Cambria"/>
              </a:rPr>
              <a:t>.</a:t>
            </a:r>
            <a:r>
              <a:rPr dirty="0" sz="2850" spc="135" b="1">
                <a:latin typeface="Cambria"/>
                <a:cs typeface="Cambria"/>
              </a:rPr>
              <a:t> </a:t>
            </a:r>
            <a:r>
              <a:rPr dirty="0" sz="2850" spc="-50" b="1">
                <a:latin typeface="Cambria"/>
                <a:cs typeface="Cambria"/>
              </a:rPr>
              <a:t>.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96402" y="6097587"/>
            <a:ext cx="2120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35" i="1">
                <a:latin typeface="Cambria"/>
                <a:cs typeface="Cambria"/>
              </a:rPr>
              <a:t>v</a:t>
            </a:r>
            <a:r>
              <a:rPr dirty="0" sz="1550" spc="-35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915602" y="6097587"/>
            <a:ext cx="2120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35" i="1">
                <a:latin typeface="Cambria"/>
                <a:cs typeface="Cambria"/>
              </a:rPr>
              <a:t>v</a:t>
            </a:r>
            <a:r>
              <a:rPr dirty="0" sz="1550" spc="-35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34802" y="6097587"/>
            <a:ext cx="2120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35" i="1">
                <a:latin typeface="Cambria"/>
                <a:cs typeface="Cambria"/>
              </a:rPr>
              <a:t>v</a:t>
            </a:r>
            <a:r>
              <a:rPr dirty="0" sz="1550" spc="-35"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39802" y="6097587"/>
            <a:ext cx="2120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25" i="1">
                <a:latin typeface="Cambria"/>
                <a:cs typeface="Cambria"/>
              </a:rPr>
              <a:t>vn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038350" y="4338637"/>
            <a:ext cx="4580255" cy="386080"/>
          </a:xfrm>
          <a:custGeom>
            <a:avLst/>
            <a:gdLst/>
            <a:ahLst/>
            <a:cxnLst/>
            <a:rect l="l" t="t" r="r" b="b"/>
            <a:pathLst>
              <a:path w="4580255" h="386079">
                <a:moveTo>
                  <a:pt x="60350" y="82067"/>
                </a:moveTo>
                <a:lnTo>
                  <a:pt x="50546" y="65735"/>
                </a:lnTo>
                <a:lnTo>
                  <a:pt x="34213" y="75526"/>
                </a:lnTo>
                <a:lnTo>
                  <a:pt x="44005" y="91871"/>
                </a:lnTo>
                <a:lnTo>
                  <a:pt x="60350" y="82067"/>
                </a:lnTo>
                <a:close/>
              </a:path>
              <a:path w="4580255" h="386079">
                <a:moveTo>
                  <a:pt x="71869" y="45745"/>
                </a:moveTo>
                <a:lnTo>
                  <a:pt x="69291" y="44107"/>
                </a:lnTo>
                <a:lnTo>
                  <a:pt x="0" y="0"/>
                </a:lnTo>
                <a:lnTo>
                  <a:pt x="6527" y="84937"/>
                </a:lnTo>
                <a:lnTo>
                  <a:pt x="49441" y="59194"/>
                </a:lnTo>
                <a:lnTo>
                  <a:pt x="71869" y="45745"/>
                </a:lnTo>
                <a:close/>
              </a:path>
              <a:path w="4580255" h="386079">
                <a:moveTo>
                  <a:pt x="79946" y="114731"/>
                </a:moveTo>
                <a:lnTo>
                  <a:pt x="70142" y="98399"/>
                </a:lnTo>
                <a:lnTo>
                  <a:pt x="53809" y="108204"/>
                </a:lnTo>
                <a:lnTo>
                  <a:pt x="63614" y="124536"/>
                </a:lnTo>
                <a:lnTo>
                  <a:pt x="79946" y="114731"/>
                </a:lnTo>
                <a:close/>
              </a:path>
              <a:path w="4580255" h="386079">
                <a:moveTo>
                  <a:pt x="99555" y="147408"/>
                </a:moveTo>
                <a:lnTo>
                  <a:pt x="89750" y="131076"/>
                </a:lnTo>
                <a:lnTo>
                  <a:pt x="73418" y="140868"/>
                </a:lnTo>
                <a:lnTo>
                  <a:pt x="83210" y="157213"/>
                </a:lnTo>
                <a:lnTo>
                  <a:pt x="99555" y="147408"/>
                </a:lnTo>
                <a:close/>
              </a:path>
              <a:path w="4580255" h="386079">
                <a:moveTo>
                  <a:pt x="119151" y="180073"/>
                </a:moveTo>
                <a:lnTo>
                  <a:pt x="109347" y="163741"/>
                </a:lnTo>
                <a:lnTo>
                  <a:pt x="93014" y="173545"/>
                </a:lnTo>
                <a:lnTo>
                  <a:pt x="102819" y="189877"/>
                </a:lnTo>
                <a:lnTo>
                  <a:pt x="119151" y="180073"/>
                </a:lnTo>
                <a:close/>
              </a:path>
              <a:path w="4580255" h="386079">
                <a:moveTo>
                  <a:pt x="138760" y="212750"/>
                </a:moveTo>
                <a:lnTo>
                  <a:pt x="128955" y="196418"/>
                </a:lnTo>
                <a:lnTo>
                  <a:pt x="112623" y="206209"/>
                </a:lnTo>
                <a:lnTo>
                  <a:pt x="122415" y="222542"/>
                </a:lnTo>
                <a:lnTo>
                  <a:pt x="138760" y="212750"/>
                </a:lnTo>
                <a:close/>
              </a:path>
              <a:path w="4580255" h="386079">
                <a:moveTo>
                  <a:pt x="158356" y="245414"/>
                </a:moveTo>
                <a:lnTo>
                  <a:pt x="148551" y="229082"/>
                </a:lnTo>
                <a:lnTo>
                  <a:pt x="132219" y="238887"/>
                </a:lnTo>
                <a:lnTo>
                  <a:pt x="142024" y="255219"/>
                </a:lnTo>
                <a:lnTo>
                  <a:pt x="158356" y="245414"/>
                </a:lnTo>
                <a:close/>
              </a:path>
              <a:path w="4580255" h="386079">
                <a:moveTo>
                  <a:pt x="177965" y="278091"/>
                </a:moveTo>
                <a:lnTo>
                  <a:pt x="168160" y="261747"/>
                </a:lnTo>
                <a:lnTo>
                  <a:pt x="151828" y="271551"/>
                </a:lnTo>
                <a:lnTo>
                  <a:pt x="161620" y="287883"/>
                </a:lnTo>
                <a:lnTo>
                  <a:pt x="177965" y="278091"/>
                </a:lnTo>
                <a:close/>
              </a:path>
              <a:path w="4580255" h="386079">
                <a:moveTo>
                  <a:pt x="197561" y="310756"/>
                </a:moveTo>
                <a:lnTo>
                  <a:pt x="187756" y="294424"/>
                </a:lnTo>
                <a:lnTo>
                  <a:pt x="171424" y="304228"/>
                </a:lnTo>
                <a:lnTo>
                  <a:pt x="181229" y="320560"/>
                </a:lnTo>
                <a:lnTo>
                  <a:pt x="197561" y="310756"/>
                </a:lnTo>
                <a:close/>
              </a:path>
              <a:path w="4580255" h="386079">
                <a:moveTo>
                  <a:pt x="217170" y="343433"/>
                </a:moveTo>
                <a:lnTo>
                  <a:pt x="207365" y="327088"/>
                </a:lnTo>
                <a:lnTo>
                  <a:pt x="191033" y="336892"/>
                </a:lnTo>
                <a:lnTo>
                  <a:pt x="200825" y="353225"/>
                </a:lnTo>
                <a:lnTo>
                  <a:pt x="217170" y="343433"/>
                </a:lnTo>
                <a:close/>
              </a:path>
              <a:path w="4580255" h="386079">
                <a:moveTo>
                  <a:pt x="236766" y="376097"/>
                </a:moveTo>
                <a:lnTo>
                  <a:pt x="226961" y="359765"/>
                </a:lnTo>
                <a:lnTo>
                  <a:pt x="210629" y="369570"/>
                </a:lnTo>
                <a:lnTo>
                  <a:pt x="220433" y="385902"/>
                </a:lnTo>
                <a:lnTo>
                  <a:pt x="236766" y="376097"/>
                </a:lnTo>
                <a:close/>
              </a:path>
              <a:path w="4580255" h="386079">
                <a:moveTo>
                  <a:pt x="1279550" y="82067"/>
                </a:moveTo>
                <a:lnTo>
                  <a:pt x="1269746" y="65735"/>
                </a:lnTo>
                <a:lnTo>
                  <a:pt x="1253413" y="75526"/>
                </a:lnTo>
                <a:lnTo>
                  <a:pt x="1263192" y="91871"/>
                </a:lnTo>
                <a:lnTo>
                  <a:pt x="1279550" y="82067"/>
                </a:lnTo>
                <a:close/>
              </a:path>
              <a:path w="4580255" h="386079">
                <a:moveTo>
                  <a:pt x="1291069" y="45745"/>
                </a:moveTo>
                <a:lnTo>
                  <a:pt x="1288491" y="44107"/>
                </a:lnTo>
                <a:lnTo>
                  <a:pt x="1219200" y="0"/>
                </a:lnTo>
                <a:lnTo>
                  <a:pt x="1225727" y="84937"/>
                </a:lnTo>
                <a:lnTo>
                  <a:pt x="1268641" y="59194"/>
                </a:lnTo>
                <a:lnTo>
                  <a:pt x="1291069" y="45745"/>
                </a:lnTo>
                <a:close/>
              </a:path>
              <a:path w="4580255" h="386079">
                <a:moveTo>
                  <a:pt x="1299146" y="114731"/>
                </a:moveTo>
                <a:lnTo>
                  <a:pt x="1289342" y="98399"/>
                </a:lnTo>
                <a:lnTo>
                  <a:pt x="1273009" y="108204"/>
                </a:lnTo>
                <a:lnTo>
                  <a:pt x="1282814" y="124536"/>
                </a:lnTo>
                <a:lnTo>
                  <a:pt x="1299146" y="114731"/>
                </a:lnTo>
                <a:close/>
              </a:path>
              <a:path w="4580255" h="386079">
                <a:moveTo>
                  <a:pt x="1318755" y="147408"/>
                </a:moveTo>
                <a:lnTo>
                  <a:pt x="1308950" y="131076"/>
                </a:lnTo>
                <a:lnTo>
                  <a:pt x="1292618" y="140868"/>
                </a:lnTo>
                <a:lnTo>
                  <a:pt x="1302410" y="157213"/>
                </a:lnTo>
                <a:lnTo>
                  <a:pt x="1318755" y="147408"/>
                </a:lnTo>
                <a:close/>
              </a:path>
              <a:path w="4580255" h="386079">
                <a:moveTo>
                  <a:pt x="1338351" y="180073"/>
                </a:moveTo>
                <a:lnTo>
                  <a:pt x="1328547" y="163741"/>
                </a:lnTo>
                <a:lnTo>
                  <a:pt x="1312214" y="173545"/>
                </a:lnTo>
                <a:lnTo>
                  <a:pt x="1322019" y="189877"/>
                </a:lnTo>
                <a:lnTo>
                  <a:pt x="1338351" y="180073"/>
                </a:lnTo>
                <a:close/>
              </a:path>
              <a:path w="4580255" h="386079">
                <a:moveTo>
                  <a:pt x="1357960" y="212750"/>
                </a:moveTo>
                <a:lnTo>
                  <a:pt x="1348155" y="196418"/>
                </a:lnTo>
                <a:lnTo>
                  <a:pt x="1331823" y="206209"/>
                </a:lnTo>
                <a:lnTo>
                  <a:pt x="1341615" y="222542"/>
                </a:lnTo>
                <a:lnTo>
                  <a:pt x="1357960" y="212750"/>
                </a:lnTo>
                <a:close/>
              </a:path>
              <a:path w="4580255" h="386079">
                <a:moveTo>
                  <a:pt x="1377556" y="245414"/>
                </a:moveTo>
                <a:lnTo>
                  <a:pt x="1367751" y="229082"/>
                </a:lnTo>
                <a:lnTo>
                  <a:pt x="1351419" y="238887"/>
                </a:lnTo>
                <a:lnTo>
                  <a:pt x="1361224" y="255219"/>
                </a:lnTo>
                <a:lnTo>
                  <a:pt x="1377556" y="245414"/>
                </a:lnTo>
                <a:close/>
              </a:path>
              <a:path w="4580255" h="386079">
                <a:moveTo>
                  <a:pt x="1397165" y="278091"/>
                </a:moveTo>
                <a:lnTo>
                  <a:pt x="1387360" y="261747"/>
                </a:lnTo>
                <a:lnTo>
                  <a:pt x="1371028" y="271551"/>
                </a:lnTo>
                <a:lnTo>
                  <a:pt x="1380820" y="287883"/>
                </a:lnTo>
                <a:lnTo>
                  <a:pt x="1397165" y="278091"/>
                </a:lnTo>
                <a:close/>
              </a:path>
              <a:path w="4580255" h="386079">
                <a:moveTo>
                  <a:pt x="1416761" y="310756"/>
                </a:moveTo>
                <a:lnTo>
                  <a:pt x="1406956" y="294424"/>
                </a:lnTo>
                <a:lnTo>
                  <a:pt x="1390624" y="304228"/>
                </a:lnTo>
                <a:lnTo>
                  <a:pt x="1400429" y="320560"/>
                </a:lnTo>
                <a:lnTo>
                  <a:pt x="1416761" y="310756"/>
                </a:lnTo>
                <a:close/>
              </a:path>
              <a:path w="4580255" h="386079">
                <a:moveTo>
                  <a:pt x="1436370" y="343433"/>
                </a:moveTo>
                <a:lnTo>
                  <a:pt x="1426565" y="327088"/>
                </a:lnTo>
                <a:lnTo>
                  <a:pt x="1410233" y="336892"/>
                </a:lnTo>
                <a:lnTo>
                  <a:pt x="1420025" y="353225"/>
                </a:lnTo>
                <a:lnTo>
                  <a:pt x="1436370" y="343433"/>
                </a:lnTo>
                <a:close/>
              </a:path>
              <a:path w="4580255" h="386079">
                <a:moveTo>
                  <a:pt x="1455966" y="376097"/>
                </a:moveTo>
                <a:lnTo>
                  <a:pt x="1446161" y="359765"/>
                </a:lnTo>
                <a:lnTo>
                  <a:pt x="1429829" y="369570"/>
                </a:lnTo>
                <a:lnTo>
                  <a:pt x="1439633" y="385902"/>
                </a:lnTo>
                <a:lnTo>
                  <a:pt x="1455966" y="376097"/>
                </a:lnTo>
                <a:close/>
              </a:path>
              <a:path w="4580255" h="386079">
                <a:moveTo>
                  <a:pt x="2498750" y="82067"/>
                </a:moveTo>
                <a:lnTo>
                  <a:pt x="2488946" y="65735"/>
                </a:lnTo>
                <a:lnTo>
                  <a:pt x="2472613" y="75526"/>
                </a:lnTo>
                <a:lnTo>
                  <a:pt x="2482405" y="91871"/>
                </a:lnTo>
                <a:lnTo>
                  <a:pt x="2498750" y="82067"/>
                </a:lnTo>
                <a:close/>
              </a:path>
              <a:path w="4580255" h="386079">
                <a:moveTo>
                  <a:pt x="2510269" y="45745"/>
                </a:moveTo>
                <a:lnTo>
                  <a:pt x="2507691" y="44107"/>
                </a:lnTo>
                <a:lnTo>
                  <a:pt x="2438400" y="0"/>
                </a:lnTo>
                <a:lnTo>
                  <a:pt x="2444927" y="84937"/>
                </a:lnTo>
                <a:lnTo>
                  <a:pt x="2487841" y="59194"/>
                </a:lnTo>
                <a:lnTo>
                  <a:pt x="2510269" y="45745"/>
                </a:lnTo>
                <a:close/>
              </a:path>
              <a:path w="4580255" h="386079">
                <a:moveTo>
                  <a:pt x="2518346" y="114731"/>
                </a:moveTo>
                <a:lnTo>
                  <a:pt x="2508542" y="98399"/>
                </a:lnTo>
                <a:lnTo>
                  <a:pt x="2492210" y="108204"/>
                </a:lnTo>
                <a:lnTo>
                  <a:pt x="2502014" y="124536"/>
                </a:lnTo>
                <a:lnTo>
                  <a:pt x="2518346" y="114731"/>
                </a:lnTo>
                <a:close/>
              </a:path>
              <a:path w="4580255" h="386079">
                <a:moveTo>
                  <a:pt x="2537955" y="147408"/>
                </a:moveTo>
                <a:lnTo>
                  <a:pt x="2528151" y="131076"/>
                </a:lnTo>
                <a:lnTo>
                  <a:pt x="2511818" y="140868"/>
                </a:lnTo>
                <a:lnTo>
                  <a:pt x="2521610" y="157213"/>
                </a:lnTo>
                <a:lnTo>
                  <a:pt x="2537955" y="147408"/>
                </a:lnTo>
                <a:close/>
              </a:path>
              <a:path w="4580255" h="386079">
                <a:moveTo>
                  <a:pt x="2557551" y="180073"/>
                </a:moveTo>
                <a:lnTo>
                  <a:pt x="2547747" y="163741"/>
                </a:lnTo>
                <a:lnTo>
                  <a:pt x="2531414" y="173545"/>
                </a:lnTo>
                <a:lnTo>
                  <a:pt x="2541219" y="189877"/>
                </a:lnTo>
                <a:lnTo>
                  <a:pt x="2557551" y="180073"/>
                </a:lnTo>
                <a:close/>
              </a:path>
              <a:path w="4580255" h="386079">
                <a:moveTo>
                  <a:pt x="2577160" y="212750"/>
                </a:moveTo>
                <a:lnTo>
                  <a:pt x="2567355" y="196418"/>
                </a:lnTo>
                <a:lnTo>
                  <a:pt x="2551023" y="206209"/>
                </a:lnTo>
                <a:lnTo>
                  <a:pt x="2560815" y="222542"/>
                </a:lnTo>
                <a:lnTo>
                  <a:pt x="2577160" y="212750"/>
                </a:lnTo>
                <a:close/>
              </a:path>
              <a:path w="4580255" h="386079">
                <a:moveTo>
                  <a:pt x="2596756" y="245414"/>
                </a:moveTo>
                <a:lnTo>
                  <a:pt x="2586952" y="229082"/>
                </a:lnTo>
                <a:lnTo>
                  <a:pt x="2570619" y="238887"/>
                </a:lnTo>
                <a:lnTo>
                  <a:pt x="2580424" y="255219"/>
                </a:lnTo>
                <a:lnTo>
                  <a:pt x="2596756" y="245414"/>
                </a:lnTo>
                <a:close/>
              </a:path>
              <a:path w="4580255" h="386079">
                <a:moveTo>
                  <a:pt x="2616365" y="278091"/>
                </a:moveTo>
                <a:lnTo>
                  <a:pt x="2606560" y="261747"/>
                </a:lnTo>
                <a:lnTo>
                  <a:pt x="2590228" y="271551"/>
                </a:lnTo>
                <a:lnTo>
                  <a:pt x="2600020" y="287883"/>
                </a:lnTo>
                <a:lnTo>
                  <a:pt x="2616365" y="278091"/>
                </a:lnTo>
                <a:close/>
              </a:path>
              <a:path w="4580255" h="386079">
                <a:moveTo>
                  <a:pt x="2635961" y="310756"/>
                </a:moveTo>
                <a:lnTo>
                  <a:pt x="2626156" y="294424"/>
                </a:lnTo>
                <a:lnTo>
                  <a:pt x="2609824" y="304228"/>
                </a:lnTo>
                <a:lnTo>
                  <a:pt x="2619629" y="320560"/>
                </a:lnTo>
                <a:lnTo>
                  <a:pt x="2635961" y="310756"/>
                </a:lnTo>
                <a:close/>
              </a:path>
              <a:path w="4580255" h="386079">
                <a:moveTo>
                  <a:pt x="2655570" y="343433"/>
                </a:moveTo>
                <a:lnTo>
                  <a:pt x="2645765" y="327088"/>
                </a:lnTo>
                <a:lnTo>
                  <a:pt x="2629433" y="336892"/>
                </a:lnTo>
                <a:lnTo>
                  <a:pt x="2639225" y="353225"/>
                </a:lnTo>
                <a:lnTo>
                  <a:pt x="2655570" y="343433"/>
                </a:lnTo>
                <a:close/>
              </a:path>
              <a:path w="4580255" h="386079">
                <a:moveTo>
                  <a:pt x="2675166" y="376097"/>
                </a:moveTo>
                <a:lnTo>
                  <a:pt x="2665361" y="359765"/>
                </a:lnTo>
                <a:lnTo>
                  <a:pt x="2649029" y="369570"/>
                </a:lnTo>
                <a:lnTo>
                  <a:pt x="2658834" y="385902"/>
                </a:lnTo>
                <a:lnTo>
                  <a:pt x="2675166" y="376097"/>
                </a:lnTo>
                <a:close/>
              </a:path>
              <a:path w="4580255" h="386079">
                <a:moveTo>
                  <a:pt x="4403750" y="82067"/>
                </a:moveTo>
                <a:lnTo>
                  <a:pt x="4393946" y="65735"/>
                </a:lnTo>
                <a:lnTo>
                  <a:pt x="4377614" y="75526"/>
                </a:lnTo>
                <a:lnTo>
                  <a:pt x="4387405" y="91871"/>
                </a:lnTo>
                <a:lnTo>
                  <a:pt x="4403750" y="82067"/>
                </a:lnTo>
                <a:close/>
              </a:path>
              <a:path w="4580255" h="386079">
                <a:moveTo>
                  <a:pt x="4415269" y="45745"/>
                </a:moveTo>
                <a:lnTo>
                  <a:pt x="4412691" y="44107"/>
                </a:lnTo>
                <a:lnTo>
                  <a:pt x="4343400" y="0"/>
                </a:lnTo>
                <a:lnTo>
                  <a:pt x="4349928" y="84937"/>
                </a:lnTo>
                <a:lnTo>
                  <a:pt x="4392841" y="59194"/>
                </a:lnTo>
                <a:lnTo>
                  <a:pt x="4415269" y="45745"/>
                </a:lnTo>
                <a:close/>
              </a:path>
              <a:path w="4580255" h="386079">
                <a:moveTo>
                  <a:pt x="4423346" y="114731"/>
                </a:moveTo>
                <a:lnTo>
                  <a:pt x="4413542" y="98399"/>
                </a:lnTo>
                <a:lnTo>
                  <a:pt x="4397210" y="108204"/>
                </a:lnTo>
                <a:lnTo>
                  <a:pt x="4407014" y="124536"/>
                </a:lnTo>
                <a:lnTo>
                  <a:pt x="4423346" y="114731"/>
                </a:lnTo>
                <a:close/>
              </a:path>
              <a:path w="4580255" h="386079">
                <a:moveTo>
                  <a:pt x="4442955" y="147408"/>
                </a:moveTo>
                <a:lnTo>
                  <a:pt x="4433151" y="131076"/>
                </a:lnTo>
                <a:lnTo>
                  <a:pt x="4416818" y="140868"/>
                </a:lnTo>
                <a:lnTo>
                  <a:pt x="4426610" y="157213"/>
                </a:lnTo>
                <a:lnTo>
                  <a:pt x="4442955" y="147408"/>
                </a:lnTo>
                <a:close/>
              </a:path>
              <a:path w="4580255" h="386079">
                <a:moveTo>
                  <a:pt x="4462551" y="180073"/>
                </a:moveTo>
                <a:lnTo>
                  <a:pt x="4452747" y="163741"/>
                </a:lnTo>
                <a:lnTo>
                  <a:pt x="4436415" y="173545"/>
                </a:lnTo>
                <a:lnTo>
                  <a:pt x="4446219" y="189877"/>
                </a:lnTo>
                <a:lnTo>
                  <a:pt x="4462551" y="180073"/>
                </a:lnTo>
                <a:close/>
              </a:path>
              <a:path w="4580255" h="386079">
                <a:moveTo>
                  <a:pt x="4482160" y="212750"/>
                </a:moveTo>
                <a:lnTo>
                  <a:pt x="4472356" y="196418"/>
                </a:lnTo>
                <a:lnTo>
                  <a:pt x="4456023" y="206209"/>
                </a:lnTo>
                <a:lnTo>
                  <a:pt x="4465815" y="222542"/>
                </a:lnTo>
                <a:lnTo>
                  <a:pt x="4482160" y="212750"/>
                </a:lnTo>
                <a:close/>
              </a:path>
              <a:path w="4580255" h="386079">
                <a:moveTo>
                  <a:pt x="4501756" y="245414"/>
                </a:moveTo>
                <a:lnTo>
                  <a:pt x="4491952" y="229082"/>
                </a:lnTo>
                <a:lnTo>
                  <a:pt x="4475607" y="238887"/>
                </a:lnTo>
                <a:lnTo>
                  <a:pt x="4485424" y="255219"/>
                </a:lnTo>
                <a:lnTo>
                  <a:pt x="4501756" y="245414"/>
                </a:lnTo>
                <a:close/>
              </a:path>
              <a:path w="4580255" h="386079">
                <a:moveTo>
                  <a:pt x="4521365" y="278091"/>
                </a:moveTo>
                <a:lnTo>
                  <a:pt x="4511560" y="261747"/>
                </a:lnTo>
                <a:lnTo>
                  <a:pt x="4495228" y="271551"/>
                </a:lnTo>
                <a:lnTo>
                  <a:pt x="4505020" y="287883"/>
                </a:lnTo>
                <a:lnTo>
                  <a:pt x="4521365" y="278091"/>
                </a:lnTo>
                <a:close/>
              </a:path>
              <a:path w="4580255" h="386079">
                <a:moveTo>
                  <a:pt x="4540961" y="310756"/>
                </a:moveTo>
                <a:lnTo>
                  <a:pt x="4531157" y="294424"/>
                </a:lnTo>
                <a:lnTo>
                  <a:pt x="4514824" y="304228"/>
                </a:lnTo>
                <a:lnTo>
                  <a:pt x="4524629" y="320560"/>
                </a:lnTo>
                <a:lnTo>
                  <a:pt x="4540961" y="310756"/>
                </a:lnTo>
                <a:close/>
              </a:path>
              <a:path w="4580255" h="386079">
                <a:moveTo>
                  <a:pt x="4560570" y="343433"/>
                </a:moveTo>
                <a:lnTo>
                  <a:pt x="4550765" y="327088"/>
                </a:lnTo>
                <a:lnTo>
                  <a:pt x="4534433" y="336892"/>
                </a:lnTo>
                <a:lnTo>
                  <a:pt x="4544225" y="353225"/>
                </a:lnTo>
                <a:lnTo>
                  <a:pt x="4560570" y="343433"/>
                </a:lnTo>
                <a:close/>
              </a:path>
              <a:path w="4580255" h="386079">
                <a:moveTo>
                  <a:pt x="4580166" y="376097"/>
                </a:moveTo>
                <a:lnTo>
                  <a:pt x="4570361" y="359765"/>
                </a:lnTo>
                <a:lnTo>
                  <a:pt x="4554029" y="369570"/>
                </a:lnTo>
                <a:lnTo>
                  <a:pt x="4563834" y="385902"/>
                </a:lnTo>
                <a:lnTo>
                  <a:pt x="4580166" y="3760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2339339" y="4649787"/>
            <a:ext cx="19050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25" i="1">
                <a:latin typeface="Cambria"/>
                <a:cs typeface="Cambria"/>
              </a:rPr>
              <a:t>I</a:t>
            </a:r>
            <a:r>
              <a:rPr dirty="0" sz="1550" spc="-25"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558540" y="4649787"/>
            <a:ext cx="19050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25" i="1">
                <a:latin typeface="Cambria"/>
                <a:cs typeface="Cambria"/>
              </a:rPr>
              <a:t>I</a:t>
            </a:r>
            <a:r>
              <a:rPr dirty="0" sz="1550" spc="-25"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77740" y="4649787"/>
            <a:ext cx="19050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25" i="1">
                <a:latin typeface="Cambria"/>
                <a:cs typeface="Cambria"/>
              </a:rPr>
              <a:t>I</a:t>
            </a:r>
            <a:r>
              <a:rPr dirty="0" sz="1550" spc="-25"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82740" y="4649787"/>
            <a:ext cx="19050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25" i="1">
                <a:latin typeface="Cambria"/>
                <a:cs typeface="Cambria"/>
              </a:rPr>
              <a:t>In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195387" y="3343275"/>
            <a:ext cx="4729480" cy="2748280"/>
          </a:xfrm>
          <a:custGeom>
            <a:avLst/>
            <a:gdLst/>
            <a:ahLst/>
            <a:cxnLst/>
            <a:rect l="l" t="t" r="r" b="b"/>
            <a:pathLst>
              <a:path w="4729480" h="2748279">
                <a:moveTo>
                  <a:pt x="4729162" y="385762"/>
                </a:moveTo>
                <a:lnTo>
                  <a:pt x="4718570" y="328574"/>
                </a:lnTo>
                <a:lnTo>
                  <a:pt x="4705578" y="258406"/>
                </a:lnTo>
                <a:lnTo>
                  <a:pt x="4686414" y="266077"/>
                </a:lnTo>
                <a:lnTo>
                  <a:pt x="4583785" y="9525"/>
                </a:lnTo>
                <a:lnTo>
                  <a:pt x="4582592" y="6527"/>
                </a:lnTo>
                <a:lnTo>
                  <a:pt x="4581880" y="4762"/>
                </a:lnTo>
                <a:lnTo>
                  <a:pt x="4581296" y="3289"/>
                </a:lnTo>
                <a:lnTo>
                  <a:pt x="4581182" y="2997"/>
                </a:lnTo>
                <a:lnTo>
                  <a:pt x="4580572" y="1968"/>
                </a:lnTo>
                <a:lnTo>
                  <a:pt x="4580471" y="1778"/>
                </a:lnTo>
                <a:lnTo>
                  <a:pt x="4579531" y="914"/>
                </a:lnTo>
                <a:lnTo>
                  <a:pt x="4578210" y="228"/>
                </a:lnTo>
                <a:lnTo>
                  <a:pt x="4576762" y="0"/>
                </a:lnTo>
                <a:lnTo>
                  <a:pt x="4762" y="0"/>
                </a:lnTo>
                <a:lnTo>
                  <a:pt x="0" y="4762"/>
                </a:lnTo>
                <a:lnTo>
                  <a:pt x="0" y="1528762"/>
                </a:lnTo>
                <a:lnTo>
                  <a:pt x="4762" y="1533525"/>
                </a:lnTo>
                <a:lnTo>
                  <a:pt x="609600" y="1533525"/>
                </a:lnTo>
                <a:lnTo>
                  <a:pt x="609600" y="2671775"/>
                </a:lnTo>
                <a:lnTo>
                  <a:pt x="576262" y="2671775"/>
                </a:lnTo>
                <a:lnTo>
                  <a:pt x="614362" y="2747975"/>
                </a:lnTo>
                <a:lnTo>
                  <a:pt x="642937" y="2690825"/>
                </a:lnTo>
                <a:lnTo>
                  <a:pt x="652462" y="2671775"/>
                </a:lnTo>
                <a:lnTo>
                  <a:pt x="619125" y="2671775"/>
                </a:lnTo>
                <a:lnTo>
                  <a:pt x="619125" y="1071562"/>
                </a:lnTo>
                <a:lnTo>
                  <a:pt x="609600" y="1071562"/>
                </a:lnTo>
                <a:lnTo>
                  <a:pt x="609600" y="1524000"/>
                </a:lnTo>
                <a:lnTo>
                  <a:pt x="9525" y="1524000"/>
                </a:lnTo>
                <a:lnTo>
                  <a:pt x="9525" y="9525"/>
                </a:lnTo>
                <a:lnTo>
                  <a:pt x="1449336" y="9525"/>
                </a:lnTo>
                <a:lnTo>
                  <a:pt x="1553362" y="269621"/>
                </a:lnTo>
                <a:lnTo>
                  <a:pt x="1534210" y="277279"/>
                </a:lnTo>
                <a:lnTo>
                  <a:pt x="1604962" y="385762"/>
                </a:lnTo>
                <a:lnTo>
                  <a:pt x="1594370" y="328574"/>
                </a:lnTo>
                <a:lnTo>
                  <a:pt x="1581378" y="258406"/>
                </a:lnTo>
                <a:lnTo>
                  <a:pt x="1562214" y="266077"/>
                </a:lnTo>
                <a:lnTo>
                  <a:pt x="1459585" y="9525"/>
                </a:lnTo>
                <a:lnTo>
                  <a:pt x="2668536" y="9525"/>
                </a:lnTo>
                <a:lnTo>
                  <a:pt x="2772562" y="269621"/>
                </a:lnTo>
                <a:lnTo>
                  <a:pt x="2753410" y="277279"/>
                </a:lnTo>
                <a:lnTo>
                  <a:pt x="2824162" y="385762"/>
                </a:lnTo>
                <a:lnTo>
                  <a:pt x="2813570" y="328574"/>
                </a:lnTo>
                <a:lnTo>
                  <a:pt x="2800578" y="258406"/>
                </a:lnTo>
                <a:lnTo>
                  <a:pt x="2781414" y="266077"/>
                </a:lnTo>
                <a:lnTo>
                  <a:pt x="2678785" y="9525"/>
                </a:lnTo>
                <a:lnTo>
                  <a:pt x="4573536" y="9525"/>
                </a:lnTo>
                <a:lnTo>
                  <a:pt x="4677562" y="269621"/>
                </a:lnTo>
                <a:lnTo>
                  <a:pt x="4658411" y="277279"/>
                </a:lnTo>
                <a:lnTo>
                  <a:pt x="4729162" y="38576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2359977" y="3319779"/>
            <a:ext cx="30035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 i="1">
                <a:solidFill>
                  <a:srgbClr val="3333CC"/>
                </a:solidFill>
                <a:latin typeface="Cambria"/>
                <a:cs typeface="Cambria"/>
              </a:rPr>
              <a:t>w</a:t>
            </a:r>
            <a:r>
              <a:rPr dirty="0" sz="1300" spc="-70">
                <a:solidFill>
                  <a:srgbClr val="3333CC"/>
                </a:solidFill>
                <a:latin typeface="Cambria"/>
                <a:cs typeface="Cambria"/>
              </a:rPr>
              <a:t>21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966787" y="3038474"/>
            <a:ext cx="5110480" cy="3053080"/>
          </a:xfrm>
          <a:custGeom>
            <a:avLst/>
            <a:gdLst/>
            <a:ahLst/>
            <a:cxnLst/>
            <a:rect l="l" t="t" r="r" b="b"/>
            <a:pathLst>
              <a:path w="5110480" h="3053079">
                <a:moveTo>
                  <a:pt x="5110162" y="614362"/>
                </a:moveTo>
                <a:lnTo>
                  <a:pt x="5107279" y="553910"/>
                </a:lnTo>
                <a:lnTo>
                  <a:pt x="5104003" y="485000"/>
                </a:lnTo>
                <a:lnTo>
                  <a:pt x="5083975" y="490016"/>
                </a:lnTo>
                <a:lnTo>
                  <a:pt x="4963858" y="9525"/>
                </a:lnTo>
                <a:lnTo>
                  <a:pt x="4962957" y="5918"/>
                </a:lnTo>
                <a:lnTo>
                  <a:pt x="4962664" y="4762"/>
                </a:lnTo>
                <a:lnTo>
                  <a:pt x="4962385" y="3606"/>
                </a:lnTo>
                <a:lnTo>
                  <a:pt x="4961750" y="2171"/>
                </a:lnTo>
                <a:lnTo>
                  <a:pt x="4960696" y="1003"/>
                </a:lnTo>
                <a:lnTo>
                  <a:pt x="4959312" y="254"/>
                </a:lnTo>
                <a:lnTo>
                  <a:pt x="4957762" y="0"/>
                </a:lnTo>
                <a:lnTo>
                  <a:pt x="4762" y="0"/>
                </a:lnTo>
                <a:lnTo>
                  <a:pt x="0" y="4762"/>
                </a:lnTo>
                <a:lnTo>
                  <a:pt x="0" y="2062162"/>
                </a:lnTo>
                <a:lnTo>
                  <a:pt x="4762" y="2066925"/>
                </a:lnTo>
                <a:lnTo>
                  <a:pt x="2057400" y="2066925"/>
                </a:lnTo>
                <a:lnTo>
                  <a:pt x="2057400" y="2976575"/>
                </a:lnTo>
                <a:lnTo>
                  <a:pt x="2024062" y="2976575"/>
                </a:lnTo>
                <a:lnTo>
                  <a:pt x="2062162" y="3052775"/>
                </a:lnTo>
                <a:lnTo>
                  <a:pt x="2090737" y="2995625"/>
                </a:lnTo>
                <a:lnTo>
                  <a:pt x="2100262" y="2976575"/>
                </a:lnTo>
                <a:lnTo>
                  <a:pt x="2066925" y="2976575"/>
                </a:lnTo>
                <a:lnTo>
                  <a:pt x="2066925" y="1376362"/>
                </a:lnTo>
                <a:lnTo>
                  <a:pt x="2057400" y="1376362"/>
                </a:lnTo>
                <a:lnTo>
                  <a:pt x="2057400" y="2057400"/>
                </a:lnTo>
                <a:lnTo>
                  <a:pt x="9525" y="2057400"/>
                </a:lnTo>
                <a:lnTo>
                  <a:pt x="9525" y="9525"/>
                </a:lnTo>
                <a:lnTo>
                  <a:pt x="610539" y="9525"/>
                </a:lnTo>
                <a:lnTo>
                  <a:pt x="734555" y="567626"/>
                </a:lnTo>
                <a:lnTo>
                  <a:pt x="714413" y="572096"/>
                </a:lnTo>
                <a:lnTo>
                  <a:pt x="766762" y="690562"/>
                </a:lnTo>
                <a:lnTo>
                  <a:pt x="765454" y="629602"/>
                </a:lnTo>
                <a:lnTo>
                  <a:pt x="764235" y="572096"/>
                </a:lnTo>
                <a:lnTo>
                  <a:pt x="764133" y="567626"/>
                </a:lnTo>
                <a:lnTo>
                  <a:pt x="764095" y="565556"/>
                </a:lnTo>
                <a:lnTo>
                  <a:pt x="764006" y="561073"/>
                </a:lnTo>
                <a:lnTo>
                  <a:pt x="743851" y="565556"/>
                </a:lnTo>
                <a:lnTo>
                  <a:pt x="620293" y="9525"/>
                </a:lnTo>
                <a:lnTo>
                  <a:pt x="3048939" y="9525"/>
                </a:lnTo>
                <a:lnTo>
                  <a:pt x="3172955" y="567626"/>
                </a:lnTo>
                <a:lnTo>
                  <a:pt x="3152813" y="572096"/>
                </a:lnTo>
                <a:lnTo>
                  <a:pt x="3205162" y="690562"/>
                </a:lnTo>
                <a:lnTo>
                  <a:pt x="3203854" y="629602"/>
                </a:lnTo>
                <a:lnTo>
                  <a:pt x="3202635" y="572096"/>
                </a:lnTo>
                <a:lnTo>
                  <a:pt x="3202533" y="567626"/>
                </a:lnTo>
                <a:lnTo>
                  <a:pt x="3202495" y="565556"/>
                </a:lnTo>
                <a:lnTo>
                  <a:pt x="3202406" y="561073"/>
                </a:lnTo>
                <a:lnTo>
                  <a:pt x="3182251" y="565556"/>
                </a:lnTo>
                <a:lnTo>
                  <a:pt x="3058693" y="9525"/>
                </a:lnTo>
                <a:lnTo>
                  <a:pt x="4954028" y="9525"/>
                </a:lnTo>
                <a:lnTo>
                  <a:pt x="5074729" y="492315"/>
                </a:lnTo>
                <a:lnTo>
                  <a:pt x="5054714" y="497319"/>
                </a:lnTo>
                <a:lnTo>
                  <a:pt x="5110162" y="614362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3579177" y="2918650"/>
            <a:ext cx="43815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7795">
              <a:lnSpc>
                <a:spcPct val="153800"/>
              </a:lnSpc>
              <a:spcBef>
                <a:spcPts val="100"/>
              </a:spcBef>
            </a:pPr>
            <a:r>
              <a:rPr dirty="0" sz="1300" spc="-100" i="1">
                <a:solidFill>
                  <a:srgbClr val="FF3300"/>
                </a:solidFill>
                <a:latin typeface="Cambria"/>
                <a:cs typeface="Cambria"/>
              </a:rPr>
              <a:t>w</a:t>
            </a:r>
            <a:r>
              <a:rPr dirty="0" sz="1300" spc="-100">
                <a:solidFill>
                  <a:srgbClr val="FF3300"/>
                </a:solidFill>
                <a:latin typeface="Cambria"/>
                <a:cs typeface="Cambria"/>
              </a:rPr>
              <a:t>32</a:t>
            </a:r>
            <a:r>
              <a:rPr dirty="0" sz="1300" spc="-25">
                <a:solidFill>
                  <a:srgbClr val="FF3300"/>
                </a:solidFill>
                <a:latin typeface="Cambria"/>
                <a:cs typeface="Cambria"/>
              </a:rPr>
              <a:t> </a:t>
            </a:r>
            <a:r>
              <a:rPr dirty="0" sz="1300" spc="-25" i="1">
                <a:solidFill>
                  <a:srgbClr val="3333CC"/>
                </a:solidFill>
                <a:latin typeface="Cambria"/>
                <a:cs typeface="Cambria"/>
              </a:rPr>
              <a:t>w</a:t>
            </a:r>
            <a:r>
              <a:rPr dirty="0" sz="1300" spc="-25">
                <a:solidFill>
                  <a:srgbClr val="3333CC"/>
                </a:solidFill>
                <a:latin typeface="Cambria"/>
                <a:cs typeface="Cambria"/>
              </a:rPr>
              <a:t>31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61987" y="2733674"/>
            <a:ext cx="5516880" cy="3357879"/>
          </a:xfrm>
          <a:custGeom>
            <a:avLst/>
            <a:gdLst/>
            <a:ahLst/>
            <a:cxnLst/>
            <a:rect l="l" t="t" r="r" b="b"/>
            <a:pathLst>
              <a:path w="5516880" h="3357879">
                <a:moveTo>
                  <a:pt x="5516562" y="792162"/>
                </a:moveTo>
                <a:lnTo>
                  <a:pt x="5495925" y="792162"/>
                </a:lnTo>
                <a:lnTo>
                  <a:pt x="5495925" y="9525"/>
                </a:lnTo>
                <a:lnTo>
                  <a:pt x="5495925" y="4762"/>
                </a:lnTo>
                <a:lnTo>
                  <a:pt x="5491162" y="0"/>
                </a:lnTo>
                <a:lnTo>
                  <a:pt x="4762" y="0"/>
                </a:lnTo>
                <a:lnTo>
                  <a:pt x="0" y="4762"/>
                </a:lnTo>
                <a:lnTo>
                  <a:pt x="0" y="2671762"/>
                </a:lnTo>
                <a:lnTo>
                  <a:pt x="4762" y="2676525"/>
                </a:lnTo>
                <a:lnTo>
                  <a:pt x="3581400" y="2676525"/>
                </a:lnTo>
                <a:lnTo>
                  <a:pt x="3581400" y="3281375"/>
                </a:lnTo>
                <a:lnTo>
                  <a:pt x="3548062" y="3281375"/>
                </a:lnTo>
                <a:lnTo>
                  <a:pt x="3586162" y="3357575"/>
                </a:lnTo>
                <a:lnTo>
                  <a:pt x="3614737" y="3300425"/>
                </a:lnTo>
                <a:lnTo>
                  <a:pt x="3624262" y="3281375"/>
                </a:lnTo>
                <a:lnTo>
                  <a:pt x="3590925" y="3281375"/>
                </a:lnTo>
                <a:lnTo>
                  <a:pt x="3590925" y="1681162"/>
                </a:lnTo>
                <a:lnTo>
                  <a:pt x="3581400" y="1681162"/>
                </a:lnTo>
                <a:lnTo>
                  <a:pt x="3581400" y="2667000"/>
                </a:lnTo>
                <a:lnTo>
                  <a:pt x="9525" y="2667000"/>
                </a:lnTo>
                <a:lnTo>
                  <a:pt x="9525" y="9525"/>
                </a:lnTo>
                <a:lnTo>
                  <a:pt x="1143000" y="9525"/>
                </a:lnTo>
                <a:lnTo>
                  <a:pt x="1143000" y="842962"/>
                </a:lnTo>
                <a:lnTo>
                  <a:pt x="1109662" y="842962"/>
                </a:lnTo>
                <a:lnTo>
                  <a:pt x="1147762" y="919162"/>
                </a:lnTo>
                <a:lnTo>
                  <a:pt x="1176337" y="862012"/>
                </a:lnTo>
                <a:lnTo>
                  <a:pt x="1185862" y="842962"/>
                </a:lnTo>
                <a:lnTo>
                  <a:pt x="1152525" y="842962"/>
                </a:lnTo>
                <a:lnTo>
                  <a:pt x="1152525" y="9525"/>
                </a:lnTo>
                <a:lnTo>
                  <a:pt x="2362200" y="9525"/>
                </a:lnTo>
                <a:lnTo>
                  <a:pt x="2362200" y="842962"/>
                </a:lnTo>
                <a:lnTo>
                  <a:pt x="2328862" y="842962"/>
                </a:lnTo>
                <a:lnTo>
                  <a:pt x="2366962" y="919162"/>
                </a:lnTo>
                <a:lnTo>
                  <a:pt x="2395537" y="862012"/>
                </a:lnTo>
                <a:lnTo>
                  <a:pt x="2405062" y="842962"/>
                </a:lnTo>
                <a:lnTo>
                  <a:pt x="2371725" y="842962"/>
                </a:lnTo>
                <a:lnTo>
                  <a:pt x="2371725" y="9525"/>
                </a:lnTo>
                <a:lnTo>
                  <a:pt x="5486400" y="9525"/>
                </a:lnTo>
                <a:lnTo>
                  <a:pt x="5486400" y="792162"/>
                </a:lnTo>
                <a:lnTo>
                  <a:pt x="5465762" y="792162"/>
                </a:lnTo>
                <a:lnTo>
                  <a:pt x="5491162" y="919162"/>
                </a:lnTo>
                <a:lnTo>
                  <a:pt x="5503862" y="855662"/>
                </a:lnTo>
                <a:lnTo>
                  <a:pt x="5516562" y="792162"/>
                </a:lnTo>
                <a:close/>
              </a:path>
            </a:pathLst>
          </a:custGeom>
          <a:solidFill>
            <a:srgbClr val="339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309369" y="2613850"/>
            <a:ext cx="45275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2400">
              <a:lnSpc>
                <a:spcPct val="153800"/>
              </a:lnSpc>
              <a:spcBef>
                <a:spcPts val="100"/>
              </a:spcBef>
            </a:pPr>
            <a:r>
              <a:rPr dirty="0" sz="1300" spc="-100" i="1">
                <a:solidFill>
                  <a:srgbClr val="339966"/>
                </a:solidFill>
                <a:latin typeface="Cambria"/>
                <a:cs typeface="Cambria"/>
              </a:rPr>
              <a:t>w</a:t>
            </a:r>
            <a:r>
              <a:rPr dirty="0" sz="1300" spc="-100">
                <a:solidFill>
                  <a:srgbClr val="339966"/>
                </a:solidFill>
                <a:latin typeface="Cambria"/>
                <a:cs typeface="Cambria"/>
              </a:rPr>
              <a:t>13</a:t>
            </a:r>
            <a:r>
              <a:rPr dirty="0" sz="1300" spc="-25">
                <a:solidFill>
                  <a:srgbClr val="339966"/>
                </a:solidFill>
                <a:latin typeface="Cambria"/>
                <a:cs typeface="Cambria"/>
              </a:rPr>
              <a:t> </a:t>
            </a:r>
            <a:r>
              <a:rPr dirty="0" sz="1300" spc="-25" i="1">
                <a:solidFill>
                  <a:srgbClr val="FF3300"/>
                </a:solidFill>
                <a:latin typeface="Cambria"/>
                <a:cs typeface="Cambria"/>
              </a:rPr>
              <a:t>w</a:t>
            </a:r>
            <a:r>
              <a:rPr dirty="0" sz="1300" spc="-25">
                <a:solidFill>
                  <a:srgbClr val="FF3300"/>
                </a:solidFill>
                <a:latin typeface="Cambria"/>
                <a:cs typeface="Cambria"/>
              </a:rPr>
              <a:t>12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695257" y="2721292"/>
            <a:ext cx="30035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0" i="1">
                <a:solidFill>
                  <a:srgbClr val="339966"/>
                </a:solidFill>
                <a:latin typeface="Cambria"/>
                <a:cs typeface="Cambria"/>
              </a:rPr>
              <a:t>w</a:t>
            </a:r>
            <a:r>
              <a:rPr dirty="0" sz="1300" spc="-70">
                <a:solidFill>
                  <a:srgbClr val="339966"/>
                </a:solidFill>
                <a:latin typeface="Cambria"/>
                <a:cs typeface="Cambria"/>
              </a:rPr>
              <a:t>23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484177" y="2613850"/>
            <a:ext cx="635635" cy="955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0495" marR="5080" indent="196850">
              <a:lnSpc>
                <a:spcPct val="153800"/>
              </a:lnSpc>
              <a:spcBef>
                <a:spcPts val="100"/>
              </a:spcBef>
            </a:pPr>
            <a:r>
              <a:rPr dirty="0" sz="1300" spc="-90" i="1">
                <a:solidFill>
                  <a:srgbClr val="339966"/>
                </a:solidFill>
                <a:latin typeface="Cambria"/>
                <a:cs typeface="Cambria"/>
              </a:rPr>
              <a:t>wn</a:t>
            </a:r>
            <a:r>
              <a:rPr dirty="0" sz="1300" spc="-90">
                <a:solidFill>
                  <a:srgbClr val="339966"/>
                </a:solidFill>
                <a:latin typeface="Cambria"/>
                <a:cs typeface="Cambria"/>
              </a:rPr>
              <a:t>3</a:t>
            </a:r>
            <a:r>
              <a:rPr dirty="0" sz="1300" spc="-25">
                <a:solidFill>
                  <a:srgbClr val="339966"/>
                </a:solidFill>
                <a:latin typeface="Cambria"/>
                <a:cs typeface="Cambria"/>
              </a:rPr>
              <a:t> </a:t>
            </a:r>
            <a:r>
              <a:rPr dirty="0" sz="1300" spc="-25" i="1">
                <a:solidFill>
                  <a:srgbClr val="FF3300"/>
                </a:solidFill>
                <a:latin typeface="Cambria"/>
                <a:cs typeface="Cambria"/>
              </a:rPr>
              <a:t>wn</a:t>
            </a:r>
            <a:r>
              <a:rPr dirty="0" sz="1300" spc="-25">
                <a:solidFill>
                  <a:srgbClr val="FF3300"/>
                </a:solidFill>
                <a:latin typeface="Cambria"/>
                <a:cs typeface="Cambria"/>
              </a:rPr>
              <a:t>2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300" spc="-25" i="1">
                <a:solidFill>
                  <a:srgbClr val="3333CC"/>
                </a:solidFill>
                <a:latin typeface="Cambria"/>
                <a:cs typeface="Cambria"/>
              </a:rPr>
              <a:t>wn</a:t>
            </a:r>
            <a:r>
              <a:rPr dirty="0" sz="1300" spc="-25">
                <a:solidFill>
                  <a:srgbClr val="3333CC"/>
                </a:solidFill>
                <a:latin typeface="Cambria"/>
                <a:cs typeface="Cambria"/>
              </a:rPr>
              <a:t>1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433387" y="2428874"/>
            <a:ext cx="5758180" cy="3662679"/>
          </a:xfrm>
          <a:custGeom>
            <a:avLst/>
            <a:gdLst/>
            <a:ahLst/>
            <a:cxnLst/>
            <a:rect l="l" t="t" r="r" b="b"/>
            <a:pathLst>
              <a:path w="5758180" h="3662679">
                <a:moveTo>
                  <a:pt x="5757862" y="3586175"/>
                </a:moveTo>
                <a:lnTo>
                  <a:pt x="5724525" y="3586175"/>
                </a:lnTo>
                <a:lnTo>
                  <a:pt x="5724525" y="1985962"/>
                </a:lnTo>
                <a:lnTo>
                  <a:pt x="5715000" y="1985962"/>
                </a:lnTo>
                <a:lnTo>
                  <a:pt x="5715000" y="3200412"/>
                </a:lnTo>
                <a:lnTo>
                  <a:pt x="9525" y="3200412"/>
                </a:lnTo>
                <a:lnTo>
                  <a:pt x="9525" y="9525"/>
                </a:lnTo>
                <a:lnTo>
                  <a:pt x="1751609" y="9525"/>
                </a:lnTo>
                <a:lnTo>
                  <a:pt x="1547482" y="1098270"/>
                </a:lnTo>
                <a:lnTo>
                  <a:pt x="1527200" y="1094460"/>
                </a:lnTo>
                <a:lnTo>
                  <a:pt x="1528762" y="1223962"/>
                </a:lnTo>
                <a:lnTo>
                  <a:pt x="1553527" y="1162431"/>
                </a:lnTo>
                <a:lnTo>
                  <a:pt x="1577136" y="1103833"/>
                </a:lnTo>
                <a:lnTo>
                  <a:pt x="1556842" y="1100023"/>
                </a:lnTo>
                <a:lnTo>
                  <a:pt x="1761312" y="9525"/>
                </a:lnTo>
                <a:lnTo>
                  <a:pt x="2970809" y="9525"/>
                </a:lnTo>
                <a:lnTo>
                  <a:pt x="2766682" y="1098270"/>
                </a:lnTo>
                <a:lnTo>
                  <a:pt x="2746400" y="1094460"/>
                </a:lnTo>
                <a:lnTo>
                  <a:pt x="2747962" y="1223962"/>
                </a:lnTo>
                <a:lnTo>
                  <a:pt x="2772727" y="1162431"/>
                </a:lnTo>
                <a:lnTo>
                  <a:pt x="2796336" y="1103833"/>
                </a:lnTo>
                <a:lnTo>
                  <a:pt x="2776042" y="1100023"/>
                </a:lnTo>
                <a:lnTo>
                  <a:pt x="2980512" y="9525"/>
                </a:lnTo>
                <a:lnTo>
                  <a:pt x="4190009" y="9525"/>
                </a:lnTo>
                <a:lnTo>
                  <a:pt x="3985882" y="1098270"/>
                </a:lnTo>
                <a:lnTo>
                  <a:pt x="3965600" y="1094460"/>
                </a:lnTo>
                <a:lnTo>
                  <a:pt x="3967162" y="1223962"/>
                </a:lnTo>
                <a:lnTo>
                  <a:pt x="3991927" y="1162431"/>
                </a:lnTo>
                <a:lnTo>
                  <a:pt x="4015536" y="1103833"/>
                </a:lnTo>
                <a:lnTo>
                  <a:pt x="3995242" y="1100023"/>
                </a:lnTo>
                <a:lnTo>
                  <a:pt x="4199712" y="9525"/>
                </a:lnTo>
                <a:lnTo>
                  <a:pt x="4200448" y="5638"/>
                </a:lnTo>
                <a:lnTo>
                  <a:pt x="4200461" y="3975"/>
                </a:lnTo>
                <a:lnTo>
                  <a:pt x="4199902" y="2413"/>
                </a:lnTo>
                <a:lnTo>
                  <a:pt x="4198836" y="1130"/>
                </a:lnTo>
                <a:lnTo>
                  <a:pt x="4197400" y="292"/>
                </a:lnTo>
                <a:lnTo>
                  <a:pt x="4195762" y="0"/>
                </a:lnTo>
                <a:lnTo>
                  <a:pt x="4191139" y="0"/>
                </a:lnTo>
                <a:lnTo>
                  <a:pt x="4191139" y="3975"/>
                </a:lnTo>
                <a:lnTo>
                  <a:pt x="4190911" y="4762"/>
                </a:lnTo>
                <a:lnTo>
                  <a:pt x="4191050" y="3975"/>
                </a:lnTo>
                <a:lnTo>
                  <a:pt x="4191139" y="0"/>
                </a:lnTo>
                <a:lnTo>
                  <a:pt x="4762" y="0"/>
                </a:lnTo>
                <a:lnTo>
                  <a:pt x="2870" y="292"/>
                </a:lnTo>
                <a:lnTo>
                  <a:pt x="3162" y="292"/>
                </a:lnTo>
                <a:lnTo>
                  <a:pt x="1968" y="914"/>
                </a:lnTo>
                <a:lnTo>
                  <a:pt x="914" y="1968"/>
                </a:lnTo>
                <a:lnTo>
                  <a:pt x="228" y="3289"/>
                </a:lnTo>
                <a:lnTo>
                  <a:pt x="114" y="3975"/>
                </a:lnTo>
                <a:lnTo>
                  <a:pt x="0" y="3205175"/>
                </a:lnTo>
                <a:lnTo>
                  <a:pt x="228" y="3206648"/>
                </a:lnTo>
                <a:lnTo>
                  <a:pt x="914" y="3207969"/>
                </a:lnTo>
                <a:lnTo>
                  <a:pt x="1968" y="3209023"/>
                </a:lnTo>
                <a:lnTo>
                  <a:pt x="3289" y="3209709"/>
                </a:lnTo>
                <a:lnTo>
                  <a:pt x="4762" y="3209937"/>
                </a:lnTo>
                <a:lnTo>
                  <a:pt x="5715000" y="3209937"/>
                </a:lnTo>
                <a:lnTo>
                  <a:pt x="5715000" y="3586175"/>
                </a:lnTo>
                <a:lnTo>
                  <a:pt x="5681662" y="3586175"/>
                </a:lnTo>
                <a:lnTo>
                  <a:pt x="5719762" y="3662375"/>
                </a:lnTo>
                <a:lnTo>
                  <a:pt x="5748337" y="3605225"/>
                </a:lnTo>
                <a:lnTo>
                  <a:pt x="5757862" y="35861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730057" y="2434272"/>
            <a:ext cx="35115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6410" sz="1950" spc="-37" i="1">
                <a:latin typeface="Cambria"/>
                <a:cs typeface="Cambria"/>
              </a:rPr>
              <a:t>w</a:t>
            </a:r>
            <a:r>
              <a:rPr dirty="0" sz="1300" spc="-25">
                <a:latin typeface="Cambria"/>
                <a:cs typeface="Cambria"/>
              </a:rPr>
              <a:t>1</a:t>
            </a:r>
            <a:r>
              <a:rPr dirty="0" sz="1300" spc="-25" i="1">
                <a:latin typeface="Cambria"/>
                <a:cs typeface="Cambria"/>
              </a:rPr>
              <a:t>n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000057" y="2416492"/>
            <a:ext cx="30035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60" i="1">
                <a:latin typeface="Cambria"/>
                <a:cs typeface="Cambria"/>
              </a:rPr>
              <a:t>w</a:t>
            </a:r>
            <a:r>
              <a:rPr dirty="0" sz="1300" spc="-60">
                <a:latin typeface="Cambria"/>
                <a:cs typeface="Cambria"/>
              </a:rPr>
              <a:t>2</a:t>
            </a:r>
            <a:r>
              <a:rPr dirty="0" sz="1300" spc="-60" i="1">
                <a:latin typeface="Cambria"/>
                <a:cs typeface="Cambria"/>
              </a:rPr>
              <a:t>n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219257" y="2416492"/>
            <a:ext cx="30035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60" i="1">
                <a:latin typeface="Cambria"/>
                <a:cs typeface="Cambria"/>
              </a:rPr>
              <a:t>w</a:t>
            </a:r>
            <a:r>
              <a:rPr dirty="0" sz="1300" spc="-60">
                <a:latin typeface="Cambria"/>
                <a:cs typeface="Cambria"/>
              </a:rPr>
              <a:t>3</a:t>
            </a:r>
            <a:r>
              <a:rPr dirty="0" sz="1300" spc="-60" i="1">
                <a:latin typeface="Cambria"/>
                <a:cs typeface="Cambria"/>
              </a:rPr>
              <a:t>n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7019543" y="2060448"/>
            <a:ext cx="1369060" cy="1173480"/>
          </a:xfrm>
          <a:custGeom>
            <a:avLst/>
            <a:gdLst/>
            <a:ahLst/>
            <a:cxnLst/>
            <a:rect l="l" t="t" r="r" b="b"/>
            <a:pathLst>
              <a:path w="1369059" h="1173480">
                <a:moveTo>
                  <a:pt x="1368552" y="0"/>
                </a:moveTo>
                <a:lnTo>
                  <a:pt x="0" y="0"/>
                </a:lnTo>
                <a:lnTo>
                  <a:pt x="0" y="1173479"/>
                </a:lnTo>
                <a:lnTo>
                  <a:pt x="1368552" y="1173479"/>
                </a:lnTo>
                <a:lnTo>
                  <a:pt x="1368552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7019543" y="2060448"/>
            <a:ext cx="1369060" cy="117348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64769" marR="55244">
              <a:lnSpc>
                <a:spcPts val="4290"/>
              </a:lnSpc>
              <a:spcBef>
                <a:spcPts val="215"/>
              </a:spcBef>
              <a:tabLst>
                <a:tab pos="572135" algn="l"/>
              </a:tabLst>
            </a:pPr>
            <a:r>
              <a:rPr dirty="0" baseline="13661" sz="4575" spc="-37" i="1">
                <a:latin typeface="Cambria"/>
                <a:cs typeface="Cambria"/>
              </a:rPr>
              <a:t>w</a:t>
            </a:r>
            <a:r>
              <a:rPr dirty="0" sz="1800" spc="-25" i="1">
                <a:latin typeface="Cambria"/>
                <a:cs typeface="Cambria"/>
              </a:rPr>
              <a:t>ij</a:t>
            </a:r>
            <a:r>
              <a:rPr dirty="0" sz="1800" i="1">
                <a:latin typeface="Cambria"/>
                <a:cs typeface="Cambria"/>
              </a:rPr>
              <a:t>	</a:t>
            </a:r>
            <a:r>
              <a:rPr dirty="0" sz="1800" spc="-385" i="1">
                <a:latin typeface="Cambria"/>
                <a:cs typeface="Cambria"/>
              </a:rPr>
              <a:t> </a:t>
            </a:r>
            <a:r>
              <a:rPr dirty="0" baseline="13661" sz="4575">
                <a:latin typeface="Cambria"/>
                <a:cs typeface="Cambria"/>
              </a:rPr>
              <a:t>=</a:t>
            </a:r>
            <a:r>
              <a:rPr dirty="0" baseline="13661" sz="4575" spc="120">
                <a:latin typeface="Cambria"/>
                <a:cs typeface="Cambria"/>
              </a:rPr>
              <a:t> </a:t>
            </a:r>
            <a:r>
              <a:rPr dirty="0" baseline="13661" sz="4575" spc="-15" i="1">
                <a:latin typeface="Cambria"/>
                <a:cs typeface="Cambria"/>
              </a:rPr>
              <a:t>w</a:t>
            </a:r>
            <a:r>
              <a:rPr dirty="0" sz="1800" spc="-10" i="1">
                <a:latin typeface="Cambria"/>
                <a:cs typeface="Cambria"/>
              </a:rPr>
              <a:t>ji </a:t>
            </a:r>
            <a:r>
              <a:rPr dirty="0" sz="3050" spc="-25" i="1">
                <a:latin typeface="Cambria"/>
                <a:cs typeface="Cambria"/>
              </a:rPr>
              <a:t>w</a:t>
            </a:r>
            <a:r>
              <a:rPr dirty="0" baseline="-23148" sz="2700" spc="-37" i="1">
                <a:latin typeface="Cambria"/>
                <a:cs typeface="Cambria"/>
              </a:rPr>
              <a:t>ii</a:t>
            </a:r>
            <a:r>
              <a:rPr dirty="0" baseline="-23148" sz="2700" i="1">
                <a:latin typeface="Cambria"/>
                <a:cs typeface="Cambria"/>
              </a:rPr>
              <a:t>	</a:t>
            </a:r>
            <a:r>
              <a:rPr dirty="0" sz="3050">
                <a:latin typeface="Cambria"/>
                <a:cs typeface="Cambria"/>
              </a:rPr>
              <a:t>=</a:t>
            </a:r>
            <a:r>
              <a:rPr dirty="0" sz="3050" spc="-20">
                <a:latin typeface="Cambria"/>
                <a:cs typeface="Cambria"/>
              </a:rPr>
              <a:t> </a:t>
            </a:r>
            <a:r>
              <a:rPr dirty="0" sz="3050" spc="-50">
                <a:latin typeface="Cambria"/>
                <a:cs typeface="Cambria"/>
              </a:rPr>
              <a:t>0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7010018" y="2050923"/>
            <a:ext cx="1388110" cy="1192530"/>
          </a:xfrm>
          <a:custGeom>
            <a:avLst/>
            <a:gdLst/>
            <a:ahLst/>
            <a:cxnLst/>
            <a:rect l="l" t="t" r="r" b="b"/>
            <a:pathLst>
              <a:path w="1388109" h="1192530">
                <a:moveTo>
                  <a:pt x="1387602" y="0"/>
                </a:moveTo>
                <a:lnTo>
                  <a:pt x="0" y="0"/>
                </a:lnTo>
                <a:lnTo>
                  <a:pt x="0" y="1192529"/>
                </a:lnTo>
                <a:lnTo>
                  <a:pt x="1387602" y="1192529"/>
                </a:lnTo>
                <a:lnTo>
                  <a:pt x="1387602" y="1187767"/>
                </a:lnTo>
                <a:lnTo>
                  <a:pt x="9525" y="1187767"/>
                </a:lnTo>
                <a:lnTo>
                  <a:pt x="4762" y="1183004"/>
                </a:lnTo>
                <a:lnTo>
                  <a:pt x="9525" y="1183004"/>
                </a:lnTo>
                <a:lnTo>
                  <a:pt x="9525" y="9525"/>
                </a:lnTo>
                <a:lnTo>
                  <a:pt x="4762" y="9525"/>
                </a:lnTo>
                <a:lnTo>
                  <a:pt x="9525" y="4762"/>
                </a:lnTo>
                <a:lnTo>
                  <a:pt x="1387602" y="4762"/>
                </a:lnTo>
                <a:lnTo>
                  <a:pt x="1387602" y="0"/>
                </a:lnTo>
                <a:close/>
              </a:path>
              <a:path w="1388109" h="1192530">
                <a:moveTo>
                  <a:pt x="9525" y="1183004"/>
                </a:moveTo>
                <a:lnTo>
                  <a:pt x="4762" y="1183004"/>
                </a:lnTo>
                <a:lnTo>
                  <a:pt x="9525" y="1187767"/>
                </a:lnTo>
                <a:lnTo>
                  <a:pt x="9525" y="1183004"/>
                </a:lnTo>
                <a:close/>
              </a:path>
              <a:path w="1388109" h="1192530">
                <a:moveTo>
                  <a:pt x="1378077" y="1183004"/>
                </a:moveTo>
                <a:lnTo>
                  <a:pt x="9525" y="1183004"/>
                </a:lnTo>
                <a:lnTo>
                  <a:pt x="9525" y="1187767"/>
                </a:lnTo>
                <a:lnTo>
                  <a:pt x="1378077" y="1187767"/>
                </a:lnTo>
                <a:lnTo>
                  <a:pt x="1378077" y="1183004"/>
                </a:lnTo>
                <a:close/>
              </a:path>
              <a:path w="1388109" h="1192530">
                <a:moveTo>
                  <a:pt x="1378077" y="4762"/>
                </a:moveTo>
                <a:lnTo>
                  <a:pt x="1378077" y="1187767"/>
                </a:lnTo>
                <a:lnTo>
                  <a:pt x="1382839" y="1183004"/>
                </a:lnTo>
                <a:lnTo>
                  <a:pt x="1387602" y="1183004"/>
                </a:lnTo>
                <a:lnTo>
                  <a:pt x="1387602" y="9525"/>
                </a:lnTo>
                <a:lnTo>
                  <a:pt x="1382839" y="9525"/>
                </a:lnTo>
                <a:lnTo>
                  <a:pt x="1378077" y="4762"/>
                </a:lnTo>
                <a:close/>
              </a:path>
              <a:path w="1388109" h="1192530">
                <a:moveTo>
                  <a:pt x="1387602" y="1183004"/>
                </a:moveTo>
                <a:lnTo>
                  <a:pt x="1382839" y="1183004"/>
                </a:lnTo>
                <a:lnTo>
                  <a:pt x="1378077" y="1187767"/>
                </a:lnTo>
                <a:lnTo>
                  <a:pt x="1387602" y="1187767"/>
                </a:lnTo>
                <a:lnTo>
                  <a:pt x="1387602" y="1183004"/>
                </a:lnTo>
                <a:close/>
              </a:path>
              <a:path w="1388109" h="1192530">
                <a:moveTo>
                  <a:pt x="9525" y="4762"/>
                </a:moveTo>
                <a:lnTo>
                  <a:pt x="4762" y="9525"/>
                </a:lnTo>
                <a:lnTo>
                  <a:pt x="9525" y="9525"/>
                </a:lnTo>
                <a:lnTo>
                  <a:pt x="9525" y="4762"/>
                </a:lnTo>
                <a:close/>
              </a:path>
              <a:path w="1388109" h="1192530">
                <a:moveTo>
                  <a:pt x="1378077" y="4762"/>
                </a:moveTo>
                <a:lnTo>
                  <a:pt x="9525" y="4762"/>
                </a:lnTo>
                <a:lnTo>
                  <a:pt x="9525" y="9525"/>
                </a:lnTo>
                <a:lnTo>
                  <a:pt x="1378077" y="9525"/>
                </a:lnTo>
                <a:lnTo>
                  <a:pt x="1378077" y="4762"/>
                </a:lnTo>
                <a:close/>
              </a:path>
              <a:path w="1388109" h="1192530">
                <a:moveTo>
                  <a:pt x="1387602" y="4762"/>
                </a:moveTo>
                <a:lnTo>
                  <a:pt x="1378077" y="4762"/>
                </a:lnTo>
                <a:lnTo>
                  <a:pt x="1382839" y="9525"/>
                </a:lnTo>
                <a:lnTo>
                  <a:pt x="1387602" y="9525"/>
                </a:lnTo>
                <a:lnTo>
                  <a:pt x="1387602" y="4762"/>
                </a:lnTo>
                <a:close/>
              </a:path>
            </a:pathLst>
          </a:custGeom>
          <a:solidFill>
            <a:srgbClr val="00E4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0230" y="2264955"/>
            <a:ext cx="8034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Char char="■"/>
              <a:tabLst>
                <a:tab pos="243204" algn="l"/>
              </a:tabLst>
            </a:pPr>
            <a:r>
              <a:rPr dirty="0" sz="2400">
                <a:latin typeface="Tahoma"/>
                <a:cs typeface="Tahoma"/>
              </a:rPr>
              <a:t>Storage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performed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according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following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equation: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32740" y="4180522"/>
            <a:ext cx="8321040" cy="208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0504" indent="-19240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0000"/>
              <a:buChar char="■"/>
              <a:tabLst>
                <a:tab pos="230504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matrix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symmetrical,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i.e.,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</a:t>
            </a:r>
            <a:r>
              <a:rPr dirty="0" baseline="-17921" sz="2325">
                <a:latin typeface="Tahoma"/>
                <a:cs typeface="Tahoma"/>
              </a:rPr>
              <a:t>ij</a:t>
            </a:r>
            <a:r>
              <a:rPr dirty="0" baseline="-17921" sz="2325" spc="322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w</a:t>
            </a:r>
            <a:r>
              <a:rPr dirty="0" baseline="-17921" sz="2325" spc="-30">
                <a:latin typeface="Tahoma"/>
                <a:cs typeface="Tahoma"/>
              </a:rPr>
              <a:t>ji</a:t>
            </a:r>
            <a:r>
              <a:rPr dirty="0" sz="2400" spc="-2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38100" marR="30480" indent="230504">
              <a:lnSpc>
                <a:spcPts val="2880"/>
              </a:lnSpc>
              <a:spcBef>
                <a:spcPts val="1895"/>
              </a:spcBef>
              <a:buClr>
                <a:srgbClr val="3333CC"/>
              </a:buClr>
              <a:buSzPct val="60416"/>
              <a:buChar char="■"/>
              <a:tabLst>
                <a:tab pos="268605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constraint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condition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</a:t>
            </a:r>
            <a:r>
              <a:rPr dirty="0" baseline="-17921" sz="2325">
                <a:latin typeface="Tahoma"/>
                <a:cs typeface="Tahoma"/>
              </a:rPr>
              <a:t>ii</a:t>
            </a:r>
            <a:r>
              <a:rPr dirty="0" baseline="-17921" sz="2325" spc="352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=0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important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network </a:t>
            </a:r>
            <a:r>
              <a:rPr dirty="0" sz="2400" spc="-30">
                <a:latin typeface="Tahoma"/>
                <a:cs typeface="Tahoma"/>
              </a:rPr>
              <a:t>behavior.</a:t>
            </a:r>
            <a:r>
              <a:rPr dirty="0" sz="2400" spc="-8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It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mathematically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proven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500" spc="-250" i="1">
                <a:solidFill>
                  <a:srgbClr val="0000FF"/>
                </a:solidFill>
                <a:latin typeface="Verdana"/>
                <a:cs typeface="Verdana"/>
              </a:rPr>
              <a:t>under</a:t>
            </a:r>
            <a:r>
              <a:rPr dirty="0" sz="2500" spc="-13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10" i="1">
                <a:solidFill>
                  <a:srgbClr val="0000FF"/>
                </a:solidFill>
                <a:latin typeface="Verdana"/>
                <a:cs typeface="Verdana"/>
              </a:rPr>
              <a:t>these </a:t>
            </a:r>
            <a:r>
              <a:rPr dirty="0" sz="2500" spc="-210" i="1">
                <a:solidFill>
                  <a:srgbClr val="0000FF"/>
                </a:solidFill>
                <a:latin typeface="Verdana"/>
                <a:cs typeface="Verdana"/>
              </a:rPr>
              <a:t>conditions</a:t>
            </a:r>
            <a:r>
              <a:rPr dirty="0" sz="2500" spc="-10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35" i="1">
                <a:solidFill>
                  <a:srgbClr val="0000FF"/>
                </a:solidFill>
                <a:latin typeface="Verdana"/>
                <a:cs typeface="Verdana"/>
              </a:rPr>
              <a:t>the</a:t>
            </a:r>
            <a:r>
              <a:rPr dirty="0" sz="2500" spc="-9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45" i="1">
                <a:solidFill>
                  <a:srgbClr val="0000FF"/>
                </a:solidFill>
                <a:latin typeface="Verdana"/>
                <a:cs typeface="Verdana"/>
              </a:rPr>
              <a:t>network</a:t>
            </a:r>
            <a:r>
              <a:rPr dirty="0" sz="2500" spc="-10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190" i="1">
                <a:solidFill>
                  <a:srgbClr val="0000FF"/>
                </a:solidFill>
                <a:latin typeface="Verdana"/>
                <a:cs typeface="Verdana"/>
              </a:rPr>
              <a:t>will</a:t>
            </a:r>
            <a:r>
              <a:rPr dirty="0" sz="2500" spc="-9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40" i="1">
                <a:solidFill>
                  <a:srgbClr val="0000FF"/>
                </a:solidFill>
                <a:latin typeface="Verdana"/>
                <a:cs typeface="Verdana"/>
              </a:rPr>
              <a:t>reach</a:t>
            </a:r>
            <a:r>
              <a:rPr dirty="0" sz="2500" spc="-10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54" i="1">
                <a:solidFill>
                  <a:srgbClr val="0000FF"/>
                </a:solidFill>
                <a:latin typeface="Verdana"/>
                <a:cs typeface="Verdana"/>
              </a:rPr>
              <a:t>a</a:t>
            </a:r>
            <a:r>
              <a:rPr dirty="0" sz="2500" spc="-9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25" i="1">
                <a:solidFill>
                  <a:srgbClr val="FF0000"/>
                </a:solidFill>
                <a:latin typeface="Verdana"/>
                <a:cs typeface="Verdana"/>
              </a:rPr>
              <a:t>stable</a:t>
            </a:r>
            <a:r>
              <a:rPr dirty="0" sz="2500" spc="-100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500" spc="-225" i="1">
                <a:solidFill>
                  <a:srgbClr val="FF0000"/>
                </a:solidFill>
                <a:latin typeface="Verdana"/>
                <a:cs typeface="Verdana"/>
              </a:rPr>
              <a:t>activation</a:t>
            </a:r>
            <a:r>
              <a:rPr dirty="0" sz="2500" spc="-95" i="1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 sz="2500" spc="-10" i="1">
                <a:solidFill>
                  <a:srgbClr val="FF0000"/>
                </a:solidFill>
                <a:latin typeface="Verdana"/>
                <a:cs typeface="Verdana"/>
              </a:rPr>
              <a:t>state </a:t>
            </a:r>
            <a:r>
              <a:rPr dirty="0" sz="2500" spc="-220" i="1">
                <a:solidFill>
                  <a:srgbClr val="0000FF"/>
                </a:solidFill>
                <a:latin typeface="Verdana"/>
                <a:cs typeface="Verdana"/>
              </a:rPr>
              <a:t>within</a:t>
            </a:r>
            <a:r>
              <a:rPr dirty="0" sz="2500" spc="-10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54" i="1">
                <a:solidFill>
                  <a:srgbClr val="0000FF"/>
                </a:solidFill>
                <a:latin typeface="Verdana"/>
                <a:cs typeface="Verdana"/>
              </a:rPr>
              <a:t>an</a:t>
            </a:r>
            <a:r>
              <a:rPr dirty="0" sz="2500" spc="-10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195" i="1">
                <a:solidFill>
                  <a:srgbClr val="0000FF"/>
                </a:solidFill>
                <a:latin typeface="Verdana"/>
                <a:cs typeface="Verdana"/>
              </a:rPr>
              <a:t>infinite</a:t>
            </a:r>
            <a:r>
              <a:rPr dirty="0" sz="2500" spc="-10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275" i="1">
                <a:solidFill>
                  <a:srgbClr val="0000FF"/>
                </a:solidFill>
                <a:latin typeface="Verdana"/>
                <a:cs typeface="Verdana"/>
              </a:rPr>
              <a:t>number</a:t>
            </a:r>
            <a:r>
              <a:rPr dirty="0" sz="2500" spc="-10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170" i="1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dirty="0" sz="2500" spc="-10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2500" spc="-110" i="1">
                <a:solidFill>
                  <a:srgbClr val="0000FF"/>
                </a:solidFill>
                <a:latin typeface="Verdana"/>
                <a:cs typeface="Verdana"/>
              </a:rPr>
              <a:t>iterations.</a:t>
            </a:r>
            <a:endParaRPr sz="25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19371" y="3686327"/>
            <a:ext cx="36512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i="1">
                <a:latin typeface="Cambria"/>
                <a:cs typeface="Cambria"/>
              </a:rPr>
              <a:t>p</a:t>
            </a:r>
            <a:r>
              <a:rPr dirty="0" sz="1700" spc="-25">
                <a:latin typeface="Cambria"/>
                <a:cs typeface="Cambria"/>
              </a:rPr>
              <a:t>=1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94097" y="3012681"/>
            <a:ext cx="823594" cy="69786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22250" marR="43180" indent="-172085">
              <a:lnSpc>
                <a:spcPct val="89200"/>
              </a:lnSpc>
              <a:spcBef>
                <a:spcPts val="495"/>
              </a:spcBef>
              <a:tabLst>
                <a:tab pos="655955" algn="l"/>
              </a:tabLst>
            </a:pPr>
            <a:r>
              <a:rPr dirty="0" baseline="-24904" sz="4350" spc="-30" i="1">
                <a:latin typeface="Cambria"/>
                <a:cs typeface="Cambria"/>
              </a:rPr>
              <a:t>x</a:t>
            </a:r>
            <a:r>
              <a:rPr dirty="0" baseline="-24904" sz="4350" spc="-240" i="1">
                <a:latin typeface="Cambria"/>
                <a:cs typeface="Cambria"/>
              </a:rPr>
              <a:t> </a:t>
            </a:r>
            <a:r>
              <a:rPr dirty="0" sz="1700" i="1">
                <a:latin typeface="Cambria"/>
                <a:cs typeface="Cambria"/>
              </a:rPr>
              <a:t>p</a:t>
            </a:r>
            <a:r>
              <a:rPr dirty="0" sz="1700" spc="10" i="1">
                <a:latin typeface="Cambria"/>
                <a:cs typeface="Cambria"/>
              </a:rPr>
              <a:t> </a:t>
            </a:r>
            <a:r>
              <a:rPr dirty="0" baseline="-24904" sz="4350" spc="-30" i="1">
                <a:latin typeface="Cambria"/>
                <a:cs typeface="Cambria"/>
              </a:rPr>
              <a:t>x</a:t>
            </a:r>
            <a:r>
              <a:rPr dirty="0" baseline="-24904" sz="4350" spc="-240" i="1">
                <a:latin typeface="Cambria"/>
                <a:cs typeface="Cambria"/>
              </a:rPr>
              <a:t> </a:t>
            </a:r>
            <a:r>
              <a:rPr dirty="0" sz="1700" spc="-60" i="1">
                <a:latin typeface="Cambria"/>
                <a:cs typeface="Cambria"/>
              </a:rPr>
              <a:t>p </a:t>
            </a:r>
            <a:r>
              <a:rPr dirty="0" sz="1700" spc="-50" i="1">
                <a:latin typeface="Cambria"/>
                <a:cs typeface="Cambria"/>
              </a:rPr>
              <a:t>i</a:t>
            </a:r>
            <a:r>
              <a:rPr dirty="0" sz="1700" i="1">
                <a:latin typeface="Cambria"/>
                <a:cs typeface="Cambria"/>
              </a:rPr>
              <a:t>	</a:t>
            </a:r>
            <a:r>
              <a:rPr dirty="0" sz="1700" spc="-50" i="1">
                <a:latin typeface="Cambria"/>
                <a:cs typeface="Cambria"/>
              </a:rPr>
              <a:t>j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31018" y="2759938"/>
            <a:ext cx="1172845" cy="692785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algn="r" marR="148590">
              <a:lnSpc>
                <a:spcPts val="254"/>
              </a:lnSpc>
              <a:spcBef>
                <a:spcPts val="1655"/>
              </a:spcBef>
            </a:pPr>
            <a:r>
              <a:rPr dirty="0" sz="1700" spc="35" i="1">
                <a:latin typeface="Cambria"/>
                <a:cs typeface="Cambria"/>
              </a:rPr>
              <a:t>P</a:t>
            </a:r>
            <a:endParaRPr sz="1700">
              <a:latin typeface="Cambria"/>
              <a:cs typeface="Cambria"/>
            </a:endParaRPr>
          </a:p>
          <a:p>
            <a:pPr marL="38100">
              <a:lnSpc>
                <a:spcPts val="3435"/>
              </a:lnSpc>
            </a:pPr>
            <a:r>
              <a:rPr dirty="0" baseline="-35440" sz="4350">
                <a:latin typeface="Cambria"/>
                <a:cs typeface="Cambria"/>
              </a:rPr>
              <a:t>=</a:t>
            </a:r>
            <a:r>
              <a:rPr dirty="0" baseline="-35440" sz="4350" spc="97">
                <a:latin typeface="Cambria"/>
                <a:cs typeface="Cambria"/>
              </a:rPr>
              <a:t> </a:t>
            </a:r>
            <a:r>
              <a:rPr dirty="0" u="heavy" sz="2900" spc="-16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290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r>
              <a:rPr dirty="0" u="heavy" sz="2900" spc="-5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sz="2900" spc="-165">
                <a:latin typeface="Cambria"/>
                <a:cs typeface="Cambria"/>
              </a:rPr>
              <a:t> </a:t>
            </a:r>
            <a:r>
              <a:rPr dirty="0" baseline="-31928" sz="6525" spc="-2115">
                <a:latin typeface="Cambria"/>
                <a:cs typeface="Cambria"/>
              </a:rPr>
              <a:t>Σ</a:t>
            </a:r>
            <a:endParaRPr baseline="-31928" sz="6525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78632" y="3425278"/>
            <a:ext cx="14541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i="1">
                <a:latin typeface="Cambria"/>
                <a:cs typeface="Cambria"/>
              </a:rPr>
              <a:t>ij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905580" y="3467353"/>
            <a:ext cx="27305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50" i="1">
                <a:latin typeface="Cambria"/>
                <a:cs typeface="Cambria"/>
              </a:rPr>
              <a:t>N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37484" y="3178365"/>
            <a:ext cx="27305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20" i="1">
                <a:latin typeface="Cambria"/>
                <a:cs typeface="Cambria"/>
              </a:rPr>
              <a:t>w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0293" y="2236609"/>
            <a:ext cx="8199120" cy="2190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In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discrete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version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model,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each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component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or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output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vector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only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assume</a:t>
            </a:r>
            <a:r>
              <a:rPr dirty="0" sz="2600" spc="-25">
                <a:latin typeface="Tahoma"/>
                <a:cs typeface="Tahoma"/>
              </a:rPr>
              <a:t> the </a:t>
            </a:r>
            <a:r>
              <a:rPr dirty="0" sz="2600">
                <a:latin typeface="Tahoma"/>
                <a:cs typeface="Tahoma"/>
              </a:rPr>
              <a:t>values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or</a:t>
            </a:r>
            <a:r>
              <a:rPr dirty="0" sz="2600" spc="-25">
                <a:latin typeface="Tahoma"/>
                <a:cs typeface="Tahoma"/>
              </a:rPr>
              <a:t> –1.</a:t>
            </a:r>
            <a:endParaRPr sz="2600">
              <a:latin typeface="Tahoma"/>
              <a:cs typeface="Tahoma"/>
            </a:endParaRPr>
          </a:p>
          <a:p>
            <a:pPr marL="355600" marR="287020" indent="-342900">
              <a:lnSpc>
                <a:spcPct val="100000"/>
              </a:lnSpc>
              <a:spcBef>
                <a:spcPts val="143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output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neuron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at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time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is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computed </a:t>
            </a:r>
            <a:r>
              <a:rPr dirty="0" sz="2600">
                <a:latin typeface="Tahoma"/>
                <a:cs typeface="Tahoma"/>
              </a:rPr>
              <a:t>according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following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formula: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620293" y="5739269"/>
            <a:ext cx="8209915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>
                <a:latin typeface="Tahoma"/>
                <a:cs typeface="Tahoma"/>
              </a:rPr>
              <a:t>This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recursion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performed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over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over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again.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041021" y="5057597"/>
            <a:ext cx="153035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00" spc="-1664">
                <a:latin typeface="Cambria"/>
                <a:cs typeface="Cambria"/>
              </a:rPr>
              <a:t>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00233" y="4452111"/>
            <a:ext cx="2093595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53260" algn="l"/>
              </a:tabLst>
            </a:pPr>
            <a:r>
              <a:rPr dirty="0" sz="2600" spc="-50">
                <a:latin typeface="Cambria"/>
                <a:cs typeface="Cambria"/>
              </a:rPr>
              <a:t>(</a:t>
            </a:r>
            <a:r>
              <a:rPr dirty="0" sz="2600">
                <a:latin typeface="Cambria"/>
                <a:cs typeface="Cambria"/>
              </a:rPr>
              <a:t>	</a:t>
            </a:r>
            <a:r>
              <a:rPr dirty="0" sz="2600" spc="-1664">
                <a:latin typeface="Cambria"/>
                <a:cs typeface="Cambria"/>
              </a:rPr>
              <a:t>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69980" y="4500841"/>
            <a:ext cx="154940" cy="2578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50" i="1">
                <a:latin typeface="Cambria"/>
                <a:cs typeface="Cambria"/>
              </a:rPr>
              <a:t>N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74833" y="5013731"/>
            <a:ext cx="574675" cy="4235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7478" sz="3900" spc="-2422">
                <a:latin typeface="Cambria"/>
                <a:cs typeface="Cambria"/>
              </a:rPr>
              <a:t></a:t>
            </a:r>
            <a:r>
              <a:rPr dirty="0" baseline="-7478" sz="3900" spc="412">
                <a:latin typeface="Cambria"/>
                <a:cs typeface="Cambria"/>
              </a:rPr>
              <a:t> </a:t>
            </a:r>
            <a:r>
              <a:rPr dirty="0" sz="1500" i="1">
                <a:latin typeface="Cambria"/>
                <a:cs typeface="Cambria"/>
              </a:rPr>
              <a:t>j</a:t>
            </a:r>
            <a:r>
              <a:rPr dirty="0" sz="1500" spc="-180" i="1">
                <a:latin typeface="Cambria"/>
                <a:cs typeface="Cambria"/>
              </a:rPr>
              <a:t> </a:t>
            </a:r>
            <a:r>
              <a:rPr dirty="0" sz="1500" spc="-25">
                <a:latin typeface="Cambria"/>
                <a:cs typeface="Cambria"/>
              </a:rPr>
              <a:t>=1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07144" y="4532274"/>
            <a:ext cx="3512185" cy="622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600" i="1">
                <a:latin typeface="Cambria"/>
                <a:cs typeface="Cambria"/>
              </a:rPr>
              <a:t>v</a:t>
            </a:r>
            <a:r>
              <a:rPr dirty="0" baseline="-24074" sz="2250" i="1">
                <a:latin typeface="Cambria"/>
                <a:cs typeface="Cambria"/>
              </a:rPr>
              <a:t>i</a:t>
            </a:r>
            <a:r>
              <a:rPr dirty="0" baseline="-24074" sz="2250" spc="-44" i="1">
                <a:latin typeface="Cambria"/>
                <a:cs typeface="Cambria"/>
              </a:rPr>
              <a:t> </a:t>
            </a:r>
            <a:r>
              <a:rPr dirty="0" sz="2600" spc="-50">
                <a:latin typeface="Cambria"/>
                <a:cs typeface="Cambria"/>
              </a:rPr>
              <a:t>(</a:t>
            </a:r>
            <a:r>
              <a:rPr dirty="0" sz="2600" spc="-50" i="1">
                <a:latin typeface="Cambria"/>
                <a:cs typeface="Cambria"/>
              </a:rPr>
              <a:t>t</a:t>
            </a:r>
            <a:r>
              <a:rPr dirty="0" sz="2600" spc="-50">
                <a:latin typeface="Cambria"/>
                <a:cs typeface="Cambria"/>
              </a:rPr>
              <a:t>)</a:t>
            </a:r>
            <a:r>
              <a:rPr dirty="0" sz="2600" spc="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=</a:t>
            </a:r>
            <a:r>
              <a:rPr dirty="0" sz="2600" spc="-70">
                <a:latin typeface="Cambria"/>
                <a:cs typeface="Cambria"/>
              </a:rPr>
              <a:t> </a:t>
            </a:r>
            <a:r>
              <a:rPr dirty="0" sz="2600" spc="-100">
                <a:latin typeface="Cambria"/>
                <a:cs typeface="Cambria"/>
              </a:rPr>
              <a:t>sgn</a:t>
            </a:r>
            <a:r>
              <a:rPr dirty="0" baseline="5341" sz="3900" spc="-150">
                <a:latin typeface="Cambria"/>
                <a:cs typeface="Cambria"/>
              </a:rPr>
              <a:t></a:t>
            </a:r>
            <a:r>
              <a:rPr dirty="0" baseline="-8547" sz="5850" spc="-150">
                <a:latin typeface="Cambria"/>
                <a:cs typeface="Cambria"/>
              </a:rPr>
              <a:t>Σ</a:t>
            </a:r>
            <a:r>
              <a:rPr dirty="0" sz="2600" spc="-100" i="1">
                <a:latin typeface="Cambria"/>
                <a:cs typeface="Cambria"/>
              </a:rPr>
              <a:t>w</a:t>
            </a:r>
            <a:r>
              <a:rPr dirty="0" baseline="-24074" sz="2250" spc="-150" i="1">
                <a:latin typeface="Cambria"/>
                <a:cs typeface="Cambria"/>
              </a:rPr>
              <a:t>ij</a:t>
            </a:r>
            <a:r>
              <a:rPr dirty="0" baseline="-24074" sz="2250" spc="-240" i="1">
                <a:latin typeface="Cambria"/>
                <a:cs typeface="Cambria"/>
              </a:rPr>
              <a:t> </a:t>
            </a:r>
            <a:r>
              <a:rPr dirty="0" sz="2600" spc="-55" i="1">
                <a:latin typeface="Cambria"/>
                <a:cs typeface="Cambria"/>
              </a:rPr>
              <a:t>v</a:t>
            </a:r>
            <a:r>
              <a:rPr dirty="0" sz="2600" spc="-280" i="1">
                <a:latin typeface="Cambria"/>
                <a:cs typeface="Cambria"/>
              </a:rPr>
              <a:t> </a:t>
            </a:r>
            <a:r>
              <a:rPr dirty="0" baseline="-24074" sz="2250" i="1">
                <a:latin typeface="Cambria"/>
                <a:cs typeface="Cambria"/>
              </a:rPr>
              <a:t>j</a:t>
            </a:r>
            <a:r>
              <a:rPr dirty="0" baseline="-24074" sz="2250" spc="44" i="1">
                <a:latin typeface="Cambria"/>
                <a:cs typeface="Cambria"/>
              </a:rPr>
              <a:t> </a:t>
            </a:r>
            <a:r>
              <a:rPr dirty="0" sz="2600" spc="-160">
                <a:latin typeface="Cambria"/>
                <a:cs typeface="Cambria"/>
              </a:rPr>
              <a:t>(</a:t>
            </a:r>
            <a:r>
              <a:rPr dirty="0" sz="2600" spc="-160" i="1">
                <a:latin typeface="Cambria"/>
                <a:cs typeface="Cambria"/>
              </a:rPr>
              <a:t>t</a:t>
            </a:r>
            <a:r>
              <a:rPr dirty="0" sz="2600" i="1">
                <a:latin typeface="Cambria"/>
                <a:cs typeface="Cambria"/>
              </a:rPr>
              <a:t> </a:t>
            </a:r>
            <a:r>
              <a:rPr dirty="0" sz="2600" spc="-70">
                <a:latin typeface="Cambria"/>
                <a:cs typeface="Cambria"/>
              </a:rPr>
              <a:t>–1)</a:t>
            </a:r>
            <a:r>
              <a:rPr dirty="0" sz="2600" spc="-345">
                <a:latin typeface="Cambria"/>
                <a:cs typeface="Cambria"/>
              </a:rPr>
              <a:t> </a:t>
            </a:r>
            <a:r>
              <a:rPr dirty="0" baseline="5341" sz="3900" spc="-2497">
                <a:latin typeface="Cambria"/>
                <a:cs typeface="Cambria"/>
              </a:rPr>
              <a:t></a:t>
            </a:r>
            <a:endParaRPr baseline="5341" sz="390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07733" y="2007679"/>
            <a:ext cx="8478520" cy="3924300"/>
          </a:xfrm>
          <a:prstGeom prst="rect">
            <a:avLst/>
          </a:prstGeom>
        </p:spPr>
        <p:txBody>
          <a:bodyPr wrap="square" lIns="0" tIns="19494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Clr>
                <a:srgbClr val="3333CC"/>
              </a:buClr>
              <a:buSzPct val="59615"/>
              <a:buChar char="■"/>
              <a:tabLst>
                <a:tab pos="354965" algn="l"/>
              </a:tabLst>
            </a:pPr>
            <a:r>
              <a:rPr dirty="0" sz="2600">
                <a:latin typeface="Tahoma"/>
                <a:cs typeface="Tahoma"/>
              </a:rPr>
              <a:t>What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does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such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stable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state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look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like?</a:t>
            </a:r>
            <a:endParaRPr sz="26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143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associates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patterns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with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themselves, </a:t>
            </a:r>
            <a:r>
              <a:rPr dirty="0" sz="2600">
                <a:latin typeface="Tahoma"/>
                <a:cs typeface="Tahoma"/>
              </a:rPr>
              <a:t>which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means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that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each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iteration,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activation </a:t>
            </a:r>
            <a:r>
              <a:rPr dirty="0" sz="2600">
                <a:latin typeface="Tahoma"/>
                <a:cs typeface="Tahoma"/>
              </a:rPr>
              <a:t>pattern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will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drawn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towards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one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those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patterns.</a:t>
            </a:r>
            <a:endParaRPr sz="2600">
              <a:latin typeface="Tahoma"/>
              <a:cs typeface="Tahoma"/>
            </a:endParaRPr>
          </a:p>
          <a:p>
            <a:pPr marL="355600" marR="335280" indent="-342900">
              <a:lnSpc>
                <a:spcPct val="100000"/>
              </a:lnSpc>
              <a:spcBef>
                <a:spcPts val="143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After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converging,</a:t>
            </a:r>
            <a:r>
              <a:rPr dirty="0" sz="2600" spc="-5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will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most</a:t>
            </a:r>
            <a:r>
              <a:rPr dirty="0" sz="2600" spc="-4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likely</a:t>
            </a:r>
            <a:r>
              <a:rPr dirty="0" sz="2600" spc="-4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present </a:t>
            </a:r>
            <a:r>
              <a:rPr dirty="0" sz="2600">
                <a:latin typeface="Tahoma"/>
                <a:cs typeface="Tahoma"/>
              </a:rPr>
              <a:t>one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of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patterns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that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was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initialized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with.</a:t>
            </a:r>
            <a:endParaRPr sz="2600">
              <a:latin typeface="Tahoma"/>
              <a:cs typeface="Tahoma"/>
            </a:endParaRPr>
          </a:p>
          <a:p>
            <a:pPr marL="355600" marR="483234" indent="-342900">
              <a:lnSpc>
                <a:spcPct val="100000"/>
              </a:lnSpc>
              <a:spcBef>
                <a:spcPts val="1435"/>
              </a:spcBef>
              <a:buClr>
                <a:srgbClr val="3333CC"/>
              </a:buClr>
              <a:buSzPct val="59615"/>
              <a:buChar char="■"/>
              <a:tabLst>
                <a:tab pos="355600" algn="l"/>
              </a:tabLst>
            </a:pPr>
            <a:r>
              <a:rPr dirty="0" sz="2600">
                <a:latin typeface="Tahoma"/>
                <a:cs typeface="Tahoma"/>
              </a:rPr>
              <a:t>Therefore,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Hopfield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networks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can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be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used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FF0000"/>
                </a:solidFill>
                <a:latin typeface="Tahoma"/>
                <a:cs typeface="Tahoma"/>
              </a:rPr>
              <a:t>restore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incomplete</a:t>
            </a:r>
            <a:r>
              <a:rPr dirty="0" sz="26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or</a:t>
            </a:r>
            <a:r>
              <a:rPr dirty="0" sz="2600" spc="-4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0000"/>
                </a:solidFill>
                <a:latin typeface="Tahoma"/>
                <a:cs typeface="Tahoma"/>
              </a:rPr>
              <a:t>noisy</a:t>
            </a:r>
            <a:r>
              <a:rPr dirty="0" sz="26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patterns.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21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7111" y="1757997"/>
            <a:ext cx="8971280" cy="3228340"/>
            <a:chOff x="157111" y="1757997"/>
            <a:chExt cx="8971280" cy="322834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3466" y="1757997"/>
              <a:ext cx="3994467" cy="255619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5711" y="1830324"/>
              <a:ext cx="3666743" cy="231648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7111" y="1960854"/>
              <a:ext cx="4991100" cy="3025140"/>
            </a:xfrm>
            <a:custGeom>
              <a:avLst/>
              <a:gdLst/>
              <a:ahLst/>
              <a:cxnLst/>
              <a:rect l="l" t="t" r="r" b="b"/>
              <a:pathLst>
                <a:path w="4991100" h="3025140">
                  <a:moveTo>
                    <a:pt x="4990947" y="0"/>
                  </a:moveTo>
                  <a:lnTo>
                    <a:pt x="0" y="0"/>
                  </a:lnTo>
                  <a:lnTo>
                    <a:pt x="0" y="3024936"/>
                  </a:lnTo>
                  <a:lnTo>
                    <a:pt x="4990947" y="3024936"/>
                  </a:lnTo>
                  <a:lnTo>
                    <a:pt x="49909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35851" y="1926564"/>
            <a:ext cx="4816475" cy="302196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84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 spc="-10">
                <a:latin typeface="Tahoma"/>
                <a:cs typeface="Tahoma"/>
              </a:rPr>
              <a:t>Recall</a:t>
            </a:r>
            <a:endParaRPr sz="2400">
              <a:latin typeface="Tahoma"/>
              <a:cs typeface="Tahoma"/>
            </a:endParaRPr>
          </a:p>
          <a:p>
            <a:pPr lvl="1" marL="755650" marR="5080" indent="-285750">
              <a:lnSpc>
                <a:spcPts val="2590"/>
              </a:lnSpc>
              <a:spcBef>
                <a:spcPts val="610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Use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recall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stored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vector</a:t>
            </a:r>
            <a:endParaRPr sz="2400">
              <a:latin typeface="Tahoma"/>
              <a:cs typeface="Tahoma"/>
            </a:endParaRPr>
          </a:p>
          <a:p>
            <a:pPr lvl="1" marL="755650" marR="169545" indent="-285750">
              <a:lnSpc>
                <a:spcPts val="259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Each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time,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randomly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select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a </a:t>
            </a:r>
            <a:r>
              <a:rPr dirty="0" sz="2400">
                <a:latin typeface="Tahoma"/>
                <a:cs typeface="Tahoma"/>
              </a:rPr>
              <a:t>unit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update</a:t>
            </a:r>
            <a:endParaRPr sz="2400">
              <a:latin typeface="Tahoma"/>
              <a:cs typeface="Tahoma"/>
            </a:endParaRPr>
          </a:p>
          <a:p>
            <a:pPr lvl="1" marL="755650" marR="472440" indent="-285750">
              <a:lnSpc>
                <a:spcPts val="259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650" algn="l"/>
              </a:tabLst>
            </a:pPr>
            <a:r>
              <a:rPr dirty="0" sz="2400">
                <a:latin typeface="Tahoma"/>
                <a:cs typeface="Tahoma"/>
              </a:rPr>
              <a:t>Periodically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check</a:t>
            </a:r>
            <a:r>
              <a:rPr dirty="0" sz="2400" spc="-7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for </a:t>
            </a:r>
            <a:r>
              <a:rPr dirty="0" sz="2400">
                <a:latin typeface="Tahoma"/>
                <a:cs typeface="Tahoma"/>
              </a:rPr>
              <a:t>convergence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(stable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state)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50"/>
              </a:spcBef>
              <a:buClr>
                <a:srgbClr val="3333CC"/>
              </a:buClr>
              <a:buSzPct val="60416"/>
              <a:buChar char="■"/>
              <a:tabLst>
                <a:tab pos="354965" algn="l"/>
              </a:tabLst>
            </a:pPr>
            <a:r>
              <a:rPr dirty="0" sz="2400">
                <a:latin typeface="Tahoma"/>
                <a:cs typeface="Tahoma"/>
              </a:rPr>
              <a:t>Asynchronous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mode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update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rule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06244" y="5548528"/>
            <a:ext cx="29591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i="1">
                <a:solidFill>
                  <a:srgbClr val="0000FF"/>
                </a:solidFill>
                <a:latin typeface="Cambria"/>
                <a:cs typeface="Cambria"/>
              </a:rPr>
              <a:t>j</a:t>
            </a:r>
            <a:r>
              <a:rPr dirty="0" sz="1500" spc="-160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500" spc="-25">
                <a:solidFill>
                  <a:srgbClr val="0000FF"/>
                </a:solidFill>
                <a:latin typeface="Cambria"/>
                <a:cs typeface="Cambria"/>
              </a:rPr>
              <a:t>=1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64524" y="4883429"/>
            <a:ext cx="12446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 i="1">
                <a:solidFill>
                  <a:srgbClr val="0000FF"/>
                </a:solidFill>
                <a:latin typeface="Cambria"/>
                <a:cs typeface="Cambria"/>
              </a:rPr>
              <a:t>n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5675" y="4917236"/>
            <a:ext cx="3401695" cy="631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650" spc="155" i="1">
                <a:solidFill>
                  <a:srgbClr val="007F00"/>
                </a:solidFill>
                <a:latin typeface="Cambria"/>
                <a:cs typeface="Cambria"/>
              </a:rPr>
              <a:t>H</a:t>
            </a:r>
            <a:r>
              <a:rPr dirty="0" baseline="-25925" sz="2250" spc="232" i="1">
                <a:solidFill>
                  <a:srgbClr val="007F00"/>
                </a:solidFill>
                <a:latin typeface="Cambria"/>
                <a:cs typeface="Cambria"/>
              </a:rPr>
              <a:t>i</a:t>
            </a:r>
            <a:r>
              <a:rPr dirty="0" baseline="-25925" sz="2250" spc="-7" i="1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150">
                <a:solidFill>
                  <a:srgbClr val="007F00"/>
                </a:solidFill>
                <a:latin typeface="Cambria"/>
                <a:cs typeface="Cambria"/>
              </a:rPr>
              <a:t>(</a:t>
            </a:r>
            <a:r>
              <a:rPr dirty="0" sz="2650" spc="-150" i="1">
                <a:solidFill>
                  <a:srgbClr val="007F00"/>
                </a:solidFill>
                <a:latin typeface="Cambria"/>
                <a:cs typeface="Cambria"/>
              </a:rPr>
              <a:t>t</a:t>
            </a:r>
            <a:r>
              <a:rPr dirty="0" sz="2650" spc="-25" i="1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60">
                <a:solidFill>
                  <a:srgbClr val="007F00"/>
                </a:solidFill>
                <a:latin typeface="Cambria"/>
                <a:cs typeface="Cambria"/>
              </a:rPr>
              <a:t>+1)</a:t>
            </a:r>
            <a:r>
              <a:rPr dirty="0" sz="2650" spc="2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dirty="0" sz="2650" spc="-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8438" sz="5925" spc="794">
                <a:solidFill>
                  <a:srgbClr val="0000FF"/>
                </a:solidFill>
                <a:latin typeface="Cambria"/>
                <a:cs typeface="Cambria"/>
              </a:rPr>
              <a:t>Σ</a:t>
            </a:r>
            <a:r>
              <a:rPr dirty="0" sz="2650" spc="-45" i="1">
                <a:solidFill>
                  <a:srgbClr val="FF0000"/>
                </a:solidFill>
                <a:latin typeface="Cambria"/>
                <a:cs typeface="Cambria"/>
              </a:rPr>
              <a:t>w</a:t>
            </a:r>
            <a:r>
              <a:rPr dirty="0" baseline="-25925" sz="2250" spc="217" i="1">
                <a:solidFill>
                  <a:srgbClr val="FF0000"/>
                </a:solidFill>
                <a:latin typeface="Cambria"/>
                <a:cs typeface="Cambria"/>
              </a:rPr>
              <a:t>i</a:t>
            </a:r>
            <a:r>
              <a:rPr dirty="0" baseline="-25925" sz="2250" spc="225" i="1">
                <a:solidFill>
                  <a:srgbClr val="FF0000"/>
                </a:solidFill>
                <a:latin typeface="Cambria"/>
                <a:cs typeface="Cambria"/>
              </a:rPr>
              <a:t>j</a:t>
            </a:r>
            <a:r>
              <a:rPr dirty="0" baseline="-25925" sz="2250" spc="-247" i="1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2650" spc="-45" i="1">
                <a:solidFill>
                  <a:srgbClr val="0000FF"/>
                </a:solidFill>
                <a:latin typeface="Cambria"/>
                <a:cs typeface="Cambria"/>
              </a:rPr>
              <a:t>v</a:t>
            </a:r>
            <a:r>
              <a:rPr dirty="0" sz="2650" spc="-33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25925" sz="2250" i="1">
                <a:solidFill>
                  <a:srgbClr val="0000FF"/>
                </a:solidFill>
                <a:latin typeface="Cambria"/>
                <a:cs typeface="Cambria"/>
              </a:rPr>
              <a:t>j</a:t>
            </a:r>
            <a:r>
              <a:rPr dirty="0" baseline="-25925" sz="2250" spc="60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650" spc="-95">
                <a:solidFill>
                  <a:srgbClr val="0000FF"/>
                </a:solidFill>
                <a:latin typeface="Cambria"/>
                <a:cs typeface="Cambria"/>
              </a:rPr>
              <a:t>(</a:t>
            </a:r>
            <a:r>
              <a:rPr dirty="0" sz="2650" spc="-95" i="1">
                <a:solidFill>
                  <a:srgbClr val="0000FF"/>
                </a:solidFill>
                <a:latin typeface="Cambria"/>
                <a:cs typeface="Cambria"/>
              </a:rPr>
              <a:t>t</a:t>
            </a:r>
            <a:r>
              <a:rPr dirty="0" sz="2650" spc="-95">
                <a:solidFill>
                  <a:srgbClr val="0000FF"/>
                </a:solidFill>
                <a:latin typeface="Cambria"/>
                <a:cs typeface="Cambria"/>
              </a:rPr>
              <a:t>)</a:t>
            </a:r>
            <a:r>
              <a:rPr dirty="0" sz="2650" spc="-14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650">
                <a:solidFill>
                  <a:srgbClr val="0000FF"/>
                </a:solidFill>
                <a:latin typeface="Cambria"/>
                <a:cs typeface="Cambria"/>
              </a:rPr>
              <a:t>+</a:t>
            </a:r>
            <a:r>
              <a:rPr dirty="0" sz="2650" spc="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650" spc="15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r>
              <a:rPr dirty="0" baseline="-25925" sz="2250" spc="22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endParaRPr baseline="-25925" sz="22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06244" y="5744362"/>
            <a:ext cx="27051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i="1">
                <a:solidFill>
                  <a:srgbClr val="0000FF"/>
                </a:solidFill>
                <a:latin typeface="Cambria"/>
                <a:cs typeface="Cambria"/>
              </a:rPr>
              <a:t>j</a:t>
            </a:r>
            <a:r>
              <a:rPr dirty="0" sz="1500" spc="-160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500" spc="105">
                <a:solidFill>
                  <a:srgbClr val="0000FF"/>
                </a:solidFill>
                <a:latin typeface="Cambria"/>
                <a:cs typeface="Cambria"/>
              </a:rPr>
              <a:t>s</a:t>
            </a:r>
            <a:r>
              <a:rPr dirty="0" sz="1500" spc="105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94262" y="6027077"/>
            <a:ext cx="8064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 i="1">
                <a:solidFill>
                  <a:srgbClr val="007F00"/>
                </a:solidFill>
                <a:latin typeface="Cambria"/>
                <a:cs typeface="Cambria"/>
              </a:rPr>
              <a:t>i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06437" y="6280493"/>
            <a:ext cx="2172970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105025" algn="l"/>
              </a:tabLst>
            </a:pPr>
            <a:r>
              <a:rPr dirty="0" sz="1500" spc="-50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r>
              <a:rPr dirty="0" sz="1500" i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1500" spc="-50" i="1">
                <a:solidFill>
                  <a:srgbClr val="007F00"/>
                </a:solidFill>
                <a:latin typeface="Cambria"/>
                <a:cs typeface="Cambria"/>
              </a:rPr>
              <a:t>i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194262" y="6533908"/>
            <a:ext cx="80645" cy="2590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-50" i="1">
                <a:solidFill>
                  <a:srgbClr val="007F00"/>
                </a:solidFill>
                <a:latin typeface="Cambria"/>
                <a:cs typeface="Cambria"/>
              </a:rPr>
              <a:t>i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96804" y="5797994"/>
            <a:ext cx="248729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5819" algn="l"/>
              </a:tabLst>
            </a:pPr>
            <a:r>
              <a:rPr dirty="0" baseline="-4192" sz="3975" spc="-1987">
                <a:solidFill>
                  <a:srgbClr val="0000FF"/>
                </a:solidFill>
                <a:latin typeface="Cambria"/>
                <a:cs typeface="Cambria"/>
              </a:rPr>
              <a:t></a:t>
            </a:r>
            <a:r>
              <a:rPr dirty="0" baseline="-4192" sz="3975" spc="89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650" spc="-50">
                <a:solidFill>
                  <a:srgbClr val="0000FF"/>
                </a:solidFill>
                <a:latin typeface="Cambria"/>
                <a:cs typeface="Cambria"/>
              </a:rPr>
              <a:t>1</a:t>
            </a:r>
            <a:r>
              <a:rPr dirty="0" sz="265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650" spc="155" i="1">
                <a:solidFill>
                  <a:srgbClr val="007F00"/>
                </a:solidFill>
                <a:latin typeface="Cambria"/>
                <a:cs typeface="Cambria"/>
              </a:rPr>
              <a:t>H</a:t>
            </a:r>
            <a:r>
              <a:rPr dirty="0" sz="2650" spc="330" i="1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150">
                <a:solidFill>
                  <a:srgbClr val="007F00"/>
                </a:solidFill>
                <a:latin typeface="Cambria"/>
                <a:cs typeface="Cambria"/>
              </a:rPr>
              <a:t>(</a:t>
            </a:r>
            <a:r>
              <a:rPr dirty="0" sz="2650" spc="-150" i="1">
                <a:solidFill>
                  <a:srgbClr val="007F00"/>
                </a:solidFill>
                <a:latin typeface="Cambria"/>
                <a:cs typeface="Cambria"/>
              </a:rPr>
              <a:t>t</a:t>
            </a:r>
            <a:r>
              <a:rPr dirty="0" sz="2650" spc="-20" i="1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85">
                <a:solidFill>
                  <a:srgbClr val="007F00"/>
                </a:solidFill>
                <a:latin typeface="Cambria"/>
                <a:cs typeface="Cambria"/>
              </a:rPr>
              <a:t>+1)</a:t>
            </a:r>
            <a:r>
              <a:rPr dirty="0" sz="2650" spc="-5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1195">
                <a:solidFill>
                  <a:srgbClr val="0000FF"/>
                </a:solidFill>
                <a:latin typeface="Cambria"/>
                <a:cs typeface="Cambria"/>
              </a:rPr>
              <a:t></a:t>
            </a:r>
            <a:r>
              <a:rPr dirty="0" sz="2650" spc="1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65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9775" y="5931357"/>
            <a:ext cx="3776979" cy="573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650" i="1">
                <a:solidFill>
                  <a:srgbClr val="0000FF"/>
                </a:solidFill>
                <a:latin typeface="Cambria"/>
                <a:cs typeface="Cambria"/>
              </a:rPr>
              <a:t>v</a:t>
            </a:r>
            <a:r>
              <a:rPr dirty="0" sz="2650" spc="60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650" spc="-150">
                <a:solidFill>
                  <a:srgbClr val="0000FF"/>
                </a:solidFill>
                <a:latin typeface="Cambria"/>
                <a:cs typeface="Cambria"/>
              </a:rPr>
              <a:t>(</a:t>
            </a:r>
            <a:r>
              <a:rPr dirty="0" sz="2650" spc="-150" i="1">
                <a:solidFill>
                  <a:srgbClr val="0000FF"/>
                </a:solidFill>
                <a:latin typeface="Cambria"/>
                <a:cs typeface="Cambria"/>
              </a:rPr>
              <a:t>t</a:t>
            </a:r>
            <a:r>
              <a:rPr dirty="0" sz="2650" spc="-1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650" spc="-45">
                <a:solidFill>
                  <a:srgbClr val="0000FF"/>
                </a:solidFill>
                <a:latin typeface="Cambria"/>
                <a:cs typeface="Cambria"/>
              </a:rPr>
              <a:t>+1)</a:t>
            </a:r>
            <a:r>
              <a:rPr dirty="0" sz="2650">
                <a:solidFill>
                  <a:srgbClr val="0000FF"/>
                </a:solidFill>
                <a:latin typeface="Cambria"/>
                <a:cs typeface="Cambria"/>
              </a:rPr>
              <a:t> =</a:t>
            </a:r>
            <a:r>
              <a:rPr dirty="0" sz="2650" spc="-4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650">
                <a:solidFill>
                  <a:srgbClr val="0000FF"/>
                </a:solidFill>
                <a:latin typeface="Cambria"/>
                <a:cs typeface="Cambria"/>
              </a:rPr>
              <a:t>sgn</a:t>
            </a:r>
            <a:r>
              <a:rPr dirty="0" baseline="-3086" sz="5400">
                <a:solidFill>
                  <a:srgbClr val="0000FF"/>
                </a:solidFill>
                <a:latin typeface="Cambria"/>
                <a:cs typeface="Cambria"/>
              </a:rPr>
              <a:t>[</a:t>
            </a:r>
            <a:r>
              <a:rPr dirty="0" sz="2650" i="1">
                <a:solidFill>
                  <a:srgbClr val="007F00"/>
                </a:solidFill>
                <a:latin typeface="Cambria"/>
                <a:cs typeface="Cambria"/>
              </a:rPr>
              <a:t>H</a:t>
            </a:r>
            <a:r>
              <a:rPr dirty="0" sz="2650" spc="315" i="1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150">
                <a:solidFill>
                  <a:srgbClr val="007F00"/>
                </a:solidFill>
                <a:latin typeface="Cambria"/>
                <a:cs typeface="Cambria"/>
              </a:rPr>
              <a:t>(</a:t>
            </a:r>
            <a:r>
              <a:rPr dirty="0" sz="2650" spc="-150" i="1">
                <a:solidFill>
                  <a:srgbClr val="007F00"/>
                </a:solidFill>
                <a:latin typeface="Cambria"/>
                <a:cs typeface="Cambria"/>
              </a:rPr>
              <a:t>t</a:t>
            </a:r>
            <a:r>
              <a:rPr dirty="0" sz="2650" spc="-25" i="1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155">
                <a:solidFill>
                  <a:srgbClr val="007F00"/>
                </a:solidFill>
                <a:latin typeface="Cambria"/>
                <a:cs typeface="Cambria"/>
              </a:rPr>
              <a:t>+1)</a:t>
            </a:r>
            <a:r>
              <a:rPr dirty="0" baseline="-3086" sz="5400" spc="-232">
                <a:solidFill>
                  <a:srgbClr val="0000FF"/>
                </a:solidFill>
                <a:latin typeface="Cambria"/>
                <a:cs typeface="Cambria"/>
              </a:rPr>
              <a:t>] </a:t>
            </a:r>
            <a:r>
              <a:rPr dirty="0" sz="265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dirty="0" sz="2650" spc="-1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9433" sz="3975" spc="-2062">
                <a:solidFill>
                  <a:srgbClr val="0000FF"/>
                </a:solidFill>
                <a:latin typeface="Cambria"/>
                <a:cs typeface="Cambria"/>
              </a:rPr>
              <a:t></a:t>
            </a:r>
            <a:endParaRPr baseline="-9433" sz="3975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73384" y="6304826"/>
            <a:ext cx="231013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290" algn="l"/>
              </a:tabLst>
            </a:pPr>
            <a:r>
              <a:rPr dirty="0" sz="2650" spc="-25">
                <a:solidFill>
                  <a:srgbClr val="0000FF"/>
                </a:solidFill>
                <a:latin typeface="Cambria"/>
                <a:cs typeface="Cambria"/>
              </a:rPr>
              <a:t>–1</a:t>
            </a:r>
            <a:r>
              <a:rPr dirty="0" sz="265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650" spc="155" i="1">
                <a:solidFill>
                  <a:srgbClr val="007F00"/>
                </a:solidFill>
                <a:latin typeface="Cambria"/>
                <a:cs typeface="Cambria"/>
              </a:rPr>
              <a:t>H</a:t>
            </a:r>
            <a:r>
              <a:rPr dirty="0" sz="2650" spc="245" i="1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150">
                <a:solidFill>
                  <a:srgbClr val="007F00"/>
                </a:solidFill>
                <a:latin typeface="Cambria"/>
                <a:cs typeface="Cambria"/>
              </a:rPr>
              <a:t>(</a:t>
            </a:r>
            <a:r>
              <a:rPr dirty="0" sz="2650" spc="-150" i="1">
                <a:solidFill>
                  <a:srgbClr val="007F00"/>
                </a:solidFill>
                <a:latin typeface="Cambria"/>
                <a:cs typeface="Cambria"/>
              </a:rPr>
              <a:t>t</a:t>
            </a:r>
            <a:r>
              <a:rPr dirty="0" sz="2650" spc="-25" i="1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 spc="-35">
                <a:solidFill>
                  <a:srgbClr val="007F00"/>
                </a:solidFill>
                <a:latin typeface="Cambria"/>
                <a:cs typeface="Cambria"/>
              </a:rPr>
              <a:t>+1)</a:t>
            </a:r>
            <a:r>
              <a:rPr dirty="0" sz="2650" spc="35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dirty="0" sz="2650">
                <a:solidFill>
                  <a:srgbClr val="0000FF"/>
                </a:solidFill>
                <a:latin typeface="Cambria"/>
                <a:cs typeface="Cambria"/>
              </a:rPr>
              <a:t>&lt;</a:t>
            </a:r>
            <a:r>
              <a:rPr dirty="0" sz="2650" spc="-50">
                <a:solidFill>
                  <a:srgbClr val="0000FF"/>
                </a:solidFill>
                <a:latin typeface="Cambria"/>
                <a:cs typeface="Cambria"/>
              </a:rPr>
              <a:t> 0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96804" y="6394577"/>
            <a:ext cx="19431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375">
                <a:solidFill>
                  <a:srgbClr val="0000FF"/>
                </a:solidFill>
                <a:latin typeface="Cambria"/>
                <a:cs typeface="Cambria"/>
              </a:rPr>
              <a:t></a:t>
            </a:r>
            <a:endParaRPr sz="2650">
              <a:latin typeface="Cambria"/>
              <a:cs typeface="Cambri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2966" y="4125709"/>
            <a:ext cx="2199017" cy="1333893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 rot="21060000">
            <a:off x="6344820" y="4579382"/>
            <a:ext cx="1227934" cy="444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25"/>
              </a:lnSpc>
            </a:pPr>
            <a:r>
              <a:rPr dirty="0" sz="3500" spc="-229" i="1">
                <a:solidFill>
                  <a:srgbClr val="FFFF00"/>
                </a:solidFill>
                <a:latin typeface="Cambria"/>
                <a:cs typeface="Cambria"/>
              </a:rPr>
              <a:t>Stab</a:t>
            </a:r>
            <a:r>
              <a:rPr dirty="0" sz="3500" spc="-229" i="1">
                <a:solidFill>
                  <a:srgbClr val="FFFF00"/>
                </a:solidFill>
                <a:latin typeface="Cambria"/>
                <a:cs typeface="Cambria"/>
              </a:rPr>
              <a:t>le?</a:t>
            </a:r>
            <a:endParaRPr sz="35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25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5287" y="692150"/>
            <a:ext cx="8749030" cy="5905500"/>
          </a:xfrm>
          <a:custGeom>
            <a:avLst/>
            <a:gdLst/>
            <a:ahLst/>
            <a:cxnLst/>
            <a:rect l="l" t="t" r="r" b="b"/>
            <a:pathLst>
              <a:path w="8749030" h="5905500">
                <a:moveTo>
                  <a:pt x="8748712" y="0"/>
                </a:moveTo>
                <a:lnTo>
                  <a:pt x="0" y="0"/>
                </a:lnTo>
                <a:lnTo>
                  <a:pt x="0" y="5905208"/>
                </a:lnTo>
                <a:lnTo>
                  <a:pt x="8748712" y="5905208"/>
                </a:lnTo>
                <a:lnTo>
                  <a:pt x="87487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74027" y="664209"/>
            <a:ext cx="7632700" cy="1374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Tahoma"/>
              <a:buChar char="■"/>
              <a:tabLst>
                <a:tab pos="240029" algn="l"/>
              </a:tabLst>
            </a:pPr>
            <a:r>
              <a:rPr dirty="0" sz="2400" spc="-10" b="1">
                <a:latin typeface="Tahoma"/>
                <a:cs typeface="Tahoma"/>
              </a:rPr>
              <a:t>Example:</a:t>
            </a:r>
            <a:endParaRPr sz="2400">
              <a:latin typeface="Tahoma"/>
              <a:cs typeface="Tahoma"/>
            </a:endParaRPr>
          </a:p>
          <a:p>
            <a:pPr lvl="1" marL="586105" indent="-230504">
              <a:lnSpc>
                <a:spcPct val="100000"/>
              </a:lnSpc>
              <a:spcBef>
                <a:spcPts val="15"/>
              </a:spcBef>
              <a:buClr>
                <a:srgbClr val="FF0000"/>
              </a:buClr>
              <a:buSzPct val="55000"/>
              <a:buChar char="■"/>
              <a:tabLst>
                <a:tab pos="586105" algn="l"/>
              </a:tabLst>
            </a:pP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4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network,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stores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2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patterns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(1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1)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and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(-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 spc="-25">
                <a:latin typeface="Tahoma"/>
                <a:cs typeface="Tahoma"/>
              </a:rPr>
              <a:t>1)</a:t>
            </a:r>
            <a:endParaRPr sz="2000">
              <a:latin typeface="Tahoma"/>
              <a:cs typeface="Tahoma"/>
            </a:endParaRPr>
          </a:p>
          <a:p>
            <a:pPr lvl="1" marL="586105" indent="-230504">
              <a:lnSpc>
                <a:spcPct val="100000"/>
              </a:lnSpc>
              <a:spcBef>
                <a:spcPts val="260"/>
              </a:spcBef>
              <a:buClr>
                <a:srgbClr val="FF0000"/>
              </a:buClr>
              <a:buSzPct val="55000"/>
              <a:buChar char="■"/>
              <a:tabLst>
                <a:tab pos="586105" algn="l"/>
              </a:tabLst>
            </a:pPr>
            <a:r>
              <a:rPr dirty="0" sz="2000" spc="-10">
                <a:latin typeface="Tahoma"/>
                <a:cs typeface="Tahoma"/>
              </a:rPr>
              <a:t>Weights:</a:t>
            </a: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260"/>
              </a:spcBef>
              <a:buClr>
                <a:srgbClr val="3333CC"/>
              </a:buClr>
              <a:buSzPct val="60000"/>
              <a:buChar char="■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Corrupted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input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pattern: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(1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 spc="-25">
                <a:latin typeface="Tahoma"/>
                <a:cs typeface="Tahoma"/>
              </a:rPr>
              <a:t>1)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4027" y="2012441"/>
            <a:ext cx="1171575" cy="1376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dirty="0" sz="2000" spc="-20" b="1">
                <a:solidFill>
                  <a:srgbClr val="0000FF"/>
                </a:solidFill>
                <a:latin typeface="Tahoma"/>
                <a:cs typeface="Tahoma"/>
              </a:rPr>
              <a:t>Node </a:t>
            </a:r>
            <a:r>
              <a:rPr dirty="0" sz="2000" spc="-10" b="1">
                <a:solidFill>
                  <a:srgbClr val="0000FF"/>
                </a:solidFill>
                <a:latin typeface="Tahoma"/>
                <a:cs typeface="Tahoma"/>
              </a:rPr>
              <a:t>selection </a:t>
            </a:r>
            <a:r>
              <a:rPr dirty="0" sz="2000">
                <a:latin typeface="Tahoma"/>
                <a:cs typeface="Tahoma"/>
              </a:rPr>
              <a:t>node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2: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2000">
                <a:latin typeface="Tahoma"/>
                <a:cs typeface="Tahoma"/>
              </a:rPr>
              <a:t>node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4: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09727" y="2012441"/>
            <a:ext cx="1206500" cy="1376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" marR="5080" indent="-36195">
              <a:lnSpc>
                <a:spcPct val="1108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0000FF"/>
                </a:solidFill>
                <a:latin typeface="Tahoma"/>
                <a:cs typeface="Tahoma"/>
              </a:rPr>
              <a:t>output pattern </a:t>
            </a:r>
            <a:r>
              <a:rPr dirty="0" sz="2000">
                <a:latin typeface="Tahoma"/>
                <a:cs typeface="Tahoma"/>
              </a:rPr>
              <a:t>(1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 spc="-25">
                <a:latin typeface="Tahoma"/>
                <a:cs typeface="Tahoma"/>
              </a:rPr>
              <a:t>1)</a:t>
            </a:r>
            <a:endParaRPr sz="2000">
              <a:latin typeface="Tahoma"/>
              <a:cs typeface="Tahoma"/>
            </a:endParaRPr>
          </a:p>
          <a:p>
            <a:pPr marL="114300">
              <a:lnSpc>
                <a:spcPct val="100000"/>
              </a:lnSpc>
              <a:spcBef>
                <a:spcPts val="259"/>
              </a:spcBef>
              <a:tabLst>
                <a:tab pos="944244" algn="l"/>
              </a:tabLst>
            </a:pPr>
            <a:r>
              <a:rPr dirty="0" sz="2000">
                <a:latin typeface="Tahoma"/>
                <a:cs typeface="Tahoma"/>
              </a:rPr>
              <a:t>(1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1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25">
                <a:latin typeface="Tahoma"/>
                <a:cs typeface="Tahoma"/>
              </a:rPr>
              <a:t>1)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74027" y="3395979"/>
            <a:ext cx="7630159" cy="1007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ahoma"/>
                <a:cs typeface="Tahoma"/>
              </a:rPr>
              <a:t>No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more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change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will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occur,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correct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pattern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recovered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20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buClr>
                <a:srgbClr val="3333CC"/>
              </a:buClr>
              <a:buSzPct val="60000"/>
              <a:buChar char="■"/>
              <a:tabLst>
                <a:tab pos="240665" algn="l"/>
              </a:tabLst>
            </a:pPr>
            <a:r>
              <a:rPr dirty="0" sz="2000">
                <a:latin typeface="Tahoma"/>
                <a:cs typeface="Tahoma"/>
              </a:rPr>
              <a:t>Equal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distance: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(1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 spc="-25">
                <a:latin typeface="Tahoma"/>
                <a:cs typeface="Tahoma"/>
              </a:rPr>
              <a:t>1)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4027" y="4377816"/>
            <a:ext cx="887094" cy="103886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000">
                <a:latin typeface="Tahoma"/>
                <a:cs typeface="Tahoma"/>
              </a:rPr>
              <a:t>node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2: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latin typeface="Tahoma"/>
                <a:cs typeface="Tahoma"/>
              </a:rPr>
              <a:t>node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3: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2000">
                <a:latin typeface="Tahoma"/>
                <a:cs typeface="Tahoma"/>
              </a:rPr>
              <a:t>node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25">
                <a:latin typeface="Tahoma"/>
                <a:cs typeface="Tahoma"/>
              </a:rPr>
              <a:t>4: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73212" y="4377816"/>
            <a:ext cx="3896360" cy="103886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000">
                <a:latin typeface="Tahoma"/>
                <a:cs typeface="Tahoma"/>
              </a:rPr>
              <a:t>net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=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0,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</a:t>
            </a:r>
            <a:r>
              <a:rPr dirty="0" sz="2000" spc="-10">
                <a:latin typeface="Tahoma"/>
                <a:cs typeface="Tahoma"/>
              </a:rPr>
              <a:t> change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latin typeface="Tahoma"/>
                <a:cs typeface="Tahoma"/>
              </a:rPr>
              <a:t>net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=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0,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change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2000">
                <a:latin typeface="Tahoma"/>
                <a:cs typeface="Tahoma"/>
              </a:rPr>
              <a:t>net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=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0,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change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from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to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992302" y="4377816"/>
            <a:ext cx="1209675" cy="103886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355"/>
              </a:spcBef>
            </a:pPr>
            <a:r>
              <a:rPr dirty="0" sz="2000">
                <a:latin typeface="Tahoma"/>
                <a:cs typeface="Tahoma"/>
              </a:rPr>
              <a:t>(1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>
                <a:latin typeface="Tahoma"/>
                <a:cs typeface="Tahoma"/>
              </a:rPr>
              <a:t>1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 spc="-25">
                <a:latin typeface="Tahoma"/>
                <a:cs typeface="Tahoma"/>
              </a:rPr>
              <a:t>1)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624205" algn="l"/>
              </a:tabLst>
            </a:pPr>
            <a:r>
              <a:rPr dirty="0" sz="2000">
                <a:latin typeface="Tahoma"/>
                <a:cs typeface="Tahoma"/>
              </a:rPr>
              <a:t>(1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1</a:t>
            </a:r>
            <a:r>
              <a:rPr dirty="0" sz="2000">
                <a:latin typeface="Tahoma"/>
                <a:cs typeface="Tahoma"/>
              </a:rPr>
              <a:t>	1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 spc="-25">
                <a:latin typeface="Tahoma"/>
                <a:cs typeface="Tahoma"/>
              </a:rPr>
              <a:t>1)</a:t>
            </a:r>
            <a:endParaRPr sz="20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  <a:tabLst>
                <a:tab pos="662940" algn="l"/>
                <a:tab pos="960119" algn="l"/>
              </a:tabLst>
            </a:pPr>
            <a:r>
              <a:rPr dirty="0" sz="2000">
                <a:latin typeface="Tahoma"/>
                <a:cs typeface="Tahoma"/>
              </a:rPr>
              <a:t>(1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-50">
                <a:latin typeface="Tahoma"/>
                <a:cs typeface="Tahoma"/>
              </a:rPr>
              <a:t>1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50">
                <a:latin typeface="Tahoma"/>
                <a:cs typeface="Tahoma"/>
              </a:rPr>
              <a:t>1</a:t>
            </a:r>
            <a:r>
              <a:rPr dirty="0" sz="2000">
                <a:latin typeface="Tahoma"/>
                <a:cs typeface="Tahoma"/>
              </a:rPr>
              <a:t>	</a:t>
            </a:r>
            <a:r>
              <a:rPr dirty="0" sz="2000" spc="-25">
                <a:latin typeface="Tahoma"/>
                <a:cs typeface="Tahoma"/>
              </a:rPr>
              <a:t>1)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4027" y="5391277"/>
            <a:ext cx="8287384" cy="103886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000">
                <a:latin typeface="Tahoma"/>
                <a:cs typeface="Tahoma"/>
              </a:rPr>
              <a:t>No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more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change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of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will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occur,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correct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pattern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recovered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10800"/>
              </a:lnSpc>
              <a:spcBef>
                <a:spcPts val="5"/>
              </a:spcBef>
            </a:pPr>
            <a:r>
              <a:rPr dirty="0" sz="2000">
                <a:latin typeface="Tahoma"/>
                <a:cs typeface="Tahoma"/>
              </a:rPr>
              <a:t>If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different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node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selection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order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used,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the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stored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pattern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(-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>
                <a:latin typeface="Tahoma"/>
                <a:cs typeface="Tahoma"/>
              </a:rPr>
              <a:t>1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-</a:t>
            </a:r>
            <a:r>
              <a:rPr dirty="0" sz="2000" spc="-25">
                <a:latin typeface="Tahoma"/>
                <a:cs typeface="Tahoma"/>
              </a:rPr>
              <a:t>1) </a:t>
            </a:r>
            <a:r>
              <a:rPr dirty="0" sz="2000">
                <a:latin typeface="Tahoma"/>
                <a:cs typeface="Tahoma"/>
              </a:rPr>
              <a:t>may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recalled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48383" y="1341119"/>
            <a:ext cx="5424170" cy="2030095"/>
            <a:chOff x="1548383" y="1341119"/>
            <a:chExt cx="5424170" cy="2030095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6083" y="1341119"/>
              <a:ext cx="4776216" cy="4191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383" y="2685287"/>
              <a:ext cx="1789176" cy="348996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3467" y="2636519"/>
              <a:ext cx="3214116" cy="41605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0011" y="2997708"/>
              <a:ext cx="1735836" cy="373379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50825" y="765175"/>
            <a:ext cx="8353425" cy="5486400"/>
          </a:xfrm>
          <a:custGeom>
            <a:avLst/>
            <a:gdLst/>
            <a:ahLst/>
            <a:cxnLst/>
            <a:rect l="l" t="t" r="r" b="b"/>
            <a:pathLst>
              <a:path w="8353425" h="5486400">
                <a:moveTo>
                  <a:pt x="8353425" y="0"/>
                </a:moveTo>
                <a:lnTo>
                  <a:pt x="0" y="0"/>
                </a:lnTo>
                <a:lnTo>
                  <a:pt x="0" y="5486400"/>
                </a:lnTo>
                <a:lnTo>
                  <a:pt x="8353425" y="5486400"/>
                </a:lnTo>
                <a:lnTo>
                  <a:pt x="83534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29565" y="742950"/>
            <a:ext cx="4517390" cy="1789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2570" indent="-229870">
              <a:lnSpc>
                <a:spcPts val="2590"/>
              </a:lnSpc>
              <a:spcBef>
                <a:spcPts val="95"/>
              </a:spcBef>
              <a:buClr>
                <a:srgbClr val="3333CC"/>
              </a:buClr>
              <a:buSzPct val="59090"/>
              <a:buChar char="■"/>
              <a:tabLst>
                <a:tab pos="242570" algn="l"/>
              </a:tabLst>
            </a:pPr>
            <a:r>
              <a:rPr dirty="0" sz="2200">
                <a:latin typeface="Tahoma"/>
                <a:cs typeface="Tahoma"/>
              </a:rPr>
              <a:t>Missing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input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element: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(1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 spc="-25">
                <a:latin typeface="Tahoma"/>
                <a:cs typeface="Tahoma"/>
              </a:rPr>
              <a:t>1)</a:t>
            </a:r>
            <a:endParaRPr sz="2200">
              <a:latin typeface="Tahoma"/>
              <a:cs typeface="Tahoma"/>
            </a:endParaRPr>
          </a:p>
          <a:p>
            <a:pPr marL="12700" marR="3237865">
              <a:lnSpc>
                <a:spcPts val="2640"/>
              </a:lnSpc>
              <a:spcBef>
                <a:spcPts val="40"/>
              </a:spcBef>
            </a:pPr>
            <a:r>
              <a:rPr dirty="0" sz="2200" spc="-20" b="1">
                <a:solidFill>
                  <a:srgbClr val="0000FF"/>
                </a:solidFill>
                <a:latin typeface="Tahoma"/>
                <a:cs typeface="Tahoma"/>
              </a:rPr>
              <a:t>Node </a:t>
            </a:r>
            <a:r>
              <a:rPr dirty="0" sz="2200" spc="-10" b="1">
                <a:solidFill>
                  <a:srgbClr val="0000FF"/>
                </a:solidFill>
                <a:latin typeface="Tahoma"/>
                <a:cs typeface="Tahoma"/>
              </a:rPr>
              <a:t>selection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2200">
                <a:latin typeface="Tahoma"/>
                <a:cs typeface="Tahoma"/>
              </a:rPr>
              <a:t>node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 spc="-25">
                <a:latin typeface="Tahoma"/>
                <a:cs typeface="Tahoma"/>
              </a:rPr>
              <a:t>2: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200">
                <a:latin typeface="Tahoma"/>
                <a:cs typeface="Tahoma"/>
              </a:rPr>
              <a:t>node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1: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net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=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>
                <a:latin typeface="Tahoma"/>
                <a:cs typeface="Tahoma"/>
              </a:rPr>
              <a:t>3,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change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state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to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 spc="-50">
                <a:latin typeface="Tahoma"/>
                <a:cs typeface="Tahoma"/>
              </a:rPr>
              <a:t>1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24675" y="1066164"/>
            <a:ext cx="1553210" cy="1466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100" marR="339090" indent="-381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0000FF"/>
                </a:solidFill>
                <a:latin typeface="Tahoma"/>
                <a:cs typeface="Tahoma"/>
              </a:rPr>
              <a:t>output pattern</a:t>
            </a:r>
            <a:endParaRPr sz="2200">
              <a:latin typeface="Tahoma"/>
              <a:cs typeface="Tahoma"/>
            </a:endParaRPr>
          </a:p>
          <a:p>
            <a:pPr marL="149225">
              <a:lnSpc>
                <a:spcPct val="100000"/>
              </a:lnSpc>
              <a:spcBef>
                <a:spcPts val="395"/>
              </a:spcBef>
            </a:pPr>
            <a:r>
              <a:rPr dirty="0" sz="2200">
                <a:latin typeface="Tahoma"/>
                <a:cs typeface="Tahoma"/>
              </a:rPr>
              <a:t>(1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-</a:t>
            </a:r>
            <a:r>
              <a:rPr dirty="0" sz="2200" spc="-25">
                <a:latin typeface="Tahoma"/>
                <a:cs typeface="Tahoma"/>
              </a:rPr>
              <a:t>1)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2200" spc="-10">
                <a:latin typeface="Tahoma"/>
                <a:cs typeface="Tahoma"/>
              </a:rPr>
              <a:t>(-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 spc="-25">
                <a:latin typeface="Tahoma"/>
                <a:cs typeface="Tahoma"/>
              </a:rPr>
              <a:t>1)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29565" y="2506852"/>
            <a:ext cx="7908290" cy="34912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24230">
              <a:lnSpc>
                <a:spcPct val="114999"/>
              </a:lnSpc>
              <a:spcBef>
                <a:spcPts val="100"/>
              </a:spcBef>
            </a:pPr>
            <a:r>
              <a:rPr dirty="0" sz="2200">
                <a:latin typeface="Tahoma"/>
                <a:cs typeface="Tahoma"/>
              </a:rPr>
              <a:t>No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more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change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of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state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will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occur,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the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correct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pattern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 spc="-25">
                <a:latin typeface="Tahoma"/>
                <a:cs typeface="Tahoma"/>
              </a:rPr>
              <a:t>is </a:t>
            </a:r>
            <a:r>
              <a:rPr dirty="0" sz="2200" spc="-10">
                <a:latin typeface="Tahoma"/>
                <a:cs typeface="Tahoma"/>
              </a:rPr>
              <a:t>recovered</a:t>
            </a:r>
            <a:endParaRPr sz="2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2200">
              <a:latin typeface="Tahoma"/>
              <a:cs typeface="Tahoma"/>
            </a:endParaRPr>
          </a:p>
          <a:p>
            <a:pPr marL="242570" indent="-22987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59090"/>
              <a:buChar char="■"/>
              <a:tabLst>
                <a:tab pos="242570" algn="l"/>
              </a:tabLst>
            </a:pPr>
            <a:r>
              <a:rPr dirty="0" sz="2200">
                <a:latin typeface="Tahoma"/>
                <a:cs typeface="Tahoma"/>
              </a:rPr>
              <a:t>Missing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input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element: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(0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0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 spc="-25">
                <a:latin typeface="Tahoma"/>
                <a:cs typeface="Tahoma"/>
              </a:rPr>
              <a:t>1)</a:t>
            </a:r>
            <a:endParaRPr sz="2200">
              <a:latin typeface="Tahoma"/>
              <a:cs typeface="Tahoma"/>
            </a:endParaRPr>
          </a:p>
          <a:p>
            <a:pPr marL="241300" marR="2182495">
              <a:lnSpc>
                <a:spcPct val="114999"/>
              </a:lnSpc>
              <a:spcBef>
                <a:spcPts val="625"/>
              </a:spcBef>
            </a:pPr>
            <a:r>
              <a:rPr dirty="0" sz="2200">
                <a:latin typeface="Tahoma"/>
                <a:cs typeface="Tahoma"/>
              </a:rPr>
              <a:t>the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correct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pattern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(-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-</a:t>
            </a:r>
            <a:r>
              <a:rPr dirty="0" sz="2200">
                <a:latin typeface="Tahoma"/>
                <a:cs typeface="Tahoma"/>
              </a:rPr>
              <a:t>1)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is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recovered </a:t>
            </a:r>
            <a:r>
              <a:rPr dirty="0" sz="2200">
                <a:latin typeface="Tahoma"/>
                <a:cs typeface="Tahoma"/>
              </a:rPr>
              <a:t>This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is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because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the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AM</a:t>
            </a:r>
            <a:r>
              <a:rPr dirty="0" sz="2200" spc="-2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has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only</a:t>
            </a:r>
            <a:r>
              <a:rPr dirty="0" sz="2200" spc="-2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2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attractors</a:t>
            </a:r>
            <a:endParaRPr sz="2200">
              <a:latin typeface="Tahoma"/>
              <a:cs typeface="Tahoma"/>
            </a:endParaRPr>
          </a:p>
          <a:p>
            <a:pPr marL="1151890">
              <a:lnSpc>
                <a:spcPct val="100000"/>
              </a:lnSpc>
              <a:spcBef>
                <a:spcPts val="400"/>
              </a:spcBef>
            </a:pPr>
            <a:r>
              <a:rPr dirty="0" sz="2200">
                <a:latin typeface="Tahoma"/>
                <a:cs typeface="Tahoma"/>
              </a:rPr>
              <a:t>(1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1)</a:t>
            </a:r>
            <a:r>
              <a:rPr dirty="0" sz="2200" spc="-1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and</a:t>
            </a:r>
            <a:r>
              <a:rPr dirty="0" sz="2200" spc="-15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(-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-</a:t>
            </a:r>
            <a:r>
              <a:rPr dirty="0" sz="2200">
                <a:latin typeface="Tahoma"/>
                <a:cs typeface="Tahoma"/>
              </a:rPr>
              <a:t>1</a:t>
            </a:r>
            <a:r>
              <a:rPr dirty="0" sz="2200" spc="-10">
                <a:latin typeface="Tahoma"/>
                <a:cs typeface="Tahoma"/>
              </a:rPr>
              <a:t> -</a:t>
            </a:r>
            <a:r>
              <a:rPr dirty="0" sz="2200" spc="-25">
                <a:latin typeface="Tahoma"/>
                <a:cs typeface="Tahoma"/>
              </a:rPr>
              <a:t>1)</a:t>
            </a:r>
            <a:endParaRPr sz="2200">
              <a:latin typeface="Tahoma"/>
              <a:cs typeface="Tahoma"/>
            </a:endParaRPr>
          </a:p>
          <a:p>
            <a:pPr marL="241300" marR="5080">
              <a:lnSpc>
                <a:spcPct val="100000"/>
              </a:lnSpc>
              <a:spcBef>
                <a:spcPts val="390"/>
              </a:spcBef>
            </a:pPr>
            <a:r>
              <a:rPr dirty="0" sz="2200">
                <a:latin typeface="Tahoma"/>
                <a:cs typeface="Tahoma"/>
              </a:rPr>
              <a:t>When</a:t>
            </a:r>
            <a:r>
              <a:rPr dirty="0" sz="2200" spc="-5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spurious</a:t>
            </a:r>
            <a:r>
              <a:rPr dirty="0" sz="2200" spc="-5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attractors</a:t>
            </a:r>
            <a:r>
              <a:rPr dirty="0" sz="2200" spc="-5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exist</a:t>
            </a:r>
            <a:r>
              <a:rPr dirty="0" sz="2200" spc="-4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(with</a:t>
            </a:r>
            <a:r>
              <a:rPr dirty="0" sz="2200" spc="-50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more</a:t>
            </a:r>
            <a:r>
              <a:rPr dirty="0" sz="2200" spc="-4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memories),</a:t>
            </a:r>
            <a:r>
              <a:rPr dirty="0" sz="2200" spc="-5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pattern </a:t>
            </a:r>
            <a:r>
              <a:rPr dirty="0" sz="2200">
                <a:latin typeface="Tahoma"/>
                <a:cs typeface="Tahoma"/>
              </a:rPr>
              <a:t>completion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may</a:t>
            </a:r>
            <a:r>
              <a:rPr dirty="0" sz="2200" spc="-35">
                <a:latin typeface="Tahoma"/>
                <a:cs typeface="Tahoma"/>
              </a:rPr>
              <a:t> </a:t>
            </a:r>
            <a:r>
              <a:rPr dirty="0" sz="2200">
                <a:latin typeface="Tahoma"/>
                <a:cs typeface="Tahoma"/>
              </a:rPr>
              <a:t>be</a:t>
            </a:r>
            <a:r>
              <a:rPr dirty="0" sz="2200" spc="-30">
                <a:latin typeface="Tahoma"/>
                <a:cs typeface="Tahoma"/>
              </a:rPr>
              <a:t> </a:t>
            </a:r>
            <a:r>
              <a:rPr dirty="0" sz="2200" spc="-10">
                <a:latin typeface="Tahoma"/>
                <a:cs typeface="Tahoma"/>
              </a:rPr>
              <a:t>incorrect</a:t>
            </a:r>
            <a:endParaRPr sz="22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403603" y="1844039"/>
            <a:ext cx="4791710" cy="372110"/>
            <a:chOff x="1403603" y="1844039"/>
            <a:chExt cx="4791710" cy="37211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3603" y="1876043"/>
              <a:ext cx="800099" cy="25755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5415" y="1844039"/>
              <a:ext cx="4009644" cy="371855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660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100"/>
              </a:spcBef>
            </a:pPr>
            <a:r>
              <a:rPr dirty="0" sz="4800" spc="-10"/>
              <a:t>Example</a:t>
            </a:r>
            <a:endParaRPr sz="48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639" y="3795785"/>
            <a:ext cx="6428509" cy="287957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47052" y="1919364"/>
            <a:ext cx="8361045" cy="181356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algn="just" marL="264160" indent="-251460">
              <a:lnSpc>
                <a:spcPct val="100000"/>
              </a:lnSpc>
              <a:spcBef>
                <a:spcPts val="1205"/>
              </a:spcBef>
              <a:buClr>
                <a:srgbClr val="3333CC"/>
              </a:buClr>
              <a:buSzPct val="59615"/>
              <a:buChar char="■"/>
              <a:tabLst>
                <a:tab pos="264160" algn="l"/>
              </a:tabLst>
            </a:pPr>
            <a:r>
              <a:rPr dirty="0" sz="2600">
                <a:latin typeface="Tahoma"/>
                <a:cs typeface="Tahoma"/>
              </a:rPr>
              <a:t>Image</a:t>
            </a:r>
            <a:r>
              <a:rPr dirty="0" sz="2600" spc="-7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reconstruction</a:t>
            </a:r>
            <a:r>
              <a:rPr dirty="0" sz="2600" spc="-6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(Ritter,</a:t>
            </a:r>
            <a:r>
              <a:rPr dirty="0" sz="2600" spc="-6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Schulten,</a:t>
            </a:r>
            <a:r>
              <a:rPr dirty="0" sz="2600" spc="-6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Martinetz</a:t>
            </a:r>
            <a:r>
              <a:rPr dirty="0" sz="2600" spc="-6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1990)</a:t>
            </a:r>
            <a:endParaRPr sz="2600">
              <a:latin typeface="Tahoma"/>
              <a:cs typeface="Tahoma"/>
            </a:endParaRPr>
          </a:p>
          <a:p>
            <a:pPr algn="just" marL="12700" marR="92075" indent="251460">
              <a:lnSpc>
                <a:spcPct val="90100"/>
              </a:lnSpc>
              <a:spcBef>
                <a:spcPts val="1420"/>
              </a:spcBef>
              <a:buClr>
                <a:srgbClr val="3333CC"/>
              </a:buClr>
              <a:buSzPct val="59615"/>
              <a:buChar char="■"/>
              <a:tabLst>
                <a:tab pos="264160" algn="l"/>
              </a:tabLst>
            </a:pP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110">
                <a:latin typeface="Tahoma"/>
                <a:cs typeface="Tahoma"/>
              </a:rPr>
              <a:t> </a:t>
            </a:r>
            <a:r>
              <a:rPr dirty="0" sz="2600" spc="-275">
                <a:latin typeface="Tahoma"/>
                <a:cs typeface="Tahoma"/>
              </a:rPr>
              <a:t>20</a:t>
            </a:r>
            <a:r>
              <a:rPr dirty="0" sz="2600" spc="-275">
                <a:latin typeface="Cambria"/>
                <a:cs typeface="Cambria"/>
              </a:rPr>
              <a:t></a:t>
            </a:r>
            <a:r>
              <a:rPr dirty="0" sz="2600" spc="-275">
                <a:latin typeface="Tahoma"/>
                <a:cs typeface="Tahoma"/>
              </a:rPr>
              <a:t>20</a:t>
            </a:r>
            <a:r>
              <a:rPr dirty="0" sz="2600" spc="7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discrete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Hopfield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was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trained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with</a:t>
            </a:r>
            <a:r>
              <a:rPr dirty="0" sz="2600" spc="-25">
                <a:latin typeface="Tahoma"/>
                <a:cs typeface="Tahoma"/>
              </a:rPr>
              <a:t> 20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patterns,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including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one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shown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left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figure </a:t>
            </a:r>
            <a:r>
              <a:rPr dirty="0" sz="2600">
                <a:latin typeface="Tahoma"/>
                <a:cs typeface="Tahoma"/>
              </a:rPr>
              <a:t>and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19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random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patterns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as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one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on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the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right.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391" y="3802122"/>
            <a:ext cx="7970102" cy="225187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93052" y="2069464"/>
            <a:ext cx="8270240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6860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After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providing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only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fourth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“face”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image </a:t>
            </a:r>
            <a:r>
              <a:rPr dirty="0" sz="2800">
                <a:latin typeface="Tahoma"/>
                <a:cs typeface="Tahoma"/>
              </a:rPr>
              <a:t>as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initial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input,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network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able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perfectly </a:t>
            </a:r>
            <a:r>
              <a:rPr dirty="0" sz="2800">
                <a:latin typeface="Tahoma"/>
                <a:cs typeface="Tahoma"/>
              </a:rPr>
              <a:t>reconstruct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that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image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within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only</a:t>
            </a:r>
            <a:r>
              <a:rPr dirty="0" sz="2800" spc="-6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two</a:t>
            </a:r>
            <a:r>
              <a:rPr dirty="0" sz="2800" spc="-6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iterations.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660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100"/>
              </a:spcBef>
            </a:pPr>
            <a:r>
              <a:rPr dirty="0" sz="4800" spc="-10"/>
              <a:t>Example</a:t>
            </a:r>
            <a:endParaRPr sz="4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48995" y="2060841"/>
            <a:ext cx="8795385" cy="4640580"/>
            <a:chOff x="348995" y="2060841"/>
            <a:chExt cx="8795385" cy="46405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995" y="4037076"/>
              <a:ext cx="8305800" cy="266395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80999" y="2060841"/>
              <a:ext cx="8763000" cy="2217420"/>
            </a:xfrm>
            <a:custGeom>
              <a:avLst/>
              <a:gdLst/>
              <a:ahLst/>
              <a:cxnLst/>
              <a:rect l="l" t="t" r="r" b="b"/>
              <a:pathLst>
                <a:path w="8763000" h="2217420">
                  <a:moveTo>
                    <a:pt x="8763000" y="0"/>
                  </a:moveTo>
                  <a:lnTo>
                    <a:pt x="0" y="0"/>
                  </a:lnTo>
                  <a:lnTo>
                    <a:pt x="0" y="2217420"/>
                  </a:lnTo>
                  <a:lnTo>
                    <a:pt x="8763000" y="221742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459740" y="2093861"/>
            <a:ext cx="8528685" cy="1928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05180" indent="26860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Adding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noise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changing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each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pixel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with</a:t>
            </a:r>
            <a:r>
              <a:rPr dirty="0" sz="2800" spc="-50">
                <a:latin typeface="Tahoma"/>
                <a:cs typeface="Tahoma"/>
              </a:rPr>
              <a:t> a </a:t>
            </a:r>
            <a:r>
              <a:rPr dirty="0" sz="2800">
                <a:latin typeface="Tahoma"/>
                <a:cs typeface="Tahoma"/>
              </a:rPr>
              <a:t>probability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=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0.3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does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not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impair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network’s performance.</a:t>
            </a:r>
            <a:endParaRPr sz="2800">
              <a:latin typeface="Tahoma"/>
              <a:cs typeface="Tahoma"/>
            </a:endParaRPr>
          </a:p>
          <a:p>
            <a:pPr marL="281305" indent="-268605">
              <a:lnSpc>
                <a:spcPct val="100000"/>
              </a:lnSpc>
              <a:spcBef>
                <a:spcPts val="1550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After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two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steps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image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perfectly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reconstructed.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660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100"/>
              </a:spcBef>
            </a:pPr>
            <a:r>
              <a:rPr dirty="0" sz="4800" spc="-10"/>
              <a:t>Example</a:t>
            </a:r>
            <a:endParaRPr sz="4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" y="4224075"/>
            <a:ext cx="8035199" cy="249524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93052" y="2093861"/>
            <a:ext cx="8408035" cy="1928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6860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However,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for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noise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created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by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p</a:t>
            </a:r>
            <a:r>
              <a:rPr dirty="0" sz="2800" spc="-3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=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0.4,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4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network </a:t>
            </a:r>
            <a:r>
              <a:rPr dirty="0" sz="2800">
                <a:latin typeface="Tahoma"/>
                <a:cs typeface="Tahoma"/>
              </a:rPr>
              <a:t>is</a:t>
            </a:r>
            <a:r>
              <a:rPr dirty="0" sz="2800" spc="-5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unable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to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restore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original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image.</a:t>
            </a:r>
            <a:endParaRPr sz="2800">
              <a:latin typeface="Tahoma"/>
              <a:cs typeface="Tahoma"/>
            </a:endParaRPr>
          </a:p>
          <a:p>
            <a:pPr marL="12700" marR="43815" indent="268605">
              <a:lnSpc>
                <a:spcPct val="100000"/>
              </a:lnSpc>
              <a:spcBef>
                <a:spcPts val="1550"/>
              </a:spcBef>
              <a:buClr>
                <a:srgbClr val="3333CC"/>
              </a:buClr>
              <a:buSzPct val="58928"/>
              <a:buChar char="■"/>
              <a:tabLst>
                <a:tab pos="281305" algn="l"/>
              </a:tabLst>
            </a:pPr>
            <a:r>
              <a:rPr dirty="0" sz="2800">
                <a:latin typeface="Tahoma"/>
                <a:cs typeface="Tahoma"/>
              </a:rPr>
              <a:t>Instead,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it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converges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against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one</a:t>
            </a:r>
            <a:r>
              <a:rPr dirty="0" sz="2800" spc="-45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of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the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>
                <a:latin typeface="Tahoma"/>
                <a:cs typeface="Tahoma"/>
              </a:rPr>
              <a:t>19</a:t>
            </a:r>
            <a:r>
              <a:rPr dirty="0" sz="2800" spc="-50">
                <a:latin typeface="Tahoma"/>
                <a:cs typeface="Tahoma"/>
              </a:rPr>
              <a:t> </a:t>
            </a:r>
            <a:r>
              <a:rPr dirty="0" sz="2800" spc="-10">
                <a:latin typeface="Tahoma"/>
                <a:cs typeface="Tahoma"/>
              </a:rPr>
              <a:t>random patterns.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1660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100"/>
              </a:spcBef>
            </a:pPr>
            <a:r>
              <a:rPr dirty="0" sz="4800" spc="-10"/>
              <a:t>Example</a:t>
            </a:r>
            <a:endParaRPr sz="4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587375" y="4266620"/>
            <a:ext cx="27305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850" spc="-25" i="1">
                <a:latin typeface="Times New Roman"/>
                <a:cs typeface="Times New Roman"/>
              </a:rPr>
              <a:t>y</a:t>
            </a:r>
            <a:r>
              <a:rPr dirty="0" baseline="-16666" sz="2250" spc="-37">
                <a:latin typeface="Times New Roman"/>
                <a:cs typeface="Times New Roman"/>
              </a:rPr>
              <a:t>1</a:t>
            </a:r>
            <a:endParaRPr baseline="-16666" sz="2250">
              <a:latin typeface="Times New Roman"/>
              <a:cs typeface="Times New Roma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597657" y="2528646"/>
            <a:ext cx="4246880" cy="4110990"/>
            <a:chOff x="2597657" y="2528646"/>
            <a:chExt cx="4246880" cy="4110990"/>
          </a:xfrm>
        </p:grpSpPr>
        <p:sp>
          <p:nvSpPr>
            <p:cNvPr id="4" name="object 4" descr=""/>
            <p:cNvSpPr/>
            <p:nvPr/>
          </p:nvSpPr>
          <p:spPr>
            <a:xfrm>
              <a:off x="3051733" y="4268876"/>
              <a:ext cx="1917700" cy="1917064"/>
            </a:xfrm>
            <a:custGeom>
              <a:avLst/>
              <a:gdLst/>
              <a:ahLst/>
              <a:cxnLst/>
              <a:rect l="l" t="t" r="r" b="b"/>
              <a:pathLst>
                <a:path w="1917700" h="1917064">
                  <a:moveTo>
                    <a:pt x="1917204" y="1916760"/>
                  </a:moveTo>
                  <a:lnTo>
                    <a:pt x="0" y="1916760"/>
                  </a:lnTo>
                  <a:lnTo>
                    <a:pt x="0" y="0"/>
                  </a:lnTo>
                  <a:lnTo>
                    <a:pt x="1917204" y="0"/>
                  </a:lnTo>
                  <a:lnTo>
                    <a:pt x="1917204" y="191676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51733" y="3310483"/>
              <a:ext cx="2875915" cy="2875280"/>
            </a:xfrm>
            <a:custGeom>
              <a:avLst/>
              <a:gdLst/>
              <a:ahLst/>
              <a:cxnLst/>
              <a:rect l="l" t="t" r="r" b="b"/>
              <a:pathLst>
                <a:path w="2875915" h="2875279">
                  <a:moveTo>
                    <a:pt x="0" y="2875153"/>
                  </a:moveTo>
                  <a:lnTo>
                    <a:pt x="1917204" y="2875153"/>
                  </a:lnTo>
                  <a:lnTo>
                    <a:pt x="1917204" y="958392"/>
                  </a:lnTo>
                  <a:lnTo>
                    <a:pt x="0" y="958392"/>
                  </a:lnTo>
                  <a:lnTo>
                    <a:pt x="0" y="2875153"/>
                  </a:lnTo>
                </a:path>
                <a:path w="2875915" h="2875279">
                  <a:moveTo>
                    <a:pt x="2875813" y="1908365"/>
                  </a:moveTo>
                  <a:lnTo>
                    <a:pt x="1917204" y="2866745"/>
                  </a:lnTo>
                </a:path>
                <a:path w="2875915" h="2875279">
                  <a:moveTo>
                    <a:pt x="958608" y="1908365"/>
                  </a:moveTo>
                  <a:lnTo>
                    <a:pt x="0" y="2866745"/>
                  </a:lnTo>
                </a:path>
                <a:path w="2875915" h="2875279">
                  <a:moveTo>
                    <a:pt x="958608" y="0"/>
                  </a:moveTo>
                  <a:lnTo>
                    <a:pt x="0" y="958392"/>
                  </a:lnTo>
                </a:path>
              </a:pathLst>
            </a:custGeom>
            <a:ln w="168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664929" y="5546712"/>
              <a:ext cx="1017905" cy="1026160"/>
            </a:xfrm>
            <a:custGeom>
              <a:avLst/>
              <a:gdLst/>
              <a:ahLst/>
              <a:cxnLst/>
              <a:rect l="l" t="t" r="r" b="b"/>
              <a:pathLst>
                <a:path w="1017904" h="1026159">
                  <a:moveTo>
                    <a:pt x="0" y="1025639"/>
                  </a:moveTo>
                  <a:lnTo>
                    <a:pt x="1017460" y="0"/>
                  </a:lnTo>
                </a:path>
              </a:pathLst>
            </a:custGeom>
            <a:ln w="8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597657" y="6530315"/>
              <a:ext cx="100965" cy="109855"/>
            </a:xfrm>
            <a:custGeom>
              <a:avLst/>
              <a:gdLst/>
              <a:ahLst/>
              <a:cxnLst/>
              <a:rect l="l" t="t" r="r" b="b"/>
              <a:pathLst>
                <a:path w="100964" h="109854">
                  <a:moveTo>
                    <a:pt x="33629" y="0"/>
                  </a:moveTo>
                  <a:lnTo>
                    <a:pt x="0" y="109296"/>
                  </a:lnTo>
                  <a:lnTo>
                    <a:pt x="100901" y="75666"/>
                  </a:lnTo>
                  <a:lnTo>
                    <a:pt x="336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010342" y="3310483"/>
              <a:ext cx="1917700" cy="1917064"/>
            </a:xfrm>
            <a:custGeom>
              <a:avLst/>
              <a:gdLst/>
              <a:ahLst/>
              <a:cxnLst/>
              <a:rect l="l" t="t" r="r" b="b"/>
              <a:pathLst>
                <a:path w="1917700" h="1917064">
                  <a:moveTo>
                    <a:pt x="1917204" y="1916772"/>
                  </a:moveTo>
                  <a:lnTo>
                    <a:pt x="0" y="1916772"/>
                  </a:lnTo>
                  <a:lnTo>
                    <a:pt x="0" y="0"/>
                  </a:lnTo>
                  <a:lnTo>
                    <a:pt x="1917204" y="0"/>
                  </a:lnTo>
                  <a:lnTo>
                    <a:pt x="1917204" y="1916772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010342" y="3310483"/>
              <a:ext cx="1917700" cy="1917064"/>
            </a:xfrm>
            <a:custGeom>
              <a:avLst/>
              <a:gdLst/>
              <a:ahLst/>
              <a:cxnLst/>
              <a:rect l="l" t="t" r="r" b="b"/>
              <a:pathLst>
                <a:path w="1917700" h="1917064">
                  <a:moveTo>
                    <a:pt x="0" y="1916772"/>
                  </a:moveTo>
                  <a:lnTo>
                    <a:pt x="1917204" y="1916772"/>
                  </a:lnTo>
                  <a:lnTo>
                    <a:pt x="1917204" y="0"/>
                  </a:lnTo>
                  <a:lnTo>
                    <a:pt x="0" y="0"/>
                  </a:lnTo>
                  <a:lnTo>
                    <a:pt x="0" y="1916772"/>
                  </a:lnTo>
                </a:path>
              </a:pathLst>
            </a:custGeom>
            <a:ln w="168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51733" y="4268876"/>
              <a:ext cx="3700145" cy="950594"/>
            </a:xfrm>
            <a:custGeom>
              <a:avLst/>
              <a:gdLst/>
              <a:ahLst/>
              <a:cxnLst/>
              <a:rect l="l" t="t" r="r" b="b"/>
              <a:pathLst>
                <a:path w="3700145" h="950595">
                  <a:moveTo>
                    <a:pt x="1917204" y="949972"/>
                  </a:moveTo>
                  <a:lnTo>
                    <a:pt x="0" y="949972"/>
                  </a:lnTo>
                  <a:lnTo>
                    <a:pt x="958608" y="0"/>
                  </a:lnTo>
                  <a:lnTo>
                    <a:pt x="2875813" y="0"/>
                  </a:lnTo>
                  <a:lnTo>
                    <a:pt x="1917204" y="949972"/>
                  </a:lnTo>
                </a:path>
                <a:path w="3700145" h="950595">
                  <a:moveTo>
                    <a:pt x="1421091" y="487591"/>
                  </a:moveTo>
                  <a:lnTo>
                    <a:pt x="3699878" y="487591"/>
                  </a:lnTo>
                </a:path>
              </a:pathLst>
            </a:custGeom>
            <a:ln w="8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751612" y="4706023"/>
              <a:ext cx="92710" cy="100965"/>
            </a:xfrm>
            <a:custGeom>
              <a:avLst/>
              <a:gdLst/>
              <a:ahLst/>
              <a:cxnLst/>
              <a:rect l="l" t="t" r="r" b="b"/>
              <a:pathLst>
                <a:path w="92709" h="100964">
                  <a:moveTo>
                    <a:pt x="0" y="0"/>
                  </a:moveTo>
                  <a:lnTo>
                    <a:pt x="0" y="100888"/>
                  </a:lnTo>
                  <a:lnTo>
                    <a:pt x="92494" y="50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72825" y="2621127"/>
              <a:ext cx="0" cy="2135505"/>
            </a:xfrm>
            <a:custGeom>
              <a:avLst/>
              <a:gdLst/>
              <a:ahLst/>
              <a:cxnLst/>
              <a:rect l="l" t="t" r="r" b="b"/>
              <a:pathLst>
                <a:path w="0" h="2135504">
                  <a:moveTo>
                    <a:pt x="0" y="2135339"/>
                  </a:moveTo>
                  <a:lnTo>
                    <a:pt x="0" y="0"/>
                  </a:lnTo>
                </a:path>
              </a:pathLst>
            </a:custGeom>
            <a:ln w="8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430775" y="2528646"/>
              <a:ext cx="92710" cy="100965"/>
            </a:xfrm>
            <a:custGeom>
              <a:avLst/>
              <a:gdLst/>
              <a:ahLst/>
              <a:cxnLst/>
              <a:rect l="l" t="t" r="r" b="b"/>
              <a:pathLst>
                <a:path w="92710" h="100964">
                  <a:moveTo>
                    <a:pt x="42049" y="0"/>
                  </a:moveTo>
                  <a:lnTo>
                    <a:pt x="0" y="100888"/>
                  </a:lnTo>
                  <a:lnTo>
                    <a:pt x="92494" y="100888"/>
                  </a:lnTo>
                  <a:lnTo>
                    <a:pt x="420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010342" y="4748060"/>
              <a:ext cx="462915" cy="471170"/>
            </a:xfrm>
            <a:custGeom>
              <a:avLst/>
              <a:gdLst/>
              <a:ahLst/>
              <a:cxnLst/>
              <a:rect l="l" t="t" r="r" b="b"/>
              <a:pathLst>
                <a:path w="462914" h="471170">
                  <a:moveTo>
                    <a:pt x="0" y="470788"/>
                  </a:moveTo>
                  <a:lnTo>
                    <a:pt x="462483" y="0"/>
                  </a:lnTo>
                </a:path>
              </a:pathLst>
            </a:custGeom>
            <a:ln w="84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960530" y="3293668"/>
              <a:ext cx="975994" cy="983615"/>
            </a:xfrm>
            <a:custGeom>
              <a:avLst/>
              <a:gdLst/>
              <a:ahLst/>
              <a:cxnLst/>
              <a:rect l="l" t="t" r="r" b="b"/>
              <a:pathLst>
                <a:path w="975995" h="983614">
                  <a:moveTo>
                    <a:pt x="958608" y="0"/>
                  </a:moveTo>
                  <a:lnTo>
                    <a:pt x="0" y="958392"/>
                  </a:lnTo>
                  <a:lnTo>
                    <a:pt x="16814" y="983615"/>
                  </a:lnTo>
                  <a:lnTo>
                    <a:pt x="975423" y="25222"/>
                  </a:lnTo>
                  <a:lnTo>
                    <a:pt x="958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68938" y="4268876"/>
              <a:ext cx="0" cy="950594"/>
            </a:xfrm>
            <a:custGeom>
              <a:avLst/>
              <a:gdLst/>
              <a:ahLst/>
              <a:cxnLst/>
              <a:rect l="l" t="t" r="r" b="b"/>
              <a:pathLst>
                <a:path w="0" h="950595">
                  <a:moveTo>
                    <a:pt x="0" y="0"/>
                  </a:moveTo>
                  <a:lnTo>
                    <a:pt x="0" y="949972"/>
                  </a:lnTo>
                </a:path>
              </a:pathLst>
            </a:custGeom>
            <a:ln w="168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68938" y="5218849"/>
              <a:ext cx="958850" cy="958850"/>
            </a:xfrm>
            <a:custGeom>
              <a:avLst/>
              <a:gdLst/>
              <a:ahLst/>
              <a:cxnLst/>
              <a:rect l="l" t="t" r="r" b="b"/>
              <a:pathLst>
                <a:path w="958850" h="958850">
                  <a:moveTo>
                    <a:pt x="0" y="958380"/>
                  </a:moveTo>
                  <a:lnTo>
                    <a:pt x="0" y="0"/>
                  </a:lnTo>
                  <a:lnTo>
                    <a:pt x="958608" y="0"/>
                  </a:lnTo>
                  <a:lnTo>
                    <a:pt x="0" y="95838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68938" y="5218849"/>
              <a:ext cx="958850" cy="958850"/>
            </a:xfrm>
            <a:custGeom>
              <a:avLst/>
              <a:gdLst/>
              <a:ahLst/>
              <a:cxnLst/>
              <a:rect l="l" t="t" r="r" b="b"/>
              <a:pathLst>
                <a:path w="958850" h="958850">
                  <a:moveTo>
                    <a:pt x="0" y="0"/>
                  </a:moveTo>
                  <a:lnTo>
                    <a:pt x="958608" y="0"/>
                  </a:lnTo>
                  <a:lnTo>
                    <a:pt x="0" y="958380"/>
                  </a:lnTo>
                  <a:lnTo>
                    <a:pt x="0" y="0"/>
                  </a:lnTo>
                </a:path>
              </a:pathLst>
            </a:custGeom>
            <a:ln w="168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051733" y="3310483"/>
              <a:ext cx="958850" cy="958850"/>
            </a:xfrm>
            <a:custGeom>
              <a:avLst/>
              <a:gdLst/>
              <a:ahLst/>
              <a:cxnLst/>
              <a:rect l="l" t="t" r="r" b="b"/>
              <a:pathLst>
                <a:path w="958850" h="958850">
                  <a:moveTo>
                    <a:pt x="958608" y="958392"/>
                  </a:moveTo>
                  <a:lnTo>
                    <a:pt x="0" y="958392"/>
                  </a:lnTo>
                  <a:lnTo>
                    <a:pt x="958608" y="0"/>
                  </a:lnTo>
                  <a:lnTo>
                    <a:pt x="958608" y="958392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51733" y="3310483"/>
              <a:ext cx="958850" cy="958850"/>
            </a:xfrm>
            <a:custGeom>
              <a:avLst/>
              <a:gdLst/>
              <a:ahLst/>
              <a:cxnLst/>
              <a:rect l="l" t="t" r="r" b="b"/>
              <a:pathLst>
                <a:path w="958850" h="958850">
                  <a:moveTo>
                    <a:pt x="958608" y="0"/>
                  </a:moveTo>
                  <a:lnTo>
                    <a:pt x="958608" y="958392"/>
                  </a:lnTo>
                  <a:lnTo>
                    <a:pt x="0" y="958392"/>
                  </a:lnTo>
                  <a:lnTo>
                    <a:pt x="958608" y="0"/>
                  </a:lnTo>
                </a:path>
              </a:pathLst>
            </a:custGeom>
            <a:ln w="168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060141" y="5256250"/>
            <a:ext cx="189230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848994">
              <a:lnSpc>
                <a:spcPct val="100000"/>
              </a:lnSpc>
              <a:spcBef>
                <a:spcPts val="130"/>
              </a:spcBef>
            </a:pPr>
            <a:r>
              <a:rPr dirty="0" sz="1650" spc="35">
                <a:latin typeface="Times New Roman"/>
                <a:cs typeface="Times New Roman"/>
              </a:rPr>
              <a:t>(</a:t>
            </a:r>
            <a:r>
              <a:rPr dirty="0" sz="1650" spc="35">
                <a:latin typeface="Cambria"/>
                <a:cs typeface="Cambria"/>
              </a:rPr>
              <a:t>–</a:t>
            </a:r>
            <a:r>
              <a:rPr dirty="0" sz="1650" spc="35">
                <a:latin typeface="Times New Roman"/>
                <a:cs typeface="Times New Roman"/>
              </a:rPr>
              <a:t>1,</a:t>
            </a:r>
            <a:r>
              <a:rPr dirty="0" sz="1650" spc="35">
                <a:latin typeface="Cambria"/>
                <a:cs typeface="Cambria"/>
              </a:rPr>
              <a:t>–</a:t>
            </a:r>
            <a:r>
              <a:rPr dirty="0" sz="1650" spc="35">
                <a:latin typeface="Times New Roman"/>
                <a:cs typeface="Times New Roman"/>
              </a:rPr>
              <a:t>1,</a:t>
            </a:r>
            <a:r>
              <a:rPr dirty="0" sz="1650" spc="35">
                <a:latin typeface="Cambria"/>
                <a:cs typeface="Cambria"/>
              </a:rPr>
              <a:t>–</a:t>
            </a:r>
            <a:r>
              <a:rPr dirty="0" sz="1650" spc="35">
                <a:latin typeface="Times New Roman"/>
                <a:cs typeface="Times New Roman"/>
              </a:rPr>
              <a:t>1)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872797" y="5247843"/>
            <a:ext cx="85280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10">
                <a:latin typeface="Times New Roman"/>
                <a:cs typeface="Times New Roman"/>
              </a:rPr>
              <a:t>(1,</a:t>
            </a:r>
            <a:r>
              <a:rPr dirty="0" sz="1650" spc="-10">
                <a:latin typeface="Cambria"/>
                <a:cs typeface="Cambria"/>
              </a:rPr>
              <a:t>–</a:t>
            </a:r>
            <a:r>
              <a:rPr dirty="0" sz="1650" spc="-10">
                <a:latin typeface="Times New Roman"/>
                <a:cs typeface="Times New Roman"/>
              </a:rPr>
              <a:t>1,</a:t>
            </a:r>
            <a:r>
              <a:rPr dirty="0" sz="1650" spc="-10">
                <a:latin typeface="Cambria"/>
                <a:cs typeface="Cambria"/>
              </a:rPr>
              <a:t>–</a:t>
            </a:r>
            <a:r>
              <a:rPr dirty="0" sz="1650" spc="-10">
                <a:latin typeface="Times New Roman"/>
                <a:cs typeface="Times New Roman"/>
              </a:rPr>
              <a:t>1)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477029" y="3953192"/>
            <a:ext cx="144526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743585">
              <a:lnSpc>
                <a:spcPct val="100000"/>
              </a:lnSpc>
              <a:spcBef>
                <a:spcPts val="130"/>
              </a:spcBef>
            </a:pPr>
            <a:r>
              <a:rPr dirty="0" sz="1650" spc="140">
                <a:latin typeface="Times New Roman"/>
                <a:cs typeface="Times New Roman"/>
              </a:rPr>
              <a:t>(1,1,1)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223376" y="3970007"/>
            <a:ext cx="84455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35">
                <a:latin typeface="Times New Roman"/>
                <a:cs typeface="Times New Roman"/>
              </a:rPr>
              <a:t>(</a:t>
            </a:r>
            <a:r>
              <a:rPr dirty="0" sz="1650" spc="135">
                <a:latin typeface="Cambria"/>
                <a:cs typeface="Cambria"/>
              </a:rPr>
              <a:t>–</a:t>
            </a:r>
            <a:r>
              <a:rPr dirty="0" sz="1650" spc="135">
                <a:latin typeface="Times New Roman"/>
                <a:cs typeface="Times New Roman"/>
              </a:rPr>
              <a:t>1,1,1)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864390" y="2969590"/>
            <a:ext cx="84455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135">
                <a:latin typeface="Times New Roman"/>
                <a:cs typeface="Times New Roman"/>
              </a:rPr>
              <a:t>(1,1,</a:t>
            </a:r>
            <a:r>
              <a:rPr dirty="0" sz="1650" spc="135">
                <a:latin typeface="Cambria"/>
                <a:cs typeface="Cambria"/>
              </a:rPr>
              <a:t>–</a:t>
            </a:r>
            <a:r>
              <a:rPr dirty="0" sz="1650" spc="135">
                <a:latin typeface="Times New Roman"/>
                <a:cs typeface="Times New Roman"/>
              </a:rPr>
              <a:t>1)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74479" y="2969590"/>
            <a:ext cx="906144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80">
                <a:latin typeface="Times New Roman"/>
                <a:cs typeface="Times New Roman"/>
              </a:rPr>
              <a:t>(</a:t>
            </a:r>
            <a:r>
              <a:rPr dirty="0" sz="1650" spc="80">
                <a:latin typeface="Cambria"/>
                <a:cs typeface="Cambria"/>
              </a:rPr>
              <a:t>–</a:t>
            </a:r>
            <a:r>
              <a:rPr dirty="0" sz="1650" spc="80">
                <a:latin typeface="Times New Roman"/>
                <a:cs typeface="Times New Roman"/>
              </a:rPr>
              <a:t>1,1,</a:t>
            </a:r>
            <a:r>
              <a:rPr dirty="0" sz="1650" spc="80">
                <a:latin typeface="Cambria"/>
                <a:cs typeface="Cambria"/>
              </a:rPr>
              <a:t>–</a:t>
            </a:r>
            <a:r>
              <a:rPr dirty="0" sz="1650" spc="80">
                <a:latin typeface="Times New Roman"/>
                <a:cs typeface="Times New Roman"/>
              </a:rPr>
              <a:t>1)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485347" y="4726622"/>
            <a:ext cx="13208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50">
                <a:latin typeface="Times New Roman"/>
                <a:cs typeface="Times New Roman"/>
              </a:rPr>
              <a:t>0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984461" y="3243237"/>
            <a:ext cx="2994025" cy="2993390"/>
            <a:chOff x="2984461" y="3243237"/>
            <a:chExt cx="2994025" cy="2993390"/>
          </a:xfrm>
        </p:grpSpPr>
        <p:sp>
          <p:nvSpPr>
            <p:cNvPr id="29" name="object 29" descr=""/>
            <p:cNvSpPr/>
            <p:nvPr/>
          </p:nvSpPr>
          <p:spPr>
            <a:xfrm>
              <a:off x="4010342" y="4268876"/>
              <a:ext cx="958850" cy="0"/>
            </a:xfrm>
            <a:custGeom>
              <a:avLst/>
              <a:gdLst/>
              <a:ahLst/>
              <a:cxnLst/>
              <a:rect l="l" t="t" r="r" b="b"/>
              <a:pathLst>
                <a:path w="958850" h="0">
                  <a:moveTo>
                    <a:pt x="0" y="0"/>
                  </a:moveTo>
                  <a:lnTo>
                    <a:pt x="958596" y="0"/>
                  </a:lnTo>
                </a:path>
              </a:pathLst>
            </a:custGeom>
            <a:ln w="168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0275" y="5159997"/>
              <a:ext cx="117728" cy="117703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1679" y="6118377"/>
              <a:ext cx="117716" cy="11770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4461" y="6109970"/>
              <a:ext cx="117729" cy="12611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0275" y="3243237"/>
              <a:ext cx="117728" cy="11769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43070" y="3243237"/>
              <a:ext cx="117716" cy="11769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84461" y="4201617"/>
              <a:ext cx="117729" cy="117690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3051733" y="3302076"/>
              <a:ext cx="2884805" cy="2875280"/>
            </a:xfrm>
            <a:custGeom>
              <a:avLst/>
              <a:gdLst/>
              <a:ahLst/>
              <a:cxnLst/>
              <a:rect l="l" t="t" r="r" b="b"/>
              <a:pathLst>
                <a:path w="2884804" h="2875279">
                  <a:moveTo>
                    <a:pt x="958608" y="1941995"/>
                  </a:moveTo>
                  <a:lnTo>
                    <a:pt x="941781" y="1916772"/>
                  </a:lnTo>
                  <a:lnTo>
                    <a:pt x="520382" y="2338082"/>
                  </a:lnTo>
                  <a:lnTo>
                    <a:pt x="428853" y="2370759"/>
                  </a:lnTo>
                  <a:lnTo>
                    <a:pt x="458266" y="2400185"/>
                  </a:lnTo>
                  <a:lnTo>
                    <a:pt x="105930" y="2752445"/>
                  </a:lnTo>
                  <a:lnTo>
                    <a:pt x="16814" y="2841536"/>
                  </a:lnTo>
                  <a:lnTo>
                    <a:pt x="0" y="2858351"/>
                  </a:lnTo>
                  <a:lnTo>
                    <a:pt x="16814" y="2875165"/>
                  </a:lnTo>
                  <a:lnTo>
                    <a:pt x="30314" y="2861792"/>
                  </a:lnTo>
                  <a:lnTo>
                    <a:pt x="33629" y="2866758"/>
                  </a:lnTo>
                  <a:lnTo>
                    <a:pt x="479298" y="2421191"/>
                  </a:lnTo>
                  <a:lnTo>
                    <a:pt x="512940" y="2454821"/>
                  </a:lnTo>
                  <a:lnTo>
                    <a:pt x="538759" y="2357996"/>
                  </a:lnTo>
                  <a:lnTo>
                    <a:pt x="958608" y="1941995"/>
                  </a:lnTo>
                  <a:close/>
                </a:path>
                <a:path w="2884804" h="2875279">
                  <a:moveTo>
                    <a:pt x="2875813" y="1908365"/>
                  </a:moveTo>
                  <a:lnTo>
                    <a:pt x="2287193" y="1908365"/>
                  </a:lnTo>
                  <a:lnTo>
                    <a:pt x="2270379" y="1908365"/>
                  </a:lnTo>
                  <a:lnTo>
                    <a:pt x="2270379" y="1857921"/>
                  </a:lnTo>
                  <a:lnTo>
                    <a:pt x="2162251" y="1908365"/>
                  </a:lnTo>
                  <a:lnTo>
                    <a:pt x="967016" y="1908365"/>
                  </a:lnTo>
                  <a:lnTo>
                    <a:pt x="967016" y="655751"/>
                  </a:lnTo>
                  <a:lnTo>
                    <a:pt x="1017460" y="554863"/>
                  </a:lnTo>
                  <a:lnTo>
                    <a:pt x="967016" y="554863"/>
                  </a:lnTo>
                  <a:lnTo>
                    <a:pt x="967016" y="50444"/>
                  </a:lnTo>
                  <a:lnTo>
                    <a:pt x="967016" y="8407"/>
                  </a:lnTo>
                  <a:lnTo>
                    <a:pt x="941781" y="8407"/>
                  </a:lnTo>
                  <a:lnTo>
                    <a:pt x="941781" y="50444"/>
                  </a:lnTo>
                  <a:lnTo>
                    <a:pt x="941781" y="554863"/>
                  </a:lnTo>
                  <a:lnTo>
                    <a:pt x="891336" y="554863"/>
                  </a:lnTo>
                  <a:lnTo>
                    <a:pt x="941781" y="643115"/>
                  </a:lnTo>
                  <a:lnTo>
                    <a:pt x="941781" y="1908365"/>
                  </a:lnTo>
                  <a:lnTo>
                    <a:pt x="958608" y="1908365"/>
                  </a:lnTo>
                  <a:lnTo>
                    <a:pt x="958608" y="1933587"/>
                  </a:lnTo>
                  <a:lnTo>
                    <a:pt x="2175776" y="1933587"/>
                  </a:lnTo>
                  <a:lnTo>
                    <a:pt x="2270379" y="1984032"/>
                  </a:lnTo>
                  <a:lnTo>
                    <a:pt x="2270379" y="1933587"/>
                  </a:lnTo>
                  <a:lnTo>
                    <a:pt x="2287193" y="1933587"/>
                  </a:lnTo>
                  <a:lnTo>
                    <a:pt x="2875813" y="1933587"/>
                  </a:lnTo>
                  <a:lnTo>
                    <a:pt x="2875813" y="1908365"/>
                  </a:lnTo>
                  <a:close/>
                </a:path>
                <a:path w="2884804" h="2875279">
                  <a:moveTo>
                    <a:pt x="2884220" y="16814"/>
                  </a:moveTo>
                  <a:lnTo>
                    <a:pt x="2867406" y="0"/>
                  </a:lnTo>
                  <a:lnTo>
                    <a:pt x="2440978" y="417969"/>
                  </a:lnTo>
                  <a:lnTo>
                    <a:pt x="2404922" y="378307"/>
                  </a:lnTo>
                  <a:lnTo>
                    <a:pt x="2371280" y="512826"/>
                  </a:lnTo>
                  <a:lnTo>
                    <a:pt x="2489009" y="470789"/>
                  </a:lnTo>
                  <a:lnTo>
                    <a:pt x="2456980" y="435571"/>
                  </a:lnTo>
                  <a:lnTo>
                    <a:pt x="2884220" y="16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43070" y="5159997"/>
              <a:ext cx="117716" cy="117703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076956" y="4201617"/>
              <a:ext cx="1892300" cy="126364"/>
            </a:xfrm>
            <a:custGeom>
              <a:avLst/>
              <a:gdLst/>
              <a:ahLst/>
              <a:cxnLst/>
              <a:rect l="l" t="t" r="r" b="b"/>
              <a:pathLst>
                <a:path w="1892300" h="126364">
                  <a:moveTo>
                    <a:pt x="1891982" y="50444"/>
                  </a:moveTo>
                  <a:lnTo>
                    <a:pt x="575995" y="50444"/>
                  </a:lnTo>
                  <a:lnTo>
                    <a:pt x="487718" y="0"/>
                  </a:lnTo>
                  <a:lnTo>
                    <a:pt x="487718" y="50444"/>
                  </a:lnTo>
                  <a:lnTo>
                    <a:pt x="0" y="50444"/>
                  </a:lnTo>
                  <a:lnTo>
                    <a:pt x="0" y="75666"/>
                  </a:lnTo>
                  <a:lnTo>
                    <a:pt x="487718" y="75666"/>
                  </a:lnTo>
                  <a:lnTo>
                    <a:pt x="487718" y="126098"/>
                  </a:lnTo>
                  <a:lnTo>
                    <a:pt x="588606" y="75666"/>
                  </a:lnTo>
                  <a:lnTo>
                    <a:pt x="1891982" y="75666"/>
                  </a:lnTo>
                  <a:lnTo>
                    <a:pt x="1891982" y="504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01679" y="4201617"/>
              <a:ext cx="126123" cy="11769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4901666" y="4319307"/>
              <a:ext cx="126364" cy="1833245"/>
            </a:xfrm>
            <a:custGeom>
              <a:avLst/>
              <a:gdLst/>
              <a:ahLst/>
              <a:cxnLst/>
              <a:rect l="l" t="t" r="r" b="b"/>
              <a:pathLst>
                <a:path w="126364" h="1833245">
                  <a:moveTo>
                    <a:pt x="126136" y="1429181"/>
                  </a:moveTo>
                  <a:lnTo>
                    <a:pt x="75679" y="1328305"/>
                  </a:lnTo>
                  <a:lnTo>
                    <a:pt x="75679" y="0"/>
                  </a:lnTo>
                  <a:lnTo>
                    <a:pt x="50457" y="0"/>
                  </a:lnTo>
                  <a:lnTo>
                    <a:pt x="50457" y="1340916"/>
                  </a:lnTo>
                  <a:lnTo>
                    <a:pt x="0" y="1429181"/>
                  </a:lnTo>
                  <a:lnTo>
                    <a:pt x="50457" y="1429181"/>
                  </a:lnTo>
                  <a:lnTo>
                    <a:pt x="50457" y="1807489"/>
                  </a:lnTo>
                  <a:lnTo>
                    <a:pt x="50457" y="1832711"/>
                  </a:lnTo>
                  <a:lnTo>
                    <a:pt x="75679" y="1832711"/>
                  </a:lnTo>
                  <a:lnTo>
                    <a:pt x="75679" y="1807489"/>
                  </a:lnTo>
                  <a:lnTo>
                    <a:pt x="75679" y="1429181"/>
                  </a:lnTo>
                  <a:lnTo>
                    <a:pt x="126136" y="1429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037640" y="2031771"/>
            <a:ext cx="7458709" cy="6273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050" b="1">
                <a:latin typeface="Tahoma"/>
                <a:cs typeface="Tahoma"/>
              </a:rPr>
              <a:t>Possible</a:t>
            </a:r>
            <a:r>
              <a:rPr dirty="0" sz="2050" spc="60" b="1">
                <a:latin typeface="Tahoma"/>
                <a:cs typeface="Tahoma"/>
              </a:rPr>
              <a:t> </a:t>
            </a:r>
            <a:r>
              <a:rPr dirty="0" sz="2050" b="1">
                <a:latin typeface="Tahoma"/>
                <a:cs typeface="Tahoma"/>
              </a:rPr>
              <a:t>8</a:t>
            </a:r>
            <a:r>
              <a:rPr dirty="0" sz="2050" spc="75" b="1">
                <a:latin typeface="Tahoma"/>
                <a:cs typeface="Tahoma"/>
              </a:rPr>
              <a:t> </a:t>
            </a:r>
            <a:r>
              <a:rPr dirty="0" sz="2050" b="1">
                <a:latin typeface="Tahoma"/>
                <a:cs typeface="Tahoma"/>
              </a:rPr>
              <a:t>states</a:t>
            </a:r>
            <a:r>
              <a:rPr dirty="0" sz="2050" spc="70" b="1">
                <a:latin typeface="Tahoma"/>
                <a:cs typeface="Tahoma"/>
              </a:rPr>
              <a:t> </a:t>
            </a:r>
            <a:r>
              <a:rPr dirty="0" sz="2050" b="1">
                <a:latin typeface="Tahoma"/>
                <a:cs typeface="Tahoma"/>
              </a:rPr>
              <a:t>for</a:t>
            </a:r>
            <a:r>
              <a:rPr dirty="0" sz="2050" spc="65" b="1">
                <a:latin typeface="Tahoma"/>
                <a:cs typeface="Tahoma"/>
              </a:rPr>
              <a:t> </a:t>
            </a:r>
            <a:r>
              <a:rPr dirty="0" sz="2050" b="1">
                <a:latin typeface="Tahoma"/>
                <a:cs typeface="Tahoma"/>
              </a:rPr>
              <a:t>the</a:t>
            </a:r>
            <a:r>
              <a:rPr dirty="0" sz="2050" spc="75" b="1">
                <a:latin typeface="Tahoma"/>
                <a:cs typeface="Tahoma"/>
              </a:rPr>
              <a:t> </a:t>
            </a:r>
            <a:r>
              <a:rPr dirty="0" sz="2050" b="1">
                <a:latin typeface="Tahoma"/>
                <a:cs typeface="Tahoma"/>
              </a:rPr>
              <a:t>three-neuron</a:t>
            </a:r>
            <a:r>
              <a:rPr dirty="0" sz="2050" spc="70" b="1">
                <a:latin typeface="Tahoma"/>
                <a:cs typeface="Tahoma"/>
              </a:rPr>
              <a:t> </a:t>
            </a:r>
            <a:r>
              <a:rPr dirty="0" sz="2050" b="1">
                <a:latin typeface="Tahoma"/>
                <a:cs typeface="Tahoma"/>
              </a:rPr>
              <a:t>Hopfield</a:t>
            </a:r>
            <a:r>
              <a:rPr dirty="0" sz="2050" spc="75" b="1">
                <a:latin typeface="Tahoma"/>
                <a:cs typeface="Tahoma"/>
              </a:rPr>
              <a:t> </a:t>
            </a:r>
            <a:r>
              <a:rPr dirty="0" sz="2050" spc="-10" b="1">
                <a:latin typeface="Tahoma"/>
                <a:cs typeface="Tahoma"/>
              </a:rPr>
              <a:t>network</a:t>
            </a:r>
            <a:endParaRPr sz="2050">
              <a:latin typeface="Tahoma"/>
              <a:cs typeface="Tahoma"/>
            </a:endParaRPr>
          </a:p>
          <a:p>
            <a:pPr algn="ctr" marR="30480">
              <a:lnSpc>
                <a:spcPct val="100000"/>
              </a:lnSpc>
              <a:spcBef>
                <a:spcPts val="30"/>
              </a:spcBef>
            </a:pPr>
            <a:r>
              <a:rPr dirty="0" sz="1850" spc="-25" i="1">
                <a:latin typeface="Times New Roman"/>
                <a:cs typeface="Times New Roman"/>
              </a:rPr>
              <a:t>y</a:t>
            </a:r>
            <a:r>
              <a:rPr dirty="0" baseline="-16666" sz="2250" spc="-37">
                <a:latin typeface="Times New Roman"/>
                <a:cs typeface="Times New Roman"/>
              </a:rPr>
              <a:t>2</a:t>
            </a:r>
            <a:endParaRPr baseline="-16666" sz="225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996984" y="6205090"/>
            <a:ext cx="906144" cy="287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latin typeface="Times New Roman"/>
                <a:cs typeface="Times New Roman"/>
              </a:rPr>
              <a:t>(</a:t>
            </a:r>
            <a:r>
              <a:rPr dirty="0" sz="1650" spc="80">
                <a:latin typeface="Cambria"/>
                <a:cs typeface="Cambria"/>
              </a:rPr>
              <a:t>–</a:t>
            </a:r>
            <a:r>
              <a:rPr dirty="0" sz="1650" spc="80">
                <a:latin typeface="Times New Roman"/>
                <a:cs typeface="Times New Roman"/>
              </a:rPr>
              <a:t>1,</a:t>
            </a:r>
            <a:r>
              <a:rPr dirty="0" sz="1650" spc="80">
                <a:latin typeface="Cambria"/>
                <a:cs typeface="Cambria"/>
              </a:rPr>
              <a:t>–</a:t>
            </a:r>
            <a:r>
              <a:rPr dirty="0" sz="1650" spc="80">
                <a:latin typeface="Times New Roman"/>
                <a:cs typeface="Times New Roman"/>
              </a:rPr>
              <a:t>1,1)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931016" y="6205090"/>
            <a:ext cx="791210" cy="287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>
                <a:latin typeface="Times New Roman"/>
                <a:cs typeface="Times New Roman"/>
              </a:rPr>
              <a:t>(1,</a:t>
            </a:r>
            <a:r>
              <a:rPr dirty="0" sz="1650" spc="80">
                <a:latin typeface="Cambria"/>
                <a:cs typeface="Cambria"/>
              </a:rPr>
              <a:t>–</a:t>
            </a:r>
            <a:r>
              <a:rPr dirty="0" sz="1650" spc="80">
                <a:latin typeface="Times New Roman"/>
                <a:cs typeface="Times New Roman"/>
              </a:rPr>
              <a:t>1,1)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648700" y="6427700"/>
            <a:ext cx="220345" cy="241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2273833" y="6460391"/>
            <a:ext cx="222250" cy="314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70"/>
              </a:lnSpc>
            </a:pPr>
            <a:r>
              <a:rPr dirty="0" sz="1850" spc="-25" i="1">
                <a:latin typeface="Times New Roman"/>
                <a:cs typeface="Times New Roman"/>
              </a:rPr>
              <a:t>y</a:t>
            </a:r>
            <a:r>
              <a:rPr dirty="0" baseline="-16666" sz="2250" spc="-37">
                <a:latin typeface="Times New Roman"/>
                <a:cs typeface="Times New Roman"/>
              </a:rPr>
              <a:t>3</a:t>
            </a:r>
            <a:endParaRPr baseline="-16666" sz="22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6577" y="2199792"/>
            <a:ext cx="8399780" cy="3180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145" marR="5080" indent="-386080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Char char="■"/>
              <a:tabLst>
                <a:tab pos="398145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stable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determined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matrix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W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25">
                <a:latin typeface="Tahoma"/>
                <a:cs typeface="Tahoma"/>
              </a:rPr>
              <a:t> the </a:t>
            </a:r>
            <a:r>
              <a:rPr dirty="0" sz="2400">
                <a:latin typeface="Tahoma"/>
                <a:cs typeface="Tahoma"/>
              </a:rPr>
              <a:t>current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X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threshold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matrix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q</a:t>
            </a:r>
            <a:r>
              <a:rPr dirty="0" sz="2400">
                <a:latin typeface="Tahoma"/>
                <a:cs typeface="Tahoma"/>
              </a:rPr>
              <a:t>.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partially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incorrect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incomplete,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initial </a:t>
            </a:r>
            <a:r>
              <a:rPr dirty="0" sz="2400">
                <a:latin typeface="Tahoma"/>
                <a:cs typeface="Tahoma"/>
              </a:rPr>
              <a:t>state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will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converge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into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stable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after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few </a:t>
            </a:r>
            <a:r>
              <a:rPr dirty="0" sz="2400" spc="-10">
                <a:latin typeface="Tahoma"/>
                <a:cs typeface="Tahoma"/>
              </a:rPr>
              <a:t>iterations.</a:t>
            </a:r>
            <a:endParaRPr sz="2400">
              <a:latin typeface="Tahoma"/>
              <a:cs typeface="Tahoma"/>
            </a:endParaRPr>
          </a:p>
          <a:p>
            <a:pPr marL="398145" marR="452755" indent="-386080">
              <a:lnSpc>
                <a:spcPct val="100000"/>
              </a:lnSpc>
              <a:spcBef>
                <a:spcPts val="1800"/>
              </a:spcBef>
              <a:buClr>
                <a:srgbClr val="333399"/>
              </a:buClr>
              <a:buChar char="■"/>
              <a:tabLst>
                <a:tab pos="398145" algn="l"/>
              </a:tabLst>
            </a:pPr>
            <a:r>
              <a:rPr dirty="0" sz="2400">
                <a:latin typeface="Tahoma"/>
                <a:cs typeface="Tahoma"/>
              </a:rPr>
              <a:t>Suppose,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instance,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required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to </a:t>
            </a:r>
            <a:r>
              <a:rPr dirty="0" sz="2400">
                <a:latin typeface="Tahoma"/>
                <a:cs typeface="Tahoma"/>
              </a:rPr>
              <a:t>memorize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two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opposite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states,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1)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(-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 spc="-25">
                <a:latin typeface="Tahoma"/>
                <a:cs typeface="Tahoma"/>
              </a:rPr>
              <a:t>1). </a:t>
            </a:r>
            <a:r>
              <a:rPr dirty="0" sz="2400" spc="-10">
                <a:latin typeface="Tahoma"/>
                <a:cs typeface="Tahoma"/>
              </a:rPr>
              <a:t>Thus,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33016" y="6024930"/>
            <a:ext cx="363220" cy="569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ts val="2145"/>
              </a:lnSpc>
              <a:spcBef>
                <a:spcPts val="95"/>
              </a:spcBef>
            </a:pPr>
            <a:r>
              <a:rPr dirty="0" sz="2000" spc="-1240">
                <a:latin typeface="Cambria"/>
                <a:cs typeface="Cambria"/>
              </a:rPr>
              <a:t></a:t>
            </a:r>
            <a:r>
              <a:rPr dirty="0" sz="2000" spc="285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</a:t>
            </a:r>
            <a:endParaRPr sz="2000">
              <a:latin typeface="Cambria"/>
              <a:cs typeface="Cambria"/>
            </a:endParaRPr>
          </a:p>
          <a:p>
            <a:pPr marL="38100">
              <a:lnSpc>
                <a:spcPts val="2145"/>
              </a:lnSpc>
            </a:pPr>
            <a:r>
              <a:rPr dirty="0" sz="2000" spc="-1375">
                <a:latin typeface="Cambria"/>
                <a:cs typeface="Cambria"/>
              </a:rPr>
              <a:t></a:t>
            </a:r>
            <a:r>
              <a:rPr dirty="0" baseline="-18055" sz="3000" spc="-2062">
                <a:latin typeface="Cambria"/>
                <a:cs typeface="Cambria"/>
              </a:rPr>
              <a:t></a:t>
            </a:r>
            <a:r>
              <a:rPr dirty="0" baseline="-4166" sz="3000" spc="-2062">
                <a:latin typeface="Times New Roman"/>
                <a:cs typeface="Times New Roman"/>
              </a:rPr>
              <a:t>1</a:t>
            </a:r>
            <a:r>
              <a:rPr dirty="0" sz="2000" spc="-1375">
                <a:latin typeface="Cambria"/>
                <a:cs typeface="Cambria"/>
              </a:rPr>
              <a:t></a:t>
            </a:r>
            <a:r>
              <a:rPr dirty="0" baseline="-18055" sz="3000" spc="-2062">
                <a:latin typeface="Cambria"/>
                <a:cs typeface="Cambria"/>
              </a:rPr>
              <a:t></a:t>
            </a:r>
            <a:endParaRPr baseline="-18055" sz="3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35049" y="5777280"/>
            <a:ext cx="5613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7777" sz="3000">
                <a:latin typeface="Cambria"/>
                <a:cs typeface="Cambria"/>
              </a:rPr>
              <a:t>= </a:t>
            </a:r>
            <a:r>
              <a:rPr dirty="0" sz="2000" spc="-944">
                <a:latin typeface="Cambria"/>
                <a:cs typeface="Cambria"/>
              </a:rPr>
              <a:t></a:t>
            </a:r>
            <a:r>
              <a:rPr dirty="0" baseline="-27777" sz="3000" spc="-1417">
                <a:latin typeface="Times New Roman"/>
                <a:cs typeface="Times New Roman"/>
              </a:rPr>
              <a:t>1</a:t>
            </a:r>
            <a:r>
              <a:rPr dirty="0" sz="2000" spc="-944">
                <a:latin typeface="Cambria"/>
                <a:cs typeface="Cambria"/>
              </a:rPr>
              <a:t>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58416" y="5537885"/>
            <a:ext cx="3124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944">
                <a:latin typeface="Cambria"/>
                <a:cs typeface="Cambria"/>
              </a:rPr>
              <a:t></a:t>
            </a:r>
            <a:r>
              <a:rPr dirty="0" baseline="5555" sz="3000" spc="-1417">
                <a:latin typeface="Times New Roman"/>
                <a:cs typeface="Times New Roman"/>
              </a:rPr>
              <a:t>1</a:t>
            </a:r>
            <a:r>
              <a:rPr dirty="0" sz="2000" spc="-944">
                <a:latin typeface="Cambria"/>
                <a:cs typeface="Cambria"/>
              </a:rPr>
              <a:t>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87233" y="6014008"/>
            <a:ext cx="12446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-5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47013" y="5901105"/>
            <a:ext cx="15176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515" b="1"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30030" y="5994679"/>
            <a:ext cx="499109" cy="556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ts val="2085"/>
              </a:lnSpc>
              <a:spcBef>
                <a:spcPts val="110"/>
              </a:spcBef>
              <a:tabLst>
                <a:tab pos="367665" algn="l"/>
              </a:tabLst>
            </a:pPr>
            <a:r>
              <a:rPr dirty="0" sz="1900" spc="-1230">
                <a:latin typeface="Cambria"/>
                <a:cs typeface="Cambria"/>
              </a:rPr>
              <a:t></a:t>
            </a:r>
            <a:r>
              <a:rPr dirty="0" sz="1900">
                <a:latin typeface="Cambria"/>
                <a:cs typeface="Cambria"/>
              </a:rPr>
              <a:t>	</a:t>
            </a:r>
            <a:r>
              <a:rPr dirty="0" sz="1900" spc="-1230">
                <a:latin typeface="Cambria"/>
                <a:cs typeface="Cambria"/>
              </a:rPr>
              <a:t></a:t>
            </a:r>
            <a:endParaRPr sz="1900">
              <a:latin typeface="Cambria"/>
              <a:cs typeface="Cambria"/>
            </a:endParaRPr>
          </a:p>
          <a:p>
            <a:pPr marL="38100">
              <a:lnSpc>
                <a:spcPts val="2085"/>
              </a:lnSpc>
            </a:pPr>
            <a:r>
              <a:rPr dirty="0" baseline="1461" sz="2850" spc="-1582">
                <a:latin typeface="Cambria"/>
                <a:cs typeface="Cambria"/>
              </a:rPr>
              <a:t></a:t>
            </a:r>
            <a:r>
              <a:rPr dirty="0" baseline="-14619" sz="2850" spc="-1582">
                <a:latin typeface="Cambria"/>
                <a:cs typeface="Cambria"/>
              </a:rPr>
              <a:t></a:t>
            </a:r>
            <a:r>
              <a:rPr dirty="0" sz="1900" spc="-1055">
                <a:latin typeface="Cambria"/>
                <a:cs typeface="Cambria"/>
              </a:rPr>
              <a:t>–</a:t>
            </a:r>
            <a:r>
              <a:rPr dirty="0" sz="1900" spc="-1055">
                <a:latin typeface="Times New Roman"/>
                <a:cs typeface="Times New Roman"/>
              </a:rPr>
              <a:t>1</a:t>
            </a:r>
            <a:r>
              <a:rPr dirty="0" baseline="1461" sz="2850" spc="-1582">
                <a:latin typeface="Cambria"/>
                <a:cs typeface="Cambria"/>
              </a:rPr>
              <a:t></a:t>
            </a:r>
            <a:r>
              <a:rPr dirty="0" baseline="-14619" sz="2850" spc="-1582">
                <a:latin typeface="Cambria"/>
                <a:cs typeface="Cambria"/>
              </a:rPr>
              <a:t></a:t>
            </a:r>
            <a:endParaRPr baseline="-14619" sz="28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55430" y="5515889"/>
            <a:ext cx="448309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-4385" sz="2850" spc="-937">
                <a:latin typeface="Cambria"/>
                <a:cs typeface="Cambria"/>
              </a:rPr>
              <a:t></a:t>
            </a:r>
            <a:r>
              <a:rPr dirty="0" sz="1900" spc="-625">
                <a:latin typeface="Cambria"/>
                <a:cs typeface="Cambria"/>
              </a:rPr>
              <a:t>–</a:t>
            </a:r>
            <a:r>
              <a:rPr dirty="0" sz="1900" spc="-625">
                <a:latin typeface="Times New Roman"/>
                <a:cs typeface="Times New Roman"/>
              </a:rPr>
              <a:t>1</a:t>
            </a:r>
            <a:r>
              <a:rPr dirty="0" baseline="-4385" sz="2850" spc="-937">
                <a:latin typeface="Cambria"/>
                <a:cs typeface="Cambria"/>
              </a:rPr>
              <a:t></a:t>
            </a:r>
            <a:endParaRPr baseline="-4385" sz="28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08999" y="5992012"/>
            <a:ext cx="118745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5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235136" y="5870854"/>
            <a:ext cx="99377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51155" algn="l"/>
              </a:tabLst>
            </a:pPr>
            <a:r>
              <a:rPr dirty="0" sz="1900" spc="-480" b="1">
                <a:latin typeface="Times New Roman"/>
                <a:cs typeface="Times New Roman"/>
              </a:rPr>
              <a:t>Y</a:t>
            </a:r>
            <a:r>
              <a:rPr dirty="0" sz="1900" b="1">
                <a:latin typeface="Times New Roman"/>
                <a:cs typeface="Times New Roman"/>
              </a:rPr>
              <a:t>	</a:t>
            </a:r>
            <a:r>
              <a:rPr dirty="0" sz="1900">
                <a:latin typeface="Cambria"/>
                <a:cs typeface="Cambria"/>
              </a:rPr>
              <a:t>=</a:t>
            </a:r>
            <a:r>
              <a:rPr dirty="0" sz="1900" spc="-50">
                <a:latin typeface="Cambria"/>
                <a:cs typeface="Cambria"/>
              </a:rPr>
              <a:t> </a:t>
            </a:r>
            <a:r>
              <a:rPr dirty="0" baseline="24853" sz="2850" spc="-937">
                <a:latin typeface="Cambria"/>
                <a:cs typeface="Cambria"/>
              </a:rPr>
              <a:t></a:t>
            </a:r>
            <a:r>
              <a:rPr dirty="0" sz="1900" spc="-625">
                <a:latin typeface="Cambria"/>
                <a:cs typeface="Cambria"/>
              </a:rPr>
              <a:t>–</a:t>
            </a:r>
            <a:r>
              <a:rPr dirty="0" sz="1900" spc="-625">
                <a:latin typeface="Times New Roman"/>
                <a:cs typeface="Times New Roman"/>
              </a:rPr>
              <a:t>1</a:t>
            </a:r>
            <a:r>
              <a:rPr dirty="0" baseline="24853" sz="2850" spc="-937">
                <a:latin typeface="Cambria"/>
                <a:cs typeface="Cambria"/>
              </a:rPr>
              <a:t></a:t>
            </a:r>
            <a:endParaRPr baseline="24853" sz="2850">
              <a:latin typeface="Cambria"/>
              <a:cs typeface="Cambr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4626736" y="5839904"/>
            <a:ext cx="960119" cy="319405"/>
          </a:xfrm>
          <a:custGeom>
            <a:avLst/>
            <a:gdLst/>
            <a:ahLst/>
            <a:cxnLst/>
            <a:rect l="l" t="t" r="r" b="b"/>
            <a:pathLst>
              <a:path w="960120" h="319404">
                <a:moveTo>
                  <a:pt x="57746" y="0"/>
                </a:moveTo>
                <a:lnTo>
                  <a:pt x="0" y="0"/>
                </a:lnTo>
                <a:lnTo>
                  <a:pt x="0" y="319189"/>
                </a:lnTo>
                <a:lnTo>
                  <a:pt x="57746" y="319189"/>
                </a:lnTo>
                <a:lnTo>
                  <a:pt x="57746" y="308190"/>
                </a:lnTo>
                <a:lnTo>
                  <a:pt x="27495" y="308190"/>
                </a:lnTo>
                <a:lnTo>
                  <a:pt x="24752" y="305435"/>
                </a:lnTo>
                <a:lnTo>
                  <a:pt x="19253" y="288925"/>
                </a:lnTo>
                <a:lnTo>
                  <a:pt x="19253" y="27520"/>
                </a:lnTo>
                <a:lnTo>
                  <a:pt x="21996" y="19265"/>
                </a:lnTo>
                <a:lnTo>
                  <a:pt x="24752" y="13754"/>
                </a:lnTo>
                <a:lnTo>
                  <a:pt x="27495" y="11010"/>
                </a:lnTo>
                <a:lnTo>
                  <a:pt x="35750" y="8255"/>
                </a:lnTo>
                <a:lnTo>
                  <a:pt x="57746" y="8255"/>
                </a:lnTo>
                <a:lnTo>
                  <a:pt x="57746" y="0"/>
                </a:lnTo>
                <a:close/>
              </a:path>
              <a:path w="960120" h="319404">
                <a:moveTo>
                  <a:pt x="959548" y="0"/>
                </a:moveTo>
                <a:lnTo>
                  <a:pt x="901814" y="0"/>
                </a:lnTo>
                <a:lnTo>
                  <a:pt x="901814" y="8255"/>
                </a:lnTo>
                <a:lnTo>
                  <a:pt x="923810" y="8255"/>
                </a:lnTo>
                <a:lnTo>
                  <a:pt x="934808" y="13754"/>
                </a:lnTo>
                <a:lnTo>
                  <a:pt x="937552" y="19265"/>
                </a:lnTo>
                <a:lnTo>
                  <a:pt x="937552" y="297180"/>
                </a:lnTo>
                <a:lnTo>
                  <a:pt x="934808" y="305435"/>
                </a:lnTo>
                <a:lnTo>
                  <a:pt x="929309" y="308190"/>
                </a:lnTo>
                <a:lnTo>
                  <a:pt x="901814" y="308190"/>
                </a:lnTo>
                <a:lnTo>
                  <a:pt x="901814" y="319189"/>
                </a:lnTo>
                <a:lnTo>
                  <a:pt x="959548" y="319189"/>
                </a:lnTo>
                <a:lnTo>
                  <a:pt x="9595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3439477" y="5789091"/>
            <a:ext cx="2129155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980"/>
              </a:lnSpc>
              <a:spcBef>
                <a:spcPts val="100"/>
              </a:spcBef>
              <a:tabLst>
                <a:tab pos="516255" algn="l"/>
                <a:tab pos="977900" algn="l"/>
                <a:tab pos="1579880" algn="l"/>
                <a:tab pos="1934845" algn="l"/>
              </a:tabLst>
            </a:pPr>
            <a:r>
              <a:rPr dirty="0" sz="2400" spc="-25">
                <a:latin typeface="Tahoma"/>
                <a:cs typeface="Tahoma"/>
              </a:rPr>
              <a:t>or</a:t>
            </a:r>
            <a:r>
              <a:rPr dirty="0" sz="2400">
                <a:latin typeface="Tahoma"/>
                <a:cs typeface="Tahoma"/>
              </a:rPr>
              <a:t>	</a:t>
            </a:r>
            <a:r>
              <a:rPr dirty="0" baseline="1234" sz="3375" spc="-757" b="1">
                <a:latin typeface="Times New Roman"/>
                <a:cs typeface="Times New Roman"/>
              </a:rPr>
              <a:t>Y</a:t>
            </a:r>
            <a:r>
              <a:rPr dirty="0" baseline="1234" sz="3375" spc="-97" b="1">
                <a:latin typeface="Times New Roman"/>
                <a:cs typeface="Times New Roman"/>
              </a:rPr>
              <a:t> </a:t>
            </a:r>
            <a:r>
              <a:rPr dirty="0" baseline="29239" sz="2850" spc="-75" i="1">
                <a:latin typeface="Times New Roman"/>
                <a:cs typeface="Times New Roman"/>
              </a:rPr>
              <a:t>T</a:t>
            </a:r>
            <a:r>
              <a:rPr dirty="0" baseline="29239" sz="2850" i="1">
                <a:latin typeface="Times New Roman"/>
                <a:cs typeface="Times New Roman"/>
              </a:rPr>
              <a:t>	</a:t>
            </a:r>
            <a:r>
              <a:rPr dirty="0" baseline="1234" sz="3375">
                <a:latin typeface="Cambria"/>
                <a:cs typeface="Cambria"/>
              </a:rPr>
              <a:t>=</a:t>
            </a:r>
            <a:r>
              <a:rPr dirty="0" baseline="1234" sz="3375" spc="375">
                <a:latin typeface="Cambria"/>
                <a:cs typeface="Cambria"/>
              </a:rPr>
              <a:t> </a:t>
            </a:r>
            <a:r>
              <a:rPr dirty="0" baseline="1234" sz="3375" spc="-75">
                <a:latin typeface="Times New Roman"/>
                <a:cs typeface="Times New Roman"/>
              </a:rPr>
              <a:t>1</a:t>
            </a:r>
            <a:r>
              <a:rPr dirty="0" baseline="1234" sz="3375">
                <a:latin typeface="Times New Roman"/>
                <a:cs typeface="Times New Roman"/>
              </a:rPr>
              <a:t>	</a:t>
            </a:r>
            <a:r>
              <a:rPr dirty="0" baseline="1234" sz="3375" spc="-75">
                <a:latin typeface="Times New Roman"/>
                <a:cs typeface="Times New Roman"/>
              </a:rPr>
              <a:t>1</a:t>
            </a:r>
            <a:r>
              <a:rPr dirty="0" baseline="1234" sz="3375">
                <a:latin typeface="Times New Roman"/>
                <a:cs typeface="Times New Roman"/>
              </a:rPr>
              <a:t>	</a:t>
            </a:r>
            <a:r>
              <a:rPr dirty="0" baseline="1234" sz="3375" spc="-75">
                <a:latin typeface="Times New Roman"/>
                <a:cs typeface="Times New Roman"/>
              </a:rPr>
              <a:t>1</a:t>
            </a:r>
            <a:endParaRPr baseline="1234" sz="3375">
              <a:latin typeface="Times New Roman"/>
              <a:cs typeface="Times New Roman"/>
            </a:endParaRPr>
          </a:p>
          <a:p>
            <a:pPr marL="681355">
              <a:lnSpc>
                <a:spcPts val="1260"/>
              </a:lnSpc>
            </a:pPr>
            <a:r>
              <a:rPr dirty="0" sz="1800" spc="-5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496342" y="5845403"/>
            <a:ext cx="1512570" cy="311150"/>
          </a:xfrm>
          <a:custGeom>
            <a:avLst/>
            <a:gdLst/>
            <a:ahLst/>
            <a:cxnLst/>
            <a:rect l="l" t="t" r="r" b="b"/>
            <a:pathLst>
              <a:path w="1512570" h="311150">
                <a:moveTo>
                  <a:pt x="57746" y="0"/>
                </a:moveTo>
                <a:lnTo>
                  <a:pt x="0" y="0"/>
                </a:lnTo>
                <a:lnTo>
                  <a:pt x="0" y="310946"/>
                </a:lnTo>
                <a:lnTo>
                  <a:pt x="57746" y="310946"/>
                </a:lnTo>
                <a:lnTo>
                  <a:pt x="57746" y="302691"/>
                </a:lnTo>
                <a:lnTo>
                  <a:pt x="35750" y="302691"/>
                </a:lnTo>
                <a:lnTo>
                  <a:pt x="24752" y="297180"/>
                </a:lnTo>
                <a:lnTo>
                  <a:pt x="21996" y="291680"/>
                </a:lnTo>
                <a:lnTo>
                  <a:pt x="21996" y="19265"/>
                </a:lnTo>
                <a:lnTo>
                  <a:pt x="24752" y="13766"/>
                </a:lnTo>
                <a:lnTo>
                  <a:pt x="30251" y="11010"/>
                </a:lnTo>
                <a:lnTo>
                  <a:pt x="57746" y="11010"/>
                </a:lnTo>
                <a:lnTo>
                  <a:pt x="57746" y="0"/>
                </a:lnTo>
                <a:close/>
              </a:path>
              <a:path w="1512570" h="311150">
                <a:moveTo>
                  <a:pt x="1512188" y="0"/>
                </a:moveTo>
                <a:lnTo>
                  <a:pt x="1454454" y="0"/>
                </a:lnTo>
                <a:lnTo>
                  <a:pt x="1454454" y="11010"/>
                </a:lnTo>
                <a:lnTo>
                  <a:pt x="1481950" y="11010"/>
                </a:lnTo>
                <a:lnTo>
                  <a:pt x="1487449" y="13766"/>
                </a:lnTo>
                <a:lnTo>
                  <a:pt x="1490192" y="19265"/>
                </a:lnTo>
                <a:lnTo>
                  <a:pt x="1490192" y="291680"/>
                </a:lnTo>
                <a:lnTo>
                  <a:pt x="1487449" y="297180"/>
                </a:lnTo>
                <a:lnTo>
                  <a:pt x="1476451" y="302691"/>
                </a:lnTo>
                <a:lnTo>
                  <a:pt x="1454454" y="302691"/>
                </a:lnTo>
                <a:lnTo>
                  <a:pt x="1454454" y="310946"/>
                </a:lnTo>
                <a:lnTo>
                  <a:pt x="1512188" y="310946"/>
                </a:lnTo>
                <a:lnTo>
                  <a:pt x="15121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285687" y="5813018"/>
            <a:ext cx="1672589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20419" algn="l"/>
                <a:tab pos="1356995" algn="l"/>
              </a:tabLst>
            </a:pPr>
            <a:r>
              <a:rPr dirty="0" sz="2150">
                <a:latin typeface="Cambria"/>
                <a:cs typeface="Cambria"/>
              </a:rPr>
              <a:t>=</a:t>
            </a:r>
            <a:r>
              <a:rPr dirty="0" sz="2150" spc="465">
                <a:latin typeface="Cambria"/>
                <a:cs typeface="Cambria"/>
              </a:rPr>
              <a:t> </a:t>
            </a:r>
            <a:r>
              <a:rPr dirty="0" sz="2150" spc="80">
                <a:latin typeface="Cambria"/>
                <a:cs typeface="Cambria"/>
              </a:rPr>
              <a:t>–</a:t>
            </a:r>
            <a:r>
              <a:rPr dirty="0" sz="2150" spc="80">
                <a:latin typeface="Times New Roman"/>
                <a:cs typeface="Times New Roman"/>
              </a:rPr>
              <a:t>1</a:t>
            </a:r>
            <a:r>
              <a:rPr dirty="0" sz="2150">
                <a:latin typeface="Times New Roman"/>
                <a:cs typeface="Times New Roman"/>
              </a:rPr>
              <a:t>	</a:t>
            </a:r>
            <a:r>
              <a:rPr dirty="0" sz="2150" spc="80">
                <a:latin typeface="Cambria"/>
                <a:cs typeface="Cambria"/>
              </a:rPr>
              <a:t>–</a:t>
            </a:r>
            <a:r>
              <a:rPr dirty="0" sz="2150" spc="80">
                <a:latin typeface="Times New Roman"/>
                <a:cs typeface="Times New Roman"/>
              </a:rPr>
              <a:t>1</a:t>
            </a:r>
            <a:r>
              <a:rPr dirty="0" sz="2150">
                <a:latin typeface="Times New Roman"/>
                <a:cs typeface="Times New Roman"/>
              </a:rPr>
              <a:t>	</a:t>
            </a:r>
            <a:r>
              <a:rPr dirty="0" sz="2150" spc="80">
                <a:latin typeface="Cambria"/>
                <a:cs typeface="Cambria"/>
              </a:rPr>
              <a:t>–</a:t>
            </a:r>
            <a:r>
              <a:rPr dirty="0" sz="2150" spc="8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021743" y="5942431"/>
            <a:ext cx="13525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5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4885" y="5697448"/>
            <a:ext cx="384175" cy="356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23255" sz="3225" spc="-727" b="1">
                <a:latin typeface="Times New Roman"/>
                <a:cs typeface="Times New Roman"/>
              </a:rPr>
              <a:t>Y</a:t>
            </a:r>
            <a:r>
              <a:rPr dirty="0" baseline="-23255" sz="3225" spc="-89" b="1">
                <a:latin typeface="Times New Roman"/>
                <a:cs typeface="Times New Roman"/>
              </a:rPr>
              <a:t> </a:t>
            </a:r>
            <a:r>
              <a:rPr dirty="0" sz="1800" spc="-50" i="1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  <p:sp>
        <p:nvSpPr>
          <p:cNvPr id="19" name="object 19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33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6277" y="3723004"/>
            <a:ext cx="57956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145" indent="-385445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Char char="■"/>
              <a:tabLst>
                <a:tab pos="398145" algn="l"/>
              </a:tabLst>
            </a:pPr>
            <a:r>
              <a:rPr dirty="0" sz="2400">
                <a:latin typeface="Tahoma"/>
                <a:cs typeface="Tahoma"/>
              </a:rPr>
              <a:t>Determine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matrix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follows: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20877" y="5368925"/>
            <a:ext cx="754697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24180" marR="30480" indent="-386080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Char char="■"/>
              <a:tabLst>
                <a:tab pos="424180" algn="l"/>
              </a:tabLst>
            </a:pPr>
            <a:r>
              <a:rPr dirty="0" sz="2400">
                <a:latin typeface="Tahoma"/>
                <a:cs typeface="Tahoma"/>
              </a:rPr>
              <a:t>Next,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tested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sequence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input </a:t>
            </a:r>
            <a:r>
              <a:rPr dirty="0" sz="2400">
                <a:latin typeface="Tahoma"/>
                <a:cs typeface="Tahoma"/>
              </a:rPr>
              <a:t>vectors,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X</a:t>
            </a:r>
            <a:r>
              <a:rPr dirty="0" baseline="-17921" sz="2325">
                <a:latin typeface="Tahoma"/>
                <a:cs typeface="Tahoma"/>
              </a:rPr>
              <a:t>1</a:t>
            </a:r>
            <a:r>
              <a:rPr dirty="0" baseline="-17921" sz="2325" spc="359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X</a:t>
            </a:r>
            <a:r>
              <a:rPr dirty="0" baseline="-17921" sz="2325">
                <a:latin typeface="Tahoma"/>
                <a:cs typeface="Tahoma"/>
              </a:rPr>
              <a:t>2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which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equal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(or </a:t>
            </a:r>
            <a:r>
              <a:rPr dirty="0" sz="2400">
                <a:latin typeface="Tahoma"/>
                <a:cs typeface="Tahoma"/>
              </a:rPr>
              <a:t>target)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vectors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Y</a:t>
            </a:r>
            <a:r>
              <a:rPr dirty="0" baseline="-17921" sz="2325">
                <a:latin typeface="Tahoma"/>
                <a:cs typeface="Tahoma"/>
              </a:rPr>
              <a:t>1</a:t>
            </a:r>
            <a:r>
              <a:rPr dirty="0" baseline="-17921" sz="2325" spc="3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Y</a:t>
            </a:r>
            <a:r>
              <a:rPr dirty="0" baseline="-17921" sz="2325">
                <a:latin typeface="Tahoma"/>
                <a:cs typeface="Tahoma"/>
              </a:rPr>
              <a:t>2</a:t>
            </a:r>
            <a:r>
              <a:rPr dirty="0" sz="2400">
                <a:latin typeface="Tahoma"/>
                <a:cs typeface="Tahoma"/>
              </a:rPr>
              <a:t>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respectively.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00" y="4076700"/>
            <a:ext cx="6147815" cy="136245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546277" y="1934144"/>
            <a:ext cx="3930650" cy="87820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398145" indent="-385445">
              <a:lnSpc>
                <a:spcPct val="100000"/>
              </a:lnSpc>
              <a:spcBef>
                <a:spcPts val="1225"/>
              </a:spcBef>
              <a:buClr>
                <a:srgbClr val="333399"/>
              </a:buClr>
              <a:buChar char="■"/>
              <a:tabLst>
                <a:tab pos="398145" algn="l"/>
              </a:tabLst>
            </a:pPr>
            <a:r>
              <a:rPr dirty="0" sz="2400" spc="-65">
                <a:latin typeface="Tahoma"/>
                <a:cs typeface="Tahoma"/>
              </a:rPr>
              <a:t>To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build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weight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matrix</a:t>
            </a:r>
            <a:endParaRPr sz="2400">
              <a:latin typeface="Tahoma"/>
              <a:cs typeface="Tahoma"/>
            </a:endParaRPr>
          </a:p>
          <a:p>
            <a:pPr algn="ctr" marL="322580">
              <a:lnSpc>
                <a:spcPct val="100000"/>
              </a:lnSpc>
              <a:spcBef>
                <a:spcPts val="780"/>
              </a:spcBef>
            </a:pPr>
            <a:r>
              <a:rPr dirty="0" sz="1600" spc="-50" i="1">
                <a:solidFill>
                  <a:srgbClr val="0000FF"/>
                </a:solidFill>
                <a:latin typeface="Cambria"/>
                <a:cs typeface="Cambria"/>
              </a:rPr>
              <a:t>p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80308" y="2757576"/>
            <a:ext cx="87630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81330" algn="l"/>
                <a:tab pos="748665" algn="l"/>
              </a:tabLst>
            </a:pPr>
            <a:r>
              <a:rPr dirty="0" sz="1600" spc="-50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sz="1600" i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1600" spc="-50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sz="1600" i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1600" spc="-50" i="1">
                <a:solidFill>
                  <a:srgbClr val="0000FF"/>
                </a:solidFill>
                <a:latin typeface="Cambria"/>
                <a:cs typeface="Cambria"/>
              </a:rPr>
              <a:t>T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496578" y="3255289"/>
            <a:ext cx="350520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95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sz="1600" spc="-13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600" spc="-50">
                <a:solidFill>
                  <a:srgbClr val="0000FF"/>
                </a:solidFill>
                <a:latin typeface="Cambria"/>
                <a:cs typeface="Cambria"/>
              </a:rPr>
              <a:t>=1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59456" y="2670809"/>
            <a:ext cx="406400" cy="666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00" spc="640">
                <a:solidFill>
                  <a:srgbClr val="0000FF"/>
                </a:solidFill>
                <a:latin typeface="Cambria"/>
                <a:cs typeface="Cambria"/>
              </a:rPr>
              <a:t>Σ</a:t>
            </a:r>
            <a:endParaRPr sz="42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38376" y="2767101"/>
            <a:ext cx="66675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05" b="1">
                <a:solidFill>
                  <a:srgbClr val="0000FF"/>
                </a:solidFill>
                <a:latin typeface="Cambria"/>
                <a:cs typeface="Cambria"/>
              </a:rPr>
              <a:t>W</a:t>
            </a:r>
            <a:r>
              <a:rPr dirty="0" sz="2800" spc="85" b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800" spc="-5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887052" y="2767101"/>
            <a:ext cx="180784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824230" algn="l"/>
                <a:tab pos="1177925" algn="l"/>
              </a:tabLst>
            </a:pPr>
            <a:r>
              <a:rPr dirty="0" sz="2800" spc="-50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sz="2800" b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800" spc="-25">
                <a:solidFill>
                  <a:srgbClr val="0000FF"/>
                </a:solidFill>
                <a:latin typeface="Cambria"/>
                <a:cs typeface="Cambria"/>
              </a:rPr>
              <a:t>(</a:t>
            </a:r>
            <a:r>
              <a:rPr dirty="0" sz="2800" spc="-25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sz="2800" b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800" spc="-50">
                <a:solidFill>
                  <a:srgbClr val="0000FF"/>
                </a:solidFill>
                <a:latin typeface="Cambria"/>
                <a:cs typeface="Cambria"/>
              </a:rPr>
              <a:t>)</a:t>
            </a:r>
            <a:r>
              <a:rPr dirty="0" sz="28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800" spc="125">
                <a:solidFill>
                  <a:srgbClr val="0000FF"/>
                </a:solidFill>
                <a:latin typeface="Cambria"/>
                <a:cs typeface="Cambria"/>
              </a:rPr>
              <a:t>–</a:t>
            </a:r>
            <a:r>
              <a:rPr dirty="0" sz="2800" spc="22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800" spc="-25" i="1">
                <a:solidFill>
                  <a:srgbClr val="0000FF"/>
                </a:solidFill>
                <a:latin typeface="Cambria"/>
                <a:cs typeface="Cambria"/>
              </a:rPr>
              <a:t>p</a:t>
            </a:r>
            <a:r>
              <a:rPr dirty="0" sz="2800" spc="-25" b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87034" y="2423553"/>
            <a:ext cx="103505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-50" i="1">
                <a:solidFill>
                  <a:srgbClr val="0000FF"/>
                </a:solidFill>
                <a:latin typeface="Cambria"/>
                <a:cs typeface="Cambria"/>
              </a:rPr>
              <a:t>p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342674" y="2973374"/>
            <a:ext cx="112395" cy="212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00" spc="-25" i="1">
                <a:solidFill>
                  <a:srgbClr val="0000FF"/>
                </a:solidFill>
                <a:latin typeface="Cambria"/>
                <a:cs typeface="Cambria"/>
              </a:rPr>
              <a:t>ij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80190" y="2790875"/>
            <a:ext cx="51879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58140" algn="l"/>
              </a:tabLst>
            </a:pPr>
            <a:r>
              <a:rPr dirty="0" sz="2100" spc="-50" i="1">
                <a:solidFill>
                  <a:srgbClr val="0000FF"/>
                </a:solidFill>
                <a:latin typeface="Cambria"/>
                <a:cs typeface="Cambria"/>
              </a:rPr>
              <a:t>w</a:t>
            </a:r>
            <a:r>
              <a:rPr dirty="0" sz="2100" i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100" spc="-5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36297" y="2418257"/>
            <a:ext cx="15811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125">
                <a:solidFill>
                  <a:srgbClr val="0000FF"/>
                </a:solidFill>
                <a:latin typeface="Cambria"/>
                <a:cs typeface="Cambria"/>
              </a:rPr>
              <a:t>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36297" y="2635389"/>
            <a:ext cx="15811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00" spc="-1125">
                <a:solidFill>
                  <a:srgbClr val="0000FF"/>
                </a:solidFill>
                <a:latin typeface="Cambria"/>
                <a:cs typeface="Cambria"/>
              </a:rPr>
              <a:t>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210465" y="2595460"/>
            <a:ext cx="1234440" cy="944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0"/>
              </a:spcBef>
              <a:tabLst>
                <a:tab pos="727710" algn="l"/>
              </a:tabLst>
            </a:pPr>
            <a:r>
              <a:rPr dirty="0" sz="2100" i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sz="2100" spc="47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 spc="-50" i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sz="2100" i="1">
                <a:solidFill>
                  <a:srgbClr val="0000FF"/>
                </a:solidFill>
                <a:latin typeface="Cambria"/>
                <a:cs typeface="Cambria"/>
              </a:rPr>
              <a:t>	i</a:t>
            </a:r>
            <a:r>
              <a:rPr dirty="0" sz="2100" spc="9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 spc="250">
                <a:solidFill>
                  <a:srgbClr val="0000FF"/>
                </a:solidFill>
                <a:latin typeface="Cambria"/>
                <a:cs typeface="Cambria"/>
              </a:rPr>
              <a:t>s</a:t>
            </a:r>
            <a:r>
              <a:rPr dirty="0" sz="2100" spc="44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 spc="-50" i="1">
                <a:solidFill>
                  <a:srgbClr val="0000FF"/>
                </a:solidFill>
                <a:latin typeface="Cambria"/>
                <a:cs typeface="Cambria"/>
              </a:rPr>
              <a:t>j</a:t>
            </a:r>
            <a:endParaRPr sz="2100">
              <a:latin typeface="Cambria"/>
              <a:cs typeface="Cambria"/>
            </a:endParaRPr>
          </a:p>
          <a:p>
            <a:pPr algn="r" marR="6985">
              <a:lnSpc>
                <a:spcPct val="100000"/>
              </a:lnSpc>
              <a:spcBef>
                <a:spcPts val="2185"/>
              </a:spcBef>
            </a:pPr>
            <a:r>
              <a:rPr dirty="0" sz="2100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r>
              <a:rPr dirty="0" sz="2100" spc="7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dirty="0" sz="2100" spc="409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100" spc="-50" i="1">
                <a:solidFill>
                  <a:srgbClr val="0000FF"/>
                </a:solidFill>
                <a:latin typeface="Cambria"/>
                <a:cs typeface="Cambria"/>
              </a:rPr>
              <a:t>j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710897" y="2850413"/>
            <a:ext cx="487680" cy="591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ts val="2220"/>
              </a:lnSpc>
              <a:spcBef>
                <a:spcPts val="110"/>
              </a:spcBef>
            </a:pPr>
            <a:r>
              <a:rPr dirty="0" baseline="2645" sz="3150" spc="-1612">
                <a:solidFill>
                  <a:srgbClr val="0000FF"/>
                </a:solidFill>
                <a:latin typeface="Cambria"/>
                <a:cs typeface="Cambria"/>
              </a:rPr>
              <a:t></a:t>
            </a:r>
            <a:r>
              <a:rPr dirty="0" baseline="2645" sz="3150" spc="-3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200" spc="-60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sz="1200" spc="-10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200" spc="-25">
                <a:solidFill>
                  <a:srgbClr val="0000FF"/>
                </a:solidFill>
                <a:latin typeface="Cambria"/>
                <a:cs typeface="Cambria"/>
              </a:rPr>
              <a:t>=1</a:t>
            </a:r>
            <a:endParaRPr sz="1200">
              <a:latin typeface="Cambria"/>
              <a:cs typeface="Cambria"/>
            </a:endParaRPr>
          </a:p>
          <a:p>
            <a:pPr marL="38100">
              <a:lnSpc>
                <a:spcPts val="2220"/>
              </a:lnSpc>
            </a:pPr>
            <a:r>
              <a:rPr dirty="0" sz="2100" spc="-1115">
                <a:solidFill>
                  <a:srgbClr val="0000FF"/>
                </a:solidFill>
                <a:latin typeface="Cambria"/>
                <a:cs typeface="Cambria"/>
              </a:rPr>
              <a:t></a:t>
            </a:r>
            <a:r>
              <a:rPr dirty="0" baseline="-33068" sz="3150" spc="-1672">
                <a:solidFill>
                  <a:srgbClr val="0000FF"/>
                </a:solidFill>
                <a:latin typeface="Cambria"/>
                <a:cs typeface="Cambria"/>
              </a:rPr>
              <a:t></a:t>
            </a:r>
            <a:r>
              <a:rPr dirty="0" baseline="-19841" sz="3150" spc="-1672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endParaRPr baseline="-19841" sz="315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848870" y="2530690"/>
            <a:ext cx="854075" cy="5086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485775" algn="l"/>
                <a:tab pos="746760" algn="l"/>
              </a:tabLst>
            </a:pPr>
            <a:r>
              <a:rPr dirty="0" sz="3150" spc="465">
                <a:solidFill>
                  <a:srgbClr val="0000FF"/>
                </a:solidFill>
                <a:latin typeface="Cambria"/>
                <a:cs typeface="Cambria"/>
              </a:rPr>
              <a:t>Σ</a:t>
            </a:r>
            <a:r>
              <a:rPr dirty="0" sz="315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1200" spc="-25" i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r>
              <a:rPr dirty="0" baseline="69444" sz="1800" spc="-37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baseline="69444" sz="1800" i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baseline="69444" sz="1800" spc="-97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sz="1200" spc="-65" i="1">
                <a:solidFill>
                  <a:srgbClr val="0000FF"/>
                </a:solidFill>
                <a:latin typeface="Cambria"/>
                <a:cs typeface="Cambria"/>
              </a:rPr>
              <a:t>j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6277" y="2179751"/>
            <a:ext cx="79940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780" marR="5080" indent="-386080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Char char="■"/>
              <a:tabLst>
                <a:tab pos="398780" algn="l"/>
              </a:tabLst>
            </a:pPr>
            <a:r>
              <a:rPr dirty="0" sz="2400">
                <a:latin typeface="Tahoma"/>
                <a:cs typeface="Tahoma"/>
              </a:rPr>
              <a:t>Activate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Hopfield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by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applying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X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calculate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actual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output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46277" y="5837351"/>
            <a:ext cx="695388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8145" indent="-385445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Char char="■"/>
              <a:tabLst>
                <a:tab pos="398145" algn="l"/>
              </a:tabLst>
            </a:pPr>
            <a:r>
              <a:rPr dirty="0" sz="2400">
                <a:latin typeface="Tahoma"/>
                <a:cs typeface="Tahoma"/>
              </a:rPr>
              <a:t>Compare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result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with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initial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input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vector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X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399760" y="3941927"/>
            <a:ext cx="1517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320">
                <a:latin typeface="Cambria"/>
                <a:cs typeface="Cambria"/>
              </a:rPr>
              <a:t>J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024056" y="3839184"/>
            <a:ext cx="10953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762635" algn="l"/>
              </a:tabLst>
            </a:pPr>
            <a:r>
              <a:rPr dirty="0" sz="2000" spc="-1245">
                <a:latin typeface="Cambria"/>
                <a:cs typeface="Cambria"/>
              </a:rPr>
              <a:t></a:t>
            </a:r>
            <a:r>
              <a:rPr dirty="0" baseline="-18055" sz="3000" spc="-1867">
                <a:latin typeface="Cambria"/>
                <a:cs typeface="Cambria"/>
              </a:rPr>
              <a:t></a:t>
            </a:r>
            <a:r>
              <a:rPr dirty="0" baseline="-2777" sz="3000" spc="-1867">
                <a:latin typeface="Times New Roman"/>
                <a:cs typeface="Times New Roman"/>
              </a:rPr>
              <a:t>0</a:t>
            </a:r>
            <a:r>
              <a:rPr dirty="0" sz="2000" spc="-1245">
                <a:latin typeface="Cambria"/>
                <a:cs typeface="Cambria"/>
              </a:rPr>
              <a:t></a:t>
            </a:r>
            <a:r>
              <a:rPr dirty="0" baseline="-18055" sz="3000" spc="-1867">
                <a:latin typeface="Cambria"/>
                <a:cs typeface="Cambria"/>
              </a:rPr>
              <a:t></a:t>
            </a:r>
            <a:r>
              <a:rPr dirty="0" baseline="16666" sz="3000" spc="-1867">
                <a:latin typeface="Cambria"/>
                <a:cs typeface="Cambria"/>
              </a:rPr>
              <a:t></a:t>
            </a:r>
            <a:r>
              <a:rPr dirty="0" baseline="16666" sz="3000">
                <a:latin typeface="Cambria"/>
                <a:cs typeface="Cambria"/>
              </a:rPr>
              <a:t>	</a:t>
            </a:r>
            <a:r>
              <a:rPr dirty="0" sz="2000" spc="-1385">
                <a:latin typeface="Cambria"/>
                <a:cs typeface="Cambria"/>
              </a:rPr>
              <a:t></a:t>
            </a:r>
            <a:r>
              <a:rPr dirty="0" baseline="-18055" sz="3000" spc="-2077">
                <a:latin typeface="Cambria"/>
                <a:cs typeface="Cambria"/>
              </a:rPr>
              <a:t></a:t>
            </a:r>
            <a:r>
              <a:rPr dirty="0" baseline="-2777" sz="3000" spc="-2077">
                <a:latin typeface="Times New Roman"/>
                <a:cs typeface="Times New Roman"/>
              </a:rPr>
              <a:t>1</a:t>
            </a:r>
            <a:r>
              <a:rPr dirty="0" sz="2000" spc="-1385">
                <a:latin typeface="Cambria"/>
                <a:cs typeface="Cambria"/>
              </a:rPr>
              <a:t></a:t>
            </a:r>
            <a:r>
              <a:rPr dirty="0" baseline="-18055" sz="3000" spc="-2077">
                <a:latin typeface="Cambria"/>
                <a:cs typeface="Cambria"/>
              </a:rPr>
              <a:t></a:t>
            </a:r>
            <a:endParaRPr baseline="-18055" sz="3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68114" y="3604348"/>
            <a:ext cx="1851025" cy="566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2880">
              <a:lnSpc>
                <a:spcPts val="2125"/>
              </a:lnSpc>
              <a:spcBef>
                <a:spcPts val="105"/>
              </a:spcBef>
              <a:tabLst>
                <a:tab pos="806450" algn="l"/>
                <a:tab pos="1033780" algn="l"/>
                <a:tab pos="1518285" algn="l"/>
              </a:tabLst>
            </a:pPr>
            <a:r>
              <a:rPr dirty="0" sz="2000" spc="-1195">
                <a:latin typeface="Cambria"/>
                <a:cs typeface="Cambria"/>
              </a:rPr>
              <a:t>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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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615">
                <a:latin typeface="Cambria"/>
                <a:cs typeface="Cambria"/>
              </a:rPr>
              <a:t></a:t>
            </a:r>
            <a:r>
              <a:rPr dirty="0" baseline="18055" sz="3000" spc="-922">
                <a:latin typeface="Cambria"/>
                <a:cs typeface="Cambria"/>
              </a:rPr>
              <a:t>ý</a:t>
            </a:r>
            <a:r>
              <a:rPr dirty="0" baseline="18055" sz="3000">
                <a:latin typeface="Cambria"/>
                <a:cs typeface="Cambria"/>
              </a:rPr>
              <a:t>	</a:t>
            </a:r>
            <a:r>
              <a:rPr dirty="0" sz="2000" spc="-1240">
                <a:latin typeface="Cambria"/>
                <a:cs typeface="Cambria"/>
              </a:rPr>
              <a:t>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-1290">
                <a:latin typeface="Cambria"/>
                <a:cs typeface="Cambria"/>
              </a:rPr>
              <a:t></a:t>
            </a:r>
            <a:endParaRPr sz="2000">
              <a:latin typeface="Cambria"/>
              <a:cs typeface="Cambria"/>
            </a:endParaRPr>
          </a:p>
          <a:p>
            <a:pPr marL="50800">
              <a:lnSpc>
                <a:spcPts val="2125"/>
              </a:lnSpc>
            </a:pPr>
            <a:r>
              <a:rPr dirty="0" baseline="-2777" sz="3000" spc="-1882">
                <a:latin typeface="Times New Roman"/>
                <a:cs typeface="Times New Roman"/>
              </a:rPr>
              <a:t>0</a:t>
            </a:r>
            <a:r>
              <a:rPr dirty="0" sz="2000" spc="-1255">
                <a:latin typeface="Cambria"/>
                <a:cs typeface="Cambria"/>
              </a:rPr>
              <a:t></a:t>
            </a:r>
            <a:r>
              <a:rPr dirty="0" baseline="-18055" sz="3000" spc="-1882">
                <a:latin typeface="Cambria"/>
                <a:cs typeface="Cambria"/>
              </a:rPr>
              <a:t></a:t>
            </a:r>
            <a:r>
              <a:rPr dirty="0" sz="2000" spc="-1255">
                <a:latin typeface="Cambria"/>
                <a:cs typeface="Cambria"/>
              </a:rPr>
              <a:t></a:t>
            </a:r>
            <a:r>
              <a:rPr dirty="0" baseline="-18055" sz="3000" spc="-1882">
                <a:latin typeface="Cambria"/>
                <a:cs typeface="Cambria"/>
              </a:rPr>
              <a:t></a:t>
            </a:r>
            <a:r>
              <a:rPr dirty="0" baseline="-2777" sz="3000" spc="-1882">
                <a:latin typeface="Times New Roman"/>
                <a:cs typeface="Times New Roman"/>
              </a:rPr>
              <a:t>1</a:t>
            </a:r>
            <a:r>
              <a:rPr dirty="0" sz="2000" spc="-1255">
                <a:latin typeface="Cambria"/>
                <a:cs typeface="Cambria"/>
              </a:rPr>
              <a:t></a:t>
            </a:r>
            <a:r>
              <a:rPr dirty="0" baseline="-18055" sz="3000" spc="-1882">
                <a:latin typeface="Cambria"/>
                <a:cs typeface="Cambria"/>
              </a:rPr>
              <a:t></a:t>
            </a:r>
            <a:endParaRPr baseline="-18055" sz="3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80814" y="3362172"/>
            <a:ext cx="18256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5000" sz="3000" spc="-1177">
                <a:latin typeface="Times New Roman"/>
                <a:cs typeface="Times New Roman"/>
              </a:rPr>
              <a:t>2</a:t>
            </a:r>
            <a:r>
              <a:rPr dirty="0" sz="2000" spc="-785">
                <a:latin typeface="Cambria"/>
                <a:cs typeface="Cambria"/>
              </a:rPr>
              <a:t></a:t>
            </a:r>
            <a:r>
              <a:rPr dirty="0" baseline="-25000" sz="3000" spc="-1177">
                <a:latin typeface="Times New Roman"/>
                <a:cs typeface="Times New Roman"/>
              </a:rPr>
              <a:t>1</a:t>
            </a:r>
            <a:r>
              <a:rPr dirty="0" sz="2000" spc="-785">
                <a:latin typeface="Cambria"/>
                <a:cs typeface="Cambria"/>
              </a:rPr>
              <a:t></a:t>
            </a:r>
            <a:r>
              <a:rPr dirty="0" sz="2000" spc="-55">
                <a:latin typeface="Cambria"/>
                <a:cs typeface="Cambria"/>
              </a:rPr>
              <a:t> </a:t>
            </a:r>
            <a:r>
              <a:rPr dirty="0" baseline="-25000" sz="3000" spc="150">
                <a:latin typeface="Cambria"/>
                <a:cs typeface="Cambria"/>
              </a:rPr>
              <a:t>–</a:t>
            </a:r>
            <a:r>
              <a:rPr dirty="0" baseline="-25000" sz="3000" spc="-157">
                <a:latin typeface="Cambria"/>
                <a:cs typeface="Cambria"/>
              </a:rPr>
              <a:t> </a:t>
            </a:r>
            <a:r>
              <a:rPr dirty="0" sz="2000" spc="-850">
                <a:latin typeface="Cambria"/>
                <a:cs typeface="Cambria"/>
              </a:rPr>
              <a:t></a:t>
            </a:r>
            <a:r>
              <a:rPr dirty="0" baseline="-25000" sz="3000" spc="-1275">
                <a:latin typeface="Times New Roman"/>
                <a:cs typeface="Times New Roman"/>
              </a:rPr>
              <a:t>0</a:t>
            </a:r>
            <a:r>
              <a:rPr dirty="0" sz="2000" spc="-850">
                <a:latin typeface="Cambria"/>
                <a:cs typeface="Cambria"/>
              </a:rPr>
              <a:t></a:t>
            </a:r>
            <a:r>
              <a:rPr dirty="0" baseline="6944" sz="3000" spc="-1275">
                <a:latin typeface="Cambria"/>
                <a:cs typeface="Cambria"/>
              </a:rPr>
              <a:t></a:t>
            </a:r>
            <a:r>
              <a:rPr dirty="0" baseline="6944" sz="3000" spc="-157">
                <a:latin typeface="Cambria"/>
                <a:cs typeface="Cambria"/>
              </a:rPr>
              <a:t> </a:t>
            </a:r>
            <a:r>
              <a:rPr dirty="0" baseline="-25000" sz="3000">
                <a:latin typeface="Cambria"/>
                <a:cs typeface="Cambria"/>
              </a:rPr>
              <a:t>=</a:t>
            </a:r>
            <a:r>
              <a:rPr dirty="0" baseline="-25000" sz="3000" spc="112">
                <a:latin typeface="Cambria"/>
                <a:cs typeface="Cambria"/>
              </a:rPr>
              <a:t> </a:t>
            </a:r>
            <a:r>
              <a:rPr dirty="0" sz="2000" spc="-965">
                <a:latin typeface="Cambria"/>
                <a:cs typeface="Cambria"/>
              </a:rPr>
              <a:t></a:t>
            </a:r>
            <a:r>
              <a:rPr dirty="0" baseline="-25000" sz="3000" spc="-1447">
                <a:latin typeface="Times New Roman"/>
                <a:cs typeface="Times New Roman"/>
              </a:rPr>
              <a:t>1</a:t>
            </a:r>
            <a:r>
              <a:rPr dirty="0" sz="2000" spc="-965">
                <a:latin typeface="Cambria"/>
                <a:cs typeface="Cambria"/>
              </a:rPr>
              <a:t>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06214" y="3119996"/>
            <a:ext cx="17748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8350" algn="l"/>
                <a:tab pos="1480185" algn="l"/>
              </a:tabLst>
            </a:pPr>
            <a:r>
              <a:rPr dirty="0" baseline="2777" sz="3000" spc="-1192">
                <a:latin typeface="Times New Roman"/>
                <a:cs typeface="Times New Roman"/>
              </a:rPr>
              <a:t>2</a:t>
            </a:r>
            <a:r>
              <a:rPr dirty="0" sz="2000" spc="-795">
                <a:latin typeface="Cambria"/>
                <a:cs typeface="Cambria"/>
              </a:rPr>
              <a:t></a:t>
            </a:r>
            <a:r>
              <a:rPr dirty="0" baseline="2777" sz="3000" spc="-1192">
                <a:latin typeface="Times New Roman"/>
                <a:cs typeface="Times New Roman"/>
              </a:rPr>
              <a:t>1</a:t>
            </a:r>
            <a:r>
              <a:rPr dirty="0" sz="2000" spc="-795">
                <a:latin typeface="Cambria"/>
                <a:cs typeface="Cambria"/>
              </a:rPr>
              <a:t>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640">
                <a:latin typeface="Cambria"/>
                <a:cs typeface="Cambria"/>
              </a:rPr>
              <a:t></a:t>
            </a:r>
            <a:r>
              <a:rPr dirty="0" baseline="2777" sz="3000" spc="-960">
                <a:latin typeface="Times New Roman"/>
                <a:cs typeface="Times New Roman"/>
              </a:rPr>
              <a:t>0</a:t>
            </a:r>
            <a:r>
              <a:rPr dirty="0" sz="2000" spc="-640">
                <a:latin typeface="Cambria"/>
                <a:cs typeface="Cambria"/>
              </a:rPr>
              <a:t></a:t>
            </a:r>
            <a:r>
              <a:rPr dirty="0" baseline="4166" sz="3000" spc="-960">
                <a:latin typeface="Cambria"/>
                <a:cs typeface="Cambria"/>
              </a:rPr>
              <a:t>ü</a:t>
            </a:r>
            <a:r>
              <a:rPr dirty="0" baseline="4166" sz="3000">
                <a:latin typeface="Cambria"/>
                <a:cs typeface="Cambria"/>
              </a:rPr>
              <a:t>	</a:t>
            </a:r>
            <a:r>
              <a:rPr dirty="0" sz="2000" spc="-965">
                <a:latin typeface="Cambria"/>
                <a:cs typeface="Cambria"/>
              </a:rPr>
              <a:t></a:t>
            </a:r>
            <a:r>
              <a:rPr dirty="0" baseline="2777" sz="3000" spc="-1447">
                <a:latin typeface="Times New Roman"/>
                <a:cs typeface="Times New Roman"/>
              </a:rPr>
              <a:t>1</a:t>
            </a:r>
            <a:r>
              <a:rPr dirty="0" sz="2000" spc="-965">
                <a:latin typeface="Cambria"/>
                <a:cs typeface="Cambria"/>
              </a:rPr>
              <a:t>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17253" y="3941927"/>
            <a:ext cx="1517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70">
                <a:latin typeface="Cambria"/>
                <a:cs typeface="Cambria"/>
              </a:rPr>
              <a:t>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91853" y="3523615"/>
            <a:ext cx="2990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1160">
                <a:latin typeface="Cambria"/>
                <a:cs typeface="Cambria"/>
              </a:rPr>
              <a:t></a:t>
            </a:r>
            <a:r>
              <a:rPr dirty="0" baseline="-18055" sz="3000" spc="-1739">
                <a:latin typeface="Cambria"/>
                <a:cs typeface="Cambria"/>
              </a:rPr>
              <a:t></a:t>
            </a:r>
            <a:endParaRPr baseline="-18055" sz="30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91853" y="3765791"/>
            <a:ext cx="4318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1080">
                <a:latin typeface="Cambria"/>
                <a:cs typeface="Cambria"/>
              </a:rPr>
              <a:t></a:t>
            </a:r>
            <a:r>
              <a:rPr dirty="0" baseline="-16666" sz="3000" spc="-1620">
                <a:latin typeface="Cambria"/>
                <a:cs typeface="Cambria"/>
              </a:rPr>
              <a:t></a:t>
            </a:r>
            <a:r>
              <a:rPr dirty="0" baseline="-33333" sz="3000" spc="-1620">
                <a:latin typeface="Cambria"/>
                <a:cs typeface="Cambria"/>
              </a:rPr>
              <a:t></a:t>
            </a:r>
            <a:r>
              <a:rPr dirty="0" baseline="-19444" sz="3000" spc="-1620">
                <a:latin typeface="Times New Roman"/>
                <a:cs typeface="Times New Roman"/>
              </a:rPr>
              <a:t>2</a:t>
            </a:r>
            <a:endParaRPr baseline="-19444" sz="3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287917" y="3604463"/>
            <a:ext cx="123825" cy="2609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-5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103031" y="3052902"/>
            <a:ext cx="1905000" cy="113284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026794">
              <a:lnSpc>
                <a:spcPct val="100000"/>
              </a:lnSpc>
              <a:spcBef>
                <a:spcPts val="520"/>
              </a:spcBef>
              <a:tabLst>
                <a:tab pos="1731010" algn="l"/>
              </a:tabLst>
            </a:pPr>
            <a:r>
              <a:rPr dirty="0" baseline="1388" sz="3000" spc="-1155">
                <a:latin typeface="Cambria"/>
                <a:cs typeface="Cambria"/>
              </a:rPr>
              <a:t></a:t>
            </a:r>
            <a:r>
              <a:rPr dirty="0" baseline="-2777" sz="3000" spc="-1155">
                <a:latin typeface="Cambria"/>
                <a:cs typeface="Cambria"/>
              </a:rPr>
              <a:t></a:t>
            </a:r>
            <a:r>
              <a:rPr dirty="0" sz="2000" spc="-770"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45"/>
              </a:spcBef>
              <a:tabLst>
                <a:tab pos="358775" algn="l"/>
                <a:tab pos="1731010" algn="l"/>
              </a:tabLst>
            </a:pPr>
            <a:r>
              <a:rPr dirty="0" sz="2000" spc="-500" b="1">
                <a:latin typeface="Times New Roman"/>
                <a:cs typeface="Times New Roman"/>
              </a:rPr>
              <a:t>Y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>
                <a:latin typeface="Cambria"/>
                <a:cs typeface="Cambria"/>
              </a:rPr>
              <a:t>=</a:t>
            </a:r>
            <a:r>
              <a:rPr dirty="0" sz="2000" spc="25">
                <a:latin typeface="Cambria"/>
                <a:cs typeface="Cambria"/>
              </a:rPr>
              <a:t> </a:t>
            </a:r>
            <a:r>
              <a:rPr dirty="0" sz="2100" spc="-60" i="1">
                <a:latin typeface="Times New Roman"/>
                <a:cs typeface="Times New Roman"/>
              </a:rPr>
              <a:t>sign</a:t>
            </a:r>
            <a:r>
              <a:rPr dirty="0" sz="2100" spc="-135" i="1">
                <a:latin typeface="Times New Roman"/>
                <a:cs typeface="Times New Roman"/>
              </a:rPr>
              <a:t> </a:t>
            </a:r>
            <a:r>
              <a:rPr dirty="0" baseline="31944" sz="3000" spc="-1155">
                <a:latin typeface="Cambria"/>
                <a:cs typeface="Cambria"/>
              </a:rPr>
              <a:t></a:t>
            </a:r>
            <a:r>
              <a:rPr dirty="0" baseline="25000" sz="3000" spc="-1155">
                <a:latin typeface="Cambria"/>
                <a:cs typeface="Cambria"/>
              </a:rPr>
              <a:t></a:t>
            </a:r>
            <a:r>
              <a:rPr dirty="0" sz="2000" spc="-770">
                <a:latin typeface="Times New Roman"/>
                <a:cs typeface="Times New Roman"/>
              </a:rPr>
              <a:t>2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  <a:p>
            <a:pPr algn="r" marR="30480">
              <a:lnSpc>
                <a:spcPct val="100000"/>
              </a:lnSpc>
              <a:spcBef>
                <a:spcPts val="525"/>
              </a:spcBef>
            </a:pPr>
            <a:r>
              <a:rPr dirty="0" sz="2000" spc="-5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295482" y="5013375"/>
            <a:ext cx="19354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85140" algn="l"/>
                <a:tab pos="793750" algn="l"/>
                <a:tab pos="1461770" algn="l"/>
                <a:tab pos="1798955" algn="l"/>
              </a:tabLst>
            </a:pPr>
            <a:r>
              <a:rPr dirty="0" sz="2000" spc="-1220">
                <a:latin typeface="Cambria"/>
                <a:cs typeface="Cambria"/>
              </a:rPr>
              <a:t>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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40">
                <a:latin typeface="Cambria"/>
                <a:cs typeface="Cambria"/>
              </a:rPr>
              <a:t></a:t>
            </a:r>
            <a:r>
              <a:rPr dirty="0" sz="2000" spc="445">
                <a:latin typeface="Cambria"/>
                <a:cs typeface="Cambria"/>
              </a:rPr>
              <a:t> </a:t>
            </a:r>
            <a:r>
              <a:rPr dirty="0" sz="2000" spc="-645">
                <a:latin typeface="Cambria"/>
                <a:cs typeface="Cambria"/>
              </a:rPr>
              <a:t></a:t>
            </a:r>
            <a:r>
              <a:rPr dirty="0" baseline="18055" sz="3000" spc="-967">
                <a:latin typeface="Cambria"/>
                <a:cs typeface="Cambria"/>
              </a:rPr>
              <a:t>ý</a:t>
            </a:r>
            <a:r>
              <a:rPr dirty="0" baseline="18055" sz="3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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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62490" y="4932641"/>
            <a:ext cx="2914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1190">
                <a:latin typeface="Cambria"/>
                <a:cs typeface="Cambria"/>
              </a:rPr>
              <a:t></a:t>
            </a:r>
            <a:r>
              <a:rPr dirty="0" baseline="-18055" sz="3000" spc="-1785">
                <a:latin typeface="Cambria"/>
                <a:cs typeface="Cambria"/>
              </a:rPr>
              <a:t></a:t>
            </a:r>
            <a:endParaRPr baseline="-18055" sz="300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87890" y="5336273"/>
            <a:ext cx="311785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45235" algn="l"/>
                <a:tab pos="1692910" algn="l"/>
                <a:tab pos="2001520" algn="l"/>
                <a:tab pos="2668905" algn="l"/>
                <a:tab pos="3006725" algn="l"/>
              </a:tabLst>
            </a:pPr>
            <a:r>
              <a:rPr dirty="0" baseline="-2777" sz="3000" spc="-1785">
                <a:latin typeface="Cambria"/>
                <a:cs typeface="Cambria"/>
              </a:rPr>
              <a:t></a:t>
            </a:r>
            <a:r>
              <a:rPr dirty="0" sz="2000" spc="-1190">
                <a:latin typeface="Cambria"/>
                <a:cs typeface="Cambria"/>
              </a:rPr>
              <a:t>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20">
                <a:latin typeface="Cambria"/>
                <a:cs typeface="Cambria"/>
              </a:rPr>
              <a:t>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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40">
                <a:latin typeface="Cambria"/>
                <a:cs typeface="Cambria"/>
              </a:rPr>
              <a:t></a:t>
            </a:r>
            <a:r>
              <a:rPr dirty="0" sz="2000" spc="455">
                <a:latin typeface="Cambria"/>
                <a:cs typeface="Cambria"/>
              </a:rPr>
              <a:t> </a:t>
            </a:r>
            <a:r>
              <a:rPr dirty="0" sz="2000" spc="-445">
                <a:latin typeface="Cambria"/>
                <a:cs typeface="Cambria"/>
              </a:rPr>
              <a:t></a:t>
            </a:r>
            <a:r>
              <a:rPr dirty="0" baseline="-2777" sz="3000" spc="-667">
                <a:latin typeface="Cambria"/>
                <a:cs typeface="Cambria"/>
              </a:rPr>
              <a:t>J</a:t>
            </a:r>
            <a:r>
              <a:rPr dirty="0" baseline="-2777" sz="3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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sz="2000" spc="-1290">
                <a:latin typeface="Cambria"/>
                <a:cs typeface="Cambria"/>
              </a:rPr>
              <a:t>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178058" y="5262879"/>
            <a:ext cx="205295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911225" algn="l"/>
                <a:tab pos="1579245" algn="l"/>
              </a:tabLst>
            </a:pPr>
            <a:r>
              <a:rPr dirty="0" sz="2000" spc="-650">
                <a:latin typeface="Times New Roman"/>
                <a:cs typeface="Times New Roman"/>
              </a:rPr>
              <a:t>0</a:t>
            </a:r>
            <a:r>
              <a:rPr dirty="0" baseline="1388" sz="3000" spc="-975">
                <a:latin typeface="Cambria"/>
                <a:cs typeface="Cambria"/>
              </a:rPr>
              <a:t></a:t>
            </a:r>
            <a:r>
              <a:rPr dirty="0" sz="2000" spc="-650">
                <a:latin typeface="Cambria"/>
                <a:cs typeface="Cambria"/>
              </a:rPr>
              <a:t>–</a:t>
            </a:r>
            <a:r>
              <a:rPr dirty="0" sz="2000" spc="-650">
                <a:latin typeface="Times New Roman"/>
                <a:cs typeface="Times New Roman"/>
              </a:rPr>
              <a:t>1</a:t>
            </a:r>
            <a:r>
              <a:rPr dirty="0" baseline="1388" sz="3000" spc="-975">
                <a:latin typeface="Cambria"/>
                <a:cs typeface="Cambria"/>
              </a:rPr>
              <a:t></a:t>
            </a:r>
            <a:r>
              <a:rPr dirty="0" baseline="1388" sz="3000">
                <a:latin typeface="Cambria"/>
                <a:cs typeface="Cambria"/>
              </a:rPr>
              <a:t>	</a:t>
            </a:r>
            <a:r>
              <a:rPr dirty="0" baseline="1388" sz="3000" spc="-1372">
                <a:latin typeface="Cambria"/>
                <a:cs typeface="Cambria"/>
              </a:rPr>
              <a:t></a:t>
            </a:r>
            <a:r>
              <a:rPr dirty="0" sz="2000" spc="-915">
                <a:latin typeface="Times New Roman"/>
                <a:cs typeface="Times New Roman"/>
              </a:rPr>
              <a:t>0</a:t>
            </a:r>
            <a:r>
              <a:rPr dirty="0" baseline="1388" sz="3000" spc="-1372">
                <a:latin typeface="Cambria"/>
                <a:cs typeface="Cambria"/>
              </a:rPr>
              <a:t></a:t>
            </a:r>
            <a:r>
              <a:rPr dirty="0" baseline="19444" sz="3000" spc="-1372">
                <a:latin typeface="Cambria"/>
                <a:cs typeface="Cambria"/>
              </a:rPr>
              <a:t></a:t>
            </a:r>
            <a:r>
              <a:rPr dirty="0" baseline="19444" sz="3000">
                <a:latin typeface="Cambria"/>
                <a:cs typeface="Cambria"/>
              </a:rPr>
              <a:t>	</a:t>
            </a:r>
            <a:r>
              <a:rPr dirty="0" baseline="1388" sz="3000" spc="-1012">
                <a:latin typeface="Cambria"/>
                <a:cs typeface="Cambria"/>
              </a:rPr>
              <a:t></a:t>
            </a:r>
            <a:r>
              <a:rPr dirty="0" sz="2000" spc="-675">
                <a:latin typeface="Cambria"/>
                <a:cs typeface="Cambria"/>
              </a:rPr>
              <a:t>–</a:t>
            </a:r>
            <a:r>
              <a:rPr dirty="0" sz="2000" spc="-675">
                <a:latin typeface="Times New Roman"/>
                <a:cs typeface="Times New Roman"/>
              </a:rPr>
              <a:t>1</a:t>
            </a:r>
            <a:r>
              <a:rPr dirty="0" baseline="1388" sz="3000" spc="-1012">
                <a:latin typeface="Cambria"/>
                <a:cs typeface="Cambria"/>
              </a:rPr>
              <a:t></a:t>
            </a:r>
            <a:endParaRPr baseline="1388" sz="30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049790" y="4445970"/>
            <a:ext cx="3206750" cy="114871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645"/>
              </a:spcBef>
              <a:tabLst>
                <a:tab pos="711200" algn="l"/>
                <a:tab pos="1165860" algn="l"/>
                <a:tab pos="2039620" algn="l"/>
                <a:tab pos="2707005" algn="l"/>
              </a:tabLst>
            </a:pPr>
            <a:r>
              <a:rPr dirty="0" sz="2000" spc="-810">
                <a:latin typeface="Cambria"/>
                <a:cs typeface="Cambria"/>
              </a:rPr>
              <a:t></a:t>
            </a:r>
            <a:r>
              <a:rPr dirty="0" baseline="-2777" sz="3000" spc="-1214">
                <a:latin typeface="Cambria"/>
                <a:cs typeface="Cambria"/>
              </a:rPr>
              <a:t></a:t>
            </a:r>
            <a:r>
              <a:rPr dirty="0" sz="2000" spc="-810"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2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650">
                <a:latin typeface="Times New Roman"/>
                <a:cs typeface="Times New Roman"/>
              </a:rPr>
              <a:t>2</a:t>
            </a:r>
            <a:r>
              <a:rPr dirty="0" baseline="-2777" sz="3000" spc="-975">
                <a:latin typeface="Cambria"/>
                <a:cs typeface="Cambria"/>
              </a:rPr>
              <a:t></a:t>
            </a:r>
            <a:r>
              <a:rPr dirty="0" sz="2000" spc="-650">
                <a:latin typeface="Cambria"/>
                <a:cs typeface="Cambria"/>
              </a:rPr>
              <a:t>–</a:t>
            </a:r>
            <a:r>
              <a:rPr dirty="0" sz="2000" spc="-650">
                <a:latin typeface="Times New Roman"/>
                <a:cs typeface="Times New Roman"/>
              </a:rPr>
              <a:t>1</a:t>
            </a:r>
            <a:r>
              <a:rPr dirty="0" baseline="-2777" sz="3000" spc="-975">
                <a:latin typeface="Cambria"/>
                <a:cs typeface="Cambria"/>
              </a:rPr>
              <a:t></a:t>
            </a:r>
            <a:r>
              <a:rPr dirty="0" baseline="-2777" sz="3000">
                <a:latin typeface="Cambria"/>
                <a:cs typeface="Cambria"/>
              </a:rPr>
              <a:t>	</a:t>
            </a:r>
            <a:r>
              <a:rPr dirty="0" baseline="-2777" sz="3000" spc="-1027">
                <a:latin typeface="Cambria"/>
                <a:cs typeface="Cambria"/>
              </a:rPr>
              <a:t></a:t>
            </a:r>
            <a:r>
              <a:rPr dirty="0" sz="2000" spc="-685">
                <a:latin typeface="Times New Roman"/>
                <a:cs typeface="Times New Roman"/>
              </a:rPr>
              <a:t>0</a:t>
            </a:r>
            <a:r>
              <a:rPr dirty="0" baseline="-2777" sz="3000" spc="-1027">
                <a:latin typeface="Cambria"/>
                <a:cs typeface="Cambria"/>
              </a:rPr>
              <a:t></a:t>
            </a:r>
            <a:r>
              <a:rPr dirty="0" sz="2000" spc="-685">
                <a:latin typeface="Cambria"/>
                <a:cs typeface="Cambria"/>
              </a:rPr>
              <a:t>ü</a:t>
            </a:r>
            <a:r>
              <a:rPr dirty="0" sz="2000">
                <a:latin typeface="Cambria"/>
                <a:cs typeface="Cambria"/>
              </a:rPr>
              <a:t>	</a:t>
            </a:r>
            <a:r>
              <a:rPr dirty="0" baseline="-2777" sz="3000" spc="-1012">
                <a:latin typeface="Cambria"/>
                <a:cs typeface="Cambria"/>
              </a:rPr>
              <a:t></a:t>
            </a:r>
            <a:r>
              <a:rPr dirty="0" sz="2000" spc="-675">
                <a:latin typeface="Cambria"/>
                <a:cs typeface="Cambria"/>
              </a:rPr>
              <a:t>–</a:t>
            </a:r>
            <a:r>
              <a:rPr dirty="0" sz="2000" spc="-675">
                <a:latin typeface="Times New Roman"/>
                <a:cs typeface="Times New Roman"/>
              </a:rPr>
              <a:t>1</a:t>
            </a:r>
            <a:r>
              <a:rPr dirty="0" baseline="-2777" sz="3000" spc="-1012">
                <a:latin typeface="Cambria"/>
                <a:cs typeface="Cambria"/>
              </a:rPr>
              <a:t></a:t>
            </a:r>
            <a:endParaRPr baseline="-2777" sz="3000">
              <a:latin typeface="Cambria"/>
              <a:cs typeface="Cambria"/>
            </a:endParaRPr>
          </a:p>
          <a:p>
            <a:pPr marL="711200">
              <a:lnSpc>
                <a:spcPct val="100000"/>
              </a:lnSpc>
              <a:spcBef>
                <a:spcPts val="545"/>
              </a:spcBef>
              <a:tabLst>
                <a:tab pos="1165860" algn="l"/>
              </a:tabLst>
            </a:pPr>
            <a:r>
              <a:rPr dirty="0" sz="2000" spc="-50">
                <a:latin typeface="Times New Roman"/>
                <a:cs typeface="Times New Roman"/>
              </a:rPr>
              <a:t>0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640">
                <a:latin typeface="Times New Roman"/>
                <a:cs typeface="Times New Roman"/>
              </a:rPr>
              <a:t>2</a:t>
            </a:r>
            <a:r>
              <a:rPr dirty="0" baseline="25000" sz="3000" spc="-960">
                <a:latin typeface="Cambria"/>
                <a:cs typeface="Cambria"/>
              </a:rPr>
              <a:t></a:t>
            </a:r>
            <a:r>
              <a:rPr dirty="0" sz="2000" spc="-640">
                <a:latin typeface="Cambria"/>
                <a:cs typeface="Cambria"/>
              </a:rPr>
              <a:t>–</a:t>
            </a:r>
            <a:r>
              <a:rPr dirty="0" sz="2000" spc="-640">
                <a:latin typeface="Times New Roman"/>
                <a:cs typeface="Times New Roman"/>
              </a:rPr>
              <a:t>1</a:t>
            </a:r>
            <a:r>
              <a:rPr dirty="0" baseline="25000" sz="3000" spc="-960">
                <a:latin typeface="Cambria"/>
                <a:cs typeface="Cambria"/>
              </a:rPr>
              <a:t></a:t>
            </a:r>
            <a:r>
              <a:rPr dirty="0" baseline="25000" sz="3000" spc="-172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–</a:t>
            </a:r>
            <a:r>
              <a:rPr dirty="0" sz="2000" spc="-210">
                <a:latin typeface="Cambria"/>
                <a:cs typeface="Cambria"/>
              </a:rPr>
              <a:t> </a:t>
            </a:r>
            <a:r>
              <a:rPr dirty="0" baseline="25000" sz="3000" spc="-1342">
                <a:latin typeface="Cambria"/>
                <a:cs typeface="Cambria"/>
              </a:rPr>
              <a:t></a:t>
            </a:r>
            <a:r>
              <a:rPr dirty="0" sz="2000" spc="-894">
                <a:latin typeface="Times New Roman"/>
                <a:cs typeface="Times New Roman"/>
              </a:rPr>
              <a:t>0</a:t>
            </a:r>
            <a:r>
              <a:rPr dirty="0" baseline="25000" sz="3000" spc="-1342">
                <a:latin typeface="Cambria"/>
                <a:cs typeface="Cambria"/>
              </a:rPr>
              <a:t></a:t>
            </a:r>
            <a:r>
              <a:rPr dirty="0" baseline="31944" sz="3000" spc="-1342">
                <a:latin typeface="Cambria"/>
                <a:cs typeface="Cambria"/>
              </a:rPr>
              <a:t></a:t>
            </a:r>
            <a:r>
              <a:rPr dirty="0" baseline="31944" sz="3000" spc="-247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=</a:t>
            </a:r>
            <a:r>
              <a:rPr dirty="0" sz="2000" spc="-35">
                <a:latin typeface="Cambria"/>
                <a:cs typeface="Cambria"/>
              </a:rPr>
              <a:t> </a:t>
            </a:r>
            <a:r>
              <a:rPr dirty="0" baseline="25000" sz="3000" spc="-1012">
                <a:latin typeface="Cambria"/>
                <a:cs typeface="Cambria"/>
              </a:rPr>
              <a:t></a:t>
            </a:r>
            <a:r>
              <a:rPr dirty="0" sz="2000" spc="-675">
                <a:latin typeface="Cambria"/>
                <a:cs typeface="Cambria"/>
              </a:rPr>
              <a:t>–</a:t>
            </a:r>
            <a:r>
              <a:rPr dirty="0" sz="2000" spc="-675">
                <a:latin typeface="Times New Roman"/>
                <a:cs typeface="Times New Roman"/>
              </a:rPr>
              <a:t>1</a:t>
            </a:r>
            <a:r>
              <a:rPr dirty="0" baseline="25000" sz="3000" spc="-1012">
                <a:latin typeface="Cambria"/>
                <a:cs typeface="Cambria"/>
              </a:rPr>
              <a:t></a:t>
            </a:r>
            <a:endParaRPr baseline="25000" sz="30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550"/>
              </a:spcBef>
              <a:tabLst>
                <a:tab pos="718185" algn="l"/>
              </a:tabLst>
            </a:pPr>
            <a:r>
              <a:rPr dirty="0" baseline="19444" sz="3000" spc="-1214">
                <a:latin typeface="Cambria"/>
                <a:cs typeface="Cambria"/>
              </a:rPr>
              <a:t></a:t>
            </a:r>
            <a:r>
              <a:rPr dirty="0" baseline="1388" sz="3000" spc="-1214">
                <a:latin typeface="Cambria"/>
                <a:cs typeface="Cambria"/>
              </a:rPr>
              <a:t></a:t>
            </a:r>
            <a:r>
              <a:rPr dirty="0" sz="2000" spc="-810">
                <a:latin typeface="Times New Roman"/>
                <a:cs typeface="Times New Roman"/>
              </a:rPr>
              <a:t>2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5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295258" y="5013490"/>
            <a:ext cx="123825" cy="2609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-5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15731" y="4875373"/>
            <a:ext cx="1363345" cy="347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360680" algn="l"/>
              </a:tabLst>
            </a:pPr>
            <a:r>
              <a:rPr dirty="0" sz="2000" spc="-500" b="1">
                <a:latin typeface="Times New Roman"/>
                <a:cs typeface="Times New Roman"/>
              </a:rPr>
              <a:t>Y</a:t>
            </a:r>
            <a:r>
              <a:rPr dirty="0" sz="2000" b="1">
                <a:latin typeface="Times New Roman"/>
                <a:cs typeface="Times New Roman"/>
              </a:rPr>
              <a:t>	</a:t>
            </a:r>
            <a:r>
              <a:rPr dirty="0" sz="2000" spc="-20">
                <a:latin typeface="Cambria"/>
                <a:cs typeface="Cambria"/>
              </a:rPr>
              <a:t>=</a:t>
            </a:r>
            <a:r>
              <a:rPr dirty="0" sz="2000" spc="-95">
                <a:latin typeface="Cambria"/>
                <a:cs typeface="Cambria"/>
              </a:rPr>
              <a:t> </a:t>
            </a:r>
            <a:r>
              <a:rPr dirty="0" sz="2100" spc="-355" i="1">
                <a:latin typeface="Times New Roman"/>
                <a:cs typeface="Times New Roman"/>
              </a:rPr>
              <a:t>sign</a:t>
            </a:r>
            <a:r>
              <a:rPr dirty="0" baseline="31944" sz="3000" spc="-532">
                <a:latin typeface="Cambria"/>
                <a:cs typeface="Cambria"/>
              </a:rPr>
              <a:t></a:t>
            </a:r>
            <a:r>
              <a:rPr dirty="0" baseline="25000" sz="3000" spc="-532">
                <a:latin typeface="Cambria"/>
                <a:cs typeface="Cambria"/>
              </a:rPr>
              <a:t></a:t>
            </a:r>
            <a:r>
              <a:rPr dirty="0" sz="2000" spc="-355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0263" y="2149995"/>
            <a:ext cx="8578215" cy="441325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398780" marR="5080" indent="-386080">
              <a:lnSpc>
                <a:spcPts val="2740"/>
              </a:lnSpc>
              <a:spcBef>
                <a:spcPts val="305"/>
              </a:spcBef>
              <a:buClr>
                <a:srgbClr val="333399"/>
              </a:buClr>
              <a:buChar char="■"/>
              <a:tabLst>
                <a:tab pos="39878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remaining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six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unstable.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However,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stable </a:t>
            </a:r>
            <a:r>
              <a:rPr dirty="0" sz="2400">
                <a:latin typeface="Tahoma"/>
                <a:cs typeface="Tahoma"/>
              </a:rPr>
              <a:t>states</a:t>
            </a:r>
            <a:r>
              <a:rPr dirty="0" sz="2400" spc="-6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(also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called</a:t>
            </a:r>
            <a:r>
              <a:rPr dirty="0" sz="2400" spc="-105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fundamental</a:t>
            </a:r>
            <a:r>
              <a:rPr dirty="0" sz="2400" spc="-55" b="1">
                <a:latin typeface="Tahoma"/>
                <a:cs typeface="Tahoma"/>
              </a:rPr>
              <a:t> </a:t>
            </a:r>
            <a:r>
              <a:rPr dirty="0" sz="2400" b="1">
                <a:latin typeface="Tahoma"/>
                <a:cs typeface="Tahoma"/>
              </a:rPr>
              <a:t>memories</a:t>
            </a:r>
            <a:r>
              <a:rPr dirty="0" sz="2400">
                <a:latin typeface="Tahoma"/>
                <a:cs typeface="Tahoma"/>
              </a:rPr>
              <a:t>)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capable</a:t>
            </a:r>
            <a:r>
              <a:rPr dirty="0" sz="2400" spc="-6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of </a:t>
            </a:r>
            <a:r>
              <a:rPr dirty="0" sz="2400">
                <a:latin typeface="Tahoma"/>
                <a:cs typeface="Tahoma"/>
              </a:rPr>
              <a:t>attracting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that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close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them.</a:t>
            </a:r>
            <a:endParaRPr sz="2400">
              <a:latin typeface="Tahoma"/>
              <a:cs typeface="Tahoma"/>
            </a:endParaRPr>
          </a:p>
          <a:p>
            <a:pPr marL="398780" marR="263525" indent="-386080">
              <a:lnSpc>
                <a:spcPts val="2740"/>
              </a:lnSpc>
              <a:spcBef>
                <a:spcPts val="1425"/>
              </a:spcBef>
              <a:buClr>
                <a:srgbClr val="333399"/>
              </a:buClr>
              <a:buChar char="■"/>
              <a:tabLst>
                <a:tab pos="398780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fundamental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memory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(1,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1)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attracts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unstable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states </a:t>
            </a:r>
            <a:r>
              <a:rPr dirty="0" sz="2400" spc="-20">
                <a:latin typeface="Tahoma"/>
                <a:cs typeface="Tahoma"/>
              </a:rPr>
              <a:t>(-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1),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1)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1).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Each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these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unstable </a:t>
            </a:r>
            <a:r>
              <a:rPr dirty="0" sz="2400">
                <a:latin typeface="Tahoma"/>
                <a:cs typeface="Tahoma"/>
              </a:rPr>
              <a:t>states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represents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single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35">
                <a:latin typeface="Tahoma"/>
                <a:cs typeface="Tahoma"/>
              </a:rPr>
              <a:t>error,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compared</a:t>
            </a:r>
            <a:r>
              <a:rPr dirty="0" sz="2400" spc="-5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the </a:t>
            </a:r>
            <a:r>
              <a:rPr dirty="0" sz="2400">
                <a:latin typeface="Tahoma"/>
                <a:cs typeface="Tahoma"/>
              </a:rPr>
              <a:t>fundamental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memory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(1,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5">
                <a:latin typeface="Tahoma"/>
                <a:cs typeface="Tahoma"/>
              </a:rPr>
              <a:t>1).</a:t>
            </a:r>
            <a:endParaRPr sz="2400">
              <a:latin typeface="Tahoma"/>
              <a:cs typeface="Tahoma"/>
            </a:endParaRPr>
          </a:p>
          <a:p>
            <a:pPr marL="398145" indent="-385445">
              <a:lnSpc>
                <a:spcPts val="2805"/>
              </a:lnSpc>
              <a:spcBef>
                <a:spcPts val="1215"/>
              </a:spcBef>
              <a:buClr>
                <a:srgbClr val="333399"/>
              </a:buClr>
              <a:buChar char="■"/>
              <a:tabLst>
                <a:tab pos="398145" algn="l"/>
              </a:tabLst>
            </a:pP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fundamental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memory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(-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1)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attracts</a:t>
            </a:r>
            <a:r>
              <a:rPr dirty="0" sz="2400" spc="-4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unstable</a:t>
            </a:r>
            <a:endParaRPr sz="2400">
              <a:latin typeface="Tahoma"/>
              <a:cs typeface="Tahoma"/>
            </a:endParaRPr>
          </a:p>
          <a:p>
            <a:pPr marL="398780">
              <a:lnSpc>
                <a:spcPts val="2805"/>
              </a:lnSpc>
            </a:pPr>
            <a:r>
              <a:rPr dirty="0" sz="2400">
                <a:latin typeface="Tahoma"/>
                <a:cs typeface="Tahoma"/>
              </a:rPr>
              <a:t>states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(-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0">
                <a:latin typeface="Tahoma"/>
                <a:cs typeface="Tahoma"/>
              </a:rPr>
              <a:t> 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1),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(-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0">
                <a:latin typeface="Tahoma"/>
                <a:cs typeface="Tahoma"/>
              </a:rPr>
              <a:t> -</a:t>
            </a:r>
            <a:r>
              <a:rPr dirty="0" sz="2400">
                <a:latin typeface="Tahoma"/>
                <a:cs typeface="Tahoma"/>
              </a:rPr>
              <a:t>1)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(1,</a:t>
            </a:r>
            <a:r>
              <a:rPr dirty="0" sz="2400" spc="-20">
                <a:latin typeface="Tahoma"/>
                <a:cs typeface="Tahoma"/>
              </a:rPr>
              <a:t> -</a:t>
            </a:r>
            <a:r>
              <a:rPr dirty="0" sz="2400">
                <a:latin typeface="Tahoma"/>
                <a:cs typeface="Tahoma"/>
              </a:rPr>
              <a:t>1,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 spc="-25">
                <a:latin typeface="Tahoma"/>
                <a:cs typeface="Tahoma"/>
              </a:rPr>
              <a:t>1).</a:t>
            </a:r>
            <a:endParaRPr sz="2400">
              <a:latin typeface="Tahoma"/>
              <a:cs typeface="Tahoma"/>
            </a:endParaRPr>
          </a:p>
          <a:p>
            <a:pPr marL="398780" marR="128270" indent="-386080">
              <a:lnSpc>
                <a:spcPts val="2740"/>
              </a:lnSpc>
              <a:spcBef>
                <a:spcPts val="1500"/>
              </a:spcBef>
              <a:buClr>
                <a:srgbClr val="333399"/>
              </a:buClr>
              <a:buChar char="■"/>
              <a:tabLst>
                <a:tab pos="398780" algn="l"/>
              </a:tabLst>
            </a:pPr>
            <a:r>
              <a:rPr dirty="0" sz="2400">
                <a:latin typeface="Tahoma"/>
                <a:cs typeface="Tahoma"/>
              </a:rPr>
              <a:t>Thus,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Hopfield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can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act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an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ahoma"/>
                <a:cs typeface="Tahoma"/>
              </a:rPr>
              <a:t>error</a:t>
            </a:r>
            <a:r>
              <a:rPr dirty="0" sz="2400" spc="-25" b="1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Tahoma"/>
                <a:cs typeface="Tahoma"/>
              </a:rPr>
              <a:t>correction network</a:t>
            </a:r>
            <a:r>
              <a:rPr dirty="0" sz="2400" spc="-10">
                <a:solidFill>
                  <a:srgbClr val="FF0000"/>
                </a:solidFill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36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Discrete</a:t>
            </a:r>
            <a:r>
              <a:rPr dirty="0" sz="4400" spc="-105"/>
              <a:t> </a:t>
            </a:r>
            <a:r>
              <a:rPr dirty="0" sz="4400"/>
              <a:t>Hopfield</a:t>
            </a:r>
            <a:r>
              <a:rPr dirty="0" sz="4400" spc="-110"/>
              <a:t> </a:t>
            </a:r>
            <a:r>
              <a:rPr dirty="0" sz="4400" spc="-10"/>
              <a:t>Network</a:t>
            </a:r>
            <a:endParaRPr sz="4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4636" y="2270976"/>
            <a:ext cx="139700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>
                <a:solidFill>
                  <a:srgbClr val="0000FF"/>
                </a:solidFill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61136" y="2921343"/>
            <a:ext cx="2672715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495300" algn="l"/>
              </a:tabLst>
            </a:pPr>
            <a:r>
              <a:rPr dirty="0" sz="3100" spc="-25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baseline="43209" sz="2700" spc="-37">
                <a:solidFill>
                  <a:srgbClr val="0000FF"/>
                </a:solidFill>
                <a:latin typeface="Cambria"/>
                <a:cs typeface="Cambria"/>
              </a:rPr>
              <a:t>2</a:t>
            </a:r>
            <a:r>
              <a:rPr dirty="0" baseline="43209" sz="27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310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dirty="0" sz="3100" spc="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3100" spc="-100">
                <a:solidFill>
                  <a:srgbClr val="0000FF"/>
                </a:solidFill>
                <a:latin typeface="Cambria"/>
                <a:cs typeface="Cambria"/>
              </a:rPr>
              <a:t>(–1,1,</a:t>
            </a:r>
            <a:r>
              <a:rPr dirty="0" sz="3100" spc="-28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3100" spc="-75">
                <a:solidFill>
                  <a:srgbClr val="0000FF"/>
                </a:solidFill>
                <a:latin typeface="Cambria"/>
                <a:cs typeface="Cambria"/>
              </a:rPr>
              <a:t>–1,1)</a:t>
            </a:r>
            <a:r>
              <a:rPr dirty="0" baseline="43209" sz="2700" spc="-112" i="1">
                <a:solidFill>
                  <a:srgbClr val="0000FF"/>
                </a:solidFill>
                <a:latin typeface="Cambria"/>
                <a:cs typeface="Cambria"/>
              </a:rPr>
              <a:t>T</a:t>
            </a:r>
            <a:endParaRPr baseline="43209" sz="27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13316" y="2270976"/>
            <a:ext cx="153035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800" spc="-50" i="1">
                <a:solidFill>
                  <a:srgbClr val="0000FF"/>
                </a:solidFill>
                <a:latin typeface="Cambria"/>
                <a:cs typeface="Cambria"/>
              </a:rPr>
              <a:t>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6536" y="2281085"/>
            <a:ext cx="2454910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27355" algn="l"/>
              </a:tabLst>
            </a:pPr>
            <a:r>
              <a:rPr dirty="0" sz="3100" spc="-50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sz="3100" b="1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310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dirty="0" sz="3100" spc="-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3100" spc="-254">
                <a:solidFill>
                  <a:srgbClr val="0000FF"/>
                </a:solidFill>
                <a:latin typeface="Cambria"/>
                <a:cs typeface="Cambria"/>
              </a:rPr>
              <a:t>(1,</a:t>
            </a:r>
            <a:r>
              <a:rPr dirty="0" sz="3100" spc="-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3100" spc="-70">
                <a:solidFill>
                  <a:srgbClr val="0000FF"/>
                </a:solidFill>
                <a:latin typeface="Cambria"/>
                <a:cs typeface="Cambria"/>
              </a:rPr>
              <a:t>–1,</a:t>
            </a:r>
            <a:r>
              <a:rPr dirty="0" sz="3100" spc="-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3100" spc="-114">
                <a:solidFill>
                  <a:srgbClr val="0000FF"/>
                </a:solidFill>
                <a:latin typeface="Cambria"/>
                <a:cs typeface="Cambria"/>
              </a:rPr>
              <a:t>–1,1)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436810" y="2450083"/>
            <a:ext cx="923925" cy="238125"/>
          </a:xfrm>
          <a:custGeom>
            <a:avLst/>
            <a:gdLst/>
            <a:ahLst/>
            <a:cxnLst/>
            <a:rect l="l" t="t" r="r" b="b"/>
            <a:pathLst>
              <a:path w="923925" h="238125">
                <a:moveTo>
                  <a:pt x="923925" y="0"/>
                </a:moveTo>
                <a:lnTo>
                  <a:pt x="695325" y="0"/>
                </a:lnTo>
                <a:lnTo>
                  <a:pt x="685800" y="0"/>
                </a:lnTo>
                <a:lnTo>
                  <a:pt x="685800" y="9525"/>
                </a:lnTo>
                <a:lnTo>
                  <a:pt x="685800" y="228600"/>
                </a:lnTo>
                <a:lnTo>
                  <a:pt x="466725" y="228600"/>
                </a:lnTo>
                <a:lnTo>
                  <a:pt x="466725" y="9525"/>
                </a:lnTo>
                <a:lnTo>
                  <a:pt x="685800" y="9525"/>
                </a:lnTo>
                <a:lnTo>
                  <a:pt x="685800" y="0"/>
                </a:lnTo>
                <a:lnTo>
                  <a:pt x="466725" y="0"/>
                </a:lnTo>
                <a:lnTo>
                  <a:pt x="457200" y="0"/>
                </a:lnTo>
                <a:lnTo>
                  <a:pt x="457200" y="9525"/>
                </a:lnTo>
                <a:lnTo>
                  <a:pt x="457200" y="228600"/>
                </a:lnTo>
                <a:lnTo>
                  <a:pt x="238125" y="228600"/>
                </a:lnTo>
                <a:lnTo>
                  <a:pt x="238125" y="9525"/>
                </a:lnTo>
                <a:lnTo>
                  <a:pt x="457200" y="9525"/>
                </a:lnTo>
                <a:lnTo>
                  <a:pt x="457200" y="0"/>
                </a:lnTo>
                <a:lnTo>
                  <a:pt x="238125" y="0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lnTo>
                  <a:pt x="923925" y="238125"/>
                </a:lnTo>
                <a:lnTo>
                  <a:pt x="923925" y="233362"/>
                </a:lnTo>
                <a:lnTo>
                  <a:pt x="923925" y="228600"/>
                </a:lnTo>
                <a:lnTo>
                  <a:pt x="923925" y="9525"/>
                </a:lnTo>
                <a:lnTo>
                  <a:pt x="923925" y="4762"/>
                </a:lnTo>
                <a:lnTo>
                  <a:pt x="9239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436810" y="3097783"/>
            <a:ext cx="923925" cy="238125"/>
          </a:xfrm>
          <a:custGeom>
            <a:avLst/>
            <a:gdLst/>
            <a:ahLst/>
            <a:cxnLst/>
            <a:rect l="l" t="t" r="r" b="b"/>
            <a:pathLst>
              <a:path w="923925" h="238125">
                <a:moveTo>
                  <a:pt x="923925" y="0"/>
                </a:moveTo>
                <a:lnTo>
                  <a:pt x="695325" y="0"/>
                </a:lnTo>
                <a:lnTo>
                  <a:pt x="685800" y="0"/>
                </a:lnTo>
                <a:lnTo>
                  <a:pt x="685800" y="9525"/>
                </a:lnTo>
                <a:lnTo>
                  <a:pt x="685800" y="228600"/>
                </a:lnTo>
                <a:lnTo>
                  <a:pt x="466725" y="228600"/>
                </a:lnTo>
                <a:lnTo>
                  <a:pt x="466725" y="9525"/>
                </a:lnTo>
                <a:lnTo>
                  <a:pt x="685800" y="9525"/>
                </a:lnTo>
                <a:lnTo>
                  <a:pt x="685800" y="0"/>
                </a:lnTo>
                <a:lnTo>
                  <a:pt x="466725" y="0"/>
                </a:lnTo>
                <a:lnTo>
                  <a:pt x="457200" y="0"/>
                </a:lnTo>
                <a:lnTo>
                  <a:pt x="238125" y="0"/>
                </a:lnTo>
                <a:lnTo>
                  <a:pt x="228600" y="0"/>
                </a:lnTo>
                <a:lnTo>
                  <a:pt x="228600" y="9525"/>
                </a:lnTo>
                <a:lnTo>
                  <a:pt x="228600" y="228600"/>
                </a:lnTo>
                <a:lnTo>
                  <a:pt x="9525" y="228600"/>
                </a:lnTo>
                <a:lnTo>
                  <a:pt x="9525" y="9525"/>
                </a:lnTo>
                <a:lnTo>
                  <a:pt x="228600" y="9525"/>
                </a:lnTo>
                <a:lnTo>
                  <a:pt x="228600" y="0"/>
                </a:lnTo>
                <a:lnTo>
                  <a:pt x="0" y="0"/>
                </a:lnTo>
                <a:lnTo>
                  <a:pt x="0" y="238125"/>
                </a:lnTo>
                <a:lnTo>
                  <a:pt x="228600" y="238125"/>
                </a:lnTo>
                <a:lnTo>
                  <a:pt x="238125" y="238125"/>
                </a:lnTo>
                <a:lnTo>
                  <a:pt x="923925" y="238125"/>
                </a:lnTo>
                <a:lnTo>
                  <a:pt x="923925" y="233362"/>
                </a:lnTo>
                <a:lnTo>
                  <a:pt x="923925" y="228600"/>
                </a:lnTo>
                <a:lnTo>
                  <a:pt x="923925" y="9525"/>
                </a:lnTo>
                <a:lnTo>
                  <a:pt x="923925" y="4762"/>
                </a:lnTo>
                <a:lnTo>
                  <a:pt x="9239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053846" y="4216946"/>
            <a:ext cx="1004569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1650" spc="-50" b="1">
                <a:latin typeface="Cambria"/>
                <a:cs typeface="Cambria"/>
              </a:rPr>
              <a:t>x</a:t>
            </a:r>
            <a:r>
              <a:rPr dirty="0" baseline="43859" sz="1425" spc="-75">
                <a:latin typeface="Cambria"/>
                <a:cs typeface="Cambria"/>
              </a:rPr>
              <a:t>1</a:t>
            </a:r>
            <a:r>
              <a:rPr dirty="0" baseline="43859" sz="1425" spc="-142">
                <a:latin typeface="Cambria"/>
                <a:cs typeface="Cambria"/>
              </a:rPr>
              <a:t> </a:t>
            </a:r>
            <a:r>
              <a:rPr dirty="0" sz="1650" spc="-40">
                <a:latin typeface="Cambria"/>
                <a:cs typeface="Cambria"/>
              </a:rPr>
              <a:t>(</a:t>
            </a:r>
            <a:r>
              <a:rPr dirty="0" sz="1650" spc="-40" b="1">
                <a:latin typeface="Cambria"/>
                <a:cs typeface="Cambria"/>
              </a:rPr>
              <a:t>x</a:t>
            </a:r>
            <a:r>
              <a:rPr dirty="0" baseline="43859" sz="1425" spc="-60">
                <a:latin typeface="Cambria"/>
                <a:cs typeface="Cambria"/>
              </a:rPr>
              <a:t>1</a:t>
            </a:r>
            <a:r>
              <a:rPr dirty="0" baseline="43859" sz="1425" spc="-142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)</a:t>
            </a:r>
            <a:r>
              <a:rPr dirty="0" baseline="43859" sz="1425" i="1">
                <a:latin typeface="Cambria"/>
                <a:cs typeface="Cambria"/>
              </a:rPr>
              <a:t>T</a:t>
            </a:r>
            <a:r>
              <a:rPr dirty="0" baseline="43859" sz="1425" spc="719" i="1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=</a:t>
            </a:r>
            <a:r>
              <a:rPr dirty="0" sz="1650" spc="55">
                <a:latin typeface="Cambria"/>
                <a:cs typeface="Cambria"/>
              </a:rPr>
              <a:t> </a:t>
            </a:r>
            <a:r>
              <a:rPr dirty="0" baseline="13468" sz="2475" spc="-1589">
                <a:latin typeface="Cambria"/>
                <a:cs typeface="Cambria"/>
              </a:rPr>
              <a:t></a:t>
            </a:r>
            <a:endParaRPr baseline="13468" sz="2475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19312" y="6243205"/>
            <a:ext cx="10795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60">
                <a:latin typeface="Cambria"/>
                <a:cs typeface="Cambria"/>
              </a:rPr>
              <a:t>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381883" y="5443359"/>
            <a:ext cx="252729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baseline="-26936" sz="2475" spc="-930">
                <a:latin typeface="Cambria"/>
                <a:cs typeface="Cambria"/>
              </a:rPr>
              <a:t>1</a:t>
            </a:r>
            <a:r>
              <a:rPr dirty="0" sz="1650" spc="-620">
                <a:latin typeface="Cambria"/>
                <a:cs typeface="Cambria"/>
              </a:rPr>
              <a:t>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759585" y="3669362"/>
            <a:ext cx="1995170" cy="285686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655"/>
              </a:spcBef>
              <a:tabLst>
                <a:tab pos="395605" algn="l"/>
                <a:tab pos="688340" algn="l"/>
                <a:tab pos="1111250" algn="l"/>
                <a:tab pos="1665605" algn="l"/>
              </a:tabLst>
            </a:pPr>
            <a:r>
              <a:rPr dirty="0" baseline="-3367" sz="2475" spc="-1589">
                <a:latin typeface="Cambria"/>
                <a:cs typeface="Cambria"/>
              </a:rPr>
              <a:t></a:t>
            </a:r>
            <a:r>
              <a:rPr dirty="0" baseline="-3367" sz="2475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35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35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620">
                <a:latin typeface="Cambria"/>
                <a:cs typeface="Cambria"/>
              </a:rPr>
              <a:t>1</a:t>
            </a:r>
            <a:r>
              <a:rPr dirty="0" baseline="-3367" sz="2475" spc="-930">
                <a:latin typeface="Cambria"/>
                <a:cs typeface="Cambria"/>
              </a:rPr>
              <a:t></a:t>
            </a:r>
            <a:endParaRPr baseline="-3367" sz="2475">
              <a:latin typeface="Cambria"/>
              <a:cs typeface="Cambria"/>
            </a:endParaRPr>
          </a:p>
          <a:p>
            <a:pPr marL="177800">
              <a:lnSpc>
                <a:spcPts val="1405"/>
              </a:lnSpc>
              <a:spcBef>
                <a:spcPts val="570"/>
              </a:spcBef>
              <a:tabLst>
                <a:tab pos="819150" algn="l"/>
                <a:tab pos="1242060" algn="l"/>
                <a:tab pos="1534795" algn="l"/>
              </a:tabLst>
            </a:pPr>
            <a:r>
              <a:rPr dirty="0" baseline="26936" sz="2475" spc="-465">
                <a:latin typeface="Cambria"/>
                <a:cs typeface="Cambria"/>
              </a:rPr>
              <a:t></a:t>
            </a:r>
            <a:r>
              <a:rPr dirty="0" sz="1650" spc="-310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355">
                <a:latin typeface="Cambria"/>
                <a:cs typeface="Cambria"/>
              </a:rPr>
              <a:t>–1</a:t>
            </a:r>
            <a:r>
              <a:rPr dirty="0" baseline="26936" sz="2475" spc="-532">
                <a:latin typeface="Cambria"/>
                <a:cs typeface="Cambria"/>
              </a:rPr>
              <a:t></a:t>
            </a:r>
            <a:endParaRPr baseline="26936" sz="2475">
              <a:latin typeface="Cambria"/>
              <a:cs typeface="Cambria"/>
            </a:endParaRPr>
          </a:p>
          <a:p>
            <a:pPr algn="r" marR="144780">
              <a:lnSpc>
                <a:spcPts val="1275"/>
              </a:lnSpc>
            </a:pPr>
            <a:r>
              <a:rPr dirty="0" sz="1650" spc="-1060">
                <a:latin typeface="Cambria"/>
                <a:cs typeface="Cambria"/>
              </a:rPr>
              <a:t></a:t>
            </a:r>
            <a:endParaRPr sz="1650">
              <a:latin typeface="Cambria"/>
              <a:cs typeface="Cambria"/>
            </a:endParaRPr>
          </a:p>
          <a:p>
            <a:pPr algn="r" marR="144780">
              <a:lnSpc>
                <a:spcPts val="1625"/>
              </a:lnSpc>
              <a:tabLst>
                <a:tab pos="641350" algn="l"/>
                <a:tab pos="1064260" algn="l"/>
                <a:tab pos="1356995" algn="l"/>
              </a:tabLst>
            </a:pPr>
            <a:r>
              <a:rPr dirty="0" baseline="3367" sz="2475" spc="-465">
                <a:latin typeface="Cambria"/>
                <a:cs typeface="Cambria"/>
              </a:rPr>
              <a:t></a:t>
            </a:r>
            <a:r>
              <a:rPr dirty="0" sz="1650" spc="-310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355">
                <a:latin typeface="Cambria"/>
                <a:cs typeface="Cambria"/>
              </a:rPr>
              <a:t>–1</a:t>
            </a:r>
            <a:r>
              <a:rPr dirty="0" baseline="3367" sz="2475" spc="-532">
                <a:latin typeface="Cambria"/>
                <a:cs typeface="Cambria"/>
              </a:rPr>
              <a:t></a:t>
            </a:r>
            <a:endParaRPr baseline="3367" sz="2475">
              <a:latin typeface="Cambria"/>
              <a:cs typeface="Cambria"/>
            </a:endParaRPr>
          </a:p>
          <a:p>
            <a:pPr algn="r" marR="144780">
              <a:lnSpc>
                <a:spcPts val="1275"/>
              </a:lnSpc>
              <a:tabLst>
                <a:tab pos="1581785" algn="l"/>
              </a:tabLst>
            </a:pPr>
            <a:r>
              <a:rPr dirty="0" sz="1650" spc="-1060">
                <a:latin typeface="Cambria"/>
                <a:cs typeface="Cambria"/>
              </a:rPr>
              <a:t>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1060">
                <a:latin typeface="Cambria"/>
                <a:cs typeface="Cambria"/>
              </a:rPr>
              <a:t></a:t>
            </a:r>
            <a:endParaRPr sz="1650">
              <a:latin typeface="Cambria"/>
              <a:cs typeface="Cambria"/>
            </a:endParaRPr>
          </a:p>
          <a:p>
            <a:pPr algn="r" marR="144780">
              <a:lnSpc>
                <a:spcPts val="1495"/>
              </a:lnSpc>
              <a:tabLst>
                <a:tab pos="217804" algn="l"/>
                <a:tab pos="510540" algn="l"/>
                <a:tab pos="933450" algn="l"/>
                <a:tab pos="1487805" algn="l"/>
              </a:tabLst>
            </a:pPr>
            <a:r>
              <a:rPr dirty="0" baseline="-13468" sz="2475" spc="-1589">
                <a:latin typeface="Cambria"/>
                <a:cs typeface="Cambria"/>
              </a:rPr>
              <a:t></a:t>
            </a:r>
            <a:r>
              <a:rPr dirty="0" baseline="-13468" sz="2475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35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35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620">
                <a:latin typeface="Cambria"/>
                <a:cs typeface="Cambria"/>
              </a:rPr>
              <a:t>1</a:t>
            </a:r>
            <a:r>
              <a:rPr dirty="0" baseline="-13468" sz="2475" spc="-930">
                <a:latin typeface="Cambria"/>
                <a:cs typeface="Cambria"/>
              </a:rPr>
              <a:t></a:t>
            </a:r>
            <a:endParaRPr baseline="-13468" sz="2475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650">
              <a:latin typeface="Cambria"/>
              <a:cs typeface="Cambria"/>
            </a:endParaRPr>
          </a:p>
          <a:p>
            <a:pPr marL="172085">
              <a:lnSpc>
                <a:spcPct val="100000"/>
              </a:lnSpc>
              <a:spcBef>
                <a:spcPts val="5"/>
              </a:spcBef>
              <a:tabLst>
                <a:tab pos="390525" algn="l"/>
                <a:tab pos="682625" algn="l"/>
                <a:tab pos="1236980" algn="l"/>
                <a:tab pos="1529080" algn="l"/>
              </a:tabLst>
            </a:pPr>
            <a:r>
              <a:rPr dirty="0" baseline="-3367" sz="2475" spc="-1589">
                <a:latin typeface="Cambria"/>
                <a:cs typeface="Cambria"/>
              </a:rPr>
              <a:t></a:t>
            </a:r>
            <a:r>
              <a:rPr dirty="0" baseline="-3367" sz="2475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35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355">
                <a:latin typeface="Cambria"/>
                <a:cs typeface="Cambria"/>
              </a:rPr>
              <a:t>–1</a:t>
            </a:r>
            <a:r>
              <a:rPr dirty="0" baseline="-3367" sz="2475" spc="-532">
                <a:latin typeface="Cambria"/>
                <a:cs typeface="Cambria"/>
              </a:rPr>
              <a:t></a:t>
            </a:r>
            <a:endParaRPr baseline="-3367" sz="2475">
              <a:latin typeface="Cambria"/>
              <a:cs typeface="Cambria"/>
            </a:endParaRPr>
          </a:p>
          <a:p>
            <a:pPr marL="172085">
              <a:lnSpc>
                <a:spcPct val="100000"/>
              </a:lnSpc>
              <a:spcBef>
                <a:spcPts val="565"/>
              </a:spcBef>
              <a:tabLst>
                <a:tab pos="813435" algn="l"/>
                <a:tab pos="1105535" algn="l"/>
                <a:tab pos="1753870" algn="l"/>
              </a:tabLst>
            </a:pPr>
            <a:r>
              <a:rPr dirty="0" baseline="26936" sz="2475" spc="-465">
                <a:latin typeface="Cambria"/>
                <a:cs typeface="Cambria"/>
              </a:rPr>
              <a:t></a:t>
            </a:r>
            <a:r>
              <a:rPr dirty="0" sz="1650" spc="-310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35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baseline="-28619" sz="2475" spc="-1589">
                <a:latin typeface="Cambria"/>
                <a:cs typeface="Cambria"/>
              </a:rPr>
              <a:t></a:t>
            </a:r>
            <a:endParaRPr baseline="-28619" sz="2475">
              <a:latin typeface="Cambria"/>
              <a:cs typeface="Cambria"/>
            </a:endParaRPr>
          </a:p>
          <a:p>
            <a:pPr marL="172085">
              <a:lnSpc>
                <a:spcPct val="100000"/>
              </a:lnSpc>
              <a:spcBef>
                <a:spcPts val="570"/>
              </a:spcBef>
              <a:tabLst>
                <a:tab pos="390525" algn="l"/>
                <a:tab pos="682625" algn="l"/>
                <a:tab pos="1236980" algn="l"/>
                <a:tab pos="1529080" algn="l"/>
              </a:tabLst>
            </a:pPr>
            <a:r>
              <a:rPr dirty="0" baseline="3367" sz="2475" spc="-1589">
                <a:latin typeface="Cambria"/>
                <a:cs typeface="Cambria"/>
              </a:rPr>
              <a:t></a:t>
            </a:r>
            <a:r>
              <a:rPr dirty="0" baseline="3367" sz="2475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35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355">
                <a:latin typeface="Cambria"/>
                <a:cs typeface="Cambria"/>
              </a:rPr>
              <a:t>–1</a:t>
            </a:r>
            <a:r>
              <a:rPr dirty="0" baseline="3367" sz="2475" spc="-532">
                <a:latin typeface="Cambria"/>
                <a:cs typeface="Cambria"/>
              </a:rPr>
              <a:t></a:t>
            </a:r>
            <a:endParaRPr baseline="3367" sz="2475">
              <a:latin typeface="Cambria"/>
              <a:cs typeface="Cambria"/>
            </a:endParaRPr>
          </a:p>
          <a:p>
            <a:pPr marL="172085">
              <a:lnSpc>
                <a:spcPts val="1195"/>
              </a:lnSpc>
              <a:spcBef>
                <a:spcPts val="565"/>
              </a:spcBef>
              <a:tabLst>
                <a:tab pos="813435" algn="l"/>
                <a:tab pos="1105535" algn="l"/>
                <a:tab pos="1659889" algn="l"/>
              </a:tabLst>
            </a:pPr>
            <a:r>
              <a:rPr dirty="0" baseline="33670" sz="2475" spc="-465">
                <a:latin typeface="Cambria"/>
                <a:cs typeface="Cambria"/>
              </a:rPr>
              <a:t></a:t>
            </a:r>
            <a:r>
              <a:rPr dirty="0" sz="1650" spc="-310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35">
                <a:latin typeface="Cambria"/>
                <a:cs typeface="Cambria"/>
              </a:rPr>
              <a:t>–1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620">
                <a:latin typeface="Cambria"/>
                <a:cs typeface="Cambria"/>
              </a:rPr>
              <a:t>1</a:t>
            </a:r>
            <a:r>
              <a:rPr dirty="0" baseline="33670" sz="2475" spc="-930">
                <a:latin typeface="Cambria"/>
                <a:cs typeface="Cambria"/>
              </a:rPr>
              <a:t></a:t>
            </a:r>
            <a:endParaRPr baseline="33670" sz="2475">
              <a:latin typeface="Cambria"/>
              <a:cs typeface="Cambria"/>
            </a:endParaRPr>
          </a:p>
          <a:p>
            <a:pPr algn="r" marR="149860">
              <a:lnSpc>
                <a:spcPts val="1195"/>
              </a:lnSpc>
            </a:pPr>
            <a:r>
              <a:rPr dirty="0" sz="1650" spc="-1060">
                <a:latin typeface="Cambria"/>
                <a:cs typeface="Cambria"/>
              </a:rPr>
              <a:t>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1572" y="5702858"/>
            <a:ext cx="105092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1650" b="1">
                <a:latin typeface="Cambria"/>
                <a:cs typeface="Cambria"/>
              </a:rPr>
              <a:t>x</a:t>
            </a:r>
            <a:r>
              <a:rPr dirty="0" baseline="43859" sz="1425">
                <a:latin typeface="Cambria"/>
                <a:cs typeface="Cambria"/>
              </a:rPr>
              <a:t>2</a:t>
            </a:r>
            <a:r>
              <a:rPr dirty="0" baseline="43859" sz="1425" spc="-37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(</a:t>
            </a:r>
            <a:r>
              <a:rPr dirty="0" sz="1650" b="1">
                <a:latin typeface="Cambria"/>
                <a:cs typeface="Cambria"/>
              </a:rPr>
              <a:t>x</a:t>
            </a:r>
            <a:r>
              <a:rPr dirty="0" baseline="43859" sz="1425">
                <a:latin typeface="Cambria"/>
                <a:cs typeface="Cambria"/>
              </a:rPr>
              <a:t>2</a:t>
            </a:r>
            <a:r>
              <a:rPr dirty="0" baseline="43859" sz="1425" spc="-30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)</a:t>
            </a:r>
            <a:r>
              <a:rPr dirty="0" baseline="43859" sz="1425" i="1">
                <a:latin typeface="Cambria"/>
                <a:cs typeface="Cambria"/>
              </a:rPr>
              <a:t>T</a:t>
            </a:r>
            <a:r>
              <a:rPr dirty="0" baseline="43859" sz="1425" spc="727" i="1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=</a:t>
            </a:r>
            <a:r>
              <a:rPr dirty="0" sz="1650" spc="55">
                <a:latin typeface="Cambria"/>
                <a:cs typeface="Cambria"/>
              </a:rPr>
              <a:t> </a:t>
            </a:r>
            <a:r>
              <a:rPr dirty="0" baseline="13468" sz="2475" spc="-1589">
                <a:latin typeface="Cambria"/>
                <a:cs typeface="Cambria"/>
              </a:rPr>
              <a:t></a:t>
            </a:r>
            <a:endParaRPr baseline="13468" sz="2475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443086" y="3152279"/>
            <a:ext cx="10795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60">
                <a:latin typeface="Cambria"/>
                <a:cs typeface="Cambria"/>
              </a:rPr>
              <a:t>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00011" y="2972625"/>
            <a:ext cx="10795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60">
                <a:latin typeface="Cambria"/>
                <a:cs typeface="Cambria"/>
              </a:rPr>
              <a:t>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700011" y="2766034"/>
            <a:ext cx="10795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60">
                <a:latin typeface="Cambria"/>
                <a:cs typeface="Cambria"/>
              </a:rPr>
              <a:t>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700011" y="3152279"/>
            <a:ext cx="10795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60">
                <a:latin typeface="Cambria"/>
                <a:cs typeface="Cambria"/>
              </a:rPr>
              <a:t>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700011" y="2146236"/>
            <a:ext cx="10795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60">
                <a:latin typeface="Cambria"/>
                <a:cs typeface="Cambria"/>
              </a:rPr>
              <a:t>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306854" y="2972625"/>
            <a:ext cx="26987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baseline="-33670" sz="2475" spc="-832">
                <a:latin typeface="Cambria"/>
                <a:cs typeface="Cambria"/>
              </a:rPr>
              <a:t>2</a:t>
            </a:r>
            <a:r>
              <a:rPr dirty="0" sz="1650" spc="-555">
                <a:latin typeface="Cambria"/>
                <a:cs typeface="Cambria"/>
              </a:rPr>
              <a:t>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306854" y="2352827"/>
            <a:ext cx="26987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baseline="-26936" sz="2475" spc="-832">
                <a:latin typeface="Cambria"/>
                <a:cs typeface="Cambria"/>
              </a:rPr>
              <a:t>0</a:t>
            </a:r>
            <a:r>
              <a:rPr dirty="0" sz="1650" spc="-555">
                <a:latin typeface="Cambria"/>
                <a:cs typeface="Cambria"/>
              </a:rPr>
              <a:t>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636511" y="2064641"/>
            <a:ext cx="1965325" cy="131889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655"/>
              </a:spcBef>
              <a:tabLst>
                <a:tab pos="626745" algn="l"/>
                <a:tab pos="1244600" algn="l"/>
                <a:tab pos="1708150" algn="l"/>
              </a:tabLst>
            </a:pPr>
            <a:r>
              <a:rPr dirty="0" sz="1650" spc="-50">
                <a:latin typeface="Cambria"/>
                <a:cs typeface="Cambria"/>
              </a:rPr>
              <a:t>2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95">
                <a:latin typeface="Cambria"/>
                <a:cs typeface="Cambria"/>
              </a:rPr>
              <a:t>–</a:t>
            </a:r>
            <a:r>
              <a:rPr dirty="0" sz="1650" spc="-75">
                <a:latin typeface="Cambria"/>
                <a:cs typeface="Cambria"/>
              </a:rPr>
              <a:t> </a:t>
            </a:r>
            <a:r>
              <a:rPr dirty="0" sz="1650" spc="-50">
                <a:latin typeface="Cambria"/>
                <a:cs typeface="Cambria"/>
              </a:rPr>
              <a:t>2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0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55">
                <a:latin typeface="Cambria"/>
                <a:cs typeface="Cambria"/>
              </a:rPr>
              <a:t>0</a:t>
            </a:r>
            <a:r>
              <a:rPr dirty="0" baseline="-3367" sz="2475" spc="-832">
                <a:latin typeface="Cambria"/>
                <a:cs typeface="Cambria"/>
              </a:rPr>
              <a:t></a:t>
            </a:r>
            <a:endParaRPr baseline="-3367" sz="2475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  <a:spcBef>
                <a:spcPts val="570"/>
              </a:spcBef>
              <a:tabLst>
                <a:tab pos="781050" algn="l"/>
                <a:tab pos="1244600" algn="l"/>
                <a:tab pos="1818639" algn="l"/>
              </a:tabLst>
            </a:pPr>
            <a:r>
              <a:rPr dirty="0" baseline="26936" sz="2475" spc="-660">
                <a:latin typeface="Cambria"/>
                <a:cs typeface="Cambria"/>
              </a:rPr>
              <a:t></a:t>
            </a:r>
            <a:r>
              <a:rPr dirty="0" sz="1650" spc="-440">
                <a:latin typeface="Cambria"/>
                <a:cs typeface="Cambria"/>
              </a:rPr>
              <a:t>–</a:t>
            </a:r>
            <a:r>
              <a:rPr dirty="0" sz="1650" spc="-70">
                <a:latin typeface="Cambria"/>
                <a:cs typeface="Cambria"/>
              </a:rPr>
              <a:t> </a:t>
            </a:r>
            <a:r>
              <a:rPr dirty="0" sz="1650" spc="-50">
                <a:latin typeface="Cambria"/>
                <a:cs typeface="Cambria"/>
              </a:rPr>
              <a:t>2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2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0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baseline="-28619" sz="2475" spc="-1589">
                <a:latin typeface="Cambria"/>
                <a:cs typeface="Cambria"/>
              </a:rPr>
              <a:t></a:t>
            </a:r>
            <a:endParaRPr baseline="-28619" sz="2475">
              <a:latin typeface="Cambria"/>
              <a:cs typeface="Cambria"/>
            </a:endParaRPr>
          </a:p>
          <a:p>
            <a:pPr marL="317500">
              <a:lnSpc>
                <a:spcPct val="100000"/>
              </a:lnSpc>
              <a:spcBef>
                <a:spcPts val="565"/>
              </a:spcBef>
              <a:tabLst>
                <a:tab pos="781050" algn="l"/>
                <a:tab pos="1244600" algn="l"/>
                <a:tab pos="1553845" algn="l"/>
              </a:tabLst>
            </a:pPr>
            <a:r>
              <a:rPr dirty="0" sz="1650" spc="-50">
                <a:latin typeface="Cambria"/>
                <a:cs typeface="Cambria"/>
              </a:rPr>
              <a:t>0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0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2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95">
                <a:latin typeface="Cambria"/>
                <a:cs typeface="Cambria"/>
              </a:rPr>
              <a:t>–</a:t>
            </a:r>
            <a:r>
              <a:rPr dirty="0" sz="1650" spc="-75">
                <a:latin typeface="Cambria"/>
                <a:cs typeface="Cambria"/>
              </a:rPr>
              <a:t> </a:t>
            </a:r>
            <a:r>
              <a:rPr dirty="0" sz="1650" spc="-555">
                <a:latin typeface="Cambria"/>
                <a:cs typeface="Cambria"/>
              </a:rPr>
              <a:t>2</a:t>
            </a:r>
            <a:r>
              <a:rPr dirty="0" baseline="3367" sz="2475" spc="-832">
                <a:latin typeface="Cambria"/>
                <a:cs typeface="Cambria"/>
              </a:rPr>
              <a:t></a:t>
            </a:r>
            <a:endParaRPr baseline="3367" sz="2475">
              <a:latin typeface="Cambria"/>
              <a:cs typeface="Cambria"/>
            </a:endParaRPr>
          </a:p>
          <a:p>
            <a:pPr marL="317500">
              <a:lnSpc>
                <a:spcPct val="100000"/>
              </a:lnSpc>
              <a:spcBef>
                <a:spcPts val="565"/>
              </a:spcBef>
              <a:tabLst>
                <a:tab pos="781050" algn="l"/>
                <a:tab pos="1090295" algn="l"/>
              </a:tabLst>
            </a:pPr>
            <a:r>
              <a:rPr dirty="0" sz="1650" spc="-50">
                <a:latin typeface="Cambria"/>
                <a:cs typeface="Cambria"/>
              </a:rPr>
              <a:t>0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-50">
                <a:latin typeface="Cambria"/>
                <a:cs typeface="Cambria"/>
              </a:rPr>
              <a:t>0</a:t>
            </a:r>
            <a:r>
              <a:rPr dirty="0" sz="1650">
                <a:latin typeface="Cambria"/>
                <a:cs typeface="Cambria"/>
              </a:rPr>
              <a:t>	</a:t>
            </a:r>
            <a:r>
              <a:rPr dirty="0" sz="1650" spc="95">
                <a:latin typeface="Cambria"/>
                <a:cs typeface="Cambria"/>
              </a:rPr>
              <a:t>–</a:t>
            </a:r>
            <a:r>
              <a:rPr dirty="0" sz="1650" spc="-75">
                <a:latin typeface="Cambria"/>
                <a:cs typeface="Cambria"/>
              </a:rPr>
              <a:t> </a:t>
            </a:r>
            <a:r>
              <a:rPr dirty="0" sz="1650" spc="-50">
                <a:latin typeface="Cambria"/>
                <a:cs typeface="Cambria"/>
              </a:rPr>
              <a:t>2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964023" y="2612199"/>
            <a:ext cx="1869439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dirty="0" sz="1650" spc="-50" b="1">
                <a:latin typeface="Cambria"/>
                <a:cs typeface="Cambria"/>
              </a:rPr>
              <a:t>x</a:t>
            </a:r>
            <a:r>
              <a:rPr dirty="0" baseline="43859" sz="1425" spc="-75">
                <a:latin typeface="Cambria"/>
                <a:cs typeface="Cambria"/>
              </a:rPr>
              <a:t>1</a:t>
            </a:r>
            <a:r>
              <a:rPr dirty="0" baseline="43859" sz="1425" spc="-142">
                <a:latin typeface="Cambria"/>
                <a:cs typeface="Cambria"/>
              </a:rPr>
              <a:t> </a:t>
            </a:r>
            <a:r>
              <a:rPr dirty="0" sz="1650" spc="-40">
                <a:latin typeface="Cambria"/>
                <a:cs typeface="Cambria"/>
              </a:rPr>
              <a:t>(</a:t>
            </a:r>
            <a:r>
              <a:rPr dirty="0" sz="1650" spc="-40" b="1">
                <a:latin typeface="Cambria"/>
                <a:cs typeface="Cambria"/>
              </a:rPr>
              <a:t>x</a:t>
            </a:r>
            <a:r>
              <a:rPr dirty="0" baseline="43859" sz="1425" spc="-60">
                <a:latin typeface="Cambria"/>
                <a:cs typeface="Cambria"/>
              </a:rPr>
              <a:t>1</a:t>
            </a:r>
            <a:r>
              <a:rPr dirty="0" baseline="43859" sz="1425" spc="-142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)</a:t>
            </a:r>
            <a:r>
              <a:rPr dirty="0" baseline="43859" sz="1425" i="1">
                <a:latin typeface="Cambria"/>
                <a:cs typeface="Cambria"/>
              </a:rPr>
              <a:t>T</a:t>
            </a:r>
            <a:r>
              <a:rPr dirty="0" baseline="43859" sz="1425" spc="562" i="1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+</a:t>
            </a:r>
            <a:r>
              <a:rPr dirty="0" sz="1650" spc="-50">
                <a:latin typeface="Cambria"/>
                <a:cs typeface="Cambria"/>
              </a:rPr>
              <a:t> </a:t>
            </a:r>
            <a:r>
              <a:rPr dirty="0" sz="1650" b="1">
                <a:latin typeface="Cambria"/>
                <a:cs typeface="Cambria"/>
              </a:rPr>
              <a:t>x</a:t>
            </a:r>
            <a:r>
              <a:rPr dirty="0" baseline="43859" sz="1425">
                <a:latin typeface="Cambria"/>
                <a:cs typeface="Cambria"/>
              </a:rPr>
              <a:t>2</a:t>
            </a:r>
            <a:r>
              <a:rPr dirty="0" baseline="43859" sz="1425" spc="-30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(</a:t>
            </a:r>
            <a:r>
              <a:rPr dirty="0" sz="1650" b="1">
                <a:latin typeface="Cambria"/>
                <a:cs typeface="Cambria"/>
              </a:rPr>
              <a:t>x</a:t>
            </a:r>
            <a:r>
              <a:rPr dirty="0" baseline="43859" sz="1425">
                <a:latin typeface="Cambria"/>
                <a:cs typeface="Cambria"/>
              </a:rPr>
              <a:t>2</a:t>
            </a:r>
            <a:r>
              <a:rPr dirty="0" baseline="43859" sz="1425" spc="-30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)</a:t>
            </a:r>
            <a:r>
              <a:rPr dirty="0" baseline="43859" sz="1425" i="1">
                <a:latin typeface="Cambria"/>
                <a:cs typeface="Cambria"/>
              </a:rPr>
              <a:t>T</a:t>
            </a:r>
            <a:r>
              <a:rPr dirty="0" baseline="43859" sz="1425" spc="727" i="1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=</a:t>
            </a:r>
            <a:r>
              <a:rPr dirty="0" sz="1650" spc="55">
                <a:latin typeface="Cambria"/>
                <a:cs typeface="Cambria"/>
              </a:rPr>
              <a:t> </a:t>
            </a:r>
            <a:r>
              <a:rPr dirty="0" baseline="13468" sz="2475" spc="-1589">
                <a:latin typeface="Cambria"/>
                <a:cs typeface="Cambria"/>
              </a:rPr>
              <a:t></a:t>
            </a:r>
            <a:endParaRPr baseline="13468" sz="2475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894319" y="5119370"/>
            <a:ext cx="36893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5555" sz="3750" spc="-1245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 spc="-830">
                <a:solidFill>
                  <a:srgbClr val="0000FF"/>
                </a:solidFill>
                <a:latin typeface="Cambria"/>
                <a:cs typeface="Cambria"/>
              </a:rPr>
              <a:t>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724905" y="6030658"/>
            <a:ext cx="1473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600">
                <a:solidFill>
                  <a:srgbClr val="0000FF"/>
                </a:solidFill>
                <a:latin typeface="Cambria"/>
                <a:cs typeface="Cambria"/>
              </a:rPr>
              <a:t>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090789" y="6030658"/>
            <a:ext cx="1473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600">
                <a:solidFill>
                  <a:srgbClr val="0000FF"/>
                </a:solidFill>
                <a:latin typeface="Cambria"/>
                <a:cs typeface="Cambria"/>
              </a:rPr>
              <a:t>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648705" y="4695787"/>
            <a:ext cx="2640330" cy="1927225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845"/>
              </a:spcBef>
              <a:tabLst>
                <a:tab pos="396240" algn="l"/>
                <a:tab pos="850265" algn="l"/>
                <a:tab pos="1654175" algn="l"/>
                <a:tab pos="2283460" algn="l"/>
              </a:tabLst>
            </a:pPr>
            <a:r>
              <a:rPr dirty="0" baseline="-4444" sz="3750" spc="-2400">
                <a:solidFill>
                  <a:srgbClr val="0000FF"/>
                </a:solidFill>
                <a:latin typeface="Cambria"/>
                <a:cs typeface="Cambria"/>
              </a:rPr>
              <a:t></a:t>
            </a:r>
            <a:r>
              <a:rPr dirty="0" baseline="-4444" sz="375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25">
                <a:solidFill>
                  <a:srgbClr val="0000FF"/>
                </a:solidFill>
                <a:latin typeface="Cambria"/>
                <a:cs typeface="Cambria"/>
              </a:rPr>
              <a:t>–2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83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baseline="-4444" sz="3750" spc="-1245">
                <a:solidFill>
                  <a:srgbClr val="0000FF"/>
                </a:solidFill>
                <a:latin typeface="Cambria"/>
                <a:cs typeface="Cambria"/>
              </a:rPr>
              <a:t></a:t>
            </a:r>
            <a:endParaRPr baseline="-4444" sz="3750">
              <a:latin typeface="Cambria"/>
              <a:cs typeface="Cambria"/>
            </a:endParaRPr>
          </a:p>
          <a:p>
            <a:pPr marL="88900">
              <a:lnSpc>
                <a:spcPct val="100000"/>
              </a:lnSpc>
              <a:spcBef>
                <a:spcPts val="740"/>
              </a:spcBef>
              <a:tabLst>
                <a:tab pos="1025525" algn="l"/>
                <a:tab pos="1654175" algn="l"/>
                <a:tab pos="2454275" algn="l"/>
              </a:tabLst>
            </a:pPr>
            <a:r>
              <a:rPr dirty="0" baseline="25555" sz="3750" spc="-787">
                <a:solidFill>
                  <a:srgbClr val="0000FF"/>
                </a:solidFill>
                <a:latin typeface="Cambria"/>
                <a:cs typeface="Cambria"/>
              </a:rPr>
              <a:t></a:t>
            </a:r>
            <a:r>
              <a:rPr dirty="0" sz="2500" spc="-525">
                <a:solidFill>
                  <a:srgbClr val="0000FF"/>
                </a:solidFill>
                <a:latin typeface="Cambria"/>
                <a:cs typeface="Cambria"/>
              </a:rPr>
              <a:t>–2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baseline="-27777" sz="3750" spc="-2400">
                <a:solidFill>
                  <a:srgbClr val="0000FF"/>
                </a:solidFill>
                <a:latin typeface="Cambria"/>
                <a:cs typeface="Cambria"/>
              </a:rPr>
              <a:t></a:t>
            </a:r>
            <a:endParaRPr baseline="-27777" sz="3750">
              <a:latin typeface="Cambria"/>
              <a:cs typeface="Cambria"/>
            </a:endParaRPr>
          </a:p>
          <a:p>
            <a:pPr marL="88900">
              <a:lnSpc>
                <a:spcPct val="100000"/>
              </a:lnSpc>
              <a:spcBef>
                <a:spcPts val="745"/>
              </a:spcBef>
              <a:tabLst>
                <a:tab pos="396240" algn="l"/>
                <a:tab pos="1025525" algn="l"/>
                <a:tab pos="1654175" algn="l"/>
                <a:tab pos="2104390" algn="l"/>
              </a:tabLst>
            </a:pPr>
            <a:r>
              <a:rPr dirty="0" baseline="2222" sz="3750" spc="-2400">
                <a:solidFill>
                  <a:srgbClr val="0000FF"/>
                </a:solidFill>
                <a:latin typeface="Cambria"/>
                <a:cs typeface="Cambria"/>
              </a:rPr>
              <a:t></a:t>
            </a:r>
            <a:r>
              <a:rPr dirty="0" baseline="2222" sz="375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15">
                <a:solidFill>
                  <a:srgbClr val="0000FF"/>
                </a:solidFill>
                <a:latin typeface="Cambria"/>
                <a:cs typeface="Cambria"/>
              </a:rPr>
              <a:t>–2</a:t>
            </a:r>
            <a:r>
              <a:rPr dirty="0" baseline="2222" sz="3750" spc="-772">
                <a:solidFill>
                  <a:srgbClr val="0000FF"/>
                </a:solidFill>
                <a:latin typeface="Cambria"/>
                <a:cs typeface="Cambria"/>
              </a:rPr>
              <a:t></a:t>
            </a:r>
            <a:endParaRPr baseline="2222" sz="3750">
              <a:latin typeface="Cambria"/>
              <a:cs typeface="Cambria"/>
            </a:endParaRPr>
          </a:p>
          <a:p>
            <a:pPr marL="88900">
              <a:lnSpc>
                <a:spcPct val="100000"/>
              </a:lnSpc>
              <a:spcBef>
                <a:spcPts val="745"/>
              </a:spcBef>
              <a:tabLst>
                <a:tab pos="396240" algn="l"/>
                <a:tab pos="1025525" algn="l"/>
                <a:tab pos="1477645" algn="l"/>
                <a:tab pos="2283460" algn="l"/>
              </a:tabLst>
            </a:pPr>
            <a:r>
              <a:rPr dirty="0" baseline="-13333" sz="3750" spc="-2400">
                <a:solidFill>
                  <a:srgbClr val="0000FF"/>
                </a:solidFill>
                <a:latin typeface="Cambria"/>
                <a:cs typeface="Cambria"/>
              </a:rPr>
              <a:t></a:t>
            </a:r>
            <a:r>
              <a:rPr dirty="0" baseline="-13333" sz="375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25">
                <a:solidFill>
                  <a:srgbClr val="0000FF"/>
                </a:solidFill>
                <a:latin typeface="Cambria"/>
                <a:cs typeface="Cambria"/>
              </a:rPr>
              <a:t>–2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	</a:t>
            </a:r>
            <a:r>
              <a:rPr dirty="0" sz="2500" spc="-83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r>
              <a:rPr dirty="0" baseline="-13333" sz="3750" spc="-1245">
                <a:solidFill>
                  <a:srgbClr val="0000FF"/>
                </a:solidFill>
                <a:latin typeface="Cambria"/>
                <a:cs typeface="Cambria"/>
              </a:rPr>
              <a:t></a:t>
            </a:r>
            <a:endParaRPr baseline="-13333" sz="3750">
              <a:latin typeface="Cambria"/>
              <a:cs typeface="Cambr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052796" y="5499074"/>
            <a:ext cx="84518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500" spc="95" b="1">
                <a:solidFill>
                  <a:srgbClr val="0000FF"/>
                </a:solidFill>
                <a:latin typeface="Cambria"/>
                <a:cs typeface="Cambria"/>
              </a:rPr>
              <a:t>W</a:t>
            </a:r>
            <a:r>
              <a:rPr dirty="0" sz="2500" spc="45" b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50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dirty="0" sz="2500" spc="4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13333" sz="3750" spc="-2400">
                <a:solidFill>
                  <a:srgbClr val="0000FF"/>
                </a:solidFill>
                <a:latin typeface="Cambria"/>
                <a:cs typeface="Cambria"/>
              </a:rPr>
              <a:t></a:t>
            </a:r>
            <a:endParaRPr baseline="13333" sz="3750">
              <a:latin typeface="Cambria"/>
              <a:cs typeface="Cambr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789269" y="3739984"/>
            <a:ext cx="11620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50" i="1">
                <a:solidFill>
                  <a:srgbClr val="0000FF"/>
                </a:solidFill>
                <a:latin typeface="Cambria"/>
                <a:cs typeface="Cambria"/>
              </a:rPr>
              <a:t>p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003609" y="3726755"/>
            <a:ext cx="2646045" cy="88201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dirty="0" sz="2450" spc="90" b="1">
                <a:solidFill>
                  <a:srgbClr val="0000FF"/>
                </a:solidFill>
                <a:latin typeface="Cambria"/>
                <a:cs typeface="Cambria"/>
              </a:rPr>
              <a:t>W</a:t>
            </a:r>
            <a:r>
              <a:rPr dirty="0" sz="2450" spc="20" b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50">
                <a:solidFill>
                  <a:srgbClr val="0000FF"/>
                </a:solidFill>
                <a:latin typeface="Cambria"/>
                <a:cs typeface="Cambria"/>
              </a:rPr>
              <a:t>=</a:t>
            </a:r>
            <a:r>
              <a:rPr dirty="0" sz="2450" spc="-3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-8371" sz="5475" spc="442">
                <a:solidFill>
                  <a:srgbClr val="0000FF"/>
                </a:solidFill>
                <a:latin typeface="Cambria"/>
                <a:cs typeface="Cambria"/>
              </a:rPr>
              <a:t>Σ</a:t>
            </a:r>
            <a:r>
              <a:rPr dirty="0" sz="2450" spc="295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baseline="43650" sz="2100" spc="442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baseline="43650" sz="2100" spc="82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50">
                <a:solidFill>
                  <a:srgbClr val="0000FF"/>
                </a:solidFill>
                <a:latin typeface="Cambria"/>
                <a:cs typeface="Cambria"/>
              </a:rPr>
              <a:t>(</a:t>
            </a:r>
            <a:r>
              <a:rPr dirty="0" sz="2450" b="1">
                <a:solidFill>
                  <a:srgbClr val="0000FF"/>
                </a:solidFill>
                <a:latin typeface="Cambria"/>
                <a:cs typeface="Cambria"/>
              </a:rPr>
              <a:t>x</a:t>
            </a:r>
            <a:r>
              <a:rPr dirty="0" baseline="43650" sz="2100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baseline="43650" sz="2100" spc="82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50">
                <a:solidFill>
                  <a:srgbClr val="0000FF"/>
                </a:solidFill>
                <a:latin typeface="Cambria"/>
                <a:cs typeface="Cambria"/>
              </a:rPr>
              <a:t>)</a:t>
            </a:r>
            <a:r>
              <a:rPr dirty="0" baseline="43650" sz="2100" i="1">
                <a:solidFill>
                  <a:srgbClr val="0000FF"/>
                </a:solidFill>
                <a:latin typeface="Cambria"/>
                <a:cs typeface="Cambria"/>
              </a:rPr>
              <a:t>T</a:t>
            </a:r>
            <a:r>
              <a:rPr dirty="0" baseline="43650" sz="2100" spc="135" i="1">
                <a:solidFill>
                  <a:srgbClr val="0000FF"/>
                </a:solidFill>
                <a:latin typeface="Cambria"/>
                <a:cs typeface="Cambria"/>
              </a:rPr>
              <a:t>  </a:t>
            </a:r>
            <a:r>
              <a:rPr dirty="0" sz="2450" spc="120">
                <a:solidFill>
                  <a:srgbClr val="0000FF"/>
                </a:solidFill>
                <a:latin typeface="Cambria"/>
                <a:cs typeface="Cambria"/>
              </a:rPr>
              <a:t>–</a:t>
            </a:r>
            <a:r>
              <a:rPr dirty="0" sz="2450" spc="9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2450" spc="-25" i="1">
                <a:solidFill>
                  <a:srgbClr val="0000FF"/>
                </a:solidFill>
                <a:latin typeface="Cambria"/>
                <a:cs typeface="Cambria"/>
              </a:rPr>
              <a:t>p</a:t>
            </a:r>
            <a:r>
              <a:rPr dirty="0" sz="2450" spc="-25" b="1">
                <a:solidFill>
                  <a:srgbClr val="0000FF"/>
                </a:solidFill>
                <a:latin typeface="Cambria"/>
                <a:cs typeface="Cambria"/>
              </a:rPr>
              <a:t>I</a:t>
            </a:r>
            <a:endParaRPr sz="2450">
              <a:latin typeface="Cambria"/>
              <a:cs typeface="Cambria"/>
            </a:endParaRPr>
          </a:p>
          <a:p>
            <a:pPr marL="699770">
              <a:lnSpc>
                <a:spcPct val="100000"/>
              </a:lnSpc>
              <a:spcBef>
                <a:spcPts val="200"/>
              </a:spcBef>
            </a:pPr>
            <a:r>
              <a:rPr dirty="0" sz="1400" spc="-70" i="1">
                <a:solidFill>
                  <a:srgbClr val="0000FF"/>
                </a:solidFill>
                <a:latin typeface="Cambria"/>
                <a:cs typeface="Cambria"/>
              </a:rPr>
              <a:t>k</a:t>
            </a:r>
            <a:r>
              <a:rPr dirty="0" sz="1400" spc="-125" i="1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400" spc="-25">
                <a:solidFill>
                  <a:srgbClr val="0000FF"/>
                </a:solidFill>
                <a:latin typeface="Cambria"/>
                <a:cs typeface="Cambria"/>
              </a:rPr>
              <a:t>=1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Example</a:t>
            </a:r>
            <a:r>
              <a:rPr dirty="0" sz="4400" spc="-60"/>
              <a:t> </a:t>
            </a:r>
            <a:r>
              <a:rPr dirty="0" sz="4400"/>
              <a:t>1:</a:t>
            </a:r>
            <a:r>
              <a:rPr dirty="0" sz="4400" spc="-60"/>
              <a:t> </a:t>
            </a:r>
            <a:r>
              <a:rPr dirty="0" sz="4400"/>
              <a:t>Weights</a:t>
            </a:r>
            <a:r>
              <a:rPr dirty="0" sz="4400" spc="-65"/>
              <a:t> </a:t>
            </a:r>
            <a:r>
              <a:rPr dirty="0" sz="4400" spc="-10"/>
              <a:t>Matrix</a:t>
            </a:r>
            <a:endParaRPr sz="4400"/>
          </a:p>
        </p:txBody>
      </p:sp>
      <p:sp>
        <p:nvSpPr>
          <p:cNvPr id="30" name="object 30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37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2272" y="1909838"/>
            <a:ext cx="7703820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9800"/>
              </a:lnSpc>
              <a:spcBef>
                <a:spcPts val="100"/>
              </a:spcBef>
              <a:buClr>
                <a:srgbClr val="3333CC"/>
              </a:buClr>
              <a:buSzPct val="59615"/>
              <a:buChar char="■"/>
              <a:tabLst>
                <a:tab pos="927100" algn="l"/>
                <a:tab pos="2757805" algn="l"/>
                <a:tab pos="4249420" algn="l"/>
                <a:tab pos="4996180" algn="l"/>
              </a:tabLst>
            </a:pPr>
            <a:r>
              <a:rPr dirty="0" sz="2600">
                <a:latin typeface="Tahoma"/>
                <a:cs typeface="Tahoma"/>
              </a:rPr>
              <a:t>Use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a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4-</a:t>
            </a:r>
            <a:r>
              <a:rPr dirty="0" sz="2600">
                <a:latin typeface="Tahoma"/>
                <a:cs typeface="Tahoma"/>
              </a:rPr>
              <a:t>node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Hopfield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network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to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store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3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patterns: </a:t>
            </a:r>
            <a:r>
              <a:rPr dirty="0" sz="2600" spc="-10">
                <a:latin typeface="Tahoma"/>
                <a:cs typeface="Tahoma"/>
              </a:rPr>
              <a:t>	</a:t>
            </a:r>
            <a:r>
              <a:rPr dirty="0" sz="2600">
                <a:latin typeface="Tahoma"/>
                <a:cs typeface="Tahoma"/>
              </a:rPr>
              <a:t>(1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-</a:t>
            </a:r>
            <a:r>
              <a:rPr dirty="0" sz="2600" spc="-25">
                <a:latin typeface="Tahoma"/>
                <a:cs typeface="Tahoma"/>
              </a:rPr>
              <a:t>1),</a:t>
            </a:r>
            <a:r>
              <a:rPr dirty="0" sz="2600">
                <a:latin typeface="Tahoma"/>
                <a:cs typeface="Tahoma"/>
              </a:rPr>
              <a:t>	(1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1)</a:t>
            </a:r>
            <a:r>
              <a:rPr dirty="0" sz="2600">
                <a:latin typeface="Tahoma"/>
                <a:cs typeface="Tahoma"/>
              </a:rPr>
              <a:t>	</a:t>
            </a:r>
            <a:r>
              <a:rPr dirty="0" sz="2600" spc="-25">
                <a:latin typeface="Tahoma"/>
                <a:cs typeface="Tahoma"/>
              </a:rPr>
              <a:t>and</a:t>
            </a:r>
            <a:r>
              <a:rPr dirty="0" sz="2600">
                <a:latin typeface="Tahoma"/>
                <a:cs typeface="Tahoma"/>
              </a:rPr>
              <a:t>	</a:t>
            </a:r>
            <a:r>
              <a:rPr dirty="0" sz="2600" spc="-20">
                <a:latin typeface="Tahoma"/>
                <a:cs typeface="Tahoma"/>
              </a:rPr>
              <a:t>(-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10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1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1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1)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45172" y="2984766"/>
            <a:ext cx="13950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54166"/>
              <a:buChar char="■"/>
              <a:tabLst>
                <a:tab pos="242570" algn="l"/>
              </a:tabLst>
            </a:pPr>
            <a:r>
              <a:rPr dirty="0" sz="2400" spc="-10">
                <a:latin typeface="Tahoma"/>
                <a:cs typeface="Tahoma"/>
              </a:rPr>
              <a:t>weights: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6872" y="4726033"/>
            <a:ext cx="8124825" cy="201422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489"/>
              </a:spcBef>
              <a:buClr>
                <a:srgbClr val="3333CC"/>
              </a:buClr>
              <a:buSzPct val="59615"/>
              <a:buChar char="■"/>
              <a:tabLst>
                <a:tab pos="266700" algn="l"/>
              </a:tabLst>
            </a:pPr>
            <a:r>
              <a:rPr dirty="0" sz="2600">
                <a:latin typeface="Tahoma"/>
                <a:cs typeface="Tahoma"/>
              </a:rPr>
              <a:t>Corrupted</a:t>
            </a:r>
            <a:r>
              <a:rPr dirty="0" sz="2600" spc="-3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pattern: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(-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30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-</a:t>
            </a:r>
            <a:r>
              <a:rPr dirty="0" sz="2600" spc="-25">
                <a:latin typeface="Tahoma"/>
                <a:cs typeface="Tahoma"/>
              </a:rPr>
              <a:t>1)</a:t>
            </a:r>
            <a:endParaRPr sz="2600">
              <a:latin typeface="Tahoma"/>
              <a:cs typeface="Tahoma"/>
            </a:endParaRPr>
          </a:p>
          <a:p>
            <a:pPr lvl="1" marL="610870" indent="-229870">
              <a:lnSpc>
                <a:spcPts val="2620"/>
              </a:lnSpc>
              <a:spcBef>
                <a:spcPts val="355"/>
              </a:spcBef>
              <a:buClr>
                <a:srgbClr val="FF0000"/>
              </a:buClr>
              <a:buSzPct val="54166"/>
              <a:buChar char="■"/>
              <a:tabLst>
                <a:tab pos="610870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4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randomly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selected:</a:t>
            </a:r>
            <a:endParaRPr sz="2400">
              <a:latin typeface="Tahoma"/>
              <a:cs typeface="Tahoma"/>
            </a:endParaRPr>
          </a:p>
          <a:p>
            <a:pPr marL="381000">
              <a:lnSpc>
                <a:spcPts val="1975"/>
              </a:lnSpc>
            </a:pPr>
            <a:r>
              <a:rPr dirty="0" sz="2100">
                <a:latin typeface="Tahoma"/>
                <a:cs typeface="Tahoma"/>
              </a:rPr>
              <a:t>(-1/3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-1/3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1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0)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(-1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-1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-1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-1)</a:t>
            </a:r>
            <a:r>
              <a:rPr dirty="0" baseline="20576" sz="2025">
                <a:latin typeface="Tahoma"/>
                <a:cs typeface="Tahoma"/>
              </a:rPr>
              <a:t>T</a:t>
            </a:r>
            <a:r>
              <a:rPr dirty="0" baseline="20576" sz="2025" spc="322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+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(-1)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=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1/3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+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1/3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–1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–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0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–1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=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</a:t>
            </a:r>
            <a:r>
              <a:rPr dirty="0" sz="2100" spc="-25">
                <a:latin typeface="Tahoma"/>
                <a:cs typeface="Tahoma"/>
              </a:rPr>
              <a:t>4/3</a:t>
            </a:r>
            <a:endParaRPr sz="2100">
              <a:latin typeface="Tahoma"/>
              <a:cs typeface="Tahoma"/>
            </a:endParaRPr>
          </a:p>
          <a:p>
            <a:pPr lvl="1" marL="610870" indent="-229870">
              <a:lnSpc>
                <a:spcPts val="2305"/>
              </a:lnSpc>
              <a:buClr>
                <a:srgbClr val="FF0000"/>
              </a:buClr>
              <a:buSzPct val="54166"/>
              <a:buChar char="■"/>
              <a:tabLst>
                <a:tab pos="610870" algn="l"/>
              </a:tabLst>
            </a:pPr>
            <a:r>
              <a:rPr dirty="0" sz="2400">
                <a:latin typeface="Tahoma"/>
                <a:cs typeface="Tahoma"/>
              </a:rPr>
              <a:t>no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change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of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5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lvl="1" marL="610870" indent="-229870">
              <a:lnSpc>
                <a:spcPts val="2300"/>
              </a:lnSpc>
              <a:buClr>
                <a:srgbClr val="FF0000"/>
              </a:buClr>
              <a:buSzPct val="54166"/>
              <a:buChar char="■"/>
              <a:tabLst>
                <a:tab pos="610870" algn="l"/>
              </a:tabLst>
            </a:pPr>
            <a:r>
              <a:rPr dirty="0" sz="2400">
                <a:latin typeface="Tahoma"/>
                <a:cs typeface="Tahoma"/>
              </a:rPr>
              <a:t>same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for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all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other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nodes,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stabilized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(-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0">
                <a:latin typeface="Tahoma"/>
                <a:cs typeface="Tahoma"/>
              </a:rPr>
              <a:t> 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0">
                <a:latin typeface="Tahoma"/>
                <a:cs typeface="Tahoma"/>
              </a:rPr>
              <a:t> 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 spc="-25">
                <a:latin typeface="Tahoma"/>
                <a:cs typeface="Tahoma"/>
              </a:rPr>
              <a:t>1)</a:t>
            </a:r>
            <a:endParaRPr sz="2400">
              <a:latin typeface="Tahoma"/>
              <a:cs typeface="Tahoma"/>
            </a:endParaRPr>
          </a:p>
          <a:p>
            <a:pPr lvl="1" marL="610870" indent="-229870">
              <a:lnSpc>
                <a:spcPts val="2590"/>
              </a:lnSpc>
              <a:buClr>
                <a:srgbClr val="FF0000"/>
              </a:buClr>
              <a:buSzPct val="54166"/>
              <a:buChar char="■"/>
              <a:tabLst>
                <a:tab pos="610870" algn="l"/>
              </a:tabLst>
            </a:pP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spurious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recalled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61749" y="3249167"/>
            <a:ext cx="13208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61749" y="3783266"/>
            <a:ext cx="132080" cy="9467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340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  <a:p>
            <a:pPr marL="12700">
              <a:lnSpc>
                <a:spcPts val="2315"/>
              </a:lnSpc>
            </a:pPr>
            <a:r>
              <a:rPr dirty="0" sz="2150" spc="-1365">
                <a:latin typeface="Cambria"/>
                <a:cs typeface="Cambria"/>
              </a:rPr>
              <a:t></a:t>
            </a:r>
            <a:endParaRPr sz="2150">
              <a:latin typeface="Cambria"/>
              <a:cs typeface="Cambria"/>
            </a:endParaRPr>
          </a:p>
          <a:p>
            <a:pPr marL="12700">
              <a:lnSpc>
                <a:spcPts val="2555"/>
              </a:lnSpc>
            </a:pPr>
            <a:r>
              <a:rPr dirty="0" sz="2150" spc="-1365">
                <a:latin typeface="Cambria"/>
                <a:cs typeface="Cambria"/>
              </a:rPr>
              <a:t>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21127" y="3516223"/>
            <a:ext cx="13208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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21127" y="3249167"/>
            <a:ext cx="13208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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21127" y="4371060"/>
            <a:ext cx="13208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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21127" y="3070656"/>
            <a:ext cx="13208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50">
                <a:latin typeface="Cambria"/>
                <a:cs typeface="Cambria"/>
              </a:rPr>
              <a:t>(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21127" y="4050322"/>
            <a:ext cx="1410970" cy="613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290"/>
              </a:lnSpc>
              <a:spcBef>
                <a:spcPts val="135"/>
              </a:spcBef>
            </a:pPr>
            <a:r>
              <a:rPr dirty="0" sz="2150" spc="-1365">
                <a:latin typeface="Cambria"/>
                <a:cs typeface="Cambria"/>
              </a:rPr>
              <a:t></a:t>
            </a:r>
            <a:endParaRPr sz="2150">
              <a:latin typeface="Cambria"/>
              <a:cs typeface="Cambria"/>
            </a:endParaRPr>
          </a:p>
          <a:p>
            <a:pPr marL="151765">
              <a:lnSpc>
                <a:spcPts val="2290"/>
              </a:lnSpc>
            </a:pPr>
            <a:r>
              <a:rPr dirty="0" sz="2150" spc="-60">
                <a:latin typeface="Cambria"/>
                <a:cs typeface="Cambria"/>
              </a:rPr>
              <a:t>–1/</a:t>
            </a:r>
            <a:r>
              <a:rPr dirty="0" sz="2150" spc="-1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3</a:t>
            </a:r>
            <a:r>
              <a:rPr dirty="0" sz="2150" spc="105">
                <a:latin typeface="Cambria"/>
                <a:cs typeface="Cambria"/>
              </a:rPr>
              <a:t> </a:t>
            </a:r>
            <a:r>
              <a:rPr dirty="0" sz="2150" spc="-60">
                <a:latin typeface="Cambria"/>
                <a:cs typeface="Cambria"/>
              </a:rPr>
              <a:t>–1/</a:t>
            </a:r>
            <a:r>
              <a:rPr dirty="0" sz="2150" spc="-165">
                <a:latin typeface="Cambria"/>
                <a:cs typeface="Cambria"/>
              </a:rPr>
              <a:t> </a:t>
            </a:r>
            <a:r>
              <a:rPr dirty="0" sz="2150" spc="-50">
                <a:latin typeface="Cambria"/>
                <a:cs typeface="Cambria"/>
              </a:rPr>
              <a:t>3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70327" y="3801892"/>
            <a:ext cx="2658745" cy="861694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800"/>
              </a:spcBef>
              <a:tabLst>
                <a:tab pos="1731645" algn="l"/>
                <a:tab pos="2450465" algn="l"/>
              </a:tabLst>
            </a:pPr>
            <a:r>
              <a:rPr dirty="0" baseline="20671" sz="3225" spc="-457">
                <a:latin typeface="Cambria"/>
                <a:cs typeface="Cambria"/>
              </a:rPr>
              <a:t></a:t>
            </a:r>
            <a:r>
              <a:rPr dirty="0" sz="2150" spc="-305">
                <a:latin typeface="Cambria"/>
                <a:cs typeface="Cambria"/>
              </a:rPr>
              <a:t>–1/</a:t>
            </a:r>
            <a:r>
              <a:rPr dirty="0" sz="2150" spc="-1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3</a:t>
            </a:r>
            <a:r>
              <a:rPr dirty="0" sz="2150" spc="85">
                <a:latin typeface="Cambria"/>
                <a:cs typeface="Cambria"/>
              </a:rPr>
              <a:t> </a:t>
            </a:r>
            <a:r>
              <a:rPr dirty="0" sz="2150" spc="-60">
                <a:latin typeface="Cambria"/>
                <a:cs typeface="Cambria"/>
              </a:rPr>
              <a:t>–1/</a:t>
            </a:r>
            <a:r>
              <a:rPr dirty="0" sz="2150" spc="-160">
                <a:latin typeface="Cambria"/>
                <a:cs typeface="Cambria"/>
              </a:rPr>
              <a:t> </a:t>
            </a:r>
            <a:r>
              <a:rPr dirty="0" sz="2150" spc="-50">
                <a:latin typeface="Cambria"/>
                <a:cs typeface="Cambria"/>
              </a:rPr>
              <a:t>3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0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endParaRPr sz="2150">
              <a:latin typeface="Cambria"/>
              <a:cs typeface="Cambria"/>
            </a:endParaRPr>
          </a:p>
          <a:p>
            <a:pPr marL="1705610">
              <a:lnSpc>
                <a:spcPct val="100000"/>
              </a:lnSpc>
              <a:spcBef>
                <a:spcPts val="715"/>
              </a:spcBef>
              <a:tabLst>
                <a:tab pos="2480945" algn="l"/>
              </a:tabLst>
            </a:pP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0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13773" y="3468332"/>
            <a:ext cx="2718435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760730" algn="l"/>
                <a:tab pos="1301115" algn="l"/>
              </a:tabLst>
            </a:pP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0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60">
                <a:latin typeface="Cambria"/>
                <a:cs typeface="Cambria"/>
              </a:rPr>
              <a:t>–1/</a:t>
            </a:r>
            <a:r>
              <a:rPr dirty="0" sz="2150" spc="-1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3</a:t>
            </a:r>
            <a:r>
              <a:rPr dirty="0" sz="2150" spc="105">
                <a:latin typeface="Cambria"/>
                <a:cs typeface="Cambria"/>
              </a:rPr>
              <a:t> </a:t>
            </a:r>
            <a:r>
              <a:rPr dirty="0" sz="2150" spc="-60">
                <a:latin typeface="Cambria"/>
                <a:cs typeface="Cambria"/>
              </a:rPr>
              <a:t>–1/</a:t>
            </a:r>
            <a:r>
              <a:rPr dirty="0" sz="2150" spc="-165">
                <a:latin typeface="Cambria"/>
                <a:cs typeface="Cambria"/>
              </a:rPr>
              <a:t> </a:t>
            </a:r>
            <a:r>
              <a:rPr dirty="0" sz="2150" spc="-680">
                <a:latin typeface="Cambria"/>
                <a:cs typeface="Cambria"/>
              </a:rPr>
              <a:t>3</a:t>
            </a:r>
            <a:r>
              <a:rPr dirty="0" baseline="-10335" sz="3225" spc="-1019">
                <a:latin typeface="Cambria"/>
                <a:cs typeface="Cambria"/>
              </a:rPr>
              <a:t></a:t>
            </a:r>
            <a:endParaRPr baseline="-10335" sz="3225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065310" y="3050336"/>
            <a:ext cx="2628900" cy="3594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78815" algn="l"/>
                <a:tab pos="1249680" algn="l"/>
              </a:tabLst>
            </a:pPr>
            <a:r>
              <a:rPr dirty="0" sz="2150" spc="-50">
                <a:latin typeface="Cambria"/>
                <a:cs typeface="Cambria"/>
              </a:rPr>
              <a:t>0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50">
                <a:latin typeface="Cambria"/>
                <a:cs typeface="Cambria"/>
              </a:rPr>
              <a:t>1</a:t>
            </a:r>
            <a:r>
              <a:rPr dirty="0" sz="2150">
                <a:latin typeface="Cambria"/>
                <a:cs typeface="Cambria"/>
              </a:rPr>
              <a:t>	</a:t>
            </a:r>
            <a:r>
              <a:rPr dirty="0" sz="2150" spc="-60">
                <a:latin typeface="Cambria"/>
                <a:cs typeface="Cambria"/>
              </a:rPr>
              <a:t>–1/</a:t>
            </a:r>
            <a:r>
              <a:rPr dirty="0" sz="2150" spc="-16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3</a:t>
            </a:r>
            <a:r>
              <a:rPr dirty="0" sz="2150" spc="105">
                <a:latin typeface="Cambria"/>
                <a:cs typeface="Cambria"/>
              </a:rPr>
              <a:t> </a:t>
            </a:r>
            <a:r>
              <a:rPr dirty="0" sz="2150" spc="-60">
                <a:latin typeface="Cambria"/>
                <a:cs typeface="Cambria"/>
              </a:rPr>
              <a:t>–1/</a:t>
            </a:r>
            <a:r>
              <a:rPr dirty="0" sz="2150" spc="-165">
                <a:latin typeface="Cambria"/>
                <a:cs typeface="Cambria"/>
              </a:rPr>
              <a:t> </a:t>
            </a:r>
            <a:r>
              <a:rPr dirty="0" sz="2150" spc="-680">
                <a:latin typeface="Cambria"/>
                <a:cs typeface="Cambria"/>
              </a:rPr>
              <a:t>3</a:t>
            </a:r>
            <a:r>
              <a:rPr dirty="0" baseline="-3875" sz="3225" spc="-1019">
                <a:latin typeface="Cambria"/>
                <a:cs typeface="Cambria"/>
              </a:rPr>
              <a:t></a:t>
            </a:r>
            <a:endParaRPr baseline="-3875" sz="3225">
              <a:latin typeface="Cambria"/>
              <a:cs typeface="Cambr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Example</a:t>
            </a:r>
            <a:r>
              <a:rPr dirty="0" sz="4400" spc="-65"/>
              <a:t> </a:t>
            </a:r>
            <a:r>
              <a:rPr dirty="0" sz="4400"/>
              <a:t>2:</a:t>
            </a:r>
            <a:r>
              <a:rPr dirty="0" sz="4400" spc="-65"/>
              <a:t> </a:t>
            </a:r>
            <a:r>
              <a:rPr dirty="0" sz="4400"/>
              <a:t>Spurious</a:t>
            </a:r>
            <a:r>
              <a:rPr dirty="0" sz="4400" spc="-70"/>
              <a:t> </a:t>
            </a:r>
            <a:r>
              <a:rPr dirty="0" sz="4400" spc="-10"/>
              <a:t>State</a:t>
            </a:r>
            <a:endParaRPr sz="4400"/>
          </a:p>
        </p:txBody>
      </p:sp>
      <p:sp>
        <p:nvSpPr>
          <p:cNvPr id="16" name="object 16" descr=""/>
          <p:cNvSpPr txBox="1"/>
          <p:nvPr/>
        </p:nvSpPr>
        <p:spPr>
          <a:xfrm>
            <a:off x="8648700" y="6427787"/>
            <a:ext cx="22034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Tahoma"/>
                <a:cs typeface="Tahoma"/>
              </a:rPr>
              <a:t>38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2332" y="2124620"/>
            <a:ext cx="8150859" cy="2571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615"/>
              <a:buChar char="■"/>
              <a:tabLst>
                <a:tab pos="266700" algn="l"/>
              </a:tabLst>
            </a:pPr>
            <a:r>
              <a:rPr dirty="0" sz="2600">
                <a:latin typeface="Tahoma"/>
                <a:cs typeface="Tahoma"/>
              </a:rPr>
              <a:t>For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input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>
                <a:latin typeface="Tahoma"/>
                <a:cs typeface="Tahoma"/>
              </a:rPr>
              <a:t>pattern</a:t>
            </a:r>
            <a:r>
              <a:rPr dirty="0" sz="2600" spc="-2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(-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20">
                <a:latin typeface="Tahoma"/>
                <a:cs typeface="Tahoma"/>
              </a:rPr>
              <a:t> 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15">
                <a:latin typeface="Tahoma"/>
                <a:cs typeface="Tahoma"/>
              </a:rPr>
              <a:t> </a:t>
            </a:r>
            <a:r>
              <a:rPr dirty="0" sz="2600" spc="-20">
                <a:latin typeface="Tahoma"/>
                <a:cs typeface="Tahoma"/>
              </a:rPr>
              <a:t>-</a:t>
            </a:r>
            <a:r>
              <a:rPr dirty="0" sz="2600">
                <a:latin typeface="Tahoma"/>
                <a:cs typeface="Tahoma"/>
              </a:rPr>
              <a:t>1</a:t>
            </a:r>
            <a:r>
              <a:rPr dirty="0" sz="2600" spc="-20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0)</a:t>
            </a:r>
            <a:endParaRPr sz="2600">
              <a:latin typeface="Tahoma"/>
              <a:cs typeface="Tahoma"/>
            </a:endParaRPr>
          </a:p>
          <a:p>
            <a:pPr lvl="1" marL="610870" indent="-229870">
              <a:lnSpc>
                <a:spcPct val="100000"/>
              </a:lnSpc>
              <a:buClr>
                <a:srgbClr val="FF0000"/>
              </a:buClr>
              <a:buSzPct val="54166"/>
              <a:buChar char="■"/>
              <a:tabLst>
                <a:tab pos="610870" algn="l"/>
              </a:tabLst>
            </a:pP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4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selected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first</a:t>
            </a:r>
            <a:endParaRPr sz="2400">
              <a:latin typeface="Tahoma"/>
              <a:cs typeface="Tahoma"/>
            </a:endParaRPr>
          </a:p>
          <a:p>
            <a:pPr marL="381000">
              <a:lnSpc>
                <a:spcPct val="100000"/>
              </a:lnSpc>
            </a:pPr>
            <a:r>
              <a:rPr dirty="0" sz="2100">
                <a:latin typeface="Tahoma"/>
                <a:cs typeface="Tahoma"/>
              </a:rPr>
              <a:t>(-1/3</a:t>
            </a:r>
            <a:r>
              <a:rPr dirty="0" sz="2100" spc="-2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-1/3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1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0)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(-1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-1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-1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 spc="-10">
                <a:latin typeface="Tahoma"/>
                <a:cs typeface="Tahoma"/>
              </a:rPr>
              <a:t>0)</a:t>
            </a:r>
            <a:r>
              <a:rPr dirty="0" sz="2100" spc="-235">
                <a:latin typeface="Tahoma"/>
                <a:cs typeface="Tahoma"/>
              </a:rPr>
              <a:t> </a:t>
            </a:r>
            <a:r>
              <a:rPr dirty="0" baseline="20576" sz="2025">
                <a:latin typeface="Tahoma"/>
                <a:cs typeface="Tahoma"/>
              </a:rPr>
              <a:t>T</a:t>
            </a:r>
            <a:r>
              <a:rPr dirty="0" baseline="20576" sz="2025" spc="33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+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(0)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=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1/3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+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1/3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–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1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–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0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–</a:t>
            </a:r>
            <a:r>
              <a:rPr dirty="0" sz="2100" spc="-2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0</a:t>
            </a:r>
            <a:r>
              <a:rPr dirty="0" sz="2100" spc="-15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=</a:t>
            </a:r>
            <a:r>
              <a:rPr dirty="0" sz="2100" spc="-10">
                <a:latin typeface="Tahoma"/>
                <a:cs typeface="Tahoma"/>
              </a:rPr>
              <a:t> </a:t>
            </a:r>
            <a:r>
              <a:rPr dirty="0" sz="2100">
                <a:latin typeface="Tahoma"/>
                <a:cs typeface="Tahoma"/>
              </a:rPr>
              <a:t>-</a:t>
            </a:r>
            <a:r>
              <a:rPr dirty="0" sz="2100" spc="-25">
                <a:latin typeface="Tahoma"/>
                <a:cs typeface="Tahoma"/>
              </a:rPr>
              <a:t>1/3</a:t>
            </a:r>
            <a:endParaRPr sz="2100">
              <a:latin typeface="Tahoma"/>
              <a:cs typeface="Tahoma"/>
            </a:endParaRPr>
          </a:p>
          <a:p>
            <a:pPr lvl="1" marL="610870" indent="-229870">
              <a:lnSpc>
                <a:spcPct val="100000"/>
              </a:lnSpc>
              <a:buClr>
                <a:srgbClr val="FF0000"/>
              </a:buClr>
              <a:buSzPct val="54166"/>
              <a:buChar char="■"/>
              <a:tabLst>
                <a:tab pos="610870" algn="l"/>
              </a:tabLst>
            </a:pPr>
            <a:r>
              <a:rPr dirty="0" sz="2400">
                <a:latin typeface="Tahoma"/>
                <a:cs typeface="Tahoma"/>
              </a:rPr>
              <a:t>node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4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changes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10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1: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(-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0">
                <a:latin typeface="Tahoma"/>
                <a:cs typeface="Tahoma"/>
              </a:rPr>
              <a:t> 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 spc="-25">
                <a:latin typeface="Tahoma"/>
                <a:cs typeface="Tahoma"/>
              </a:rPr>
              <a:t>1)</a:t>
            </a:r>
            <a:endParaRPr sz="2400">
              <a:latin typeface="Tahoma"/>
              <a:cs typeface="Tahoma"/>
            </a:endParaRPr>
          </a:p>
          <a:p>
            <a:pPr lvl="1" marL="610870" indent="-229870">
              <a:lnSpc>
                <a:spcPct val="100000"/>
              </a:lnSpc>
              <a:buClr>
                <a:srgbClr val="FF0000"/>
              </a:buClr>
              <a:buSzPct val="54166"/>
              <a:buChar char="■"/>
              <a:tabLst>
                <a:tab pos="610870" algn="l"/>
              </a:tabLst>
            </a:pPr>
            <a:r>
              <a:rPr dirty="0" sz="2400">
                <a:latin typeface="Tahoma"/>
                <a:cs typeface="Tahoma"/>
              </a:rPr>
              <a:t>network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stabilizes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20">
                <a:latin typeface="Tahoma"/>
                <a:cs typeface="Tahoma"/>
              </a:rPr>
              <a:t> (-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 spc="-25">
                <a:latin typeface="Tahoma"/>
                <a:cs typeface="Tahoma"/>
              </a:rPr>
              <a:t>1)</a:t>
            </a:r>
            <a:endParaRPr sz="2400">
              <a:latin typeface="Tahoma"/>
              <a:cs typeface="Tahoma"/>
            </a:endParaRPr>
          </a:p>
          <a:p>
            <a:pPr lvl="1" marL="609600" marR="197485" indent="-228600">
              <a:lnSpc>
                <a:spcPct val="100000"/>
              </a:lnSpc>
              <a:buSzPct val="54166"/>
              <a:buChar char="■"/>
              <a:tabLst>
                <a:tab pos="609600" algn="l"/>
                <a:tab pos="610870" algn="l"/>
              </a:tabLst>
            </a:pPr>
            <a:r>
              <a:rPr dirty="0" sz="240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dirty="0" sz="2400">
                <a:latin typeface="Tahoma"/>
                <a:cs typeface="Tahoma"/>
              </a:rPr>
              <a:t>however,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if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node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selection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sequence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is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1&gt;2&gt;3&gt;4, </a:t>
            </a:r>
            <a:r>
              <a:rPr dirty="0" sz="2400">
                <a:latin typeface="Tahoma"/>
                <a:cs typeface="Tahoma"/>
              </a:rPr>
              <a:t>the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net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stabilizes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at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</a:t>
            </a:r>
            <a:r>
              <a:rPr dirty="0" sz="2400" spc="-20">
                <a:latin typeface="Tahoma"/>
                <a:cs typeface="Tahoma"/>
              </a:rPr>
              <a:t> (-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20">
                <a:latin typeface="Tahoma"/>
                <a:cs typeface="Tahoma"/>
              </a:rPr>
              <a:t>-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1):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correct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pattern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450321" y="5488647"/>
            <a:ext cx="125095" cy="908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210"/>
              </a:lnSpc>
              <a:spcBef>
                <a:spcPts val="90"/>
              </a:spcBef>
            </a:pPr>
            <a:r>
              <a:rPr dirty="0" sz="2050" spc="-1325">
                <a:latin typeface="Cambria"/>
                <a:cs typeface="Cambria"/>
              </a:rPr>
              <a:t></a:t>
            </a:r>
            <a:endParaRPr sz="2050">
              <a:latin typeface="Cambria"/>
              <a:cs typeface="Cambria"/>
            </a:endParaRPr>
          </a:p>
          <a:p>
            <a:pPr marL="12700">
              <a:lnSpc>
                <a:spcPts val="2210"/>
              </a:lnSpc>
            </a:pPr>
            <a:r>
              <a:rPr dirty="0" sz="2050" spc="-1325">
                <a:latin typeface="Cambria"/>
                <a:cs typeface="Cambria"/>
              </a:rPr>
              <a:t></a:t>
            </a:r>
            <a:endParaRPr sz="20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2050" spc="-1325">
                <a:latin typeface="Cambria"/>
                <a:cs typeface="Cambria"/>
              </a:rPr>
              <a:t>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15667" y="5737021"/>
            <a:ext cx="125095" cy="6604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325">
                <a:latin typeface="Cambria"/>
                <a:cs typeface="Cambria"/>
              </a:rPr>
              <a:t></a:t>
            </a:r>
            <a:endParaRPr sz="20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2050" spc="-1325">
                <a:latin typeface="Cambria"/>
                <a:cs typeface="Cambria"/>
              </a:rPr>
              <a:t>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915667" y="5240273"/>
            <a:ext cx="12509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1325">
                <a:latin typeface="Cambria"/>
                <a:cs typeface="Cambria"/>
              </a:rPr>
              <a:t>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15667" y="5073459"/>
            <a:ext cx="12509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-50">
                <a:latin typeface="Cambria"/>
                <a:cs typeface="Cambria"/>
              </a:rPr>
              <a:t>(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46846" y="5682894"/>
            <a:ext cx="2186305" cy="649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29209">
              <a:lnSpc>
                <a:spcPct val="100000"/>
              </a:lnSpc>
              <a:spcBef>
                <a:spcPts val="90"/>
              </a:spcBef>
              <a:tabLst>
                <a:tab pos="618490" algn="l"/>
              </a:tabLst>
            </a:pPr>
            <a:r>
              <a:rPr dirty="0" sz="2050" spc="-50">
                <a:latin typeface="Cambria"/>
                <a:cs typeface="Cambria"/>
              </a:rPr>
              <a:t>0</a:t>
            </a:r>
            <a:r>
              <a:rPr dirty="0" sz="2050">
                <a:latin typeface="Cambria"/>
                <a:cs typeface="Cambria"/>
              </a:rPr>
              <a:t>	</a:t>
            </a:r>
            <a:r>
              <a:rPr dirty="0" sz="2050" spc="-50">
                <a:latin typeface="Cambria"/>
                <a:cs typeface="Cambria"/>
              </a:rPr>
              <a:t>1</a:t>
            </a:r>
            <a:endParaRPr sz="205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  <a:tabLst>
                <a:tab pos="1362710" algn="l"/>
                <a:tab pos="2030095" algn="l"/>
              </a:tabLst>
            </a:pPr>
            <a:r>
              <a:rPr dirty="0" sz="2050" spc="-80">
                <a:latin typeface="Cambria"/>
                <a:cs typeface="Cambria"/>
              </a:rPr>
              <a:t>–1/</a:t>
            </a:r>
            <a:r>
              <a:rPr dirty="0" sz="2050" spc="-185">
                <a:latin typeface="Cambria"/>
                <a:cs typeface="Cambria"/>
              </a:rPr>
              <a:t> </a:t>
            </a:r>
            <a:r>
              <a:rPr dirty="0" sz="2050">
                <a:latin typeface="Cambria"/>
                <a:cs typeface="Cambria"/>
              </a:rPr>
              <a:t>3</a:t>
            </a:r>
            <a:r>
              <a:rPr dirty="0" sz="2050" spc="-15">
                <a:latin typeface="Cambria"/>
                <a:cs typeface="Cambria"/>
              </a:rPr>
              <a:t> </a:t>
            </a:r>
            <a:r>
              <a:rPr dirty="0" sz="2050" spc="-80">
                <a:latin typeface="Cambria"/>
                <a:cs typeface="Cambria"/>
              </a:rPr>
              <a:t>–1/</a:t>
            </a:r>
            <a:r>
              <a:rPr dirty="0" sz="2050" spc="-185">
                <a:latin typeface="Cambria"/>
                <a:cs typeface="Cambria"/>
              </a:rPr>
              <a:t> </a:t>
            </a:r>
            <a:r>
              <a:rPr dirty="0" sz="2050" spc="-50">
                <a:latin typeface="Cambria"/>
                <a:cs typeface="Cambria"/>
              </a:rPr>
              <a:t>3</a:t>
            </a:r>
            <a:r>
              <a:rPr dirty="0" sz="2050">
                <a:latin typeface="Cambria"/>
                <a:cs typeface="Cambria"/>
              </a:rPr>
              <a:t>	</a:t>
            </a:r>
            <a:r>
              <a:rPr dirty="0" sz="2050" spc="-50">
                <a:latin typeface="Cambria"/>
                <a:cs typeface="Cambria"/>
              </a:rPr>
              <a:t>1</a:t>
            </a:r>
            <a:r>
              <a:rPr dirty="0" sz="2050">
                <a:latin typeface="Cambria"/>
                <a:cs typeface="Cambria"/>
              </a:rPr>
              <a:t>	</a:t>
            </a:r>
            <a:r>
              <a:rPr dirty="0" sz="2050" spc="-50">
                <a:latin typeface="Cambria"/>
                <a:cs typeface="Cambria"/>
              </a:rPr>
              <a:t>0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70417" y="5370029"/>
            <a:ext cx="244348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61035" algn="l"/>
                <a:tab pos="1130935" algn="l"/>
              </a:tabLst>
            </a:pPr>
            <a:r>
              <a:rPr dirty="0" sz="2050" spc="-50">
                <a:latin typeface="Cambria"/>
                <a:cs typeface="Cambria"/>
              </a:rPr>
              <a:t>1</a:t>
            </a:r>
            <a:r>
              <a:rPr dirty="0" sz="2050">
                <a:latin typeface="Cambria"/>
                <a:cs typeface="Cambria"/>
              </a:rPr>
              <a:t>	</a:t>
            </a:r>
            <a:r>
              <a:rPr dirty="0" sz="2050" spc="-50">
                <a:latin typeface="Cambria"/>
                <a:cs typeface="Cambria"/>
              </a:rPr>
              <a:t>0</a:t>
            </a:r>
            <a:r>
              <a:rPr dirty="0" sz="2050">
                <a:latin typeface="Cambria"/>
                <a:cs typeface="Cambria"/>
              </a:rPr>
              <a:t>	</a:t>
            </a:r>
            <a:r>
              <a:rPr dirty="0" sz="2050" spc="-80">
                <a:latin typeface="Cambria"/>
                <a:cs typeface="Cambria"/>
              </a:rPr>
              <a:t>–1/</a:t>
            </a:r>
            <a:r>
              <a:rPr dirty="0" sz="2050" spc="-185">
                <a:latin typeface="Cambria"/>
                <a:cs typeface="Cambria"/>
              </a:rPr>
              <a:t> </a:t>
            </a:r>
            <a:r>
              <a:rPr dirty="0" sz="2050">
                <a:latin typeface="Cambria"/>
                <a:cs typeface="Cambria"/>
              </a:rPr>
              <a:t>3</a:t>
            </a:r>
            <a:r>
              <a:rPr dirty="0" sz="2050" spc="-15">
                <a:latin typeface="Cambria"/>
                <a:cs typeface="Cambria"/>
              </a:rPr>
              <a:t> </a:t>
            </a:r>
            <a:r>
              <a:rPr dirty="0" sz="2050" spc="-80">
                <a:latin typeface="Cambria"/>
                <a:cs typeface="Cambria"/>
              </a:rPr>
              <a:t>–1/</a:t>
            </a:r>
            <a:r>
              <a:rPr dirty="0" sz="2050" spc="-185">
                <a:latin typeface="Cambria"/>
                <a:cs typeface="Cambria"/>
              </a:rPr>
              <a:t> </a:t>
            </a:r>
            <a:r>
              <a:rPr dirty="0" sz="2050" spc="-680">
                <a:latin typeface="Cambria"/>
                <a:cs typeface="Cambria"/>
              </a:rPr>
              <a:t>3</a:t>
            </a:r>
            <a:r>
              <a:rPr dirty="0" baseline="27100" sz="3075" spc="-1019">
                <a:latin typeface="Cambria"/>
                <a:cs typeface="Cambria"/>
              </a:rPr>
              <a:t></a:t>
            </a:r>
            <a:endParaRPr baseline="27100" sz="3075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20264" y="5057152"/>
            <a:ext cx="2355215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86740" algn="l"/>
                <a:tab pos="1080770" algn="l"/>
              </a:tabLst>
            </a:pPr>
            <a:r>
              <a:rPr dirty="0" sz="2050" spc="-50">
                <a:latin typeface="Cambria"/>
                <a:cs typeface="Cambria"/>
              </a:rPr>
              <a:t>0</a:t>
            </a:r>
            <a:r>
              <a:rPr dirty="0" sz="2050">
                <a:latin typeface="Cambria"/>
                <a:cs typeface="Cambria"/>
              </a:rPr>
              <a:t>	</a:t>
            </a:r>
            <a:r>
              <a:rPr dirty="0" sz="2050" spc="-50">
                <a:latin typeface="Cambria"/>
                <a:cs typeface="Cambria"/>
              </a:rPr>
              <a:t>1</a:t>
            </a:r>
            <a:r>
              <a:rPr dirty="0" sz="2050">
                <a:latin typeface="Cambria"/>
                <a:cs typeface="Cambria"/>
              </a:rPr>
              <a:t>	</a:t>
            </a:r>
            <a:r>
              <a:rPr dirty="0" sz="2050" spc="-80">
                <a:latin typeface="Cambria"/>
                <a:cs typeface="Cambria"/>
              </a:rPr>
              <a:t>–1/</a:t>
            </a:r>
            <a:r>
              <a:rPr dirty="0" sz="2050" spc="-185">
                <a:latin typeface="Cambria"/>
                <a:cs typeface="Cambria"/>
              </a:rPr>
              <a:t> </a:t>
            </a:r>
            <a:r>
              <a:rPr dirty="0" sz="2050">
                <a:latin typeface="Cambria"/>
                <a:cs typeface="Cambria"/>
              </a:rPr>
              <a:t>3</a:t>
            </a:r>
            <a:r>
              <a:rPr dirty="0" sz="2050" spc="-15">
                <a:latin typeface="Cambria"/>
                <a:cs typeface="Cambria"/>
              </a:rPr>
              <a:t> </a:t>
            </a:r>
            <a:r>
              <a:rPr dirty="0" sz="2050" spc="-80">
                <a:latin typeface="Cambria"/>
                <a:cs typeface="Cambria"/>
              </a:rPr>
              <a:t>–1/</a:t>
            </a:r>
            <a:r>
              <a:rPr dirty="0" sz="2050" spc="-185">
                <a:latin typeface="Cambria"/>
                <a:cs typeface="Cambria"/>
              </a:rPr>
              <a:t> </a:t>
            </a:r>
            <a:r>
              <a:rPr dirty="0" sz="2050" spc="-680">
                <a:latin typeface="Cambria"/>
                <a:cs typeface="Cambria"/>
              </a:rPr>
              <a:t>3</a:t>
            </a:r>
            <a:r>
              <a:rPr dirty="0" baseline="-4065" sz="3075" spc="-1019">
                <a:latin typeface="Cambria"/>
                <a:cs typeface="Cambria"/>
              </a:rPr>
              <a:t></a:t>
            </a:r>
            <a:endParaRPr baseline="-4065" sz="3075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4820" y="5682894"/>
            <a:ext cx="186182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3875" sz="3075" i="1">
                <a:latin typeface="Cambria"/>
                <a:cs typeface="Cambria"/>
              </a:rPr>
              <a:t>W</a:t>
            </a:r>
            <a:r>
              <a:rPr dirty="0" baseline="33875" sz="3075" spc="217" i="1">
                <a:latin typeface="Cambria"/>
                <a:cs typeface="Cambria"/>
              </a:rPr>
              <a:t> </a:t>
            </a:r>
            <a:r>
              <a:rPr dirty="0" baseline="33875" sz="3075">
                <a:latin typeface="Cambria"/>
                <a:cs typeface="Cambria"/>
              </a:rPr>
              <a:t>=</a:t>
            </a:r>
            <a:r>
              <a:rPr dirty="0" baseline="33875" sz="3075" spc="-150">
                <a:latin typeface="Cambria"/>
                <a:cs typeface="Cambria"/>
              </a:rPr>
              <a:t> </a:t>
            </a:r>
            <a:r>
              <a:rPr dirty="0" baseline="42005" sz="3075" spc="-465">
                <a:latin typeface="Cambria"/>
                <a:cs typeface="Cambria"/>
              </a:rPr>
              <a:t></a:t>
            </a:r>
            <a:r>
              <a:rPr dirty="0" sz="2050" spc="-310">
                <a:latin typeface="Cambria"/>
                <a:cs typeface="Cambria"/>
              </a:rPr>
              <a:t>–1/</a:t>
            </a:r>
            <a:r>
              <a:rPr dirty="0" sz="2050" spc="-185">
                <a:latin typeface="Cambria"/>
                <a:cs typeface="Cambria"/>
              </a:rPr>
              <a:t> </a:t>
            </a:r>
            <a:r>
              <a:rPr dirty="0" sz="2050">
                <a:latin typeface="Cambria"/>
                <a:cs typeface="Cambria"/>
              </a:rPr>
              <a:t>3</a:t>
            </a:r>
            <a:r>
              <a:rPr dirty="0" sz="2050" spc="-5">
                <a:latin typeface="Cambria"/>
                <a:cs typeface="Cambria"/>
              </a:rPr>
              <a:t> </a:t>
            </a:r>
            <a:r>
              <a:rPr dirty="0" sz="2050" spc="-80">
                <a:latin typeface="Cambria"/>
                <a:cs typeface="Cambria"/>
              </a:rPr>
              <a:t>–1/</a:t>
            </a:r>
            <a:r>
              <a:rPr dirty="0" sz="2050" spc="-185">
                <a:latin typeface="Cambria"/>
                <a:cs typeface="Cambria"/>
              </a:rPr>
              <a:t> </a:t>
            </a:r>
            <a:r>
              <a:rPr dirty="0" sz="2050" spc="-50">
                <a:latin typeface="Cambria"/>
                <a:cs typeface="Cambria"/>
              </a:rPr>
              <a:t>3</a:t>
            </a:r>
            <a:endParaRPr sz="2050">
              <a:latin typeface="Cambria"/>
              <a:cs typeface="Cambr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9364" y="4728972"/>
            <a:ext cx="1807464" cy="198577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06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dirty="0" sz="4400"/>
              <a:t>Example</a:t>
            </a:r>
            <a:r>
              <a:rPr dirty="0" sz="4400" spc="-65"/>
              <a:t> </a:t>
            </a:r>
            <a:r>
              <a:rPr dirty="0" sz="4400"/>
              <a:t>2:</a:t>
            </a:r>
            <a:r>
              <a:rPr dirty="0" sz="4400" spc="-65"/>
              <a:t> </a:t>
            </a:r>
            <a:r>
              <a:rPr dirty="0" sz="4400"/>
              <a:t>Spurious</a:t>
            </a:r>
            <a:r>
              <a:rPr dirty="0" sz="4400" spc="-70"/>
              <a:t> </a:t>
            </a:r>
            <a:r>
              <a:rPr dirty="0" sz="4400" spc="-10"/>
              <a:t>State</a:t>
            </a:r>
            <a:endParaRPr sz="4400"/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/>
              <a:t>The</a:t>
            </a:r>
            <a:r>
              <a:rPr dirty="0" spc="-55"/>
              <a:t> </a:t>
            </a:r>
            <a:r>
              <a:rPr dirty="0"/>
              <a:t>number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patterns</a:t>
            </a:r>
            <a:r>
              <a:rPr dirty="0" spc="-55"/>
              <a:t> </a:t>
            </a:r>
            <a:r>
              <a:rPr dirty="0"/>
              <a:t>that</a:t>
            </a:r>
            <a:r>
              <a:rPr dirty="0" spc="-50"/>
              <a:t> </a:t>
            </a:r>
            <a:r>
              <a:rPr dirty="0"/>
              <a:t>can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55"/>
              <a:t> </a:t>
            </a:r>
            <a:r>
              <a:rPr dirty="0"/>
              <a:t>stored</a:t>
            </a:r>
            <a:r>
              <a:rPr dirty="0" spc="-50"/>
              <a:t> </a:t>
            </a:r>
            <a:r>
              <a:rPr dirty="0" spc="-25"/>
              <a:t>and </a:t>
            </a:r>
            <a:r>
              <a:rPr dirty="0"/>
              <a:t>accurately</a:t>
            </a:r>
            <a:r>
              <a:rPr dirty="0" spc="-70"/>
              <a:t> </a:t>
            </a:r>
            <a:r>
              <a:rPr dirty="0"/>
              <a:t>recalled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/>
              <a:t>severely</a:t>
            </a:r>
            <a:r>
              <a:rPr dirty="0" spc="-70"/>
              <a:t> </a:t>
            </a:r>
            <a:r>
              <a:rPr dirty="0" spc="-10"/>
              <a:t>limited</a:t>
            </a:r>
          </a:p>
          <a:p>
            <a:pPr lvl="1" marL="755015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Char char="■"/>
              <a:tabLst>
                <a:tab pos="755015" algn="l"/>
              </a:tabLst>
            </a:pPr>
            <a:r>
              <a:rPr dirty="0" sz="2400">
                <a:latin typeface="Tahoma"/>
                <a:cs typeface="Tahoma"/>
              </a:rPr>
              <a:t>net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may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converge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novel</a:t>
            </a:r>
            <a:r>
              <a:rPr dirty="0" sz="2400" spc="-2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spurious</a:t>
            </a:r>
            <a:r>
              <a:rPr dirty="0" sz="2400" spc="-25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pattern</a:t>
            </a:r>
            <a:endParaRPr sz="24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Clr>
                <a:srgbClr val="FF0000"/>
              </a:buClr>
              <a:buFont typeface="Tahoma"/>
              <a:buChar char="■"/>
            </a:pPr>
            <a:endParaRPr sz="2400"/>
          </a:p>
          <a:p>
            <a:pPr algn="just" marL="353060" marR="391160" indent="-340995">
              <a:lnSpc>
                <a:spcPct val="100000"/>
              </a:lnSpc>
              <a:buClr>
                <a:srgbClr val="3333CC"/>
              </a:buClr>
              <a:buSzPct val="58928"/>
              <a:buChar char="■"/>
              <a:tabLst>
                <a:tab pos="354965" algn="l"/>
              </a:tabLst>
            </a:pPr>
            <a:r>
              <a:rPr dirty="0"/>
              <a:t>Exemplar</a:t>
            </a:r>
            <a:r>
              <a:rPr dirty="0" spc="-50"/>
              <a:t> </a:t>
            </a:r>
            <a:r>
              <a:rPr dirty="0"/>
              <a:t>pattern</a:t>
            </a:r>
            <a:r>
              <a:rPr dirty="0" spc="-45"/>
              <a:t> </a:t>
            </a:r>
            <a:r>
              <a:rPr dirty="0"/>
              <a:t>will</a:t>
            </a:r>
            <a:r>
              <a:rPr dirty="0" spc="-50"/>
              <a:t> </a:t>
            </a:r>
            <a:r>
              <a:rPr dirty="0"/>
              <a:t>be</a:t>
            </a:r>
            <a:r>
              <a:rPr dirty="0" spc="-45"/>
              <a:t> </a:t>
            </a:r>
            <a:r>
              <a:rPr dirty="0"/>
              <a:t>unstable</a:t>
            </a:r>
            <a:r>
              <a:rPr dirty="0" spc="-50"/>
              <a:t> </a:t>
            </a:r>
            <a:r>
              <a:rPr dirty="0"/>
              <a:t>if</a:t>
            </a:r>
            <a:r>
              <a:rPr dirty="0" spc="-45"/>
              <a:t> </a:t>
            </a:r>
            <a:r>
              <a:rPr dirty="0"/>
              <a:t>it</a:t>
            </a:r>
            <a:r>
              <a:rPr dirty="0" spc="-50"/>
              <a:t> </a:t>
            </a:r>
            <a:r>
              <a:rPr dirty="0" spc="-10"/>
              <a:t>shares </a:t>
            </a:r>
            <a:r>
              <a:rPr dirty="0" spc="-10"/>
              <a:t>	</a:t>
            </a:r>
            <a:r>
              <a:rPr dirty="0"/>
              <a:t>many</a:t>
            </a:r>
            <a:r>
              <a:rPr dirty="0" spc="-60"/>
              <a:t> </a:t>
            </a:r>
            <a:r>
              <a:rPr dirty="0"/>
              <a:t>bits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/>
              <a:t>common</a:t>
            </a:r>
            <a:r>
              <a:rPr dirty="0" spc="-60"/>
              <a:t> </a:t>
            </a:r>
            <a:r>
              <a:rPr dirty="0"/>
              <a:t>with</a:t>
            </a:r>
            <a:r>
              <a:rPr dirty="0" spc="-55"/>
              <a:t> </a:t>
            </a:r>
            <a:r>
              <a:rPr dirty="0"/>
              <a:t>another</a:t>
            </a:r>
            <a:r>
              <a:rPr dirty="0" spc="-60"/>
              <a:t> </a:t>
            </a:r>
            <a:r>
              <a:rPr dirty="0" spc="-10"/>
              <a:t>exemplar 	pattern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39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9986" rIns="0" bIns="0" rtlCol="0" vert="horz">
            <a:spAutoFit/>
          </a:bodyPr>
          <a:lstStyle/>
          <a:p>
            <a:pPr marL="156210">
              <a:lnSpc>
                <a:spcPct val="100000"/>
              </a:lnSpc>
              <a:spcBef>
                <a:spcPts val="100"/>
              </a:spcBef>
            </a:pPr>
            <a:r>
              <a:rPr dirty="0"/>
              <a:t>Limitations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100"/>
              <a:t> </a:t>
            </a:r>
            <a:r>
              <a:rPr dirty="0"/>
              <a:t>Hopfield</a:t>
            </a:r>
            <a:r>
              <a:rPr dirty="0" spc="-100"/>
              <a:t> </a:t>
            </a:r>
            <a:r>
              <a:rPr dirty="0" spc="-10"/>
              <a:t>Network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36189" y="4850447"/>
            <a:ext cx="1657985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4"/>
                </a:solidFill>
                <a:latin typeface="Tahoma"/>
                <a:cs typeface="Tahoma"/>
              </a:rPr>
              <a:t>VISIT</a:t>
            </a:r>
            <a:r>
              <a:rPr dirty="0" sz="2400" spc="-80" b="1">
                <a:solidFill>
                  <a:srgbClr val="000044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24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910"/>
              </a:spcBef>
            </a:pPr>
            <a:r>
              <a:rPr dirty="0" u="sng" sz="1200" spc="-1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  <a:hlinkClick r:id="rId2"/>
              </a:rPr>
              <a:t>WWW.XJTLU.EDU.CN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467" y="4603759"/>
            <a:ext cx="898658" cy="89865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7817" y="5968276"/>
            <a:ext cx="1815007" cy="37664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8623" y="5953061"/>
            <a:ext cx="324332" cy="4080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99132" y="2828544"/>
            <a:ext cx="4732020" cy="1146175"/>
          </a:xfrm>
          <a:prstGeom prst="rect"/>
          <a:solidFill>
            <a:srgbClr val="000544"/>
          </a:solidFill>
        </p:spPr>
        <p:txBody>
          <a:bodyPr wrap="square" lIns="0" tIns="33020" rIns="0" bIns="0" rtlCol="0" vert="horz">
            <a:spAutoFit/>
          </a:bodyPr>
          <a:lstStyle/>
          <a:p>
            <a:pPr marL="477520">
              <a:lnSpc>
                <a:spcPct val="100000"/>
              </a:lnSpc>
              <a:spcBef>
                <a:spcPts val="260"/>
              </a:spcBef>
            </a:pPr>
            <a:r>
              <a:rPr dirty="0" sz="6000" spc="-555">
                <a:solidFill>
                  <a:srgbClr val="FFFFFF"/>
                </a:solidFill>
                <a:latin typeface="Cambria"/>
                <a:cs typeface="Cambria"/>
              </a:rPr>
              <a:t>THANK</a:t>
            </a:r>
            <a:r>
              <a:rPr dirty="0" sz="6000" spc="4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6000" spc="-385">
                <a:solidFill>
                  <a:srgbClr val="FFFFFF"/>
                </a:solidFill>
                <a:latin typeface="Cambria"/>
                <a:cs typeface="Cambria"/>
              </a:rPr>
              <a:t>YOU</a:t>
            </a:r>
            <a:endParaRPr sz="6000">
              <a:latin typeface="Cambria"/>
              <a:cs typeface="Cambr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558795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60" h="66039">
                <a:moveTo>
                  <a:pt x="289560" y="0"/>
                </a:moveTo>
                <a:lnTo>
                  <a:pt x="0" y="0"/>
                </a:lnTo>
                <a:lnTo>
                  <a:pt x="0" y="65532"/>
                </a:lnTo>
                <a:lnTo>
                  <a:pt x="289560" y="65532"/>
                </a:lnTo>
                <a:lnTo>
                  <a:pt x="289560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728777" y="4844097"/>
            <a:ext cx="184277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44"/>
                </a:solidFill>
                <a:latin typeface="Tahoma"/>
                <a:cs typeface="Tahoma"/>
              </a:rPr>
              <a:t>FOLLOW</a:t>
            </a:r>
            <a:r>
              <a:rPr dirty="0" sz="2400" spc="-80" b="1">
                <a:solidFill>
                  <a:srgbClr val="000044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0044"/>
                </a:solidFill>
                <a:latin typeface="Tahoma"/>
                <a:cs typeface="Tahoma"/>
              </a:rPr>
              <a:t>US</a:t>
            </a:r>
            <a:endParaRPr sz="240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  <a:spcBef>
                <a:spcPts val="960"/>
              </a:spcBef>
            </a:pPr>
            <a:r>
              <a:rPr dirty="0" sz="1200" spc="-10" b="1">
                <a:solidFill>
                  <a:srgbClr val="BA55A0"/>
                </a:solidFill>
                <a:latin typeface="Tahoma"/>
                <a:cs typeface="Tahoma"/>
              </a:rPr>
              <a:t>@XJTLU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751319" y="4643628"/>
            <a:ext cx="289560" cy="66040"/>
          </a:xfrm>
          <a:custGeom>
            <a:avLst/>
            <a:gdLst/>
            <a:ahLst/>
            <a:cxnLst/>
            <a:rect l="l" t="t" r="r" b="b"/>
            <a:pathLst>
              <a:path w="289559" h="66039">
                <a:moveTo>
                  <a:pt x="289559" y="0"/>
                </a:moveTo>
                <a:lnTo>
                  <a:pt x="0" y="0"/>
                </a:lnTo>
                <a:lnTo>
                  <a:pt x="0" y="65532"/>
                </a:lnTo>
                <a:lnTo>
                  <a:pt x="289559" y="65532"/>
                </a:lnTo>
                <a:lnTo>
                  <a:pt x="289559" y="0"/>
                </a:lnTo>
                <a:close/>
              </a:path>
            </a:pathLst>
          </a:custGeom>
          <a:solidFill>
            <a:srgbClr val="BA55A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5622035" y="4570476"/>
            <a:ext cx="1036319" cy="975360"/>
            <a:chOff x="5622035" y="4570476"/>
            <a:chExt cx="1036319" cy="975360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2035" y="4570476"/>
              <a:ext cx="1036319" cy="49228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9655" y="5077968"/>
              <a:ext cx="492251" cy="467868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73723" y="5053584"/>
              <a:ext cx="483107" cy="492251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 spc="-25"/>
              <a:t>39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2025-12-08T08:30:09Z</dcterms:created>
  <dcterms:modified xsi:type="dcterms:W3CDTF">2025-12-08T08:30:09Z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2025-12-08T00:00:00Z</vt:filetime>
  </property>
  <property fmtid="{D5CDD505-2E9C-101B-9397-08002B2CF9AE}" pid="3" name="LastSaved">
    <vt:filetime>2025-12-08T00:00:00Z</vt:filetime>
  </property>
  <property fmtid="{D5CDD505-2E9C-101B-9397-08002B2CF9AE}" pid="4" name="Producer">
    <vt:lpwstr>iOS Version 26.1 (Build 23B85) Quartz PDFContext</vt:lpwstr>
  </property>
</Properties>
</file>