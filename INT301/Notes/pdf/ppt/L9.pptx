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800000"/>
                </a:solidFill>
                <a:latin typeface="Microsoft YaHei UI"/>
                <a:cs typeface="Microsoft YaHei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800000"/>
                </a:solidFill>
                <a:latin typeface="Microsoft YaHei UI"/>
                <a:cs typeface="Microsoft YaHei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800000"/>
                </a:solidFill>
                <a:latin typeface="Microsoft YaHei UI"/>
                <a:cs typeface="Microsoft YaHei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800000"/>
                </a:solidFill>
                <a:latin typeface="Microsoft YaHei UI"/>
                <a:cs typeface="Microsoft YaHei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7575" y="1098804"/>
            <a:ext cx="382905" cy="474345"/>
          </a:xfrm>
          <a:custGeom>
            <a:avLst/>
            <a:gdLst/>
            <a:ahLst/>
            <a:cxnLst/>
            <a:rect l="l" t="t" r="r" b="b"/>
            <a:pathLst>
              <a:path w="382905" h="474344">
                <a:moveTo>
                  <a:pt x="0" y="473963"/>
                </a:moveTo>
                <a:lnTo>
                  <a:pt x="382523" y="473963"/>
                </a:lnTo>
                <a:lnTo>
                  <a:pt x="382523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099" y="1098804"/>
            <a:ext cx="329184" cy="47396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41020" y="1520951"/>
            <a:ext cx="370840" cy="474345"/>
          </a:xfrm>
          <a:custGeom>
            <a:avLst/>
            <a:gdLst/>
            <a:ahLst/>
            <a:cxnLst/>
            <a:rect l="l" t="t" r="r" b="b"/>
            <a:pathLst>
              <a:path w="370840" h="474344">
                <a:moveTo>
                  <a:pt x="0" y="473963"/>
                </a:moveTo>
                <a:lnTo>
                  <a:pt x="370332" y="473963"/>
                </a:lnTo>
                <a:lnTo>
                  <a:pt x="370332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1352" y="1520951"/>
            <a:ext cx="368807" cy="47396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492" y="1447800"/>
            <a:ext cx="560831" cy="422148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62000" y="990599"/>
            <a:ext cx="32384" cy="1053465"/>
          </a:xfrm>
          <a:custGeom>
            <a:avLst/>
            <a:gdLst/>
            <a:ahLst/>
            <a:cxnLst/>
            <a:rect l="l" t="t" r="r" b="b"/>
            <a:pathLst>
              <a:path w="32384" h="1053464">
                <a:moveTo>
                  <a:pt x="32004" y="822960"/>
                </a:moveTo>
                <a:lnTo>
                  <a:pt x="0" y="822960"/>
                </a:lnTo>
                <a:lnTo>
                  <a:pt x="0" y="1053084"/>
                </a:lnTo>
                <a:lnTo>
                  <a:pt x="32004" y="1053084"/>
                </a:lnTo>
                <a:lnTo>
                  <a:pt x="32004" y="822960"/>
                </a:lnTo>
                <a:close/>
              </a:path>
              <a:path w="32384" h="1053464">
                <a:moveTo>
                  <a:pt x="32004" y="0"/>
                </a:moveTo>
                <a:lnTo>
                  <a:pt x="0" y="0"/>
                </a:lnTo>
                <a:lnTo>
                  <a:pt x="0" y="790956"/>
                </a:lnTo>
                <a:lnTo>
                  <a:pt x="32004" y="790956"/>
                </a:lnTo>
                <a:lnTo>
                  <a:pt x="32004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3484" y="1781555"/>
            <a:ext cx="8226552" cy="320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5689" y="290703"/>
            <a:ext cx="8732621" cy="1276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800000"/>
                </a:solidFill>
                <a:latin typeface="Microsoft YaHei UI"/>
                <a:cs typeface="Microsoft YaHei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1619" y="2236609"/>
            <a:ext cx="4062729" cy="3867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623300" y="6427700"/>
            <a:ext cx="283845" cy="24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Relationship Id="rId15" Type="http://schemas.openxmlformats.org/officeDocument/2006/relationships/image" Target="../media/image46.png"/><Relationship Id="rId16" Type="http://schemas.openxmlformats.org/officeDocument/2006/relationships/image" Target="../media/image47.png"/><Relationship Id="rId17" Type="http://schemas.openxmlformats.org/officeDocument/2006/relationships/image" Target="../media/image48.png"/><Relationship Id="rId18" Type="http://schemas.openxmlformats.org/officeDocument/2006/relationships/image" Target="../media/image49.png"/><Relationship Id="rId19" Type="http://schemas.openxmlformats.org/officeDocument/2006/relationships/image" Target="../media/image5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Relationship Id="rId14" Type="http://schemas.openxmlformats.org/officeDocument/2006/relationships/image" Target="../media/image63.png"/><Relationship Id="rId15" Type="http://schemas.openxmlformats.org/officeDocument/2006/relationships/image" Target="../media/image64.png"/><Relationship Id="rId16" Type="http://schemas.openxmlformats.org/officeDocument/2006/relationships/image" Target="../media/image65.png"/><Relationship Id="rId17" Type="http://schemas.openxmlformats.org/officeDocument/2006/relationships/image" Target="../media/image66.png"/><Relationship Id="rId18" Type="http://schemas.openxmlformats.org/officeDocument/2006/relationships/image" Target="../media/image67.png"/><Relationship Id="rId19" Type="http://schemas.openxmlformats.org/officeDocument/2006/relationships/image" Target="../media/image68.png"/><Relationship Id="rId20" Type="http://schemas.openxmlformats.org/officeDocument/2006/relationships/image" Target="../media/image69.png"/><Relationship Id="rId21" Type="http://schemas.openxmlformats.org/officeDocument/2006/relationships/image" Target="../media/image70.png"/><Relationship Id="rId22" Type="http://schemas.openxmlformats.org/officeDocument/2006/relationships/image" Target="../media/image71.png"/><Relationship Id="rId23" Type="http://schemas.openxmlformats.org/officeDocument/2006/relationships/image" Target="../media/image72.png"/><Relationship Id="rId24" Type="http://schemas.openxmlformats.org/officeDocument/2006/relationships/image" Target="../media/image73.png"/><Relationship Id="rId25" Type="http://schemas.openxmlformats.org/officeDocument/2006/relationships/image" Target="../media/image74.png"/><Relationship Id="rId26" Type="http://schemas.openxmlformats.org/officeDocument/2006/relationships/image" Target="../media/image75.png"/><Relationship Id="rId27" Type="http://schemas.openxmlformats.org/officeDocument/2006/relationships/image" Target="../media/image76.png"/><Relationship Id="rId28" Type="http://schemas.openxmlformats.org/officeDocument/2006/relationships/image" Target="../media/image77.png"/><Relationship Id="rId29" Type="http://schemas.openxmlformats.org/officeDocument/2006/relationships/image" Target="../media/image78.png"/><Relationship Id="rId30" Type="http://schemas.openxmlformats.org/officeDocument/2006/relationships/image" Target="../media/image79.png"/><Relationship Id="rId31" Type="http://schemas.openxmlformats.org/officeDocument/2006/relationships/image" Target="../media/image80.png"/><Relationship Id="rId32" Type="http://schemas.openxmlformats.org/officeDocument/2006/relationships/image" Target="../media/image81.png"/><Relationship Id="rId33" Type="http://schemas.openxmlformats.org/officeDocument/2006/relationships/image" Target="../media/image82.png"/><Relationship Id="rId34" Type="http://schemas.openxmlformats.org/officeDocument/2006/relationships/image" Target="../media/image83.png"/><Relationship Id="rId35" Type="http://schemas.openxmlformats.org/officeDocument/2006/relationships/image" Target="../media/image84.png"/><Relationship Id="rId36" Type="http://schemas.openxmlformats.org/officeDocument/2006/relationships/image" Target="../media/image85.png"/><Relationship Id="rId37" Type="http://schemas.openxmlformats.org/officeDocument/2006/relationships/image" Target="../media/image86.png"/><Relationship Id="rId38" Type="http://schemas.openxmlformats.org/officeDocument/2006/relationships/image" Target="../media/image87.png"/><Relationship Id="rId39" Type="http://schemas.openxmlformats.org/officeDocument/2006/relationships/image" Target="../media/image8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Relationship Id="rId11" Type="http://schemas.openxmlformats.org/officeDocument/2006/relationships/image" Target="../media/image100.png"/><Relationship Id="rId12" Type="http://schemas.openxmlformats.org/officeDocument/2006/relationships/image" Target="../media/image101.png"/><Relationship Id="rId13" Type="http://schemas.openxmlformats.org/officeDocument/2006/relationships/image" Target="../media/image102.png"/><Relationship Id="rId14" Type="http://schemas.openxmlformats.org/officeDocument/2006/relationships/image" Target="../media/image103.png"/><Relationship Id="rId15" Type="http://schemas.openxmlformats.org/officeDocument/2006/relationships/image" Target="../media/image104.png"/><Relationship Id="rId16" Type="http://schemas.openxmlformats.org/officeDocument/2006/relationships/image" Target="../media/image105.png"/><Relationship Id="rId17" Type="http://schemas.openxmlformats.org/officeDocument/2006/relationships/image" Target="../media/image106.png"/><Relationship Id="rId18" Type="http://schemas.openxmlformats.org/officeDocument/2006/relationships/image" Target="../media/image107.png"/><Relationship Id="rId19" Type="http://schemas.openxmlformats.org/officeDocument/2006/relationships/image" Target="../media/image108.png"/><Relationship Id="rId20" Type="http://schemas.openxmlformats.org/officeDocument/2006/relationships/image" Target="../media/image109.png"/><Relationship Id="rId21" Type="http://schemas.openxmlformats.org/officeDocument/2006/relationships/image" Target="../media/image110.png"/><Relationship Id="rId22" Type="http://schemas.openxmlformats.org/officeDocument/2006/relationships/image" Target="../media/image111.png"/><Relationship Id="rId23" Type="http://schemas.openxmlformats.org/officeDocument/2006/relationships/image" Target="../media/image112.png"/><Relationship Id="rId24" Type="http://schemas.openxmlformats.org/officeDocument/2006/relationships/image" Target="../media/image113.png"/><Relationship Id="rId25" Type="http://schemas.openxmlformats.org/officeDocument/2006/relationships/image" Target="../media/image114.png"/><Relationship Id="rId26" Type="http://schemas.openxmlformats.org/officeDocument/2006/relationships/image" Target="../media/image115.png"/><Relationship Id="rId27" Type="http://schemas.openxmlformats.org/officeDocument/2006/relationships/image" Target="../media/image116.png"/><Relationship Id="rId28" Type="http://schemas.openxmlformats.org/officeDocument/2006/relationships/image" Target="../media/image117.png"/><Relationship Id="rId29" Type="http://schemas.openxmlformats.org/officeDocument/2006/relationships/image" Target="../media/image118.png"/><Relationship Id="rId30" Type="http://schemas.openxmlformats.org/officeDocument/2006/relationships/image" Target="../media/image119.png"/><Relationship Id="rId31" Type="http://schemas.openxmlformats.org/officeDocument/2006/relationships/image" Target="../media/image120.png"/><Relationship Id="rId32" Type="http://schemas.openxmlformats.org/officeDocument/2006/relationships/image" Target="../media/image121.png"/><Relationship Id="rId33" Type="http://schemas.openxmlformats.org/officeDocument/2006/relationships/image" Target="../media/image122.png"/><Relationship Id="rId34" Type="http://schemas.openxmlformats.org/officeDocument/2006/relationships/image" Target="../media/image123.png"/><Relationship Id="rId35" Type="http://schemas.openxmlformats.org/officeDocument/2006/relationships/image" Target="../media/image124.png"/><Relationship Id="rId36" Type="http://schemas.openxmlformats.org/officeDocument/2006/relationships/image" Target="../media/image125.png"/><Relationship Id="rId37" Type="http://schemas.openxmlformats.org/officeDocument/2006/relationships/image" Target="../media/image126.png"/><Relationship Id="rId38" Type="http://schemas.openxmlformats.org/officeDocument/2006/relationships/image" Target="../media/image127.png"/><Relationship Id="rId39" Type="http://schemas.openxmlformats.org/officeDocument/2006/relationships/image" Target="../media/image128.png"/><Relationship Id="rId40" Type="http://schemas.openxmlformats.org/officeDocument/2006/relationships/image" Target="../media/image129.png"/><Relationship Id="rId41" Type="http://schemas.openxmlformats.org/officeDocument/2006/relationships/image" Target="../media/image130.png"/><Relationship Id="rId42" Type="http://schemas.openxmlformats.org/officeDocument/2006/relationships/image" Target="../media/image13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2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Relationship Id="rId4" Type="http://schemas.openxmlformats.org/officeDocument/2006/relationships/image" Target="../media/image135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6.png"/><Relationship Id="rId3" Type="http://schemas.openxmlformats.org/officeDocument/2006/relationships/image" Target="../media/image137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0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1.jpg"/><Relationship Id="rId3" Type="http://schemas.openxmlformats.org/officeDocument/2006/relationships/image" Target="../media/image142.jpg"/><Relationship Id="rId4" Type="http://schemas.openxmlformats.org/officeDocument/2006/relationships/image" Target="../media/image143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4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5.jpg"/><Relationship Id="rId3" Type="http://schemas.openxmlformats.org/officeDocument/2006/relationships/image" Target="../media/image146.png"/><Relationship Id="rId4" Type="http://schemas.openxmlformats.org/officeDocument/2006/relationships/image" Target="../media/image147.png"/><Relationship Id="rId5" Type="http://schemas.openxmlformats.org/officeDocument/2006/relationships/image" Target="../media/image148.png"/><Relationship Id="rId6" Type="http://schemas.openxmlformats.org/officeDocument/2006/relationships/image" Target="../media/image149.png"/><Relationship Id="rId7" Type="http://schemas.openxmlformats.org/officeDocument/2006/relationships/image" Target="../media/image150.png"/><Relationship Id="rId8" Type="http://schemas.openxmlformats.org/officeDocument/2006/relationships/image" Target="../media/image151.png"/><Relationship Id="rId9" Type="http://schemas.openxmlformats.org/officeDocument/2006/relationships/image" Target="../media/image152.png"/><Relationship Id="rId10" Type="http://schemas.openxmlformats.org/officeDocument/2006/relationships/image" Target="../media/image153.png"/><Relationship Id="rId11" Type="http://schemas.openxmlformats.org/officeDocument/2006/relationships/image" Target="../media/image154.png"/><Relationship Id="rId12" Type="http://schemas.openxmlformats.org/officeDocument/2006/relationships/image" Target="../media/image155.png"/><Relationship Id="rId13" Type="http://schemas.openxmlformats.org/officeDocument/2006/relationships/image" Target="../media/image156.png"/><Relationship Id="rId14" Type="http://schemas.openxmlformats.org/officeDocument/2006/relationships/image" Target="../media/image157.png"/><Relationship Id="rId15" Type="http://schemas.openxmlformats.org/officeDocument/2006/relationships/image" Target="../media/image158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9.jpg"/><Relationship Id="rId3" Type="http://schemas.openxmlformats.org/officeDocument/2006/relationships/image" Target="../media/image160.png"/><Relationship Id="rId4" Type="http://schemas.openxmlformats.org/officeDocument/2006/relationships/image" Target="../media/image161.png"/><Relationship Id="rId5" Type="http://schemas.openxmlformats.org/officeDocument/2006/relationships/image" Target="../media/image162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3.jpg"/><Relationship Id="rId3" Type="http://schemas.openxmlformats.org/officeDocument/2006/relationships/image" Target="../media/image164.png"/><Relationship Id="rId4" Type="http://schemas.openxmlformats.org/officeDocument/2006/relationships/image" Target="../media/image165.png"/><Relationship Id="rId5" Type="http://schemas.openxmlformats.org/officeDocument/2006/relationships/image" Target="../media/image166.png"/><Relationship Id="rId6" Type="http://schemas.openxmlformats.org/officeDocument/2006/relationships/image" Target="../media/image167.png"/><Relationship Id="rId7" Type="http://schemas.openxmlformats.org/officeDocument/2006/relationships/image" Target="../media/image168.png"/><Relationship Id="rId8" Type="http://schemas.openxmlformats.org/officeDocument/2006/relationships/image" Target="../media/image169.png"/><Relationship Id="rId9" Type="http://schemas.openxmlformats.org/officeDocument/2006/relationships/image" Target="../media/image170.png"/><Relationship Id="rId10" Type="http://schemas.openxmlformats.org/officeDocument/2006/relationships/image" Target="../media/image171.png"/><Relationship Id="rId11" Type="http://schemas.openxmlformats.org/officeDocument/2006/relationships/image" Target="../media/image172.png"/><Relationship Id="rId12" Type="http://schemas.openxmlformats.org/officeDocument/2006/relationships/image" Target="../media/image173.png"/><Relationship Id="rId13" Type="http://schemas.openxmlformats.org/officeDocument/2006/relationships/image" Target="../media/image174.png"/><Relationship Id="rId14" Type="http://schemas.openxmlformats.org/officeDocument/2006/relationships/image" Target="../media/image175.png"/><Relationship Id="rId15" Type="http://schemas.openxmlformats.org/officeDocument/2006/relationships/image" Target="../media/image176.png"/><Relationship Id="rId16" Type="http://schemas.openxmlformats.org/officeDocument/2006/relationships/image" Target="../media/image177.png"/><Relationship Id="rId17" Type="http://schemas.openxmlformats.org/officeDocument/2006/relationships/image" Target="../media/image178.png"/><Relationship Id="rId18" Type="http://schemas.openxmlformats.org/officeDocument/2006/relationships/image" Target="../media/image179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0.jpg"/><Relationship Id="rId3" Type="http://schemas.openxmlformats.org/officeDocument/2006/relationships/image" Target="../media/image181.png"/><Relationship Id="rId4" Type="http://schemas.openxmlformats.org/officeDocument/2006/relationships/image" Target="../media/image182.png"/><Relationship Id="rId5" Type="http://schemas.openxmlformats.org/officeDocument/2006/relationships/image" Target="../media/image183.png"/><Relationship Id="rId6" Type="http://schemas.openxmlformats.org/officeDocument/2006/relationships/image" Target="../media/image184.png"/><Relationship Id="rId7" Type="http://schemas.openxmlformats.org/officeDocument/2006/relationships/image" Target="../media/image185.png"/><Relationship Id="rId8" Type="http://schemas.openxmlformats.org/officeDocument/2006/relationships/image" Target="../media/image186.png"/><Relationship Id="rId9" Type="http://schemas.openxmlformats.org/officeDocument/2006/relationships/image" Target="../media/image187.png"/><Relationship Id="rId10" Type="http://schemas.openxmlformats.org/officeDocument/2006/relationships/image" Target="../media/image188.png"/><Relationship Id="rId11" Type="http://schemas.openxmlformats.org/officeDocument/2006/relationships/image" Target="../media/image189.png"/><Relationship Id="rId12" Type="http://schemas.openxmlformats.org/officeDocument/2006/relationships/image" Target="../media/image190.png"/><Relationship Id="rId13" Type="http://schemas.openxmlformats.org/officeDocument/2006/relationships/image" Target="../media/image191.png"/><Relationship Id="rId14" Type="http://schemas.openxmlformats.org/officeDocument/2006/relationships/image" Target="../media/image192.png"/><Relationship Id="rId15" Type="http://schemas.openxmlformats.org/officeDocument/2006/relationships/image" Target="../media/image193.png"/><Relationship Id="rId16" Type="http://schemas.openxmlformats.org/officeDocument/2006/relationships/image" Target="../media/image194.png"/><Relationship Id="rId17" Type="http://schemas.openxmlformats.org/officeDocument/2006/relationships/image" Target="../media/image195.png"/><Relationship Id="rId18" Type="http://schemas.openxmlformats.org/officeDocument/2006/relationships/image" Target="../media/image196.png"/><Relationship Id="rId19" Type="http://schemas.openxmlformats.org/officeDocument/2006/relationships/image" Target="../media/image197.png"/><Relationship Id="rId20" Type="http://schemas.openxmlformats.org/officeDocument/2006/relationships/image" Target="../media/image198.png"/><Relationship Id="rId21" Type="http://schemas.openxmlformats.org/officeDocument/2006/relationships/image" Target="../media/image199.png"/><Relationship Id="rId22" Type="http://schemas.openxmlformats.org/officeDocument/2006/relationships/image" Target="../media/image200.png"/><Relationship Id="rId23" Type="http://schemas.openxmlformats.org/officeDocument/2006/relationships/image" Target="../media/image201.png"/><Relationship Id="rId24" Type="http://schemas.openxmlformats.org/officeDocument/2006/relationships/image" Target="../media/image202.png"/><Relationship Id="rId25" Type="http://schemas.openxmlformats.org/officeDocument/2006/relationships/image" Target="../media/image203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4.png"/><Relationship Id="rId3" Type="http://schemas.openxmlformats.org/officeDocument/2006/relationships/image" Target="../media/image205.png"/><Relationship Id="rId4" Type="http://schemas.openxmlformats.org/officeDocument/2006/relationships/image" Target="../media/image206.png"/><Relationship Id="rId5" Type="http://schemas.openxmlformats.org/officeDocument/2006/relationships/image" Target="../media/image207.png"/><Relationship Id="rId6" Type="http://schemas.openxmlformats.org/officeDocument/2006/relationships/image" Target="../media/image208.png"/><Relationship Id="rId7" Type="http://schemas.openxmlformats.org/officeDocument/2006/relationships/image" Target="../media/image209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jpg"/><Relationship Id="rId3" Type="http://schemas.openxmlformats.org/officeDocument/2006/relationships/image" Target="../media/image5.png"/><Relationship Id="rId4" Type="http://schemas.openxmlformats.org/officeDocument/2006/relationships/hyperlink" Target="http://WWW.XJTLU.EDU.CN/" TargetMode="External"/><Relationship Id="rId5" Type="http://schemas.openxmlformats.org/officeDocument/2006/relationships/image" Target="../media/image211.jpg"/><Relationship Id="rId6" Type="http://schemas.openxmlformats.org/officeDocument/2006/relationships/image" Target="../media/image212.png"/><Relationship Id="rId7" Type="http://schemas.openxmlformats.org/officeDocument/2006/relationships/image" Target="../media/image213.png"/><Relationship Id="rId8" Type="http://schemas.openxmlformats.org/officeDocument/2006/relationships/image" Target="../media/image214.jpg"/><Relationship Id="rId9" Type="http://schemas.openxmlformats.org/officeDocument/2006/relationships/image" Target="../media/image215.jpg"/><Relationship Id="rId10" Type="http://schemas.openxmlformats.org/officeDocument/2006/relationships/image" Target="../media/image21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940" y="5073332"/>
            <a:ext cx="4803140" cy="6229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125"/>
              </a:spcBef>
            </a:pPr>
            <a:r>
              <a:rPr dirty="0" sz="1800" spc="-110" b="1">
                <a:solidFill>
                  <a:srgbClr val="000044"/>
                </a:solidFill>
                <a:latin typeface="Arial"/>
                <a:cs typeface="Arial"/>
              </a:rPr>
              <a:t>TIME-</a:t>
            </a:r>
            <a:r>
              <a:rPr dirty="0" sz="1800" spc="-280" b="1">
                <a:solidFill>
                  <a:srgbClr val="000044"/>
                </a:solidFill>
                <a:latin typeface="Arial"/>
                <a:cs typeface="Arial"/>
              </a:rPr>
              <a:t>SERIES</a:t>
            </a:r>
            <a:r>
              <a:rPr dirty="0" sz="1800" spc="-60" b="1">
                <a:solidFill>
                  <a:srgbClr val="000044"/>
                </a:solidFill>
                <a:latin typeface="Arial"/>
                <a:cs typeface="Arial"/>
              </a:rPr>
              <a:t> </a:t>
            </a:r>
            <a:r>
              <a:rPr dirty="0" sz="1800" spc="-190" b="1">
                <a:solidFill>
                  <a:srgbClr val="000044"/>
                </a:solidFill>
                <a:latin typeface="Arial"/>
                <a:cs typeface="Arial"/>
              </a:rPr>
              <a:t>PREDICTION</a:t>
            </a:r>
            <a:r>
              <a:rPr dirty="0" sz="1800" spc="-55" b="1">
                <a:solidFill>
                  <a:srgbClr val="000044"/>
                </a:solidFill>
                <a:latin typeface="Arial"/>
                <a:cs typeface="Arial"/>
              </a:rPr>
              <a:t> </a:t>
            </a:r>
            <a:r>
              <a:rPr dirty="0" sz="1800" spc="-155" b="1">
                <a:solidFill>
                  <a:srgbClr val="000044"/>
                </a:solidFill>
                <a:latin typeface="Arial"/>
                <a:cs typeface="Arial"/>
              </a:rPr>
              <a:t>AND</a:t>
            </a:r>
            <a:r>
              <a:rPr dirty="0" sz="1800" spc="-65" b="1">
                <a:solidFill>
                  <a:srgbClr val="000044"/>
                </a:solidFill>
                <a:latin typeface="Arial"/>
                <a:cs typeface="Arial"/>
              </a:rPr>
              <a:t> </a:t>
            </a:r>
            <a:r>
              <a:rPr dirty="0" sz="1800" spc="-185" b="1">
                <a:solidFill>
                  <a:srgbClr val="000044"/>
                </a:solidFill>
                <a:latin typeface="Arial"/>
                <a:cs typeface="Arial"/>
              </a:rPr>
              <a:t>ELMAN</a:t>
            </a:r>
            <a:r>
              <a:rPr dirty="0" sz="1800" spc="-55" b="1">
                <a:solidFill>
                  <a:srgbClr val="000044"/>
                </a:solidFill>
                <a:latin typeface="Arial"/>
                <a:cs typeface="Arial"/>
              </a:rPr>
              <a:t> </a:t>
            </a:r>
            <a:r>
              <a:rPr dirty="0" sz="1800" spc="-175" b="1">
                <a:solidFill>
                  <a:srgbClr val="000044"/>
                </a:solidFill>
                <a:latin typeface="Arial"/>
                <a:cs typeface="Arial"/>
              </a:rPr>
              <a:t>NETWORK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150" b="1">
                <a:latin typeface="Arial"/>
                <a:cs typeface="Arial"/>
              </a:rPr>
              <a:t>INT301</a:t>
            </a:r>
            <a:r>
              <a:rPr dirty="0" sz="1150" spc="37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Bio-computation,</a:t>
            </a:r>
            <a:r>
              <a:rPr dirty="0" sz="1150" spc="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Week</a:t>
            </a:r>
            <a:r>
              <a:rPr dirty="0" sz="1150" spc="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9,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spc="-20" b="1">
                <a:latin typeface="Arial"/>
                <a:cs typeface="Arial"/>
              </a:rPr>
              <a:t>2025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641541"/>
            <a:ext cx="9144000" cy="21645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476859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32292" y="5929884"/>
            <a:ext cx="355092" cy="445008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5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4776" rIns="0" bIns="0" rtlCol="0" vert="horz">
            <a:spAutoFit/>
          </a:bodyPr>
          <a:lstStyle/>
          <a:p>
            <a:pPr marL="928369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latin typeface="Tahoma"/>
                <a:cs typeface="Tahoma"/>
              </a:rPr>
              <a:t>Time</a:t>
            </a:r>
            <a:r>
              <a:rPr dirty="0" sz="4000" spc="-100">
                <a:latin typeface="Tahoma"/>
                <a:cs typeface="Tahoma"/>
              </a:rPr>
              <a:t> </a:t>
            </a:r>
            <a:r>
              <a:rPr dirty="0" sz="4000" spc="-10">
                <a:latin typeface="Tahoma"/>
                <a:cs typeface="Tahoma"/>
              </a:rPr>
              <a:t>Series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07950" y="1772818"/>
            <a:ext cx="8820150" cy="4464050"/>
          </a:xfrm>
          <a:custGeom>
            <a:avLst/>
            <a:gdLst/>
            <a:ahLst/>
            <a:cxnLst/>
            <a:rect l="l" t="t" r="r" b="b"/>
            <a:pathLst>
              <a:path w="8820150" h="4464050">
                <a:moveTo>
                  <a:pt x="8820150" y="0"/>
                </a:moveTo>
                <a:lnTo>
                  <a:pt x="0" y="0"/>
                </a:lnTo>
                <a:lnTo>
                  <a:pt x="0" y="4464050"/>
                </a:lnTo>
                <a:lnTo>
                  <a:pt x="8820150" y="4464050"/>
                </a:lnTo>
                <a:lnTo>
                  <a:pt x="8820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86689" y="1805838"/>
            <a:ext cx="381952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What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time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series?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5635" y="3229356"/>
            <a:ext cx="4983479" cy="334060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48589" y="2366543"/>
            <a:ext cx="8460105" cy="33635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965200" marR="43180">
              <a:lnSpc>
                <a:spcPts val="2960"/>
              </a:lnSpc>
              <a:spcBef>
                <a:spcPts val="130"/>
              </a:spcBef>
            </a:pPr>
            <a:r>
              <a:rPr dirty="0" sz="2800">
                <a:latin typeface="Tahoma"/>
                <a:cs typeface="Tahoma"/>
              </a:rPr>
              <a:t>–</a:t>
            </a:r>
            <a:r>
              <a:rPr dirty="0" sz="28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Time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Series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series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timely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ordered,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comparable </a:t>
            </a:r>
            <a:r>
              <a:rPr dirty="0" sz="2400">
                <a:latin typeface="Tahoma"/>
                <a:cs typeface="Tahoma"/>
              </a:rPr>
              <a:t>observations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y</a:t>
            </a:r>
            <a:r>
              <a:rPr dirty="0" baseline="-17921" sz="2325">
                <a:latin typeface="Tahoma"/>
                <a:cs typeface="Tahoma"/>
              </a:rPr>
              <a:t>t</a:t>
            </a:r>
            <a:r>
              <a:rPr dirty="0" baseline="-17921" sz="2325" spc="352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recorded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equidistant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time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intervals</a:t>
            </a:r>
            <a:endParaRPr sz="2400">
              <a:latin typeface="Tahoma"/>
              <a:cs typeface="Tahoma"/>
            </a:endParaRPr>
          </a:p>
          <a:p>
            <a:pPr marL="393065" indent="-342265">
              <a:lnSpc>
                <a:spcPct val="100000"/>
              </a:lnSpc>
              <a:spcBef>
                <a:spcPts val="570"/>
              </a:spcBef>
              <a:buClr>
                <a:srgbClr val="3333CC"/>
              </a:buClr>
              <a:buSzPct val="58928"/>
              <a:buChar char="■"/>
              <a:tabLst>
                <a:tab pos="393065" algn="l"/>
              </a:tabLst>
            </a:pPr>
            <a:r>
              <a:rPr dirty="0" sz="2800" spc="-10">
                <a:latin typeface="Tahoma"/>
                <a:cs typeface="Tahoma"/>
              </a:rPr>
              <a:t>Examples:</a:t>
            </a:r>
            <a:endParaRPr sz="2800">
              <a:latin typeface="Tahoma"/>
              <a:cs typeface="Tahoma"/>
            </a:endParaRPr>
          </a:p>
          <a:p>
            <a:pPr marL="355600" indent="-304800">
              <a:lnSpc>
                <a:spcPct val="100000"/>
              </a:lnSpc>
              <a:spcBef>
                <a:spcPts val="670"/>
              </a:spcBef>
              <a:buSzPct val="116666"/>
              <a:buChar char="–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Stock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prices</a:t>
            </a:r>
            <a:endParaRPr sz="2400">
              <a:latin typeface="Tahoma"/>
              <a:cs typeface="Tahoma"/>
            </a:endParaRPr>
          </a:p>
          <a:p>
            <a:pPr marL="311785" indent="-260985">
              <a:lnSpc>
                <a:spcPct val="100000"/>
              </a:lnSpc>
              <a:spcBef>
                <a:spcPts val="575"/>
              </a:spcBef>
              <a:buChar char="–"/>
              <a:tabLst>
                <a:tab pos="311785" algn="l"/>
              </a:tabLst>
            </a:pPr>
            <a:r>
              <a:rPr dirty="0" sz="2400">
                <a:latin typeface="Tahoma"/>
                <a:cs typeface="Tahoma"/>
              </a:rPr>
              <a:t>Temperature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readings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2400">
              <a:latin typeface="Tahoma"/>
              <a:cs typeface="Tahoma"/>
            </a:endParaRPr>
          </a:p>
          <a:p>
            <a:pPr marL="169545" marR="5291455">
              <a:lnSpc>
                <a:spcPct val="100000"/>
              </a:lnSpc>
            </a:pPr>
            <a:r>
              <a:rPr dirty="0" sz="2000">
                <a:latin typeface="Tahoma"/>
                <a:cs typeface="Tahoma"/>
              </a:rPr>
              <a:t>Y</a:t>
            </a:r>
            <a:r>
              <a:rPr dirty="0" baseline="-17094" sz="1950">
                <a:latin typeface="Tahoma"/>
                <a:cs typeface="Tahoma"/>
              </a:rPr>
              <a:t>t</a:t>
            </a:r>
            <a:r>
              <a:rPr dirty="0" baseline="-17094" sz="1950" spc="277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represents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</a:t>
            </a:r>
            <a:r>
              <a:rPr dirty="0" baseline="21367" sz="1950">
                <a:latin typeface="Tahoma"/>
                <a:cs typeface="Tahoma"/>
              </a:rPr>
              <a:t>th</a:t>
            </a:r>
            <a:r>
              <a:rPr dirty="0" baseline="21367" sz="1950" spc="284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period </a:t>
            </a:r>
            <a:r>
              <a:rPr dirty="0" sz="2000">
                <a:latin typeface="Tahoma"/>
                <a:cs typeface="Tahoma"/>
              </a:rPr>
              <a:t>observation,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t=1,2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…</a:t>
            </a:r>
            <a:r>
              <a:rPr dirty="0" sz="2000" spc="-50">
                <a:latin typeface="Tahoma"/>
                <a:cs typeface="Tahoma"/>
              </a:rPr>
              <a:t> 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195121" y="1746633"/>
            <a:ext cx="44735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200" spc="-5">
                <a:latin typeface="Microsoft JhengHei UI Light"/>
                <a:cs typeface="Microsoft JhengHei UI Light"/>
              </a:rPr>
              <a:t>时间序列是指⼀系列按时间排序的、可⽐较的观测值 </a:t>
            </a:r>
            <a:r>
              <a:rPr dirty="0" sz="1200">
                <a:latin typeface="Microsoft JhengHei UI Light"/>
                <a:cs typeface="Microsoft JhengHei UI Light"/>
              </a:rPr>
              <a:t>yt，</a:t>
            </a:r>
            <a:r>
              <a:rPr dirty="0" sz="1200" spc="-15">
                <a:latin typeface="Microsoft JhengHei UI Light"/>
                <a:cs typeface="Microsoft JhengHei UI Light"/>
              </a:rPr>
              <a:t>这些观测</a:t>
            </a:r>
            <a:r>
              <a:rPr dirty="0" sz="1200" spc="-5">
                <a:latin typeface="Microsoft JhengHei UI Light"/>
                <a:cs typeface="Microsoft JhengHei UI Light"/>
              </a:rPr>
              <a:t>值是在相等的时间间隔下记录的。</a:t>
            </a:r>
            <a:endParaRPr sz="1200">
              <a:latin typeface="Microsoft JhengHei UI Light"/>
              <a:cs typeface="Microsoft JhengHei UI Ligh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8762" y="222650"/>
            <a:ext cx="1139557" cy="288093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4677402" y="754903"/>
            <a:ext cx="27305" cy="38735"/>
          </a:xfrm>
          <a:custGeom>
            <a:avLst/>
            <a:gdLst/>
            <a:ahLst/>
            <a:cxnLst/>
            <a:rect l="l" t="t" r="r" b="b"/>
            <a:pathLst>
              <a:path w="27304" h="38734">
                <a:moveTo>
                  <a:pt x="17265" y="34479"/>
                </a:moveTo>
                <a:lnTo>
                  <a:pt x="15993" y="36609"/>
                </a:lnTo>
                <a:lnTo>
                  <a:pt x="11478" y="37748"/>
                </a:lnTo>
                <a:lnTo>
                  <a:pt x="14686" y="38152"/>
                </a:lnTo>
                <a:lnTo>
                  <a:pt x="21293" y="34911"/>
                </a:lnTo>
                <a:lnTo>
                  <a:pt x="18345" y="34911"/>
                </a:lnTo>
                <a:lnTo>
                  <a:pt x="17265" y="34479"/>
                </a:lnTo>
                <a:close/>
              </a:path>
              <a:path w="27304" h="38734">
                <a:moveTo>
                  <a:pt x="6722" y="11206"/>
                </a:moveTo>
                <a:lnTo>
                  <a:pt x="5982" y="11206"/>
                </a:lnTo>
                <a:lnTo>
                  <a:pt x="4554" y="12025"/>
                </a:lnTo>
                <a:lnTo>
                  <a:pt x="1810" y="16231"/>
                </a:lnTo>
                <a:lnTo>
                  <a:pt x="1512" y="16761"/>
                </a:lnTo>
                <a:lnTo>
                  <a:pt x="0" y="20489"/>
                </a:lnTo>
                <a:lnTo>
                  <a:pt x="6333" y="20489"/>
                </a:lnTo>
                <a:lnTo>
                  <a:pt x="2828" y="24343"/>
                </a:lnTo>
                <a:lnTo>
                  <a:pt x="2940" y="26722"/>
                </a:lnTo>
                <a:lnTo>
                  <a:pt x="3039" y="28808"/>
                </a:lnTo>
                <a:lnTo>
                  <a:pt x="3206" y="31665"/>
                </a:lnTo>
                <a:lnTo>
                  <a:pt x="3983" y="32977"/>
                </a:lnTo>
                <a:lnTo>
                  <a:pt x="4721" y="34140"/>
                </a:lnTo>
                <a:lnTo>
                  <a:pt x="7042" y="35554"/>
                </a:lnTo>
                <a:lnTo>
                  <a:pt x="10942" y="37883"/>
                </a:lnTo>
                <a:lnTo>
                  <a:pt x="15993" y="36609"/>
                </a:lnTo>
                <a:lnTo>
                  <a:pt x="17265" y="34479"/>
                </a:lnTo>
                <a:lnTo>
                  <a:pt x="10246" y="31665"/>
                </a:lnTo>
                <a:lnTo>
                  <a:pt x="9952" y="31665"/>
                </a:lnTo>
                <a:lnTo>
                  <a:pt x="7839" y="26722"/>
                </a:lnTo>
                <a:lnTo>
                  <a:pt x="10688" y="19617"/>
                </a:lnTo>
                <a:lnTo>
                  <a:pt x="10796" y="19049"/>
                </a:lnTo>
                <a:lnTo>
                  <a:pt x="10842" y="18805"/>
                </a:lnTo>
                <a:lnTo>
                  <a:pt x="13366" y="18805"/>
                </a:lnTo>
                <a:lnTo>
                  <a:pt x="9549" y="18339"/>
                </a:lnTo>
                <a:lnTo>
                  <a:pt x="6854" y="15061"/>
                </a:lnTo>
                <a:lnTo>
                  <a:pt x="6772" y="11402"/>
                </a:lnTo>
                <a:lnTo>
                  <a:pt x="6722" y="11206"/>
                </a:lnTo>
                <a:close/>
              </a:path>
              <a:path w="27304" h="38734">
                <a:moveTo>
                  <a:pt x="13366" y="18805"/>
                </a:moveTo>
                <a:lnTo>
                  <a:pt x="13423" y="20489"/>
                </a:lnTo>
                <a:lnTo>
                  <a:pt x="24612" y="20489"/>
                </a:lnTo>
                <a:lnTo>
                  <a:pt x="23061" y="21890"/>
                </a:lnTo>
                <a:lnTo>
                  <a:pt x="16248" y="21890"/>
                </a:lnTo>
                <a:lnTo>
                  <a:pt x="19377" y="23758"/>
                </a:lnTo>
                <a:lnTo>
                  <a:pt x="20553" y="28419"/>
                </a:lnTo>
                <a:lnTo>
                  <a:pt x="20651" y="28808"/>
                </a:lnTo>
                <a:lnTo>
                  <a:pt x="17265" y="34479"/>
                </a:lnTo>
                <a:lnTo>
                  <a:pt x="18345" y="34911"/>
                </a:lnTo>
                <a:lnTo>
                  <a:pt x="22866" y="32977"/>
                </a:lnTo>
                <a:lnTo>
                  <a:pt x="23412" y="32189"/>
                </a:lnTo>
                <a:lnTo>
                  <a:pt x="24768" y="28808"/>
                </a:lnTo>
                <a:lnTo>
                  <a:pt x="26362" y="24343"/>
                </a:lnTo>
                <a:lnTo>
                  <a:pt x="26267" y="23579"/>
                </a:lnTo>
                <a:lnTo>
                  <a:pt x="25460" y="21890"/>
                </a:lnTo>
                <a:lnTo>
                  <a:pt x="23061" y="21890"/>
                </a:lnTo>
                <a:lnTo>
                  <a:pt x="15629" y="21513"/>
                </a:lnTo>
                <a:lnTo>
                  <a:pt x="25280" y="21513"/>
                </a:lnTo>
                <a:lnTo>
                  <a:pt x="24226" y="19307"/>
                </a:lnTo>
                <a:lnTo>
                  <a:pt x="23496" y="19049"/>
                </a:lnTo>
                <a:lnTo>
                  <a:pt x="15369" y="19049"/>
                </a:lnTo>
                <a:lnTo>
                  <a:pt x="13366" y="18805"/>
                </a:lnTo>
                <a:close/>
              </a:path>
              <a:path w="27304" h="38734">
                <a:moveTo>
                  <a:pt x="22866" y="32977"/>
                </a:moveTo>
                <a:lnTo>
                  <a:pt x="18345" y="34911"/>
                </a:lnTo>
                <a:lnTo>
                  <a:pt x="21293" y="34911"/>
                </a:lnTo>
                <a:lnTo>
                  <a:pt x="21645" y="34739"/>
                </a:lnTo>
                <a:lnTo>
                  <a:pt x="22775" y="33108"/>
                </a:lnTo>
                <a:lnTo>
                  <a:pt x="22866" y="32977"/>
                </a:lnTo>
                <a:close/>
              </a:path>
              <a:path w="27304" h="38734">
                <a:moveTo>
                  <a:pt x="11263" y="16761"/>
                </a:moveTo>
                <a:lnTo>
                  <a:pt x="11092" y="17416"/>
                </a:lnTo>
                <a:lnTo>
                  <a:pt x="11023" y="17829"/>
                </a:lnTo>
                <a:lnTo>
                  <a:pt x="10930" y="18339"/>
                </a:lnTo>
                <a:lnTo>
                  <a:pt x="10842" y="18805"/>
                </a:lnTo>
                <a:lnTo>
                  <a:pt x="10796" y="19049"/>
                </a:lnTo>
                <a:lnTo>
                  <a:pt x="10688" y="19617"/>
                </a:lnTo>
                <a:lnTo>
                  <a:pt x="7839" y="26722"/>
                </a:lnTo>
                <a:lnTo>
                  <a:pt x="9952" y="31665"/>
                </a:lnTo>
                <a:lnTo>
                  <a:pt x="10246" y="31665"/>
                </a:lnTo>
                <a:lnTo>
                  <a:pt x="17265" y="34479"/>
                </a:lnTo>
                <a:lnTo>
                  <a:pt x="20651" y="28808"/>
                </a:lnTo>
                <a:lnTo>
                  <a:pt x="19524" y="24343"/>
                </a:lnTo>
                <a:lnTo>
                  <a:pt x="19443" y="24019"/>
                </a:lnTo>
                <a:lnTo>
                  <a:pt x="19377" y="23758"/>
                </a:lnTo>
                <a:lnTo>
                  <a:pt x="15616" y="21513"/>
                </a:lnTo>
                <a:lnTo>
                  <a:pt x="14554" y="21513"/>
                </a:lnTo>
                <a:lnTo>
                  <a:pt x="13630" y="20489"/>
                </a:lnTo>
                <a:lnTo>
                  <a:pt x="10683" y="20489"/>
                </a:lnTo>
                <a:lnTo>
                  <a:pt x="12085" y="18805"/>
                </a:lnTo>
                <a:lnTo>
                  <a:pt x="11228" y="17829"/>
                </a:lnTo>
                <a:lnTo>
                  <a:pt x="11263" y="16761"/>
                </a:lnTo>
                <a:close/>
              </a:path>
              <a:path w="27304" h="38734">
                <a:moveTo>
                  <a:pt x="6333" y="20489"/>
                </a:moveTo>
                <a:lnTo>
                  <a:pt x="131" y="20489"/>
                </a:lnTo>
                <a:lnTo>
                  <a:pt x="197" y="23758"/>
                </a:lnTo>
                <a:lnTo>
                  <a:pt x="323" y="28808"/>
                </a:lnTo>
                <a:lnTo>
                  <a:pt x="2864" y="32977"/>
                </a:lnTo>
                <a:lnTo>
                  <a:pt x="2945" y="33108"/>
                </a:lnTo>
                <a:lnTo>
                  <a:pt x="4673" y="34140"/>
                </a:lnTo>
                <a:lnTo>
                  <a:pt x="3206" y="31665"/>
                </a:lnTo>
                <a:lnTo>
                  <a:pt x="3039" y="28808"/>
                </a:lnTo>
                <a:lnTo>
                  <a:pt x="2940" y="26722"/>
                </a:lnTo>
                <a:lnTo>
                  <a:pt x="2828" y="24343"/>
                </a:lnTo>
                <a:lnTo>
                  <a:pt x="6333" y="20489"/>
                </a:lnTo>
                <a:close/>
              </a:path>
              <a:path w="27304" h="38734">
                <a:moveTo>
                  <a:pt x="23412" y="32189"/>
                </a:moveTo>
                <a:lnTo>
                  <a:pt x="22866" y="32977"/>
                </a:lnTo>
                <a:lnTo>
                  <a:pt x="23096" y="32977"/>
                </a:lnTo>
                <a:lnTo>
                  <a:pt x="23412" y="32189"/>
                </a:lnTo>
                <a:close/>
              </a:path>
              <a:path w="27304" h="38734">
                <a:moveTo>
                  <a:pt x="24784" y="28808"/>
                </a:moveTo>
                <a:lnTo>
                  <a:pt x="23412" y="32189"/>
                </a:lnTo>
                <a:lnTo>
                  <a:pt x="23775" y="31665"/>
                </a:lnTo>
                <a:lnTo>
                  <a:pt x="24784" y="28808"/>
                </a:lnTo>
                <a:close/>
              </a:path>
              <a:path w="27304" h="38734">
                <a:moveTo>
                  <a:pt x="26971" y="20489"/>
                </a:moveTo>
                <a:lnTo>
                  <a:pt x="24791" y="20489"/>
                </a:lnTo>
                <a:lnTo>
                  <a:pt x="26267" y="23579"/>
                </a:lnTo>
                <a:lnTo>
                  <a:pt x="26353" y="23758"/>
                </a:lnTo>
                <a:lnTo>
                  <a:pt x="26477" y="24019"/>
                </a:lnTo>
                <a:lnTo>
                  <a:pt x="26569" y="23758"/>
                </a:lnTo>
                <a:lnTo>
                  <a:pt x="26633" y="23579"/>
                </a:lnTo>
                <a:lnTo>
                  <a:pt x="26817" y="21890"/>
                </a:lnTo>
                <a:lnTo>
                  <a:pt x="26859" y="21513"/>
                </a:lnTo>
                <a:lnTo>
                  <a:pt x="26971" y="20489"/>
                </a:lnTo>
                <a:close/>
              </a:path>
              <a:path w="27304" h="38734">
                <a:moveTo>
                  <a:pt x="13313" y="17416"/>
                </a:moveTo>
                <a:lnTo>
                  <a:pt x="12976" y="17829"/>
                </a:lnTo>
                <a:lnTo>
                  <a:pt x="12503" y="18339"/>
                </a:lnTo>
                <a:lnTo>
                  <a:pt x="12109" y="18805"/>
                </a:lnTo>
                <a:lnTo>
                  <a:pt x="12842" y="19617"/>
                </a:lnTo>
                <a:lnTo>
                  <a:pt x="13756" y="20489"/>
                </a:lnTo>
                <a:lnTo>
                  <a:pt x="15629" y="21513"/>
                </a:lnTo>
                <a:lnTo>
                  <a:pt x="23061" y="21890"/>
                </a:lnTo>
                <a:lnTo>
                  <a:pt x="24612" y="20489"/>
                </a:lnTo>
                <a:lnTo>
                  <a:pt x="13423" y="20489"/>
                </a:lnTo>
                <a:lnTo>
                  <a:pt x="13313" y="17416"/>
                </a:lnTo>
                <a:close/>
              </a:path>
              <a:path w="27304" h="38734">
                <a:moveTo>
                  <a:pt x="13756" y="20489"/>
                </a:moveTo>
                <a:lnTo>
                  <a:pt x="14554" y="21513"/>
                </a:lnTo>
                <a:lnTo>
                  <a:pt x="15629" y="21513"/>
                </a:lnTo>
                <a:lnTo>
                  <a:pt x="13756" y="20489"/>
                </a:lnTo>
                <a:close/>
              </a:path>
              <a:path w="27304" h="38734">
                <a:moveTo>
                  <a:pt x="12109" y="18805"/>
                </a:moveTo>
                <a:lnTo>
                  <a:pt x="11881" y="19049"/>
                </a:lnTo>
                <a:lnTo>
                  <a:pt x="10683" y="20489"/>
                </a:lnTo>
                <a:lnTo>
                  <a:pt x="13630" y="20489"/>
                </a:lnTo>
                <a:lnTo>
                  <a:pt x="12109" y="18805"/>
                </a:lnTo>
                <a:close/>
              </a:path>
              <a:path w="27304" h="38734">
                <a:moveTo>
                  <a:pt x="23825" y="6650"/>
                </a:moveTo>
                <a:lnTo>
                  <a:pt x="24805" y="10122"/>
                </a:lnTo>
                <a:lnTo>
                  <a:pt x="22682" y="13915"/>
                </a:lnTo>
                <a:lnTo>
                  <a:pt x="22581" y="14315"/>
                </a:lnTo>
                <a:lnTo>
                  <a:pt x="22739" y="14866"/>
                </a:lnTo>
                <a:lnTo>
                  <a:pt x="22795" y="15061"/>
                </a:lnTo>
                <a:lnTo>
                  <a:pt x="21489" y="17416"/>
                </a:lnTo>
                <a:lnTo>
                  <a:pt x="20045" y="17829"/>
                </a:lnTo>
                <a:lnTo>
                  <a:pt x="24226" y="19307"/>
                </a:lnTo>
                <a:lnTo>
                  <a:pt x="24791" y="20489"/>
                </a:lnTo>
                <a:lnTo>
                  <a:pt x="24612" y="20489"/>
                </a:lnTo>
                <a:lnTo>
                  <a:pt x="26477" y="18805"/>
                </a:lnTo>
                <a:lnTo>
                  <a:pt x="26697" y="18805"/>
                </a:lnTo>
                <a:lnTo>
                  <a:pt x="26681" y="10122"/>
                </a:lnTo>
                <a:lnTo>
                  <a:pt x="26559" y="9238"/>
                </a:lnTo>
                <a:lnTo>
                  <a:pt x="26539" y="9094"/>
                </a:lnTo>
                <a:lnTo>
                  <a:pt x="23825" y="6650"/>
                </a:lnTo>
                <a:close/>
              </a:path>
              <a:path w="27304" h="38734">
                <a:moveTo>
                  <a:pt x="27005" y="15061"/>
                </a:moveTo>
                <a:lnTo>
                  <a:pt x="26857" y="15650"/>
                </a:lnTo>
                <a:lnTo>
                  <a:pt x="26801" y="16761"/>
                </a:lnTo>
                <a:lnTo>
                  <a:pt x="26697" y="18805"/>
                </a:lnTo>
                <a:lnTo>
                  <a:pt x="26477" y="18805"/>
                </a:lnTo>
                <a:lnTo>
                  <a:pt x="24612" y="20489"/>
                </a:lnTo>
                <a:lnTo>
                  <a:pt x="26971" y="20489"/>
                </a:lnTo>
                <a:lnTo>
                  <a:pt x="27005" y="15061"/>
                </a:lnTo>
                <a:close/>
              </a:path>
              <a:path w="27304" h="38734">
                <a:moveTo>
                  <a:pt x="20045" y="17829"/>
                </a:moveTo>
                <a:lnTo>
                  <a:pt x="13333" y="17829"/>
                </a:lnTo>
                <a:lnTo>
                  <a:pt x="13366" y="18805"/>
                </a:lnTo>
                <a:lnTo>
                  <a:pt x="15369" y="19049"/>
                </a:lnTo>
                <a:lnTo>
                  <a:pt x="16448" y="18805"/>
                </a:lnTo>
                <a:lnTo>
                  <a:pt x="16638" y="18805"/>
                </a:lnTo>
                <a:lnTo>
                  <a:pt x="20045" y="17829"/>
                </a:lnTo>
                <a:close/>
              </a:path>
              <a:path w="27304" h="38734">
                <a:moveTo>
                  <a:pt x="20045" y="17829"/>
                </a:moveTo>
                <a:lnTo>
                  <a:pt x="16638" y="18805"/>
                </a:lnTo>
                <a:lnTo>
                  <a:pt x="16448" y="18805"/>
                </a:lnTo>
                <a:lnTo>
                  <a:pt x="15369" y="19049"/>
                </a:lnTo>
                <a:lnTo>
                  <a:pt x="23496" y="19049"/>
                </a:lnTo>
                <a:lnTo>
                  <a:pt x="20045" y="17829"/>
                </a:lnTo>
                <a:close/>
              </a:path>
              <a:path w="27304" h="38734">
                <a:moveTo>
                  <a:pt x="7438" y="15650"/>
                </a:moveTo>
                <a:lnTo>
                  <a:pt x="7816" y="16231"/>
                </a:lnTo>
                <a:lnTo>
                  <a:pt x="9549" y="18339"/>
                </a:lnTo>
                <a:lnTo>
                  <a:pt x="13366" y="18805"/>
                </a:lnTo>
                <a:lnTo>
                  <a:pt x="10842" y="18805"/>
                </a:lnTo>
                <a:lnTo>
                  <a:pt x="10930" y="18339"/>
                </a:lnTo>
                <a:lnTo>
                  <a:pt x="10983" y="18064"/>
                </a:lnTo>
                <a:lnTo>
                  <a:pt x="10627" y="18064"/>
                </a:lnTo>
                <a:lnTo>
                  <a:pt x="7438" y="15650"/>
                </a:lnTo>
                <a:close/>
              </a:path>
              <a:path w="27304" h="38734">
                <a:moveTo>
                  <a:pt x="11540" y="11728"/>
                </a:moveTo>
                <a:lnTo>
                  <a:pt x="11450" y="13158"/>
                </a:lnTo>
                <a:lnTo>
                  <a:pt x="11349" y="15061"/>
                </a:lnTo>
                <a:lnTo>
                  <a:pt x="11228" y="17829"/>
                </a:lnTo>
                <a:lnTo>
                  <a:pt x="12109" y="18805"/>
                </a:lnTo>
                <a:lnTo>
                  <a:pt x="12758" y="18064"/>
                </a:lnTo>
                <a:lnTo>
                  <a:pt x="10627" y="18064"/>
                </a:lnTo>
                <a:lnTo>
                  <a:pt x="12319" y="17829"/>
                </a:lnTo>
                <a:lnTo>
                  <a:pt x="12976" y="17829"/>
                </a:lnTo>
                <a:lnTo>
                  <a:pt x="13359" y="17416"/>
                </a:lnTo>
                <a:lnTo>
                  <a:pt x="13257" y="16231"/>
                </a:lnTo>
                <a:lnTo>
                  <a:pt x="13130" y="13542"/>
                </a:lnTo>
                <a:lnTo>
                  <a:pt x="13112" y="13158"/>
                </a:lnTo>
                <a:lnTo>
                  <a:pt x="11540" y="11728"/>
                </a:lnTo>
                <a:close/>
              </a:path>
              <a:path w="27304" h="38734">
                <a:moveTo>
                  <a:pt x="8921" y="5148"/>
                </a:moveTo>
                <a:lnTo>
                  <a:pt x="6713" y="7932"/>
                </a:lnTo>
                <a:lnTo>
                  <a:pt x="6794" y="11728"/>
                </a:lnTo>
                <a:lnTo>
                  <a:pt x="6905" y="12596"/>
                </a:lnTo>
                <a:lnTo>
                  <a:pt x="6977" y="13158"/>
                </a:lnTo>
                <a:lnTo>
                  <a:pt x="7074" y="13915"/>
                </a:lnTo>
                <a:lnTo>
                  <a:pt x="7197" y="14866"/>
                </a:lnTo>
                <a:lnTo>
                  <a:pt x="7298" y="15650"/>
                </a:lnTo>
                <a:lnTo>
                  <a:pt x="7438" y="15650"/>
                </a:lnTo>
                <a:lnTo>
                  <a:pt x="10627" y="18064"/>
                </a:lnTo>
                <a:lnTo>
                  <a:pt x="10984" y="18064"/>
                </a:lnTo>
                <a:lnTo>
                  <a:pt x="11092" y="17416"/>
                </a:lnTo>
                <a:lnTo>
                  <a:pt x="11201" y="16761"/>
                </a:lnTo>
                <a:lnTo>
                  <a:pt x="11319" y="15650"/>
                </a:lnTo>
                <a:lnTo>
                  <a:pt x="11425" y="13542"/>
                </a:lnTo>
                <a:lnTo>
                  <a:pt x="10443" y="12596"/>
                </a:lnTo>
                <a:lnTo>
                  <a:pt x="9933" y="11728"/>
                </a:lnTo>
                <a:lnTo>
                  <a:pt x="9854" y="11594"/>
                </a:lnTo>
                <a:lnTo>
                  <a:pt x="9742" y="11402"/>
                </a:lnTo>
                <a:lnTo>
                  <a:pt x="8529" y="6809"/>
                </a:lnTo>
                <a:lnTo>
                  <a:pt x="8453" y="5952"/>
                </a:lnTo>
                <a:lnTo>
                  <a:pt x="8921" y="5148"/>
                </a:lnTo>
                <a:close/>
              </a:path>
              <a:path w="27304" h="38734">
                <a:moveTo>
                  <a:pt x="20211" y="14866"/>
                </a:moveTo>
                <a:lnTo>
                  <a:pt x="18817" y="14866"/>
                </a:lnTo>
                <a:lnTo>
                  <a:pt x="16847" y="16761"/>
                </a:lnTo>
                <a:lnTo>
                  <a:pt x="15499" y="17416"/>
                </a:lnTo>
                <a:lnTo>
                  <a:pt x="15309" y="17416"/>
                </a:lnTo>
                <a:lnTo>
                  <a:pt x="10627" y="18064"/>
                </a:lnTo>
                <a:lnTo>
                  <a:pt x="12758" y="18064"/>
                </a:lnTo>
                <a:lnTo>
                  <a:pt x="12976" y="17829"/>
                </a:lnTo>
                <a:lnTo>
                  <a:pt x="20045" y="17829"/>
                </a:lnTo>
                <a:lnTo>
                  <a:pt x="17020" y="16761"/>
                </a:lnTo>
                <a:lnTo>
                  <a:pt x="21852" y="16761"/>
                </a:lnTo>
                <a:lnTo>
                  <a:pt x="22468" y="15650"/>
                </a:lnTo>
                <a:lnTo>
                  <a:pt x="17426" y="15650"/>
                </a:lnTo>
                <a:lnTo>
                  <a:pt x="20211" y="14866"/>
                </a:lnTo>
                <a:close/>
              </a:path>
              <a:path w="27304" h="38734">
                <a:moveTo>
                  <a:pt x="18753" y="6177"/>
                </a:moveTo>
                <a:lnTo>
                  <a:pt x="14834" y="6382"/>
                </a:lnTo>
                <a:lnTo>
                  <a:pt x="11680" y="9505"/>
                </a:lnTo>
                <a:lnTo>
                  <a:pt x="11641" y="10122"/>
                </a:lnTo>
                <a:lnTo>
                  <a:pt x="11540" y="11728"/>
                </a:lnTo>
                <a:lnTo>
                  <a:pt x="13112" y="13158"/>
                </a:lnTo>
                <a:lnTo>
                  <a:pt x="13230" y="15650"/>
                </a:lnTo>
                <a:lnTo>
                  <a:pt x="13333" y="17829"/>
                </a:lnTo>
                <a:lnTo>
                  <a:pt x="12356" y="17829"/>
                </a:lnTo>
                <a:lnTo>
                  <a:pt x="16255" y="16761"/>
                </a:lnTo>
                <a:lnTo>
                  <a:pt x="16847" y="16761"/>
                </a:lnTo>
                <a:lnTo>
                  <a:pt x="18817" y="14866"/>
                </a:lnTo>
                <a:lnTo>
                  <a:pt x="20211" y="14866"/>
                </a:lnTo>
                <a:lnTo>
                  <a:pt x="22168" y="14315"/>
                </a:lnTo>
                <a:lnTo>
                  <a:pt x="22581" y="14315"/>
                </a:lnTo>
                <a:lnTo>
                  <a:pt x="21925" y="12025"/>
                </a:lnTo>
                <a:lnTo>
                  <a:pt x="21802" y="11594"/>
                </a:lnTo>
                <a:lnTo>
                  <a:pt x="20929" y="10591"/>
                </a:lnTo>
                <a:lnTo>
                  <a:pt x="19862" y="10122"/>
                </a:lnTo>
                <a:lnTo>
                  <a:pt x="19683" y="9505"/>
                </a:lnTo>
                <a:lnTo>
                  <a:pt x="19266" y="6809"/>
                </a:lnTo>
                <a:lnTo>
                  <a:pt x="19221" y="6519"/>
                </a:lnTo>
                <a:lnTo>
                  <a:pt x="18753" y="6177"/>
                </a:lnTo>
                <a:close/>
              </a:path>
              <a:path w="27304" h="38734">
                <a:moveTo>
                  <a:pt x="16847" y="16761"/>
                </a:moveTo>
                <a:lnTo>
                  <a:pt x="16255" y="16761"/>
                </a:lnTo>
                <a:lnTo>
                  <a:pt x="12356" y="17829"/>
                </a:lnTo>
                <a:lnTo>
                  <a:pt x="15309" y="17416"/>
                </a:lnTo>
                <a:lnTo>
                  <a:pt x="15499" y="17416"/>
                </a:lnTo>
                <a:lnTo>
                  <a:pt x="16847" y="16761"/>
                </a:lnTo>
                <a:close/>
              </a:path>
              <a:path w="27304" h="38734">
                <a:moveTo>
                  <a:pt x="21852" y="16761"/>
                </a:moveTo>
                <a:lnTo>
                  <a:pt x="17020" y="16761"/>
                </a:lnTo>
                <a:lnTo>
                  <a:pt x="20045" y="17829"/>
                </a:lnTo>
                <a:lnTo>
                  <a:pt x="21489" y="17416"/>
                </a:lnTo>
                <a:lnTo>
                  <a:pt x="21852" y="16761"/>
                </a:lnTo>
                <a:close/>
              </a:path>
              <a:path w="27304" h="38734">
                <a:moveTo>
                  <a:pt x="6905" y="12596"/>
                </a:moveTo>
                <a:lnTo>
                  <a:pt x="6854" y="15061"/>
                </a:lnTo>
                <a:lnTo>
                  <a:pt x="7338" y="15650"/>
                </a:lnTo>
                <a:lnTo>
                  <a:pt x="7222" y="15061"/>
                </a:lnTo>
                <a:lnTo>
                  <a:pt x="7126" y="14315"/>
                </a:lnTo>
                <a:lnTo>
                  <a:pt x="7026" y="13542"/>
                </a:lnTo>
                <a:lnTo>
                  <a:pt x="6905" y="12596"/>
                </a:lnTo>
                <a:close/>
              </a:path>
              <a:path w="27304" h="38734">
                <a:moveTo>
                  <a:pt x="22581" y="14315"/>
                </a:moveTo>
                <a:lnTo>
                  <a:pt x="22168" y="14315"/>
                </a:lnTo>
                <a:lnTo>
                  <a:pt x="17426" y="15650"/>
                </a:lnTo>
                <a:lnTo>
                  <a:pt x="22468" y="15650"/>
                </a:lnTo>
                <a:lnTo>
                  <a:pt x="22795" y="15061"/>
                </a:lnTo>
                <a:lnTo>
                  <a:pt x="22581" y="14315"/>
                </a:lnTo>
                <a:close/>
              </a:path>
              <a:path w="27304" h="38734">
                <a:moveTo>
                  <a:pt x="23049" y="5952"/>
                </a:moveTo>
                <a:lnTo>
                  <a:pt x="18753" y="6177"/>
                </a:lnTo>
                <a:lnTo>
                  <a:pt x="19221" y="6519"/>
                </a:lnTo>
                <a:lnTo>
                  <a:pt x="19619" y="9094"/>
                </a:lnTo>
                <a:lnTo>
                  <a:pt x="19683" y="9505"/>
                </a:lnTo>
                <a:lnTo>
                  <a:pt x="19862" y="10122"/>
                </a:lnTo>
                <a:lnTo>
                  <a:pt x="20929" y="10591"/>
                </a:lnTo>
                <a:lnTo>
                  <a:pt x="21802" y="11594"/>
                </a:lnTo>
                <a:lnTo>
                  <a:pt x="22249" y="13158"/>
                </a:lnTo>
                <a:lnTo>
                  <a:pt x="22360" y="13542"/>
                </a:lnTo>
                <a:lnTo>
                  <a:pt x="22466" y="13915"/>
                </a:lnTo>
                <a:lnTo>
                  <a:pt x="22581" y="14315"/>
                </a:lnTo>
                <a:lnTo>
                  <a:pt x="22682" y="13915"/>
                </a:lnTo>
                <a:lnTo>
                  <a:pt x="24805" y="10122"/>
                </a:lnTo>
                <a:lnTo>
                  <a:pt x="23869" y="6809"/>
                </a:lnTo>
                <a:lnTo>
                  <a:pt x="23825" y="6650"/>
                </a:lnTo>
                <a:lnTo>
                  <a:pt x="23049" y="5952"/>
                </a:lnTo>
                <a:close/>
              </a:path>
              <a:path w="27304" h="38734">
                <a:moveTo>
                  <a:pt x="18580" y="0"/>
                </a:moveTo>
                <a:lnTo>
                  <a:pt x="10711" y="2075"/>
                </a:lnTo>
                <a:lnTo>
                  <a:pt x="8453" y="5952"/>
                </a:lnTo>
                <a:lnTo>
                  <a:pt x="8529" y="6809"/>
                </a:lnTo>
                <a:lnTo>
                  <a:pt x="9690" y="11206"/>
                </a:lnTo>
                <a:lnTo>
                  <a:pt x="9742" y="11402"/>
                </a:lnTo>
                <a:lnTo>
                  <a:pt x="10443" y="12596"/>
                </a:lnTo>
                <a:lnTo>
                  <a:pt x="11425" y="13542"/>
                </a:lnTo>
                <a:lnTo>
                  <a:pt x="11540" y="11728"/>
                </a:lnTo>
                <a:lnTo>
                  <a:pt x="10966" y="11206"/>
                </a:lnTo>
                <a:lnTo>
                  <a:pt x="11573" y="11206"/>
                </a:lnTo>
                <a:lnTo>
                  <a:pt x="11680" y="9505"/>
                </a:lnTo>
                <a:lnTo>
                  <a:pt x="14834" y="6382"/>
                </a:lnTo>
                <a:lnTo>
                  <a:pt x="18753" y="6177"/>
                </a:lnTo>
                <a:lnTo>
                  <a:pt x="17348" y="5148"/>
                </a:lnTo>
                <a:lnTo>
                  <a:pt x="8368" y="5148"/>
                </a:lnTo>
                <a:lnTo>
                  <a:pt x="15880" y="4072"/>
                </a:lnTo>
                <a:lnTo>
                  <a:pt x="23096" y="4072"/>
                </a:lnTo>
                <a:lnTo>
                  <a:pt x="22601" y="2318"/>
                </a:lnTo>
                <a:lnTo>
                  <a:pt x="22213" y="2075"/>
                </a:lnTo>
                <a:lnTo>
                  <a:pt x="18580" y="0"/>
                </a:lnTo>
                <a:close/>
              </a:path>
              <a:path w="27304" h="38734">
                <a:moveTo>
                  <a:pt x="11573" y="11206"/>
                </a:moveTo>
                <a:lnTo>
                  <a:pt x="10966" y="11206"/>
                </a:lnTo>
                <a:lnTo>
                  <a:pt x="11540" y="11728"/>
                </a:lnTo>
                <a:lnTo>
                  <a:pt x="11573" y="11206"/>
                </a:lnTo>
                <a:close/>
              </a:path>
              <a:path w="27304" h="38734">
                <a:moveTo>
                  <a:pt x="10711" y="2075"/>
                </a:moveTo>
                <a:lnTo>
                  <a:pt x="9790" y="2318"/>
                </a:lnTo>
                <a:lnTo>
                  <a:pt x="6113" y="6809"/>
                </a:lnTo>
                <a:lnTo>
                  <a:pt x="6429" y="9094"/>
                </a:lnTo>
                <a:lnTo>
                  <a:pt x="6449" y="9238"/>
                </a:lnTo>
                <a:lnTo>
                  <a:pt x="6572" y="10122"/>
                </a:lnTo>
                <a:lnTo>
                  <a:pt x="6637" y="10591"/>
                </a:lnTo>
                <a:lnTo>
                  <a:pt x="6713" y="7932"/>
                </a:lnTo>
                <a:lnTo>
                  <a:pt x="8904" y="5148"/>
                </a:lnTo>
                <a:lnTo>
                  <a:pt x="10711" y="2075"/>
                </a:lnTo>
                <a:close/>
              </a:path>
              <a:path w="27304" h="38734">
                <a:moveTo>
                  <a:pt x="26539" y="9094"/>
                </a:moveTo>
                <a:lnTo>
                  <a:pt x="26596" y="9505"/>
                </a:lnTo>
                <a:lnTo>
                  <a:pt x="26700" y="9238"/>
                </a:lnTo>
                <a:lnTo>
                  <a:pt x="26539" y="9094"/>
                </a:lnTo>
                <a:close/>
              </a:path>
              <a:path w="27304" h="38734">
                <a:moveTo>
                  <a:pt x="19067" y="0"/>
                </a:moveTo>
                <a:lnTo>
                  <a:pt x="18580" y="0"/>
                </a:lnTo>
                <a:lnTo>
                  <a:pt x="22213" y="2075"/>
                </a:lnTo>
                <a:lnTo>
                  <a:pt x="22601" y="2318"/>
                </a:lnTo>
                <a:lnTo>
                  <a:pt x="23627" y="5952"/>
                </a:lnTo>
                <a:lnTo>
                  <a:pt x="23749" y="6382"/>
                </a:lnTo>
                <a:lnTo>
                  <a:pt x="23825" y="6650"/>
                </a:lnTo>
                <a:lnTo>
                  <a:pt x="26539" y="9094"/>
                </a:lnTo>
                <a:lnTo>
                  <a:pt x="26409" y="8153"/>
                </a:lnTo>
                <a:lnTo>
                  <a:pt x="23217" y="2075"/>
                </a:lnTo>
                <a:lnTo>
                  <a:pt x="23392" y="2075"/>
                </a:lnTo>
                <a:lnTo>
                  <a:pt x="19067" y="0"/>
                </a:lnTo>
                <a:close/>
              </a:path>
              <a:path w="27304" h="38734">
                <a:moveTo>
                  <a:pt x="23627" y="5952"/>
                </a:moveTo>
                <a:lnTo>
                  <a:pt x="23049" y="5952"/>
                </a:lnTo>
                <a:lnTo>
                  <a:pt x="23679" y="6519"/>
                </a:lnTo>
                <a:lnTo>
                  <a:pt x="23627" y="5952"/>
                </a:lnTo>
                <a:close/>
              </a:path>
              <a:path w="27304" h="38734">
                <a:moveTo>
                  <a:pt x="23096" y="4072"/>
                </a:moveTo>
                <a:lnTo>
                  <a:pt x="15880" y="4072"/>
                </a:lnTo>
                <a:lnTo>
                  <a:pt x="18753" y="6177"/>
                </a:lnTo>
                <a:lnTo>
                  <a:pt x="23049" y="5952"/>
                </a:lnTo>
                <a:lnTo>
                  <a:pt x="23627" y="5952"/>
                </a:lnTo>
                <a:lnTo>
                  <a:pt x="23096" y="4072"/>
                </a:lnTo>
                <a:close/>
              </a:path>
              <a:path w="27304" h="38734">
                <a:moveTo>
                  <a:pt x="15880" y="4072"/>
                </a:moveTo>
                <a:lnTo>
                  <a:pt x="8368" y="5148"/>
                </a:lnTo>
                <a:lnTo>
                  <a:pt x="17348" y="5148"/>
                </a:lnTo>
                <a:lnTo>
                  <a:pt x="15880" y="40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6424" y="616325"/>
            <a:ext cx="1245920" cy="330509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4673618" y="1147183"/>
            <a:ext cx="23495" cy="43180"/>
          </a:xfrm>
          <a:custGeom>
            <a:avLst/>
            <a:gdLst/>
            <a:ahLst/>
            <a:cxnLst/>
            <a:rect l="l" t="t" r="r" b="b"/>
            <a:pathLst>
              <a:path w="23495" h="43180">
                <a:moveTo>
                  <a:pt x="7194" y="41882"/>
                </a:moveTo>
                <a:lnTo>
                  <a:pt x="10003" y="43158"/>
                </a:lnTo>
                <a:lnTo>
                  <a:pt x="12328" y="42285"/>
                </a:lnTo>
                <a:lnTo>
                  <a:pt x="10405" y="42285"/>
                </a:lnTo>
                <a:lnTo>
                  <a:pt x="7194" y="41882"/>
                </a:lnTo>
                <a:close/>
              </a:path>
              <a:path w="23495" h="43180">
                <a:moveTo>
                  <a:pt x="1922" y="30377"/>
                </a:moveTo>
                <a:lnTo>
                  <a:pt x="1417" y="31487"/>
                </a:lnTo>
                <a:lnTo>
                  <a:pt x="1326" y="31716"/>
                </a:lnTo>
                <a:lnTo>
                  <a:pt x="570" y="34608"/>
                </a:lnTo>
                <a:lnTo>
                  <a:pt x="527" y="34776"/>
                </a:lnTo>
                <a:lnTo>
                  <a:pt x="2899" y="39437"/>
                </a:lnTo>
                <a:lnTo>
                  <a:pt x="3349" y="40135"/>
                </a:lnTo>
                <a:lnTo>
                  <a:pt x="7194" y="41882"/>
                </a:lnTo>
                <a:lnTo>
                  <a:pt x="10405" y="42285"/>
                </a:lnTo>
                <a:lnTo>
                  <a:pt x="12572" y="41675"/>
                </a:lnTo>
                <a:lnTo>
                  <a:pt x="15393" y="39437"/>
                </a:lnTo>
                <a:lnTo>
                  <a:pt x="15827" y="38870"/>
                </a:lnTo>
                <a:lnTo>
                  <a:pt x="11864" y="38870"/>
                </a:lnTo>
                <a:lnTo>
                  <a:pt x="3723" y="35175"/>
                </a:lnTo>
                <a:lnTo>
                  <a:pt x="1922" y="30377"/>
                </a:lnTo>
                <a:close/>
              </a:path>
              <a:path w="23495" h="43180">
                <a:moveTo>
                  <a:pt x="15906" y="38870"/>
                </a:moveTo>
                <a:lnTo>
                  <a:pt x="15393" y="39437"/>
                </a:lnTo>
                <a:lnTo>
                  <a:pt x="12572" y="41675"/>
                </a:lnTo>
                <a:lnTo>
                  <a:pt x="10405" y="42285"/>
                </a:lnTo>
                <a:lnTo>
                  <a:pt x="12328" y="42285"/>
                </a:lnTo>
                <a:lnTo>
                  <a:pt x="14832" y="41346"/>
                </a:lnTo>
                <a:lnTo>
                  <a:pt x="15906" y="38870"/>
                </a:lnTo>
                <a:close/>
              </a:path>
              <a:path w="23495" h="43180">
                <a:moveTo>
                  <a:pt x="3349" y="40135"/>
                </a:moveTo>
                <a:lnTo>
                  <a:pt x="5544" y="41675"/>
                </a:lnTo>
                <a:lnTo>
                  <a:pt x="7194" y="41882"/>
                </a:lnTo>
                <a:lnTo>
                  <a:pt x="3349" y="40135"/>
                </a:lnTo>
                <a:close/>
              </a:path>
              <a:path w="23495" h="43180">
                <a:moveTo>
                  <a:pt x="1232" y="32073"/>
                </a:moveTo>
                <a:lnTo>
                  <a:pt x="805" y="32834"/>
                </a:lnTo>
                <a:lnTo>
                  <a:pt x="0" y="34608"/>
                </a:lnTo>
                <a:lnTo>
                  <a:pt x="1812" y="39437"/>
                </a:lnTo>
                <a:lnTo>
                  <a:pt x="3349" y="40135"/>
                </a:lnTo>
                <a:lnTo>
                  <a:pt x="2899" y="39437"/>
                </a:lnTo>
                <a:lnTo>
                  <a:pt x="527" y="34776"/>
                </a:lnTo>
                <a:lnTo>
                  <a:pt x="1232" y="32073"/>
                </a:lnTo>
                <a:close/>
              </a:path>
              <a:path w="23495" h="43180">
                <a:moveTo>
                  <a:pt x="3940" y="25934"/>
                </a:moveTo>
                <a:lnTo>
                  <a:pt x="1922" y="30377"/>
                </a:lnTo>
                <a:lnTo>
                  <a:pt x="3723" y="35175"/>
                </a:lnTo>
                <a:lnTo>
                  <a:pt x="11864" y="38870"/>
                </a:lnTo>
                <a:lnTo>
                  <a:pt x="16655" y="37145"/>
                </a:lnTo>
                <a:lnTo>
                  <a:pt x="17523" y="35312"/>
                </a:lnTo>
                <a:lnTo>
                  <a:pt x="17476" y="32834"/>
                </a:lnTo>
                <a:lnTo>
                  <a:pt x="17242" y="32073"/>
                </a:lnTo>
                <a:lnTo>
                  <a:pt x="17133" y="31716"/>
                </a:lnTo>
                <a:lnTo>
                  <a:pt x="17062" y="31487"/>
                </a:lnTo>
                <a:lnTo>
                  <a:pt x="16960" y="30377"/>
                </a:lnTo>
                <a:lnTo>
                  <a:pt x="16885" y="29561"/>
                </a:lnTo>
                <a:lnTo>
                  <a:pt x="12045" y="29561"/>
                </a:lnTo>
                <a:lnTo>
                  <a:pt x="5133" y="27889"/>
                </a:lnTo>
                <a:lnTo>
                  <a:pt x="3940" y="25934"/>
                </a:lnTo>
                <a:close/>
              </a:path>
              <a:path w="23495" h="43180">
                <a:moveTo>
                  <a:pt x="16655" y="37145"/>
                </a:moveTo>
                <a:lnTo>
                  <a:pt x="11864" y="38870"/>
                </a:lnTo>
                <a:lnTo>
                  <a:pt x="15827" y="38870"/>
                </a:lnTo>
                <a:lnTo>
                  <a:pt x="16228" y="38342"/>
                </a:lnTo>
                <a:lnTo>
                  <a:pt x="16447" y="37623"/>
                </a:lnTo>
                <a:lnTo>
                  <a:pt x="16655" y="37145"/>
                </a:lnTo>
                <a:close/>
              </a:path>
              <a:path w="23495" h="43180">
                <a:moveTo>
                  <a:pt x="16665" y="23213"/>
                </a:moveTo>
                <a:lnTo>
                  <a:pt x="16779" y="28401"/>
                </a:lnTo>
                <a:lnTo>
                  <a:pt x="16885" y="29561"/>
                </a:lnTo>
                <a:lnTo>
                  <a:pt x="16960" y="30377"/>
                </a:lnTo>
                <a:lnTo>
                  <a:pt x="17062" y="31487"/>
                </a:lnTo>
                <a:lnTo>
                  <a:pt x="17476" y="32834"/>
                </a:lnTo>
                <a:lnTo>
                  <a:pt x="17530" y="35175"/>
                </a:lnTo>
                <a:lnTo>
                  <a:pt x="17751" y="34776"/>
                </a:lnTo>
                <a:lnTo>
                  <a:pt x="20339" y="28724"/>
                </a:lnTo>
                <a:lnTo>
                  <a:pt x="19444" y="26492"/>
                </a:lnTo>
                <a:lnTo>
                  <a:pt x="19387" y="26348"/>
                </a:lnTo>
                <a:lnTo>
                  <a:pt x="16996" y="26348"/>
                </a:lnTo>
                <a:lnTo>
                  <a:pt x="18627" y="24749"/>
                </a:lnTo>
                <a:lnTo>
                  <a:pt x="18609" y="24409"/>
                </a:lnTo>
                <a:lnTo>
                  <a:pt x="18441" y="23991"/>
                </a:lnTo>
                <a:lnTo>
                  <a:pt x="16665" y="23213"/>
                </a:lnTo>
                <a:close/>
              </a:path>
              <a:path w="23495" h="43180">
                <a:moveTo>
                  <a:pt x="3009" y="24409"/>
                </a:moveTo>
                <a:lnTo>
                  <a:pt x="2290" y="27437"/>
                </a:lnTo>
                <a:lnTo>
                  <a:pt x="1365" y="31487"/>
                </a:lnTo>
                <a:lnTo>
                  <a:pt x="1921" y="30377"/>
                </a:lnTo>
                <a:lnTo>
                  <a:pt x="3939" y="25934"/>
                </a:lnTo>
                <a:lnTo>
                  <a:pt x="3009" y="24409"/>
                </a:lnTo>
                <a:close/>
              </a:path>
              <a:path w="23495" h="43180">
                <a:moveTo>
                  <a:pt x="5175" y="23213"/>
                </a:moveTo>
                <a:lnTo>
                  <a:pt x="3940" y="25934"/>
                </a:lnTo>
                <a:lnTo>
                  <a:pt x="5133" y="27889"/>
                </a:lnTo>
                <a:lnTo>
                  <a:pt x="12045" y="29561"/>
                </a:lnTo>
                <a:lnTo>
                  <a:pt x="15525" y="27437"/>
                </a:lnTo>
                <a:lnTo>
                  <a:pt x="15771" y="26492"/>
                </a:lnTo>
                <a:lnTo>
                  <a:pt x="15809" y="26348"/>
                </a:lnTo>
                <a:lnTo>
                  <a:pt x="8248" y="26348"/>
                </a:lnTo>
                <a:lnTo>
                  <a:pt x="5175" y="23213"/>
                </a:lnTo>
                <a:close/>
              </a:path>
              <a:path w="23495" h="43180">
                <a:moveTo>
                  <a:pt x="16577" y="23394"/>
                </a:moveTo>
                <a:lnTo>
                  <a:pt x="16365" y="23991"/>
                </a:lnTo>
                <a:lnTo>
                  <a:pt x="15525" y="27437"/>
                </a:lnTo>
                <a:lnTo>
                  <a:pt x="12045" y="29561"/>
                </a:lnTo>
                <a:lnTo>
                  <a:pt x="16885" y="29561"/>
                </a:lnTo>
                <a:lnTo>
                  <a:pt x="16779" y="28401"/>
                </a:lnTo>
                <a:lnTo>
                  <a:pt x="16666" y="25600"/>
                </a:lnTo>
                <a:lnTo>
                  <a:pt x="16577" y="23394"/>
                </a:lnTo>
                <a:close/>
              </a:path>
              <a:path w="23495" h="43180">
                <a:moveTo>
                  <a:pt x="20673" y="22802"/>
                </a:moveTo>
                <a:lnTo>
                  <a:pt x="20196" y="23213"/>
                </a:lnTo>
                <a:lnTo>
                  <a:pt x="18975" y="24409"/>
                </a:lnTo>
                <a:lnTo>
                  <a:pt x="18746" y="24749"/>
                </a:lnTo>
                <a:lnTo>
                  <a:pt x="20340" y="28724"/>
                </a:lnTo>
                <a:lnTo>
                  <a:pt x="20477" y="28401"/>
                </a:lnTo>
                <a:lnTo>
                  <a:pt x="20596" y="25600"/>
                </a:lnTo>
                <a:lnTo>
                  <a:pt x="20673" y="22802"/>
                </a:lnTo>
                <a:close/>
              </a:path>
              <a:path w="23495" h="43180">
                <a:moveTo>
                  <a:pt x="10275" y="20481"/>
                </a:moveTo>
                <a:lnTo>
                  <a:pt x="5589" y="22301"/>
                </a:lnTo>
                <a:lnTo>
                  <a:pt x="5175" y="23213"/>
                </a:lnTo>
                <a:lnTo>
                  <a:pt x="8248" y="26348"/>
                </a:lnTo>
                <a:lnTo>
                  <a:pt x="15809" y="26348"/>
                </a:lnTo>
                <a:lnTo>
                  <a:pt x="16506" y="23394"/>
                </a:lnTo>
                <a:lnTo>
                  <a:pt x="16548" y="23213"/>
                </a:lnTo>
                <a:lnTo>
                  <a:pt x="15705" y="22802"/>
                </a:lnTo>
                <a:lnTo>
                  <a:pt x="10275" y="20481"/>
                </a:lnTo>
                <a:close/>
              </a:path>
              <a:path w="23495" h="43180">
                <a:moveTo>
                  <a:pt x="18746" y="24749"/>
                </a:moveTo>
                <a:lnTo>
                  <a:pt x="17759" y="25600"/>
                </a:lnTo>
                <a:lnTo>
                  <a:pt x="16996" y="26348"/>
                </a:lnTo>
                <a:lnTo>
                  <a:pt x="19387" y="26348"/>
                </a:lnTo>
                <a:lnTo>
                  <a:pt x="18746" y="24749"/>
                </a:lnTo>
                <a:close/>
              </a:path>
              <a:path w="23495" h="43180">
                <a:moveTo>
                  <a:pt x="4664" y="17755"/>
                </a:moveTo>
                <a:lnTo>
                  <a:pt x="4466" y="18384"/>
                </a:lnTo>
                <a:lnTo>
                  <a:pt x="3110" y="23991"/>
                </a:lnTo>
                <a:lnTo>
                  <a:pt x="3009" y="24409"/>
                </a:lnTo>
                <a:lnTo>
                  <a:pt x="3940" y="25934"/>
                </a:lnTo>
                <a:lnTo>
                  <a:pt x="4090" y="25600"/>
                </a:lnTo>
                <a:lnTo>
                  <a:pt x="4188" y="24749"/>
                </a:lnTo>
                <a:lnTo>
                  <a:pt x="4296" y="23991"/>
                </a:lnTo>
                <a:lnTo>
                  <a:pt x="4398" y="23394"/>
                </a:lnTo>
                <a:lnTo>
                  <a:pt x="4498" y="22802"/>
                </a:lnTo>
                <a:lnTo>
                  <a:pt x="4624" y="21675"/>
                </a:lnTo>
                <a:lnTo>
                  <a:pt x="4664" y="17755"/>
                </a:lnTo>
                <a:close/>
              </a:path>
              <a:path w="23495" h="43180">
                <a:moveTo>
                  <a:pt x="4545" y="22570"/>
                </a:moveTo>
                <a:lnTo>
                  <a:pt x="4091" y="25600"/>
                </a:lnTo>
                <a:lnTo>
                  <a:pt x="5092" y="23394"/>
                </a:lnTo>
                <a:lnTo>
                  <a:pt x="5175" y="23213"/>
                </a:lnTo>
                <a:lnTo>
                  <a:pt x="4545" y="22570"/>
                </a:lnTo>
                <a:close/>
              </a:path>
              <a:path w="23495" h="43180">
                <a:moveTo>
                  <a:pt x="20619" y="9742"/>
                </a:moveTo>
                <a:lnTo>
                  <a:pt x="19938" y="10159"/>
                </a:lnTo>
                <a:lnTo>
                  <a:pt x="18284" y="12619"/>
                </a:lnTo>
                <a:lnTo>
                  <a:pt x="17689" y="13583"/>
                </a:lnTo>
                <a:lnTo>
                  <a:pt x="17322" y="14004"/>
                </a:lnTo>
                <a:lnTo>
                  <a:pt x="16635" y="14565"/>
                </a:lnTo>
                <a:lnTo>
                  <a:pt x="16665" y="23213"/>
                </a:lnTo>
                <a:lnTo>
                  <a:pt x="18441" y="23991"/>
                </a:lnTo>
                <a:lnTo>
                  <a:pt x="18746" y="24749"/>
                </a:lnTo>
                <a:lnTo>
                  <a:pt x="18975" y="24409"/>
                </a:lnTo>
                <a:lnTo>
                  <a:pt x="20614" y="22802"/>
                </a:lnTo>
                <a:lnTo>
                  <a:pt x="20650" y="19249"/>
                </a:lnTo>
                <a:lnTo>
                  <a:pt x="15796" y="19249"/>
                </a:lnTo>
                <a:lnTo>
                  <a:pt x="19014" y="18714"/>
                </a:lnTo>
                <a:lnTo>
                  <a:pt x="20401" y="16774"/>
                </a:lnTo>
                <a:lnTo>
                  <a:pt x="16995" y="16774"/>
                </a:lnTo>
                <a:lnTo>
                  <a:pt x="20249" y="13583"/>
                </a:lnTo>
                <a:lnTo>
                  <a:pt x="19396" y="12619"/>
                </a:lnTo>
                <a:lnTo>
                  <a:pt x="18801" y="12028"/>
                </a:lnTo>
                <a:lnTo>
                  <a:pt x="20596" y="12028"/>
                </a:lnTo>
                <a:lnTo>
                  <a:pt x="20619" y="9742"/>
                </a:lnTo>
                <a:close/>
              </a:path>
              <a:path w="23495" h="43180">
                <a:moveTo>
                  <a:pt x="5601" y="14004"/>
                </a:moveTo>
                <a:lnTo>
                  <a:pt x="5446" y="14335"/>
                </a:lnTo>
                <a:lnTo>
                  <a:pt x="4666" y="17560"/>
                </a:lnTo>
                <a:lnTo>
                  <a:pt x="4545" y="22570"/>
                </a:lnTo>
                <a:lnTo>
                  <a:pt x="5175" y="23213"/>
                </a:lnTo>
                <a:lnTo>
                  <a:pt x="5361" y="22802"/>
                </a:lnTo>
                <a:lnTo>
                  <a:pt x="5467" y="22570"/>
                </a:lnTo>
                <a:lnTo>
                  <a:pt x="5589" y="22301"/>
                </a:lnTo>
                <a:lnTo>
                  <a:pt x="10275" y="20481"/>
                </a:lnTo>
                <a:lnTo>
                  <a:pt x="16460" y="20481"/>
                </a:lnTo>
                <a:lnTo>
                  <a:pt x="16411" y="19249"/>
                </a:lnTo>
                <a:lnTo>
                  <a:pt x="15796" y="19249"/>
                </a:lnTo>
                <a:lnTo>
                  <a:pt x="14584" y="18384"/>
                </a:lnTo>
                <a:lnTo>
                  <a:pt x="4249" y="18384"/>
                </a:lnTo>
                <a:lnTo>
                  <a:pt x="6818" y="16273"/>
                </a:lnTo>
                <a:lnTo>
                  <a:pt x="7826" y="16273"/>
                </a:lnTo>
                <a:lnTo>
                  <a:pt x="5601" y="14004"/>
                </a:lnTo>
                <a:close/>
              </a:path>
              <a:path w="23495" h="43180">
                <a:moveTo>
                  <a:pt x="16460" y="20481"/>
                </a:moveTo>
                <a:lnTo>
                  <a:pt x="10275" y="20481"/>
                </a:lnTo>
                <a:lnTo>
                  <a:pt x="16665" y="23213"/>
                </a:lnTo>
                <a:lnTo>
                  <a:pt x="16544" y="22570"/>
                </a:lnTo>
                <a:lnTo>
                  <a:pt x="16460" y="20481"/>
                </a:lnTo>
                <a:close/>
              </a:path>
              <a:path w="23495" h="43180">
                <a:moveTo>
                  <a:pt x="17110" y="12028"/>
                </a:moveTo>
                <a:lnTo>
                  <a:pt x="6731" y="12028"/>
                </a:lnTo>
                <a:lnTo>
                  <a:pt x="6831" y="12202"/>
                </a:lnTo>
                <a:lnTo>
                  <a:pt x="6928" y="12371"/>
                </a:lnTo>
                <a:lnTo>
                  <a:pt x="7031" y="12619"/>
                </a:lnTo>
                <a:lnTo>
                  <a:pt x="7891" y="13583"/>
                </a:lnTo>
                <a:lnTo>
                  <a:pt x="9121" y="15064"/>
                </a:lnTo>
                <a:lnTo>
                  <a:pt x="10618" y="15618"/>
                </a:lnTo>
                <a:lnTo>
                  <a:pt x="11628" y="16273"/>
                </a:lnTo>
                <a:lnTo>
                  <a:pt x="15796" y="19249"/>
                </a:lnTo>
                <a:lnTo>
                  <a:pt x="16411" y="19249"/>
                </a:lnTo>
                <a:lnTo>
                  <a:pt x="16389" y="18714"/>
                </a:lnTo>
                <a:lnTo>
                  <a:pt x="16106" y="18384"/>
                </a:lnTo>
                <a:lnTo>
                  <a:pt x="14353" y="16774"/>
                </a:lnTo>
                <a:lnTo>
                  <a:pt x="14879" y="16774"/>
                </a:lnTo>
                <a:lnTo>
                  <a:pt x="11965" y="16421"/>
                </a:lnTo>
                <a:lnTo>
                  <a:pt x="13969" y="16421"/>
                </a:lnTo>
                <a:lnTo>
                  <a:pt x="13095" y="15618"/>
                </a:lnTo>
                <a:lnTo>
                  <a:pt x="15324" y="15618"/>
                </a:lnTo>
                <a:lnTo>
                  <a:pt x="16628" y="14565"/>
                </a:lnTo>
                <a:lnTo>
                  <a:pt x="16723" y="13583"/>
                </a:lnTo>
                <a:lnTo>
                  <a:pt x="16847" y="12202"/>
                </a:lnTo>
                <a:lnTo>
                  <a:pt x="17110" y="12028"/>
                </a:lnTo>
                <a:close/>
              </a:path>
              <a:path w="23495" h="43180">
                <a:moveTo>
                  <a:pt x="20653" y="16421"/>
                </a:moveTo>
                <a:lnTo>
                  <a:pt x="19014" y="18714"/>
                </a:lnTo>
                <a:lnTo>
                  <a:pt x="15796" y="19249"/>
                </a:lnTo>
                <a:lnTo>
                  <a:pt x="20650" y="19249"/>
                </a:lnTo>
                <a:lnTo>
                  <a:pt x="20653" y="16421"/>
                </a:lnTo>
                <a:close/>
              </a:path>
              <a:path w="23495" h="43180">
                <a:moveTo>
                  <a:pt x="15324" y="15618"/>
                </a:moveTo>
                <a:lnTo>
                  <a:pt x="13095" y="15618"/>
                </a:lnTo>
                <a:lnTo>
                  <a:pt x="16465" y="18714"/>
                </a:lnTo>
                <a:lnTo>
                  <a:pt x="16468" y="16421"/>
                </a:lnTo>
                <a:lnTo>
                  <a:pt x="14331" y="16421"/>
                </a:lnTo>
                <a:lnTo>
                  <a:pt x="15324" y="15618"/>
                </a:lnTo>
                <a:close/>
              </a:path>
              <a:path w="23495" h="43180">
                <a:moveTo>
                  <a:pt x="7826" y="16273"/>
                </a:moveTo>
                <a:lnTo>
                  <a:pt x="6818" y="16273"/>
                </a:lnTo>
                <a:lnTo>
                  <a:pt x="4249" y="18384"/>
                </a:lnTo>
                <a:lnTo>
                  <a:pt x="14584" y="18384"/>
                </a:lnTo>
                <a:lnTo>
                  <a:pt x="12329" y="16774"/>
                </a:lnTo>
                <a:lnTo>
                  <a:pt x="8316" y="16774"/>
                </a:lnTo>
                <a:lnTo>
                  <a:pt x="7826" y="16273"/>
                </a:lnTo>
                <a:close/>
              </a:path>
              <a:path w="23495" h="43180">
                <a:moveTo>
                  <a:pt x="14020" y="0"/>
                </a:moveTo>
                <a:lnTo>
                  <a:pt x="11215" y="0"/>
                </a:lnTo>
                <a:lnTo>
                  <a:pt x="6719" y="2462"/>
                </a:lnTo>
                <a:lnTo>
                  <a:pt x="5965" y="3210"/>
                </a:lnTo>
                <a:lnTo>
                  <a:pt x="5002" y="5222"/>
                </a:lnTo>
                <a:lnTo>
                  <a:pt x="4785" y="5816"/>
                </a:lnTo>
                <a:lnTo>
                  <a:pt x="4666" y="17560"/>
                </a:lnTo>
                <a:lnTo>
                  <a:pt x="5135" y="15618"/>
                </a:lnTo>
                <a:lnTo>
                  <a:pt x="5172" y="15466"/>
                </a:lnTo>
                <a:lnTo>
                  <a:pt x="5269" y="15064"/>
                </a:lnTo>
                <a:lnTo>
                  <a:pt x="5390" y="14565"/>
                </a:lnTo>
                <a:lnTo>
                  <a:pt x="5446" y="14335"/>
                </a:lnTo>
                <a:lnTo>
                  <a:pt x="5526" y="14004"/>
                </a:lnTo>
                <a:lnTo>
                  <a:pt x="4545" y="14004"/>
                </a:lnTo>
                <a:lnTo>
                  <a:pt x="6189" y="12371"/>
                </a:lnTo>
                <a:lnTo>
                  <a:pt x="6276" y="12202"/>
                </a:lnTo>
                <a:lnTo>
                  <a:pt x="6364" y="12028"/>
                </a:lnTo>
                <a:lnTo>
                  <a:pt x="6534" y="12028"/>
                </a:lnTo>
                <a:lnTo>
                  <a:pt x="5485" y="10778"/>
                </a:lnTo>
                <a:lnTo>
                  <a:pt x="5385" y="8873"/>
                </a:lnTo>
                <a:lnTo>
                  <a:pt x="5309" y="7426"/>
                </a:lnTo>
                <a:lnTo>
                  <a:pt x="9090" y="1839"/>
                </a:lnTo>
                <a:lnTo>
                  <a:pt x="8853" y="1839"/>
                </a:lnTo>
                <a:lnTo>
                  <a:pt x="12224" y="1103"/>
                </a:lnTo>
                <a:lnTo>
                  <a:pt x="12521" y="939"/>
                </a:lnTo>
                <a:lnTo>
                  <a:pt x="15851" y="939"/>
                </a:lnTo>
                <a:lnTo>
                  <a:pt x="14020" y="0"/>
                </a:lnTo>
                <a:close/>
              </a:path>
              <a:path w="23495" h="43180">
                <a:moveTo>
                  <a:pt x="6534" y="12028"/>
                </a:moveTo>
                <a:lnTo>
                  <a:pt x="6189" y="12371"/>
                </a:lnTo>
                <a:lnTo>
                  <a:pt x="5627" y="13583"/>
                </a:lnTo>
                <a:lnTo>
                  <a:pt x="5601" y="14004"/>
                </a:lnTo>
                <a:lnTo>
                  <a:pt x="8316" y="16774"/>
                </a:lnTo>
                <a:lnTo>
                  <a:pt x="12329" y="16774"/>
                </a:lnTo>
                <a:lnTo>
                  <a:pt x="11835" y="16421"/>
                </a:lnTo>
                <a:lnTo>
                  <a:pt x="12061" y="16421"/>
                </a:lnTo>
                <a:lnTo>
                  <a:pt x="10086" y="16273"/>
                </a:lnTo>
                <a:lnTo>
                  <a:pt x="9099" y="15064"/>
                </a:lnTo>
                <a:lnTo>
                  <a:pt x="7866" y="14004"/>
                </a:lnTo>
                <a:lnTo>
                  <a:pt x="7071" y="12619"/>
                </a:lnTo>
                <a:lnTo>
                  <a:pt x="6822" y="12371"/>
                </a:lnTo>
                <a:lnTo>
                  <a:pt x="6534" y="12028"/>
                </a:lnTo>
                <a:close/>
              </a:path>
              <a:path w="23495" h="43180">
                <a:moveTo>
                  <a:pt x="13969" y="16421"/>
                </a:moveTo>
                <a:lnTo>
                  <a:pt x="11965" y="16421"/>
                </a:lnTo>
                <a:lnTo>
                  <a:pt x="14879" y="16774"/>
                </a:lnTo>
                <a:lnTo>
                  <a:pt x="14353" y="16774"/>
                </a:lnTo>
                <a:lnTo>
                  <a:pt x="13969" y="16421"/>
                </a:lnTo>
                <a:close/>
              </a:path>
              <a:path w="23495" h="43180">
                <a:moveTo>
                  <a:pt x="20596" y="12028"/>
                </a:moveTo>
                <a:lnTo>
                  <a:pt x="18801" y="12028"/>
                </a:lnTo>
                <a:lnTo>
                  <a:pt x="20789" y="14004"/>
                </a:lnTo>
                <a:lnTo>
                  <a:pt x="19821" y="14004"/>
                </a:lnTo>
                <a:lnTo>
                  <a:pt x="16995" y="16774"/>
                </a:lnTo>
                <a:lnTo>
                  <a:pt x="20401" y="16774"/>
                </a:lnTo>
                <a:lnTo>
                  <a:pt x="20653" y="16421"/>
                </a:lnTo>
                <a:lnTo>
                  <a:pt x="20652" y="16273"/>
                </a:lnTo>
                <a:lnTo>
                  <a:pt x="4139" y="16273"/>
                </a:lnTo>
                <a:lnTo>
                  <a:pt x="19678" y="15618"/>
                </a:lnTo>
                <a:lnTo>
                  <a:pt x="20650" y="15618"/>
                </a:lnTo>
                <a:lnTo>
                  <a:pt x="20645" y="14004"/>
                </a:lnTo>
                <a:lnTo>
                  <a:pt x="20789" y="14004"/>
                </a:lnTo>
                <a:lnTo>
                  <a:pt x="20366" y="13583"/>
                </a:lnTo>
                <a:lnTo>
                  <a:pt x="20644" y="13583"/>
                </a:lnTo>
                <a:lnTo>
                  <a:pt x="20596" y="12028"/>
                </a:lnTo>
                <a:close/>
              </a:path>
              <a:path w="23495" h="43180">
                <a:moveTo>
                  <a:pt x="9121" y="15064"/>
                </a:moveTo>
                <a:lnTo>
                  <a:pt x="10086" y="16273"/>
                </a:lnTo>
                <a:lnTo>
                  <a:pt x="12061" y="16421"/>
                </a:lnTo>
                <a:lnTo>
                  <a:pt x="11835" y="16421"/>
                </a:lnTo>
                <a:lnTo>
                  <a:pt x="10618" y="15618"/>
                </a:lnTo>
                <a:lnTo>
                  <a:pt x="9121" y="15064"/>
                </a:lnTo>
                <a:close/>
              </a:path>
              <a:path w="23495" h="43180">
                <a:moveTo>
                  <a:pt x="16635" y="14565"/>
                </a:moveTo>
                <a:lnTo>
                  <a:pt x="14331" y="16421"/>
                </a:lnTo>
                <a:lnTo>
                  <a:pt x="16468" y="16421"/>
                </a:lnTo>
                <a:lnTo>
                  <a:pt x="16590" y="15064"/>
                </a:lnTo>
                <a:lnTo>
                  <a:pt x="16635" y="14565"/>
                </a:lnTo>
                <a:close/>
              </a:path>
              <a:path w="23495" h="43180">
                <a:moveTo>
                  <a:pt x="20650" y="15618"/>
                </a:moveTo>
                <a:lnTo>
                  <a:pt x="19678" y="15618"/>
                </a:lnTo>
                <a:lnTo>
                  <a:pt x="4139" y="16273"/>
                </a:lnTo>
                <a:lnTo>
                  <a:pt x="20652" y="16273"/>
                </a:lnTo>
                <a:lnTo>
                  <a:pt x="20650" y="15618"/>
                </a:lnTo>
                <a:close/>
              </a:path>
              <a:path w="23495" h="43180">
                <a:moveTo>
                  <a:pt x="21273" y="9277"/>
                </a:moveTo>
                <a:lnTo>
                  <a:pt x="20632" y="9742"/>
                </a:lnTo>
                <a:lnTo>
                  <a:pt x="20652" y="16273"/>
                </a:lnTo>
                <a:lnTo>
                  <a:pt x="21227" y="15618"/>
                </a:lnTo>
                <a:lnTo>
                  <a:pt x="21336" y="15466"/>
                </a:lnTo>
                <a:lnTo>
                  <a:pt x="21604" y="14565"/>
                </a:lnTo>
                <a:lnTo>
                  <a:pt x="21493" y="10778"/>
                </a:lnTo>
                <a:lnTo>
                  <a:pt x="21405" y="9742"/>
                </a:lnTo>
                <a:lnTo>
                  <a:pt x="21316" y="9428"/>
                </a:lnTo>
                <a:lnTo>
                  <a:pt x="21273" y="9277"/>
                </a:lnTo>
                <a:close/>
              </a:path>
              <a:path w="23495" h="43180">
                <a:moveTo>
                  <a:pt x="7031" y="12619"/>
                </a:moveTo>
                <a:lnTo>
                  <a:pt x="7866" y="14004"/>
                </a:lnTo>
                <a:lnTo>
                  <a:pt x="9121" y="15064"/>
                </a:lnTo>
                <a:lnTo>
                  <a:pt x="7891" y="13583"/>
                </a:lnTo>
                <a:lnTo>
                  <a:pt x="7031" y="12619"/>
                </a:lnTo>
                <a:close/>
              </a:path>
              <a:path w="23495" h="43180">
                <a:moveTo>
                  <a:pt x="19938" y="10159"/>
                </a:moveTo>
                <a:lnTo>
                  <a:pt x="16847" y="12202"/>
                </a:lnTo>
                <a:lnTo>
                  <a:pt x="16723" y="13583"/>
                </a:lnTo>
                <a:lnTo>
                  <a:pt x="16635" y="14565"/>
                </a:lnTo>
                <a:lnTo>
                  <a:pt x="17322" y="14004"/>
                </a:lnTo>
                <a:lnTo>
                  <a:pt x="17689" y="13583"/>
                </a:lnTo>
                <a:lnTo>
                  <a:pt x="18441" y="12371"/>
                </a:lnTo>
                <a:lnTo>
                  <a:pt x="18556" y="12202"/>
                </a:lnTo>
                <a:lnTo>
                  <a:pt x="18673" y="12028"/>
                </a:lnTo>
                <a:lnTo>
                  <a:pt x="18801" y="12028"/>
                </a:lnTo>
                <a:lnTo>
                  <a:pt x="18247" y="11478"/>
                </a:lnTo>
                <a:lnTo>
                  <a:pt x="19045" y="11478"/>
                </a:lnTo>
                <a:lnTo>
                  <a:pt x="19831" y="10317"/>
                </a:lnTo>
                <a:lnTo>
                  <a:pt x="19938" y="10159"/>
                </a:lnTo>
                <a:close/>
              </a:path>
              <a:path w="23495" h="43180">
                <a:moveTo>
                  <a:pt x="6062" y="12619"/>
                </a:moveTo>
                <a:lnTo>
                  <a:pt x="4968" y="13583"/>
                </a:lnTo>
                <a:lnTo>
                  <a:pt x="4545" y="14004"/>
                </a:lnTo>
                <a:lnTo>
                  <a:pt x="5601" y="14004"/>
                </a:lnTo>
                <a:lnTo>
                  <a:pt x="5189" y="13583"/>
                </a:lnTo>
                <a:lnTo>
                  <a:pt x="5568" y="13583"/>
                </a:lnTo>
                <a:lnTo>
                  <a:pt x="6062" y="12619"/>
                </a:lnTo>
                <a:close/>
              </a:path>
              <a:path w="23495" h="43180">
                <a:moveTo>
                  <a:pt x="4715" y="12619"/>
                </a:moveTo>
                <a:lnTo>
                  <a:pt x="4244" y="12619"/>
                </a:lnTo>
                <a:lnTo>
                  <a:pt x="5601" y="14004"/>
                </a:lnTo>
                <a:lnTo>
                  <a:pt x="5627" y="13583"/>
                </a:lnTo>
                <a:lnTo>
                  <a:pt x="4706" y="13583"/>
                </a:lnTo>
                <a:lnTo>
                  <a:pt x="4715" y="12619"/>
                </a:lnTo>
                <a:close/>
              </a:path>
              <a:path w="23495" h="43180">
                <a:moveTo>
                  <a:pt x="17079" y="10317"/>
                </a:moveTo>
                <a:lnTo>
                  <a:pt x="8257" y="10317"/>
                </a:lnTo>
                <a:lnTo>
                  <a:pt x="6534" y="12028"/>
                </a:lnTo>
                <a:lnTo>
                  <a:pt x="6822" y="12371"/>
                </a:lnTo>
                <a:lnTo>
                  <a:pt x="6731" y="12028"/>
                </a:lnTo>
                <a:lnTo>
                  <a:pt x="17110" y="12028"/>
                </a:lnTo>
                <a:lnTo>
                  <a:pt x="17942" y="11478"/>
                </a:lnTo>
                <a:lnTo>
                  <a:pt x="18247" y="11478"/>
                </a:lnTo>
                <a:lnTo>
                  <a:pt x="17079" y="10317"/>
                </a:lnTo>
                <a:close/>
              </a:path>
              <a:path w="23495" h="43180">
                <a:moveTo>
                  <a:pt x="16053" y="2775"/>
                </a:moveTo>
                <a:lnTo>
                  <a:pt x="9544" y="5816"/>
                </a:lnTo>
                <a:lnTo>
                  <a:pt x="6646" y="11478"/>
                </a:lnTo>
                <a:lnTo>
                  <a:pt x="6537" y="11691"/>
                </a:lnTo>
                <a:lnTo>
                  <a:pt x="6731" y="12028"/>
                </a:lnTo>
                <a:lnTo>
                  <a:pt x="6364" y="12028"/>
                </a:lnTo>
                <a:lnTo>
                  <a:pt x="6276" y="12202"/>
                </a:lnTo>
                <a:lnTo>
                  <a:pt x="6534" y="12028"/>
                </a:lnTo>
                <a:lnTo>
                  <a:pt x="6731" y="12028"/>
                </a:lnTo>
                <a:lnTo>
                  <a:pt x="6537" y="11691"/>
                </a:lnTo>
                <a:lnTo>
                  <a:pt x="6874" y="11691"/>
                </a:lnTo>
                <a:lnTo>
                  <a:pt x="8257" y="10317"/>
                </a:lnTo>
                <a:lnTo>
                  <a:pt x="19699" y="10317"/>
                </a:lnTo>
                <a:lnTo>
                  <a:pt x="19938" y="10159"/>
                </a:lnTo>
                <a:lnTo>
                  <a:pt x="20433" y="9428"/>
                </a:lnTo>
                <a:lnTo>
                  <a:pt x="19834" y="6325"/>
                </a:lnTo>
                <a:lnTo>
                  <a:pt x="19736" y="5816"/>
                </a:lnTo>
                <a:lnTo>
                  <a:pt x="19622" y="5222"/>
                </a:lnTo>
                <a:lnTo>
                  <a:pt x="18909" y="4707"/>
                </a:lnTo>
                <a:lnTo>
                  <a:pt x="16053" y="2775"/>
                </a:lnTo>
                <a:close/>
              </a:path>
              <a:path w="23495" h="43180">
                <a:moveTo>
                  <a:pt x="12270" y="1103"/>
                </a:moveTo>
                <a:lnTo>
                  <a:pt x="8853" y="1839"/>
                </a:lnTo>
                <a:lnTo>
                  <a:pt x="9090" y="1839"/>
                </a:lnTo>
                <a:lnTo>
                  <a:pt x="5309" y="7426"/>
                </a:lnTo>
                <a:lnTo>
                  <a:pt x="5385" y="8873"/>
                </a:lnTo>
                <a:lnTo>
                  <a:pt x="5485" y="10778"/>
                </a:lnTo>
                <a:lnTo>
                  <a:pt x="6534" y="12028"/>
                </a:lnTo>
                <a:lnTo>
                  <a:pt x="6414" y="11478"/>
                </a:lnTo>
                <a:lnTo>
                  <a:pt x="5868" y="10528"/>
                </a:lnTo>
                <a:lnTo>
                  <a:pt x="5793" y="7942"/>
                </a:lnTo>
                <a:lnTo>
                  <a:pt x="7162" y="5222"/>
                </a:lnTo>
                <a:lnTo>
                  <a:pt x="7512" y="4707"/>
                </a:lnTo>
                <a:lnTo>
                  <a:pt x="8346" y="3774"/>
                </a:lnTo>
                <a:lnTo>
                  <a:pt x="8826" y="3359"/>
                </a:lnTo>
                <a:lnTo>
                  <a:pt x="12270" y="1103"/>
                </a:lnTo>
                <a:close/>
              </a:path>
              <a:path w="23495" h="43180">
                <a:moveTo>
                  <a:pt x="19045" y="11478"/>
                </a:moveTo>
                <a:lnTo>
                  <a:pt x="18247" y="11478"/>
                </a:lnTo>
                <a:lnTo>
                  <a:pt x="18801" y="12028"/>
                </a:lnTo>
                <a:lnTo>
                  <a:pt x="18673" y="12028"/>
                </a:lnTo>
                <a:lnTo>
                  <a:pt x="19045" y="11478"/>
                </a:lnTo>
                <a:close/>
              </a:path>
              <a:path w="23495" h="43180">
                <a:moveTo>
                  <a:pt x="12975" y="939"/>
                </a:moveTo>
                <a:lnTo>
                  <a:pt x="5793" y="7942"/>
                </a:lnTo>
                <a:lnTo>
                  <a:pt x="5868" y="10528"/>
                </a:lnTo>
                <a:lnTo>
                  <a:pt x="6414" y="11478"/>
                </a:lnTo>
                <a:lnTo>
                  <a:pt x="6537" y="11691"/>
                </a:lnTo>
                <a:lnTo>
                  <a:pt x="9544" y="5816"/>
                </a:lnTo>
                <a:lnTo>
                  <a:pt x="16053" y="2775"/>
                </a:lnTo>
                <a:lnTo>
                  <a:pt x="13733" y="1103"/>
                </a:lnTo>
                <a:lnTo>
                  <a:pt x="12975" y="939"/>
                </a:lnTo>
                <a:close/>
              </a:path>
              <a:path w="23495" h="43180">
                <a:moveTo>
                  <a:pt x="19699" y="10317"/>
                </a:moveTo>
                <a:lnTo>
                  <a:pt x="17079" y="10317"/>
                </a:lnTo>
                <a:lnTo>
                  <a:pt x="18247" y="11478"/>
                </a:lnTo>
                <a:lnTo>
                  <a:pt x="17942" y="11478"/>
                </a:lnTo>
                <a:lnTo>
                  <a:pt x="19699" y="10317"/>
                </a:lnTo>
                <a:close/>
              </a:path>
              <a:path w="23495" h="43180">
                <a:moveTo>
                  <a:pt x="19638" y="5222"/>
                </a:moveTo>
                <a:lnTo>
                  <a:pt x="19965" y="7005"/>
                </a:lnTo>
                <a:lnTo>
                  <a:pt x="20047" y="7426"/>
                </a:lnTo>
                <a:lnTo>
                  <a:pt x="20146" y="7942"/>
                </a:lnTo>
                <a:lnTo>
                  <a:pt x="20207" y="8260"/>
                </a:lnTo>
                <a:lnTo>
                  <a:pt x="20326" y="8873"/>
                </a:lnTo>
                <a:lnTo>
                  <a:pt x="20433" y="9428"/>
                </a:lnTo>
                <a:lnTo>
                  <a:pt x="19938" y="10159"/>
                </a:lnTo>
                <a:lnTo>
                  <a:pt x="20569" y="9742"/>
                </a:lnTo>
                <a:lnTo>
                  <a:pt x="20624" y="7005"/>
                </a:lnTo>
                <a:lnTo>
                  <a:pt x="20092" y="5816"/>
                </a:lnTo>
                <a:lnTo>
                  <a:pt x="19638" y="5222"/>
                </a:lnTo>
                <a:close/>
              </a:path>
              <a:path w="23495" h="43180">
                <a:moveTo>
                  <a:pt x="20744" y="7426"/>
                </a:moveTo>
                <a:lnTo>
                  <a:pt x="20632" y="9742"/>
                </a:lnTo>
                <a:lnTo>
                  <a:pt x="21044" y="9428"/>
                </a:lnTo>
                <a:lnTo>
                  <a:pt x="21157" y="8873"/>
                </a:lnTo>
                <a:lnTo>
                  <a:pt x="20744" y="7426"/>
                </a:lnTo>
                <a:close/>
              </a:path>
              <a:path w="23495" h="43180">
                <a:moveTo>
                  <a:pt x="18764" y="1508"/>
                </a:moveTo>
                <a:lnTo>
                  <a:pt x="18055" y="1839"/>
                </a:lnTo>
                <a:lnTo>
                  <a:pt x="20615" y="4384"/>
                </a:lnTo>
                <a:lnTo>
                  <a:pt x="20618" y="5222"/>
                </a:lnTo>
                <a:lnTo>
                  <a:pt x="20744" y="7426"/>
                </a:lnTo>
                <a:lnTo>
                  <a:pt x="21157" y="8873"/>
                </a:lnTo>
                <a:lnTo>
                  <a:pt x="21273" y="9277"/>
                </a:lnTo>
                <a:lnTo>
                  <a:pt x="22811" y="8260"/>
                </a:lnTo>
                <a:lnTo>
                  <a:pt x="23206" y="6325"/>
                </a:lnTo>
                <a:lnTo>
                  <a:pt x="23310" y="5816"/>
                </a:lnTo>
                <a:lnTo>
                  <a:pt x="23005" y="5222"/>
                </a:lnTo>
                <a:lnTo>
                  <a:pt x="21004" y="2194"/>
                </a:lnTo>
                <a:lnTo>
                  <a:pt x="21197" y="2194"/>
                </a:lnTo>
                <a:lnTo>
                  <a:pt x="18764" y="1508"/>
                </a:lnTo>
                <a:close/>
              </a:path>
              <a:path w="23495" h="43180">
                <a:moveTo>
                  <a:pt x="15851" y="939"/>
                </a:moveTo>
                <a:lnTo>
                  <a:pt x="13393" y="939"/>
                </a:lnTo>
                <a:lnTo>
                  <a:pt x="13733" y="1103"/>
                </a:lnTo>
                <a:lnTo>
                  <a:pt x="15607" y="1508"/>
                </a:lnTo>
                <a:lnTo>
                  <a:pt x="17023" y="1839"/>
                </a:lnTo>
                <a:lnTo>
                  <a:pt x="20092" y="5816"/>
                </a:lnTo>
                <a:lnTo>
                  <a:pt x="20639" y="7005"/>
                </a:lnTo>
                <a:lnTo>
                  <a:pt x="20622" y="6325"/>
                </a:lnTo>
                <a:lnTo>
                  <a:pt x="19753" y="3938"/>
                </a:lnTo>
                <a:lnTo>
                  <a:pt x="17408" y="1839"/>
                </a:lnTo>
                <a:lnTo>
                  <a:pt x="16930" y="1508"/>
                </a:lnTo>
                <a:lnTo>
                  <a:pt x="15851" y="939"/>
                </a:lnTo>
                <a:close/>
              </a:path>
              <a:path w="23495" h="43180">
                <a:moveTo>
                  <a:pt x="18411" y="2194"/>
                </a:moveTo>
                <a:lnTo>
                  <a:pt x="17804" y="2194"/>
                </a:lnTo>
                <a:lnTo>
                  <a:pt x="19753" y="3938"/>
                </a:lnTo>
                <a:lnTo>
                  <a:pt x="20622" y="6325"/>
                </a:lnTo>
                <a:lnTo>
                  <a:pt x="20615" y="4384"/>
                </a:lnTo>
                <a:lnTo>
                  <a:pt x="18411" y="2194"/>
                </a:lnTo>
                <a:close/>
              </a:path>
              <a:path w="23495" h="43180">
                <a:moveTo>
                  <a:pt x="5894" y="3359"/>
                </a:moveTo>
                <a:lnTo>
                  <a:pt x="5398" y="3774"/>
                </a:lnTo>
                <a:lnTo>
                  <a:pt x="4799" y="4384"/>
                </a:lnTo>
                <a:lnTo>
                  <a:pt x="4784" y="5816"/>
                </a:lnTo>
                <a:lnTo>
                  <a:pt x="5002" y="5222"/>
                </a:lnTo>
                <a:lnTo>
                  <a:pt x="5894" y="3359"/>
                </a:lnTo>
                <a:close/>
              </a:path>
              <a:path w="23495" h="43180">
                <a:moveTo>
                  <a:pt x="17297" y="2194"/>
                </a:moveTo>
                <a:lnTo>
                  <a:pt x="16053" y="2775"/>
                </a:lnTo>
                <a:lnTo>
                  <a:pt x="19669" y="5222"/>
                </a:lnTo>
                <a:lnTo>
                  <a:pt x="19241" y="4707"/>
                </a:lnTo>
                <a:lnTo>
                  <a:pt x="17297" y="2194"/>
                </a:lnTo>
                <a:close/>
              </a:path>
              <a:path w="23495" h="43180">
                <a:moveTo>
                  <a:pt x="6719" y="2462"/>
                </a:moveTo>
                <a:lnTo>
                  <a:pt x="6174" y="2775"/>
                </a:lnTo>
                <a:lnTo>
                  <a:pt x="5965" y="3210"/>
                </a:lnTo>
                <a:lnTo>
                  <a:pt x="6719" y="2462"/>
                </a:lnTo>
                <a:close/>
              </a:path>
              <a:path w="23495" h="43180">
                <a:moveTo>
                  <a:pt x="13733" y="1103"/>
                </a:moveTo>
                <a:lnTo>
                  <a:pt x="16053" y="2775"/>
                </a:lnTo>
                <a:lnTo>
                  <a:pt x="17297" y="2194"/>
                </a:lnTo>
                <a:lnTo>
                  <a:pt x="17023" y="1839"/>
                </a:lnTo>
                <a:lnTo>
                  <a:pt x="15607" y="1508"/>
                </a:lnTo>
                <a:lnTo>
                  <a:pt x="13733" y="1103"/>
                </a:lnTo>
                <a:close/>
              </a:path>
              <a:path w="23495" h="43180">
                <a:moveTo>
                  <a:pt x="9499" y="939"/>
                </a:moveTo>
                <a:lnTo>
                  <a:pt x="8253" y="939"/>
                </a:lnTo>
                <a:lnTo>
                  <a:pt x="6719" y="2462"/>
                </a:lnTo>
                <a:lnTo>
                  <a:pt x="9499" y="939"/>
                </a:lnTo>
                <a:close/>
              </a:path>
              <a:path w="23495" h="43180">
                <a:moveTo>
                  <a:pt x="17149" y="939"/>
                </a:moveTo>
                <a:lnTo>
                  <a:pt x="15851" y="939"/>
                </a:lnTo>
                <a:lnTo>
                  <a:pt x="16930" y="1508"/>
                </a:lnTo>
                <a:lnTo>
                  <a:pt x="17408" y="1839"/>
                </a:lnTo>
                <a:lnTo>
                  <a:pt x="17804" y="2194"/>
                </a:lnTo>
                <a:lnTo>
                  <a:pt x="17297" y="2194"/>
                </a:lnTo>
                <a:lnTo>
                  <a:pt x="18055" y="1839"/>
                </a:lnTo>
                <a:lnTo>
                  <a:pt x="17149" y="939"/>
                </a:lnTo>
                <a:close/>
              </a:path>
              <a:path w="23495" h="43180">
                <a:moveTo>
                  <a:pt x="18055" y="1839"/>
                </a:moveTo>
                <a:lnTo>
                  <a:pt x="17297" y="2194"/>
                </a:lnTo>
                <a:lnTo>
                  <a:pt x="18411" y="2194"/>
                </a:lnTo>
                <a:lnTo>
                  <a:pt x="18055" y="1839"/>
                </a:lnTo>
                <a:close/>
              </a:path>
              <a:path w="23495" h="43180">
                <a:moveTo>
                  <a:pt x="12975" y="939"/>
                </a:moveTo>
                <a:lnTo>
                  <a:pt x="12521" y="939"/>
                </a:lnTo>
                <a:lnTo>
                  <a:pt x="12270" y="1103"/>
                </a:lnTo>
                <a:lnTo>
                  <a:pt x="12975" y="939"/>
                </a:lnTo>
                <a:close/>
              </a:path>
              <a:path w="23495" h="43180">
                <a:moveTo>
                  <a:pt x="13393" y="939"/>
                </a:moveTo>
                <a:lnTo>
                  <a:pt x="12975" y="939"/>
                </a:lnTo>
                <a:lnTo>
                  <a:pt x="13733" y="1103"/>
                </a:lnTo>
                <a:lnTo>
                  <a:pt x="13393" y="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24915" y="1015175"/>
            <a:ext cx="1432172" cy="274718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621184" y="3758168"/>
            <a:ext cx="3172460" cy="2901315"/>
            <a:chOff x="621184" y="3758168"/>
            <a:chExt cx="3172460" cy="2901315"/>
          </a:xfrm>
        </p:grpSpPr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39272" y="3758168"/>
              <a:ext cx="501275" cy="348335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67776" y="4541824"/>
              <a:ext cx="788962" cy="319102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1184" y="5799040"/>
              <a:ext cx="3088684" cy="407457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3774133" y="6103887"/>
              <a:ext cx="19685" cy="24765"/>
            </a:xfrm>
            <a:custGeom>
              <a:avLst/>
              <a:gdLst/>
              <a:ahLst/>
              <a:cxnLst/>
              <a:rect l="l" t="t" r="r" b="b"/>
              <a:pathLst>
                <a:path w="19685" h="24764">
                  <a:moveTo>
                    <a:pt x="14392" y="0"/>
                  </a:moveTo>
                  <a:lnTo>
                    <a:pt x="9636" y="1384"/>
                  </a:lnTo>
                  <a:lnTo>
                    <a:pt x="8174" y="3191"/>
                  </a:lnTo>
                  <a:lnTo>
                    <a:pt x="7794" y="8434"/>
                  </a:lnTo>
                  <a:lnTo>
                    <a:pt x="7701" y="9725"/>
                  </a:lnTo>
                  <a:lnTo>
                    <a:pt x="5671" y="12986"/>
                  </a:lnTo>
                  <a:lnTo>
                    <a:pt x="5581" y="13130"/>
                  </a:lnTo>
                  <a:lnTo>
                    <a:pt x="262" y="17568"/>
                  </a:lnTo>
                  <a:lnTo>
                    <a:pt x="0" y="20490"/>
                  </a:lnTo>
                  <a:lnTo>
                    <a:pt x="2882" y="23946"/>
                  </a:lnTo>
                  <a:lnTo>
                    <a:pt x="3089" y="23946"/>
                  </a:lnTo>
                  <a:lnTo>
                    <a:pt x="4699" y="24443"/>
                  </a:lnTo>
                  <a:lnTo>
                    <a:pt x="10544" y="22790"/>
                  </a:lnTo>
                  <a:lnTo>
                    <a:pt x="14156" y="20490"/>
                  </a:lnTo>
                  <a:lnTo>
                    <a:pt x="16040" y="17568"/>
                  </a:lnTo>
                  <a:lnTo>
                    <a:pt x="18763" y="13130"/>
                  </a:lnTo>
                  <a:lnTo>
                    <a:pt x="18851" y="12986"/>
                  </a:lnTo>
                  <a:lnTo>
                    <a:pt x="19121" y="9725"/>
                  </a:lnTo>
                  <a:lnTo>
                    <a:pt x="19227" y="8434"/>
                  </a:lnTo>
                  <a:lnTo>
                    <a:pt x="17225" y="1555"/>
                  </a:lnTo>
                  <a:lnTo>
                    <a:pt x="143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9707" y="6443414"/>
              <a:ext cx="122671" cy="188895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3397" y="6340945"/>
              <a:ext cx="1244938" cy="318197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5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0580" y="1851558"/>
            <a:ext cx="4452620" cy="296470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7868" y="5349240"/>
            <a:ext cx="5273039" cy="144627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73505" y="4871669"/>
            <a:ext cx="35128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ahoma"/>
                <a:cs typeface="Tahoma"/>
              </a:rPr>
              <a:t>Real</a:t>
            </a:r>
            <a:r>
              <a:rPr dirty="0" sz="1800" spc="-30" b="1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Copper</a:t>
            </a:r>
            <a:r>
              <a:rPr dirty="0" sz="1800" spc="-30" b="1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Prices</a:t>
            </a:r>
            <a:r>
              <a:rPr dirty="0" sz="1800" spc="-25" b="1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in</a:t>
            </a:r>
            <a:r>
              <a:rPr dirty="0" sz="1800" spc="-30" b="1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$</a:t>
            </a:r>
            <a:r>
              <a:rPr dirty="0" sz="1800" spc="-30" b="1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per</a:t>
            </a:r>
            <a:r>
              <a:rPr dirty="0" sz="1800" spc="-25" b="1">
                <a:latin typeface="Tahoma"/>
                <a:cs typeface="Tahoma"/>
              </a:rPr>
              <a:t> KG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5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2748927" y="2544203"/>
            <a:ext cx="10737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Tahoma"/>
                <a:cs typeface="Tahoma"/>
              </a:rPr>
              <a:t>Global Warming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5160" rIns="0" bIns="0" rtlCol="0" vert="horz">
            <a:spAutoFit/>
          </a:bodyPr>
          <a:lstStyle/>
          <a:p>
            <a:pPr marL="929005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latin typeface="Tahoma"/>
                <a:cs typeface="Tahoma"/>
              </a:rPr>
              <a:t>Examples</a:t>
            </a:r>
            <a:r>
              <a:rPr dirty="0" sz="4000" spc="-90">
                <a:latin typeface="Tahoma"/>
                <a:cs typeface="Tahoma"/>
              </a:rPr>
              <a:t> </a:t>
            </a:r>
            <a:r>
              <a:rPr dirty="0" sz="4000">
                <a:latin typeface="Tahoma"/>
                <a:cs typeface="Tahoma"/>
              </a:rPr>
              <a:t>of</a:t>
            </a:r>
            <a:r>
              <a:rPr dirty="0" sz="4000" spc="-85">
                <a:latin typeface="Tahoma"/>
                <a:cs typeface="Tahoma"/>
              </a:rPr>
              <a:t> </a:t>
            </a:r>
            <a:r>
              <a:rPr dirty="0" sz="4000">
                <a:latin typeface="Tahoma"/>
                <a:cs typeface="Tahoma"/>
              </a:rPr>
              <a:t>Time</a:t>
            </a:r>
            <a:r>
              <a:rPr dirty="0" sz="4000" spc="-85">
                <a:latin typeface="Tahoma"/>
                <a:cs typeface="Tahoma"/>
              </a:rPr>
              <a:t> </a:t>
            </a:r>
            <a:r>
              <a:rPr dirty="0" sz="4000" spc="-10">
                <a:latin typeface="Tahoma"/>
                <a:cs typeface="Tahoma"/>
              </a:rPr>
              <a:t>Series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7519" rIns="0" bIns="0" rtlCol="0" vert="horz">
            <a:spAutoFit/>
          </a:bodyPr>
          <a:lstStyle/>
          <a:p>
            <a:pPr marL="100076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660033"/>
                </a:solidFill>
                <a:latin typeface="Tahoma"/>
                <a:cs typeface="Tahoma"/>
              </a:rPr>
              <a:t>Electroencephalography</a:t>
            </a:r>
            <a:r>
              <a:rPr dirty="0" sz="3600" spc="-240">
                <a:solidFill>
                  <a:srgbClr val="660033"/>
                </a:solidFill>
                <a:latin typeface="Tahoma"/>
                <a:cs typeface="Tahoma"/>
              </a:rPr>
              <a:t> </a:t>
            </a:r>
            <a:r>
              <a:rPr dirty="0" sz="3600" spc="-10">
                <a:solidFill>
                  <a:srgbClr val="660033"/>
                </a:solidFill>
                <a:latin typeface="Tahoma"/>
                <a:cs typeface="Tahoma"/>
              </a:rPr>
              <a:t>(EEG)</a:t>
            </a:r>
            <a:endParaRPr sz="36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683" y="2205227"/>
            <a:ext cx="2191512" cy="320954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4635" y="1915668"/>
            <a:ext cx="4064508" cy="424891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5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02272" y="2165870"/>
            <a:ext cx="430149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Modeling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time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series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59472" y="2664980"/>
            <a:ext cx="7428865" cy="1195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54166"/>
              <a:buChar char="■"/>
              <a:tabLst>
                <a:tab pos="298450" algn="l"/>
              </a:tabLst>
            </a:pPr>
            <a:r>
              <a:rPr dirty="0" sz="2400">
                <a:latin typeface="Tahoma"/>
                <a:cs typeface="Tahoma"/>
              </a:rPr>
              <a:t>Values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time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series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successive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time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indices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are </a:t>
            </a:r>
            <a:r>
              <a:rPr dirty="0" sz="2400">
                <a:latin typeface="Tahoma"/>
                <a:cs typeface="Tahoma"/>
              </a:rPr>
              <a:t>often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correlated.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Otherwise,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prediction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impossible.</a:t>
            </a:r>
            <a:endParaRPr sz="2400">
              <a:latin typeface="Tahoma"/>
              <a:cs typeface="Tahoma"/>
            </a:endParaRPr>
          </a:p>
          <a:p>
            <a:pPr marL="297815" indent="-28511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297815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statistical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properties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change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respect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45222" y="3835285"/>
            <a:ext cx="9772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time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16672" y="4201045"/>
            <a:ext cx="6528434" cy="902969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50000"/>
              <a:buChar char="■"/>
              <a:tabLst>
                <a:tab pos="240665" algn="l"/>
              </a:tabLst>
            </a:pPr>
            <a:r>
              <a:rPr dirty="0" sz="2400">
                <a:latin typeface="Tahoma"/>
                <a:cs typeface="Tahoma"/>
              </a:rPr>
              <a:t>WSS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(wide-</a:t>
            </a:r>
            <a:r>
              <a:rPr dirty="0" sz="2400">
                <a:latin typeface="Tahoma"/>
                <a:cs typeface="Tahoma"/>
              </a:rPr>
              <a:t>sense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stationarity)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random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process</a:t>
            </a:r>
            <a:endParaRPr sz="2400">
              <a:latin typeface="Tahoma"/>
              <a:cs typeface="Tahoma"/>
            </a:endParaRPr>
          </a:p>
          <a:p>
            <a:pPr lvl="1" marL="699770" indent="-229870">
              <a:lnSpc>
                <a:spcPct val="100000"/>
              </a:lnSpc>
              <a:spcBef>
                <a:spcPts val="575"/>
              </a:spcBef>
              <a:buClr>
                <a:srgbClr val="FFCF01"/>
              </a:buClr>
              <a:buSzPct val="54166"/>
              <a:buChar char="■"/>
              <a:tabLst>
                <a:tab pos="699770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mean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autocovariance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not</a:t>
            </a:r>
            <a:r>
              <a:rPr dirty="0" sz="2400" spc="-20">
                <a:latin typeface="Tahoma"/>
                <a:cs typeface="Tahoma"/>
              </a:rPr>
              <a:t> vary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73872" y="5005590"/>
            <a:ext cx="4156075" cy="902969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675"/>
              </a:spcBef>
            </a:pP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respect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time</a:t>
            </a:r>
            <a:endParaRPr sz="2400">
              <a:latin typeface="Tahoma"/>
              <a:cs typeface="Tahoma"/>
            </a:endParaRPr>
          </a:p>
          <a:p>
            <a:pPr marL="242570" indent="-229870">
              <a:lnSpc>
                <a:spcPct val="100000"/>
              </a:lnSpc>
              <a:spcBef>
                <a:spcPts val="575"/>
              </a:spcBef>
              <a:buClr>
                <a:srgbClr val="FFCF01"/>
              </a:buClr>
              <a:buSzPct val="54166"/>
              <a:buChar char="■"/>
              <a:tabLst>
                <a:tab pos="242570" algn="l"/>
              </a:tabLst>
            </a:pPr>
            <a:r>
              <a:rPr dirty="0" sz="2400">
                <a:latin typeface="Tahoma"/>
                <a:cs typeface="Tahoma"/>
              </a:rPr>
              <a:t>Variance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finite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all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times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8459" rIns="0" bIns="0" rtlCol="0" vert="horz">
            <a:spAutoFit/>
          </a:bodyPr>
          <a:lstStyle/>
          <a:p>
            <a:pPr marL="928369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latin typeface="Tahoma"/>
                <a:cs typeface="Tahoma"/>
              </a:rPr>
              <a:t>Time</a:t>
            </a:r>
            <a:r>
              <a:rPr dirty="0" sz="4000" spc="-114">
                <a:latin typeface="Tahoma"/>
                <a:cs typeface="Tahoma"/>
              </a:rPr>
              <a:t> </a:t>
            </a:r>
            <a:r>
              <a:rPr dirty="0" sz="4000">
                <a:latin typeface="Tahoma"/>
                <a:cs typeface="Tahoma"/>
              </a:rPr>
              <a:t>Series</a:t>
            </a:r>
            <a:r>
              <a:rPr dirty="0" sz="4000" spc="-110">
                <a:latin typeface="Tahoma"/>
                <a:cs typeface="Tahoma"/>
              </a:rPr>
              <a:t> </a:t>
            </a:r>
            <a:r>
              <a:rPr dirty="0" sz="4000" spc="-10">
                <a:latin typeface="Tahoma"/>
                <a:cs typeface="Tahoma"/>
              </a:rPr>
              <a:t>Models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821181" y="2113366"/>
            <a:ext cx="26162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200" spc="-5">
                <a:latin typeface="Microsoft JhengHei UI Light"/>
                <a:cs typeface="Microsoft JhengHei UI Light"/>
              </a:rPr>
              <a:t>⼀个时间序列中，连续时间点上的值通常是相关的。否则，预测是不可能的。</a:t>
            </a:r>
            <a:endParaRPr sz="1200">
              <a:latin typeface="Microsoft JhengHei UI Light"/>
              <a:cs typeface="Microsoft JhengHei UI Ligh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6125" y="1784539"/>
            <a:ext cx="3718306" cy="32776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69835" y="1846212"/>
            <a:ext cx="1110480" cy="243422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43608" y="3814014"/>
            <a:ext cx="4311285" cy="358772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6989879" y="3827769"/>
            <a:ext cx="15494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200" spc="-5">
                <a:latin typeface="Microsoft JhengHei UI Light"/>
                <a:cs typeface="Microsoft JhengHei UI Light"/>
              </a:rPr>
              <a:t>这个序列的统计特性不</a:t>
            </a:r>
            <a:r>
              <a:rPr dirty="0" sz="1200" spc="-10">
                <a:latin typeface="Microsoft JhengHei UI Light"/>
                <a:cs typeface="Microsoft JhengHei UI Light"/>
              </a:rPr>
              <a:t>会随着时间⽽改变。</a:t>
            </a:r>
            <a:endParaRPr sz="1200">
              <a:latin typeface="Microsoft JhengHei UI Light"/>
              <a:cs typeface="Microsoft JhengHei UI Light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5</a:t>
            </a:fld>
          </a:p>
        </p:txBody>
      </p:sp>
      <p:sp>
        <p:nvSpPr>
          <p:cNvPr id="13" name="object 13" descr=""/>
          <p:cNvSpPr txBox="1"/>
          <p:nvPr/>
        </p:nvSpPr>
        <p:spPr>
          <a:xfrm>
            <a:off x="140063" y="4145426"/>
            <a:ext cx="935990" cy="75311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350" spc="-15" b="1">
                <a:latin typeface="Microsoft JhengHei UI"/>
                <a:cs typeface="Microsoft JhengHei UI"/>
              </a:rPr>
              <a:t>宽义平稳</a:t>
            </a:r>
            <a:endParaRPr sz="1350">
              <a:latin typeface="Microsoft JhengHei UI"/>
              <a:cs typeface="Microsoft JhengHei UI"/>
            </a:endParaRPr>
          </a:p>
          <a:p>
            <a:pPr marL="12700" marR="5080">
              <a:lnSpc>
                <a:spcPct val="117800"/>
              </a:lnSpc>
            </a:pPr>
            <a:r>
              <a:rPr dirty="0" sz="1350" b="1">
                <a:latin typeface="Microsoft JhengHei UI"/>
                <a:cs typeface="Microsoft JhengHei UI"/>
              </a:rPr>
              <a:t>（WSS）</a:t>
            </a:r>
            <a:r>
              <a:rPr dirty="0" sz="1350" spc="-50" b="1">
                <a:latin typeface="Microsoft JhengHei UI"/>
                <a:cs typeface="Microsoft JhengHei UI"/>
              </a:rPr>
              <a:t>随</a:t>
            </a:r>
            <a:r>
              <a:rPr dirty="0" sz="1350" spc="-20" b="1">
                <a:latin typeface="Microsoft JhengHei UI"/>
                <a:cs typeface="Microsoft JhengHei UI"/>
              </a:rPr>
              <a:t>机过程</a:t>
            </a:r>
            <a:endParaRPr sz="1350">
              <a:latin typeface="Microsoft JhengHei UI"/>
              <a:cs typeface="Microsoft JhengHei U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077389" y="5254917"/>
            <a:ext cx="1314450" cy="125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50" b="1">
                <a:latin typeface="Times New Roman"/>
                <a:cs typeface="Times New Roman"/>
              </a:rPr>
              <a:t>1.</a:t>
            </a:r>
            <a:r>
              <a:rPr dirty="0" sz="650" spc="160" b="1">
                <a:latin typeface="Times New Roman"/>
                <a:cs typeface="Times New Roman"/>
              </a:rPr>
              <a:t> “</a:t>
            </a:r>
            <a:r>
              <a:rPr dirty="0" sz="650" b="1">
                <a:latin typeface="Microsoft JhengHei UI"/>
                <a:cs typeface="Microsoft JhengHei UI"/>
              </a:rPr>
              <a:t>均值和⾃协⽅差不随时间变化</a:t>
            </a:r>
            <a:r>
              <a:rPr dirty="0" sz="650" spc="-50" b="1">
                <a:latin typeface="Times New Roman"/>
                <a:cs typeface="Times New Roman"/>
              </a:rPr>
              <a:t>”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077389" y="5437797"/>
            <a:ext cx="2863215" cy="258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95"/>
              </a:spcBef>
            </a:pPr>
            <a:r>
              <a:rPr dirty="0" sz="650" b="1">
                <a:latin typeface="Microsoft JhengHei UI"/>
                <a:cs typeface="Microsoft JhengHei UI"/>
              </a:rPr>
              <a:t>均值恒定： </a:t>
            </a:r>
            <a:r>
              <a:rPr dirty="0" sz="650">
                <a:latin typeface="Microsoft JhengHei UI Light"/>
                <a:cs typeface="Microsoft JhengHei UI Light"/>
              </a:rPr>
              <a:t>序列的</a:t>
            </a:r>
            <a:r>
              <a:rPr dirty="0" sz="650">
                <a:latin typeface="Times New Roman"/>
                <a:cs typeface="Times New Roman"/>
              </a:rPr>
              <a:t>“</a:t>
            </a:r>
            <a:r>
              <a:rPr dirty="0" sz="650">
                <a:latin typeface="Microsoft JhengHei UI Light"/>
                <a:cs typeface="Microsoft JhengHei UI Light"/>
              </a:rPr>
              <a:t>平均⽔平线</a:t>
            </a:r>
            <a:r>
              <a:rPr dirty="0" sz="650">
                <a:latin typeface="Times New Roman"/>
                <a:cs typeface="Times New Roman"/>
              </a:rPr>
              <a:t>”</a:t>
            </a:r>
            <a:r>
              <a:rPr dirty="0" sz="650">
                <a:latin typeface="Microsoft JhengHei UI Light"/>
                <a:cs typeface="Microsoft JhengHei UI Light"/>
              </a:rPr>
              <a:t>是平的，</a:t>
            </a:r>
            <a:r>
              <a:rPr dirty="0" sz="650" b="1">
                <a:latin typeface="Microsoft JhengHei UI"/>
                <a:cs typeface="Microsoft JhengHei UI"/>
              </a:rPr>
              <a:t>不会</a:t>
            </a:r>
            <a:r>
              <a:rPr dirty="0" sz="650">
                <a:latin typeface="Microsoft JhengHei UI Light"/>
                <a:cs typeface="Microsoft JhengHei UI Light"/>
              </a:rPr>
              <a:t>随着时间</a:t>
            </a:r>
            <a:r>
              <a:rPr dirty="0" sz="650" b="1">
                <a:latin typeface="Microsoft JhengHei UI"/>
                <a:cs typeface="Microsoft JhengHei UI"/>
              </a:rPr>
              <a:t>向上或向下</a:t>
            </a:r>
            <a:r>
              <a:rPr dirty="0" sz="650" b="1">
                <a:latin typeface="Times New Roman"/>
                <a:cs typeface="Times New Roman"/>
              </a:rPr>
              <a:t>“</a:t>
            </a:r>
            <a:r>
              <a:rPr dirty="0" sz="650" b="1">
                <a:latin typeface="Microsoft JhengHei UI"/>
                <a:cs typeface="Microsoft JhengHei UI"/>
              </a:rPr>
              <a:t>漂移</a:t>
            </a:r>
            <a:r>
              <a:rPr dirty="0" sz="650" b="1">
                <a:latin typeface="Times New Roman"/>
                <a:cs typeface="Times New Roman"/>
              </a:rPr>
              <a:t>”</a:t>
            </a:r>
            <a:r>
              <a:rPr dirty="0" sz="650">
                <a:latin typeface="Microsoft JhengHei UI Light"/>
                <a:cs typeface="Microsoft JhengHei UI Light"/>
              </a:rPr>
              <a:t>（</a:t>
            </a:r>
            <a:r>
              <a:rPr dirty="0" sz="650" spc="-50">
                <a:latin typeface="Microsoft JhengHei UI Light"/>
                <a:cs typeface="Microsoft JhengHei UI Light"/>
              </a:rPr>
              <a:t>⽐</a:t>
            </a:r>
            <a:r>
              <a:rPr dirty="0" sz="650">
                <a:latin typeface="Microsoft JhengHei UI Light"/>
                <a:cs typeface="Microsoft JhengHei UI Light"/>
              </a:rPr>
              <a:t>如⼀个持续上涨的股价序列，就</a:t>
            </a:r>
            <a:r>
              <a:rPr dirty="0" sz="650" b="1">
                <a:latin typeface="Microsoft JhengHei UI"/>
                <a:cs typeface="Microsoft JhengHei UI"/>
              </a:rPr>
              <a:t>不是</a:t>
            </a:r>
            <a:r>
              <a:rPr dirty="0" sz="650">
                <a:latin typeface="Microsoft JhengHei UI Light"/>
                <a:cs typeface="Microsoft JhengHei UI Light"/>
              </a:rPr>
              <a:t>平稳的）</a:t>
            </a:r>
            <a:r>
              <a:rPr dirty="0" sz="650" spc="-50">
                <a:latin typeface="Microsoft JhengHei UI Light"/>
                <a:cs typeface="Microsoft JhengHei UI Light"/>
              </a:rPr>
              <a:t>。</a:t>
            </a:r>
            <a:endParaRPr sz="650">
              <a:latin typeface="Microsoft JhengHei UI Light"/>
              <a:cs typeface="Microsoft JhengHei UI Ligh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077389" y="5753680"/>
            <a:ext cx="2828925" cy="258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95"/>
              </a:spcBef>
            </a:pPr>
            <a:r>
              <a:rPr dirty="0" sz="650" b="1">
                <a:latin typeface="Microsoft JhengHei UI"/>
                <a:cs typeface="Microsoft JhengHei UI"/>
              </a:rPr>
              <a:t>⾃协⽅差恒定： </a:t>
            </a:r>
            <a:r>
              <a:rPr dirty="0" sz="650">
                <a:latin typeface="Times New Roman"/>
                <a:cs typeface="Times New Roman"/>
              </a:rPr>
              <a:t>“</a:t>
            </a:r>
            <a:r>
              <a:rPr dirty="0" sz="650">
                <a:latin typeface="Microsoft JhengHei UI Light"/>
                <a:cs typeface="Microsoft JhengHei UI Light"/>
              </a:rPr>
              <a:t>今天</a:t>
            </a:r>
            <a:r>
              <a:rPr dirty="0" sz="650">
                <a:latin typeface="Times New Roman"/>
                <a:cs typeface="Times New Roman"/>
              </a:rPr>
              <a:t>”</a:t>
            </a:r>
            <a:r>
              <a:rPr dirty="0" sz="650">
                <a:latin typeface="Microsoft JhengHei UI Light"/>
                <a:cs typeface="Microsoft JhengHei UI Light"/>
              </a:rPr>
              <a:t>和</a:t>
            </a:r>
            <a:r>
              <a:rPr dirty="0" sz="650">
                <a:latin typeface="Times New Roman"/>
                <a:cs typeface="Times New Roman"/>
              </a:rPr>
              <a:t>“</a:t>
            </a:r>
            <a:r>
              <a:rPr dirty="0" sz="650">
                <a:latin typeface="Microsoft JhengHei UI Light"/>
                <a:cs typeface="Microsoft JhengHei UI Light"/>
              </a:rPr>
              <a:t>昨天</a:t>
            </a:r>
            <a:r>
              <a:rPr dirty="0" sz="650">
                <a:latin typeface="Times New Roman"/>
                <a:cs typeface="Times New Roman"/>
              </a:rPr>
              <a:t>”</a:t>
            </a:r>
            <a:r>
              <a:rPr dirty="0" sz="650">
                <a:latin typeface="Microsoft JhengHei UI Light"/>
                <a:cs typeface="Microsoft JhengHei UI Light"/>
              </a:rPr>
              <a:t>的</a:t>
            </a:r>
            <a:r>
              <a:rPr dirty="0" sz="650" b="1">
                <a:latin typeface="Microsoft JhengHei UI"/>
                <a:cs typeface="Microsoft JhengHei UI"/>
              </a:rPr>
              <a:t>关联⽅式</a:t>
            </a:r>
            <a:r>
              <a:rPr dirty="0" sz="650">
                <a:latin typeface="Microsoft JhengHei UI Light"/>
                <a:cs typeface="Microsoft JhengHei UI Light"/>
              </a:rPr>
              <a:t>（⾃协⽅差），与</a:t>
            </a:r>
            <a:r>
              <a:rPr dirty="0" sz="650">
                <a:latin typeface="Times New Roman"/>
                <a:cs typeface="Times New Roman"/>
              </a:rPr>
              <a:t>“10 </a:t>
            </a:r>
            <a:r>
              <a:rPr dirty="0" sz="650" spc="-10">
                <a:latin typeface="Microsoft JhengHei UI Light"/>
                <a:cs typeface="Microsoft JhengHei UI Light"/>
              </a:rPr>
              <a:t>年前的那⼀</a:t>
            </a:r>
            <a:r>
              <a:rPr dirty="0" sz="650">
                <a:latin typeface="Microsoft JhengHei UI Light"/>
                <a:cs typeface="Microsoft JhengHei UI Light"/>
              </a:rPr>
              <a:t>天</a:t>
            </a:r>
            <a:r>
              <a:rPr dirty="0" sz="650">
                <a:latin typeface="Times New Roman"/>
                <a:cs typeface="Times New Roman"/>
              </a:rPr>
              <a:t>”</a:t>
            </a:r>
            <a:r>
              <a:rPr dirty="0" sz="650">
                <a:latin typeface="Microsoft JhengHei UI Light"/>
                <a:cs typeface="Microsoft JhengHei UI Light"/>
              </a:rPr>
              <a:t>和</a:t>
            </a:r>
            <a:r>
              <a:rPr dirty="0" sz="650">
                <a:latin typeface="Times New Roman"/>
                <a:cs typeface="Times New Roman"/>
              </a:rPr>
              <a:t>“10</a:t>
            </a:r>
            <a:r>
              <a:rPr dirty="0" sz="650" spc="10">
                <a:latin typeface="Times New Roman"/>
                <a:cs typeface="Times New Roman"/>
              </a:rPr>
              <a:t> </a:t>
            </a:r>
            <a:r>
              <a:rPr dirty="0" sz="650">
                <a:latin typeface="Microsoft JhengHei UI Light"/>
                <a:cs typeface="Microsoft JhengHei UI Light"/>
              </a:rPr>
              <a:t>年前的前⼀天</a:t>
            </a:r>
            <a:r>
              <a:rPr dirty="0" sz="650">
                <a:latin typeface="Times New Roman"/>
                <a:cs typeface="Times New Roman"/>
              </a:rPr>
              <a:t>”</a:t>
            </a:r>
            <a:r>
              <a:rPr dirty="0" sz="650">
                <a:latin typeface="Microsoft JhengHei UI Light"/>
                <a:cs typeface="Microsoft JhengHei UI Light"/>
              </a:rPr>
              <a:t>的</a:t>
            </a:r>
            <a:r>
              <a:rPr dirty="0" sz="650" b="1">
                <a:latin typeface="Microsoft JhengHei UI"/>
                <a:cs typeface="Microsoft JhengHei UI"/>
              </a:rPr>
              <a:t>关联⽅式</a:t>
            </a:r>
            <a:r>
              <a:rPr dirty="0" sz="650">
                <a:latin typeface="Microsoft JhengHei UI Light"/>
                <a:cs typeface="Microsoft JhengHei UI Light"/>
              </a:rPr>
              <a:t>是</a:t>
            </a:r>
            <a:r>
              <a:rPr dirty="0" sz="650" b="1">
                <a:latin typeface="Microsoft JhengHei UI"/>
                <a:cs typeface="Microsoft JhengHei UI"/>
              </a:rPr>
              <a:t>⼀样</a:t>
            </a:r>
            <a:r>
              <a:rPr dirty="0" sz="650">
                <a:latin typeface="Microsoft JhengHei UI Light"/>
                <a:cs typeface="Microsoft JhengHei UI Light"/>
              </a:rPr>
              <a:t>的。这保证了</a:t>
            </a:r>
            <a:r>
              <a:rPr dirty="0" sz="650">
                <a:latin typeface="Times New Roman"/>
                <a:cs typeface="Times New Roman"/>
              </a:rPr>
              <a:t>“</a:t>
            </a:r>
            <a:r>
              <a:rPr dirty="0" sz="650">
                <a:latin typeface="Microsoft JhengHei UI Light"/>
                <a:cs typeface="Microsoft JhengHei UI Light"/>
              </a:rPr>
              <a:t>规律</a:t>
            </a:r>
            <a:r>
              <a:rPr dirty="0" sz="650">
                <a:latin typeface="Times New Roman"/>
                <a:cs typeface="Times New Roman"/>
              </a:rPr>
              <a:t>”</a:t>
            </a:r>
            <a:r>
              <a:rPr dirty="0" sz="650" spc="-10">
                <a:latin typeface="Microsoft JhengHei UI Light"/>
                <a:cs typeface="Microsoft JhengHei UI Light"/>
              </a:rPr>
              <a:t>的稳定性。</a:t>
            </a:r>
            <a:endParaRPr sz="650">
              <a:latin typeface="Microsoft JhengHei UI Light"/>
              <a:cs typeface="Microsoft JhengHei UI Ligh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077389" y="6181778"/>
            <a:ext cx="2276475" cy="3251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50" b="1">
                <a:latin typeface="Times New Roman"/>
                <a:cs typeface="Times New Roman"/>
              </a:rPr>
              <a:t>2. “</a:t>
            </a:r>
            <a:r>
              <a:rPr dirty="0" sz="650" b="1">
                <a:latin typeface="Microsoft JhengHei UI"/>
                <a:cs typeface="Microsoft JhengHei UI"/>
              </a:rPr>
              <a:t>⽅差在所有时间都是有限的</a:t>
            </a:r>
            <a:r>
              <a:rPr dirty="0" sz="650" spc="-50" b="1">
                <a:latin typeface="Times New Roman"/>
                <a:cs typeface="Times New Roman"/>
              </a:rPr>
              <a:t>”</a:t>
            </a: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50" spc="-30">
                <a:latin typeface="Microsoft JhengHei UI Light"/>
                <a:cs typeface="Microsoft JhengHei UI Light"/>
              </a:rPr>
              <a:t>這是⼀個技術條件，意思是數據的波動不會“爆炸”到無限⼤。</a:t>
            </a:r>
            <a:endParaRPr sz="650">
              <a:latin typeface="Microsoft JhengHei UI Light"/>
              <a:cs typeface="Microsoft JhengHei UI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21727" y="907097"/>
            <a:ext cx="493649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800000"/>
                </a:solidFill>
                <a:latin typeface="Tahoma"/>
                <a:cs typeface="Tahoma"/>
              </a:rPr>
              <a:t>Time</a:t>
            </a:r>
            <a:r>
              <a:rPr dirty="0" sz="4000" spc="-114" b="1">
                <a:solidFill>
                  <a:srgbClr val="800000"/>
                </a:solidFill>
                <a:latin typeface="Tahoma"/>
                <a:cs typeface="Tahoma"/>
              </a:rPr>
              <a:t> </a:t>
            </a:r>
            <a:r>
              <a:rPr dirty="0" sz="4000" b="1">
                <a:solidFill>
                  <a:srgbClr val="800000"/>
                </a:solidFill>
                <a:latin typeface="Tahoma"/>
                <a:cs typeface="Tahoma"/>
              </a:rPr>
              <a:t>Series</a:t>
            </a:r>
            <a:r>
              <a:rPr dirty="0" sz="4000" spc="-110" b="1">
                <a:solidFill>
                  <a:srgbClr val="800000"/>
                </a:solidFill>
                <a:latin typeface="Tahoma"/>
                <a:cs typeface="Tahoma"/>
              </a:rPr>
              <a:t> </a:t>
            </a:r>
            <a:r>
              <a:rPr dirty="0" sz="4000" spc="-10" b="1">
                <a:solidFill>
                  <a:srgbClr val="800000"/>
                </a:solidFill>
                <a:latin typeface="Tahoma"/>
                <a:cs typeface="Tahoma"/>
              </a:rPr>
              <a:t>Models</a:t>
            </a:r>
            <a:endParaRPr sz="40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111" y="5135158"/>
            <a:ext cx="4973563" cy="103542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011487" y="5311170"/>
            <a:ext cx="384175" cy="664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200" spc="-50" i="1">
                <a:latin typeface="Arial"/>
                <a:cs typeface="Arial"/>
              </a:rPr>
              <a:t>P</a:t>
            </a:r>
            <a:endParaRPr sz="4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13889" y="6125679"/>
            <a:ext cx="45459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Unknown</a:t>
            </a:r>
            <a:r>
              <a:rPr dirty="0" sz="2400" spc="-12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dynamics</a:t>
            </a:r>
            <a:r>
              <a:rPr dirty="0" sz="2400" spc="-12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0000FF"/>
                </a:solidFill>
                <a:latin typeface="Tahoma"/>
                <a:cs typeface="Tahoma"/>
              </a:rPr>
              <a:t>(process)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745855" y="6427787"/>
            <a:ext cx="12318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6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1944" y="199979"/>
            <a:ext cx="8042275" cy="811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074420">
              <a:lnSpc>
                <a:spcPct val="116700"/>
              </a:lnSpc>
              <a:spcBef>
                <a:spcPts val="100"/>
              </a:spcBef>
            </a:pPr>
            <a:r>
              <a:rPr dirty="0" sz="1200" spc="-60">
                <a:latin typeface="Microsoft JhengHei UI Light"/>
                <a:cs typeface="Microsoft JhengHei UI Light"/>
              </a:rPr>
              <a:t>未知的动态（过程</a:t>
            </a:r>
            <a:r>
              <a:rPr dirty="0" sz="1200">
                <a:latin typeface="Microsoft JhengHei UI Light"/>
                <a:cs typeface="Microsoft JhengHei UI Light"/>
              </a:rPr>
              <a:t>）”</a:t>
            </a:r>
            <a:r>
              <a:rPr dirty="0" sz="1200" spc="95">
                <a:latin typeface="Microsoft JhengHei UI Light"/>
                <a:cs typeface="Microsoft JhengHei UI Light"/>
              </a:rPr>
              <a:t> </a:t>
            </a:r>
            <a:r>
              <a:rPr dirty="0" sz="1200">
                <a:latin typeface="Microsoft JhengHei UI Light"/>
                <a:cs typeface="Microsoft JhengHei UI Light"/>
              </a:rPr>
              <a:t>(Unknown</a:t>
            </a:r>
            <a:r>
              <a:rPr dirty="0" sz="1200" spc="95">
                <a:latin typeface="Microsoft JhengHei UI Light"/>
                <a:cs typeface="Microsoft JhengHei UI Light"/>
              </a:rPr>
              <a:t> </a:t>
            </a:r>
            <a:r>
              <a:rPr dirty="0" sz="1200">
                <a:latin typeface="Microsoft JhengHei UI Light"/>
                <a:cs typeface="Microsoft JhengHei UI Light"/>
              </a:rPr>
              <a:t>dynamics</a:t>
            </a:r>
            <a:r>
              <a:rPr dirty="0" sz="1200" spc="95">
                <a:latin typeface="Microsoft JhengHei UI Light"/>
                <a:cs typeface="Microsoft JhengHei UI Light"/>
              </a:rPr>
              <a:t> </a:t>
            </a:r>
            <a:r>
              <a:rPr dirty="0" sz="1200">
                <a:latin typeface="Microsoft JhengHei UI Light"/>
                <a:cs typeface="Microsoft JhengHei UI Light"/>
              </a:rPr>
              <a:t>(process))</a:t>
            </a:r>
            <a:r>
              <a:rPr dirty="0" sz="1200" spc="95">
                <a:latin typeface="Microsoft JhengHei UI Light"/>
                <a:cs typeface="Microsoft JhengHei UI Light"/>
              </a:rPr>
              <a:t> </a:t>
            </a:r>
            <a:r>
              <a:rPr dirty="0" sz="1200">
                <a:latin typeface="Microsoft JhengHei UI Light"/>
                <a:cs typeface="Microsoft JhengHei UI Light"/>
              </a:rPr>
              <a:t>P:</a:t>
            </a:r>
            <a:r>
              <a:rPr dirty="0" sz="1200" spc="70">
                <a:latin typeface="Microsoft JhengHei UI Light"/>
                <a:cs typeface="Microsoft JhengHei UI Light"/>
              </a:rPr>
              <a:t> P</a:t>
            </a:r>
            <a:r>
              <a:rPr dirty="0" sz="1200" spc="-50">
                <a:latin typeface="Microsoft JhengHei UI Light"/>
                <a:cs typeface="Microsoft JhengHei UI Light"/>
              </a:rPr>
              <a:t> 代表了产⽣我们数据的“真实世界规则”, ⽐</a:t>
            </a:r>
            <a:r>
              <a:rPr dirty="0" sz="1200">
                <a:latin typeface="Microsoft JhengHei UI Light"/>
                <a:cs typeface="Microsoft JhengHei UI Light"/>
              </a:rPr>
              <a:t>如：P</a:t>
            </a:r>
            <a:r>
              <a:rPr dirty="0" sz="1200" spc="-50">
                <a:latin typeface="Microsoft JhengHei UI Light"/>
                <a:cs typeface="Microsoft JhengHei UI Light"/>
              </a:rPr>
              <a:t> 可能代表</a:t>
            </a:r>
            <a:r>
              <a:rPr dirty="0" sz="1200" spc="-55">
                <a:latin typeface="Microsoft JhengHei UI Light"/>
                <a:cs typeface="Microsoft JhengHei UI Light"/>
              </a:rPr>
              <a:t>“（⼀个城市⾥）所有复杂的、影响天⽓变化的物理规律”；或者“（⼀个经济体中）所有</a:t>
            </a:r>
            <a:r>
              <a:rPr dirty="0" sz="1200" spc="-30">
                <a:latin typeface="Microsoft JhengHei UI Light"/>
                <a:cs typeface="Microsoft JhengHei UI Light"/>
              </a:rPr>
              <a:t>影响股票市场的复杂⼈类⾏为和经济法则”。</a:t>
            </a:r>
            <a:r>
              <a:rPr dirty="0" sz="1200">
                <a:latin typeface="Microsoft JhengHei UI Light"/>
                <a:cs typeface="Microsoft JhengHei UI Light"/>
              </a:rPr>
              <a:t>P</a:t>
            </a:r>
            <a:r>
              <a:rPr dirty="0" sz="1200" spc="-5">
                <a:latin typeface="Microsoft JhengHei UI Light"/>
                <a:cs typeface="Microsoft JhengHei UI Light"/>
              </a:rPr>
              <a:t> 是我们永远⽆法完全知道的。</a:t>
            </a:r>
            <a:endParaRPr sz="1200">
              <a:latin typeface="Microsoft JhengHei UI Light"/>
              <a:cs typeface="Microsoft JhengHei UI Light"/>
            </a:endParaRPr>
          </a:p>
          <a:p>
            <a:pPr algn="r" marR="5080">
              <a:lnSpc>
                <a:spcPts val="1150"/>
              </a:lnSpc>
            </a:pPr>
            <a:r>
              <a:rPr dirty="0" sz="1100">
                <a:latin typeface="Arial MT"/>
                <a:cs typeface="Arial MT"/>
              </a:rPr>
              <a:t>“</a:t>
            </a:r>
            <a:r>
              <a:rPr dirty="0" sz="1100" spc="-20">
                <a:latin typeface="Microsoft JhengHei UI Light"/>
                <a:cs typeface="Microsoft JhengHei UI Light"/>
              </a:rPr>
              <a:t>观测到的时间序列</a:t>
            </a:r>
            <a:r>
              <a:rPr dirty="0" sz="1100" spc="-5">
                <a:latin typeface="Arial MT"/>
                <a:cs typeface="Arial MT"/>
              </a:rPr>
              <a:t>” </a:t>
            </a:r>
            <a:r>
              <a:rPr dirty="0" sz="1100">
                <a:latin typeface="Arial MT"/>
                <a:cs typeface="Arial MT"/>
              </a:rPr>
              <a:t>(Observed </a:t>
            </a:r>
            <a:r>
              <a:rPr dirty="0" sz="1100" spc="-20">
                <a:latin typeface="Arial MT"/>
                <a:cs typeface="Arial MT"/>
              </a:rPr>
              <a:t>time-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186506" y="1013407"/>
            <a:ext cx="2703830" cy="857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Arial MT"/>
                <a:cs typeface="Arial MT"/>
              </a:rPr>
              <a:t>series)</a:t>
            </a:r>
            <a:r>
              <a:rPr dirty="0" sz="1100" spc="-10">
                <a:latin typeface="Microsoft JhengHei UI Light"/>
                <a:cs typeface="Microsoft JhengHei UI Light"/>
              </a:rPr>
              <a:t>：</a:t>
            </a:r>
            <a:endParaRPr sz="1100">
              <a:latin typeface="Microsoft JhengHei UI Light"/>
              <a:cs typeface="Microsoft JhengHei UI Light"/>
            </a:endParaRPr>
          </a:p>
          <a:p>
            <a:pPr marL="12700" marR="5080">
              <a:lnSpc>
                <a:spcPct val="115700"/>
              </a:lnSpc>
              <a:spcBef>
                <a:spcPts val="655"/>
              </a:spcBef>
            </a:pPr>
            <a:r>
              <a:rPr dirty="0" sz="1100" spc="-10">
                <a:latin typeface="Microsoft JhengHei UI Light"/>
                <a:cs typeface="Microsoft JhengHei UI Light"/>
              </a:rPr>
              <a:t>这是 </a:t>
            </a:r>
            <a:r>
              <a:rPr dirty="0" sz="1100">
                <a:latin typeface="Arial MT"/>
                <a:cs typeface="Arial MT"/>
              </a:rPr>
              <a:t>P </a:t>
            </a:r>
            <a:r>
              <a:rPr dirty="0" sz="1100" spc="-20">
                <a:latin typeface="Microsoft JhengHei UI Light"/>
                <a:cs typeface="Microsoft JhengHei UI Light"/>
              </a:rPr>
              <a:t>这个</a:t>
            </a:r>
            <a:r>
              <a:rPr dirty="0" sz="1100">
                <a:latin typeface="Arial MT"/>
                <a:cs typeface="Arial MT"/>
              </a:rPr>
              <a:t>“</a:t>
            </a:r>
            <a:r>
              <a:rPr dirty="0" sz="1100" spc="-20">
                <a:latin typeface="Microsoft JhengHei UI Light"/>
                <a:cs typeface="Microsoft JhengHei UI Light"/>
              </a:rPr>
              <a:t>⿊匣⼦</a:t>
            </a:r>
            <a:r>
              <a:rPr dirty="0" sz="1100">
                <a:latin typeface="Arial MT"/>
                <a:cs typeface="Arial MT"/>
              </a:rPr>
              <a:t>”</a:t>
            </a:r>
            <a:r>
              <a:rPr dirty="0" sz="1100" spc="-20">
                <a:latin typeface="Microsoft JhengHei UI Light"/>
                <a:cs typeface="Microsoft JhengHei UI Light"/>
              </a:rPr>
              <a:t>吐出的</a:t>
            </a:r>
            <a:r>
              <a:rPr dirty="0" sz="1100">
                <a:latin typeface="Arial MT"/>
                <a:cs typeface="Arial MT"/>
              </a:rPr>
              <a:t>“</a:t>
            </a:r>
            <a:r>
              <a:rPr dirty="0" sz="1100" spc="-20">
                <a:latin typeface="Microsoft JhengHei UI Light"/>
                <a:cs typeface="Microsoft JhengHei UI Light"/>
              </a:rPr>
              <a:t>输出</a:t>
            </a:r>
            <a:r>
              <a:rPr dirty="0" sz="1100">
                <a:latin typeface="Arial MT"/>
                <a:cs typeface="Arial MT"/>
              </a:rPr>
              <a:t>”</a:t>
            </a:r>
            <a:r>
              <a:rPr dirty="0" sz="1100" spc="-30">
                <a:latin typeface="Microsoft JhengHei UI Light"/>
                <a:cs typeface="Microsoft JhengHei UI Light"/>
              </a:rPr>
              <a:t>。⽐如：</a:t>
            </a:r>
            <a:r>
              <a:rPr dirty="0" sz="1100" spc="-20">
                <a:latin typeface="Microsoft JhengHei UI Light"/>
                <a:cs typeface="Microsoft JhengHei UI Light"/>
              </a:rPr>
              <a:t>我们观测到的</a:t>
            </a:r>
            <a:r>
              <a:rPr dirty="0" sz="1100">
                <a:latin typeface="Arial MT"/>
                <a:cs typeface="Arial MT"/>
              </a:rPr>
              <a:t>“</a:t>
            </a:r>
            <a:r>
              <a:rPr dirty="0" sz="1100" spc="-20">
                <a:latin typeface="Microsoft JhengHei UI Light"/>
                <a:cs typeface="Microsoft JhengHei UI Light"/>
              </a:rPr>
              <a:t>温度读数</a:t>
            </a:r>
            <a:r>
              <a:rPr dirty="0" sz="1100">
                <a:latin typeface="Arial MT"/>
                <a:cs typeface="Arial MT"/>
              </a:rPr>
              <a:t>”</a:t>
            </a:r>
            <a:r>
              <a:rPr dirty="0" sz="1100" spc="-20">
                <a:latin typeface="Microsoft JhengHei UI Light"/>
                <a:cs typeface="Microsoft JhengHei UI Light"/>
              </a:rPr>
              <a:t>或</a:t>
            </a:r>
            <a:r>
              <a:rPr dirty="0" sz="1100">
                <a:latin typeface="Arial MT"/>
                <a:cs typeface="Arial MT"/>
              </a:rPr>
              <a:t>“</a:t>
            </a:r>
            <a:r>
              <a:rPr dirty="0" sz="1100" spc="-20">
                <a:latin typeface="Microsoft JhengHei UI Light"/>
                <a:cs typeface="Microsoft JhengHei UI Light"/>
              </a:rPr>
              <a:t>股票价格</a:t>
            </a:r>
            <a:r>
              <a:rPr dirty="0" sz="1100">
                <a:latin typeface="Arial MT"/>
                <a:cs typeface="Arial MT"/>
              </a:rPr>
              <a:t>”</a:t>
            </a:r>
            <a:r>
              <a:rPr dirty="0" sz="1100" spc="-35">
                <a:latin typeface="Microsoft JhengHei UI Light"/>
                <a:cs typeface="Microsoft JhengHei UI Light"/>
              </a:rPr>
              <a:t>。这个</a:t>
            </a:r>
            <a:r>
              <a:rPr dirty="0" sz="1100" spc="-20">
                <a:latin typeface="Microsoft JhengHei UI Light"/>
                <a:cs typeface="Microsoft JhengHei UI Light"/>
              </a:rPr>
              <a:t>输出就是我们⼿头的数据，即 </a:t>
            </a:r>
            <a:r>
              <a:rPr dirty="0" sz="1100">
                <a:latin typeface="Arial MT"/>
                <a:cs typeface="Arial MT"/>
              </a:rPr>
              <a:t>{x(t0</a:t>
            </a:r>
            <a:r>
              <a:rPr dirty="0" sz="1100" spc="10">
                <a:latin typeface="Arial MT"/>
                <a:cs typeface="Arial MT"/>
              </a:rPr>
              <a:t>), </a:t>
            </a:r>
            <a:r>
              <a:rPr dirty="0" sz="1100" spc="-10">
                <a:latin typeface="Arial MT"/>
                <a:cs typeface="Arial MT"/>
              </a:rPr>
              <a:t>x(t1),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2115" y="1852995"/>
            <a:ext cx="7926705" cy="37998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1831339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 MT"/>
                <a:cs typeface="Arial MT"/>
              </a:rPr>
              <a:t>….,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}</a:t>
            </a:r>
            <a:endParaRPr sz="1100">
              <a:latin typeface="Arial MT"/>
              <a:cs typeface="Arial MT"/>
            </a:endParaRPr>
          </a:p>
          <a:p>
            <a:pPr marL="381000" marR="30480" indent="-342900">
              <a:lnSpc>
                <a:spcPct val="100000"/>
              </a:lnSpc>
              <a:spcBef>
                <a:spcPts val="15"/>
              </a:spcBef>
              <a:buClr>
                <a:srgbClr val="3333CC"/>
              </a:buClr>
              <a:buSzPct val="58928"/>
              <a:buChar char="■"/>
              <a:tabLst>
                <a:tab pos="381000" algn="l"/>
              </a:tabLst>
            </a:pP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statistics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machine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learning,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time-</a:t>
            </a:r>
            <a:r>
              <a:rPr dirty="0" sz="2800" spc="-10">
                <a:latin typeface="Tahoma"/>
                <a:cs typeface="Tahoma"/>
              </a:rPr>
              <a:t>series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often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described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by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sequence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vectors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(or </a:t>
            </a:r>
            <a:r>
              <a:rPr dirty="0" sz="2800">
                <a:latin typeface="Tahoma"/>
                <a:cs typeface="Tahoma"/>
              </a:rPr>
              <a:t>scalars)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which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depend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time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t:</a:t>
            </a:r>
            <a:endParaRPr sz="2800">
              <a:latin typeface="Tahoma"/>
              <a:cs typeface="Tahoma"/>
            </a:endParaRPr>
          </a:p>
          <a:p>
            <a:pPr algn="ctr" marL="187325">
              <a:lnSpc>
                <a:spcPct val="100000"/>
              </a:lnSpc>
              <a:spcBef>
                <a:spcPts val="580"/>
              </a:spcBef>
            </a:pPr>
            <a:r>
              <a:rPr dirty="0" sz="4000" spc="-170">
                <a:latin typeface="Tahoma"/>
                <a:cs typeface="Tahoma"/>
              </a:rPr>
              <a:t>{</a:t>
            </a:r>
            <a:r>
              <a:rPr dirty="0" sz="3000" spc="-170" i="1">
                <a:latin typeface="Times New Roman"/>
                <a:cs typeface="Times New Roman"/>
              </a:rPr>
              <a:t>x</a:t>
            </a:r>
            <a:r>
              <a:rPr dirty="0" sz="3000" spc="-170">
                <a:latin typeface="Tahoma"/>
                <a:cs typeface="Tahoma"/>
              </a:rPr>
              <a:t>(</a:t>
            </a:r>
            <a:r>
              <a:rPr dirty="0" sz="3000" spc="-170" i="1">
                <a:latin typeface="Times New Roman"/>
                <a:cs typeface="Times New Roman"/>
              </a:rPr>
              <a:t>t</a:t>
            </a:r>
            <a:r>
              <a:rPr dirty="0" baseline="-23809" sz="2625" spc="-254">
                <a:latin typeface="Tahoma"/>
                <a:cs typeface="Tahoma"/>
              </a:rPr>
              <a:t>0</a:t>
            </a:r>
            <a:r>
              <a:rPr dirty="0" baseline="-23809" sz="2625" spc="-322">
                <a:latin typeface="Tahoma"/>
                <a:cs typeface="Tahoma"/>
              </a:rPr>
              <a:t> </a:t>
            </a:r>
            <a:r>
              <a:rPr dirty="0" sz="3000" spc="-160">
                <a:latin typeface="Tahoma"/>
                <a:cs typeface="Tahoma"/>
              </a:rPr>
              <a:t>),</a:t>
            </a:r>
            <a:r>
              <a:rPr dirty="0" sz="3000" spc="-440">
                <a:latin typeface="Tahoma"/>
                <a:cs typeface="Tahoma"/>
              </a:rPr>
              <a:t> </a:t>
            </a:r>
            <a:r>
              <a:rPr dirty="0" sz="3000" spc="-75" i="1">
                <a:latin typeface="Times New Roman"/>
                <a:cs typeface="Times New Roman"/>
              </a:rPr>
              <a:t>x</a:t>
            </a:r>
            <a:r>
              <a:rPr dirty="0" sz="3000" spc="-75">
                <a:latin typeface="Tahoma"/>
                <a:cs typeface="Tahoma"/>
              </a:rPr>
              <a:t>(</a:t>
            </a:r>
            <a:r>
              <a:rPr dirty="0" sz="3000" spc="-75" i="1">
                <a:latin typeface="Times New Roman"/>
                <a:cs typeface="Times New Roman"/>
              </a:rPr>
              <a:t>t</a:t>
            </a:r>
            <a:r>
              <a:rPr dirty="0" baseline="-23809" sz="2625" spc="-112">
                <a:latin typeface="Tahoma"/>
                <a:cs typeface="Tahoma"/>
              </a:rPr>
              <a:t>1</a:t>
            </a:r>
            <a:r>
              <a:rPr dirty="0" baseline="-23809" sz="2625" spc="-517">
                <a:latin typeface="Tahoma"/>
                <a:cs typeface="Tahoma"/>
              </a:rPr>
              <a:t> </a:t>
            </a:r>
            <a:r>
              <a:rPr dirty="0" sz="3000" spc="-204">
                <a:latin typeface="Tahoma"/>
                <a:cs typeface="Tahoma"/>
              </a:rPr>
              <a:t>),···,</a:t>
            </a:r>
            <a:r>
              <a:rPr dirty="0" sz="3000" spc="-425">
                <a:latin typeface="Tahoma"/>
                <a:cs typeface="Tahoma"/>
              </a:rPr>
              <a:t> </a:t>
            </a:r>
            <a:r>
              <a:rPr dirty="0" sz="3000" spc="-20" i="1">
                <a:latin typeface="Times New Roman"/>
                <a:cs typeface="Times New Roman"/>
              </a:rPr>
              <a:t>x</a:t>
            </a:r>
            <a:r>
              <a:rPr dirty="0" sz="3000" spc="-20">
                <a:latin typeface="Tahoma"/>
                <a:cs typeface="Tahoma"/>
              </a:rPr>
              <a:t>(</a:t>
            </a:r>
            <a:r>
              <a:rPr dirty="0" sz="3000" spc="-20" i="1">
                <a:latin typeface="Times New Roman"/>
                <a:cs typeface="Times New Roman"/>
              </a:rPr>
              <a:t>t</a:t>
            </a:r>
            <a:r>
              <a:rPr dirty="0" baseline="-23809" sz="2625" spc="-30" i="1">
                <a:latin typeface="Times New Roman"/>
                <a:cs typeface="Times New Roman"/>
              </a:rPr>
              <a:t>i</a:t>
            </a:r>
            <a:r>
              <a:rPr dirty="0" baseline="-23809" sz="2625" spc="-30">
                <a:latin typeface="Tahoma"/>
                <a:cs typeface="Tahoma"/>
              </a:rPr>
              <a:t>–1</a:t>
            </a:r>
            <a:r>
              <a:rPr dirty="0" baseline="-23809" sz="2625" spc="-517">
                <a:latin typeface="Tahoma"/>
                <a:cs typeface="Tahoma"/>
              </a:rPr>
              <a:t> </a:t>
            </a:r>
            <a:r>
              <a:rPr dirty="0" sz="3000" spc="-160">
                <a:latin typeface="Tahoma"/>
                <a:cs typeface="Tahoma"/>
              </a:rPr>
              <a:t>),</a:t>
            </a:r>
            <a:r>
              <a:rPr dirty="0" sz="3000" spc="-440">
                <a:latin typeface="Tahoma"/>
                <a:cs typeface="Tahoma"/>
              </a:rPr>
              <a:t> </a:t>
            </a:r>
            <a:r>
              <a:rPr dirty="0" sz="3000" i="1">
                <a:latin typeface="Times New Roman"/>
                <a:cs typeface="Times New Roman"/>
              </a:rPr>
              <a:t>x</a:t>
            </a:r>
            <a:r>
              <a:rPr dirty="0" sz="3000">
                <a:latin typeface="Tahoma"/>
                <a:cs typeface="Tahoma"/>
              </a:rPr>
              <a:t>(</a:t>
            </a:r>
            <a:r>
              <a:rPr dirty="0" sz="3000" i="1">
                <a:latin typeface="Times New Roman"/>
                <a:cs typeface="Times New Roman"/>
              </a:rPr>
              <a:t>t</a:t>
            </a:r>
            <a:r>
              <a:rPr dirty="0" baseline="-23809" sz="2625" i="1">
                <a:latin typeface="Times New Roman"/>
                <a:cs typeface="Times New Roman"/>
              </a:rPr>
              <a:t>i</a:t>
            </a:r>
            <a:r>
              <a:rPr dirty="0" baseline="-23809" sz="2625" spc="-165" i="1">
                <a:latin typeface="Times New Roman"/>
                <a:cs typeface="Times New Roman"/>
              </a:rPr>
              <a:t> </a:t>
            </a:r>
            <a:r>
              <a:rPr dirty="0" sz="3000" spc="-160">
                <a:latin typeface="Tahoma"/>
                <a:cs typeface="Tahoma"/>
              </a:rPr>
              <a:t>),</a:t>
            </a:r>
            <a:r>
              <a:rPr dirty="0" sz="3000" spc="-440">
                <a:latin typeface="Tahoma"/>
                <a:cs typeface="Tahoma"/>
              </a:rPr>
              <a:t> </a:t>
            </a:r>
            <a:r>
              <a:rPr dirty="0" sz="3000" spc="-70" i="1">
                <a:latin typeface="Times New Roman"/>
                <a:cs typeface="Times New Roman"/>
              </a:rPr>
              <a:t>x</a:t>
            </a:r>
            <a:r>
              <a:rPr dirty="0" sz="3000" spc="-70">
                <a:latin typeface="Tahoma"/>
                <a:cs typeface="Tahoma"/>
              </a:rPr>
              <a:t>(</a:t>
            </a:r>
            <a:r>
              <a:rPr dirty="0" sz="3000" spc="-70" i="1">
                <a:latin typeface="Times New Roman"/>
                <a:cs typeface="Times New Roman"/>
              </a:rPr>
              <a:t>t</a:t>
            </a:r>
            <a:r>
              <a:rPr dirty="0" baseline="-23809" sz="2625" spc="-104" i="1">
                <a:latin typeface="Times New Roman"/>
                <a:cs typeface="Times New Roman"/>
              </a:rPr>
              <a:t>i</a:t>
            </a:r>
            <a:r>
              <a:rPr dirty="0" baseline="-23809" sz="2625" spc="-104">
                <a:latin typeface="Tahoma"/>
                <a:cs typeface="Tahoma"/>
              </a:rPr>
              <a:t>+1</a:t>
            </a:r>
            <a:r>
              <a:rPr dirty="0" baseline="-23809" sz="2625" spc="-517">
                <a:latin typeface="Tahoma"/>
                <a:cs typeface="Tahoma"/>
              </a:rPr>
              <a:t> </a:t>
            </a:r>
            <a:r>
              <a:rPr dirty="0" sz="3000" spc="-105">
                <a:latin typeface="Tahoma"/>
                <a:cs typeface="Tahoma"/>
              </a:rPr>
              <a:t>),···</a:t>
            </a:r>
            <a:r>
              <a:rPr dirty="0" sz="3000" spc="170">
                <a:latin typeface="Tahoma"/>
                <a:cs typeface="Tahoma"/>
              </a:rPr>
              <a:t> </a:t>
            </a:r>
            <a:r>
              <a:rPr dirty="0" sz="4000" spc="-555">
                <a:latin typeface="Tahoma"/>
                <a:cs typeface="Tahoma"/>
              </a:rPr>
              <a:t>}</a:t>
            </a:r>
            <a:endParaRPr sz="4000">
              <a:latin typeface="Tahoma"/>
              <a:cs typeface="Tahoma"/>
            </a:endParaRPr>
          </a:p>
          <a:p>
            <a:pPr marL="363220" marR="452755">
              <a:lnSpc>
                <a:spcPct val="100000"/>
              </a:lnSpc>
              <a:spcBef>
                <a:spcPts val="2680"/>
              </a:spcBef>
            </a:pPr>
            <a:r>
              <a:rPr dirty="0" sz="2800">
                <a:latin typeface="Tahoma"/>
                <a:cs typeface="Tahoma"/>
              </a:rPr>
              <a:t>It’s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output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some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process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that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are </a:t>
            </a:r>
            <a:r>
              <a:rPr dirty="0" sz="2800">
                <a:latin typeface="Tahoma"/>
                <a:cs typeface="Tahoma"/>
              </a:rPr>
              <a:t>interested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in:</a:t>
            </a:r>
            <a:endParaRPr sz="2800">
              <a:latin typeface="Tahoma"/>
              <a:cs typeface="Tahoma"/>
            </a:endParaRPr>
          </a:p>
          <a:p>
            <a:pPr marL="3477895">
              <a:lnSpc>
                <a:spcPct val="100000"/>
              </a:lnSpc>
              <a:spcBef>
                <a:spcPts val="655"/>
              </a:spcBef>
            </a:pPr>
            <a:r>
              <a:rPr dirty="0" sz="2400" b="1">
                <a:solidFill>
                  <a:srgbClr val="FF0000"/>
                </a:solidFill>
                <a:latin typeface="Tahoma"/>
                <a:cs typeface="Tahoma"/>
              </a:rPr>
              <a:t>Observed</a:t>
            </a:r>
            <a:r>
              <a:rPr dirty="0" sz="2400" spc="-4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FF0000"/>
                </a:solidFill>
                <a:latin typeface="Tahoma"/>
                <a:cs typeface="Tahoma"/>
              </a:rPr>
              <a:t>time-series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609334" y="5717742"/>
            <a:ext cx="2226945" cy="607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dirty="0" sz="1100" spc="-10">
                <a:latin typeface="Times New Roman"/>
                <a:cs typeface="Times New Roman"/>
              </a:rPr>
              <a:t>“</a:t>
            </a:r>
            <a:r>
              <a:rPr dirty="0" sz="1100" spc="-20">
                <a:latin typeface="Microsoft JhengHei UI Light"/>
                <a:cs typeface="Microsoft JhengHei UI Light"/>
              </a:rPr>
              <a:t>时间序列建模</a:t>
            </a:r>
            <a:r>
              <a:rPr dirty="0" sz="1100" spc="-10">
                <a:latin typeface="Times New Roman"/>
                <a:cs typeface="Times New Roman"/>
              </a:rPr>
              <a:t>”</a:t>
            </a:r>
            <a:r>
              <a:rPr dirty="0" sz="1100" spc="-10">
                <a:latin typeface="Microsoft JhengHei UI Light"/>
                <a:cs typeface="Microsoft JhengHei UI Light"/>
              </a:rPr>
              <a:t>（</a:t>
            </a:r>
            <a:r>
              <a:rPr dirty="0" sz="1100" spc="-25">
                <a:latin typeface="Microsoft JhengHei UI Light"/>
                <a:cs typeface="Microsoft JhengHei UI Light"/>
              </a:rPr>
              <a:t>⽆论是⽤统计学还</a:t>
            </a:r>
            <a:r>
              <a:rPr dirty="0" sz="1100" spc="-20">
                <a:latin typeface="Microsoft JhengHei UI Light"/>
                <a:cs typeface="Microsoft JhengHei UI Light"/>
              </a:rPr>
              <a:t>是 </a:t>
            </a:r>
            <a:r>
              <a:rPr dirty="0" sz="1100">
                <a:latin typeface="Times New Roman"/>
                <a:cs typeface="Times New Roman"/>
              </a:rPr>
              <a:t>Elman </a:t>
            </a:r>
            <a:r>
              <a:rPr dirty="0" sz="1100" spc="-20">
                <a:latin typeface="Microsoft JhengHei UI Light"/>
                <a:cs typeface="Microsoft JhengHei UI Light"/>
              </a:rPr>
              <a:t>⽹络）</a:t>
            </a:r>
            <a:r>
              <a:rPr dirty="0" sz="1100" spc="-25">
                <a:latin typeface="Microsoft JhengHei UI Light"/>
                <a:cs typeface="Microsoft JhengHei UI Light"/>
              </a:rPr>
              <a:t>的最终⽬的，就是</a:t>
            </a:r>
            <a:r>
              <a:rPr dirty="0" sz="1100" spc="-20">
                <a:latin typeface="Microsoft JhengHei UI Light"/>
                <a:cs typeface="Microsoft JhengHei UI Light"/>
              </a:rPr>
              <a:t>建⽴⼀个</a:t>
            </a:r>
            <a:r>
              <a:rPr dirty="0" sz="1100" spc="-10">
                <a:latin typeface="Times New Roman"/>
                <a:cs typeface="Times New Roman"/>
              </a:rPr>
              <a:t>“</a:t>
            </a:r>
            <a:r>
              <a:rPr dirty="0" sz="1100" spc="-20">
                <a:latin typeface="Microsoft JhengHei UI Light"/>
                <a:cs typeface="Microsoft JhengHei UI Light"/>
              </a:rPr>
              <a:t>模型</a:t>
            </a:r>
            <a:r>
              <a:rPr dirty="0" sz="1100" spc="5">
                <a:latin typeface="Times New Roman"/>
                <a:cs typeface="Times New Roman"/>
              </a:rPr>
              <a:t>” </a:t>
            </a:r>
            <a:r>
              <a:rPr dirty="0" sz="1100" spc="-10">
                <a:latin typeface="Times New Roman"/>
                <a:cs typeface="Times New Roman"/>
              </a:rPr>
              <a:t>P'</a:t>
            </a:r>
            <a:r>
              <a:rPr dirty="0" sz="1100" spc="-15">
                <a:latin typeface="Microsoft JhengHei UI Light"/>
                <a:cs typeface="Microsoft JhengHei UI Light"/>
              </a:rPr>
              <a:t>，让 </a:t>
            </a:r>
            <a:r>
              <a:rPr dirty="0" sz="1100">
                <a:latin typeface="Times New Roman"/>
                <a:cs typeface="Times New Roman"/>
              </a:rPr>
              <a:t>P</a:t>
            </a:r>
            <a:r>
              <a:rPr dirty="0" sz="1100" spc="5">
                <a:latin typeface="Times New Roman"/>
                <a:cs typeface="Times New Roman"/>
              </a:rPr>
              <a:t>' </a:t>
            </a:r>
            <a:r>
              <a:rPr dirty="0" sz="1100" spc="-30">
                <a:latin typeface="Microsoft JhengHei UI Light"/>
                <a:cs typeface="Microsoft JhengHei UI Light"/>
              </a:rPr>
              <a:t>尽最⼤可</a:t>
            </a:r>
            <a:endParaRPr sz="1100">
              <a:latin typeface="Microsoft JhengHei UI Light"/>
              <a:cs typeface="Microsoft JhengHei UI Ligh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609334" y="6327342"/>
            <a:ext cx="22110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Microsoft JhengHei UI Light"/>
                <a:cs typeface="Microsoft JhengHei UI Light"/>
              </a:rPr>
              <a:t>能地去</a:t>
            </a:r>
            <a:r>
              <a:rPr dirty="0" sz="1100" spc="-10">
                <a:latin typeface="Times New Roman"/>
                <a:cs typeface="Times New Roman"/>
              </a:rPr>
              <a:t>“</a:t>
            </a:r>
            <a:r>
              <a:rPr dirty="0" sz="1100" spc="-20">
                <a:latin typeface="Microsoft JhengHei UI Light"/>
                <a:cs typeface="Microsoft JhengHei UI Light"/>
              </a:rPr>
              <a:t>模仿</a:t>
            </a:r>
            <a:r>
              <a:rPr dirty="0" sz="1100" spc="-10">
                <a:latin typeface="Times New Roman"/>
                <a:cs typeface="Times New Roman"/>
              </a:rPr>
              <a:t>”</a:t>
            </a:r>
            <a:r>
              <a:rPr dirty="0" sz="1100" spc="-20">
                <a:latin typeface="Microsoft JhengHei UI Light"/>
                <a:cs typeface="Microsoft JhengHei UI Light"/>
              </a:rPr>
              <a:t>那个</a:t>
            </a:r>
            <a:r>
              <a:rPr dirty="0" sz="1100" spc="-10">
                <a:latin typeface="Times New Roman"/>
                <a:cs typeface="Times New Roman"/>
              </a:rPr>
              <a:t>“</a:t>
            </a:r>
            <a:r>
              <a:rPr dirty="0" sz="1100" spc="-20">
                <a:latin typeface="Microsoft JhengHei UI Light"/>
                <a:cs typeface="Microsoft JhengHei UI Light"/>
              </a:rPr>
              <a:t>未知的真实过程</a:t>
            </a:r>
            <a:r>
              <a:rPr dirty="0" sz="1100" spc="-50">
                <a:latin typeface="Times New Roman"/>
                <a:cs typeface="Times New Roman"/>
              </a:rPr>
              <a:t>”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609334" y="6521306"/>
            <a:ext cx="241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Times New Roman"/>
                <a:cs typeface="Times New Roman"/>
              </a:rPr>
              <a:t>P</a:t>
            </a:r>
            <a:r>
              <a:rPr dirty="0" sz="1100" spc="-50">
                <a:latin typeface="Microsoft JhengHei UI Light"/>
                <a:cs typeface="Microsoft JhengHei UI Light"/>
              </a:rPr>
              <a:t>。</a:t>
            </a:r>
            <a:endParaRPr sz="1100">
              <a:latin typeface="Microsoft JhengHei UI Light"/>
              <a:cs typeface="Microsoft JhengHei UI Light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212" y="5854717"/>
            <a:ext cx="440526" cy="2055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715" y="34542"/>
            <a:ext cx="849618" cy="29192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0285" y="74522"/>
            <a:ext cx="453534" cy="190272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806083" y="127375"/>
            <a:ext cx="23495" cy="7620"/>
          </a:xfrm>
          <a:custGeom>
            <a:avLst/>
            <a:gdLst/>
            <a:ahLst/>
            <a:cxnLst/>
            <a:rect l="l" t="t" r="r" b="b"/>
            <a:pathLst>
              <a:path w="23494" h="7619">
                <a:moveTo>
                  <a:pt x="1115" y="5398"/>
                </a:moveTo>
                <a:lnTo>
                  <a:pt x="1344" y="5805"/>
                </a:lnTo>
                <a:lnTo>
                  <a:pt x="1849" y="6404"/>
                </a:lnTo>
                <a:lnTo>
                  <a:pt x="1966" y="6549"/>
                </a:lnTo>
                <a:lnTo>
                  <a:pt x="7011" y="7539"/>
                </a:lnTo>
                <a:lnTo>
                  <a:pt x="23127" y="7539"/>
                </a:lnTo>
                <a:lnTo>
                  <a:pt x="2711" y="6549"/>
                </a:lnTo>
                <a:lnTo>
                  <a:pt x="2460" y="6549"/>
                </a:lnTo>
                <a:lnTo>
                  <a:pt x="2124" y="6404"/>
                </a:lnTo>
                <a:lnTo>
                  <a:pt x="1115" y="5398"/>
                </a:lnTo>
                <a:close/>
              </a:path>
              <a:path w="23494" h="7619">
                <a:moveTo>
                  <a:pt x="2112" y="0"/>
                </a:moveTo>
                <a:lnTo>
                  <a:pt x="1864" y="0"/>
                </a:lnTo>
                <a:lnTo>
                  <a:pt x="640" y="1281"/>
                </a:lnTo>
                <a:lnTo>
                  <a:pt x="23127" y="7539"/>
                </a:lnTo>
                <a:lnTo>
                  <a:pt x="15580" y="7539"/>
                </a:lnTo>
                <a:lnTo>
                  <a:pt x="17484" y="5805"/>
                </a:lnTo>
                <a:lnTo>
                  <a:pt x="17611" y="5398"/>
                </a:lnTo>
                <a:lnTo>
                  <a:pt x="17729" y="2849"/>
                </a:lnTo>
                <a:lnTo>
                  <a:pt x="17774" y="1858"/>
                </a:lnTo>
                <a:lnTo>
                  <a:pt x="17249" y="1281"/>
                </a:lnTo>
                <a:lnTo>
                  <a:pt x="18093" y="1281"/>
                </a:lnTo>
                <a:lnTo>
                  <a:pt x="12267" y="367"/>
                </a:lnTo>
                <a:lnTo>
                  <a:pt x="1046" y="367"/>
                </a:lnTo>
                <a:lnTo>
                  <a:pt x="2112" y="0"/>
                </a:lnTo>
                <a:close/>
              </a:path>
              <a:path w="23494" h="7619">
                <a:moveTo>
                  <a:pt x="18093" y="1281"/>
                </a:moveTo>
                <a:lnTo>
                  <a:pt x="17249" y="1281"/>
                </a:lnTo>
                <a:lnTo>
                  <a:pt x="17774" y="1858"/>
                </a:lnTo>
                <a:lnTo>
                  <a:pt x="17729" y="2849"/>
                </a:lnTo>
                <a:lnTo>
                  <a:pt x="17611" y="5398"/>
                </a:lnTo>
                <a:lnTo>
                  <a:pt x="17484" y="5805"/>
                </a:lnTo>
                <a:lnTo>
                  <a:pt x="15580" y="7539"/>
                </a:lnTo>
                <a:lnTo>
                  <a:pt x="19182" y="7539"/>
                </a:lnTo>
                <a:lnTo>
                  <a:pt x="20609" y="6150"/>
                </a:lnTo>
                <a:lnTo>
                  <a:pt x="20656" y="2849"/>
                </a:lnTo>
                <a:lnTo>
                  <a:pt x="19526" y="1506"/>
                </a:lnTo>
                <a:lnTo>
                  <a:pt x="18093" y="1281"/>
                </a:lnTo>
                <a:close/>
              </a:path>
              <a:path w="23494" h="7619">
                <a:moveTo>
                  <a:pt x="808" y="4900"/>
                </a:moveTo>
                <a:lnTo>
                  <a:pt x="726" y="5071"/>
                </a:lnTo>
                <a:lnTo>
                  <a:pt x="1002" y="5398"/>
                </a:lnTo>
                <a:lnTo>
                  <a:pt x="913" y="5071"/>
                </a:lnTo>
                <a:lnTo>
                  <a:pt x="808" y="4900"/>
                </a:lnTo>
                <a:close/>
              </a:path>
              <a:path w="23494" h="7619">
                <a:moveTo>
                  <a:pt x="640" y="1281"/>
                </a:moveTo>
                <a:lnTo>
                  <a:pt x="469" y="1506"/>
                </a:lnTo>
                <a:lnTo>
                  <a:pt x="0" y="2433"/>
                </a:lnTo>
                <a:lnTo>
                  <a:pt x="716" y="4617"/>
                </a:lnTo>
                <a:lnTo>
                  <a:pt x="640" y="1281"/>
                </a:lnTo>
                <a:close/>
              </a:path>
              <a:path w="23494" h="7619">
                <a:moveTo>
                  <a:pt x="9462" y="0"/>
                </a:moveTo>
                <a:lnTo>
                  <a:pt x="2112" y="0"/>
                </a:lnTo>
                <a:lnTo>
                  <a:pt x="1046" y="367"/>
                </a:lnTo>
                <a:lnTo>
                  <a:pt x="583" y="1281"/>
                </a:lnTo>
                <a:lnTo>
                  <a:pt x="1513" y="367"/>
                </a:lnTo>
                <a:lnTo>
                  <a:pt x="12298" y="367"/>
                </a:lnTo>
                <a:lnTo>
                  <a:pt x="9462" y="0"/>
                </a:lnTo>
                <a:close/>
              </a:path>
              <a:path w="23494" h="7619">
                <a:moveTo>
                  <a:pt x="11370" y="0"/>
                </a:moveTo>
                <a:lnTo>
                  <a:pt x="9462" y="0"/>
                </a:lnTo>
                <a:lnTo>
                  <a:pt x="12267" y="367"/>
                </a:lnTo>
                <a:lnTo>
                  <a:pt x="18093" y="1281"/>
                </a:lnTo>
                <a:lnTo>
                  <a:pt x="17249" y="1281"/>
                </a:lnTo>
                <a:lnTo>
                  <a:pt x="16416" y="367"/>
                </a:lnTo>
                <a:lnTo>
                  <a:pt x="19311" y="367"/>
                </a:lnTo>
                <a:lnTo>
                  <a:pt x="113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816506" y="185347"/>
            <a:ext cx="35560" cy="15875"/>
          </a:xfrm>
          <a:custGeom>
            <a:avLst/>
            <a:gdLst/>
            <a:ahLst/>
            <a:cxnLst/>
            <a:rect l="l" t="t" r="r" b="b"/>
            <a:pathLst>
              <a:path w="35560" h="15875">
                <a:moveTo>
                  <a:pt x="2759" y="14857"/>
                </a:moveTo>
                <a:lnTo>
                  <a:pt x="3793" y="15791"/>
                </a:lnTo>
                <a:lnTo>
                  <a:pt x="4529" y="15791"/>
                </a:lnTo>
                <a:lnTo>
                  <a:pt x="2759" y="14857"/>
                </a:lnTo>
                <a:close/>
              </a:path>
              <a:path w="35560" h="15875">
                <a:moveTo>
                  <a:pt x="14559" y="4597"/>
                </a:moveTo>
                <a:lnTo>
                  <a:pt x="787" y="4597"/>
                </a:lnTo>
                <a:lnTo>
                  <a:pt x="397" y="5380"/>
                </a:lnTo>
                <a:lnTo>
                  <a:pt x="414" y="11316"/>
                </a:lnTo>
                <a:lnTo>
                  <a:pt x="970" y="12804"/>
                </a:lnTo>
                <a:lnTo>
                  <a:pt x="1064" y="13056"/>
                </a:lnTo>
                <a:lnTo>
                  <a:pt x="1128" y="13227"/>
                </a:lnTo>
                <a:lnTo>
                  <a:pt x="1237" y="13481"/>
                </a:lnTo>
                <a:lnTo>
                  <a:pt x="2759" y="14857"/>
                </a:lnTo>
                <a:lnTo>
                  <a:pt x="4529" y="15791"/>
                </a:lnTo>
                <a:lnTo>
                  <a:pt x="9332" y="15791"/>
                </a:lnTo>
                <a:lnTo>
                  <a:pt x="11111" y="15449"/>
                </a:lnTo>
                <a:lnTo>
                  <a:pt x="8639" y="15449"/>
                </a:lnTo>
                <a:lnTo>
                  <a:pt x="13577" y="13227"/>
                </a:lnTo>
                <a:lnTo>
                  <a:pt x="14068" y="13056"/>
                </a:lnTo>
                <a:lnTo>
                  <a:pt x="14718" y="12379"/>
                </a:lnTo>
                <a:lnTo>
                  <a:pt x="14593" y="6261"/>
                </a:lnTo>
                <a:lnTo>
                  <a:pt x="14559" y="4597"/>
                </a:lnTo>
                <a:close/>
              </a:path>
              <a:path w="35560" h="15875">
                <a:moveTo>
                  <a:pt x="14068" y="13056"/>
                </a:moveTo>
                <a:lnTo>
                  <a:pt x="13577" y="13227"/>
                </a:lnTo>
                <a:lnTo>
                  <a:pt x="8639" y="15449"/>
                </a:lnTo>
                <a:lnTo>
                  <a:pt x="11111" y="15449"/>
                </a:lnTo>
                <a:lnTo>
                  <a:pt x="9332" y="15791"/>
                </a:lnTo>
                <a:lnTo>
                  <a:pt x="11442" y="15791"/>
                </a:lnTo>
                <a:lnTo>
                  <a:pt x="14068" y="13056"/>
                </a:lnTo>
                <a:close/>
              </a:path>
              <a:path w="35560" h="15875">
                <a:moveTo>
                  <a:pt x="24637" y="2963"/>
                </a:moveTo>
                <a:lnTo>
                  <a:pt x="25274" y="4597"/>
                </a:lnTo>
                <a:lnTo>
                  <a:pt x="25358" y="4814"/>
                </a:lnTo>
                <a:lnTo>
                  <a:pt x="25463" y="5085"/>
                </a:lnTo>
                <a:lnTo>
                  <a:pt x="25578" y="5380"/>
                </a:lnTo>
                <a:lnTo>
                  <a:pt x="25685" y="5655"/>
                </a:lnTo>
                <a:lnTo>
                  <a:pt x="25830" y="6261"/>
                </a:lnTo>
                <a:lnTo>
                  <a:pt x="24563" y="9141"/>
                </a:lnTo>
                <a:lnTo>
                  <a:pt x="18033" y="11680"/>
                </a:lnTo>
                <a:lnTo>
                  <a:pt x="14068" y="13056"/>
                </a:lnTo>
                <a:lnTo>
                  <a:pt x="11770" y="15449"/>
                </a:lnTo>
                <a:lnTo>
                  <a:pt x="10548" y="15449"/>
                </a:lnTo>
                <a:lnTo>
                  <a:pt x="33087" y="12379"/>
                </a:lnTo>
                <a:lnTo>
                  <a:pt x="33697" y="11680"/>
                </a:lnTo>
                <a:lnTo>
                  <a:pt x="34945" y="10029"/>
                </a:lnTo>
                <a:lnTo>
                  <a:pt x="34420" y="6261"/>
                </a:lnTo>
                <a:lnTo>
                  <a:pt x="34297" y="5380"/>
                </a:lnTo>
                <a:lnTo>
                  <a:pt x="32589" y="3740"/>
                </a:lnTo>
                <a:lnTo>
                  <a:pt x="24637" y="2963"/>
                </a:lnTo>
                <a:close/>
              </a:path>
              <a:path w="35560" h="15875">
                <a:moveTo>
                  <a:pt x="1223" y="13481"/>
                </a:moveTo>
                <a:lnTo>
                  <a:pt x="1517" y="14201"/>
                </a:lnTo>
                <a:lnTo>
                  <a:pt x="2759" y="14857"/>
                </a:lnTo>
                <a:lnTo>
                  <a:pt x="2006" y="14201"/>
                </a:lnTo>
                <a:lnTo>
                  <a:pt x="1223" y="13481"/>
                </a:lnTo>
                <a:close/>
              </a:path>
              <a:path w="35560" h="15875">
                <a:moveTo>
                  <a:pt x="414" y="11316"/>
                </a:moveTo>
                <a:lnTo>
                  <a:pt x="487" y="12804"/>
                </a:lnTo>
                <a:lnTo>
                  <a:pt x="1237" y="13481"/>
                </a:lnTo>
                <a:lnTo>
                  <a:pt x="414" y="11316"/>
                </a:lnTo>
                <a:close/>
              </a:path>
              <a:path w="35560" h="15875">
                <a:moveTo>
                  <a:pt x="13338" y="1902"/>
                </a:moveTo>
                <a:lnTo>
                  <a:pt x="11831" y="1902"/>
                </a:lnTo>
                <a:lnTo>
                  <a:pt x="13745" y="3740"/>
                </a:lnTo>
                <a:lnTo>
                  <a:pt x="14559" y="4597"/>
                </a:lnTo>
                <a:lnTo>
                  <a:pt x="14593" y="6261"/>
                </a:lnTo>
                <a:lnTo>
                  <a:pt x="14718" y="12379"/>
                </a:lnTo>
                <a:lnTo>
                  <a:pt x="14068" y="13056"/>
                </a:lnTo>
                <a:lnTo>
                  <a:pt x="18033" y="11680"/>
                </a:lnTo>
                <a:lnTo>
                  <a:pt x="24563" y="9141"/>
                </a:lnTo>
                <a:lnTo>
                  <a:pt x="25830" y="6261"/>
                </a:lnTo>
                <a:lnTo>
                  <a:pt x="25685" y="5655"/>
                </a:lnTo>
                <a:lnTo>
                  <a:pt x="24637" y="2963"/>
                </a:lnTo>
                <a:lnTo>
                  <a:pt x="13338" y="1902"/>
                </a:lnTo>
                <a:close/>
              </a:path>
              <a:path w="35560" h="15875">
                <a:moveTo>
                  <a:pt x="265" y="10917"/>
                </a:moveTo>
                <a:lnTo>
                  <a:pt x="304" y="11680"/>
                </a:lnTo>
                <a:lnTo>
                  <a:pt x="414" y="11316"/>
                </a:lnTo>
                <a:lnTo>
                  <a:pt x="265" y="10917"/>
                </a:lnTo>
                <a:close/>
              </a:path>
              <a:path w="35560" h="15875">
                <a:moveTo>
                  <a:pt x="261" y="5655"/>
                </a:moveTo>
                <a:lnTo>
                  <a:pt x="265" y="10917"/>
                </a:lnTo>
                <a:lnTo>
                  <a:pt x="414" y="11316"/>
                </a:lnTo>
                <a:lnTo>
                  <a:pt x="289" y="6261"/>
                </a:lnTo>
                <a:lnTo>
                  <a:pt x="261" y="5655"/>
                </a:lnTo>
                <a:close/>
              </a:path>
              <a:path w="35560" h="15875">
                <a:moveTo>
                  <a:pt x="28" y="6261"/>
                </a:moveTo>
                <a:lnTo>
                  <a:pt x="0" y="10205"/>
                </a:lnTo>
                <a:lnTo>
                  <a:pt x="265" y="10917"/>
                </a:lnTo>
                <a:lnTo>
                  <a:pt x="140" y="8450"/>
                </a:lnTo>
                <a:lnTo>
                  <a:pt x="28" y="6261"/>
                </a:lnTo>
                <a:close/>
              </a:path>
              <a:path w="35560" h="15875">
                <a:moveTo>
                  <a:pt x="3115" y="1902"/>
                </a:moveTo>
                <a:lnTo>
                  <a:pt x="2756" y="1902"/>
                </a:lnTo>
                <a:lnTo>
                  <a:pt x="125" y="4814"/>
                </a:lnTo>
                <a:lnTo>
                  <a:pt x="28" y="6261"/>
                </a:lnTo>
                <a:lnTo>
                  <a:pt x="261" y="5655"/>
                </a:lnTo>
                <a:lnTo>
                  <a:pt x="234" y="5085"/>
                </a:lnTo>
                <a:lnTo>
                  <a:pt x="60" y="5085"/>
                </a:lnTo>
                <a:lnTo>
                  <a:pt x="3115" y="1902"/>
                </a:lnTo>
                <a:close/>
              </a:path>
              <a:path w="35560" h="15875">
                <a:moveTo>
                  <a:pt x="11831" y="1902"/>
                </a:moveTo>
                <a:lnTo>
                  <a:pt x="3893" y="1902"/>
                </a:lnTo>
                <a:lnTo>
                  <a:pt x="1680" y="3740"/>
                </a:lnTo>
                <a:lnTo>
                  <a:pt x="222" y="4814"/>
                </a:lnTo>
                <a:lnTo>
                  <a:pt x="261" y="5655"/>
                </a:lnTo>
                <a:lnTo>
                  <a:pt x="679" y="4814"/>
                </a:lnTo>
                <a:lnTo>
                  <a:pt x="787" y="4597"/>
                </a:lnTo>
                <a:lnTo>
                  <a:pt x="14639" y="4597"/>
                </a:lnTo>
                <a:lnTo>
                  <a:pt x="11831" y="1902"/>
                </a:lnTo>
                <a:close/>
              </a:path>
              <a:path w="35560" h="15875">
                <a:moveTo>
                  <a:pt x="222" y="4814"/>
                </a:moveTo>
                <a:lnTo>
                  <a:pt x="60" y="5085"/>
                </a:lnTo>
                <a:lnTo>
                  <a:pt x="234" y="5085"/>
                </a:lnTo>
                <a:lnTo>
                  <a:pt x="222" y="4814"/>
                </a:lnTo>
                <a:close/>
              </a:path>
              <a:path w="35560" h="15875">
                <a:moveTo>
                  <a:pt x="3893" y="1902"/>
                </a:moveTo>
                <a:lnTo>
                  <a:pt x="3115" y="1902"/>
                </a:lnTo>
                <a:lnTo>
                  <a:pt x="528" y="4597"/>
                </a:lnTo>
                <a:lnTo>
                  <a:pt x="1680" y="3740"/>
                </a:lnTo>
                <a:lnTo>
                  <a:pt x="3893" y="1902"/>
                </a:lnTo>
                <a:close/>
              </a:path>
              <a:path w="35560" h="15875">
                <a:moveTo>
                  <a:pt x="24225" y="1902"/>
                </a:moveTo>
                <a:lnTo>
                  <a:pt x="13338" y="1902"/>
                </a:lnTo>
                <a:lnTo>
                  <a:pt x="24637" y="2963"/>
                </a:lnTo>
                <a:lnTo>
                  <a:pt x="24225" y="1902"/>
                </a:lnTo>
                <a:close/>
              </a:path>
              <a:path w="35560" h="15875">
                <a:moveTo>
                  <a:pt x="21821" y="0"/>
                </a:moveTo>
                <a:lnTo>
                  <a:pt x="15374" y="664"/>
                </a:lnTo>
                <a:lnTo>
                  <a:pt x="6567" y="1902"/>
                </a:lnTo>
                <a:lnTo>
                  <a:pt x="24932" y="1902"/>
                </a:lnTo>
                <a:lnTo>
                  <a:pt x="218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049769" y="55673"/>
            <a:ext cx="7743190" cy="4618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05205" marR="5080">
              <a:lnSpc>
                <a:spcPct val="116700"/>
              </a:lnSpc>
              <a:spcBef>
                <a:spcPts val="100"/>
              </a:spcBef>
            </a:pPr>
            <a:r>
              <a:rPr dirty="0" sz="1200" spc="-55">
                <a:latin typeface="Microsoft JhengHei UI Light"/>
                <a:cs typeface="Microsoft JhengHei UI Light"/>
              </a:rPr>
              <a:t>这代表了那个“真实过程 </a:t>
            </a:r>
            <a:r>
              <a:rPr dirty="0" sz="1200" spc="-45">
                <a:latin typeface="Microsoft JhengHei UI Light"/>
                <a:cs typeface="Microsoft JhengHei UI Light"/>
              </a:rPr>
              <a:t>P”</a:t>
            </a:r>
            <a:r>
              <a:rPr dirty="0" sz="1200" spc="-55">
                <a:latin typeface="Microsoft JhengHei UI Light"/>
                <a:cs typeface="Microsoft JhengHei UI Light"/>
              </a:rPr>
              <a:t>在每⼀毫秒、每⼀纳秒都在连续不断地产⽣输出。⽐如“真实的⽓温”是⼀</a:t>
            </a:r>
            <a:r>
              <a:rPr dirty="0" sz="1200" spc="-60">
                <a:latin typeface="Microsoft JhengHei UI Light"/>
                <a:cs typeface="Microsoft JhengHei UI Light"/>
              </a:rPr>
              <a:t>条平滑的、连续的曲线。但是我们不可能记录下那个连续的“真实信号”。我们只能“每隔⼀段时间”</a:t>
            </a:r>
            <a:endParaRPr sz="1200">
              <a:latin typeface="Microsoft JhengHei UI Light"/>
              <a:cs typeface="Microsoft JhengHei UI Light"/>
            </a:endParaRPr>
          </a:p>
          <a:p>
            <a:pPr marL="1005205" marR="46990">
              <a:lnSpc>
                <a:spcPct val="116700"/>
              </a:lnSpc>
            </a:pPr>
            <a:r>
              <a:rPr dirty="0" sz="1200" spc="-90">
                <a:latin typeface="Microsoft JhengHei UI Light"/>
                <a:cs typeface="Microsoft JhengHei UI Light"/>
              </a:rPr>
              <a:t>（⽐如每⼩时）去“看⼀眼”（即“采样”）</a:t>
            </a:r>
            <a:r>
              <a:rPr dirty="0" sz="1200" spc="-80">
                <a:latin typeface="Microsoft JhengHei UI Light"/>
                <a:cs typeface="Microsoft JhengHei UI Light"/>
              </a:rPr>
              <a:t>。这就是所谓的“时间间隔”。例如，如果这个间隔是 </a:t>
            </a:r>
            <a:r>
              <a:rPr dirty="0" sz="1200" spc="-10">
                <a:latin typeface="Microsoft JhengHei UI Light"/>
                <a:cs typeface="Microsoft JhengHei UI Light"/>
              </a:rPr>
              <a:t>delta </a:t>
            </a:r>
            <a:r>
              <a:rPr dirty="0" sz="1200">
                <a:latin typeface="Microsoft JhengHei UI Light"/>
                <a:cs typeface="Microsoft JhengHei UI Light"/>
              </a:rPr>
              <a:t>t，</a:t>
            </a:r>
            <a:r>
              <a:rPr dirty="0" sz="1200" spc="5">
                <a:latin typeface="Microsoft JhengHei UI Light"/>
                <a:cs typeface="Microsoft JhengHei UI Light"/>
              </a:rPr>
              <a:t>然后单位是 </a:t>
            </a:r>
            <a:r>
              <a:rPr dirty="0" sz="1200">
                <a:latin typeface="Microsoft JhengHei UI Light"/>
                <a:cs typeface="Microsoft JhengHei UI Light"/>
              </a:rPr>
              <a:t>1</a:t>
            </a:r>
            <a:r>
              <a:rPr dirty="0" sz="1200" spc="-5">
                <a:latin typeface="Microsoft JhengHei UI Light"/>
                <a:cs typeface="Microsoft JhengHei UI Light"/>
              </a:rPr>
              <a:t> ⼩时，那么我们得到的数据就是：</a:t>
            </a:r>
            <a:endParaRPr sz="1200">
              <a:latin typeface="Microsoft JhengHei UI Light"/>
              <a:cs typeface="Microsoft JhengHei UI Light"/>
            </a:endParaRPr>
          </a:p>
          <a:p>
            <a:pPr marL="84455">
              <a:lnSpc>
                <a:spcPts val="4780"/>
              </a:lnSpc>
            </a:pPr>
            <a:r>
              <a:rPr dirty="0" sz="4000" b="1">
                <a:solidFill>
                  <a:srgbClr val="800000"/>
                </a:solidFill>
                <a:latin typeface="Tahoma"/>
                <a:cs typeface="Tahoma"/>
              </a:rPr>
              <a:t>Time</a:t>
            </a:r>
            <a:r>
              <a:rPr dirty="0" sz="4000" spc="-114" b="1">
                <a:solidFill>
                  <a:srgbClr val="800000"/>
                </a:solidFill>
                <a:latin typeface="Tahoma"/>
                <a:cs typeface="Tahoma"/>
              </a:rPr>
              <a:t> </a:t>
            </a:r>
            <a:r>
              <a:rPr dirty="0" sz="4000" b="1">
                <a:solidFill>
                  <a:srgbClr val="800000"/>
                </a:solidFill>
                <a:latin typeface="Tahoma"/>
                <a:cs typeface="Tahoma"/>
              </a:rPr>
              <a:t>Series</a:t>
            </a:r>
            <a:r>
              <a:rPr dirty="0" sz="4000" spc="-110" b="1">
                <a:solidFill>
                  <a:srgbClr val="800000"/>
                </a:solidFill>
                <a:latin typeface="Tahoma"/>
                <a:cs typeface="Tahoma"/>
              </a:rPr>
              <a:t> </a:t>
            </a:r>
            <a:r>
              <a:rPr dirty="0" sz="4000" spc="-10" b="1">
                <a:solidFill>
                  <a:srgbClr val="800000"/>
                </a:solidFill>
                <a:latin typeface="Tahoma"/>
                <a:cs typeface="Tahoma"/>
              </a:rPr>
              <a:t>Models</a:t>
            </a:r>
            <a:endParaRPr sz="4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4000">
              <a:latin typeface="Tahoma"/>
              <a:cs typeface="Tahoma"/>
            </a:endParaRPr>
          </a:p>
          <a:p>
            <a:pPr marL="355600" marR="1097280" indent="-342900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continuous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signal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x(t)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sampled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at </a:t>
            </a:r>
            <a:r>
              <a:rPr dirty="0" sz="2800">
                <a:latin typeface="Tahoma"/>
                <a:cs typeface="Tahoma"/>
              </a:rPr>
              <a:t>discrete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points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get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series</a:t>
            </a:r>
            <a:endParaRPr sz="2800">
              <a:latin typeface="Tahoma"/>
              <a:cs typeface="Tahoma"/>
            </a:endParaRPr>
          </a:p>
          <a:p>
            <a:pPr marL="355600" marR="848994" indent="-34290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uniform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sampling,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if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sampling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period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is </a:t>
            </a:r>
            <a:r>
              <a:rPr dirty="0" sz="2800">
                <a:latin typeface="Tahoma"/>
                <a:cs typeface="Tahoma"/>
              </a:rPr>
              <a:t>delta</a:t>
            </a:r>
            <a:r>
              <a:rPr dirty="0" sz="2800" spc="-50">
                <a:latin typeface="Tahoma"/>
                <a:cs typeface="Tahoma"/>
              </a:rPr>
              <a:t> t</a:t>
            </a:r>
            <a:endParaRPr sz="2800">
              <a:latin typeface="Tahoma"/>
              <a:cs typeface="Tahoma"/>
            </a:endParaRPr>
          </a:p>
          <a:p>
            <a:pPr marL="949960">
              <a:lnSpc>
                <a:spcPct val="100000"/>
              </a:lnSpc>
              <a:spcBef>
                <a:spcPts val="1510"/>
              </a:spcBef>
            </a:pPr>
            <a:r>
              <a:rPr dirty="0" sz="2800" spc="-45">
                <a:latin typeface="Tahoma"/>
                <a:cs typeface="Tahoma"/>
              </a:rPr>
              <a:t>{</a:t>
            </a:r>
            <a:r>
              <a:rPr dirty="0" sz="2800" spc="-45" i="1">
                <a:latin typeface="Times New Roman"/>
                <a:cs typeface="Times New Roman"/>
              </a:rPr>
              <a:t>x</a:t>
            </a:r>
            <a:r>
              <a:rPr dirty="0" sz="2800" spc="-45">
                <a:latin typeface="Tahoma"/>
                <a:cs typeface="Tahoma"/>
              </a:rPr>
              <a:t>[</a:t>
            </a:r>
            <a:r>
              <a:rPr dirty="0" sz="2800" spc="-45" i="1">
                <a:latin typeface="Times New Roman"/>
                <a:cs typeface="Times New Roman"/>
              </a:rPr>
              <a:t>t</a:t>
            </a:r>
            <a:r>
              <a:rPr dirty="0" sz="2800" spc="-45">
                <a:latin typeface="Tahoma"/>
                <a:cs typeface="Tahoma"/>
              </a:rPr>
              <a:t>]}</a:t>
            </a:r>
            <a:r>
              <a:rPr dirty="0" sz="2800" spc="-405">
                <a:latin typeface="Tahoma"/>
                <a:cs typeface="Tahoma"/>
              </a:rPr>
              <a:t> </a:t>
            </a:r>
            <a:r>
              <a:rPr dirty="0" sz="2800" spc="-509">
                <a:latin typeface="Tahoma"/>
                <a:cs typeface="Tahoma"/>
              </a:rPr>
              <a:t>=</a:t>
            </a:r>
            <a:r>
              <a:rPr dirty="0" sz="2800" spc="-455">
                <a:latin typeface="Tahoma"/>
                <a:cs typeface="Tahoma"/>
              </a:rPr>
              <a:t> </a:t>
            </a:r>
            <a:r>
              <a:rPr dirty="0" sz="2800" spc="-85">
                <a:latin typeface="Tahoma"/>
                <a:cs typeface="Tahoma"/>
              </a:rPr>
              <a:t>{</a:t>
            </a:r>
            <a:r>
              <a:rPr dirty="0" sz="2800" spc="-85" i="1">
                <a:latin typeface="Times New Roman"/>
                <a:cs typeface="Times New Roman"/>
              </a:rPr>
              <a:t>x</a:t>
            </a:r>
            <a:r>
              <a:rPr dirty="0" sz="2800" spc="-85">
                <a:latin typeface="Tahoma"/>
                <a:cs typeface="Tahoma"/>
              </a:rPr>
              <a:t>(0),</a:t>
            </a:r>
            <a:r>
              <a:rPr dirty="0" sz="2800" spc="-365">
                <a:latin typeface="Tahoma"/>
                <a:cs typeface="Tahoma"/>
              </a:rPr>
              <a:t> </a:t>
            </a:r>
            <a:r>
              <a:rPr dirty="0" sz="2800" spc="-215" i="1">
                <a:latin typeface="Times New Roman"/>
                <a:cs typeface="Times New Roman"/>
              </a:rPr>
              <a:t>x</a:t>
            </a:r>
            <a:r>
              <a:rPr dirty="0" sz="2800" spc="-215">
                <a:latin typeface="Tahoma"/>
                <a:cs typeface="Tahoma"/>
              </a:rPr>
              <a:t>(</a:t>
            </a:r>
            <a:r>
              <a:rPr dirty="0" sz="2800" spc="-215" i="1">
                <a:latin typeface="Times New Roman"/>
                <a:cs typeface="Times New Roman"/>
              </a:rPr>
              <a:t>t</a:t>
            </a:r>
            <a:r>
              <a:rPr dirty="0" sz="2800" spc="-215">
                <a:latin typeface="Tahoma"/>
                <a:cs typeface="Tahoma"/>
              </a:rPr>
              <a:t>),</a:t>
            </a:r>
            <a:r>
              <a:rPr dirty="0" sz="2800" spc="-370">
                <a:latin typeface="Tahoma"/>
                <a:cs typeface="Tahoma"/>
              </a:rPr>
              <a:t> </a:t>
            </a:r>
            <a:r>
              <a:rPr dirty="0" sz="2800" spc="-200" i="1">
                <a:latin typeface="Times New Roman"/>
                <a:cs typeface="Times New Roman"/>
              </a:rPr>
              <a:t>x</a:t>
            </a:r>
            <a:r>
              <a:rPr dirty="0" sz="2800" spc="-200">
                <a:latin typeface="Tahoma"/>
                <a:cs typeface="Tahoma"/>
              </a:rPr>
              <a:t>(2</a:t>
            </a:r>
            <a:r>
              <a:rPr dirty="0" sz="2800" spc="-200" i="1">
                <a:latin typeface="Times New Roman"/>
                <a:cs typeface="Times New Roman"/>
              </a:rPr>
              <a:t>t</a:t>
            </a:r>
            <a:r>
              <a:rPr dirty="0" sz="2800" spc="-200">
                <a:latin typeface="Tahoma"/>
                <a:cs typeface="Tahoma"/>
              </a:rPr>
              <a:t>),</a:t>
            </a:r>
            <a:r>
              <a:rPr dirty="0" sz="2800" spc="-365">
                <a:latin typeface="Tahoma"/>
                <a:cs typeface="Tahoma"/>
              </a:rPr>
              <a:t> </a:t>
            </a:r>
            <a:r>
              <a:rPr dirty="0" sz="2800" spc="-110" i="1">
                <a:latin typeface="Times New Roman"/>
                <a:cs typeface="Times New Roman"/>
              </a:rPr>
              <a:t>x</a:t>
            </a:r>
            <a:r>
              <a:rPr dirty="0" sz="2800" spc="-110">
                <a:latin typeface="Tahoma"/>
                <a:cs typeface="Tahoma"/>
              </a:rPr>
              <a:t>(3</a:t>
            </a:r>
            <a:r>
              <a:rPr dirty="0" sz="2800" spc="-110" i="1">
                <a:latin typeface="Times New Roman"/>
                <a:cs typeface="Times New Roman"/>
              </a:rPr>
              <a:t>t</a:t>
            </a:r>
            <a:r>
              <a:rPr dirty="0" sz="2800" spc="-110">
                <a:latin typeface="Tahoma"/>
                <a:cs typeface="Tahoma"/>
              </a:rPr>
              <a:t>),···}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44628" y="752830"/>
            <a:ext cx="466959" cy="2120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03916" y="786211"/>
            <a:ext cx="85392" cy="14331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55109" y="770467"/>
            <a:ext cx="614723" cy="17609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12735" y="733721"/>
            <a:ext cx="729617" cy="19692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70715" y="763868"/>
            <a:ext cx="355643" cy="200548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8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590" y="334327"/>
            <a:ext cx="75431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Tahoma"/>
                <a:cs typeface="Tahoma"/>
              </a:rPr>
              <a:t>Problem</a:t>
            </a:r>
            <a:r>
              <a:rPr dirty="0" sz="3600" spc="-70">
                <a:latin typeface="Tahoma"/>
                <a:cs typeface="Tahoma"/>
              </a:rPr>
              <a:t> </a:t>
            </a:r>
            <a:r>
              <a:rPr dirty="0" sz="3600">
                <a:latin typeface="Tahoma"/>
                <a:cs typeface="Tahoma"/>
              </a:rPr>
              <a:t>of</a:t>
            </a:r>
            <a:r>
              <a:rPr dirty="0" sz="3600" spc="-75">
                <a:latin typeface="Tahoma"/>
                <a:cs typeface="Tahoma"/>
              </a:rPr>
              <a:t> </a:t>
            </a:r>
            <a:r>
              <a:rPr dirty="0" sz="3600">
                <a:latin typeface="Tahoma"/>
                <a:cs typeface="Tahoma"/>
              </a:rPr>
              <a:t>Predicting</a:t>
            </a:r>
            <a:r>
              <a:rPr dirty="0" sz="3600" spc="-75">
                <a:latin typeface="Tahoma"/>
                <a:cs typeface="Tahoma"/>
              </a:rPr>
              <a:t> </a:t>
            </a:r>
            <a:r>
              <a:rPr dirty="0" sz="3600">
                <a:latin typeface="Tahoma"/>
                <a:cs typeface="Tahoma"/>
              </a:rPr>
              <a:t>the</a:t>
            </a:r>
            <a:r>
              <a:rPr dirty="0" sz="3600" spc="-65">
                <a:latin typeface="Tahoma"/>
                <a:cs typeface="Tahoma"/>
              </a:rPr>
              <a:t> </a:t>
            </a:r>
            <a:r>
              <a:rPr dirty="0" sz="3600" spc="-10">
                <a:latin typeface="Tahoma"/>
                <a:cs typeface="Tahoma"/>
              </a:rPr>
              <a:t>Future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07505" y="980732"/>
            <a:ext cx="8496300" cy="1727200"/>
          </a:xfrm>
          <a:custGeom>
            <a:avLst/>
            <a:gdLst/>
            <a:ahLst/>
            <a:cxnLst/>
            <a:rect l="l" t="t" r="r" b="b"/>
            <a:pathLst>
              <a:path w="8496300" h="1727200">
                <a:moveTo>
                  <a:pt x="8496300" y="0"/>
                </a:moveTo>
                <a:lnTo>
                  <a:pt x="0" y="0"/>
                </a:lnTo>
                <a:lnTo>
                  <a:pt x="0" y="1727200"/>
                </a:lnTo>
                <a:lnTo>
                  <a:pt x="8496300" y="1727200"/>
                </a:lnTo>
                <a:lnTo>
                  <a:pt x="8496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64490" y="995971"/>
            <a:ext cx="8578215" cy="54013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7165" marR="774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Microsoft Sans Serif"/>
                <a:cs typeface="Microsoft Sans Serif"/>
              </a:rPr>
              <a:t>Extending</a:t>
            </a:r>
            <a:r>
              <a:rPr dirty="0" sz="2800" spc="-30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backward</a:t>
            </a:r>
            <a:r>
              <a:rPr dirty="0" sz="2800" spc="-30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from</a:t>
            </a:r>
            <a:r>
              <a:rPr dirty="0" sz="2800" spc="-30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time</a:t>
            </a:r>
            <a:r>
              <a:rPr dirty="0" sz="2800" spc="-30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t,</a:t>
            </a:r>
            <a:r>
              <a:rPr dirty="0" sz="2800" spc="-30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we</a:t>
            </a:r>
            <a:r>
              <a:rPr dirty="0" sz="2800" spc="-30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have</a:t>
            </a:r>
            <a:r>
              <a:rPr dirty="0" sz="2800" spc="-25">
                <a:latin typeface="Microsoft Sans Serif"/>
                <a:cs typeface="Microsoft Sans Serif"/>
              </a:rPr>
              <a:t> </a:t>
            </a:r>
            <a:r>
              <a:rPr dirty="0" sz="2800" spc="-20">
                <a:latin typeface="Microsoft Sans Serif"/>
                <a:cs typeface="Microsoft Sans Serif"/>
              </a:rPr>
              <a:t>time </a:t>
            </a:r>
            <a:r>
              <a:rPr dirty="0" sz="2800">
                <a:latin typeface="Microsoft Sans Serif"/>
                <a:cs typeface="Microsoft Sans Serif"/>
              </a:rPr>
              <a:t>series</a:t>
            </a:r>
            <a:r>
              <a:rPr dirty="0" sz="2800" spc="10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{x[t],</a:t>
            </a:r>
            <a:r>
              <a:rPr dirty="0" sz="2800" spc="15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x[t</a:t>
            </a:r>
            <a:r>
              <a:rPr dirty="0" sz="2800" spc="15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−1],</a:t>
            </a:r>
            <a:r>
              <a:rPr dirty="0" sz="2800" spc="10">
                <a:latin typeface="Microsoft Sans Serif"/>
                <a:cs typeface="Microsoft Sans Serif"/>
              </a:rPr>
              <a:t> </a:t>
            </a:r>
            <a:r>
              <a:rPr dirty="0" sz="2800" spc="155">
                <a:latin typeface="Microsoft Sans Serif"/>
                <a:cs typeface="Microsoft Sans Serif"/>
              </a:rPr>
              <a:t>·</a:t>
            </a:r>
            <a:r>
              <a:rPr dirty="0" sz="2800" spc="15">
                <a:latin typeface="Microsoft Sans Serif"/>
                <a:cs typeface="Microsoft Sans Serif"/>
              </a:rPr>
              <a:t> </a:t>
            </a:r>
            <a:r>
              <a:rPr dirty="0" sz="2800" spc="155">
                <a:latin typeface="Microsoft Sans Serif"/>
                <a:cs typeface="Microsoft Sans Serif"/>
              </a:rPr>
              <a:t>·</a:t>
            </a:r>
            <a:r>
              <a:rPr dirty="0" sz="2800" spc="15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·}.</a:t>
            </a:r>
            <a:r>
              <a:rPr dirty="0" sz="2800" spc="10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From</a:t>
            </a:r>
            <a:r>
              <a:rPr dirty="0" sz="2800" spc="15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this,</a:t>
            </a:r>
            <a:r>
              <a:rPr dirty="0" sz="2800" spc="15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we</a:t>
            </a:r>
            <a:r>
              <a:rPr dirty="0" sz="2800" spc="10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now</a:t>
            </a:r>
            <a:r>
              <a:rPr dirty="0" sz="2800" spc="15">
                <a:latin typeface="Microsoft Sans Serif"/>
                <a:cs typeface="Microsoft Sans Serif"/>
              </a:rPr>
              <a:t> </a:t>
            </a:r>
            <a:r>
              <a:rPr dirty="0" sz="2800" spc="-20">
                <a:latin typeface="Microsoft Sans Serif"/>
                <a:cs typeface="Microsoft Sans Serif"/>
              </a:rPr>
              <a:t>want </a:t>
            </a:r>
            <a:r>
              <a:rPr dirty="0" sz="2800">
                <a:latin typeface="Microsoft Sans Serif"/>
                <a:cs typeface="Microsoft Sans Serif"/>
              </a:rPr>
              <a:t>to</a:t>
            </a:r>
            <a:r>
              <a:rPr dirty="0" sz="2800" spc="-15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estimate</a:t>
            </a:r>
            <a:r>
              <a:rPr dirty="0" sz="2800" spc="-10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x</a:t>
            </a:r>
            <a:r>
              <a:rPr dirty="0" sz="2800" spc="-15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at</a:t>
            </a:r>
            <a:r>
              <a:rPr dirty="0" sz="2800" spc="-10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some</a:t>
            </a:r>
            <a:r>
              <a:rPr dirty="0" sz="2800" spc="-15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future</a:t>
            </a:r>
            <a:r>
              <a:rPr dirty="0" sz="2800" spc="-10">
                <a:latin typeface="Microsoft Sans Serif"/>
                <a:cs typeface="Microsoft Sans Serif"/>
              </a:rPr>
              <a:t> </a:t>
            </a:r>
            <a:r>
              <a:rPr dirty="0" sz="2800" spc="-20">
                <a:latin typeface="Microsoft Sans Serif"/>
                <a:cs typeface="Microsoft Sans Serif"/>
              </a:rPr>
              <a:t>time</a:t>
            </a:r>
            <a:endParaRPr sz="2800">
              <a:latin typeface="Microsoft Sans Serif"/>
              <a:cs typeface="Microsoft Sans Serif"/>
            </a:endParaRPr>
          </a:p>
          <a:p>
            <a:pPr algn="ctr" marR="277495">
              <a:lnSpc>
                <a:spcPct val="100000"/>
              </a:lnSpc>
              <a:spcBef>
                <a:spcPts val="830"/>
              </a:spcBef>
            </a:pPr>
            <a:r>
              <a:rPr dirty="0" sz="2950" spc="-1240" i="1">
                <a:latin typeface="Times New Roman"/>
                <a:cs typeface="Times New Roman"/>
              </a:rPr>
              <a:t>x</a:t>
            </a:r>
            <a:r>
              <a:rPr dirty="0" baseline="2824" sz="4425" spc="-412">
                <a:latin typeface="Tahoma"/>
                <a:cs typeface="Tahoma"/>
              </a:rPr>
              <a:t>ˆ</a:t>
            </a:r>
            <a:r>
              <a:rPr dirty="0" sz="2950" spc="-204">
                <a:latin typeface="Tahoma"/>
                <a:cs typeface="Tahoma"/>
              </a:rPr>
              <a:t>[</a:t>
            </a:r>
            <a:r>
              <a:rPr dirty="0" sz="2950" spc="-180" i="1">
                <a:latin typeface="Times New Roman"/>
                <a:cs typeface="Times New Roman"/>
              </a:rPr>
              <a:t>t</a:t>
            </a:r>
            <a:r>
              <a:rPr dirty="0" sz="2950" spc="-70" i="1">
                <a:latin typeface="Times New Roman"/>
                <a:cs typeface="Times New Roman"/>
              </a:rPr>
              <a:t> </a:t>
            </a:r>
            <a:r>
              <a:rPr dirty="0" sz="2950" spc="-520">
                <a:latin typeface="Tahoma"/>
                <a:cs typeface="Tahoma"/>
              </a:rPr>
              <a:t>+</a:t>
            </a:r>
            <a:r>
              <a:rPr dirty="0" sz="2950" spc="-320">
                <a:latin typeface="Tahoma"/>
                <a:cs typeface="Tahoma"/>
              </a:rPr>
              <a:t> </a:t>
            </a:r>
            <a:r>
              <a:rPr dirty="0" sz="2950" spc="-25" i="1">
                <a:latin typeface="Times New Roman"/>
                <a:cs typeface="Times New Roman"/>
              </a:rPr>
              <a:t>s</a:t>
            </a:r>
            <a:r>
              <a:rPr dirty="0" sz="2950" spc="-25">
                <a:latin typeface="Tahoma"/>
                <a:cs typeface="Tahoma"/>
              </a:rPr>
              <a:t>]</a:t>
            </a:r>
            <a:r>
              <a:rPr dirty="0" sz="2950" spc="-380">
                <a:latin typeface="Tahoma"/>
                <a:cs typeface="Tahoma"/>
              </a:rPr>
              <a:t> </a:t>
            </a:r>
            <a:r>
              <a:rPr dirty="0" sz="2950" spc="-520">
                <a:latin typeface="Tahoma"/>
                <a:cs typeface="Tahoma"/>
              </a:rPr>
              <a:t>=</a:t>
            </a:r>
            <a:r>
              <a:rPr dirty="0" sz="2950" spc="345">
                <a:latin typeface="Tahoma"/>
                <a:cs typeface="Tahoma"/>
              </a:rPr>
              <a:t> </a:t>
            </a:r>
            <a:r>
              <a:rPr dirty="0" sz="2950" i="1">
                <a:latin typeface="Times New Roman"/>
                <a:cs typeface="Times New Roman"/>
              </a:rPr>
              <a:t>f</a:t>
            </a:r>
            <a:r>
              <a:rPr dirty="0" sz="2950" spc="-30" i="1">
                <a:latin typeface="Times New Roman"/>
                <a:cs typeface="Times New Roman"/>
              </a:rPr>
              <a:t> </a:t>
            </a:r>
            <a:r>
              <a:rPr dirty="0" sz="2950" spc="-55">
                <a:latin typeface="Tahoma"/>
                <a:cs typeface="Tahoma"/>
              </a:rPr>
              <a:t>(</a:t>
            </a:r>
            <a:r>
              <a:rPr dirty="0" sz="2950" spc="-55" i="1">
                <a:latin typeface="Times New Roman"/>
                <a:cs typeface="Times New Roman"/>
              </a:rPr>
              <a:t>x</a:t>
            </a:r>
            <a:r>
              <a:rPr dirty="0" sz="2950" spc="-55">
                <a:latin typeface="Tahoma"/>
                <a:cs typeface="Tahoma"/>
              </a:rPr>
              <a:t>[</a:t>
            </a:r>
            <a:r>
              <a:rPr dirty="0" sz="2950" spc="-55" i="1">
                <a:latin typeface="Times New Roman"/>
                <a:cs typeface="Times New Roman"/>
              </a:rPr>
              <a:t>t</a:t>
            </a:r>
            <a:r>
              <a:rPr dirty="0" sz="2950" spc="-55">
                <a:latin typeface="Tahoma"/>
                <a:cs typeface="Tahoma"/>
              </a:rPr>
              <a:t>],</a:t>
            </a:r>
            <a:r>
              <a:rPr dirty="0" sz="2950" spc="-425">
                <a:latin typeface="Tahoma"/>
                <a:cs typeface="Tahoma"/>
              </a:rPr>
              <a:t> </a:t>
            </a:r>
            <a:r>
              <a:rPr dirty="0" sz="2950" spc="-85" i="1">
                <a:latin typeface="Times New Roman"/>
                <a:cs typeface="Times New Roman"/>
              </a:rPr>
              <a:t>x</a:t>
            </a:r>
            <a:r>
              <a:rPr dirty="0" sz="2950" spc="-85">
                <a:latin typeface="Tahoma"/>
                <a:cs typeface="Tahoma"/>
              </a:rPr>
              <a:t>[</a:t>
            </a:r>
            <a:r>
              <a:rPr dirty="0" sz="2950" spc="-85" i="1">
                <a:latin typeface="Times New Roman"/>
                <a:cs typeface="Times New Roman"/>
              </a:rPr>
              <a:t>t</a:t>
            </a:r>
            <a:r>
              <a:rPr dirty="0" sz="2950" spc="-70" i="1">
                <a:latin typeface="Times New Roman"/>
                <a:cs typeface="Times New Roman"/>
              </a:rPr>
              <a:t> </a:t>
            </a:r>
            <a:r>
              <a:rPr dirty="0" sz="2950" spc="-20">
                <a:latin typeface="Tahoma"/>
                <a:cs typeface="Tahoma"/>
              </a:rPr>
              <a:t>–1],···)</a:t>
            </a:r>
            <a:endParaRPr sz="2950">
              <a:latin typeface="Tahoma"/>
              <a:cs typeface="Tahoma"/>
            </a:endParaRPr>
          </a:p>
          <a:p>
            <a:pPr marL="50800" marR="993775">
              <a:lnSpc>
                <a:spcPct val="103800"/>
              </a:lnSpc>
              <a:spcBef>
                <a:spcPts val="1730"/>
              </a:spcBef>
            </a:pP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dirty="0" sz="2400" spc="-4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-1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called</a:t>
            </a:r>
            <a:r>
              <a:rPr dirty="0" sz="2400" spc="-1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10">
                <a:latin typeface="Microsoft Sans Serif"/>
                <a:cs typeface="Microsoft Sans Serif"/>
              </a:rPr>
              <a:t> 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horizon</a:t>
            </a:r>
            <a:r>
              <a:rPr dirty="0" sz="2400" spc="-4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dirty="0" sz="2400" spc="-3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00FF"/>
                </a:solidFill>
                <a:latin typeface="Arial"/>
                <a:cs typeface="Arial"/>
              </a:rPr>
              <a:t>prediction</a:t>
            </a:r>
            <a:r>
              <a:rPr dirty="0" sz="2400" spc="-10">
                <a:latin typeface="Microsoft Sans Serif"/>
                <a:cs typeface="Microsoft Sans Serif"/>
              </a:rPr>
              <a:t>.</a:t>
            </a:r>
            <a:r>
              <a:rPr dirty="0" sz="2400" spc="-14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At</a:t>
            </a:r>
            <a:r>
              <a:rPr dirty="0" sz="2400" spc="-1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beginning,</a:t>
            </a:r>
            <a:r>
              <a:rPr dirty="0" sz="2400" spc="-10">
                <a:latin typeface="Microsoft Sans Serif"/>
                <a:cs typeface="Microsoft Sans Serif"/>
              </a:rPr>
              <a:t> let's </a:t>
            </a:r>
            <a:r>
              <a:rPr dirty="0" sz="2400">
                <a:latin typeface="Microsoft Sans Serif"/>
                <a:cs typeface="Microsoft Sans Serif"/>
              </a:rPr>
              <a:t>predict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just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one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time</a:t>
            </a:r>
            <a:r>
              <a:rPr dirty="0" sz="2400" spc="-1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sample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into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future,</a:t>
            </a:r>
            <a:r>
              <a:rPr dirty="0" sz="2400" spc="-1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Tahoma"/>
                <a:cs typeface="Tahoma"/>
              </a:rPr>
              <a:t></a:t>
            </a:r>
            <a:r>
              <a:rPr dirty="0" sz="2400" spc="-130">
                <a:latin typeface="Tahoma"/>
                <a:cs typeface="Tahoma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=</a:t>
            </a:r>
            <a:r>
              <a:rPr dirty="0" sz="2400" spc="-15">
                <a:latin typeface="Microsoft Sans Serif"/>
                <a:cs typeface="Microsoft Sans Serif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1.</a:t>
            </a:r>
            <a:endParaRPr sz="2400">
              <a:latin typeface="Microsoft Sans Serif"/>
              <a:cs typeface="Microsoft Sans Serif"/>
            </a:endParaRPr>
          </a:p>
          <a:p>
            <a:pPr marL="50800">
              <a:lnSpc>
                <a:spcPts val="2770"/>
              </a:lnSpc>
            </a:pPr>
            <a:r>
              <a:rPr dirty="0" sz="2400">
                <a:latin typeface="Microsoft Sans Serif"/>
                <a:cs typeface="Microsoft Sans Serif"/>
              </a:rPr>
              <a:t>This</a:t>
            </a:r>
            <a:r>
              <a:rPr dirty="0" sz="2400" spc="-4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-4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-4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function</a:t>
            </a:r>
            <a:r>
              <a:rPr dirty="0" sz="2400" spc="-4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approximation</a:t>
            </a:r>
            <a:r>
              <a:rPr dirty="0" sz="2400" spc="-40">
                <a:latin typeface="Microsoft Sans Serif"/>
                <a:cs typeface="Microsoft Sans Serif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problem.</a:t>
            </a:r>
            <a:endParaRPr sz="240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</a:pPr>
            <a:r>
              <a:rPr dirty="0" sz="2400" spc="-10" b="1">
                <a:solidFill>
                  <a:srgbClr val="FF0000"/>
                </a:solidFill>
                <a:latin typeface="Arial"/>
                <a:cs typeface="Arial"/>
              </a:rPr>
              <a:t>Here’s</a:t>
            </a:r>
            <a:r>
              <a:rPr dirty="0" sz="2400" spc="-5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how</a:t>
            </a:r>
            <a:r>
              <a:rPr dirty="0" sz="2400" spc="-5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we’ll</a:t>
            </a:r>
            <a:r>
              <a:rPr dirty="0" sz="2400" spc="-5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solve</a:t>
            </a:r>
            <a:r>
              <a:rPr dirty="0" sz="2400" spc="-5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FF0000"/>
                </a:solidFill>
                <a:latin typeface="Arial"/>
                <a:cs typeface="Arial"/>
              </a:rPr>
              <a:t>it:</a:t>
            </a:r>
            <a:endParaRPr sz="2400">
              <a:latin typeface="Arial"/>
              <a:cs typeface="Arial"/>
            </a:endParaRPr>
          </a:p>
          <a:p>
            <a:pPr marL="371475" indent="-320675">
              <a:lnSpc>
                <a:spcPct val="100000"/>
              </a:lnSpc>
              <a:buAutoNum type="arabicPeriod"/>
              <a:tabLst>
                <a:tab pos="371475" algn="l"/>
              </a:tabLst>
            </a:pPr>
            <a:r>
              <a:rPr dirty="0" sz="2400">
                <a:latin typeface="Microsoft Sans Serif"/>
                <a:cs typeface="Microsoft Sans Serif"/>
              </a:rPr>
              <a:t>Assume</a:t>
            </a:r>
            <a:r>
              <a:rPr dirty="0" sz="2400" spc="-3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-30">
                <a:latin typeface="Microsoft Sans Serif"/>
                <a:cs typeface="Microsoft Sans Serif"/>
              </a:rPr>
              <a:t> 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generative</a:t>
            </a:r>
            <a:r>
              <a:rPr dirty="0" sz="2400" spc="-6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00FF"/>
                </a:solidFill>
                <a:latin typeface="Arial"/>
                <a:cs typeface="Arial"/>
              </a:rPr>
              <a:t>model</a:t>
            </a:r>
            <a:r>
              <a:rPr dirty="0" sz="2400" spc="-10"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  <a:p>
            <a:pPr marL="50800" marR="245110" indent="337820">
              <a:lnSpc>
                <a:spcPct val="100000"/>
              </a:lnSpc>
              <a:buAutoNum type="arabicPeriod"/>
              <a:tabLst>
                <a:tab pos="388620" algn="l"/>
              </a:tabLst>
            </a:pPr>
            <a:r>
              <a:rPr dirty="0" sz="2400">
                <a:latin typeface="Microsoft Sans Serif"/>
                <a:cs typeface="Microsoft Sans Serif"/>
              </a:rPr>
              <a:t>For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every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point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 i="1">
                <a:latin typeface="Arial"/>
                <a:cs typeface="Arial"/>
              </a:rPr>
              <a:t>x[t</a:t>
            </a:r>
            <a:r>
              <a:rPr dirty="0" baseline="-17921" sz="2325" i="1">
                <a:latin typeface="Arial"/>
                <a:cs typeface="Arial"/>
              </a:rPr>
              <a:t>i</a:t>
            </a:r>
            <a:r>
              <a:rPr dirty="0" sz="2400" i="1">
                <a:latin typeface="Arial"/>
                <a:cs typeface="Arial"/>
              </a:rPr>
              <a:t>]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in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past,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train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generative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model </a:t>
            </a:r>
            <a:r>
              <a:rPr dirty="0" sz="2400">
                <a:latin typeface="Microsoft Sans Serif"/>
                <a:cs typeface="Microsoft Sans Serif"/>
              </a:rPr>
              <a:t>with</a:t>
            </a:r>
            <a:r>
              <a:rPr dirty="0" sz="2400" spc="-2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what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preceded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</a:t>
            </a:r>
            <a:r>
              <a:rPr dirty="0" baseline="-17921" sz="2325">
                <a:latin typeface="Microsoft Sans Serif"/>
                <a:cs typeface="Microsoft Sans Serif"/>
              </a:rPr>
              <a:t>i</a:t>
            </a:r>
            <a:r>
              <a:rPr dirty="0" baseline="-17921" sz="2325" spc="307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as</a:t>
            </a:r>
            <a:r>
              <a:rPr dirty="0" sz="2400" spc="-2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inputs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and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what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followed</a:t>
            </a:r>
            <a:r>
              <a:rPr dirty="0" sz="2400" spc="-2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</a:t>
            </a:r>
            <a:r>
              <a:rPr dirty="0" baseline="-17921" sz="2325">
                <a:latin typeface="Microsoft Sans Serif"/>
                <a:cs typeface="Microsoft Sans Serif"/>
              </a:rPr>
              <a:t>i</a:t>
            </a:r>
            <a:r>
              <a:rPr dirty="0" baseline="-17921" sz="2325" spc="-1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as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the </a:t>
            </a:r>
            <a:r>
              <a:rPr dirty="0" sz="2400" spc="-10">
                <a:latin typeface="Microsoft Sans Serif"/>
                <a:cs typeface="Microsoft Sans Serif"/>
              </a:rPr>
              <a:t>desired.</a:t>
            </a:r>
            <a:endParaRPr sz="2400">
              <a:latin typeface="Microsoft Sans Serif"/>
              <a:cs typeface="Microsoft Sans Serif"/>
            </a:endParaRPr>
          </a:p>
          <a:p>
            <a:pPr marL="388620" indent="-337820">
              <a:lnSpc>
                <a:spcPts val="3000"/>
              </a:lnSpc>
              <a:buAutoNum type="arabicPeriod"/>
              <a:tabLst>
                <a:tab pos="388620" algn="l"/>
              </a:tabLst>
            </a:pPr>
            <a:r>
              <a:rPr dirty="0" sz="2400">
                <a:latin typeface="Microsoft Sans Serif"/>
                <a:cs typeface="Microsoft Sans Serif"/>
              </a:rPr>
              <a:t>Now</a:t>
            </a:r>
            <a:r>
              <a:rPr dirty="0" sz="2400" spc="-7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run</a:t>
            </a:r>
            <a:r>
              <a:rPr dirty="0" sz="2400" spc="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model</a:t>
            </a:r>
            <a:r>
              <a:rPr dirty="0" sz="2400" spc="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to</a:t>
            </a:r>
            <a:r>
              <a:rPr dirty="0" sz="2400" spc="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predict</a:t>
            </a:r>
            <a:r>
              <a:rPr dirty="0" sz="2400" spc="50">
                <a:latin typeface="Microsoft Sans Serif"/>
                <a:cs typeface="Microsoft Sans Serif"/>
              </a:rPr>
              <a:t> </a:t>
            </a:r>
            <a:r>
              <a:rPr dirty="0" baseline="-2824" sz="4425" spc="-1867" i="1">
                <a:latin typeface="Times New Roman"/>
                <a:cs typeface="Times New Roman"/>
              </a:rPr>
              <a:t>x</a:t>
            </a:r>
            <a:r>
              <a:rPr dirty="0" sz="2950" spc="-270">
                <a:latin typeface="Tahoma"/>
                <a:cs typeface="Tahoma"/>
              </a:rPr>
              <a:t>ˆ</a:t>
            </a:r>
            <a:r>
              <a:rPr dirty="0" baseline="-2824" sz="4425" spc="-337">
                <a:latin typeface="Tahoma"/>
                <a:cs typeface="Tahoma"/>
              </a:rPr>
              <a:t>[</a:t>
            </a:r>
            <a:r>
              <a:rPr dirty="0" baseline="-2824" sz="4425" spc="-292" i="1">
                <a:latin typeface="Times New Roman"/>
                <a:cs typeface="Times New Roman"/>
              </a:rPr>
              <a:t>t</a:t>
            </a:r>
            <a:r>
              <a:rPr dirty="0" baseline="-2824" sz="4425" spc="-89" i="1">
                <a:latin typeface="Times New Roman"/>
                <a:cs typeface="Times New Roman"/>
              </a:rPr>
              <a:t> </a:t>
            </a:r>
            <a:r>
              <a:rPr dirty="0" baseline="-2824" sz="4425" spc="-810">
                <a:latin typeface="Tahoma"/>
                <a:cs typeface="Tahoma"/>
              </a:rPr>
              <a:t>+</a:t>
            </a:r>
            <a:r>
              <a:rPr dirty="0" baseline="-2824" sz="4425" spc="-532">
                <a:latin typeface="Tahoma"/>
                <a:cs typeface="Tahoma"/>
              </a:rPr>
              <a:t> </a:t>
            </a:r>
            <a:r>
              <a:rPr dirty="0" baseline="-2824" sz="4425" spc="-44" i="1">
                <a:latin typeface="Times New Roman"/>
                <a:cs typeface="Times New Roman"/>
              </a:rPr>
              <a:t>s</a:t>
            </a:r>
            <a:r>
              <a:rPr dirty="0" baseline="-2824" sz="4425" spc="-44">
                <a:latin typeface="Tahoma"/>
                <a:cs typeface="Tahoma"/>
              </a:rPr>
              <a:t>]</a:t>
            </a:r>
            <a:r>
              <a:rPr dirty="0" baseline="-2824" sz="4425" spc="-660">
                <a:latin typeface="Tahoma"/>
                <a:cs typeface="Tahoma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from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baseline="1883" sz="4425" spc="-82">
                <a:latin typeface="Tahoma"/>
                <a:cs typeface="Tahoma"/>
              </a:rPr>
              <a:t>(</a:t>
            </a:r>
            <a:r>
              <a:rPr dirty="0" baseline="1883" sz="4425" spc="-82" i="1">
                <a:latin typeface="Times New Roman"/>
                <a:cs typeface="Times New Roman"/>
              </a:rPr>
              <a:t>x</a:t>
            </a:r>
            <a:r>
              <a:rPr dirty="0" baseline="1883" sz="4425" spc="-82">
                <a:latin typeface="Tahoma"/>
                <a:cs typeface="Tahoma"/>
              </a:rPr>
              <a:t>[</a:t>
            </a:r>
            <a:r>
              <a:rPr dirty="0" baseline="1883" sz="4425" spc="-82" i="1">
                <a:latin typeface="Times New Roman"/>
                <a:cs typeface="Times New Roman"/>
              </a:rPr>
              <a:t>t</a:t>
            </a:r>
            <a:r>
              <a:rPr dirty="0" baseline="1883" sz="4425" spc="-82">
                <a:latin typeface="Tahoma"/>
                <a:cs typeface="Tahoma"/>
              </a:rPr>
              <a:t>],</a:t>
            </a:r>
            <a:r>
              <a:rPr dirty="0" baseline="1883" sz="4425" spc="-652">
                <a:latin typeface="Tahoma"/>
                <a:cs typeface="Tahoma"/>
              </a:rPr>
              <a:t> </a:t>
            </a:r>
            <a:r>
              <a:rPr dirty="0" baseline="1883" sz="4425" spc="-127" i="1">
                <a:latin typeface="Times New Roman"/>
                <a:cs typeface="Times New Roman"/>
              </a:rPr>
              <a:t>x</a:t>
            </a:r>
            <a:r>
              <a:rPr dirty="0" baseline="1883" sz="4425" spc="-127">
                <a:latin typeface="Tahoma"/>
                <a:cs typeface="Tahoma"/>
              </a:rPr>
              <a:t>[</a:t>
            </a:r>
            <a:r>
              <a:rPr dirty="0" baseline="1883" sz="4425" spc="-127" i="1">
                <a:latin typeface="Times New Roman"/>
                <a:cs typeface="Times New Roman"/>
              </a:rPr>
              <a:t>t</a:t>
            </a:r>
            <a:r>
              <a:rPr dirty="0" baseline="1883" sz="4425" spc="-142" i="1">
                <a:latin typeface="Times New Roman"/>
                <a:cs typeface="Times New Roman"/>
              </a:rPr>
              <a:t> </a:t>
            </a:r>
            <a:r>
              <a:rPr dirty="0" baseline="1883" sz="4425" spc="-89">
                <a:latin typeface="Tahoma"/>
                <a:cs typeface="Tahoma"/>
              </a:rPr>
              <a:t>–1],···)</a:t>
            </a:r>
            <a:endParaRPr baseline="1883" sz="4425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580" y="57863"/>
            <a:ext cx="1811522" cy="294786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2147817" y="319622"/>
            <a:ext cx="29209" cy="48895"/>
          </a:xfrm>
          <a:custGeom>
            <a:avLst/>
            <a:gdLst/>
            <a:ahLst/>
            <a:cxnLst/>
            <a:rect l="l" t="t" r="r" b="b"/>
            <a:pathLst>
              <a:path w="29210" h="48895">
                <a:moveTo>
                  <a:pt x="24274" y="0"/>
                </a:moveTo>
                <a:lnTo>
                  <a:pt x="22432" y="674"/>
                </a:lnTo>
                <a:lnTo>
                  <a:pt x="0" y="41694"/>
                </a:lnTo>
                <a:lnTo>
                  <a:pt x="1109" y="45483"/>
                </a:lnTo>
                <a:lnTo>
                  <a:pt x="7152" y="48789"/>
                </a:lnTo>
                <a:lnTo>
                  <a:pt x="10942" y="47679"/>
                </a:lnTo>
                <a:lnTo>
                  <a:pt x="12726" y="44415"/>
                </a:lnTo>
                <a:lnTo>
                  <a:pt x="12843" y="44166"/>
                </a:lnTo>
                <a:lnTo>
                  <a:pt x="28594" y="3337"/>
                </a:lnTo>
                <a:lnTo>
                  <a:pt x="27699" y="1320"/>
                </a:lnTo>
                <a:lnTo>
                  <a:pt x="242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4166" y="28046"/>
            <a:ext cx="1391427" cy="30944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08410" y="42312"/>
            <a:ext cx="846292" cy="28131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16000" y="73370"/>
            <a:ext cx="578510" cy="273613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25445" y="116737"/>
            <a:ext cx="436885" cy="209911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29636" y="140138"/>
            <a:ext cx="95949" cy="173682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2512" y="99540"/>
            <a:ext cx="430316" cy="248782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271714" y="1921451"/>
            <a:ext cx="8752205" cy="1331595"/>
            <a:chOff x="271714" y="1921451"/>
            <a:chExt cx="8752205" cy="1331595"/>
          </a:xfrm>
        </p:grpSpPr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98031" y="1921451"/>
              <a:ext cx="1892065" cy="329591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1714" y="2400066"/>
              <a:ext cx="3451273" cy="822335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8630641" y="2577934"/>
              <a:ext cx="158115" cy="28575"/>
            </a:xfrm>
            <a:custGeom>
              <a:avLst/>
              <a:gdLst/>
              <a:ahLst/>
              <a:cxnLst/>
              <a:rect l="l" t="t" r="r" b="b"/>
              <a:pathLst>
                <a:path w="158115" h="28575">
                  <a:moveTo>
                    <a:pt x="266" y="22085"/>
                  </a:moveTo>
                  <a:lnTo>
                    <a:pt x="165" y="21666"/>
                  </a:lnTo>
                  <a:lnTo>
                    <a:pt x="76" y="21348"/>
                  </a:lnTo>
                  <a:lnTo>
                    <a:pt x="0" y="21666"/>
                  </a:lnTo>
                  <a:lnTo>
                    <a:pt x="266" y="22085"/>
                  </a:lnTo>
                  <a:close/>
                </a:path>
                <a:path w="158115" h="28575">
                  <a:moveTo>
                    <a:pt x="34963" y="18415"/>
                  </a:moveTo>
                  <a:lnTo>
                    <a:pt x="33680" y="14084"/>
                  </a:lnTo>
                  <a:lnTo>
                    <a:pt x="31800" y="12763"/>
                  </a:lnTo>
                  <a:lnTo>
                    <a:pt x="14566" y="13868"/>
                  </a:lnTo>
                  <a:lnTo>
                    <a:pt x="14566" y="18415"/>
                  </a:lnTo>
                  <a:lnTo>
                    <a:pt x="14478" y="17957"/>
                  </a:lnTo>
                  <a:lnTo>
                    <a:pt x="14376" y="17500"/>
                  </a:lnTo>
                  <a:lnTo>
                    <a:pt x="14338" y="17272"/>
                  </a:lnTo>
                  <a:lnTo>
                    <a:pt x="12776" y="16395"/>
                  </a:lnTo>
                  <a:lnTo>
                    <a:pt x="12776" y="26212"/>
                  </a:lnTo>
                  <a:lnTo>
                    <a:pt x="11658" y="26784"/>
                  </a:lnTo>
                  <a:lnTo>
                    <a:pt x="11938" y="26606"/>
                  </a:lnTo>
                  <a:lnTo>
                    <a:pt x="12649" y="26212"/>
                  </a:lnTo>
                  <a:lnTo>
                    <a:pt x="12776" y="26212"/>
                  </a:lnTo>
                  <a:lnTo>
                    <a:pt x="12776" y="16395"/>
                  </a:lnTo>
                  <a:lnTo>
                    <a:pt x="10439" y="15074"/>
                  </a:lnTo>
                  <a:lnTo>
                    <a:pt x="14338" y="17272"/>
                  </a:lnTo>
                  <a:lnTo>
                    <a:pt x="14300" y="17132"/>
                  </a:lnTo>
                  <a:lnTo>
                    <a:pt x="14452" y="17272"/>
                  </a:lnTo>
                  <a:lnTo>
                    <a:pt x="14566" y="18415"/>
                  </a:lnTo>
                  <a:lnTo>
                    <a:pt x="14566" y="13868"/>
                  </a:lnTo>
                  <a:lnTo>
                    <a:pt x="11049" y="14084"/>
                  </a:lnTo>
                  <a:lnTo>
                    <a:pt x="10464" y="13690"/>
                  </a:lnTo>
                  <a:lnTo>
                    <a:pt x="8750" y="14058"/>
                  </a:lnTo>
                  <a:lnTo>
                    <a:pt x="7912" y="13550"/>
                  </a:lnTo>
                  <a:lnTo>
                    <a:pt x="5842" y="14084"/>
                  </a:lnTo>
                  <a:lnTo>
                    <a:pt x="5842" y="14655"/>
                  </a:lnTo>
                  <a:lnTo>
                    <a:pt x="4838" y="15074"/>
                  </a:lnTo>
                  <a:lnTo>
                    <a:pt x="5842" y="14655"/>
                  </a:lnTo>
                  <a:lnTo>
                    <a:pt x="5842" y="14084"/>
                  </a:lnTo>
                  <a:lnTo>
                    <a:pt x="3606" y="14655"/>
                  </a:lnTo>
                  <a:lnTo>
                    <a:pt x="3746" y="14655"/>
                  </a:lnTo>
                  <a:lnTo>
                    <a:pt x="3517" y="15036"/>
                  </a:lnTo>
                  <a:lnTo>
                    <a:pt x="3276" y="15074"/>
                  </a:lnTo>
                  <a:lnTo>
                    <a:pt x="2044" y="16827"/>
                  </a:lnTo>
                  <a:lnTo>
                    <a:pt x="965" y="17500"/>
                  </a:lnTo>
                  <a:lnTo>
                    <a:pt x="863" y="17957"/>
                  </a:lnTo>
                  <a:lnTo>
                    <a:pt x="749" y="18415"/>
                  </a:lnTo>
                  <a:lnTo>
                    <a:pt x="711" y="18592"/>
                  </a:lnTo>
                  <a:lnTo>
                    <a:pt x="749" y="18796"/>
                  </a:lnTo>
                  <a:lnTo>
                    <a:pt x="495" y="19519"/>
                  </a:lnTo>
                  <a:lnTo>
                    <a:pt x="254" y="20612"/>
                  </a:lnTo>
                  <a:lnTo>
                    <a:pt x="266" y="22085"/>
                  </a:lnTo>
                  <a:lnTo>
                    <a:pt x="1701" y="24371"/>
                  </a:lnTo>
                  <a:lnTo>
                    <a:pt x="1612" y="23444"/>
                  </a:lnTo>
                  <a:lnTo>
                    <a:pt x="1790" y="24371"/>
                  </a:lnTo>
                  <a:lnTo>
                    <a:pt x="1828" y="24574"/>
                  </a:lnTo>
                  <a:lnTo>
                    <a:pt x="266" y="22085"/>
                  </a:lnTo>
                  <a:lnTo>
                    <a:pt x="863" y="24371"/>
                  </a:lnTo>
                  <a:lnTo>
                    <a:pt x="914" y="24574"/>
                  </a:lnTo>
                  <a:lnTo>
                    <a:pt x="1181" y="25234"/>
                  </a:lnTo>
                  <a:lnTo>
                    <a:pt x="2044" y="25742"/>
                  </a:lnTo>
                  <a:lnTo>
                    <a:pt x="2133" y="26212"/>
                  </a:lnTo>
                  <a:lnTo>
                    <a:pt x="2349" y="26212"/>
                  </a:lnTo>
                  <a:lnTo>
                    <a:pt x="4152" y="27482"/>
                  </a:lnTo>
                  <a:lnTo>
                    <a:pt x="4597" y="27800"/>
                  </a:lnTo>
                  <a:lnTo>
                    <a:pt x="4927" y="28028"/>
                  </a:lnTo>
                  <a:lnTo>
                    <a:pt x="5638" y="28524"/>
                  </a:lnTo>
                  <a:lnTo>
                    <a:pt x="6908" y="28295"/>
                  </a:lnTo>
                  <a:lnTo>
                    <a:pt x="8712" y="28295"/>
                  </a:lnTo>
                  <a:lnTo>
                    <a:pt x="9245" y="28028"/>
                  </a:lnTo>
                  <a:lnTo>
                    <a:pt x="8623" y="28028"/>
                  </a:lnTo>
                  <a:lnTo>
                    <a:pt x="8470" y="28028"/>
                  </a:lnTo>
                  <a:lnTo>
                    <a:pt x="9448" y="27863"/>
                  </a:lnTo>
                  <a:lnTo>
                    <a:pt x="9652" y="27825"/>
                  </a:lnTo>
                  <a:lnTo>
                    <a:pt x="11506" y="27482"/>
                  </a:lnTo>
                  <a:lnTo>
                    <a:pt x="11188" y="27482"/>
                  </a:lnTo>
                  <a:lnTo>
                    <a:pt x="11925" y="27343"/>
                  </a:lnTo>
                  <a:lnTo>
                    <a:pt x="12369" y="27241"/>
                  </a:lnTo>
                  <a:lnTo>
                    <a:pt x="13131" y="27241"/>
                  </a:lnTo>
                  <a:lnTo>
                    <a:pt x="13423" y="26797"/>
                  </a:lnTo>
                  <a:lnTo>
                    <a:pt x="15011" y="26212"/>
                  </a:lnTo>
                  <a:lnTo>
                    <a:pt x="13550" y="26606"/>
                  </a:lnTo>
                  <a:lnTo>
                    <a:pt x="14973" y="26212"/>
                  </a:lnTo>
                  <a:lnTo>
                    <a:pt x="33616" y="20878"/>
                  </a:lnTo>
                  <a:lnTo>
                    <a:pt x="34747" y="18796"/>
                  </a:lnTo>
                  <a:lnTo>
                    <a:pt x="34861" y="18592"/>
                  </a:lnTo>
                  <a:lnTo>
                    <a:pt x="34963" y="18415"/>
                  </a:lnTo>
                  <a:close/>
                </a:path>
                <a:path w="158115" h="28575">
                  <a:moveTo>
                    <a:pt x="81915" y="12357"/>
                  </a:moveTo>
                  <a:lnTo>
                    <a:pt x="79133" y="8039"/>
                  </a:lnTo>
                  <a:lnTo>
                    <a:pt x="76619" y="7213"/>
                  </a:lnTo>
                  <a:lnTo>
                    <a:pt x="69875" y="9855"/>
                  </a:lnTo>
                  <a:lnTo>
                    <a:pt x="63703" y="12763"/>
                  </a:lnTo>
                  <a:lnTo>
                    <a:pt x="63588" y="21907"/>
                  </a:lnTo>
                  <a:lnTo>
                    <a:pt x="66090" y="24511"/>
                  </a:lnTo>
                  <a:lnTo>
                    <a:pt x="71615" y="26225"/>
                  </a:lnTo>
                  <a:lnTo>
                    <a:pt x="77685" y="26225"/>
                  </a:lnTo>
                  <a:lnTo>
                    <a:pt x="79590" y="24333"/>
                  </a:lnTo>
                  <a:lnTo>
                    <a:pt x="79603" y="20332"/>
                  </a:lnTo>
                  <a:lnTo>
                    <a:pt x="78638" y="18821"/>
                  </a:lnTo>
                  <a:lnTo>
                    <a:pt x="77127" y="18122"/>
                  </a:lnTo>
                  <a:lnTo>
                    <a:pt x="78917" y="16929"/>
                  </a:lnTo>
                  <a:lnTo>
                    <a:pt x="81241" y="15443"/>
                  </a:lnTo>
                  <a:lnTo>
                    <a:pt x="81826" y="12763"/>
                  </a:lnTo>
                  <a:lnTo>
                    <a:pt x="81915" y="12357"/>
                  </a:lnTo>
                  <a:close/>
                </a:path>
                <a:path w="158115" h="28575">
                  <a:moveTo>
                    <a:pt x="157784" y="8343"/>
                  </a:moveTo>
                  <a:lnTo>
                    <a:pt x="156273" y="4457"/>
                  </a:lnTo>
                  <a:lnTo>
                    <a:pt x="152349" y="2730"/>
                  </a:lnTo>
                  <a:lnTo>
                    <a:pt x="151701" y="2552"/>
                  </a:lnTo>
                  <a:lnTo>
                    <a:pt x="129133" y="0"/>
                  </a:lnTo>
                  <a:lnTo>
                    <a:pt x="127406" y="1371"/>
                  </a:lnTo>
                  <a:lnTo>
                    <a:pt x="127063" y="4457"/>
                  </a:lnTo>
                  <a:lnTo>
                    <a:pt x="127025" y="4800"/>
                  </a:lnTo>
                  <a:lnTo>
                    <a:pt x="127850" y="6248"/>
                  </a:lnTo>
                  <a:lnTo>
                    <a:pt x="150964" y="16484"/>
                  </a:lnTo>
                  <a:lnTo>
                    <a:pt x="154838" y="14973"/>
                  </a:lnTo>
                  <a:lnTo>
                    <a:pt x="157784" y="83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63995" y="2496885"/>
              <a:ext cx="64521" cy="17506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42929" y="2324775"/>
              <a:ext cx="2380987" cy="927966"/>
            </a:xfrm>
            <a:prstGeom prst="rect">
              <a:avLst/>
            </a:prstGeom>
          </p:spPr>
        </p:pic>
      </p:grpSp>
      <p:pic>
        <p:nvPicPr>
          <p:cNvPr id="19" name="object 1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296645" y="3900206"/>
            <a:ext cx="434997" cy="182596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823395" y="3934165"/>
            <a:ext cx="498468" cy="168539"/>
          </a:xfrm>
          <a:prstGeom prst="rect">
            <a:avLst/>
          </a:prstGeom>
        </p:spPr>
      </p:pic>
      <p:grpSp>
        <p:nvGrpSpPr>
          <p:cNvPr id="21" name="object 21" descr=""/>
          <p:cNvGrpSpPr/>
          <p:nvPr/>
        </p:nvGrpSpPr>
        <p:grpSpPr>
          <a:xfrm>
            <a:off x="4820336" y="3872808"/>
            <a:ext cx="4286885" cy="1600200"/>
            <a:chOff x="4820336" y="3872808"/>
            <a:chExt cx="4286885" cy="1600200"/>
          </a:xfrm>
        </p:grpSpPr>
        <p:pic>
          <p:nvPicPr>
            <p:cNvPr id="22" name="object 2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393054" y="3872808"/>
              <a:ext cx="1295079" cy="25811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71670" y="4223013"/>
              <a:ext cx="98764" cy="81900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7915453" y="4408449"/>
              <a:ext cx="154940" cy="17780"/>
            </a:xfrm>
            <a:custGeom>
              <a:avLst/>
              <a:gdLst/>
              <a:ahLst/>
              <a:cxnLst/>
              <a:rect l="l" t="t" r="r" b="b"/>
              <a:pathLst>
                <a:path w="154940" h="17779">
                  <a:moveTo>
                    <a:pt x="12827" y="12700"/>
                  </a:moveTo>
                  <a:lnTo>
                    <a:pt x="12407" y="10909"/>
                  </a:lnTo>
                  <a:lnTo>
                    <a:pt x="12357" y="10655"/>
                  </a:lnTo>
                  <a:lnTo>
                    <a:pt x="12268" y="10414"/>
                  </a:lnTo>
                  <a:lnTo>
                    <a:pt x="11557" y="8991"/>
                  </a:lnTo>
                  <a:lnTo>
                    <a:pt x="8001" y="7162"/>
                  </a:lnTo>
                  <a:lnTo>
                    <a:pt x="3759" y="5194"/>
                  </a:lnTo>
                  <a:lnTo>
                    <a:pt x="1651" y="5969"/>
                  </a:lnTo>
                  <a:lnTo>
                    <a:pt x="0" y="9512"/>
                  </a:lnTo>
                  <a:lnTo>
                    <a:pt x="762" y="11607"/>
                  </a:lnTo>
                  <a:lnTo>
                    <a:pt x="5130" y="13690"/>
                  </a:lnTo>
                  <a:lnTo>
                    <a:pt x="8712" y="15176"/>
                  </a:lnTo>
                  <a:lnTo>
                    <a:pt x="11709" y="14478"/>
                  </a:lnTo>
                  <a:lnTo>
                    <a:pt x="12827" y="12700"/>
                  </a:lnTo>
                  <a:close/>
                </a:path>
                <a:path w="154940" h="17779">
                  <a:moveTo>
                    <a:pt x="83362" y="3378"/>
                  </a:moveTo>
                  <a:lnTo>
                    <a:pt x="82969" y="2832"/>
                  </a:lnTo>
                  <a:lnTo>
                    <a:pt x="80873" y="457"/>
                  </a:lnTo>
                  <a:lnTo>
                    <a:pt x="79222" y="0"/>
                  </a:lnTo>
                  <a:lnTo>
                    <a:pt x="73698" y="1765"/>
                  </a:lnTo>
                  <a:lnTo>
                    <a:pt x="71716" y="2235"/>
                  </a:lnTo>
                  <a:lnTo>
                    <a:pt x="71716" y="15240"/>
                  </a:lnTo>
                  <a:lnTo>
                    <a:pt x="71501" y="15430"/>
                  </a:lnTo>
                  <a:lnTo>
                    <a:pt x="70967" y="15659"/>
                  </a:lnTo>
                  <a:lnTo>
                    <a:pt x="71716" y="15240"/>
                  </a:lnTo>
                  <a:lnTo>
                    <a:pt x="71716" y="2235"/>
                  </a:lnTo>
                  <a:lnTo>
                    <a:pt x="69164" y="2832"/>
                  </a:lnTo>
                  <a:lnTo>
                    <a:pt x="68224" y="3378"/>
                  </a:lnTo>
                  <a:lnTo>
                    <a:pt x="66814" y="4203"/>
                  </a:lnTo>
                  <a:lnTo>
                    <a:pt x="66344" y="4521"/>
                  </a:lnTo>
                  <a:lnTo>
                    <a:pt x="63195" y="6324"/>
                  </a:lnTo>
                  <a:lnTo>
                    <a:pt x="62407" y="6781"/>
                  </a:lnTo>
                  <a:lnTo>
                    <a:pt x="60807" y="10312"/>
                  </a:lnTo>
                  <a:lnTo>
                    <a:pt x="60706" y="10541"/>
                  </a:lnTo>
                  <a:lnTo>
                    <a:pt x="61810" y="12306"/>
                  </a:lnTo>
                  <a:lnTo>
                    <a:pt x="61747" y="12560"/>
                  </a:lnTo>
                  <a:lnTo>
                    <a:pt x="63627" y="15659"/>
                  </a:lnTo>
                  <a:lnTo>
                    <a:pt x="64909" y="15976"/>
                  </a:lnTo>
                  <a:lnTo>
                    <a:pt x="65036" y="16002"/>
                  </a:lnTo>
                  <a:lnTo>
                    <a:pt x="65303" y="16065"/>
                  </a:lnTo>
                  <a:lnTo>
                    <a:pt x="65138" y="16065"/>
                  </a:lnTo>
                  <a:lnTo>
                    <a:pt x="66167" y="16738"/>
                  </a:lnTo>
                  <a:lnTo>
                    <a:pt x="68033" y="16878"/>
                  </a:lnTo>
                  <a:lnTo>
                    <a:pt x="68173" y="16891"/>
                  </a:lnTo>
                  <a:lnTo>
                    <a:pt x="68681" y="16929"/>
                  </a:lnTo>
                  <a:lnTo>
                    <a:pt x="69621" y="16395"/>
                  </a:lnTo>
                  <a:lnTo>
                    <a:pt x="68567" y="16738"/>
                  </a:lnTo>
                  <a:lnTo>
                    <a:pt x="69507" y="16395"/>
                  </a:lnTo>
                  <a:lnTo>
                    <a:pt x="68707" y="16586"/>
                  </a:lnTo>
                  <a:lnTo>
                    <a:pt x="69418" y="16395"/>
                  </a:lnTo>
                  <a:lnTo>
                    <a:pt x="69621" y="16395"/>
                  </a:lnTo>
                  <a:lnTo>
                    <a:pt x="69824" y="16319"/>
                  </a:lnTo>
                  <a:lnTo>
                    <a:pt x="70802" y="16065"/>
                  </a:lnTo>
                  <a:lnTo>
                    <a:pt x="70535" y="16065"/>
                  </a:lnTo>
                  <a:lnTo>
                    <a:pt x="71234" y="15659"/>
                  </a:lnTo>
                  <a:lnTo>
                    <a:pt x="70535" y="16065"/>
                  </a:lnTo>
                  <a:lnTo>
                    <a:pt x="73177" y="15659"/>
                  </a:lnTo>
                  <a:lnTo>
                    <a:pt x="77914" y="14795"/>
                  </a:lnTo>
                  <a:lnTo>
                    <a:pt x="79463" y="12560"/>
                  </a:lnTo>
                  <a:lnTo>
                    <a:pt x="79502" y="12306"/>
                  </a:lnTo>
                  <a:lnTo>
                    <a:pt x="79286" y="11099"/>
                  </a:lnTo>
                  <a:lnTo>
                    <a:pt x="79184" y="10541"/>
                  </a:lnTo>
                  <a:lnTo>
                    <a:pt x="79082" y="10033"/>
                  </a:lnTo>
                  <a:lnTo>
                    <a:pt x="78994" y="9499"/>
                  </a:lnTo>
                  <a:lnTo>
                    <a:pt x="82905" y="6057"/>
                  </a:lnTo>
                  <a:lnTo>
                    <a:pt x="83197" y="5791"/>
                  </a:lnTo>
                  <a:lnTo>
                    <a:pt x="83299" y="4203"/>
                  </a:lnTo>
                  <a:lnTo>
                    <a:pt x="83362" y="3378"/>
                  </a:lnTo>
                  <a:close/>
                </a:path>
                <a:path w="154940" h="17779">
                  <a:moveTo>
                    <a:pt x="154762" y="8445"/>
                  </a:moveTo>
                  <a:lnTo>
                    <a:pt x="152641" y="4826"/>
                  </a:lnTo>
                  <a:lnTo>
                    <a:pt x="148488" y="3746"/>
                  </a:lnTo>
                  <a:lnTo>
                    <a:pt x="146608" y="3746"/>
                  </a:lnTo>
                  <a:lnTo>
                    <a:pt x="128638" y="6019"/>
                  </a:lnTo>
                  <a:lnTo>
                    <a:pt x="127279" y="7772"/>
                  </a:lnTo>
                  <a:lnTo>
                    <a:pt x="127698" y="11087"/>
                  </a:lnTo>
                  <a:lnTo>
                    <a:pt x="128727" y="12255"/>
                  </a:lnTo>
                  <a:lnTo>
                    <a:pt x="149301" y="17614"/>
                  </a:lnTo>
                  <a:lnTo>
                    <a:pt x="152920" y="15506"/>
                  </a:lnTo>
                  <a:lnTo>
                    <a:pt x="154762" y="84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140070" y="4286427"/>
              <a:ext cx="70502" cy="168785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147109" y="4519401"/>
              <a:ext cx="959586" cy="223639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820336" y="4154483"/>
              <a:ext cx="4267385" cy="1318196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106" y="99275"/>
            <a:ext cx="1150562" cy="27792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1448" y="46649"/>
            <a:ext cx="923653" cy="28400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207695" y="534328"/>
            <a:ext cx="57785" cy="185420"/>
          </a:xfrm>
          <a:custGeom>
            <a:avLst/>
            <a:gdLst/>
            <a:ahLst/>
            <a:cxnLst/>
            <a:rect l="l" t="t" r="r" b="b"/>
            <a:pathLst>
              <a:path w="57785" h="185420">
                <a:moveTo>
                  <a:pt x="10807" y="56819"/>
                </a:moveTo>
                <a:lnTo>
                  <a:pt x="10287" y="2019"/>
                </a:lnTo>
                <a:lnTo>
                  <a:pt x="8178" y="0"/>
                </a:lnTo>
                <a:lnTo>
                  <a:pt x="3187" y="88"/>
                </a:lnTo>
                <a:lnTo>
                  <a:pt x="1206" y="2019"/>
                </a:lnTo>
                <a:lnTo>
                  <a:pt x="482" y="21894"/>
                </a:lnTo>
                <a:lnTo>
                  <a:pt x="0" y="56794"/>
                </a:lnTo>
                <a:lnTo>
                  <a:pt x="101" y="100812"/>
                </a:lnTo>
                <a:lnTo>
                  <a:pt x="1270" y="180543"/>
                </a:lnTo>
                <a:lnTo>
                  <a:pt x="1320" y="183032"/>
                </a:lnTo>
                <a:lnTo>
                  <a:pt x="3378" y="185013"/>
                </a:lnTo>
                <a:lnTo>
                  <a:pt x="8305" y="184912"/>
                </a:lnTo>
                <a:lnTo>
                  <a:pt x="10261" y="182930"/>
                </a:lnTo>
                <a:lnTo>
                  <a:pt x="10807" y="56819"/>
                </a:lnTo>
                <a:close/>
              </a:path>
              <a:path w="57785" h="185420">
                <a:moveTo>
                  <a:pt x="57365" y="143205"/>
                </a:moveTo>
                <a:lnTo>
                  <a:pt x="54038" y="135991"/>
                </a:lnTo>
                <a:lnTo>
                  <a:pt x="49618" y="130759"/>
                </a:lnTo>
                <a:lnTo>
                  <a:pt x="51155" y="132575"/>
                </a:lnTo>
                <a:lnTo>
                  <a:pt x="53124" y="132575"/>
                </a:lnTo>
                <a:lnTo>
                  <a:pt x="55194" y="130543"/>
                </a:lnTo>
                <a:lnTo>
                  <a:pt x="55245" y="125768"/>
                </a:lnTo>
                <a:lnTo>
                  <a:pt x="53657" y="123863"/>
                </a:lnTo>
                <a:lnTo>
                  <a:pt x="47282" y="122720"/>
                </a:lnTo>
                <a:lnTo>
                  <a:pt x="47282" y="129705"/>
                </a:lnTo>
                <a:lnTo>
                  <a:pt x="44221" y="128320"/>
                </a:lnTo>
                <a:lnTo>
                  <a:pt x="47282" y="129705"/>
                </a:lnTo>
                <a:lnTo>
                  <a:pt x="47282" y="122720"/>
                </a:lnTo>
                <a:lnTo>
                  <a:pt x="46913" y="122643"/>
                </a:lnTo>
                <a:lnTo>
                  <a:pt x="43840" y="122097"/>
                </a:lnTo>
                <a:lnTo>
                  <a:pt x="43167" y="122097"/>
                </a:lnTo>
                <a:lnTo>
                  <a:pt x="43167" y="127838"/>
                </a:lnTo>
                <a:lnTo>
                  <a:pt x="42481" y="127520"/>
                </a:lnTo>
                <a:lnTo>
                  <a:pt x="41821" y="127012"/>
                </a:lnTo>
                <a:lnTo>
                  <a:pt x="42176" y="127279"/>
                </a:lnTo>
                <a:lnTo>
                  <a:pt x="42545" y="127520"/>
                </a:lnTo>
                <a:lnTo>
                  <a:pt x="43167" y="127838"/>
                </a:lnTo>
                <a:lnTo>
                  <a:pt x="43167" y="122097"/>
                </a:lnTo>
                <a:lnTo>
                  <a:pt x="37642" y="122097"/>
                </a:lnTo>
                <a:lnTo>
                  <a:pt x="35839" y="122313"/>
                </a:lnTo>
                <a:lnTo>
                  <a:pt x="31521" y="124294"/>
                </a:lnTo>
                <a:lnTo>
                  <a:pt x="30035" y="126466"/>
                </a:lnTo>
                <a:lnTo>
                  <a:pt x="29718" y="127012"/>
                </a:lnTo>
                <a:lnTo>
                  <a:pt x="29705" y="128003"/>
                </a:lnTo>
                <a:lnTo>
                  <a:pt x="29857" y="127558"/>
                </a:lnTo>
                <a:lnTo>
                  <a:pt x="29679" y="129705"/>
                </a:lnTo>
                <a:lnTo>
                  <a:pt x="29667" y="130759"/>
                </a:lnTo>
                <a:lnTo>
                  <a:pt x="29451" y="132575"/>
                </a:lnTo>
                <a:lnTo>
                  <a:pt x="29375" y="133477"/>
                </a:lnTo>
                <a:lnTo>
                  <a:pt x="29248" y="134950"/>
                </a:lnTo>
                <a:lnTo>
                  <a:pt x="30962" y="136474"/>
                </a:lnTo>
                <a:lnTo>
                  <a:pt x="33845" y="138963"/>
                </a:lnTo>
                <a:lnTo>
                  <a:pt x="38328" y="140677"/>
                </a:lnTo>
                <a:lnTo>
                  <a:pt x="41859" y="142036"/>
                </a:lnTo>
                <a:lnTo>
                  <a:pt x="42595" y="142379"/>
                </a:lnTo>
                <a:lnTo>
                  <a:pt x="46812" y="144754"/>
                </a:lnTo>
                <a:lnTo>
                  <a:pt x="52565" y="148488"/>
                </a:lnTo>
                <a:lnTo>
                  <a:pt x="55181" y="147942"/>
                </a:lnTo>
                <a:lnTo>
                  <a:pt x="57251" y="144754"/>
                </a:lnTo>
                <a:lnTo>
                  <a:pt x="57365" y="1432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4553" y="467749"/>
            <a:ext cx="1233671" cy="248552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1787385" y="532905"/>
            <a:ext cx="20320" cy="60960"/>
          </a:xfrm>
          <a:custGeom>
            <a:avLst/>
            <a:gdLst/>
            <a:ahLst/>
            <a:cxnLst/>
            <a:rect l="l" t="t" r="r" b="b"/>
            <a:pathLst>
              <a:path w="20319" h="60959">
                <a:moveTo>
                  <a:pt x="19342" y="11645"/>
                </a:moveTo>
                <a:lnTo>
                  <a:pt x="18935" y="9575"/>
                </a:lnTo>
                <a:lnTo>
                  <a:pt x="14719" y="6388"/>
                </a:lnTo>
                <a:lnTo>
                  <a:pt x="11938" y="4343"/>
                </a:lnTo>
                <a:lnTo>
                  <a:pt x="7200" y="1524"/>
                </a:lnTo>
                <a:lnTo>
                  <a:pt x="4826" y="0"/>
                </a:lnTo>
                <a:lnTo>
                  <a:pt x="1054" y="685"/>
                </a:lnTo>
                <a:lnTo>
                  <a:pt x="0" y="2184"/>
                </a:lnTo>
                <a:lnTo>
                  <a:pt x="304" y="3860"/>
                </a:lnTo>
                <a:lnTo>
                  <a:pt x="762" y="6032"/>
                </a:lnTo>
                <a:lnTo>
                  <a:pt x="3073" y="7670"/>
                </a:lnTo>
                <a:lnTo>
                  <a:pt x="7480" y="10985"/>
                </a:lnTo>
                <a:lnTo>
                  <a:pt x="10414" y="12788"/>
                </a:lnTo>
                <a:lnTo>
                  <a:pt x="15100" y="15570"/>
                </a:lnTo>
                <a:lnTo>
                  <a:pt x="17360" y="14998"/>
                </a:lnTo>
                <a:lnTo>
                  <a:pt x="19342" y="11645"/>
                </a:lnTo>
                <a:close/>
              </a:path>
              <a:path w="20319" h="60959">
                <a:moveTo>
                  <a:pt x="20320" y="49860"/>
                </a:moveTo>
                <a:lnTo>
                  <a:pt x="19875" y="47840"/>
                </a:lnTo>
                <a:lnTo>
                  <a:pt x="17043" y="46012"/>
                </a:lnTo>
                <a:lnTo>
                  <a:pt x="15303" y="46228"/>
                </a:lnTo>
                <a:lnTo>
                  <a:pt x="7150" y="54825"/>
                </a:lnTo>
                <a:lnTo>
                  <a:pt x="7226" y="57378"/>
                </a:lnTo>
                <a:lnTo>
                  <a:pt x="10452" y="60426"/>
                </a:lnTo>
                <a:lnTo>
                  <a:pt x="12928" y="60426"/>
                </a:lnTo>
                <a:lnTo>
                  <a:pt x="14693" y="58572"/>
                </a:lnTo>
                <a:lnTo>
                  <a:pt x="14986" y="58153"/>
                </a:lnTo>
                <a:lnTo>
                  <a:pt x="20320" y="49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13427" y="386465"/>
            <a:ext cx="2606278" cy="27777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96224" y="420779"/>
            <a:ext cx="444827" cy="24514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26848" y="428465"/>
            <a:ext cx="770960" cy="23184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64976" y="397221"/>
            <a:ext cx="1070777" cy="27735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5189" y="1061625"/>
            <a:ext cx="95760" cy="143662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5566" y="944610"/>
            <a:ext cx="962628" cy="276357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10224" y="910026"/>
            <a:ext cx="1136323" cy="251995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4822773" y="1136167"/>
            <a:ext cx="20320" cy="36195"/>
          </a:xfrm>
          <a:custGeom>
            <a:avLst/>
            <a:gdLst/>
            <a:ahLst/>
            <a:cxnLst/>
            <a:rect l="l" t="t" r="r" b="b"/>
            <a:pathLst>
              <a:path w="20320" h="36194">
                <a:moveTo>
                  <a:pt x="16899" y="0"/>
                </a:moveTo>
                <a:lnTo>
                  <a:pt x="12806" y="698"/>
                </a:lnTo>
                <a:lnTo>
                  <a:pt x="11402" y="2294"/>
                </a:lnTo>
                <a:lnTo>
                  <a:pt x="11176" y="7860"/>
                </a:lnTo>
                <a:lnTo>
                  <a:pt x="10015" y="11454"/>
                </a:lnTo>
                <a:lnTo>
                  <a:pt x="6589" y="20268"/>
                </a:lnTo>
                <a:lnTo>
                  <a:pt x="3836" y="25446"/>
                </a:lnTo>
                <a:lnTo>
                  <a:pt x="0" y="32076"/>
                </a:lnTo>
                <a:lnTo>
                  <a:pt x="544" y="34115"/>
                </a:lnTo>
                <a:lnTo>
                  <a:pt x="3542" y="35850"/>
                </a:lnTo>
                <a:lnTo>
                  <a:pt x="5331" y="35530"/>
                </a:lnTo>
                <a:lnTo>
                  <a:pt x="10443" y="29368"/>
                </a:lnTo>
                <a:lnTo>
                  <a:pt x="14234" y="24077"/>
                </a:lnTo>
                <a:lnTo>
                  <a:pt x="18841" y="13723"/>
                </a:lnTo>
                <a:lnTo>
                  <a:pt x="20212" y="8635"/>
                </a:lnTo>
                <a:lnTo>
                  <a:pt x="18992" y="1483"/>
                </a:lnTo>
                <a:lnTo>
                  <a:pt x="16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16863" y="880866"/>
            <a:ext cx="803348" cy="285038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94536" y="977392"/>
            <a:ext cx="552428" cy="206807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458277" y="925320"/>
            <a:ext cx="2067495" cy="271547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345772" y="927315"/>
            <a:ext cx="1436567" cy="564821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537185" y="934118"/>
            <a:ext cx="1734474" cy="590152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422411" y="1606375"/>
            <a:ext cx="1481782" cy="283248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80280" y="1675117"/>
            <a:ext cx="478248" cy="182283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629412" y="1717367"/>
            <a:ext cx="188365" cy="152875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889054" y="1687372"/>
            <a:ext cx="905700" cy="217883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896189" y="1688627"/>
            <a:ext cx="628101" cy="184313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009758" y="1664634"/>
            <a:ext cx="840493" cy="518675"/>
          </a:xfrm>
          <a:prstGeom prst="rect">
            <a:avLst/>
          </a:prstGeom>
        </p:spPr>
      </p:pic>
      <p:grpSp>
        <p:nvGrpSpPr>
          <p:cNvPr id="26" name="object 26" descr=""/>
          <p:cNvGrpSpPr/>
          <p:nvPr/>
        </p:nvGrpSpPr>
        <p:grpSpPr>
          <a:xfrm>
            <a:off x="5958017" y="1624754"/>
            <a:ext cx="1752600" cy="858519"/>
            <a:chOff x="5958017" y="1624754"/>
            <a:chExt cx="1752600" cy="858519"/>
          </a:xfrm>
        </p:grpSpPr>
        <p:pic>
          <p:nvPicPr>
            <p:cNvPr id="27" name="object 2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958017" y="1998248"/>
              <a:ext cx="539475" cy="165941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383905" y="1624754"/>
              <a:ext cx="1326402" cy="857993"/>
            </a:xfrm>
            <a:prstGeom prst="rect">
              <a:avLst/>
            </a:prstGeom>
          </p:spPr>
        </p:pic>
      </p:grpSp>
      <p:sp>
        <p:nvSpPr>
          <p:cNvPr id="29" name="object 29" descr=""/>
          <p:cNvSpPr/>
          <p:nvPr/>
        </p:nvSpPr>
        <p:spPr>
          <a:xfrm>
            <a:off x="7875458" y="2190251"/>
            <a:ext cx="33655" cy="17780"/>
          </a:xfrm>
          <a:custGeom>
            <a:avLst/>
            <a:gdLst/>
            <a:ahLst/>
            <a:cxnLst/>
            <a:rect l="l" t="t" r="r" b="b"/>
            <a:pathLst>
              <a:path w="33654" h="17780">
                <a:moveTo>
                  <a:pt x="11301" y="2378"/>
                </a:moveTo>
                <a:lnTo>
                  <a:pt x="7385" y="3099"/>
                </a:lnTo>
                <a:lnTo>
                  <a:pt x="3554" y="8662"/>
                </a:lnTo>
                <a:lnTo>
                  <a:pt x="3487" y="9055"/>
                </a:lnTo>
                <a:lnTo>
                  <a:pt x="4111" y="12441"/>
                </a:lnTo>
                <a:lnTo>
                  <a:pt x="4167" y="12739"/>
                </a:lnTo>
                <a:lnTo>
                  <a:pt x="9931" y="16710"/>
                </a:lnTo>
                <a:lnTo>
                  <a:pt x="13626" y="17244"/>
                </a:lnTo>
                <a:lnTo>
                  <a:pt x="21409" y="17616"/>
                </a:lnTo>
                <a:lnTo>
                  <a:pt x="25650" y="17244"/>
                </a:lnTo>
                <a:lnTo>
                  <a:pt x="30059" y="16710"/>
                </a:lnTo>
                <a:lnTo>
                  <a:pt x="9730" y="16710"/>
                </a:lnTo>
                <a:lnTo>
                  <a:pt x="13805" y="15958"/>
                </a:lnTo>
                <a:lnTo>
                  <a:pt x="15282" y="13813"/>
                </a:lnTo>
                <a:lnTo>
                  <a:pt x="8413" y="13813"/>
                </a:lnTo>
                <a:lnTo>
                  <a:pt x="10546" y="12441"/>
                </a:lnTo>
                <a:lnTo>
                  <a:pt x="9791" y="12441"/>
                </a:lnTo>
                <a:lnTo>
                  <a:pt x="16746" y="11687"/>
                </a:lnTo>
                <a:lnTo>
                  <a:pt x="17658" y="10362"/>
                </a:lnTo>
                <a:lnTo>
                  <a:pt x="17687" y="9916"/>
                </a:lnTo>
                <a:lnTo>
                  <a:pt x="17056" y="6492"/>
                </a:lnTo>
                <a:lnTo>
                  <a:pt x="17024" y="6319"/>
                </a:lnTo>
                <a:lnTo>
                  <a:pt x="11301" y="2378"/>
                </a:lnTo>
                <a:close/>
              </a:path>
              <a:path w="33654" h="17780">
                <a:moveTo>
                  <a:pt x="15617" y="5350"/>
                </a:moveTo>
                <a:lnTo>
                  <a:pt x="17024" y="6319"/>
                </a:lnTo>
                <a:lnTo>
                  <a:pt x="17687" y="9916"/>
                </a:lnTo>
                <a:lnTo>
                  <a:pt x="17658" y="10362"/>
                </a:lnTo>
                <a:lnTo>
                  <a:pt x="13805" y="15958"/>
                </a:lnTo>
                <a:lnTo>
                  <a:pt x="9730" y="16710"/>
                </a:lnTo>
                <a:lnTo>
                  <a:pt x="30059" y="16710"/>
                </a:lnTo>
                <a:lnTo>
                  <a:pt x="32069" y="16464"/>
                </a:lnTo>
                <a:lnTo>
                  <a:pt x="33442" y="14709"/>
                </a:lnTo>
                <a:lnTo>
                  <a:pt x="33383" y="13813"/>
                </a:lnTo>
                <a:lnTo>
                  <a:pt x="33252" y="12739"/>
                </a:lnTo>
                <a:lnTo>
                  <a:pt x="33216" y="12441"/>
                </a:lnTo>
                <a:lnTo>
                  <a:pt x="33124" y="11687"/>
                </a:lnTo>
                <a:lnTo>
                  <a:pt x="17384" y="11687"/>
                </a:lnTo>
                <a:lnTo>
                  <a:pt x="19511" y="9055"/>
                </a:lnTo>
                <a:lnTo>
                  <a:pt x="19429" y="8282"/>
                </a:lnTo>
                <a:lnTo>
                  <a:pt x="19317" y="7233"/>
                </a:lnTo>
                <a:lnTo>
                  <a:pt x="19239" y="6492"/>
                </a:lnTo>
                <a:lnTo>
                  <a:pt x="17774" y="6001"/>
                </a:lnTo>
                <a:lnTo>
                  <a:pt x="15617" y="5350"/>
                </a:lnTo>
                <a:close/>
              </a:path>
              <a:path w="33654" h="17780">
                <a:moveTo>
                  <a:pt x="16746" y="11687"/>
                </a:moveTo>
                <a:lnTo>
                  <a:pt x="9791" y="12441"/>
                </a:lnTo>
                <a:lnTo>
                  <a:pt x="10546" y="12441"/>
                </a:lnTo>
                <a:lnTo>
                  <a:pt x="8413" y="13813"/>
                </a:lnTo>
                <a:lnTo>
                  <a:pt x="15282" y="13813"/>
                </a:lnTo>
                <a:lnTo>
                  <a:pt x="16746" y="11687"/>
                </a:lnTo>
                <a:close/>
              </a:path>
              <a:path w="33654" h="17780">
                <a:moveTo>
                  <a:pt x="7847" y="0"/>
                </a:moveTo>
                <a:lnTo>
                  <a:pt x="3548" y="793"/>
                </a:lnTo>
                <a:lnTo>
                  <a:pt x="4451" y="793"/>
                </a:lnTo>
                <a:lnTo>
                  <a:pt x="3519" y="1320"/>
                </a:lnTo>
                <a:lnTo>
                  <a:pt x="1036" y="4928"/>
                </a:lnTo>
                <a:lnTo>
                  <a:pt x="1087" y="9055"/>
                </a:lnTo>
                <a:lnTo>
                  <a:pt x="1338" y="9916"/>
                </a:lnTo>
                <a:lnTo>
                  <a:pt x="1432" y="10235"/>
                </a:lnTo>
                <a:lnTo>
                  <a:pt x="2341" y="11482"/>
                </a:lnTo>
                <a:lnTo>
                  <a:pt x="4167" y="12739"/>
                </a:lnTo>
                <a:lnTo>
                  <a:pt x="3487" y="9055"/>
                </a:lnTo>
                <a:lnTo>
                  <a:pt x="3554" y="8662"/>
                </a:lnTo>
                <a:lnTo>
                  <a:pt x="7385" y="3099"/>
                </a:lnTo>
                <a:lnTo>
                  <a:pt x="11301" y="2378"/>
                </a:lnTo>
                <a:lnTo>
                  <a:pt x="7847" y="0"/>
                </a:lnTo>
                <a:close/>
              </a:path>
              <a:path w="33654" h="17780">
                <a:moveTo>
                  <a:pt x="19239" y="6492"/>
                </a:moveTo>
                <a:lnTo>
                  <a:pt x="19317" y="7233"/>
                </a:lnTo>
                <a:lnTo>
                  <a:pt x="19429" y="8282"/>
                </a:lnTo>
                <a:lnTo>
                  <a:pt x="19511" y="9055"/>
                </a:lnTo>
                <a:lnTo>
                  <a:pt x="17384" y="11687"/>
                </a:lnTo>
                <a:lnTo>
                  <a:pt x="33124" y="11687"/>
                </a:lnTo>
                <a:lnTo>
                  <a:pt x="33058" y="11151"/>
                </a:lnTo>
                <a:lnTo>
                  <a:pt x="31954" y="9916"/>
                </a:lnTo>
                <a:lnTo>
                  <a:pt x="26660" y="8662"/>
                </a:lnTo>
                <a:lnTo>
                  <a:pt x="22845" y="7699"/>
                </a:lnTo>
                <a:lnTo>
                  <a:pt x="19239" y="6492"/>
                </a:lnTo>
                <a:close/>
              </a:path>
              <a:path w="33654" h="17780">
                <a:moveTo>
                  <a:pt x="978" y="5186"/>
                </a:moveTo>
                <a:lnTo>
                  <a:pt x="745" y="5350"/>
                </a:lnTo>
                <a:lnTo>
                  <a:pt x="78" y="6319"/>
                </a:lnTo>
                <a:lnTo>
                  <a:pt x="0" y="6492"/>
                </a:lnTo>
                <a:lnTo>
                  <a:pt x="631" y="9916"/>
                </a:lnTo>
                <a:lnTo>
                  <a:pt x="713" y="10362"/>
                </a:lnTo>
                <a:lnTo>
                  <a:pt x="2340" y="11482"/>
                </a:lnTo>
                <a:lnTo>
                  <a:pt x="1525" y="10362"/>
                </a:lnTo>
                <a:lnTo>
                  <a:pt x="1432" y="10235"/>
                </a:lnTo>
                <a:lnTo>
                  <a:pt x="1087" y="9055"/>
                </a:lnTo>
                <a:lnTo>
                  <a:pt x="972" y="8662"/>
                </a:lnTo>
                <a:lnTo>
                  <a:pt x="861" y="8282"/>
                </a:lnTo>
                <a:lnTo>
                  <a:pt x="796" y="6001"/>
                </a:lnTo>
                <a:lnTo>
                  <a:pt x="941" y="5350"/>
                </a:lnTo>
                <a:lnTo>
                  <a:pt x="978" y="5186"/>
                </a:lnTo>
                <a:close/>
              </a:path>
              <a:path w="33654" h="17780">
                <a:moveTo>
                  <a:pt x="9536" y="793"/>
                </a:moveTo>
                <a:lnTo>
                  <a:pt x="9000" y="793"/>
                </a:lnTo>
                <a:lnTo>
                  <a:pt x="15617" y="5350"/>
                </a:lnTo>
                <a:lnTo>
                  <a:pt x="17774" y="6001"/>
                </a:lnTo>
                <a:lnTo>
                  <a:pt x="19239" y="6492"/>
                </a:lnTo>
                <a:lnTo>
                  <a:pt x="19117" y="5350"/>
                </a:lnTo>
                <a:lnTo>
                  <a:pt x="19046" y="4681"/>
                </a:lnTo>
                <a:lnTo>
                  <a:pt x="18963" y="3903"/>
                </a:lnTo>
                <a:lnTo>
                  <a:pt x="17226" y="2041"/>
                </a:lnTo>
                <a:lnTo>
                  <a:pt x="11349" y="1011"/>
                </a:lnTo>
                <a:lnTo>
                  <a:pt x="9536" y="793"/>
                </a:lnTo>
                <a:close/>
              </a:path>
              <a:path w="33654" h="17780">
                <a:moveTo>
                  <a:pt x="3519" y="1320"/>
                </a:moveTo>
                <a:lnTo>
                  <a:pt x="2321" y="2041"/>
                </a:lnTo>
                <a:lnTo>
                  <a:pt x="1206" y="4681"/>
                </a:lnTo>
                <a:lnTo>
                  <a:pt x="3519" y="1320"/>
                </a:lnTo>
                <a:close/>
              </a:path>
              <a:path w="33654" h="17780">
                <a:moveTo>
                  <a:pt x="4451" y="793"/>
                </a:moveTo>
                <a:lnTo>
                  <a:pt x="3882" y="793"/>
                </a:lnTo>
                <a:lnTo>
                  <a:pt x="3519" y="1320"/>
                </a:lnTo>
                <a:lnTo>
                  <a:pt x="4451" y="7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7967507" y="2205864"/>
            <a:ext cx="40640" cy="15240"/>
          </a:xfrm>
          <a:custGeom>
            <a:avLst/>
            <a:gdLst/>
            <a:ahLst/>
            <a:cxnLst/>
            <a:rect l="l" t="t" r="r" b="b"/>
            <a:pathLst>
              <a:path w="40640" h="15239">
                <a:moveTo>
                  <a:pt x="37137" y="0"/>
                </a:moveTo>
                <a:lnTo>
                  <a:pt x="34534" y="480"/>
                </a:lnTo>
                <a:lnTo>
                  <a:pt x="939" y="9551"/>
                </a:lnTo>
                <a:lnTo>
                  <a:pt x="0" y="11187"/>
                </a:lnTo>
                <a:lnTo>
                  <a:pt x="831" y="14271"/>
                </a:lnTo>
                <a:lnTo>
                  <a:pt x="2315" y="15209"/>
                </a:lnTo>
                <a:lnTo>
                  <a:pt x="38701" y="8570"/>
                </a:lnTo>
                <a:lnTo>
                  <a:pt x="40270" y="6301"/>
                </a:lnTo>
                <a:lnTo>
                  <a:pt x="39406" y="1568"/>
                </a:lnTo>
                <a:lnTo>
                  <a:pt x="371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8061015" y="2202857"/>
            <a:ext cx="27940" cy="16510"/>
          </a:xfrm>
          <a:custGeom>
            <a:avLst/>
            <a:gdLst/>
            <a:ahLst/>
            <a:cxnLst/>
            <a:rect l="l" t="t" r="r" b="b"/>
            <a:pathLst>
              <a:path w="27940" h="16510">
                <a:moveTo>
                  <a:pt x="7054" y="0"/>
                </a:moveTo>
                <a:lnTo>
                  <a:pt x="2920" y="957"/>
                </a:lnTo>
                <a:lnTo>
                  <a:pt x="1600" y="2276"/>
                </a:lnTo>
                <a:lnTo>
                  <a:pt x="0" y="9179"/>
                </a:lnTo>
                <a:lnTo>
                  <a:pt x="3724" y="13441"/>
                </a:lnTo>
                <a:lnTo>
                  <a:pt x="13473" y="16340"/>
                </a:lnTo>
                <a:lnTo>
                  <a:pt x="18983" y="15619"/>
                </a:lnTo>
                <a:lnTo>
                  <a:pt x="26341" y="14235"/>
                </a:lnTo>
                <a:lnTo>
                  <a:pt x="27901" y="11955"/>
                </a:lnTo>
                <a:lnTo>
                  <a:pt x="27071" y="7543"/>
                </a:lnTo>
                <a:lnTo>
                  <a:pt x="25300" y="6054"/>
                </a:lnTo>
                <a:lnTo>
                  <a:pt x="16901" y="6054"/>
                </a:lnTo>
                <a:lnTo>
                  <a:pt x="11985" y="4900"/>
                </a:lnTo>
                <a:lnTo>
                  <a:pt x="11225" y="4692"/>
                </a:lnTo>
                <a:lnTo>
                  <a:pt x="10537" y="4345"/>
                </a:lnTo>
                <a:lnTo>
                  <a:pt x="10149" y="4345"/>
                </a:lnTo>
                <a:lnTo>
                  <a:pt x="9494" y="1521"/>
                </a:lnTo>
                <a:lnTo>
                  <a:pt x="7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2" name="object 32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976909" y="2249973"/>
            <a:ext cx="810685" cy="262424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874280" y="2273351"/>
            <a:ext cx="399533" cy="240582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24733" y="2696402"/>
            <a:ext cx="161858" cy="154940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46728" y="2621140"/>
            <a:ext cx="898011" cy="266739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580468" y="2669219"/>
            <a:ext cx="127158" cy="213326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791646" y="2604423"/>
            <a:ext cx="2310555" cy="299298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204908" y="2638704"/>
            <a:ext cx="573132" cy="219948"/>
          </a:xfrm>
          <a:prstGeom prst="rect">
            <a:avLst/>
          </a:prstGeom>
        </p:spPr>
      </p:pic>
      <p:sp>
        <p:nvSpPr>
          <p:cNvPr id="39" name="object 39" descr=""/>
          <p:cNvSpPr/>
          <p:nvPr/>
        </p:nvSpPr>
        <p:spPr>
          <a:xfrm>
            <a:off x="4855516" y="2862926"/>
            <a:ext cx="27305" cy="21590"/>
          </a:xfrm>
          <a:custGeom>
            <a:avLst/>
            <a:gdLst/>
            <a:ahLst/>
            <a:cxnLst/>
            <a:rect l="l" t="t" r="r" b="b"/>
            <a:pathLst>
              <a:path w="27304" h="21589">
                <a:moveTo>
                  <a:pt x="23838" y="0"/>
                </a:moveTo>
                <a:lnTo>
                  <a:pt x="1069" y="11612"/>
                </a:lnTo>
                <a:lnTo>
                  <a:pt x="0" y="14909"/>
                </a:lnTo>
                <a:lnTo>
                  <a:pt x="2746" y="20295"/>
                </a:lnTo>
                <a:lnTo>
                  <a:pt x="6044" y="21365"/>
                </a:lnTo>
                <a:lnTo>
                  <a:pt x="9119" y="19796"/>
                </a:lnTo>
                <a:lnTo>
                  <a:pt x="9476" y="19557"/>
                </a:lnTo>
                <a:lnTo>
                  <a:pt x="27149" y="4480"/>
                </a:lnTo>
                <a:lnTo>
                  <a:pt x="27299" y="2599"/>
                </a:lnTo>
                <a:lnTo>
                  <a:pt x="25336" y="298"/>
                </a:lnTo>
                <a:lnTo>
                  <a:pt x="238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0" name="object 40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556990" y="2981563"/>
            <a:ext cx="966338" cy="250465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609966" y="2996531"/>
            <a:ext cx="551055" cy="234076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3331377" y="3005256"/>
            <a:ext cx="549815" cy="203199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3983322" y="3000497"/>
            <a:ext cx="550288" cy="216970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4607234" y="2946063"/>
            <a:ext cx="3471814" cy="360909"/>
          </a:xfrm>
          <a:prstGeom prst="rect">
            <a:avLst/>
          </a:prstGeom>
        </p:spPr>
      </p:pic>
      <p:sp>
        <p:nvSpPr>
          <p:cNvPr id="45" name="object 45" descr=""/>
          <p:cNvSpPr txBox="1"/>
          <p:nvPr/>
        </p:nvSpPr>
        <p:spPr>
          <a:xfrm>
            <a:off x="333971" y="3855033"/>
            <a:ext cx="3816985" cy="185038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35" b="1">
                <a:latin typeface="Microsoft JhengHei UI"/>
                <a:cs typeface="Microsoft JhengHei UI"/>
              </a:rPr>
              <a:t>防患于未然 </a:t>
            </a:r>
            <a:r>
              <a:rPr dirty="0" sz="900" spc="-10" b="1">
                <a:latin typeface="Microsoft JhengHei UI"/>
                <a:cs typeface="Microsoft JhengHei UI"/>
              </a:rPr>
              <a:t>(Prevention)：</a:t>
            </a:r>
            <a:endParaRPr sz="900">
              <a:latin typeface="Microsoft JhengHei UI"/>
              <a:cs typeface="Microsoft JhengHei UI"/>
            </a:endParaRPr>
          </a:p>
          <a:p>
            <a:pPr marL="231775" marR="5080" indent="-219710">
              <a:lnSpc>
                <a:spcPct val="120900"/>
              </a:lnSpc>
              <a:spcBef>
                <a:spcPts val="560"/>
              </a:spcBef>
            </a:pPr>
            <a:r>
              <a:rPr dirty="0" sz="900" spc="25">
                <a:latin typeface="Microsoft JhengHei UI Light"/>
                <a:cs typeface="Microsoft JhengHei UI Light"/>
              </a:rPr>
              <a:t>如果能预测到坏事（⽐如机器故障、⾦融危机）要发⽣，我们就能识别出先兆，提前采取纠正措施来避免它发⽣。</a:t>
            </a:r>
            <a:endParaRPr sz="900">
              <a:latin typeface="Microsoft JhengHei UI Light"/>
              <a:cs typeface="Microsoft JhengHei UI Light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900" spc="45" b="1">
                <a:latin typeface="Microsoft JhengHei UI"/>
                <a:cs typeface="Microsoft JhengHei UI"/>
              </a:rPr>
              <a:t>减损 </a:t>
            </a:r>
            <a:r>
              <a:rPr dirty="0" sz="900" spc="-10" b="1">
                <a:latin typeface="Microsoft JhengHei UI"/>
                <a:cs typeface="Microsoft JhengHei UI"/>
              </a:rPr>
              <a:t>(Mitigation)：</a:t>
            </a:r>
            <a:endParaRPr sz="900">
              <a:latin typeface="Microsoft JhengHei UI"/>
              <a:cs typeface="Microsoft JhengHei UI"/>
            </a:endParaRPr>
          </a:p>
          <a:p>
            <a:pPr marL="231775" marR="5080" indent="-219710">
              <a:lnSpc>
                <a:spcPct val="120900"/>
              </a:lnSpc>
              <a:spcBef>
                <a:spcPts val="560"/>
              </a:spcBef>
            </a:pPr>
            <a:r>
              <a:rPr dirty="0" sz="900" spc="25">
                <a:latin typeface="Microsoft JhengHei UI Light"/>
                <a:cs typeface="Microsoft JhengHei UI Light"/>
              </a:rPr>
              <a:t>对于那些不可避免的坏事（⽐如台⻛、特定经济周期），预测能让我们提前做好准备，从⽽减轻它们带来的冲击和损失。</a:t>
            </a:r>
            <a:endParaRPr sz="900">
              <a:latin typeface="Microsoft JhengHei UI Light"/>
              <a:cs typeface="Microsoft JhengHei UI Light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900" spc="45" b="1">
                <a:latin typeface="Microsoft JhengHei UI"/>
                <a:cs typeface="Microsoft JhengHei UI"/>
              </a:rPr>
              <a:t>获利 </a:t>
            </a:r>
            <a:r>
              <a:rPr dirty="0" sz="900" spc="-10" b="1">
                <a:latin typeface="Microsoft JhengHei UI"/>
                <a:cs typeface="Microsoft JhengHei UI"/>
              </a:rPr>
              <a:t>(Proﬁting)：</a:t>
            </a:r>
            <a:endParaRPr sz="900">
              <a:latin typeface="Microsoft JhengHei UI"/>
              <a:cs typeface="Microsoft JhengHei UI"/>
            </a:endParaRPr>
          </a:p>
          <a:p>
            <a:pPr marL="231775" marR="5080" indent="-219710">
              <a:lnSpc>
                <a:spcPct val="120900"/>
              </a:lnSpc>
              <a:spcBef>
                <a:spcPts val="560"/>
              </a:spcBef>
            </a:pPr>
            <a:r>
              <a:rPr dirty="0" sz="900" spc="25">
                <a:latin typeface="Microsoft JhengHei UI Light"/>
                <a:cs typeface="Microsoft JhengHei UI Light"/>
              </a:rPr>
              <a:t>这是最直接的动⼒。在⾦融市场（股票、汇率）中，如果你能⽐别⼈更准地预测未来价格，你就能赚钱。</a:t>
            </a:r>
            <a:endParaRPr sz="900">
              <a:latin typeface="Microsoft JhengHei UI Light"/>
              <a:cs typeface="Microsoft JhengHei UI Light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4376811" y="3825104"/>
            <a:ext cx="4537075" cy="2490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20" b="1">
                <a:latin typeface="Microsoft JhengHei UI"/>
                <a:cs typeface="Microsoft JhengHei UI"/>
              </a:rPr>
              <a:t>数据有限 </a:t>
            </a:r>
            <a:r>
              <a:rPr dirty="0" sz="900" b="1">
                <a:latin typeface="Microsoft JhengHei UI"/>
                <a:cs typeface="Microsoft JhengHei UI"/>
              </a:rPr>
              <a:t>(Limited</a:t>
            </a:r>
            <a:r>
              <a:rPr dirty="0" sz="900" spc="100" b="1">
                <a:latin typeface="Microsoft JhengHei UI"/>
                <a:cs typeface="Microsoft JhengHei UI"/>
              </a:rPr>
              <a:t> </a:t>
            </a:r>
            <a:r>
              <a:rPr dirty="0" sz="900" b="1">
                <a:latin typeface="Microsoft JhengHei UI"/>
                <a:cs typeface="Microsoft JhengHei UI"/>
              </a:rPr>
              <a:t>quantity</a:t>
            </a:r>
            <a:r>
              <a:rPr dirty="0" sz="900" spc="105" b="1">
                <a:latin typeface="Microsoft JhengHei UI"/>
                <a:cs typeface="Microsoft JhengHei UI"/>
              </a:rPr>
              <a:t> </a:t>
            </a:r>
            <a:r>
              <a:rPr dirty="0" sz="900" b="1">
                <a:latin typeface="Microsoft JhengHei UI"/>
                <a:cs typeface="Microsoft JhengHei UI"/>
              </a:rPr>
              <a:t>of</a:t>
            </a:r>
            <a:r>
              <a:rPr dirty="0" sz="900" spc="105" b="1">
                <a:latin typeface="Microsoft JhengHei UI"/>
                <a:cs typeface="Microsoft JhengHei UI"/>
              </a:rPr>
              <a:t> </a:t>
            </a:r>
            <a:r>
              <a:rPr dirty="0" sz="900" spc="-10" b="1">
                <a:latin typeface="Microsoft JhengHei UI"/>
                <a:cs typeface="Microsoft JhengHei UI"/>
              </a:rPr>
              <a:t>data)：</a:t>
            </a:r>
            <a:endParaRPr sz="900">
              <a:latin typeface="Microsoft JhengHei UI"/>
              <a:cs typeface="Microsoft JhengHei UI"/>
            </a:endParaRPr>
          </a:p>
          <a:p>
            <a:pPr marL="231775" marR="251460" indent="-219710">
              <a:lnSpc>
                <a:spcPct val="120900"/>
              </a:lnSpc>
              <a:spcBef>
                <a:spcPts val="560"/>
              </a:spcBef>
            </a:pPr>
            <a:r>
              <a:rPr dirty="0" sz="900" spc="25">
                <a:latin typeface="Microsoft JhengHei UI Light"/>
                <a:cs typeface="Microsoft JhengHei UI Light"/>
              </a:rPr>
              <a:t>有时候历史数据太短了，不够⽤来训练复杂的模型（⽆法很好地划分训练集和测试集）。</a:t>
            </a:r>
            <a:endParaRPr sz="900">
              <a:latin typeface="Microsoft JhengHei UI Light"/>
              <a:cs typeface="Microsoft JhengHei UI Light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900" spc="45" b="1">
                <a:latin typeface="Microsoft JhengHei UI"/>
                <a:cs typeface="Microsoft JhengHei UI"/>
              </a:rPr>
              <a:t>噪声 </a:t>
            </a:r>
            <a:r>
              <a:rPr dirty="0" sz="900" spc="-10" b="1">
                <a:latin typeface="Microsoft JhengHei UI"/>
                <a:cs typeface="Microsoft JhengHei UI"/>
              </a:rPr>
              <a:t>(Noise)：</a:t>
            </a:r>
            <a:endParaRPr sz="900">
              <a:latin typeface="Microsoft JhengHei UI"/>
              <a:cs typeface="Microsoft JhengHei UI"/>
            </a:endParaRPr>
          </a:p>
          <a:p>
            <a:pPr marL="231775" marR="5080" indent="-219710">
              <a:lnSpc>
                <a:spcPct val="120900"/>
              </a:lnSpc>
              <a:spcBef>
                <a:spcPts val="560"/>
              </a:spcBef>
            </a:pPr>
            <a:r>
              <a:rPr dirty="0" sz="900" spc="-5">
                <a:latin typeface="Microsoft JhengHei UI Light"/>
                <a:cs typeface="Microsoft JhengHei UI Light"/>
              </a:rPr>
              <a:t>数据⾥往往混杂着错误的、随机的波动。模型很容易被这些噪声“带偏”，学到错误的规</a:t>
            </a:r>
            <a:r>
              <a:rPr dirty="0" sz="900" spc="-25">
                <a:latin typeface="Microsoft JhengHei UI Light"/>
                <a:cs typeface="Microsoft JhengHei UI Light"/>
              </a:rPr>
              <a:t>律。</a:t>
            </a:r>
            <a:endParaRPr sz="900">
              <a:latin typeface="Microsoft JhengHei UI Light"/>
              <a:cs typeface="Microsoft JhengHei UI Light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900" spc="45" b="1">
                <a:latin typeface="Microsoft JhengHei UI"/>
                <a:cs typeface="Microsoft JhengHei UI"/>
              </a:rPr>
              <a:t>⾮平稳性 </a:t>
            </a:r>
            <a:r>
              <a:rPr dirty="0" sz="900" b="1">
                <a:latin typeface="Microsoft JhengHei UI"/>
                <a:cs typeface="Microsoft JhengHei UI"/>
              </a:rPr>
              <a:t>(Non-</a:t>
            </a:r>
            <a:r>
              <a:rPr dirty="0" sz="900" spc="-10" b="1">
                <a:latin typeface="Microsoft JhengHei UI"/>
                <a:cs typeface="Microsoft JhengHei UI"/>
              </a:rPr>
              <a:t>stationarity)：</a:t>
            </a:r>
            <a:endParaRPr sz="900">
              <a:latin typeface="Microsoft JhengHei UI"/>
              <a:cs typeface="Microsoft JhengHei UI"/>
            </a:endParaRPr>
          </a:p>
          <a:p>
            <a:pPr marL="231775" marR="83820" indent="-219710">
              <a:lnSpc>
                <a:spcPct val="120900"/>
              </a:lnSpc>
              <a:spcBef>
                <a:spcPts val="560"/>
              </a:spcBef>
            </a:pPr>
            <a:r>
              <a:rPr dirty="0" sz="900">
                <a:latin typeface="Microsoft JhengHei UI Light"/>
                <a:cs typeface="Microsoft JhengHei UI Light"/>
              </a:rPr>
              <a:t>这是最⼤的敌⼈。 正如我们之前所说，如果“基本⾯”（规则）随着时间改变了（</a:t>
            </a:r>
            <a:r>
              <a:rPr dirty="0" sz="900" spc="-25">
                <a:latin typeface="Microsoft JhengHei UI Light"/>
                <a:cs typeface="Microsoft JhengHei UI Light"/>
              </a:rPr>
              <a:t>⽐如</a:t>
            </a:r>
            <a:r>
              <a:rPr dirty="0" sz="900">
                <a:latin typeface="Microsoft JhengHei UI Light"/>
                <a:cs typeface="Microsoft JhengHei UI Light"/>
              </a:rPr>
              <a:t>市场结构变了），</a:t>
            </a:r>
            <a:r>
              <a:rPr dirty="0" sz="900" spc="-5">
                <a:latin typeface="Microsoft JhengHei UI Light"/>
                <a:cs typeface="Microsoft JhengHei UI Light"/>
              </a:rPr>
              <a:t>那么基于历史数据训练的模型就会失效。</a:t>
            </a:r>
            <a:endParaRPr sz="900">
              <a:latin typeface="Microsoft JhengHei UI Light"/>
              <a:cs typeface="Microsoft JhengHei UI Light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900" spc="-10" b="1">
                <a:latin typeface="Microsoft JhengHei UI"/>
                <a:cs typeface="Microsoft JhengHei UI"/>
              </a:rPr>
              <a:t>⽅法选择困难：</a:t>
            </a:r>
            <a:endParaRPr sz="900">
              <a:latin typeface="Microsoft JhengHei UI"/>
              <a:cs typeface="Microsoft JhengHei UI"/>
            </a:endParaRPr>
          </a:p>
          <a:p>
            <a:pPr marL="231775" marR="79375" indent="-219710">
              <a:lnSpc>
                <a:spcPct val="120900"/>
              </a:lnSpc>
              <a:spcBef>
                <a:spcPts val="560"/>
              </a:spcBef>
            </a:pPr>
            <a:r>
              <a:rPr dirty="0" sz="900">
                <a:latin typeface="Microsoft JhengHei UI Light"/>
                <a:cs typeface="Microsoft JhengHei UI Light"/>
              </a:rPr>
              <a:t>到底是⽤传统的统计学⽅法（</a:t>
            </a:r>
            <a:r>
              <a:rPr dirty="0" sz="900" spc="250">
                <a:latin typeface="Microsoft JhengHei UI Light"/>
                <a:cs typeface="Microsoft JhengHei UI Light"/>
              </a:rPr>
              <a:t>如 </a:t>
            </a:r>
            <a:r>
              <a:rPr dirty="0" sz="900">
                <a:latin typeface="Microsoft JhengHei UI Light"/>
                <a:cs typeface="Microsoft JhengHei UI Light"/>
              </a:rPr>
              <a:t>ARIMA），还是⽤⼈⼯智能（神经⽹络）？</a:t>
            </a:r>
            <a:r>
              <a:rPr dirty="0" sz="900" spc="-15">
                <a:latin typeface="Microsoft JhengHei UI Light"/>
                <a:cs typeface="Microsoft JhengHei UI Light"/>
              </a:rPr>
              <a:t>这往往需要权衡。</a:t>
            </a:r>
            <a:endParaRPr sz="900">
              <a:latin typeface="Microsoft JhengHei UI Light"/>
              <a:cs typeface="Microsoft JhengHei UI Light"/>
            </a:endParaRPr>
          </a:p>
        </p:txBody>
      </p:sp>
      <p:pic>
        <p:nvPicPr>
          <p:cNvPr id="47" name="object 47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4483845" y="3567750"/>
            <a:ext cx="1305997" cy="249985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5853955" y="3596335"/>
            <a:ext cx="381554" cy="212620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81194" y="3553192"/>
            <a:ext cx="760052" cy="2419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0229" rIns="0" bIns="0" rtlCol="0" vert="horz">
            <a:spAutoFit/>
          </a:bodyPr>
          <a:lstStyle/>
          <a:p>
            <a:pPr marL="100076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latin typeface="Tahoma"/>
                <a:cs typeface="Tahoma"/>
              </a:rPr>
              <a:t>Time</a:t>
            </a:r>
            <a:r>
              <a:rPr dirty="0" sz="4000" spc="-114">
                <a:latin typeface="Tahoma"/>
                <a:cs typeface="Tahoma"/>
              </a:rPr>
              <a:t> </a:t>
            </a:r>
            <a:r>
              <a:rPr dirty="0" sz="4000">
                <a:latin typeface="Tahoma"/>
                <a:cs typeface="Tahoma"/>
              </a:rPr>
              <a:t>Series</a:t>
            </a:r>
            <a:r>
              <a:rPr dirty="0" sz="4000" spc="-110">
                <a:latin typeface="Tahoma"/>
                <a:cs typeface="Tahoma"/>
              </a:rPr>
              <a:t> </a:t>
            </a:r>
            <a:r>
              <a:rPr dirty="0" sz="4000" spc="-10">
                <a:latin typeface="Tahoma"/>
                <a:cs typeface="Tahoma"/>
              </a:rPr>
              <a:t>Prediction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9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8254" y="1981984"/>
            <a:ext cx="8268334" cy="432371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Time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series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examples</a:t>
            </a:r>
            <a:endParaRPr sz="2800">
              <a:latin typeface="Tahoma"/>
              <a:cs typeface="Tahoma"/>
            </a:endParaRPr>
          </a:p>
          <a:p>
            <a:pPr lvl="1" marL="834390" indent="-364490">
              <a:lnSpc>
                <a:spcPct val="100000"/>
              </a:lnSpc>
              <a:spcBef>
                <a:spcPts val="515"/>
              </a:spcBef>
              <a:buClr>
                <a:srgbClr val="FF0000"/>
              </a:buClr>
              <a:buSzPct val="83333"/>
              <a:buChar char="–"/>
              <a:tabLst>
                <a:tab pos="834390" algn="l"/>
              </a:tabLst>
            </a:pPr>
            <a:r>
              <a:rPr dirty="0" sz="2400">
                <a:latin typeface="Tahoma"/>
                <a:cs typeface="Tahoma"/>
              </a:rPr>
              <a:t>Financial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(e.g.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stocks,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exchange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rates)</a:t>
            </a:r>
            <a:endParaRPr sz="2400">
              <a:latin typeface="Tahoma"/>
              <a:cs typeface="Tahoma"/>
            </a:endParaRPr>
          </a:p>
          <a:p>
            <a:pPr lvl="1" marL="850265" indent="-38036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Char char="–"/>
              <a:tabLst>
                <a:tab pos="850265" algn="l"/>
              </a:tabLst>
            </a:pPr>
            <a:r>
              <a:rPr dirty="0" sz="2400">
                <a:latin typeface="Tahoma"/>
                <a:cs typeface="Tahoma"/>
              </a:rPr>
              <a:t>Physically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observed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(e.g.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weather,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river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flow)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Why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it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important?</a:t>
            </a:r>
            <a:endParaRPr sz="2800">
              <a:latin typeface="Tahoma"/>
              <a:cs typeface="Tahoma"/>
            </a:endParaRPr>
          </a:p>
          <a:p>
            <a:pPr lvl="1" marL="755015" marR="5080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Char char="–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Preventing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undesirable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events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by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forecasting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event, </a:t>
            </a:r>
            <a:r>
              <a:rPr dirty="0" sz="2400">
                <a:latin typeface="Tahoma"/>
                <a:cs typeface="Tahoma"/>
              </a:rPr>
              <a:t>identifying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circumstances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preceding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event,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and </a:t>
            </a:r>
            <a:r>
              <a:rPr dirty="0" sz="2400">
                <a:latin typeface="Tahoma"/>
                <a:cs typeface="Tahoma"/>
              </a:rPr>
              <a:t>taking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corrective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action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event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avoided;</a:t>
            </a:r>
            <a:endParaRPr sz="2400">
              <a:latin typeface="Tahoma"/>
              <a:cs typeface="Tahoma"/>
            </a:endParaRPr>
          </a:p>
          <a:p>
            <a:pPr lvl="1" marL="755015" marR="579755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Char char="–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Forecasting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undesirable,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yet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unavoidable,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events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to </a:t>
            </a:r>
            <a:r>
              <a:rPr dirty="0" sz="2400">
                <a:latin typeface="Tahoma"/>
                <a:cs typeface="Tahoma"/>
              </a:rPr>
              <a:t>preemptively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lessen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their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impact;</a:t>
            </a:r>
            <a:endParaRPr sz="24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Char char="–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Profiting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from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forecasting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(e.g.,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financial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markets)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490" y="148272"/>
            <a:ext cx="573278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latin typeface="Tahoma"/>
                <a:cs typeface="Tahoma"/>
              </a:rPr>
              <a:t>Time</a:t>
            </a:r>
            <a:r>
              <a:rPr dirty="0" sz="4000" spc="-114">
                <a:latin typeface="Tahoma"/>
                <a:cs typeface="Tahoma"/>
              </a:rPr>
              <a:t> </a:t>
            </a:r>
            <a:r>
              <a:rPr dirty="0" sz="4000">
                <a:latin typeface="Tahoma"/>
                <a:cs typeface="Tahoma"/>
              </a:rPr>
              <a:t>Series</a:t>
            </a:r>
            <a:r>
              <a:rPr dirty="0" sz="4000" spc="-110">
                <a:latin typeface="Tahoma"/>
                <a:cs typeface="Tahoma"/>
              </a:rPr>
              <a:t> </a:t>
            </a:r>
            <a:r>
              <a:rPr dirty="0" sz="4000" spc="-10">
                <a:latin typeface="Tahoma"/>
                <a:cs typeface="Tahoma"/>
              </a:rPr>
              <a:t>Prediction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70865" y="1013117"/>
            <a:ext cx="7165340" cy="2403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Char char="■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Why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it</a:t>
            </a:r>
            <a:r>
              <a:rPr dirty="0" sz="2400" spc="-10">
                <a:latin typeface="Tahoma"/>
                <a:cs typeface="Tahoma"/>
              </a:rPr>
              <a:t> difficult?</a:t>
            </a:r>
            <a:endParaRPr sz="24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Limited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quantity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data</a:t>
            </a:r>
            <a:endParaRPr sz="2400">
              <a:latin typeface="Tahoma"/>
              <a:cs typeface="Tahoma"/>
            </a:endParaRPr>
          </a:p>
          <a:p>
            <a:pPr lvl="2" marL="1155065" indent="-227965">
              <a:lnSpc>
                <a:spcPct val="100000"/>
              </a:lnSpc>
              <a:buClr>
                <a:srgbClr val="3333CC"/>
              </a:buClr>
              <a:buSzPct val="50000"/>
              <a:buChar char="■"/>
              <a:tabLst>
                <a:tab pos="1155065" algn="l"/>
              </a:tabLst>
            </a:pPr>
            <a:r>
              <a:rPr dirty="0" sz="2000">
                <a:latin typeface="Tahoma"/>
                <a:cs typeface="Tahoma"/>
              </a:rPr>
              <a:t>observed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series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sometimes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too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short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partition</a:t>
            </a:r>
            <a:endParaRPr sz="20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 spc="-10">
                <a:latin typeface="Tahoma"/>
                <a:cs typeface="Tahoma"/>
              </a:rPr>
              <a:t>Noise</a:t>
            </a:r>
            <a:endParaRPr sz="2400">
              <a:latin typeface="Tahoma"/>
              <a:cs typeface="Tahoma"/>
            </a:endParaRPr>
          </a:p>
          <a:p>
            <a:pPr lvl="2" marL="1155065" indent="-227965">
              <a:lnSpc>
                <a:spcPct val="100000"/>
              </a:lnSpc>
              <a:buClr>
                <a:srgbClr val="3333CC"/>
              </a:buClr>
              <a:buSzPct val="50000"/>
              <a:buChar char="■"/>
              <a:tabLst>
                <a:tab pos="1155065" algn="l"/>
              </a:tabLst>
            </a:pPr>
            <a:r>
              <a:rPr dirty="0" sz="2000">
                <a:latin typeface="Tahoma"/>
                <a:cs typeface="Tahoma"/>
              </a:rPr>
              <a:t>erroneous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points</a:t>
            </a:r>
            <a:endParaRPr sz="20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 spc="-10">
                <a:latin typeface="Tahoma"/>
                <a:cs typeface="Tahoma"/>
              </a:rPr>
              <a:t>Non-stationarity</a:t>
            </a:r>
            <a:endParaRPr sz="2400">
              <a:latin typeface="Tahoma"/>
              <a:cs typeface="Tahoma"/>
            </a:endParaRPr>
          </a:p>
          <a:p>
            <a:pPr lvl="2" marL="1155065" indent="-227965">
              <a:lnSpc>
                <a:spcPct val="100000"/>
              </a:lnSpc>
              <a:buClr>
                <a:srgbClr val="3333CC"/>
              </a:buClr>
              <a:buSzPct val="50000"/>
              <a:buChar char="■"/>
              <a:tabLst>
                <a:tab pos="1155065" algn="l"/>
              </a:tabLst>
            </a:pPr>
            <a:r>
              <a:rPr dirty="0" sz="2000">
                <a:latin typeface="Tahoma"/>
                <a:cs typeface="Tahoma"/>
              </a:rPr>
              <a:t>fundamentals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change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over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time,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nonstationary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5465" y="4426877"/>
            <a:ext cx="8503285" cy="185420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381000" marR="172720" indent="-342900">
              <a:lnSpc>
                <a:spcPts val="2880"/>
              </a:lnSpc>
              <a:spcBef>
                <a:spcPts val="195"/>
              </a:spcBef>
              <a:buClr>
                <a:srgbClr val="3333CC"/>
              </a:buClr>
              <a:buSzPct val="60416"/>
              <a:buChar char="■"/>
              <a:tabLst>
                <a:tab pos="381000" algn="l"/>
              </a:tabLst>
            </a:pPr>
            <a:r>
              <a:rPr dirty="0" sz="2400">
                <a:latin typeface="Tahoma"/>
                <a:cs typeface="Tahoma"/>
              </a:rPr>
              <a:t>Neural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have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been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widely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used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time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series </a:t>
            </a:r>
            <a:r>
              <a:rPr dirty="0" sz="2400">
                <a:latin typeface="Tahoma"/>
                <a:cs typeface="Tahoma"/>
              </a:rPr>
              <a:t>forecasters: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most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often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these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feed-</a:t>
            </a:r>
            <a:r>
              <a:rPr dirty="0" sz="2400">
                <a:latin typeface="Tahoma"/>
                <a:cs typeface="Tahoma"/>
              </a:rPr>
              <a:t>forward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networks </a:t>
            </a:r>
            <a:r>
              <a:rPr dirty="0" sz="2400">
                <a:latin typeface="Tahoma"/>
                <a:cs typeface="Tahoma"/>
              </a:rPr>
              <a:t>which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employ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500" spc="-204" b="1" i="1">
                <a:solidFill>
                  <a:srgbClr val="FF0000"/>
                </a:solidFill>
                <a:latin typeface="Verdana"/>
                <a:cs typeface="Verdana"/>
              </a:rPr>
              <a:t>sliding</a:t>
            </a:r>
            <a:r>
              <a:rPr dirty="0" sz="2500" spc="-150" b="1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z="2500" spc="-254" b="1" i="1">
                <a:solidFill>
                  <a:srgbClr val="FF0000"/>
                </a:solidFill>
                <a:latin typeface="Verdana"/>
                <a:cs typeface="Verdana"/>
              </a:rPr>
              <a:t>window</a:t>
            </a:r>
            <a:r>
              <a:rPr dirty="0" sz="2500" spc="-150" b="1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z="2400">
                <a:latin typeface="Tahoma"/>
                <a:cs typeface="Tahoma"/>
              </a:rPr>
              <a:t>over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sequence.</a:t>
            </a:r>
            <a:endParaRPr sz="2400">
              <a:latin typeface="Tahoma"/>
              <a:cs typeface="Tahoma"/>
            </a:endParaRPr>
          </a:p>
          <a:p>
            <a:pPr marL="381000" marR="30480" indent="-342900">
              <a:lnSpc>
                <a:spcPts val="2880"/>
              </a:lnSpc>
              <a:buClr>
                <a:srgbClr val="3333CC"/>
              </a:buClr>
              <a:buSzPct val="60416"/>
              <a:buChar char="■"/>
              <a:tabLst>
                <a:tab pos="381000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neural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sees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time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series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X</a:t>
            </a:r>
            <a:r>
              <a:rPr dirty="0" baseline="-17921" sz="2325">
                <a:latin typeface="Tahoma"/>
                <a:cs typeface="Tahoma"/>
              </a:rPr>
              <a:t>1</a:t>
            </a:r>
            <a:r>
              <a:rPr dirty="0" sz="2400">
                <a:latin typeface="Tahoma"/>
                <a:cs typeface="Tahoma"/>
              </a:rPr>
              <a:t>,…,X</a:t>
            </a:r>
            <a:r>
              <a:rPr dirty="0" baseline="-17921" sz="2325">
                <a:latin typeface="Tahoma"/>
                <a:cs typeface="Tahoma"/>
              </a:rPr>
              <a:t>n</a:t>
            </a:r>
            <a:r>
              <a:rPr dirty="0" baseline="-17921" sz="2325" spc="3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form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many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mappings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value.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9846" y="3390557"/>
            <a:ext cx="4279900" cy="10204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28575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54166"/>
              <a:buChar char="■"/>
              <a:tabLst>
                <a:tab pos="336550" algn="l"/>
              </a:tabLst>
            </a:pPr>
            <a:r>
              <a:rPr dirty="0" sz="2400">
                <a:latin typeface="Tahoma"/>
                <a:cs typeface="Tahoma"/>
              </a:rPr>
              <a:t>Forecasting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method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selection</a:t>
            </a:r>
            <a:endParaRPr sz="2400">
              <a:latin typeface="Tahoma"/>
              <a:cs typeface="Tahoma"/>
            </a:endParaRPr>
          </a:p>
          <a:p>
            <a:pPr lvl="1" marL="736600" indent="-228600">
              <a:lnSpc>
                <a:spcPct val="100000"/>
              </a:lnSpc>
              <a:buClr>
                <a:srgbClr val="3333CC"/>
              </a:buClr>
              <a:buSzPct val="50000"/>
              <a:buChar char="■"/>
              <a:tabLst>
                <a:tab pos="736600" algn="l"/>
              </a:tabLst>
            </a:pPr>
            <a:r>
              <a:rPr dirty="0" sz="2000">
                <a:latin typeface="Tahoma"/>
                <a:cs typeface="Tahoma"/>
              </a:rPr>
              <a:t>statistics,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artificial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intelligence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350" spc="-75">
                <a:latin typeface="Microsoft JhengHei UI Light"/>
                <a:cs typeface="Microsoft JhengHei UI Light"/>
              </a:rPr>
              <a:t>在输⼊序列上使⽤⼀个“滑动窗⼝”</a:t>
            </a:r>
            <a:endParaRPr sz="1350">
              <a:latin typeface="Microsoft JhengHei UI Light"/>
              <a:cs typeface="Microsoft JhengHei UI Ligh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2329" y="4121656"/>
            <a:ext cx="2229431" cy="383651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973055" y="3576952"/>
            <a:ext cx="2780030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200" spc="-50">
                <a:latin typeface="Microsoft JhengHei UI Light"/>
                <a:cs typeface="Microsoft JhengHei UI Light"/>
              </a:rPr>
              <a:t>通过这种⽅式，神经⽹络不需要理解“时</a:t>
            </a:r>
            <a:r>
              <a:rPr dirty="0" sz="1200" spc="-65">
                <a:latin typeface="Microsoft JhengHei UI Light"/>
                <a:cs typeface="Microsoft JhengHei UI Light"/>
              </a:rPr>
              <a:t>间”，它只需要学习这种固定的“输⼊向量</a:t>
            </a:r>
            <a:endParaRPr sz="1200">
              <a:latin typeface="Microsoft JhengHei UI Light"/>
              <a:cs typeface="Microsoft JhengHei UI Light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200" spc="-50">
                <a:latin typeface="Microsoft JhengHei UI Light"/>
                <a:cs typeface="Microsoft JhengHei UI Light"/>
              </a:rPr>
              <a:t>-&gt; 输出值”的映射关系即可。</a:t>
            </a:r>
            <a:endParaRPr sz="1200">
              <a:latin typeface="Microsoft JhengHei UI Light"/>
              <a:cs typeface="Microsoft JhengHei UI Light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17576" y="990600"/>
            <a:ext cx="711835" cy="582295"/>
            <a:chOff x="417576" y="990600"/>
            <a:chExt cx="711835" cy="582295"/>
          </a:xfrm>
        </p:grpSpPr>
        <p:sp>
          <p:nvSpPr>
            <p:cNvPr id="3" name="object 3" descr=""/>
            <p:cNvSpPr/>
            <p:nvPr/>
          </p:nvSpPr>
          <p:spPr>
            <a:xfrm>
              <a:off x="417576" y="1098804"/>
              <a:ext cx="382905" cy="474345"/>
            </a:xfrm>
            <a:custGeom>
              <a:avLst/>
              <a:gdLst/>
              <a:ahLst/>
              <a:cxnLst/>
              <a:rect l="l" t="t" r="r" b="b"/>
              <a:pathLst>
                <a:path w="382905" h="474344">
                  <a:moveTo>
                    <a:pt x="0" y="473963"/>
                  </a:moveTo>
                  <a:lnTo>
                    <a:pt x="382523" y="473963"/>
                  </a:lnTo>
                  <a:lnTo>
                    <a:pt x="382523" y="0"/>
                  </a:lnTo>
                  <a:lnTo>
                    <a:pt x="0" y="0"/>
                  </a:lnTo>
                  <a:lnTo>
                    <a:pt x="0" y="473963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00" y="1098804"/>
              <a:ext cx="329184" cy="47396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762000" y="990600"/>
              <a:ext cx="32384" cy="422275"/>
            </a:xfrm>
            <a:custGeom>
              <a:avLst/>
              <a:gdLst/>
              <a:ahLst/>
              <a:cxnLst/>
              <a:rect l="l" t="t" r="r" b="b"/>
              <a:pathLst>
                <a:path w="32384" h="422275">
                  <a:moveTo>
                    <a:pt x="0" y="422275"/>
                  </a:moveTo>
                  <a:lnTo>
                    <a:pt x="32004" y="422275"/>
                  </a:lnTo>
                  <a:lnTo>
                    <a:pt x="32004" y="0"/>
                  </a:lnTo>
                  <a:lnTo>
                    <a:pt x="0" y="0"/>
                  </a:lnTo>
                  <a:lnTo>
                    <a:pt x="0" y="422275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9927" y="557847"/>
            <a:ext cx="664972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ahoma"/>
                <a:cs typeface="Tahoma"/>
              </a:rPr>
              <a:t>Time</a:t>
            </a:r>
            <a:r>
              <a:rPr dirty="0" spc="-4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Series</a:t>
            </a:r>
            <a:r>
              <a:rPr dirty="0" spc="-4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Prediction</a:t>
            </a:r>
            <a:r>
              <a:rPr dirty="0" spc="-3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with</a:t>
            </a:r>
            <a:r>
              <a:rPr dirty="0" spc="-35">
                <a:latin typeface="Tahoma"/>
                <a:cs typeface="Tahoma"/>
              </a:rPr>
              <a:t> </a:t>
            </a:r>
            <a:r>
              <a:rPr dirty="0" spc="-25">
                <a:latin typeface="Tahoma"/>
                <a:cs typeface="Tahoma"/>
              </a:rPr>
              <a:t>ANN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0" y="1412875"/>
            <a:ext cx="8856980" cy="5184775"/>
          </a:xfrm>
          <a:custGeom>
            <a:avLst/>
            <a:gdLst/>
            <a:ahLst/>
            <a:cxnLst/>
            <a:rect l="l" t="t" r="r" b="b"/>
            <a:pathLst>
              <a:path w="8856980" h="5184775">
                <a:moveTo>
                  <a:pt x="8856662" y="0"/>
                </a:moveTo>
                <a:lnTo>
                  <a:pt x="0" y="0"/>
                </a:lnTo>
                <a:lnTo>
                  <a:pt x="0" y="5184483"/>
                </a:lnTo>
                <a:lnTo>
                  <a:pt x="8856662" y="5184483"/>
                </a:lnTo>
                <a:lnTo>
                  <a:pt x="88566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5240" y="1445259"/>
            <a:ext cx="8734425" cy="4874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9100" marR="13589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Char char="■"/>
              <a:tabLst>
                <a:tab pos="419100" algn="l"/>
              </a:tabLst>
            </a:pP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number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adjoining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points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time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series</a:t>
            </a:r>
            <a:r>
              <a:rPr dirty="0" sz="2400" spc="-20">
                <a:latin typeface="Tahoma"/>
                <a:cs typeface="Tahoma"/>
              </a:rPr>
              <a:t> (the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window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X</a:t>
            </a:r>
            <a:r>
              <a:rPr dirty="0" baseline="-17921" sz="2325" spc="-15">
                <a:latin typeface="Tahoma"/>
                <a:cs typeface="Tahoma"/>
              </a:rPr>
              <a:t>t-</a:t>
            </a:r>
            <a:r>
              <a:rPr dirty="0" baseline="-17921" sz="2325">
                <a:latin typeface="Tahoma"/>
                <a:cs typeface="Tahoma"/>
              </a:rPr>
              <a:t>s</a:t>
            </a:r>
            <a:r>
              <a:rPr dirty="0" sz="2400">
                <a:latin typeface="Tahoma"/>
                <a:cs typeface="Tahoma"/>
              </a:rPr>
              <a:t>,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X</a:t>
            </a:r>
            <a:r>
              <a:rPr dirty="0" baseline="-17921" sz="2325" spc="-15">
                <a:latin typeface="Tahoma"/>
                <a:cs typeface="Tahoma"/>
              </a:rPr>
              <a:t>t-</a:t>
            </a:r>
            <a:r>
              <a:rPr dirty="0" baseline="-17921" sz="2325">
                <a:latin typeface="Tahoma"/>
                <a:cs typeface="Tahoma"/>
              </a:rPr>
              <a:t>s+1</a:t>
            </a:r>
            <a:r>
              <a:rPr dirty="0" sz="2400">
                <a:latin typeface="Tahoma"/>
                <a:cs typeface="Tahoma"/>
              </a:rPr>
              <a:t>,…,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X</a:t>
            </a:r>
            <a:r>
              <a:rPr dirty="0" baseline="-17921" sz="2325">
                <a:latin typeface="Tahoma"/>
                <a:cs typeface="Tahoma"/>
              </a:rPr>
              <a:t>t</a:t>
            </a:r>
            <a:r>
              <a:rPr dirty="0" sz="2400">
                <a:latin typeface="Tahoma"/>
                <a:cs typeface="Tahoma"/>
              </a:rPr>
              <a:t>)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mapped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0">
                <a:latin typeface="Tahoma"/>
                <a:cs typeface="Tahoma"/>
              </a:rPr>
              <a:t> interval </a:t>
            </a:r>
            <a:r>
              <a:rPr dirty="0" sz="2400">
                <a:latin typeface="Tahoma"/>
                <a:cs typeface="Tahoma"/>
              </a:rPr>
              <a:t>[0,1]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used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activations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layer.</a:t>
            </a:r>
            <a:endParaRPr sz="2400">
              <a:latin typeface="Tahoma"/>
              <a:cs typeface="Tahoma"/>
            </a:endParaRPr>
          </a:p>
          <a:p>
            <a:pPr marL="419100" marR="81280" indent="-342900">
              <a:lnSpc>
                <a:spcPct val="100000"/>
              </a:lnSpc>
              <a:spcBef>
                <a:spcPts val="1200"/>
              </a:spcBef>
              <a:buClr>
                <a:srgbClr val="3333CC"/>
              </a:buClr>
              <a:buSzPct val="60416"/>
              <a:buChar char="■"/>
              <a:tabLst>
                <a:tab pos="419100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size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s</a:t>
            </a:r>
            <a:r>
              <a:rPr dirty="0" sz="2400" spc="-2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window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corresponds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number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of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units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neural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network.</a:t>
            </a:r>
            <a:endParaRPr sz="2400">
              <a:latin typeface="Tahoma"/>
              <a:cs typeface="Tahoma"/>
            </a:endParaRPr>
          </a:p>
          <a:p>
            <a:pPr marL="419100" marR="443865" indent="-342900">
              <a:lnSpc>
                <a:spcPts val="2880"/>
              </a:lnSpc>
              <a:spcBef>
                <a:spcPts val="1295"/>
              </a:spcBef>
              <a:buClr>
                <a:srgbClr val="3333CC"/>
              </a:buClr>
              <a:buSzPct val="60416"/>
              <a:buChar char="■"/>
              <a:tabLst>
                <a:tab pos="419100" algn="l"/>
              </a:tabLst>
            </a:pP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forward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path,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activations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propagated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over </a:t>
            </a:r>
            <a:r>
              <a:rPr dirty="0" sz="2400">
                <a:latin typeface="Tahoma"/>
                <a:cs typeface="Tahoma"/>
              </a:rPr>
              <a:t>hidden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layers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units.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error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used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BP </a:t>
            </a:r>
            <a:r>
              <a:rPr dirty="0" sz="2400">
                <a:latin typeface="Tahoma"/>
                <a:cs typeface="Tahoma"/>
              </a:rPr>
              <a:t>training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computed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comparing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value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output </a:t>
            </a:r>
            <a:r>
              <a:rPr dirty="0" sz="2400">
                <a:latin typeface="Tahoma"/>
                <a:cs typeface="Tahoma"/>
              </a:rPr>
              <a:t>unit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value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time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series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time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500" spc="-20" i="1">
                <a:latin typeface="Verdana"/>
                <a:cs typeface="Verdana"/>
              </a:rPr>
              <a:t>t+1</a:t>
            </a:r>
            <a:r>
              <a:rPr dirty="0" sz="2400" spc="-20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  <a:p>
            <a:pPr marL="419100" marR="290830" indent="-342900">
              <a:lnSpc>
                <a:spcPts val="2880"/>
              </a:lnSpc>
              <a:spcBef>
                <a:spcPts val="1200"/>
              </a:spcBef>
              <a:buClr>
                <a:srgbClr val="3333CC"/>
              </a:buClr>
              <a:buSzPct val="60416"/>
              <a:buChar char="■"/>
              <a:tabLst>
                <a:tab pos="419100" algn="l"/>
              </a:tabLst>
            </a:pPr>
            <a:r>
              <a:rPr dirty="0" sz="2400">
                <a:latin typeface="Tahoma"/>
                <a:cs typeface="Tahoma"/>
              </a:rPr>
              <a:t>Training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MLP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BP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learning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algorithm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usually </a:t>
            </a:r>
            <a:r>
              <a:rPr dirty="0" sz="2400">
                <a:latin typeface="Tahoma"/>
                <a:cs typeface="Tahoma"/>
              </a:rPr>
              <a:t>requires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all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representations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(called</a:t>
            </a:r>
            <a:r>
              <a:rPr dirty="0" sz="2400" spc="-25">
                <a:latin typeface="Tahoma"/>
                <a:cs typeface="Tahoma"/>
              </a:rPr>
              <a:t> one </a:t>
            </a:r>
            <a:r>
              <a:rPr dirty="0" sz="2500" spc="-200" i="1">
                <a:latin typeface="Verdana"/>
                <a:cs typeface="Verdana"/>
              </a:rPr>
              <a:t>epoch</a:t>
            </a:r>
            <a:r>
              <a:rPr dirty="0" sz="2400" spc="-200">
                <a:latin typeface="Tahoma"/>
                <a:cs typeface="Tahoma"/>
              </a:rPr>
              <a:t>)</a:t>
            </a:r>
            <a:r>
              <a:rPr dirty="0" sz="2400">
                <a:latin typeface="Tahoma"/>
                <a:cs typeface="Tahoma"/>
              </a:rPr>
              <a:t> are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presented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many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times.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567" y="2060448"/>
            <a:ext cx="6120383" cy="448208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9030" rIns="0" bIns="0" rtlCol="0" vert="horz">
            <a:spAutoFit/>
          </a:bodyPr>
          <a:lstStyle/>
          <a:p>
            <a:pPr marL="85725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Tahoma"/>
                <a:cs typeface="Tahoma"/>
              </a:rPr>
              <a:t>Time</a:t>
            </a:r>
            <a:r>
              <a:rPr dirty="0" sz="3600" spc="-65">
                <a:latin typeface="Tahoma"/>
                <a:cs typeface="Tahoma"/>
              </a:rPr>
              <a:t> </a:t>
            </a:r>
            <a:r>
              <a:rPr dirty="0" sz="3600">
                <a:latin typeface="Tahoma"/>
                <a:cs typeface="Tahoma"/>
              </a:rPr>
              <a:t>Series</a:t>
            </a:r>
            <a:r>
              <a:rPr dirty="0" sz="3600" spc="-65">
                <a:latin typeface="Tahoma"/>
                <a:cs typeface="Tahoma"/>
              </a:rPr>
              <a:t> </a:t>
            </a:r>
            <a:r>
              <a:rPr dirty="0" sz="3600">
                <a:latin typeface="Tahoma"/>
                <a:cs typeface="Tahoma"/>
              </a:rPr>
              <a:t>Prediction</a:t>
            </a:r>
            <a:r>
              <a:rPr dirty="0" sz="3600" spc="-60">
                <a:latin typeface="Tahoma"/>
                <a:cs typeface="Tahoma"/>
              </a:rPr>
              <a:t> </a:t>
            </a:r>
            <a:r>
              <a:rPr dirty="0" sz="3600">
                <a:latin typeface="Tahoma"/>
                <a:cs typeface="Tahoma"/>
              </a:rPr>
              <a:t>with</a:t>
            </a:r>
            <a:r>
              <a:rPr dirty="0" sz="3600" spc="-65">
                <a:latin typeface="Tahoma"/>
                <a:cs typeface="Tahoma"/>
              </a:rPr>
              <a:t> </a:t>
            </a:r>
            <a:r>
              <a:rPr dirty="0" sz="3600" spc="-25">
                <a:latin typeface="Tahoma"/>
                <a:cs typeface="Tahoma"/>
              </a:rPr>
              <a:t>ANN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771" y="75473"/>
            <a:ext cx="2966886" cy="35027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1571" y="129670"/>
            <a:ext cx="414794" cy="22114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890924" y="313818"/>
            <a:ext cx="77470" cy="20955"/>
          </a:xfrm>
          <a:custGeom>
            <a:avLst/>
            <a:gdLst/>
            <a:ahLst/>
            <a:cxnLst/>
            <a:rect l="l" t="t" r="r" b="b"/>
            <a:pathLst>
              <a:path w="77470" h="20954">
                <a:moveTo>
                  <a:pt x="825" y="11353"/>
                </a:moveTo>
                <a:lnTo>
                  <a:pt x="101" y="13106"/>
                </a:lnTo>
                <a:lnTo>
                  <a:pt x="0" y="13373"/>
                </a:lnTo>
                <a:lnTo>
                  <a:pt x="558" y="14630"/>
                </a:lnTo>
                <a:lnTo>
                  <a:pt x="660" y="14859"/>
                </a:lnTo>
                <a:lnTo>
                  <a:pt x="685" y="13106"/>
                </a:lnTo>
                <a:lnTo>
                  <a:pt x="825" y="11353"/>
                </a:lnTo>
                <a:close/>
              </a:path>
              <a:path w="77470" h="20954">
                <a:moveTo>
                  <a:pt x="24815" y="8813"/>
                </a:moveTo>
                <a:lnTo>
                  <a:pt x="24625" y="8470"/>
                </a:lnTo>
                <a:lnTo>
                  <a:pt x="22796" y="5130"/>
                </a:lnTo>
                <a:lnTo>
                  <a:pt x="20891" y="4279"/>
                </a:lnTo>
                <a:lnTo>
                  <a:pt x="8255" y="7404"/>
                </a:lnTo>
                <a:lnTo>
                  <a:pt x="7848" y="7404"/>
                </a:lnTo>
                <a:lnTo>
                  <a:pt x="6896" y="7708"/>
                </a:lnTo>
                <a:lnTo>
                  <a:pt x="6273" y="7899"/>
                </a:lnTo>
                <a:lnTo>
                  <a:pt x="5778" y="7899"/>
                </a:lnTo>
                <a:lnTo>
                  <a:pt x="4508" y="8458"/>
                </a:lnTo>
                <a:lnTo>
                  <a:pt x="3797" y="7899"/>
                </a:lnTo>
                <a:lnTo>
                  <a:pt x="2222" y="9385"/>
                </a:lnTo>
                <a:lnTo>
                  <a:pt x="2108" y="9537"/>
                </a:lnTo>
                <a:lnTo>
                  <a:pt x="4254" y="8572"/>
                </a:lnTo>
                <a:lnTo>
                  <a:pt x="2527" y="9385"/>
                </a:lnTo>
                <a:lnTo>
                  <a:pt x="2463" y="18859"/>
                </a:lnTo>
                <a:lnTo>
                  <a:pt x="2362" y="18669"/>
                </a:lnTo>
                <a:lnTo>
                  <a:pt x="2463" y="18859"/>
                </a:lnTo>
                <a:lnTo>
                  <a:pt x="2463" y="9410"/>
                </a:lnTo>
                <a:lnTo>
                  <a:pt x="2197" y="9525"/>
                </a:lnTo>
                <a:lnTo>
                  <a:pt x="2197" y="18402"/>
                </a:lnTo>
                <a:lnTo>
                  <a:pt x="2044" y="18237"/>
                </a:lnTo>
                <a:lnTo>
                  <a:pt x="1130" y="17106"/>
                </a:lnTo>
                <a:lnTo>
                  <a:pt x="1943" y="18110"/>
                </a:lnTo>
                <a:lnTo>
                  <a:pt x="2044" y="18237"/>
                </a:lnTo>
                <a:lnTo>
                  <a:pt x="2108" y="18110"/>
                </a:lnTo>
                <a:lnTo>
                  <a:pt x="2197" y="18402"/>
                </a:lnTo>
                <a:lnTo>
                  <a:pt x="2197" y="9525"/>
                </a:lnTo>
                <a:lnTo>
                  <a:pt x="2044" y="9626"/>
                </a:lnTo>
                <a:lnTo>
                  <a:pt x="1714" y="9867"/>
                </a:lnTo>
                <a:lnTo>
                  <a:pt x="1917" y="9677"/>
                </a:lnTo>
                <a:lnTo>
                  <a:pt x="1778" y="9677"/>
                </a:lnTo>
                <a:lnTo>
                  <a:pt x="1346" y="9867"/>
                </a:lnTo>
                <a:lnTo>
                  <a:pt x="1143" y="10401"/>
                </a:lnTo>
                <a:lnTo>
                  <a:pt x="850" y="10680"/>
                </a:lnTo>
                <a:lnTo>
                  <a:pt x="825" y="11214"/>
                </a:lnTo>
                <a:lnTo>
                  <a:pt x="774" y="11353"/>
                </a:lnTo>
                <a:lnTo>
                  <a:pt x="863" y="11226"/>
                </a:lnTo>
                <a:lnTo>
                  <a:pt x="1244" y="10680"/>
                </a:lnTo>
                <a:lnTo>
                  <a:pt x="825" y="11353"/>
                </a:lnTo>
                <a:lnTo>
                  <a:pt x="723" y="14998"/>
                </a:lnTo>
                <a:lnTo>
                  <a:pt x="863" y="15316"/>
                </a:lnTo>
                <a:lnTo>
                  <a:pt x="850" y="15773"/>
                </a:lnTo>
                <a:lnTo>
                  <a:pt x="762" y="15316"/>
                </a:lnTo>
                <a:lnTo>
                  <a:pt x="685" y="17106"/>
                </a:lnTo>
                <a:lnTo>
                  <a:pt x="2552" y="19100"/>
                </a:lnTo>
                <a:lnTo>
                  <a:pt x="2603" y="19227"/>
                </a:lnTo>
                <a:lnTo>
                  <a:pt x="2768" y="19227"/>
                </a:lnTo>
                <a:lnTo>
                  <a:pt x="3454" y="20053"/>
                </a:lnTo>
                <a:lnTo>
                  <a:pt x="4635" y="20053"/>
                </a:lnTo>
                <a:lnTo>
                  <a:pt x="5715" y="20523"/>
                </a:lnTo>
                <a:lnTo>
                  <a:pt x="7150" y="20053"/>
                </a:lnTo>
                <a:lnTo>
                  <a:pt x="8445" y="19621"/>
                </a:lnTo>
                <a:lnTo>
                  <a:pt x="9702" y="19227"/>
                </a:lnTo>
                <a:lnTo>
                  <a:pt x="11887" y="18110"/>
                </a:lnTo>
                <a:lnTo>
                  <a:pt x="11074" y="18453"/>
                </a:lnTo>
                <a:lnTo>
                  <a:pt x="11785" y="18110"/>
                </a:lnTo>
                <a:lnTo>
                  <a:pt x="12382" y="17157"/>
                </a:lnTo>
                <a:lnTo>
                  <a:pt x="11912" y="18059"/>
                </a:lnTo>
                <a:lnTo>
                  <a:pt x="12052" y="18021"/>
                </a:lnTo>
                <a:lnTo>
                  <a:pt x="14274" y="17106"/>
                </a:lnTo>
                <a:lnTo>
                  <a:pt x="17475" y="15773"/>
                </a:lnTo>
                <a:lnTo>
                  <a:pt x="17703" y="15773"/>
                </a:lnTo>
                <a:lnTo>
                  <a:pt x="18021" y="14998"/>
                </a:lnTo>
                <a:lnTo>
                  <a:pt x="18072" y="14859"/>
                </a:lnTo>
                <a:lnTo>
                  <a:pt x="18173" y="14630"/>
                </a:lnTo>
                <a:lnTo>
                  <a:pt x="17691" y="14833"/>
                </a:lnTo>
                <a:lnTo>
                  <a:pt x="18059" y="14630"/>
                </a:lnTo>
                <a:lnTo>
                  <a:pt x="18478" y="13881"/>
                </a:lnTo>
                <a:lnTo>
                  <a:pt x="18173" y="14630"/>
                </a:lnTo>
                <a:lnTo>
                  <a:pt x="19431" y="13881"/>
                </a:lnTo>
                <a:lnTo>
                  <a:pt x="24066" y="11353"/>
                </a:lnTo>
                <a:lnTo>
                  <a:pt x="24498" y="9867"/>
                </a:lnTo>
                <a:lnTo>
                  <a:pt x="24561" y="9677"/>
                </a:lnTo>
                <a:lnTo>
                  <a:pt x="24688" y="9245"/>
                </a:lnTo>
                <a:lnTo>
                  <a:pt x="24739" y="9067"/>
                </a:lnTo>
                <a:lnTo>
                  <a:pt x="24815" y="8813"/>
                </a:lnTo>
                <a:close/>
              </a:path>
              <a:path w="77470" h="20954">
                <a:moveTo>
                  <a:pt x="77457" y="13627"/>
                </a:moveTo>
                <a:lnTo>
                  <a:pt x="77050" y="10591"/>
                </a:lnTo>
                <a:lnTo>
                  <a:pt x="75984" y="9512"/>
                </a:lnTo>
                <a:lnTo>
                  <a:pt x="71691" y="8915"/>
                </a:lnTo>
                <a:lnTo>
                  <a:pt x="68656" y="8407"/>
                </a:lnTo>
                <a:lnTo>
                  <a:pt x="68516" y="8407"/>
                </a:lnTo>
                <a:lnTo>
                  <a:pt x="64706" y="5994"/>
                </a:lnTo>
                <a:lnTo>
                  <a:pt x="63931" y="4965"/>
                </a:lnTo>
                <a:lnTo>
                  <a:pt x="63246" y="1409"/>
                </a:lnTo>
                <a:lnTo>
                  <a:pt x="61175" y="0"/>
                </a:lnTo>
                <a:lnTo>
                  <a:pt x="57238" y="762"/>
                </a:lnTo>
                <a:lnTo>
                  <a:pt x="55918" y="2273"/>
                </a:lnTo>
                <a:lnTo>
                  <a:pt x="55600" y="8407"/>
                </a:lnTo>
                <a:lnTo>
                  <a:pt x="57937" y="12242"/>
                </a:lnTo>
                <a:lnTo>
                  <a:pt x="65722" y="16052"/>
                </a:lnTo>
                <a:lnTo>
                  <a:pt x="69761" y="16052"/>
                </a:lnTo>
                <a:lnTo>
                  <a:pt x="76288" y="15176"/>
                </a:lnTo>
                <a:lnTo>
                  <a:pt x="77457" y="136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022418" y="310283"/>
            <a:ext cx="27940" cy="19685"/>
          </a:xfrm>
          <a:custGeom>
            <a:avLst/>
            <a:gdLst/>
            <a:ahLst/>
            <a:cxnLst/>
            <a:rect l="l" t="t" r="r" b="b"/>
            <a:pathLst>
              <a:path w="27939" h="19685">
                <a:moveTo>
                  <a:pt x="286" y="11593"/>
                </a:moveTo>
                <a:lnTo>
                  <a:pt x="84" y="12262"/>
                </a:lnTo>
                <a:lnTo>
                  <a:pt x="0" y="15035"/>
                </a:lnTo>
                <a:lnTo>
                  <a:pt x="721" y="16600"/>
                </a:lnTo>
                <a:lnTo>
                  <a:pt x="908" y="16876"/>
                </a:lnTo>
                <a:lnTo>
                  <a:pt x="4942" y="19063"/>
                </a:lnTo>
                <a:lnTo>
                  <a:pt x="7428" y="18486"/>
                </a:lnTo>
                <a:lnTo>
                  <a:pt x="11636" y="17172"/>
                </a:lnTo>
                <a:lnTo>
                  <a:pt x="11791" y="16876"/>
                </a:lnTo>
                <a:lnTo>
                  <a:pt x="4938" y="16876"/>
                </a:lnTo>
                <a:lnTo>
                  <a:pt x="662" y="13830"/>
                </a:lnTo>
                <a:lnTo>
                  <a:pt x="593" y="13422"/>
                </a:lnTo>
                <a:lnTo>
                  <a:pt x="481" y="12755"/>
                </a:lnTo>
                <a:lnTo>
                  <a:pt x="398" y="12262"/>
                </a:lnTo>
                <a:lnTo>
                  <a:pt x="286" y="11593"/>
                </a:lnTo>
                <a:close/>
              </a:path>
              <a:path w="27939" h="19685">
                <a:moveTo>
                  <a:pt x="8305" y="6245"/>
                </a:moveTo>
                <a:lnTo>
                  <a:pt x="4021" y="6458"/>
                </a:lnTo>
                <a:lnTo>
                  <a:pt x="2616" y="7234"/>
                </a:lnTo>
                <a:lnTo>
                  <a:pt x="869" y="9714"/>
                </a:lnTo>
                <a:lnTo>
                  <a:pt x="368" y="10715"/>
                </a:lnTo>
                <a:lnTo>
                  <a:pt x="481" y="12755"/>
                </a:lnTo>
                <a:lnTo>
                  <a:pt x="593" y="13422"/>
                </a:lnTo>
                <a:lnTo>
                  <a:pt x="662" y="13830"/>
                </a:lnTo>
                <a:lnTo>
                  <a:pt x="4938" y="16876"/>
                </a:lnTo>
                <a:lnTo>
                  <a:pt x="7726" y="16600"/>
                </a:lnTo>
                <a:lnTo>
                  <a:pt x="10715" y="13422"/>
                </a:lnTo>
                <a:lnTo>
                  <a:pt x="12044" y="12755"/>
                </a:lnTo>
                <a:lnTo>
                  <a:pt x="11962" y="12492"/>
                </a:lnTo>
                <a:lnTo>
                  <a:pt x="11890" y="12262"/>
                </a:lnTo>
                <a:lnTo>
                  <a:pt x="11418" y="11593"/>
                </a:lnTo>
                <a:lnTo>
                  <a:pt x="10833" y="11153"/>
                </a:lnTo>
                <a:lnTo>
                  <a:pt x="10712" y="9714"/>
                </a:lnTo>
                <a:lnTo>
                  <a:pt x="10647" y="8365"/>
                </a:lnTo>
                <a:lnTo>
                  <a:pt x="8305" y="6245"/>
                </a:lnTo>
                <a:close/>
              </a:path>
              <a:path w="27939" h="19685">
                <a:moveTo>
                  <a:pt x="12044" y="12755"/>
                </a:moveTo>
                <a:lnTo>
                  <a:pt x="10715" y="13422"/>
                </a:lnTo>
                <a:lnTo>
                  <a:pt x="7726" y="16600"/>
                </a:lnTo>
                <a:lnTo>
                  <a:pt x="4938" y="16876"/>
                </a:lnTo>
                <a:lnTo>
                  <a:pt x="11791" y="16876"/>
                </a:lnTo>
                <a:lnTo>
                  <a:pt x="12756" y="15035"/>
                </a:lnTo>
                <a:lnTo>
                  <a:pt x="12044" y="12755"/>
                </a:lnTo>
                <a:close/>
              </a:path>
              <a:path w="27939" h="19685">
                <a:moveTo>
                  <a:pt x="26056" y="6245"/>
                </a:moveTo>
                <a:lnTo>
                  <a:pt x="8305" y="6245"/>
                </a:lnTo>
                <a:lnTo>
                  <a:pt x="10647" y="8365"/>
                </a:lnTo>
                <a:lnTo>
                  <a:pt x="10712" y="9714"/>
                </a:lnTo>
                <a:lnTo>
                  <a:pt x="10833" y="11153"/>
                </a:lnTo>
                <a:lnTo>
                  <a:pt x="11418" y="11593"/>
                </a:lnTo>
                <a:lnTo>
                  <a:pt x="11890" y="12262"/>
                </a:lnTo>
                <a:lnTo>
                  <a:pt x="11962" y="12492"/>
                </a:lnTo>
                <a:lnTo>
                  <a:pt x="12044" y="12755"/>
                </a:lnTo>
                <a:lnTo>
                  <a:pt x="12568" y="12492"/>
                </a:lnTo>
                <a:lnTo>
                  <a:pt x="17748" y="9714"/>
                </a:lnTo>
                <a:lnTo>
                  <a:pt x="21474" y="8116"/>
                </a:lnTo>
                <a:lnTo>
                  <a:pt x="26056" y="6245"/>
                </a:lnTo>
                <a:close/>
              </a:path>
              <a:path w="27939" h="19685">
                <a:moveTo>
                  <a:pt x="869" y="9714"/>
                </a:moveTo>
                <a:lnTo>
                  <a:pt x="138" y="10715"/>
                </a:lnTo>
                <a:lnTo>
                  <a:pt x="212" y="11153"/>
                </a:lnTo>
                <a:lnTo>
                  <a:pt x="368" y="10715"/>
                </a:lnTo>
                <a:lnTo>
                  <a:pt x="869" y="9714"/>
                </a:lnTo>
                <a:close/>
              </a:path>
              <a:path w="27939" h="19685">
                <a:moveTo>
                  <a:pt x="25021" y="0"/>
                </a:moveTo>
                <a:lnTo>
                  <a:pt x="18509" y="840"/>
                </a:lnTo>
                <a:lnTo>
                  <a:pt x="18650" y="840"/>
                </a:lnTo>
                <a:lnTo>
                  <a:pt x="14655" y="1515"/>
                </a:lnTo>
                <a:lnTo>
                  <a:pt x="7196" y="4029"/>
                </a:lnTo>
                <a:lnTo>
                  <a:pt x="3772" y="5610"/>
                </a:lnTo>
                <a:lnTo>
                  <a:pt x="2616" y="7234"/>
                </a:lnTo>
                <a:lnTo>
                  <a:pt x="4021" y="6458"/>
                </a:lnTo>
                <a:lnTo>
                  <a:pt x="8305" y="6245"/>
                </a:lnTo>
                <a:lnTo>
                  <a:pt x="26056" y="6245"/>
                </a:lnTo>
                <a:lnTo>
                  <a:pt x="26915" y="5894"/>
                </a:lnTo>
                <a:lnTo>
                  <a:pt x="27698" y="4029"/>
                </a:lnTo>
                <a:lnTo>
                  <a:pt x="26739" y="1515"/>
                </a:lnTo>
                <a:lnTo>
                  <a:pt x="26464" y="840"/>
                </a:lnTo>
                <a:lnTo>
                  <a:pt x="250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125840" y="314134"/>
            <a:ext cx="43180" cy="50800"/>
          </a:xfrm>
          <a:custGeom>
            <a:avLst/>
            <a:gdLst/>
            <a:ahLst/>
            <a:cxnLst/>
            <a:rect l="l" t="t" r="r" b="b"/>
            <a:pathLst>
              <a:path w="43179" h="50800">
                <a:moveTo>
                  <a:pt x="38691" y="0"/>
                </a:moveTo>
                <a:lnTo>
                  <a:pt x="8103" y="32513"/>
                </a:lnTo>
                <a:lnTo>
                  <a:pt x="0" y="46059"/>
                </a:lnTo>
                <a:lnTo>
                  <a:pt x="796" y="48737"/>
                </a:lnTo>
                <a:lnTo>
                  <a:pt x="968" y="48737"/>
                </a:lnTo>
                <a:lnTo>
                  <a:pt x="4585" y="50697"/>
                </a:lnTo>
                <a:lnTo>
                  <a:pt x="33057" y="18377"/>
                </a:lnTo>
                <a:lnTo>
                  <a:pt x="42930" y="6134"/>
                </a:lnTo>
                <a:lnTo>
                  <a:pt x="42606" y="3148"/>
                </a:lnTo>
                <a:lnTo>
                  <a:pt x="38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36464" y="130045"/>
            <a:ext cx="428992" cy="198118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4987617" y="287289"/>
            <a:ext cx="17780" cy="43180"/>
          </a:xfrm>
          <a:custGeom>
            <a:avLst/>
            <a:gdLst/>
            <a:ahLst/>
            <a:cxnLst/>
            <a:rect l="l" t="t" r="r" b="b"/>
            <a:pathLst>
              <a:path w="17779" h="43179">
                <a:moveTo>
                  <a:pt x="6455" y="12932"/>
                </a:moveTo>
                <a:lnTo>
                  <a:pt x="6344" y="13774"/>
                </a:lnTo>
                <a:lnTo>
                  <a:pt x="3654" y="26272"/>
                </a:lnTo>
                <a:lnTo>
                  <a:pt x="2123" y="32176"/>
                </a:lnTo>
                <a:lnTo>
                  <a:pt x="0" y="40025"/>
                </a:lnTo>
                <a:lnTo>
                  <a:pt x="1163" y="42052"/>
                </a:lnTo>
                <a:lnTo>
                  <a:pt x="4838" y="43047"/>
                </a:lnTo>
                <a:lnTo>
                  <a:pt x="6635" y="42231"/>
                </a:lnTo>
                <a:lnTo>
                  <a:pt x="10196" y="34936"/>
                </a:lnTo>
                <a:lnTo>
                  <a:pt x="12851" y="29135"/>
                </a:lnTo>
                <a:lnTo>
                  <a:pt x="16395" y="19046"/>
                </a:lnTo>
                <a:lnTo>
                  <a:pt x="17319" y="16058"/>
                </a:lnTo>
                <a:lnTo>
                  <a:pt x="14828" y="16058"/>
                </a:lnTo>
                <a:lnTo>
                  <a:pt x="8702" y="15569"/>
                </a:lnTo>
                <a:lnTo>
                  <a:pt x="6455" y="12932"/>
                </a:lnTo>
                <a:close/>
              </a:path>
              <a:path w="17779" h="43179">
                <a:moveTo>
                  <a:pt x="15315" y="4723"/>
                </a:moveTo>
                <a:lnTo>
                  <a:pt x="9259" y="4723"/>
                </a:lnTo>
                <a:lnTo>
                  <a:pt x="6852" y="6962"/>
                </a:lnTo>
                <a:lnTo>
                  <a:pt x="6814" y="7527"/>
                </a:lnTo>
                <a:lnTo>
                  <a:pt x="6695" y="8600"/>
                </a:lnTo>
                <a:lnTo>
                  <a:pt x="6603" y="10711"/>
                </a:lnTo>
                <a:lnTo>
                  <a:pt x="6455" y="12932"/>
                </a:lnTo>
                <a:lnTo>
                  <a:pt x="8702" y="15569"/>
                </a:lnTo>
                <a:lnTo>
                  <a:pt x="14828" y="16058"/>
                </a:lnTo>
                <a:lnTo>
                  <a:pt x="17509" y="13774"/>
                </a:lnTo>
                <a:lnTo>
                  <a:pt x="17754" y="10711"/>
                </a:lnTo>
                <a:lnTo>
                  <a:pt x="17716" y="7250"/>
                </a:lnTo>
                <a:lnTo>
                  <a:pt x="15315" y="4723"/>
                </a:lnTo>
                <a:close/>
              </a:path>
              <a:path w="17779" h="43179">
                <a:moveTo>
                  <a:pt x="17770" y="10711"/>
                </a:moveTo>
                <a:lnTo>
                  <a:pt x="17576" y="12932"/>
                </a:lnTo>
                <a:lnTo>
                  <a:pt x="17509" y="13774"/>
                </a:lnTo>
                <a:lnTo>
                  <a:pt x="14828" y="16058"/>
                </a:lnTo>
                <a:lnTo>
                  <a:pt x="17319" y="16058"/>
                </a:lnTo>
                <a:lnTo>
                  <a:pt x="17745" y="14683"/>
                </a:lnTo>
                <a:lnTo>
                  <a:pt x="17770" y="10711"/>
                </a:lnTo>
                <a:close/>
              </a:path>
              <a:path w="17779" h="43179">
                <a:moveTo>
                  <a:pt x="9841" y="0"/>
                </a:moveTo>
                <a:lnTo>
                  <a:pt x="4978" y="1480"/>
                </a:lnTo>
                <a:lnTo>
                  <a:pt x="3741" y="3801"/>
                </a:lnTo>
                <a:lnTo>
                  <a:pt x="4705" y="6962"/>
                </a:lnTo>
                <a:lnTo>
                  <a:pt x="4853" y="7250"/>
                </a:lnTo>
                <a:lnTo>
                  <a:pt x="5594" y="8090"/>
                </a:lnTo>
                <a:lnTo>
                  <a:pt x="6743" y="8600"/>
                </a:lnTo>
                <a:lnTo>
                  <a:pt x="6852" y="6962"/>
                </a:lnTo>
                <a:lnTo>
                  <a:pt x="9259" y="4723"/>
                </a:lnTo>
                <a:lnTo>
                  <a:pt x="17048" y="4723"/>
                </a:lnTo>
                <a:lnTo>
                  <a:pt x="16963" y="4419"/>
                </a:lnTo>
                <a:lnTo>
                  <a:pt x="12742" y="496"/>
                </a:lnTo>
                <a:lnTo>
                  <a:pt x="9841" y="0"/>
                </a:lnTo>
                <a:close/>
              </a:path>
              <a:path w="17779" h="43179">
                <a:moveTo>
                  <a:pt x="17048" y="4723"/>
                </a:moveTo>
                <a:lnTo>
                  <a:pt x="15315" y="4723"/>
                </a:lnTo>
                <a:lnTo>
                  <a:pt x="17716" y="7250"/>
                </a:lnTo>
                <a:lnTo>
                  <a:pt x="17673" y="6962"/>
                </a:lnTo>
                <a:lnTo>
                  <a:pt x="17048" y="4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35588" y="58545"/>
            <a:ext cx="1640824" cy="296807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27896" y="66353"/>
            <a:ext cx="1021132" cy="297640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8037440" y="352223"/>
            <a:ext cx="21590" cy="19050"/>
          </a:xfrm>
          <a:custGeom>
            <a:avLst/>
            <a:gdLst/>
            <a:ahLst/>
            <a:cxnLst/>
            <a:rect l="l" t="t" r="r" b="b"/>
            <a:pathLst>
              <a:path w="21590" h="19050">
                <a:moveTo>
                  <a:pt x="3353" y="0"/>
                </a:moveTo>
                <a:lnTo>
                  <a:pt x="427" y="2614"/>
                </a:lnTo>
                <a:lnTo>
                  <a:pt x="0" y="4406"/>
                </a:lnTo>
                <a:lnTo>
                  <a:pt x="1902" y="9258"/>
                </a:lnTo>
                <a:lnTo>
                  <a:pt x="2006" y="9522"/>
                </a:lnTo>
                <a:lnTo>
                  <a:pt x="3788" y="13256"/>
                </a:lnTo>
                <a:lnTo>
                  <a:pt x="10521" y="18765"/>
                </a:lnTo>
                <a:lnTo>
                  <a:pt x="15807" y="18765"/>
                </a:lnTo>
                <a:lnTo>
                  <a:pt x="21121" y="12712"/>
                </a:lnTo>
                <a:lnTo>
                  <a:pt x="20915" y="9522"/>
                </a:lnTo>
                <a:lnTo>
                  <a:pt x="20898" y="9258"/>
                </a:lnTo>
                <a:lnTo>
                  <a:pt x="17735" y="6482"/>
                </a:lnTo>
                <a:lnTo>
                  <a:pt x="12582" y="6482"/>
                </a:lnTo>
                <a:lnTo>
                  <a:pt x="10572" y="5351"/>
                </a:lnTo>
                <a:lnTo>
                  <a:pt x="5910" y="144"/>
                </a:lnTo>
                <a:lnTo>
                  <a:pt x="3353" y="0"/>
                </a:lnTo>
                <a:close/>
              </a:path>
              <a:path w="21590" h="19050">
                <a:moveTo>
                  <a:pt x="14570" y="5491"/>
                </a:moveTo>
                <a:lnTo>
                  <a:pt x="12582" y="6482"/>
                </a:lnTo>
                <a:lnTo>
                  <a:pt x="17735" y="6482"/>
                </a:lnTo>
                <a:lnTo>
                  <a:pt x="16959" y="5801"/>
                </a:lnTo>
                <a:lnTo>
                  <a:pt x="14570" y="54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30612" y="467588"/>
            <a:ext cx="2632928" cy="315537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1499" y="478028"/>
            <a:ext cx="4883764" cy="103634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92200" y="534323"/>
            <a:ext cx="671300" cy="27667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4451" y="1256024"/>
            <a:ext cx="979555" cy="302726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98745" y="1289848"/>
            <a:ext cx="829129" cy="246619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2276382" y="1509994"/>
            <a:ext cx="17145" cy="18415"/>
          </a:xfrm>
          <a:custGeom>
            <a:avLst/>
            <a:gdLst/>
            <a:ahLst/>
            <a:cxnLst/>
            <a:rect l="l" t="t" r="r" b="b"/>
            <a:pathLst>
              <a:path w="17144" h="18415">
                <a:moveTo>
                  <a:pt x="13767" y="0"/>
                </a:moveTo>
                <a:lnTo>
                  <a:pt x="12551" y="0"/>
                </a:lnTo>
                <a:lnTo>
                  <a:pt x="1095" y="6589"/>
                </a:lnTo>
                <a:lnTo>
                  <a:pt x="0" y="10655"/>
                </a:lnTo>
                <a:lnTo>
                  <a:pt x="3663" y="17025"/>
                </a:lnTo>
                <a:lnTo>
                  <a:pt x="7729" y="18120"/>
                </a:lnTo>
                <a:lnTo>
                  <a:pt x="12460" y="15400"/>
                </a:lnTo>
                <a:lnTo>
                  <a:pt x="13584" y="13926"/>
                </a:lnTo>
                <a:lnTo>
                  <a:pt x="16657" y="2132"/>
                </a:lnTo>
                <a:lnTo>
                  <a:pt x="15703" y="503"/>
                </a:lnTo>
                <a:lnTo>
                  <a:pt x="137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18330" y="1801099"/>
            <a:ext cx="855717" cy="275830"/>
          </a:xfrm>
          <a:prstGeom prst="rect">
            <a:avLst/>
          </a:prstGeom>
        </p:spPr>
      </p:pic>
      <p:sp>
        <p:nvSpPr>
          <p:cNvPr id="19" name="object 19" descr=""/>
          <p:cNvSpPr/>
          <p:nvPr/>
        </p:nvSpPr>
        <p:spPr>
          <a:xfrm>
            <a:off x="2434526" y="1911655"/>
            <a:ext cx="25400" cy="69850"/>
          </a:xfrm>
          <a:custGeom>
            <a:avLst/>
            <a:gdLst/>
            <a:ahLst/>
            <a:cxnLst/>
            <a:rect l="l" t="t" r="r" b="b"/>
            <a:pathLst>
              <a:path w="25400" h="69850">
                <a:moveTo>
                  <a:pt x="19634" y="53632"/>
                </a:moveTo>
                <a:lnTo>
                  <a:pt x="17411" y="50050"/>
                </a:lnTo>
                <a:lnTo>
                  <a:pt x="15316" y="49377"/>
                </a:lnTo>
                <a:lnTo>
                  <a:pt x="11468" y="50927"/>
                </a:lnTo>
                <a:lnTo>
                  <a:pt x="11468" y="61633"/>
                </a:lnTo>
                <a:lnTo>
                  <a:pt x="11277" y="61315"/>
                </a:lnTo>
                <a:lnTo>
                  <a:pt x="11468" y="61633"/>
                </a:lnTo>
                <a:lnTo>
                  <a:pt x="11468" y="50927"/>
                </a:lnTo>
                <a:lnTo>
                  <a:pt x="10198" y="51435"/>
                </a:lnTo>
                <a:lnTo>
                  <a:pt x="6743" y="52971"/>
                </a:lnTo>
                <a:lnTo>
                  <a:pt x="1143" y="58216"/>
                </a:lnTo>
                <a:lnTo>
                  <a:pt x="0" y="62661"/>
                </a:lnTo>
                <a:lnTo>
                  <a:pt x="2387" y="65493"/>
                </a:lnTo>
                <a:lnTo>
                  <a:pt x="1968" y="64782"/>
                </a:lnTo>
                <a:lnTo>
                  <a:pt x="2438" y="65493"/>
                </a:lnTo>
                <a:lnTo>
                  <a:pt x="2552" y="65671"/>
                </a:lnTo>
                <a:lnTo>
                  <a:pt x="4521" y="68110"/>
                </a:lnTo>
                <a:lnTo>
                  <a:pt x="7416" y="69443"/>
                </a:lnTo>
                <a:lnTo>
                  <a:pt x="12484" y="69443"/>
                </a:lnTo>
                <a:lnTo>
                  <a:pt x="14884" y="68630"/>
                </a:lnTo>
                <a:lnTo>
                  <a:pt x="15481" y="68338"/>
                </a:lnTo>
                <a:lnTo>
                  <a:pt x="18745" y="66725"/>
                </a:lnTo>
                <a:lnTo>
                  <a:pt x="19431" y="64706"/>
                </a:lnTo>
                <a:lnTo>
                  <a:pt x="17995" y="61798"/>
                </a:lnTo>
                <a:lnTo>
                  <a:pt x="16649" y="61036"/>
                </a:lnTo>
                <a:lnTo>
                  <a:pt x="13982" y="61315"/>
                </a:lnTo>
                <a:lnTo>
                  <a:pt x="11671" y="61620"/>
                </a:lnTo>
                <a:lnTo>
                  <a:pt x="11671" y="63576"/>
                </a:lnTo>
                <a:lnTo>
                  <a:pt x="11264" y="61798"/>
                </a:lnTo>
                <a:lnTo>
                  <a:pt x="11595" y="63233"/>
                </a:lnTo>
                <a:lnTo>
                  <a:pt x="11671" y="63576"/>
                </a:lnTo>
                <a:lnTo>
                  <a:pt x="11671" y="61620"/>
                </a:lnTo>
                <a:lnTo>
                  <a:pt x="19062" y="56134"/>
                </a:lnTo>
                <a:lnTo>
                  <a:pt x="19634" y="53632"/>
                </a:lnTo>
                <a:close/>
              </a:path>
              <a:path w="25400" h="69850">
                <a:moveTo>
                  <a:pt x="24942" y="6527"/>
                </a:moveTo>
                <a:lnTo>
                  <a:pt x="24422" y="2755"/>
                </a:lnTo>
                <a:lnTo>
                  <a:pt x="22999" y="1422"/>
                </a:lnTo>
                <a:lnTo>
                  <a:pt x="4305" y="0"/>
                </a:lnTo>
                <a:lnTo>
                  <a:pt x="1790" y="2159"/>
                </a:lnTo>
                <a:lnTo>
                  <a:pt x="1460" y="6527"/>
                </a:lnTo>
                <a:lnTo>
                  <a:pt x="1346" y="7937"/>
                </a:lnTo>
                <a:lnTo>
                  <a:pt x="3517" y="10452"/>
                </a:lnTo>
                <a:lnTo>
                  <a:pt x="6400" y="10668"/>
                </a:lnTo>
                <a:lnTo>
                  <a:pt x="7277" y="10668"/>
                </a:lnTo>
                <a:lnTo>
                  <a:pt x="23533" y="8407"/>
                </a:lnTo>
                <a:lnTo>
                  <a:pt x="24942" y="6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539798" y="1775073"/>
            <a:ext cx="529161" cy="247038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46145" y="1776065"/>
            <a:ext cx="270345" cy="273636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486028" y="1764104"/>
            <a:ext cx="604410" cy="266773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221130" y="1738477"/>
            <a:ext cx="1273810" cy="295448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573219" y="1783469"/>
            <a:ext cx="605307" cy="201372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275963" y="1746822"/>
            <a:ext cx="818929" cy="261232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260028" y="1736103"/>
            <a:ext cx="1830155" cy="289699"/>
          </a:xfrm>
          <a:prstGeom prst="rect">
            <a:avLst/>
          </a:prstGeom>
        </p:spPr>
      </p:pic>
      <p:sp>
        <p:nvSpPr>
          <p:cNvPr id="27" name="object 27" descr=""/>
          <p:cNvSpPr/>
          <p:nvPr/>
        </p:nvSpPr>
        <p:spPr>
          <a:xfrm>
            <a:off x="1309699" y="2163994"/>
            <a:ext cx="13335" cy="10795"/>
          </a:xfrm>
          <a:custGeom>
            <a:avLst/>
            <a:gdLst/>
            <a:ahLst/>
            <a:cxnLst/>
            <a:rect l="l" t="t" r="r" b="b"/>
            <a:pathLst>
              <a:path w="13334" h="10794">
                <a:moveTo>
                  <a:pt x="2999" y="0"/>
                </a:moveTo>
                <a:lnTo>
                  <a:pt x="1516" y="254"/>
                </a:lnTo>
                <a:lnTo>
                  <a:pt x="0" y="2397"/>
                </a:lnTo>
                <a:lnTo>
                  <a:pt x="254" y="3880"/>
                </a:lnTo>
                <a:lnTo>
                  <a:pt x="9932" y="10726"/>
                </a:lnTo>
                <a:lnTo>
                  <a:pt x="11416" y="10472"/>
                </a:lnTo>
                <a:lnTo>
                  <a:pt x="12932" y="8329"/>
                </a:lnTo>
                <a:lnTo>
                  <a:pt x="12678" y="6845"/>
                </a:lnTo>
                <a:lnTo>
                  <a:pt x="29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" name="object 28" descr=""/>
          <p:cNvGrpSpPr/>
          <p:nvPr/>
        </p:nvGrpSpPr>
        <p:grpSpPr>
          <a:xfrm>
            <a:off x="324492" y="2207273"/>
            <a:ext cx="836930" cy="661670"/>
            <a:chOff x="324492" y="2207273"/>
            <a:chExt cx="836930" cy="661670"/>
          </a:xfrm>
        </p:grpSpPr>
        <p:pic>
          <p:nvPicPr>
            <p:cNvPr id="29" name="object 2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43011" y="2257030"/>
              <a:ext cx="218016" cy="191770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24492" y="2207273"/>
              <a:ext cx="676795" cy="661471"/>
            </a:xfrm>
            <a:prstGeom prst="rect">
              <a:avLst/>
            </a:prstGeom>
          </p:spPr>
        </p:pic>
      </p:grpSp>
      <p:pic>
        <p:nvPicPr>
          <p:cNvPr id="31" name="object 31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34869" y="1793459"/>
            <a:ext cx="4922078" cy="1040396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228586" y="2468294"/>
            <a:ext cx="754013" cy="312779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048466" y="2496791"/>
            <a:ext cx="410601" cy="245297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89812" y="3143484"/>
            <a:ext cx="221851" cy="260350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85179" y="3081068"/>
            <a:ext cx="699000" cy="257262"/>
          </a:xfrm>
          <a:prstGeom prst="rect">
            <a:avLst/>
          </a:prstGeom>
        </p:spPr>
      </p:pic>
      <p:sp>
        <p:nvSpPr>
          <p:cNvPr id="36" name="object 36" descr=""/>
          <p:cNvSpPr/>
          <p:nvPr/>
        </p:nvSpPr>
        <p:spPr>
          <a:xfrm>
            <a:off x="1432098" y="3303402"/>
            <a:ext cx="16510" cy="45720"/>
          </a:xfrm>
          <a:custGeom>
            <a:avLst/>
            <a:gdLst/>
            <a:ahLst/>
            <a:cxnLst/>
            <a:rect l="l" t="t" r="r" b="b"/>
            <a:pathLst>
              <a:path w="16509" h="45720">
                <a:moveTo>
                  <a:pt x="12045" y="0"/>
                </a:moveTo>
                <a:lnTo>
                  <a:pt x="908" y="37702"/>
                </a:lnTo>
                <a:lnTo>
                  <a:pt x="0" y="44015"/>
                </a:lnTo>
                <a:lnTo>
                  <a:pt x="682" y="44925"/>
                </a:lnTo>
                <a:lnTo>
                  <a:pt x="2502" y="45187"/>
                </a:lnTo>
                <a:lnTo>
                  <a:pt x="3305" y="44709"/>
                </a:lnTo>
                <a:lnTo>
                  <a:pt x="16162" y="2541"/>
                </a:lnTo>
                <a:lnTo>
                  <a:pt x="15254" y="930"/>
                </a:lnTo>
                <a:lnTo>
                  <a:pt x="120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object 37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594688" y="3105759"/>
            <a:ext cx="1576130" cy="232738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288594" y="3093766"/>
            <a:ext cx="1382862" cy="264441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806899" y="3302702"/>
            <a:ext cx="38964" cy="46519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927611" y="3120428"/>
            <a:ext cx="677009" cy="233253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680232" y="3082613"/>
            <a:ext cx="1307394" cy="257508"/>
          </a:xfrm>
          <a:prstGeom prst="rect">
            <a:avLst/>
          </a:prstGeom>
        </p:spPr>
      </p:pic>
      <p:grpSp>
        <p:nvGrpSpPr>
          <p:cNvPr id="42" name="object 42" descr=""/>
          <p:cNvGrpSpPr/>
          <p:nvPr/>
        </p:nvGrpSpPr>
        <p:grpSpPr>
          <a:xfrm>
            <a:off x="7063130" y="3005190"/>
            <a:ext cx="756285" cy="313055"/>
            <a:chOff x="7063130" y="3005190"/>
            <a:chExt cx="756285" cy="313055"/>
          </a:xfrm>
        </p:grpSpPr>
        <p:pic>
          <p:nvPicPr>
            <p:cNvPr id="43" name="object 43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063130" y="3005190"/>
              <a:ext cx="702831" cy="312559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7801586" y="3304354"/>
              <a:ext cx="18415" cy="10795"/>
            </a:xfrm>
            <a:custGeom>
              <a:avLst/>
              <a:gdLst/>
              <a:ahLst/>
              <a:cxnLst/>
              <a:rect l="l" t="t" r="r" b="b"/>
              <a:pathLst>
                <a:path w="18415" h="10795">
                  <a:moveTo>
                    <a:pt x="15244" y="0"/>
                  </a:moveTo>
                  <a:lnTo>
                    <a:pt x="1135" y="3465"/>
                  </a:lnTo>
                  <a:lnTo>
                    <a:pt x="0" y="5340"/>
                  </a:lnTo>
                  <a:lnTo>
                    <a:pt x="912" y="9053"/>
                  </a:lnTo>
                  <a:lnTo>
                    <a:pt x="2787" y="10188"/>
                  </a:lnTo>
                  <a:lnTo>
                    <a:pt x="4643" y="9732"/>
                  </a:lnTo>
                  <a:lnTo>
                    <a:pt x="16971" y="5554"/>
                  </a:lnTo>
                  <a:lnTo>
                    <a:pt x="17805" y="3861"/>
                  </a:lnTo>
                  <a:lnTo>
                    <a:pt x="16778" y="839"/>
                  </a:lnTo>
                  <a:lnTo>
                    <a:pt x="152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5" name="object 45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10982" y="3526983"/>
            <a:ext cx="844638" cy="292865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825020" y="3490002"/>
            <a:ext cx="1315616" cy="256323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4282726" y="3517897"/>
            <a:ext cx="772390" cy="287604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5120358" y="3549218"/>
            <a:ext cx="224260" cy="228716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258605" y="3458686"/>
            <a:ext cx="1491123" cy="608579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5413244" y="3535282"/>
            <a:ext cx="492274" cy="256178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6055486" y="3518483"/>
            <a:ext cx="2625205" cy="287265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64856" y="4221683"/>
            <a:ext cx="1304495" cy="338635"/>
          </a:xfrm>
          <a:prstGeom prst="rect">
            <a:avLst/>
          </a:prstGeom>
        </p:spPr>
      </p:pic>
      <p:sp>
        <p:nvSpPr>
          <p:cNvPr id="53" name="object 53" descr=""/>
          <p:cNvSpPr/>
          <p:nvPr/>
        </p:nvSpPr>
        <p:spPr>
          <a:xfrm>
            <a:off x="1538037" y="4393081"/>
            <a:ext cx="10795" cy="7620"/>
          </a:xfrm>
          <a:custGeom>
            <a:avLst/>
            <a:gdLst/>
            <a:ahLst/>
            <a:cxnLst/>
            <a:rect l="l" t="t" r="r" b="b"/>
            <a:pathLst>
              <a:path w="10794" h="7620">
                <a:moveTo>
                  <a:pt x="2628" y="0"/>
                </a:moveTo>
                <a:lnTo>
                  <a:pt x="754" y="1260"/>
                </a:lnTo>
                <a:lnTo>
                  <a:pt x="40" y="4922"/>
                </a:lnTo>
                <a:lnTo>
                  <a:pt x="0" y="5128"/>
                </a:lnTo>
                <a:lnTo>
                  <a:pt x="1260" y="7002"/>
                </a:lnTo>
                <a:lnTo>
                  <a:pt x="3195" y="7380"/>
                </a:lnTo>
                <a:lnTo>
                  <a:pt x="4562" y="7380"/>
                </a:lnTo>
                <a:lnTo>
                  <a:pt x="9129" y="6487"/>
                </a:lnTo>
                <a:lnTo>
                  <a:pt x="10183" y="4922"/>
                </a:lnTo>
                <a:lnTo>
                  <a:pt x="9636" y="2116"/>
                </a:lnTo>
                <a:lnTo>
                  <a:pt x="8779" y="1260"/>
                </a:lnTo>
                <a:lnTo>
                  <a:pt x="9083" y="1260"/>
                </a:lnTo>
                <a:lnTo>
                  <a:pt x="26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1527755" y="4454549"/>
            <a:ext cx="13970" cy="11430"/>
          </a:xfrm>
          <a:custGeom>
            <a:avLst/>
            <a:gdLst/>
            <a:ahLst/>
            <a:cxnLst/>
            <a:rect l="l" t="t" r="r" b="b"/>
            <a:pathLst>
              <a:path w="13969" h="11429">
                <a:moveTo>
                  <a:pt x="9876" y="0"/>
                </a:moveTo>
                <a:lnTo>
                  <a:pt x="563" y="5392"/>
                </a:lnTo>
                <a:lnTo>
                  <a:pt x="0" y="7504"/>
                </a:lnTo>
                <a:lnTo>
                  <a:pt x="1910" y="10803"/>
                </a:lnTo>
                <a:lnTo>
                  <a:pt x="4023" y="11366"/>
                </a:lnTo>
                <a:lnTo>
                  <a:pt x="5671" y="10411"/>
                </a:lnTo>
                <a:lnTo>
                  <a:pt x="6039" y="10166"/>
                </a:lnTo>
                <a:lnTo>
                  <a:pt x="13191" y="4695"/>
                </a:lnTo>
                <a:lnTo>
                  <a:pt x="13439" y="2826"/>
                </a:lnTo>
                <a:lnTo>
                  <a:pt x="11529" y="328"/>
                </a:lnTo>
                <a:lnTo>
                  <a:pt x="98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5" name="object 55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751446" y="4255770"/>
            <a:ext cx="832948" cy="248976"/>
          </a:xfrm>
          <a:prstGeom prst="rect">
            <a:avLst/>
          </a:prstGeom>
        </p:spPr>
      </p:pic>
      <p:pic>
        <p:nvPicPr>
          <p:cNvPr id="56" name="object 56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2722176" y="4236465"/>
            <a:ext cx="1441948" cy="246566"/>
          </a:xfrm>
          <a:prstGeom prst="rect">
            <a:avLst/>
          </a:prstGeom>
        </p:spPr>
      </p:pic>
      <p:sp>
        <p:nvSpPr>
          <p:cNvPr id="57" name="object 57" descr=""/>
          <p:cNvSpPr/>
          <p:nvPr/>
        </p:nvSpPr>
        <p:spPr>
          <a:xfrm>
            <a:off x="4256800" y="4491138"/>
            <a:ext cx="11430" cy="18415"/>
          </a:xfrm>
          <a:custGeom>
            <a:avLst/>
            <a:gdLst/>
            <a:ahLst/>
            <a:cxnLst/>
            <a:rect l="l" t="t" r="r" b="b"/>
            <a:pathLst>
              <a:path w="11429" h="18414">
                <a:moveTo>
                  <a:pt x="7684" y="0"/>
                </a:moveTo>
                <a:lnTo>
                  <a:pt x="0" y="13105"/>
                </a:lnTo>
                <a:lnTo>
                  <a:pt x="726" y="16596"/>
                </a:lnTo>
                <a:lnTo>
                  <a:pt x="4850" y="18263"/>
                </a:lnTo>
                <a:lnTo>
                  <a:pt x="5751" y="18263"/>
                </a:lnTo>
                <a:lnTo>
                  <a:pt x="9882" y="17135"/>
                </a:lnTo>
                <a:lnTo>
                  <a:pt x="11015" y="13755"/>
                </a:lnTo>
                <a:lnTo>
                  <a:pt x="11335" y="8648"/>
                </a:lnTo>
                <a:lnTo>
                  <a:pt x="11055" y="6421"/>
                </a:lnTo>
                <a:lnTo>
                  <a:pt x="10228" y="2049"/>
                </a:lnTo>
                <a:lnTo>
                  <a:pt x="10159" y="1686"/>
                </a:lnTo>
                <a:lnTo>
                  <a:pt x="76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6400" y="599414"/>
            <a:ext cx="61194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Tahoma"/>
                <a:cs typeface="Tahoma"/>
              </a:rPr>
              <a:t>Revisit</a:t>
            </a:r>
            <a:r>
              <a:rPr dirty="0" sz="3600" spc="-50">
                <a:latin typeface="Tahoma"/>
                <a:cs typeface="Tahoma"/>
              </a:rPr>
              <a:t> </a:t>
            </a:r>
            <a:r>
              <a:rPr dirty="0" sz="3600">
                <a:latin typeface="Tahoma"/>
                <a:cs typeface="Tahoma"/>
              </a:rPr>
              <a:t>of</a:t>
            </a:r>
            <a:r>
              <a:rPr dirty="0" sz="3600" spc="-50">
                <a:latin typeface="Tahoma"/>
                <a:cs typeface="Tahoma"/>
              </a:rPr>
              <a:t> </a:t>
            </a:r>
            <a:r>
              <a:rPr dirty="0" sz="3600">
                <a:latin typeface="Tahoma"/>
                <a:cs typeface="Tahoma"/>
              </a:rPr>
              <a:t>feed</a:t>
            </a:r>
            <a:r>
              <a:rPr dirty="0" sz="3600" spc="-50">
                <a:latin typeface="Tahoma"/>
                <a:cs typeface="Tahoma"/>
              </a:rPr>
              <a:t> </a:t>
            </a:r>
            <a:r>
              <a:rPr dirty="0" sz="3600">
                <a:latin typeface="Tahoma"/>
                <a:cs typeface="Tahoma"/>
              </a:rPr>
              <a:t>forward</a:t>
            </a:r>
            <a:r>
              <a:rPr dirty="0" sz="3600" spc="-50">
                <a:latin typeface="Tahoma"/>
                <a:cs typeface="Tahoma"/>
              </a:rPr>
              <a:t> </a:t>
            </a:r>
            <a:r>
              <a:rPr dirty="0" sz="3600" spc="-25">
                <a:latin typeface="Tahoma"/>
                <a:cs typeface="Tahoma"/>
              </a:rPr>
              <a:t>NN</a:t>
            </a:r>
            <a:endParaRPr sz="36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9520" y="1412748"/>
            <a:ext cx="5181600" cy="532942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18286" y="2558935"/>
            <a:ext cx="3659504" cy="3317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370">
                <a:latin typeface="Tahoma"/>
                <a:cs typeface="Tahoma"/>
              </a:rPr>
              <a:t> </a:t>
            </a:r>
            <a:r>
              <a:rPr dirty="0" sz="2400" spc="125">
                <a:latin typeface="Tahoma"/>
                <a:cs typeface="Tahoma"/>
              </a:rPr>
              <a:t>feed</a:t>
            </a:r>
            <a:r>
              <a:rPr dirty="0" sz="2400" spc="370">
                <a:latin typeface="Tahoma"/>
                <a:cs typeface="Tahoma"/>
              </a:rPr>
              <a:t> </a:t>
            </a:r>
            <a:r>
              <a:rPr dirty="0" sz="2400" spc="135">
                <a:latin typeface="Tahoma"/>
                <a:cs typeface="Tahoma"/>
              </a:rPr>
              <a:t>forward</a:t>
            </a:r>
            <a:r>
              <a:rPr dirty="0" sz="2400" spc="370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NN</a:t>
            </a:r>
            <a:r>
              <a:rPr dirty="0" sz="2400" spc="370">
                <a:latin typeface="Tahoma"/>
                <a:cs typeface="Tahoma"/>
              </a:rPr>
              <a:t> </a:t>
            </a:r>
            <a:r>
              <a:rPr dirty="0" sz="2400" spc="110">
                <a:latin typeface="Tahoma"/>
                <a:cs typeface="Tahoma"/>
              </a:rPr>
              <a:t>with </a:t>
            </a:r>
            <a:r>
              <a:rPr dirty="0" sz="2400" spc="80">
                <a:latin typeface="Tahoma"/>
                <a:cs typeface="Tahoma"/>
              </a:rPr>
              <a:t>hidden</a:t>
            </a:r>
            <a:r>
              <a:rPr dirty="0" sz="2400" spc="215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nodes,</a:t>
            </a:r>
            <a:r>
              <a:rPr dirty="0" sz="2400" spc="210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trained</a:t>
            </a:r>
            <a:r>
              <a:rPr dirty="0" sz="2400" spc="21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by</a:t>
            </a:r>
            <a:endParaRPr sz="2400">
              <a:latin typeface="Tahoma"/>
              <a:cs typeface="Tahoma"/>
            </a:endParaRPr>
          </a:p>
          <a:p>
            <a:pPr algn="just" marL="12700" marR="5080">
              <a:lnSpc>
                <a:spcPts val="2880"/>
              </a:lnSpc>
              <a:spcBef>
                <a:spcPts val="95"/>
              </a:spcBef>
            </a:pPr>
            <a:r>
              <a:rPr dirty="0" sz="2400">
                <a:latin typeface="Tahoma"/>
                <a:cs typeface="Tahoma"/>
              </a:rPr>
              <a:t>e.g.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BP,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develops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500" spc="-135" b="1" i="1">
                <a:solidFill>
                  <a:srgbClr val="0000FF"/>
                </a:solidFill>
                <a:latin typeface="Verdana"/>
                <a:cs typeface="Verdana"/>
              </a:rPr>
              <a:t>internal </a:t>
            </a:r>
            <a:r>
              <a:rPr dirty="0" sz="2500" spc="-150" b="1" i="1">
                <a:solidFill>
                  <a:srgbClr val="0000FF"/>
                </a:solidFill>
                <a:latin typeface="Verdana"/>
                <a:cs typeface="Verdana"/>
              </a:rPr>
              <a:t>representations</a:t>
            </a:r>
            <a:r>
              <a:rPr dirty="0" sz="2500" spc="125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229">
                <a:latin typeface="Tahoma"/>
                <a:cs typeface="Tahoma"/>
              </a:rPr>
              <a:t> </a:t>
            </a:r>
            <a:r>
              <a:rPr dirty="0" sz="2400" spc="25">
                <a:latin typeface="Tahoma"/>
                <a:cs typeface="Tahoma"/>
              </a:rPr>
              <a:t>the </a:t>
            </a:r>
            <a:r>
              <a:rPr dirty="0" sz="2400" spc="75">
                <a:latin typeface="Tahoma"/>
                <a:cs typeface="Tahoma"/>
              </a:rPr>
              <a:t>input</a:t>
            </a:r>
            <a:r>
              <a:rPr dirty="0" sz="2400" spc="220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signals</a:t>
            </a:r>
            <a:r>
              <a:rPr dirty="0" sz="2400" spc="220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that</a:t>
            </a:r>
            <a:r>
              <a:rPr dirty="0" sz="2400" spc="225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recode </a:t>
            </a:r>
            <a:r>
              <a:rPr dirty="0" sz="2400">
                <a:latin typeface="Tahoma"/>
                <a:cs typeface="Tahoma"/>
              </a:rPr>
              <a:t>those</a:t>
            </a:r>
            <a:r>
              <a:rPr dirty="0" sz="2400" spc="254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signals</a:t>
            </a:r>
            <a:r>
              <a:rPr dirty="0" sz="2400" spc="254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2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26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manner </a:t>
            </a:r>
            <a:r>
              <a:rPr dirty="0" sz="2400" spc="60">
                <a:latin typeface="Tahoma"/>
                <a:cs typeface="Tahoma"/>
              </a:rPr>
              <a:t>that</a:t>
            </a:r>
            <a:r>
              <a:rPr dirty="0" sz="2400" spc="190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enables</a:t>
            </a:r>
            <a:r>
              <a:rPr dirty="0" sz="2400" spc="185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the</a:t>
            </a:r>
            <a:r>
              <a:rPr dirty="0" sz="2400" spc="200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network </a:t>
            </a:r>
            <a:r>
              <a:rPr dirty="0" sz="2400" spc="114">
                <a:latin typeface="Tahoma"/>
                <a:cs typeface="Tahoma"/>
              </a:rPr>
              <a:t>to</a:t>
            </a:r>
            <a:r>
              <a:rPr dirty="0" sz="2400" spc="480">
                <a:latin typeface="Tahoma"/>
                <a:cs typeface="Tahoma"/>
              </a:rPr>
              <a:t> </a:t>
            </a:r>
            <a:r>
              <a:rPr dirty="0" sz="2400" spc="195">
                <a:latin typeface="Tahoma"/>
                <a:cs typeface="Tahoma"/>
              </a:rPr>
              <a:t>produce</a:t>
            </a:r>
            <a:r>
              <a:rPr dirty="0" sz="2400" spc="495">
                <a:latin typeface="Tahoma"/>
                <a:cs typeface="Tahoma"/>
              </a:rPr>
              <a:t> </a:t>
            </a:r>
            <a:r>
              <a:rPr dirty="0" sz="2400" spc="160">
                <a:latin typeface="Tahoma"/>
                <a:cs typeface="Tahoma"/>
              </a:rPr>
              <a:t>the</a:t>
            </a:r>
            <a:r>
              <a:rPr dirty="0" sz="2400" spc="490">
                <a:latin typeface="Tahoma"/>
                <a:cs typeface="Tahoma"/>
              </a:rPr>
              <a:t> </a:t>
            </a:r>
            <a:r>
              <a:rPr dirty="0" sz="2400" spc="185">
                <a:latin typeface="Tahoma"/>
                <a:cs typeface="Tahoma"/>
              </a:rPr>
              <a:t>correct </a:t>
            </a:r>
            <a:r>
              <a:rPr dirty="0" sz="2400" spc="-10">
                <a:latin typeface="Tahoma"/>
                <a:cs typeface="Tahoma"/>
              </a:rPr>
              <a:t>output.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486400" y="1501902"/>
            <a:ext cx="1026160" cy="36195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00965" rIns="0" bIns="0" rtlCol="0" vert="horz">
            <a:spAutoFit/>
          </a:bodyPr>
          <a:lstStyle/>
          <a:p>
            <a:pPr marL="91440">
              <a:lnSpc>
                <a:spcPts val="2055"/>
              </a:lnSpc>
              <a:spcBef>
                <a:spcPts val="795"/>
              </a:spcBef>
            </a:pPr>
            <a:r>
              <a:rPr dirty="0" sz="1800" spc="-10" b="1">
                <a:latin typeface="Tahoma"/>
                <a:cs typeface="Tahoma"/>
              </a:rPr>
              <a:t>Output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106923" y="3860291"/>
            <a:ext cx="1783080" cy="37973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18745" rIns="0" bIns="0" rtlCol="0" vert="horz">
            <a:spAutoFit/>
          </a:bodyPr>
          <a:lstStyle/>
          <a:p>
            <a:pPr marL="91440">
              <a:lnSpc>
                <a:spcPts val="2050"/>
              </a:lnSpc>
              <a:spcBef>
                <a:spcPts val="935"/>
              </a:spcBef>
            </a:pPr>
            <a:r>
              <a:rPr dirty="0" sz="1800" spc="-10" b="1">
                <a:latin typeface="Tahoma"/>
                <a:cs typeface="Tahoma"/>
              </a:rPr>
              <a:t>State/hidden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547359" y="6190488"/>
            <a:ext cx="856615" cy="37973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19380" rIns="0" bIns="0" rtlCol="0" vert="horz">
            <a:spAutoFit/>
          </a:bodyPr>
          <a:lstStyle/>
          <a:p>
            <a:pPr marL="90805">
              <a:lnSpc>
                <a:spcPts val="2050"/>
              </a:lnSpc>
              <a:spcBef>
                <a:spcPts val="940"/>
              </a:spcBef>
            </a:pPr>
            <a:r>
              <a:rPr dirty="0" sz="1800" spc="-10" b="1">
                <a:latin typeface="Tahoma"/>
                <a:cs typeface="Tahoma"/>
              </a:rPr>
              <a:t>Input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13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5281" rIns="0" bIns="0" rtlCol="0" vert="horz">
            <a:spAutoFit/>
          </a:bodyPr>
          <a:lstStyle/>
          <a:p>
            <a:pPr marL="107315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Tahoma"/>
                <a:cs typeface="Tahoma"/>
              </a:rPr>
              <a:t>Motivation</a:t>
            </a:r>
            <a:r>
              <a:rPr dirty="0" sz="3600" spc="-114">
                <a:latin typeface="Tahoma"/>
                <a:cs typeface="Tahoma"/>
              </a:rPr>
              <a:t> </a:t>
            </a:r>
            <a:r>
              <a:rPr dirty="0" sz="3600">
                <a:latin typeface="Tahoma"/>
                <a:cs typeface="Tahoma"/>
              </a:rPr>
              <a:t>for</a:t>
            </a:r>
            <a:r>
              <a:rPr dirty="0" sz="3600" spc="-105">
                <a:latin typeface="Tahoma"/>
                <a:cs typeface="Tahoma"/>
              </a:rPr>
              <a:t> </a:t>
            </a:r>
            <a:r>
              <a:rPr dirty="0" sz="3600">
                <a:latin typeface="Tahoma"/>
                <a:cs typeface="Tahoma"/>
              </a:rPr>
              <a:t>dynamic</a:t>
            </a:r>
            <a:r>
              <a:rPr dirty="0" sz="3600" spc="-100">
                <a:latin typeface="Tahoma"/>
                <a:cs typeface="Tahoma"/>
              </a:rPr>
              <a:t> </a:t>
            </a:r>
            <a:r>
              <a:rPr dirty="0" sz="3600" spc="-10">
                <a:latin typeface="Tahoma"/>
                <a:cs typeface="Tahoma"/>
              </a:rPr>
              <a:t>networks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02272" y="2057742"/>
            <a:ext cx="8223250" cy="245427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355600" marR="172720" indent="-342900">
              <a:lnSpc>
                <a:spcPts val="3020"/>
              </a:lnSpc>
              <a:spcBef>
                <a:spcPts val="47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Sometimes,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require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our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model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sensitive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inputs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that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were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presented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some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time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ago.</a:t>
            </a:r>
            <a:endParaRPr sz="2800">
              <a:latin typeface="Tahoma"/>
              <a:cs typeface="Tahoma"/>
            </a:endParaRPr>
          </a:p>
          <a:p>
            <a:pPr marL="355600" marR="5080" indent="-342900">
              <a:lnSpc>
                <a:spcPts val="3020"/>
              </a:lnSpc>
              <a:spcBef>
                <a:spcPts val="67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other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words,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our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requirement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not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met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by</a:t>
            </a:r>
            <a:r>
              <a:rPr dirty="0" sz="2800" spc="-50">
                <a:latin typeface="Tahoma"/>
                <a:cs typeface="Tahoma"/>
              </a:rPr>
              <a:t> a </a:t>
            </a:r>
            <a:r>
              <a:rPr dirty="0" sz="2800">
                <a:latin typeface="Tahoma"/>
                <a:cs typeface="Tahoma"/>
              </a:rPr>
              <a:t>function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(no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matter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how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complex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it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may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be)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and </a:t>
            </a:r>
            <a:r>
              <a:rPr dirty="0" sz="2800">
                <a:latin typeface="Tahoma"/>
                <a:cs typeface="Tahoma"/>
              </a:rPr>
              <a:t>demands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b="1">
                <a:latin typeface="Tahoma"/>
                <a:cs typeface="Tahoma"/>
              </a:rPr>
              <a:t>a</a:t>
            </a:r>
            <a:r>
              <a:rPr dirty="0" sz="2800" spc="-50" b="1">
                <a:latin typeface="Tahoma"/>
                <a:cs typeface="Tahoma"/>
              </a:rPr>
              <a:t> </a:t>
            </a:r>
            <a:r>
              <a:rPr dirty="0" sz="2800" b="1">
                <a:latin typeface="Tahoma"/>
                <a:cs typeface="Tahoma"/>
              </a:rPr>
              <a:t>model</a:t>
            </a:r>
            <a:r>
              <a:rPr dirty="0" sz="2800" spc="-50" b="1">
                <a:latin typeface="Tahoma"/>
                <a:cs typeface="Tahoma"/>
              </a:rPr>
              <a:t> </a:t>
            </a:r>
            <a:r>
              <a:rPr dirty="0" sz="2800" b="1">
                <a:latin typeface="Tahoma"/>
                <a:cs typeface="Tahoma"/>
              </a:rPr>
              <a:t>which</a:t>
            </a:r>
            <a:r>
              <a:rPr dirty="0" sz="2800" spc="-45" b="1">
                <a:latin typeface="Tahoma"/>
                <a:cs typeface="Tahoma"/>
              </a:rPr>
              <a:t> </a:t>
            </a:r>
            <a:r>
              <a:rPr dirty="0" sz="2800" b="1">
                <a:latin typeface="Tahoma"/>
                <a:cs typeface="Tahoma"/>
              </a:rPr>
              <a:t>maintains</a:t>
            </a:r>
            <a:r>
              <a:rPr dirty="0" sz="2800" spc="-50" b="1">
                <a:latin typeface="Tahoma"/>
                <a:cs typeface="Tahoma"/>
              </a:rPr>
              <a:t> </a:t>
            </a:r>
            <a:r>
              <a:rPr dirty="0" sz="2800" b="1">
                <a:latin typeface="Tahoma"/>
                <a:cs typeface="Tahoma"/>
              </a:rPr>
              <a:t>a</a:t>
            </a:r>
            <a:r>
              <a:rPr dirty="0" sz="2800" spc="-50" b="1">
                <a:latin typeface="Tahoma"/>
                <a:cs typeface="Tahoma"/>
              </a:rPr>
              <a:t> </a:t>
            </a:r>
            <a:r>
              <a:rPr dirty="0" sz="2900" spc="-195" b="1" i="1">
                <a:solidFill>
                  <a:srgbClr val="FF0000"/>
                </a:solidFill>
                <a:latin typeface="Verdana"/>
                <a:cs typeface="Verdana"/>
              </a:rPr>
              <a:t>state</a:t>
            </a:r>
            <a:r>
              <a:rPr dirty="0" sz="2800" spc="-195">
                <a:latin typeface="Tahoma"/>
                <a:cs typeface="Tahoma"/>
              </a:rPr>
              <a:t>,</a:t>
            </a:r>
            <a:r>
              <a:rPr dirty="0" sz="2800" spc="-2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or </a:t>
            </a:r>
            <a:r>
              <a:rPr dirty="0" sz="2800" b="1">
                <a:solidFill>
                  <a:srgbClr val="FF0000"/>
                </a:solidFill>
                <a:latin typeface="Tahoma"/>
                <a:cs typeface="Tahoma"/>
              </a:rPr>
              <a:t>memory</a:t>
            </a:r>
            <a:r>
              <a:rPr dirty="0" sz="2800">
                <a:latin typeface="Tahoma"/>
                <a:cs typeface="Tahoma"/>
              </a:rPr>
              <a:t>,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over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several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presentations.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2272" y="4529162"/>
            <a:ext cx="57277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Which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applications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need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memory?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59472" y="4990172"/>
            <a:ext cx="7760334" cy="145097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98450" marR="5080" indent="-285750">
              <a:lnSpc>
                <a:spcPts val="2590"/>
              </a:lnSpc>
              <a:spcBef>
                <a:spcPts val="425"/>
              </a:spcBef>
              <a:buClr>
                <a:srgbClr val="FF0000"/>
              </a:buClr>
              <a:buSzPct val="54166"/>
              <a:buFont typeface="Tahoma"/>
              <a:buChar char="■"/>
              <a:tabLst>
                <a:tab pos="298450" algn="l"/>
              </a:tabLst>
            </a:pP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sequential</a:t>
            </a:r>
            <a:r>
              <a:rPr dirty="0" sz="2400" spc="-6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input</a:t>
            </a:r>
            <a:r>
              <a:rPr dirty="0" sz="2400" spc="-2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(e.g.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language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understanding,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robot </a:t>
            </a:r>
            <a:r>
              <a:rPr dirty="0" sz="2400">
                <a:latin typeface="Tahoma"/>
                <a:cs typeface="Tahoma"/>
              </a:rPr>
              <a:t>exploration,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...),</a:t>
            </a:r>
            <a:endParaRPr sz="2400">
              <a:latin typeface="Tahoma"/>
              <a:cs typeface="Tahoma"/>
            </a:endParaRPr>
          </a:p>
          <a:p>
            <a:pPr marL="298450" marR="187325" indent="-285750">
              <a:lnSpc>
                <a:spcPts val="259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Tahoma"/>
              <a:buChar char="■"/>
              <a:tabLst>
                <a:tab pos="298450" algn="l"/>
              </a:tabLst>
            </a:pP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sequential</a:t>
            </a:r>
            <a:r>
              <a:rPr dirty="0" sz="2400" spc="-5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output</a:t>
            </a:r>
            <a:r>
              <a:rPr dirty="0" sz="2400" spc="-5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(e.g.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speech,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route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planning,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...), </a:t>
            </a:r>
            <a:r>
              <a:rPr dirty="0" sz="2400">
                <a:latin typeface="Tahoma"/>
                <a:cs typeface="Tahoma"/>
              </a:rPr>
              <a:t>or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combinations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above.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14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176" y="555263"/>
            <a:ext cx="1049437" cy="32751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1013" y="574559"/>
            <a:ext cx="2017349" cy="31567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36633" y="503430"/>
            <a:ext cx="1315198" cy="407873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6485387" y="4439847"/>
            <a:ext cx="2038985" cy="4330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40">
                <a:latin typeface="Microsoft JhengHei UI Light"/>
                <a:cs typeface="Microsoft JhengHei UI Light"/>
              </a:rPr>
              <a:t>简单的 </a:t>
            </a:r>
            <a:r>
              <a:rPr dirty="0" sz="950" spc="50">
                <a:latin typeface="Microsoft JhengHei UI Light"/>
                <a:cs typeface="Microsoft JhengHei UI Light"/>
              </a:rPr>
              <a:t>f(x)</a:t>
            </a:r>
            <a:r>
              <a:rPr dirty="0" sz="950" spc="85">
                <a:latin typeface="Microsoft JhengHei UI Light"/>
                <a:cs typeface="Microsoft JhengHei UI Light"/>
              </a:rPr>
              <a:t> -</a:t>
            </a:r>
            <a:r>
              <a:rPr dirty="0" sz="950">
                <a:latin typeface="Microsoft JhengHei UI Light"/>
                <a:cs typeface="Microsoft JhengHei UI Light"/>
              </a:rPr>
              <a:t>&gt;y</a:t>
            </a:r>
            <a:r>
              <a:rPr dirty="0" sz="950" spc="10">
                <a:latin typeface="Microsoft JhengHei UI Light"/>
                <a:cs typeface="Microsoft JhengHei UI Light"/>
              </a:rPr>
              <a:t> 映射是不够的。</a:t>
            </a:r>
            <a:endParaRPr sz="950">
              <a:latin typeface="Microsoft JhengHei UI Light"/>
              <a:cs typeface="Microsoft JhengHei UI Light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950" spc="-85">
                <a:latin typeface="Microsoft JhengHei UI Light"/>
                <a:cs typeface="Microsoft JhengHei UI Light"/>
              </a:rPr>
              <a:t>我们需要⼀个能够“维持”⼀个“状态”</a:t>
            </a:r>
            <a:endParaRPr sz="950">
              <a:latin typeface="Microsoft JhengHei UI Light"/>
              <a:cs typeface="Microsoft JhengHei UI Ligh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485387" y="4872109"/>
            <a:ext cx="211772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>
                <a:latin typeface="Microsoft JhengHei UI Light"/>
                <a:cs typeface="Microsoft JhengHei UI Light"/>
              </a:rPr>
              <a:t>(state)</a:t>
            </a:r>
            <a:r>
              <a:rPr dirty="0" sz="950" spc="-50">
                <a:latin typeface="Microsoft JhengHei UI Light"/>
                <a:cs typeface="Microsoft JhengHei UI Light"/>
              </a:rPr>
              <a:t> 或 “记忆” </a:t>
            </a:r>
            <a:r>
              <a:rPr dirty="0" sz="950">
                <a:latin typeface="Microsoft JhengHei UI Light"/>
                <a:cs typeface="Microsoft JhengHei UI Light"/>
              </a:rPr>
              <a:t>(memory)</a:t>
            </a:r>
            <a:r>
              <a:rPr dirty="0" sz="950" spc="20">
                <a:latin typeface="Microsoft JhengHei UI Light"/>
                <a:cs typeface="Microsoft JhengHei UI Light"/>
              </a:rPr>
              <a:t> 的模型。</a:t>
            </a:r>
            <a:endParaRPr sz="950">
              <a:latin typeface="Microsoft JhengHei UI Light"/>
              <a:cs typeface="Microsoft JhengHei UI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8445" y="723811"/>
            <a:ext cx="536638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latin typeface="Tahoma"/>
                <a:cs typeface="Tahoma"/>
              </a:rPr>
              <a:t>Sequence</a:t>
            </a:r>
            <a:r>
              <a:rPr dirty="0" sz="4400" spc="-90">
                <a:latin typeface="Tahoma"/>
                <a:cs typeface="Tahoma"/>
              </a:rPr>
              <a:t> </a:t>
            </a:r>
            <a:r>
              <a:rPr dirty="0" sz="4400" spc="-10">
                <a:latin typeface="Tahoma"/>
                <a:cs typeface="Tahoma"/>
              </a:rPr>
              <a:t>Learning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2765" y="2068476"/>
            <a:ext cx="7907020" cy="452437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 marR="503555" indent="233045">
              <a:lnSpc>
                <a:spcPts val="2880"/>
              </a:lnSpc>
              <a:spcBef>
                <a:spcPts val="315"/>
              </a:spcBef>
              <a:buClr>
                <a:srgbClr val="0000FF"/>
              </a:buClr>
              <a:buSzPct val="97916"/>
              <a:buChar char="•"/>
              <a:tabLst>
                <a:tab pos="245745" algn="l"/>
              </a:tabLst>
            </a:pPr>
            <a:r>
              <a:rPr dirty="0" sz="2400">
                <a:latin typeface="Tahoma"/>
                <a:cs typeface="Tahoma"/>
              </a:rPr>
              <a:t>MLP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&amp;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RBF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networks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 </a:t>
            </a:r>
            <a:r>
              <a:rPr dirty="0" sz="2500" spc="-195" b="1" i="1">
                <a:solidFill>
                  <a:srgbClr val="0000FF"/>
                </a:solidFill>
                <a:latin typeface="Verdana"/>
                <a:cs typeface="Verdana"/>
              </a:rPr>
              <a:t>static</a:t>
            </a:r>
            <a:r>
              <a:rPr dirty="0" sz="2500" spc="-155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220" b="1" i="1">
                <a:solidFill>
                  <a:srgbClr val="0000FF"/>
                </a:solidFill>
                <a:latin typeface="Verdana"/>
                <a:cs typeface="Verdana"/>
              </a:rPr>
              <a:t>networks</a:t>
            </a:r>
            <a:r>
              <a:rPr dirty="0" sz="2400" spc="-220">
                <a:latin typeface="Tahoma"/>
                <a:cs typeface="Tahoma"/>
              </a:rPr>
              <a:t>,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500" spc="-235" i="1">
                <a:latin typeface="Verdana"/>
                <a:cs typeface="Verdana"/>
              </a:rPr>
              <a:t>i.e.,</a:t>
            </a:r>
            <a:r>
              <a:rPr dirty="0" sz="2500" spc="-135" i="1">
                <a:latin typeface="Verdana"/>
                <a:cs typeface="Verdana"/>
              </a:rPr>
              <a:t> </a:t>
            </a:r>
            <a:r>
              <a:rPr dirty="0" sz="2400" spc="-20">
                <a:latin typeface="Tahoma"/>
                <a:cs typeface="Tahoma"/>
              </a:rPr>
              <a:t>they </a:t>
            </a:r>
            <a:r>
              <a:rPr dirty="0" sz="2400">
                <a:latin typeface="Tahoma"/>
                <a:cs typeface="Tahoma"/>
              </a:rPr>
              <a:t>learn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mapping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from</a:t>
            </a:r>
            <a:r>
              <a:rPr dirty="0" u="heavy" sz="240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dirty="0" u="heavy" sz="2400" spc="-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single</a:t>
            </a:r>
            <a:r>
              <a:rPr dirty="0" u="heavy" sz="2400" spc="-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input</a:t>
            </a:r>
            <a:r>
              <a:rPr dirty="0" u="heavy" sz="2400" spc="-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signal</a:t>
            </a:r>
            <a:r>
              <a:rPr dirty="0" u="heavy" sz="2400" spc="-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to</a:t>
            </a:r>
            <a:r>
              <a:rPr dirty="0" u="heavy" sz="240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dirty="0" u="heavy" sz="2400" spc="-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single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output</a:t>
            </a:r>
            <a:r>
              <a:rPr dirty="0" u="heavy" sz="2400" spc="-4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response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arbitrary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large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number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pairs.</a:t>
            </a:r>
            <a:endParaRPr sz="2400">
              <a:latin typeface="Tahoma"/>
              <a:cs typeface="Tahoma"/>
            </a:endParaRPr>
          </a:p>
          <a:p>
            <a:pPr marL="12700" marR="5080" indent="-10160">
              <a:lnSpc>
                <a:spcPts val="2880"/>
              </a:lnSpc>
              <a:spcBef>
                <a:spcPts val="1200"/>
              </a:spcBef>
              <a:buClr>
                <a:srgbClr val="0000FF"/>
              </a:buClr>
              <a:buSzPct val="94000"/>
              <a:buFont typeface="Tahoma"/>
              <a:buChar char="•"/>
              <a:tabLst>
                <a:tab pos="150495" algn="l"/>
              </a:tabLst>
            </a:pPr>
            <a:r>
              <a:rPr dirty="0" sz="2500" spc="-250" b="1" i="1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dirty="0" sz="2500" spc="-250" b="1" i="1">
                <a:solidFill>
                  <a:srgbClr val="FF0000"/>
                </a:solidFill>
                <a:latin typeface="Verdana"/>
                <a:cs typeface="Verdana"/>
              </a:rPr>
              <a:t>Dynamic</a:t>
            </a:r>
            <a:r>
              <a:rPr dirty="0" sz="2500" spc="-155" b="1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z="2500" spc="-240" b="1" i="1">
                <a:solidFill>
                  <a:srgbClr val="FF0000"/>
                </a:solidFill>
                <a:latin typeface="Verdana"/>
                <a:cs typeface="Verdana"/>
              </a:rPr>
              <a:t>networks</a:t>
            </a:r>
            <a:r>
              <a:rPr dirty="0" sz="2500" spc="-150" b="1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z="2400">
                <a:latin typeface="Tahoma"/>
                <a:cs typeface="Tahoma"/>
              </a:rPr>
              <a:t>learn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mapping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from</a:t>
            </a:r>
            <a:r>
              <a:rPr dirty="0" u="heavy" sz="240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dirty="0" u="heavy" sz="2400" spc="-1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single</a:t>
            </a:r>
            <a:r>
              <a:rPr dirty="0" u="heavy" sz="2400" spc="-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input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signal</a:t>
            </a:r>
            <a:r>
              <a:rPr dirty="0" u="heavy" sz="2400" spc="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to</a:t>
            </a:r>
            <a:r>
              <a:rPr dirty="0" u="heavy" sz="2400" spc="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dirty="0" u="heavy" sz="2400" spc="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500" spc="-245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sequence</a:t>
            </a:r>
            <a:r>
              <a:rPr dirty="0" u="heavy" sz="2500" spc="-120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heavy" sz="2500" spc="-170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of</a:t>
            </a:r>
            <a:r>
              <a:rPr dirty="0" u="heavy" sz="2500" spc="-125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heavy" sz="2500" spc="-245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response</a:t>
            </a:r>
            <a:r>
              <a:rPr dirty="0" u="heavy" sz="2500" spc="-120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heavy" sz="2500" spc="-195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signals</a:t>
            </a:r>
            <a:r>
              <a:rPr dirty="0" sz="2400" spc="-195">
                <a:latin typeface="Tahoma"/>
                <a:cs typeface="Tahoma"/>
              </a:rPr>
              <a:t>,</a:t>
            </a:r>
            <a:r>
              <a:rPr dirty="0" sz="2400" spc="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arbitrary </a:t>
            </a:r>
            <a:r>
              <a:rPr dirty="0" sz="2400">
                <a:latin typeface="Tahoma"/>
                <a:cs typeface="Tahoma"/>
              </a:rPr>
              <a:t>number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pairs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(signal,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sequence).</a:t>
            </a:r>
            <a:endParaRPr sz="2400">
              <a:latin typeface="Tahoma"/>
              <a:cs typeface="Tahoma"/>
            </a:endParaRPr>
          </a:p>
          <a:p>
            <a:pPr marL="12700" marR="242570" indent="-10160">
              <a:lnSpc>
                <a:spcPct val="100000"/>
              </a:lnSpc>
              <a:spcBef>
                <a:spcPts val="1105"/>
              </a:spcBef>
              <a:buClr>
                <a:srgbClr val="0000FF"/>
              </a:buClr>
              <a:buSzPct val="97916"/>
              <a:buChar char="•"/>
              <a:tabLst>
                <a:tab pos="150495" algn="l"/>
              </a:tabLst>
            </a:pPr>
            <a:r>
              <a:rPr dirty="0" sz="2400" spc="-20">
                <a:latin typeface="Tahoma"/>
                <a:cs typeface="Tahoma"/>
              </a:rPr>
              <a:t>	</a:t>
            </a:r>
            <a:r>
              <a:rPr dirty="0" sz="2400" spc="-20">
                <a:latin typeface="Tahoma"/>
                <a:cs typeface="Tahoma"/>
              </a:rPr>
              <a:t>Typically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signal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dynamic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an </a:t>
            </a:r>
            <a:r>
              <a:rPr dirty="0" sz="2400">
                <a:latin typeface="Tahoma"/>
                <a:cs typeface="Tahoma"/>
              </a:rPr>
              <a:t>element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sequence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produces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rest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sequence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response.</a:t>
            </a:r>
            <a:endParaRPr sz="2400">
              <a:latin typeface="Tahoma"/>
              <a:cs typeface="Tahoma"/>
            </a:endParaRPr>
          </a:p>
          <a:p>
            <a:pPr marL="12700" marR="108585" indent="-10160">
              <a:lnSpc>
                <a:spcPts val="2880"/>
              </a:lnSpc>
              <a:spcBef>
                <a:spcPts val="1295"/>
              </a:spcBef>
              <a:buClr>
                <a:srgbClr val="0000FF"/>
              </a:buClr>
              <a:buSzPct val="94000"/>
              <a:buFont typeface="Tahoma"/>
              <a:buChar char="•"/>
              <a:tabLst>
                <a:tab pos="150495" algn="l"/>
              </a:tabLst>
            </a:pPr>
            <a:r>
              <a:rPr dirty="0" sz="2500" spc="-245" b="1" i="1">
                <a:solidFill>
                  <a:srgbClr val="00B050"/>
                </a:solidFill>
                <a:latin typeface="Verdana"/>
                <a:cs typeface="Verdana"/>
              </a:rPr>
              <a:t>	</a:t>
            </a:r>
            <a:r>
              <a:rPr dirty="0" sz="2500" spc="-245" b="1" i="1">
                <a:solidFill>
                  <a:srgbClr val="00B050"/>
                </a:solidFill>
                <a:latin typeface="Verdana"/>
                <a:cs typeface="Verdana"/>
              </a:rPr>
              <a:t>To</a:t>
            </a:r>
            <a:r>
              <a:rPr dirty="0" sz="2500" spc="-135" b="1" i="1">
                <a:solidFill>
                  <a:srgbClr val="00B050"/>
                </a:solidFill>
                <a:latin typeface="Verdana"/>
                <a:cs typeface="Verdana"/>
              </a:rPr>
              <a:t> </a:t>
            </a:r>
            <a:r>
              <a:rPr dirty="0" sz="2500" spc="-225" b="1" i="1">
                <a:solidFill>
                  <a:srgbClr val="00B050"/>
                </a:solidFill>
                <a:latin typeface="Verdana"/>
                <a:cs typeface="Verdana"/>
              </a:rPr>
              <a:t>learn</a:t>
            </a:r>
            <a:r>
              <a:rPr dirty="0" sz="2500" spc="-135" b="1" i="1">
                <a:solidFill>
                  <a:srgbClr val="00B050"/>
                </a:solidFill>
                <a:latin typeface="Verdana"/>
                <a:cs typeface="Verdana"/>
              </a:rPr>
              <a:t> </a:t>
            </a:r>
            <a:r>
              <a:rPr dirty="0" sz="2500" spc="-250" b="1" i="1">
                <a:solidFill>
                  <a:srgbClr val="00B050"/>
                </a:solidFill>
                <a:latin typeface="Verdana"/>
                <a:cs typeface="Verdana"/>
              </a:rPr>
              <a:t>sequences</a:t>
            </a:r>
            <a:r>
              <a:rPr dirty="0" sz="2500" spc="-125" b="1" i="1">
                <a:solidFill>
                  <a:srgbClr val="00B050"/>
                </a:solidFill>
                <a:latin typeface="Verdana"/>
                <a:cs typeface="Verdana"/>
              </a:rPr>
              <a:t> </a:t>
            </a:r>
            <a:r>
              <a:rPr dirty="0" sz="2500" spc="-290" b="1" i="1">
                <a:solidFill>
                  <a:srgbClr val="00B050"/>
                </a:solidFill>
                <a:latin typeface="Verdana"/>
                <a:cs typeface="Verdana"/>
              </a:rPr>
              <a:t>we</a:t>
            </a:r>
            <a:r>
              <a:rPr dirty="0" sz="2500" spc="-130" b="1" i="1">
                <a:solidFill>
                  <a:srgbClr val="00B050"/>
                </a:solidFill>
                <a:latin typeface="Verdana"/>
                <a:cs typeface="Verdana"/>
              </a:rPr>
              <a:t> </a:t>
            </a:r>
            <a:r>
              <a:rPr dirty="0" sz="2500" spc="-254" b="1" i="1">
                <a:solidFill>
                  <a:srgbClr val="00B050"/>
                </a:solidFill>
                <a:latin typeface="Verdana"/>
                <a:cs typeface="Verdana"/>
              </a:rPr>
              <a:t>need</a:t>
            </a:r>
            <a:r>
              <a:rPr dirty="0" sz="2500" spc="-125" b="1" i="1">
                <a:solidFill>
                  <a:srgbClr val="00B050"/>
                </a:solidFill>
                <a:latin typeface="Verdana"/>
                <a:cs typeface="Verdana"/>
              </a:rPr>
              <a:t> </a:t>
            </a:r>
            <a:r>
              <a:rPr dirty="0" sz="2500" spc="-204" b="1" i="1">
                <a:solidFill>
                  <a:srgbClr val="00B050"/>
                </a:solidFill>
                <a:latin typeface="Verdana"/>
                <a:cs typeface="Verdana"/>
              </a:rPr>
              <a:t>to</a:t>
            </a:r>
            <a:r>
              <a:rPr dirty="0" sz="2500" spc="-135" b="1" i="1">
                <a:solidFill>
                  <a:srgbClr val="00B050"/>
                </a:solidFill>
                <a:latin typeface="Verdana"/>
                <a:cs typeface="Verdana"/>
              </a:rPr>
              <a:t> </a:t>
            </a:r>
            <a:r>
              <a:rPr dirty="0" sz="2500" spc="-220" b="1" i="1">
                <a:solidFill>
                  <a:srgbClr val="00B050"/>
                </a:solidFill>
                <a:latin typeface="Verdana"/>
                <a:cs typeface="Verdana"/>
              </a:rPr>
              <a:t>include</a:t>
            </a:r>
            <a:r>
              <a:rPr dirty="0" sz="2500" spc="-130" b="1" i="1">
                <a:solidFill>
                  <a:srgbClr val="00B050"/>
                </a:solidFill>
                <a:latin typeface="Verdana"/>
                <a:cs typeface="Verdana"/>
              </a:rPr>
              <a:t> </a:t>
            </a:r>
            <a:r>
              <a:rPr dirty="0" sz="2500" spc="-285" b="1" i="1">
                <a:solidFill>
                  <a:srgbClr val="00B050"/>
                </a:solidFill>
                <a:latin typeface="Verdana"/>
                <a:cs typeface="Verdana"/>
              </a:rPr>
              <a:t>some</a:t>
            </a:r>
            <a:r>
              <a:rPr dirty="0" sz="2500" spc="-125" b="1" i="1">
                <a:solidFill>
                  <a:srgbClr val="00B050"/>
                </a:solidFill>
                <a:latin typeface="Verdana"/>
                <a:cs typeface="Verdana"/>
              </a:rPr>
              <a:t> </a:t>
            </a:r>
            <a:r>
              <a:rPr dirty="0" sz="2500" spc="-145" b="1" i="1">
                <a:solidFill>
                  <a:srgbClr val="00B050"/>
                </a:solidFill>
                <a:latin typeface="Verdana"/>
                <a:cs typeface="Verdana"/>
              </a:rPr>
              <a:t>form </a:t>
            </a:r>
            <a:r>
              <a:rPr dirty="0" sz="2500" spc="-200" b="1" i="1">
                <a:solidFill>
                  <a:srgbClr val="00B050"/>
                </a:solidFill>
                <a:latin typeface="Verdana"/>
                <a:cs typeface="Verdana"/>
              </a:rPr>
              <a:t>of</a:t>
            </a:r>
            <a:r>
              <a:rPr dirty="0" sz="2500" spc="-125" b="1" i="1">
                <a:solidFill>
                  <a:srgbClr val="00B050"/>
                </a:solidFill>
                <a:latin typeface="Verdana"/>
                <a:cs typeface="Verdana"/>
              </a:rPr>
              <a:t> </a:t>
            </a:r>
            <a:r>
              <a:rPr dirty="0" sz="2500" spc="-285" b="1" i="1">
                <a:solidFill>
                  <a:srgbClr val="00B050"/>
                </a:solidFill>
                <a:latin typeface="Verdana"/>
                <a:cs typeface="Verdana"/>
              </a:rPr>
              <a:t>memory</a:t>
            </a:r>
            <a:r>
              <a:rPr dirty="0" sz="2500" spc="-135" b="1" i="1">
                <a:solidFill>
                  <a:srgbClr val="00B050"/>
                </a:solidFill>
                <a:latin typeface="Verdana"/>
                <a:cs typeface="Verdana"/>
              </a:rPr>
              <a:t> </a:t>
            </a:r>
            <a:r>
              <a:rPr dirty="0" sz="2500" spc="-240" b="1" i="1">
                <a:solidFill>
                  <a:srgbClr val="00B050"/>
                </a:solidFill>
                <a:latin typeface="Verdana"/>
                <a:cs typeface="Verdana"/>
              </a:rPr>
              <a:t>(</a:t>
            </a:r>
            <a:r>
              <a:rPr dirty="0" sz="2500" spc="-240" b="1" i="1">
                <a:solidFill>
                  <a:srgbClr val="0000FF"/>
                </a:solidFill>
                <a:latin typeface="Verdana"/>
                <a:cs typeface="Verdana"/>
              </a:rPr>
              <a:t>short</a:t>
            </a:r>
            <a:r>
              <a:rPr dirty="0" sz="2500" spc="-130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250" b="1" i="1">
                <a:solidFill>
                  <a:srgbClr val="0000FF"/>
                </a:solidFill>
                <a:latin typeface="Verdana"/>
                <a:cs typeface="Verdana"/>
              </a:rPr>
              <a:t>term</a:t>
            </a:r>
            <a:r>
              <a:rPr dirty="0" sz="2500" spc="-125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285" b="1" i="1">
                <a:solidFill>
                  <a:srgbClr val="0000FF"/>
                </a:solidFill>
                <a:latin typeface="Verdana"/>
                <a:cs typeface="Verdana"/>
              </a:rPr>
              <a:t>memory</a:t>
            </a:r>
            <a:r>
              <a:rPr dirty="0" sz="2500" spc="-285" b="1" i="1">
                <a:solidFill>
                  <a:srgbClr val="00B050"/>
                </a:solidFill>
                <a:latin typeface="Verdana"/>
                <a:cs typeface="Verdana"/>
              </a:rPr>
              <a:t>)</a:t>
            </a:r>
            <a:r>
              <a:rPr dirty="0" sz="2500" spc="-125" b="1" i="1">
                <a:solidFill>
                  <a:srgbClr val="00B050"/>
                </a:solidFill>
                <a:latin typeface="Verdana"/>
                <a:cs typeface="Verdana"/>
              </a:rPr>
              <a:t> </a:t>
            </a:r>
            <a:r>
              <a:rPr dirty="0" sz="2500" spc="-204" b="1" i="1">
                <a:solidFill>
                  <a:srgbClr val="00B050"/>
                </a:solidFill>
                <a:latin typeface="Verdana"/>
                <a:cs typeface="Verdana"/>
              </a:rPr>
              <a:t>to</a:t>
            </a:r>
            <a:r>
              <a:rPr dirty="0" sz="2500" spc="-130" b="1" i="1">
                <a:solidFill>
                  <a:srgbClr val="00B050"/>
                </a:solidFill>
                <a:latin typeface="Verdana"/>
                <a:cs typeface="Verdana"/>
              </a:rPr>
              <a:t> </a:t>
            </a:r>
            <a:r>
              <a:rPr dirty="0" sz="2500" spc="-225" b="1" i="1">
                <a:solidFill>
                  <a:srgbClr val="00B050"/>
                </a:solidFill>
                <a:latin typeface="Verdana"/>
                <a:cs typeface="Verdana"/>
              </a:rPr>
              <a:t>the</a:t>
            </a:r>
            <a:r>
              <a:rPr dirty="0" sz="2500" spc="-125" b="1" i="1">
                <a:solidFill>
                  <a:srgbClr val="00B050"/>
                </a:solidFill>
                <a:latin typeface="Verdana"/>
                <a:cs typeface="Verdana"/>
              </a:rPr>
              <a:t> </a:t>
            </a:r>
            <a:r>
              <a:rPr dirty="0" sz="2500" spc="-80" b="1" i="1">
                <a:solidFill>
                  <a:srgbClr val="00B050"/>
                </a:solidFill>
                <a:latin typeface="Verdana"/>
                <a:cs typeface="Verdana"/>
              </a:rPr>
              <a:t>network.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15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565" y="48305"/>
            <a:ext cx="993882" cy="40861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3822" y="63959"/>
            <a:ext cx="1291756" cy="33988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24730" y="195972"/>
            <a:ext cx="246353" cy="954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84830" y="48362"/>
            <a:ext cx="1179444" cy="31783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649515" y="125871"/>
            <a:ext cx="4210050" cy="7531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7800"/>
              </a:lnSpc>
              <a:spcBef>
                <a:spcPts val="95"/>
              </a:spcBef>
            </a:pPr>
            <a:r>
              <a:rPr dirty="0" sz="1350" spc="-65">
                <a:latin typeface="Microsoft JhengHei UI Light"/>
                <a:cs typeface="Microsoft JhengHei UI Light"/>
              </a:rPr>
              <a:t>动态⽹络：它们学习的是涉及 “序列” </a:t>
            </a:r>
            <a:r>
              <a:rPr dirty="0" sz="1350" spc="25">
                <a:latin typeface="Microsoft JhengHei UI Light"/>
                <a:cs typeface="Microsoft JhengHei UI Light"/>
              </a:rPr>
              <a:t>(sequence)</a:t>
            </a:r>
            <a:r>
              <a:rPr dirty="0" sz="1350" spc="20">
                <a:latin typeface="Microsoft JhengHei UI Light"/>
                <a:cs typeface="Microsoft JhengHei UI Light"/>
              </a:rPr>
              <a:t> 的映</a:t>
            </a:r>
            <a:r>
              <a:rPr dirty="0" sz="1350">
                <a:latin typeface="Microsoft JhengHei UI Light"/>
                <a:cs typeface="Microsoft JhengHei UI Light"/>
              </a:rPr>
              <a:t>射。⽐如：输⼊ (⼀个信号) -&gt; 输出 (⼀个序列)；或者更常⻅的是：输⼊ (⼀个序列) -&gt; 输出 (⼀个序列)。</a:t>
            </a:r>
            <a:endParaRPr sz="1350">
              <a:latin typeface="Microsoft JhengHei UI Light"/>
              <a:cs typeface="Microsoft JhengHei UI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6442" rIns="0" bIns="0" rtlCol="0" vert="horz">
            <a:spAutoFit/>
          </a:bodyPr>
          <a:lstStyle/>
          <a:p>
            <a:pPr marL="935355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latin typeface="Tahoma"/>
                <a:cs typeface="Tahoma"/>
              </a:rPr>
              <a:t>Sequence</a:t>
            </a:r>
            <a:r>
              <a:rPr dirty="0" sz="4400" spc="-90">
                <a:latin typeface="Tahoma"/>
                <a:cs typeface="Tahoma"/>
              </a:rPr>
              <a:t> </a:t>
            </a:r>
            <a:r>
              <a:rPr dirty="0" sz="4400" spc="-10">
                <a:latin typeface="Tahoma"/>
                <a:cs typeface="Tahoma"/>
              </a:rPr>
              <a:t>Learning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05866" y="2099491"/>
            <a:ext cx="8251825" cy="4137025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150495" indent="-146050">
              <a:lnSpc>
                <a:spcPct val="100000"/>
              </a:lnSpc>
              <a:spcBef>
                <a:spcPts val="994"/>
              </a:spcBef>
              <a:buClr>
                <a:srgbClr val="FFCF01"/>
              </a:buClr>
              <a:buSzPct val="95833"/>
              <a:buChar char="•"/>
              <a:tabLst>
                <a:tab pos="150495" algn="l"/>
              </a:tabLst>
            </a:pPr>
            <a:r>
              <a:rPr dirty="0" sz="2400">
                <a:latin typeface="Tahoma"/>
                <a:cs typeface="Tahoma"/>
              </a:rPr>
              <a:t>We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can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500" spc="-225" i="1">
                <a:latin typeface="Verdana"/>
                <a:cs typeface="Verdana"/>
              </a:rPr>
              <a:t>introduce</a:t>
            </a:r>
            <a:r>
              <a:rPr dirty="0" sz="2500" spc="-130" i="1">
                <a:latin typeface="Verdana"/>
                <a:cs typeface="Verdana"/>
              </a:rPr>
              <a:t> </a:t>
            </a:r>
            <a:r>
              <a:rPr dirty="0" sz="2500" spc="-305" i="1">
                <a:solidFill>
                  <a:srgbClr val="FF0000"/>
                </a:solidFill>
                <a:latin typeface="Verdana"/>
                <a:cs typeface="Verdana"/>
              </a:rPr>
              <a:t>memory</a:t>
            </a:r>
            <a:r>
              <a:rPr dirty="0" sz="2500" spc="-130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z="2500" spc="-204" i="1">
                <a:solidFill>
                  <a:srgbClr val="FF0000"/>
                </a:solidFill>
                <a:latin typeface="Verdana"/>
                <a:cs typeface="Verdana"/>
              </a:rPr>
              <a:t>effects</a:t>
            </a:r>
            <a:r>
              <a:rPr dirty="0" sz="2500" spc="-130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two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principal</a:t>
            </a:r>
            <a:r>
              <a:rPr dirty="0" sz="2400" spc="-10">
                <a:latin typeface="Tahoma"/>
                <a:cs typeface="Tahoma"/>
              </a:rPr>
              <a:t> ways:</a:t>
            </a:r>
            <a:endParaRPr sz="2400">
              <a:latin typeface="Tahoma"/>
              <a:cs typeface="Tahoma"/>
            </a:endParaRPr>
          </a:p>
          <a:p>
            <a:pPr lvl="1" marL="469900" marR="474980" indent="-7620">
              <a:lnSpc>
                <a:spcPct val="120000"/>
              </a:lnSpc>
              <a:spcBef>
                <a:spcPts val="265"/>
              </a:spcBef>
              <a:buClr>
                <a:srgbClr val="FFCF01"/>
              </a:buClr>
              <a:buSzPct val="70833"/>
              <a:buFont typeface="Tahoma"/>
              <a:buChar char="•"/>
              <a:tabLst>
                <a:tab pos="573405" algn="l"/>
              </a:tabLst>
            </a:pP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	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Implicit: </a:t>
            </a:r>
            <a:r>
              <a:rPr dirty="0" sz="2400">
                <a:latin typeface="Tahoma"/>
                <a:cs typeface="Tahoma"/>
              </a:rPr>
              <a:t>e.g.,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Time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lagged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signal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static </a:t>
            </a: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recurrent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connections</a:t>
            </a:r>
            <a:endParaRPr sz="2400">
              <a:latin typeface="Tahoma"/>
              <a:cs typeface="Tahoma"/>
            </a:endParaRPr>
          </a:p>
          <a:p>
            <a:pPr lvl="1" marL="573405" indent="-111125">
              <a:lnSpc>
                <a:spcPct val="100000"/>
              </a:lnSpc>
              <a:spcBef>
                <a:spcPts val="760"/>
              </a:spcBef>
              <a:buClr>
                <a:srgbClr val="FFCF01"/>
              </a:buClr>
              <a:buSzPct val="70833"/>
              <a:buFont typeface="Tahoma"/>
              <a:buChar char="•"/>
              <a:tabLst>
                <a:tab pos="573405" algn="l"/>
              </a:tabLst>
            </a:pPr>
            <a:r>
              <a:rPr dirty="0" sz="2400" spc="-20" b="1">
                <a:solidFill>
                  <a:srgbClr val="0000FF"/>
                </a:solidFill>
                <a:latin typeface="Tahoma"/>
                <a:cs typeface="Tahoma"/>
              </a:rPr>
              <a:t>Explicit</a:t>
            </a:r>
            <a:r>
              <a:rPr dirty="0" sz="2500" spc="-20" b="1" i="1">
                <a:latin typeface="Verdana"/>
                <a:cs typeface="Verdana"/>
              </a:rPr>
              <a:t>:</a:t>
            </a:r>
            <a:r>
              <a:rPr dirty="0" sz="2500" spc="-195" b="1" i="1">
                <a:latin typeface="Verdana"/>
                <a:cs typeface="Verdana"/>
              </a:rPr>
              <a:t> </a:t>
            </a:r>
            <a:r>
              <a:rPr dirty="0" sz="2400">
                <a:latin typeface="Tahoma"/>
                <a:cs typeface="Tahoma"/>
              </a:rPr>
              <a:t>e.g.,</a:t>
            </a:r>
            <a:r>
              <a:rPr dirty="0" sz="2400" spc="-13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Temporal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Backpropagation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Method</a:t>
            </a:r>
            <a:endParaRPr sz="2400">
              <a:latin typeface="Tahoma"/>
              <a:cs typeface="Tahoma"/>
            </a:endParaRPr>
          </a:p>
          <a:p>
            <a:pPr marL="12700" marR="5080" indent="-8255">
              <a:lnSpc>
                <a:spcPct val="117500"/>
              </a:lnSpc>
              <a:spcBef>
                <a:spcPts val="335"/>
              </a:spcBef>
              <a:buClr>
                <a:srgbClr val="FFCF01"/>
              </a:buClr>
              <a:buSzPct val="95833"/>
              <a:buChar char="•"/>
              <a:tabLst>
                <a:tab pos="150495" algn="l"/>
              </a:tabLst>
            </a:pPr>
            <a:r>
              <a:rPr dirty="0" sz="2400">
                <a:latin typeface="Tahoma"/>
                <a:cs typeface="Tahoma"/>
              </a:rPr>
              <a:t>	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implicit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form,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assume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environment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from </a:t>
            </a:r>
            <a:r>
              <a:rPr dirty="0" sz="2400">
                <a:latin typeface="Tahoma"/>
                <a:cs typeface="Tahoma"/>
              </a:rPr>
              <a:t>which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collect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examples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(input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signal,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sequence)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500" spc="-240" i="1">
                <a:latin typeface="Verdana"/>
                <a:cs typeface="Verdana"/>
              </a:rPr>
              <a:t>stationary.</a:t>
            </a:r>
            <a:r>
              <a:rPr dirty="0" sz="2500" spc="-135" i="1">
                <a:latin typeface="Verdana"/>
                <a:cs typeface="Verdan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explicit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form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environment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could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be </a:t>
            </a:r>
            <a:r>
              <a:rPr dirty="0" sz="2500" spc="-254" i="1">
                <a:latin typeface="Verdana"/>
                <a:cs typeface="Verdana"/>
              </a:rPr>
              <a:t>non-</a:t>
            </a:r>
            <a:r>
              <a:rPr dirty="0" sz="2500" spc="-210" i="1">
                <a:latin typeface="Verdana"/>
                <a:cs typeface="Verdana"/>
              </a:rPr>
              <a:t>stationary</a:t>
            </a:r>
            <a:r>
              <a:rPr dirty="0" sz="2400" spc="-210">
                <a:latin typeface="Tahoma"/>
                <a:cs typeface="Tahoma"/>
              </a:rPr>
              <a:t>,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i.e.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track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changes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>
                <a:latin typeface="Tahoma"/>
                <a:cs typeface="Tahoma"/>
              </a:rPr>
              <a:t>structure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signal.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16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2752" y="270350"/>
            <a:ext cx="5447665" cy="2276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35" b="1">
                <a:latin typeface="Microsoft JhengHei UI"/>
                <a:cs typeface="Microsoft JhengHei UI"/>
              </a:rPr>
              <a:t>隐式记忆 </a:t>
            </a:r>
            <a:r>
              <a:rPr dirty="0" sz="900" spc="-10" b="1">
                <a:latin typeface="Microsoft JhengHei UI"/>
                <a:cs typeface="Microsoft JhengHei UI"/>
              </a:rPr>
              <a:t>(Implicit)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900" spc="35">
                <a:latin typeface="Microsoft JhengHei UI Light"/>
                <a:cs typeface="Microsoft JhengHei UI Light"/>
              </a:rPr>
              <a:t>⽅式 </a:t>
            </a:r>
            <a:r>
              <a:rPr dirty="0" sz="900">
                <a:latin typeface="Microsoft JhengHei UI Light"/>
                <a:cs typeface="Microsoft JhengHei UI Light"/>
              </a:rPr>
              <a:t>1：</a:t>
            </a:r>
            <a:r>
              <a:rPr dirty="0" sz="900" spc="114">
                <a:latin typeface="Microsoft JhengHei UI Light"/>
                <a:cs typeface="Microsoft JhengHei UI Light"/>
              </a:rPr>
              <a:t> </a:t>
            </a:r>
            <a:r>
              <a:rPr dirty="0" sz="900">
                <a:latin typeface="Microsoft JhengHei UI Light"/>
                <a:cs typeface="Microsoft JhengHei UI Light"/>
              </a:rPr>
              <a:t>"Time</a:t>
            </a:r>
            <a:r>
              <a:rPr dirty="0" sz="900" spc="110">
                <a:latin typeface="Microsoft JhengHei UI Light"/>
                <a:cs typeface="Microsoft JhengHei UI Light"/>
              </a:rPr>
              <a:t> </a:t>
            </a:r>
            <a:r>
              <a:rPr dirty="0" sz="900">
                <a:latin typeface="Microsoft JhengHei UI Light"/>
                <a:cs typeface="Microsoft JhengHei UI Light"/>
              </a:rPr>
              <a:t>lagged</a:t>
            </a:r>
            <a:r>
              <a:rPr dirty="0" sz="900" spc="114">
                <a:latin typeface="Microsoft JhengHei UI Light"/>
                <a:cs typeface="Microsoft JhengHei UI Light"/>
              </a:rPr>
              <a:t> </a:t>
            </a:r>
            <a:r>
              <a:rPr dirty="0" sz="900">
                <a:latin typeface="Microsoft JhengHei UI Light"/>
                <a:cs typeface="Microsoft JhengHei UI Light"/>
              </a:rPr>
              <a:t>signal</a:t>
            </a:r>
            <a:r>
              <a:rPr dirty="0" sz="900" spc="110">
                <a:latin typeface="Microsoft JhengHei UI Light"/>
                <a:cs typeface="Microsoft JhengHei UI Light"/>
              </a:rPr>
              <a:t> </a:t>
            </a:r>
            <a:r>
              <a:rPr dirty="0" sz="900" spc="65">
                <a:latin typeface="Microsoft JhengHei UI Light"/>
                <a:cs typeface="Microsoft JhengHei UI Light"/>
              </a:rPr>
              <a:t>as</a:t>
            </a:r>
            <a:r>
              <a:rPr dirty="0" sz="900" spc="114">
                <a:latin typeface="Microsoft JhengHei UI Light"/>
                <a:cs typeface="Microsoft JhengHei UI Light"/>
              </a:rPr>
              <a:t> </a:t>
            </a:r>
            <a:r>
              <a:rPr dirty="0" sz="900">
                <a:latin typeface="Microsoft JhengHei UI Light"/>
                <a:cs typeface="Microsoft JhengHei UI Light"/>
              </a:rPr>
              <a:t>input</a:t>
            </a:r>
            <a:r>
              <a:rPr dirty="0" sz="900" spc="110">
                <a:latin typeface="Microsoft JhengHei UI Light"/>
                <a:cs typeface="Microsoft JhengHei UI Light"/>
              </a:rPr>
              <a:t> </a:t>
            </a:r>
            <a:r>
              <a:rPr dirty="0" sz="900">
                <a:latin typeface="Microsoft JhengHei UI Light"/>
                <a:cs typeface="Microsoft JhengHei UI Light"/>
              </a:rPr>
              <a:t>to</a:t>
            </a:r>
            <a:r>
              <a:rPr dirty="0" sz="900" spc="114">
                <a:latin typeface="Microsoft JhengHei UI Light"/>
                <a:cs typeface="Microsoft JhengHei UI Light"/>
              </a:rPr>
              <a:t> </a:t>
            </a:r>
            <a:r>
              <a:rPr dirty="0" sz="900">
                <a:latin typeface="Microsoft JhengHei UI Light"/>
                <a:cs typeface="Microsoft JhengHei UI Light"/>
              </a:rPr>
              <a:t>a</a:t>
            </a:r>
            <a:r>
              <a:rPr dirty="0" sz="900" spc="110">
                <a:latin typeface="Microsoft JhengHei UI Light"/>
                <a:cs typeface="Microsoft JhengHei UI Light"/>
              </a:rPr>
              <a:t> </a:t>
            </a:r>
            <a:r>
              <a:rPr dirty="0" sz="900" spc="55">
                <a:latin typeface="Microsoft JhengHei UI Light"/>
                <a:cs typeface="Microsoft JhengHei UI Light"/>
              </a:rPr>
              <a:t>static</a:t>
            </a:r>
            <a:r>
              <a:rPr dirty="0" sz="900" spc="114">
                <a:latin typeface="Microsoft JhengHei UI Light"/>
                <a:cs typeface="Microsoft JhengHei UI Light"/>
              </a:rPr>
              <a:t> </a:t>
            </a:r>
            <a:r>
              <a:rPr dirty="0" sz="900" spc="-10">
                <a:latin typeface="Microsoft JhengHei UI Light"/>
                <a:cs typeface="Microsoft JhengHei UI Light"/>
              </a:rPr>
              <a:t>network"</a:t>
            </a:r>
            <a:endParaRPr sz="900">
              <a:latin typeface="Microsoft JhengHei UI Light"/>
              <a:cs typeface="Microsoft JhengHei UI Light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900" spc="-135">
                <a:latin typeface="Microsoft JhengHei UI Light"/>
                <a:cs typeface="Microsoft JhengHei UI Light"/>
              </a:rPr>
              <a:t>（“将‘时延信号’作为‘静态⽹络’的输⼊</a:t>
            </a:r>
            <a:r>
              <a:rPr dirty="0" sz="900" spc="-25">
                <a:latin typeface="Microsoft JhengHei UI Light"/>
                <a:cs typeface="Microsoft JhengHei UI Light"/>
              </a:rPr>
              <a:t>”）</a:t>
            </a:r>
            <a:endParaRPr sz="900">
              <a:latin typeface="Microsoft JhengHei UI Light"/>
              <a:cs typeface="Microsoft JhengHei UI Light"/>
            </a:endParaRPr>
          </a:p>
          <a:p>
            <a:pPr marL="12700" marR="198120">
              <a:lnSpc>
                <a:spcPct val="120900"/>
              </a:lnSpc>
            </a:pPr>
            <a:r>
              <a:rPr dirty="0" sz="900" spc="-35">
                <a:latin typeface="Microsoft JhengHei UI Light"/>
                <a:cs typeface="Microsoft JhengHei UI Light"/>
              </a:rPr>
              <a:t>这正是“滑动窗⼝ </a:t>
            </a:r>
            <a:r>
              <a:rPr dirty="0" sz="900">
                <a:latin typeface="Microsoft JhengHei UI Light"/>
                <a:cs typeface="Microsoft JhengHei UI Light"/>
              </a:rPr>
              <a:t>MLP”！我们的输⼊是 </a:t>
            </a:r>
            <a:r>
              <a:rPr dirty="0" sz="900" spc="65">
                <a:latin typeface="Microsoft JhengHei UI Light"/>
                <a:cs typeface="Microsoft JhengHei UI Light"/>
              </a:rPr>
              <a:t>[x_t-</a:t>
            </a:r>
            <a:r>
              <a:rPr dirty="0" sz="900" spc="50">
                <a:latin typeface="Microsoft JhengHei UI Light"/>
                <a:cs typeface="Microsoft JhengHei UI Light"/>
              </a:rPr>
              <a:t>1, </a:t>
            </a:r>
            <a:r>
              <a:rPr dirty="0" sz="900" spc="70">
                <a:latin typeface="Microsoft JhengHei UI Light"/>
                <a:cs typeface="Microsoft JhengHei UI Light"/>
              </a:rPr>
              <a:t>x_t-2,</a:t>
            </a:r>
            <a:r>
              <a:rPr dirty="0" sz="900" spc="5">
                <a:latin typeface="Microsoft JhengHei UI Light"/>
                <a:cs typeface="Microsoft JhengHei UI Light"/>
              </a:rPr>
              <a:t> ..., </a:t>
            </a:r>
            <a:r>
              <a:rPr dirty="0" sz="900" spc="-10">
                <a:latin typeface="Microsoft JhengHei UI Light"/>
                <a:cs typeface="Microsoft JhengHei UI Light"/>
              </a:rPr>
              <a:t>x_t-s]</a:t>
            </a:r>
            <a:r>
              <a:rPr dirty="0" sz="900" spc="-30">
                <a:latin typeface="Microsoft JhengHei UI Light"/>
                <a:cs typeface="Microsoft JhengHei UI Light"/>
              </a:rPr>
              <a:t>。这个“输⼊向量”本身就是⼀种“记</a:t>
            </a:r>
            <a:r>
              <a:rPr dirty="0" sz="900" spc="-55">
                <a:latin typeface="Microsoft JhengHei UI Light"/>
                <a:cs typeface="Microsoft JhengHei UI Light"/>
              </a:rPr>
              <a:t>忆”，它把“过去 </a:t>
            </a:r>
            <a:r>
              <a:rPr dirty="0" sz="900" spc="90">
                <a:latin typeface="Microsoft JhengHei UI Light"/>
                <a:cs typeface="Microsoft JhengHei UI Light"/>
              </a:rPr>
              <a:t>s</a:t>
            </a:r>
            <a:r>
              <a:rPr dirty="0" sz="900" spc="-80">
                <a:latin typeface="Microsoft JhengHei UI Light"/>
                <a:cs typeface="Microsoft JhengHei UI Light"/>
              </a:rPr>
              <a:t> 步”的历史“显式地”编码（“滞后”）并“喂”给了⼀个本身没有记忆的“静态⽹络”。</a:t>
            </a:r>
            <a:endParaRPr sz="900">
              <a:latin typeface="Microsoft JhengHei UI Light"/>
              <a:cs typeface="Microsoft JhengHei UI Light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900">
              <a:latin typeface="Microsoft JhengHei UI Light"/>
              <a:cs typeface="Microsoft JhengHei UI Light"/>
            </a:endParaRPr>
          </a:p>
          <a:p>
            <a:pPr marL="12700">
              <a:lnSpc>
                <a:spcPct val="100000"/>
              </a:lnSpc>
            </a:pPr>
            <a:r>
              <a:rPr dirty="0" sz="900" spc="35">
                <a:latin typeface="Microsoft JhengHei UI Light"/>
                <a:cs typeface="Microsoft JhengHei UI Light"/>
              </a:rPr>
              <a:t>⽅式 </a:t>
            </a:r>
            <a:r>
              <a:rPr dirty="0" sz="900">
                <a:latin typeface="Microsoft JhengHei UI Light"/>
                <a:cs typeface="Microsoft JhengHei UI Light"/>
              </a:rPr>
              <a:t>2：</a:t>
            </a:r>
            <a:r>
              <a:rPr dirty="0" sz="900" spc="120">
                <a:latin typeface="Microsoft JhengHei UI Light"/>
                <a:cs typeface="Microsoft JhengHei UI Light"/>
              </a:rPr>
              <a:t> </a:t>
            </a:r>
            <a:r>
              <a:rPr dirty="0" sz="900" spc="70">
                <a:latin typeface="Microsoft JhengHei UI Light"/>
                <a:cs typeface="Microsoft JhengHei UI Light"/>
              </a:rPr>
              <a:t>"as</a:t>
            </a:r>
            <a:r>
              <a:rPr dirty="0" sz="900" spc="120">
                <a:latin typeface="Microsoft JhengHei UI Light"/>
                <a:cs typeface="Microsoft JhengHei UI Light"/>
              </a:rPr>
              <a:t> </a:t>
            </a:r>
            <a:r>
              <a:rPr dirty="0" sz="900">
                <a:latin typeface="Microsoft JhengHei UI Light"/>
                <a:cs typeface="Microsoft JhengHei UI Light"/>
              </a:rPr>
              <a:t>recurrent</a:t>
            </a:r>
            <a:r>
              <a:rPr dirty="0" sz="900" spc="125">
                <a:latin typeface="Microsoft JhengHei UI Light"/>
                <a:cs typeface="Microsoft JhengHei UI Light"/>
              </a:rPr>
              <a:t> </a:t>
            </a:r>
            <a:r>
              <a:rPr dirty="0" sz="900" spc="-10">
                <a:latin typeface="Microsoft JhengHei UI Light"/>
                <a:cs typeface="Microsoft JhengHei UI Light"/>
              </a:rPr>
              <a:t>connections"</a:t>
            </a:r>
            <a:endParaRPr sz="900">
              <a:latin typeface="Microsoft JhengHei UI Light"/>
              <a:cs typeface="Microsoft JhengHei UI Light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900" spc="-150">
                <a:latin typeface="Microsoft JhengHei UI Light"/>
                <a:cs typeface="Microsoft JhengHei UI Light"/>
              </a:rPr>
              <a:t>（“作为‘循环连接</a:t>
            </a:r>
            <a:r>
              <a:rPr dirty="0" sz="900" spc="-25">
                <a:latin typeface="Microsoft JhengHei UI Light"/>
                <a:cs typeface="Microsoft JhengHei UI Light"/>
              </a:rPr>
              <a:t>’”）</a:t>
            </a:r>
            <a:endParaRPr sz="900">
              <a:latin typeface="Microsoft JhengHei UI Light"/>
              <a:cs typeface="Microsoft JhengHei UI Light"/>
            </a:endParaRPr>
          </a:p>
          <a:p>
            <a:pPr marL="12700" marR="5080">
              <a:lnSpc>
                <a:spcPct val="120900"/>
              </a:lnSpc>
              <a:spcBef>
                <a:spcPts val="560"/>
              </a:spcBef>
            </a:pPr>
            <a:r>
              <a:rPr dirty="0" sz="900" spc="25">
                <a:latin typeface="Microsoft JhengHei UI Light"/>
                <a:cs typeface="Microsoft JhengHei UI Light"/>
              </a:rPr>
              <a:t>这就是 Elman</a:t>
            </a:r>
            <a:r>
              <a:rPr dirty="0" sz="900" spc="-35">
                <a:latin typeface="Microsoft JhengHei UI Light"/>
                <a:cs typeface="Microsoft JhengHei UI Light"/>
              </a:rPr>
              <a:t> ⽹络。我们不再通过⼀个巨⼤的“输⼊向量”来“喂”给⽹络历史，⽽是给⽹络⼀个“内部循环</a:t>
            </a:r>
            <a:r>
              <a:rPr dirty="0" sz="900" spc="-40">
                <a:latin typeface="Microsoft JhengHei UI Light"/>
                <a:cs typeface="Microsoft JhengHei UI Light"/>
              </a:rPr>
              <a:t>”。这个“循环连接”允许⽹络将上⼀个时间点的“状态”（它的“记忆”）</a:t>
            </a:r>
            <a:r>
              <a:rPr dirty="0" sz="900" spc="-45">
                <a:latin typeface="Microsoft JhengHei UI Light"/>
                <a:cs typeface="Microsoft JhengHei UI Light"/>
              </a:rPr>
              <a:t>反馈给⾃⼰，⽤来和当前时间点的</a:t>
            </a:r>
            <a:r>
              <a:rPr dirty="0" sz="900" spc="-55">
                <a:latin typeface="Microsoft JhengHei UI Light"/>
                <a:cs typeface="Microsoft JhengHei UI Light"/>
              </a:rPr>
              <a:t>“新输⼊”相结合。</a:t>
            </a:r>
            <a:endParaRPr sz="900">
              <a:latin typeface="Microsoft JhengHei UI Light"/>
              <a:cs typeface="Microsoft JhengHei U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00669" y="2970720"/>
            <a:ext cx="5407660" cy="19208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35" b="1">
                <a:latin typeface="Microsoft JhengHei UI"/>
                <a:cs typeface="Microsoft JhengHei UI"/>
              </a:rPr>
              <a:t>显式记忆 </a:t>
            </a:r>
            <a:r>
              <a:rPr dirty="0" sz="900" spc="-10" b="1">
                <a:latin typeface="Microsoft JhengHei UI"/>
                <a:cs typeface="Microsoft JhengHei UI"/>
              </a:rPr>
              <a:t>(Explicit)</a:t>
            </a:r>
            <a:endParaRPr sz="900">
              <a:latin typeface="Microsoft JhengHei UI"/>
              <a:cs typeface="Microsoft JhengHei UI"/>
            </a:endParaRPr>
          </a:p>
          <a:p>
            <a:pPr marL="12700" marR="28575">
              <a:lnSpc>
                <a:spcPct val="120900"/>
              </a:lnSpc>
              <a:spcBef>
                <a:spcPts val="745"/>
              </a:spcBef>
            </a:pPr>
            <a:r>
              <a:rPr dirty="0" sz="900" spc="-35">
                <a:latin typeface="Microsoft JhengHei UI Light"/>
                <a:cs typeface="Microsoft JhengHei UI Light"/>
              </a:rPr>
              <a:t>这是⼀个更复杂的概念（如“时间反向传播”），</a:t>
            </a:r>
            <a:r>
              <a:rPr dirty="0" sz="900" spc="-40">
                <a:latin typeface="Microsoft JhengHei UI Light"/>
                <a:cs typeface="Microsoft JhengHei UI Light"/>
              </a:rPr>
              <a:t>它允许⽹络“回顾”更久远的历史。但⽬前，“隐式记忆”</a:t>
            </a:r>
            <a:r>
              <a:rPr dirty="0" sz="900" spc="-30">
                <a:latin typeface="Microsoft JhengHei UI Light"/>
                <a:cs typeface="Microsoft JhengHei UI Light"/>
              </a:rPr>
              <a:t>的“循环连接”是我们要关注的重点。</a:t>
            </a:r>
            <a:endParaRPr sz="900">
              <a:latin typeface="Microsoft JhengHei UI Light"/>
              <a:cs typeface="Microsoft JhengHei UI Light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900">
              <a:latin typeface="Microsoft JhengHei UI Light"/>
              <a:cs typeface="Microsoft JhengHei UI Light"/>
            </a:endParaRPr>
          </a:p>
          <a:p>
            <a:pPr marL="12700">
              <a:lnSpc>
                <a:spcPct val="100000"/>
              </a:lnSpc>
            </a:pPr>
            <a:r>
              <a:rPr dirty="0" sz="900" spc="10" b="1">
                <a:latin typeface="Microsoft JhengHei UI"/>
                <a:cs typeface="Microsoft JhengHei UI"/>
              </a:rPr>
              <a:t>最后的关键点 (平稳性)：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900" spc="-70">
                <a:latin typeface="Microsoft JhengHei UI Light"/>
                <a:cs typeface="Microsoft JhengHei UI Light"/>
              </a:rPr>
              <a:t>“隐式”⽅法（⽐如“滑动窗⼝”）</a:t>
            </a:r>
            <a:r>
              <a:rPr dirty="0" sz="900" spc="-40">
                <a:latin typeface="Microsoft JhengHei UI Light"/>
                <a:cs typeface="Microsoft JhengHei UI Light"/>
              </a:rPr>
              <a:t>通常假设环境是“平稳的” </a:t>
            </a:r>
            <a:r>
              <a:rPr dirty="0" sz="900">
                <a:latin typeface="Microsoft JhengHei UI Light"/>
                <a:cs typeface="Microsoft JhengHei UI Light"/>
              </a:rPr>
              <a:t>(stationary)，</a:t>
            </a:r>
            <a:r>
              <a:rPr dirty="0" sz="900" spc="180">
                <a:latin typeface="Microsoft JhengHei UI Light"/>
                <a:cs typeface="Microsoft JhengHei UI Light"/>
              </a:rPr>
              <a:t>即 </a:t>
            </a:r>
            <a:r>
              <a:rPr dirty="0" sz="900" spc="70">
                <a:latin typeface="Microsoft JhengHei UI Light"/>
                <a:cs typeface="Microsoft JhengHei UI Light"/>
              </a:rPr>
              <a:t>f</a:t>
            </a:r>
            <a:r>
              <a:rPr dirty="0" sz="900" spc="10">
                <a:latin typeface="Microsoft JhengHei UI Light"/>
                <a:cs typeface="Microsoft JhengHei UI Light"/>
              </a:rPr>
              <a:t> 这个规则是固定不变的。</a:t>
            </a:r>
            <a:endParaRPr sz="900">
              <a:latin typeface="Microsoft JhengHei UI Light"/>
              <a:cs typeface="Microsoft JhengHei UI Light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00">
              <a:latin typeface="Microsoft JhengHei UI Light"/>
              <a:cs typeface="Microsoft JhengHei UI Light"/>
            </a:endParaRPr>
          </a:p>
          <a:p>
            <a:pPr marL="12700" marR="5080">
              <a:lnSpc>
                <a:spcPct val="120900"/>
              </a:lnSpc>
            </a:pPr>
            <a:r>
              <a:rPr dirty="0" sz="900" spc="-45">
                <a:latin typeface="Microsoft JhengHei UI Light"/>
                <a:cs typeface="Microsoft JhengHei UI Light"/>
              </a:rPr>
              <a:t>“显式”⽅法（或更强⼤的循环⽹络）</a:t>
            </a:r>
            <a:r>
              <a:rPr dirty="0" sz="900" spc="5">
                <a:latin typeface="Microsoft JhengHei UI Light"/>
                <a:cs typeface="Microsoft JhengHei UI Light"/>
              </a:rPr>
              <a:t>可以跟踪“⾮平稳” </a:t>
            </a:r>
            <a:r>
              <a:rPr dirty="0" sz="900">
                <a:latin typeface="Microsoft JhengHei UI Light"/>
                <a:cs typeface="Microsoft JhengHei UI Light"/>
              </a:rPr>
              <a:t>(non-stationary)</a:t>
            </a:r>
            <a:r>
              <a:rPr dirty="0" sz="900" spc="10">
                <a:latin typeface="Microsoft JhengHei UI Light"/>
                <a:cs typeface="Microsoft JhengHei UI Light"/>
              </a:rPr>
              <a:t> 的信号，因为⽹络的“状态/记</a:t>
            </a:r>
            <a:r>
              <a:rPr dirty="0" sz="900" spc="-5">
                <a:latin typeface="Microsoft JhengHei UI Light"/>
                <a:cs typeface="Microsoft JhengHei UI Light"/>
              </a:rPr>
              <a:t>忆”本身可以随着时间⽽演变和适应。</a:t>
            </a:r>
            <a:endParaRPr sz="900">
              <a:latin typeface="Microsoft JhengHei UI Light"/>
              <a:cs typeface="Microsoft JhengHei UI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55600" marR="99060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60000"/>
              <a:buChar char="■"/>
              <a:tabLst>
                <a:tab pos="355600" algn="l"/>
              </a:tabLst>
            </a:pPr>
            <a:r>
              <a:rPr dirty="0"/>
              <a:t>Signals</a:t>
            </a:r>
            <a:r>
              <a:rPr dirty="0" spc="-20"/>
              <a:t> </a:t>
            </a:r>
            <a:r>
              <a:rPr dirty="0"/>
              <a:t>can</a:t>
            </a:r>
            <a:r>
              <a:rPr dirty="0" spc="-25"/>
              <a:t> </a:t>
            </a:r>
            <a:r>
              <a:rPr dirty="0"/>
              <a:t>be</a:t>
            </a:r>
            <a:r>
              <a:rPr dirty="0" spc="-20"/>
              <a:t> </a:t>
            </a:r>
            <a:r>
              <a:rPr dirty="0" spc="-10" b="1">
                <a:latin typeface="Tahoma"/>
                <a:cs typeface="Tahoma"/>
              </a:rPr>
              <a:t>buffered </a:t>
            </a:r>
            <a:r>
              <a:rPr dirty="0" b="1">
                <a:latin typeface="Tahoma"/>
                <a:cs typeface="Tahoma"/>
              </a:rPr>
              <a:t>externally</a:t>
            </a:r>
            <a:r>
              <a:rPr dirty="0" spc="-10" b="1">
                <a:latin typeface="Tahoma"/>
                <a:cs typeface="Tahoma"/>
              </a:rPr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presented</a:t>
            </a:r>
            <a:r>
              <a:rPr dirty="0" spc="-45"/>
              <a:t> </a:t>
            </a:r>
            <a:r>
              <a:rPr dirty="0" spc="-25"/>
              <a:t>at </a:t>
            </a:r>
            <a:r>
              <a:rPr dirty="0" b="1">
                <a:latin typeface="Tahoma"/>
                <a:cs typeface="Tahoma"/>
              </a:rPr>
              <a:t>additional</a:t>
            </a:r>
            <a:r>
              <a:rPr dirty="0" spc="-60" b="1">
                <a:latin typeface="Tahoma"/>
                <a:cs typeface="Tahoma"/>
              </a:rPr>
              <a:t> </a:t>
            </a:r>
            <a:r>
              <a:rPr dirty="0" b="1">
                <a:latin typeface="Tahoma"/>
                <a:cs typeface="Tahoma"/>
              </a:rPr>
              <a:t>input</a:t>
            </a:r>
            <a:r>
              <a:rPr dirty="0" spc="-55" b="1">
                <a:latin typeface="Tahoma"/>
                <a:cs typeface="Tahoma"/>
              </a:rPr>
              <a:t> </a:t>
            </a:r>
            <a:r>
              <a:rPr dirty="0" b="1">
                <a:latin typeface="Tahoma"/>
                <a:cs typeface="Tahoma"/>
              </a:rPr>
              <a:t>nodes</a:t>
            </a:r>
            <a:r>
              <a:rPr dirty="0" spc="-20" b="1">
                <a:latin typeface="Tahoma"/>
                <a:cs typeface="Tahoma"/>
              </a:rPr>
              <a:t> </a:t>
            </a:r>
            <a:r>
              <a:rPr dirty="0" spc="-10"/>
              <a:t>(input banks).</a:t>
            </a: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3333CC"/>
              </a:buClr>
              <a:buSzPct val="60000"/>
              <a:buFont typeface="Tahoma"/>
              <a:buChar char="■"/>
              <a:tabLst>
                <a:tab pos="354965" algn="l"/>
              </a:tabLst>
            </a:pPr>
            <a:r>
              <a:rPr dirty="0" b="1">
                <a:latin typeface="Tahoma"/>
                <a:cs typeface="Tahoma"/>
              </a:rPr>
              <a:t>This</a:t>
            </a:r>
            <a:r>
              <a:rPr dirty="0" spc="-10" b="1">
                <a:latin typeface="Tahoma"/>
                <a:cs typeface="Tahoma"/>
              </a:rPr>
              <a:t> </a:t>
            </a:r>
            <a:r>
              <a:rPr dirty="0" b="1">
                <a:latin typeface="Tahoma"/>
                <a:cs typeface="Tahoma"/>
              </a:rPr>
              <a:t>is</a:t>
            </a:r>
            <a:r>
              <a:rPr dirty="0" spc="-10" b="1">
                <a:latin typeface="Tahoma"/>
                <a:cs typeface="Tahoma"/>
              </a:rPr>
              <a:t> called</a:t>
            </a:r>
          </a:p>
          <a:p>
            <a:pPr marL="384175">
              <a:lnSpc>
                <a:spcPct val="100000"/>
              </a:lnSpc>
              <a:spcBef>
                <a:spcPts val="480"/>
              </a:spcBef>
            </a:pPr>
            <a:r>
              <a:rPr dirty="0" b="1">
                <a:solidFill>
                  <a:srgbClr val="FF0000"/>
                </a:solidFill>
                <a:latin typeface="Tahoma"/>
                <a:cs typeface="Tahoma"/>
              </a:rPr>
              <a:t>Time</a:t>
            </a:r>
            <a:r>
              <a:rPr dirty="0" spc="-4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b="1">
                <a:solidFill>
                  <a:srgbClr val="FF0000"/>
                </a:solidFill>
                <a:latin typeface="Tahoma"/>
                <a:cs typeface="Tahoma"/>
              </a:rPr>
              <a:t>Delayed</a:t>
            </a:r>
            <a:r>
              <a:rPr dirty="0" spc="-4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pc="-10" b="1">
                <a:solidFill>
                  <a:srgbClr val="FF0000"/>
                </a:solidFill>
                <a:latin typeface="Tahoma"/>
                <a:cs typeface="Tahoma"/>
              </a:rPr>
              <a:t>Networks</a:t>
            </a: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Clr>
                <a:srgbClr val="3333CC"/>
              </a:buClr>
              <a:buSzPct val="60000"/>
              <a:buChar char="■"/>
              <a:tabLst>
                <a:tab pos="355600" algn="l"/>
              </a:tabLst>
            </a:pPr>
            <a:r>
              <a:rPr dirty="0"/>
              <a:t>Time</a:t>
            </a:r>
            <a:r>
              <a:rPr dirty="0" spc="-55"/>
              <a:t> </a:t>
            </a:r>
            <a:r>
              <a:rPr dirty="0"/>
              <a:t>Delayed</a:t>
            </a:r>
            <a:r>
              <a:rPr dirty="0" spc="-50"/>
              <a:t> </a:t>
            </a:r>
            <a:r>
              <a:rPr dirty="0"/>
              <a:t>Networks</a:t>
            </a:r>
            <a:r>
              <a:rPr dirty="0" spc="-45"/>
              <a:t> </a:t>
            </a:r>
            <a:r>
              <a:rPr dirty="0" spc="-10"/>
              <a:t>illustrate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implicit</a:t>
            </a:r>
            <a:r>
              <a:rPr dirty="0" spc="-45"/>
              <a:t> </a:t>
            </a:r>
            <a:r>
              <a:rPr dirty="0" spc="-10"/>
              <a:t>representation </a:t>
            </a:r>
            <a:r>
              <a:rPr dirty="0"/>
              <a:t>approach</a:t>
            </a:r>
            <a:r>
              <a:rPr dirty="0" spc="-35"/>
              <a:t> </a:t>
            </a:r>
            <a:r>
              <a:rPr dirty="0"/>
              <a:t>for</a:t>
            </a:r>
            <a:r>
              <a:rPr dirty="0" spc="-35"/>
              <a:t> </a:t>
            </a:r>
            <a:r>
              <a:rPr dirty="0"/>
              <a:t>sequence</a:t>
            </a:r>
            <a:r>
              <a:rPr dirty="0" spc="-35"/>
              <a:t> </a:t>
            </a:r>
            <a:r>
              <a:rPr dirty="0" spc="-10"/>
              <a:t>learning, </a:t>
            </a:r>
            <a:r>
              <a:rPr dirty="0"/>
              <a:t>which</a:t>
            </a:r>
            <a:r>
              <a:rPr dirty="0" spc="-30"/>
              <a:t> </a:t>
            </a:r>
            <a:r>
              <a:rPr dirty="0"/>
              <a:t>combine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static</a:t>
            </a:r>
            <a:r>
              <a:rPr dirty="0" spc="-30"/>
              <a:t> </a:t>
            </a:r>
            <a:r>
              <a:rPr dirty="0" spc="-10"/>
              <a:t>network </a:t>
            </a:r>
            <a:r>
              <a:rPr dirty="0"/>
              <a:t>(e.g.</a:t>
            </a:r>
            <a:r>
              <a:rPr dirty="0" spc="-20"/>
              <a:t> </a:t>
            </a:r>
            <a:r>
              <a:rPr dirty="0"/>
              <a:t>MLP</a:t>
            </a:r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/>
              <a:t>RBF)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 spc="-10"/>
              <a:t>memory structure.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035" y="1208532"/>
            <a:ext cx="3982212" cy="553212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443471" y="1365503"/>
            <a:ext cx="875030" cy="33845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08585" rIns="0" bIns="0" rtlCol="0" vert="horz">
            <a:spAutoFit/>
          </a:bodyPr>
          <a:lstStyle/>
          <a:p>
            <a:pPr marL="91440">
              <a:lnSpc>
                <a:spcPts val="1810"/>
              </a:lnSpc>
              <a:spcBef>
                <a:spcPts val="855"/>
              </a:spcBef>
            </a:pPr>
            <a:r>
              <a:rPr dirty="0" sz="1550" spc="-10" b="1">
                <a:latin typeface="Tahoma"/>
                <a:cs typeface="Tahoma"/>
              </a:rPr>
              <a:t>output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17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6103620" y="3512820"/>
            <a:ext cx="1554480" cy="34036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07314" rIns="0" bIns="0" rtlCol="0" vert="horz">
            <a:spAutoFit/>
          </a:bodyPr>
          <a:lstStyle/>
          <a:p>
            <a:pPr marL="91440">
              <a:lnSpc>
                <a:spcPts val="1830"/>
              </a:lnSpc>
              <a:spcBef>
                <a:spcPts val="844"/>
              </a:spcBef>
            </a:pPr>
            <a:r>
              <a:rPr dirty="0" sz="1550" spc="-10" b="1">
                <a:latin typeface="Tahoma"/>
                <a:cs typeface="Tahoma"/>
              </a:rPr>
              <a:t>State/hidden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62952" y="364490"/>
            <a:ext cx="669798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latin typeface="Tahoma"/>
                <a:cs typeface="Tahoma"/>
              </a:rPr>
              <a:t>Time</a:t>
            </a:r>
            <a:r>
              <a:rPr dirty="0" sz="4400" spc="-95">
                <a:latin typeface="Tahoma"/>
                <a:cs typeface="Tahoma"/>
              </a:rPr>
              <a:t> </a:t>
            </a:r>
            <a:r>
              <a:rPr dirty="0" sz="4400">
                <a:latin typeface="Tahoma"/>
                <a:cs typeface="Tahoma"/>
              </a:rPr>
              <a:t>Delayed</a:t>
            </a:r>
            <a:r>
              <a:rPr dirty="0" sz="4400" spc="-95">
                <a:latin typeface="Tahoma"/>
                <a:cs typeface="Tahoma"/>
              </a:rPr>
              <a:t> </a:t>
            </a:r>
            <a:r>
              <a:rPr dirty="0" sz="4400" spc="-10">
                <a:latin typeface="Tahoma"/>
                <a:cs typeface="Tahoma"/>
              </a:rPr>
              <a:t>Networks</a:t>
            </a:r>
            <a:endParaRPr sz="4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544" rIns="0" bIns="0" rtlCol="0" vert="horz">
            <a:spAutoFit/>
          </a:bodyPr>
          <a:lstStyle/>
          <a:p>
            <a:pPr marL="928369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latin typeface="Tahoma"/>
                <a:cs typeface="Tahoma"/>
              </a:rPr>
              <a:t>Dynamical</a:t>
            </a:r>
            <a:r>
              <a:rPr dirty="0" sz="4000" spc="-160">
                <a:latin typeface="Tahoma"/>
                <a:cs typeface="Tahoma"/>
              </a:rPr>
              <a:t> </a:t>
            </a:r>
            <a:r>
              <a:rPr dirty="0" sz="4000">
                <a:latin typeface="Tahoma"/>
                <a:cs typeface="Tahoma"/>
              </a:rPr>
              <a:t>Neural</a:t>
            </a:r>
            <a:r>
              <a:rPr dirty="0" sz="4000" spc="-160">
                <a:latin typeface="Tahoma"/>
                <a:cs typeface="Tahoma"/>
              </a:rPr>
              <a:t> </a:t>
            </a:r>
            <a:r>
              <a:rPr dirty="0" sz="4000" spc="-10">
                <a:latin typeface="Tahoma"/>
                <a:cs typeface="Tahoma"/>
              </a:rPr>
              <a:t>Networks</a:t>
            </a:r>
            <a:endParaRPr sz="4000">
              <a:latin typeface="Tahoma"/>
              <a:cs typeface="Tahoma"/>
            </a:endParaRPr>
          </a:p>
          <a:p>
            <a:pPr marL="928369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Tahoma"/>
                <a:cs typeface="Tahoma"/>
              </a:rPr>
              <a:t>Introducing</a:t>
            </a:r>
            <a:r>
              <a:rPr dirty="0" spc="-65">
                <a:latin typeface="Tahoma"/>
                <a:cs typeface="Tahoma"/>
              </a:rPr>
              <a:t> </a:t>
            </a:r>
            <a:r>
              <a:rPr dirty="0" spc="-20">
                <a:latin typeface="Tahoma"/>
                <a:cs typeface="Tahoma"/>
              </a:rPr>
              <a:t>time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18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9715" y="2099081"/>
            <a:ext cx="8525510" cy="4120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129539" indent="310515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SzPct val="80357"/>
              <a:buFont typeface="Tahoma"/>
              <a:buChar char="■"/>
              <a:tabLst>
                <a:tab pos="323215" algn="l"/>
              </a:tabLst>
            </a:pPr>
            <a:r>
              <a:rPr dirty="0" sz="2800" spc="-95" b="1">
                <a:solidFill>
                  <a:srgbClr val="0000FF"/>
                </a:solidFill>
                <a:latin typeface="Tahoma"/>
                <a:cs typeface="Tahoma"/>
              </a:rPr>
              <a:t>Recurrent</a:t>
            </a:r>
            <a:r>
              <a:rPr dirty="0" sz="2800" spc="-5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FF"/>
                </a:solidFill>
                <a:latin typeface="Tahoma"/>
                <a:cs typeface="Tahoma"/>
              </a:rPr>
              <a:t>networks</a:t>
            </a:r>
            <a:r>
              <a:rPr dirty="0" sz="2800" spc="-5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50">
                <a:latin typeface="Tahoma"/>
                <a:cs typeface="Tahoma"/>
              </a:rPr>
              <a:t>can</a:t>
            </a:r>
            <a:r>
              <a:rPr dirty="0" sz="2800" spc="-10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explicitly</a:t>
            </a:r>
            <a:r>
              <a:rPr dirty="0" sz="2800" spc="-10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deal</a:t>
            </a:r>
            <a:r>
              <a:rPr dirty="0" sz="2800" spc="-105">
                <a:latin typeface="Tahoma"/>
                <a:cs typeface="Tahoma"/>
              </a:rPr>
              <a:t> </a:t>
            </a:r>
            <a:r>
              <a:rPr dirty="0" sz="2800" spc="-55">
                <a:latin typeface="Tahoma"/>
                <a:cs typeface="Tahoma"/>
              </a:rPr>
              <a:t>with</a:t>
            </a:r>
            <a:r>
              <a:rPr dirty="0" sz="2800" spc="-10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inputs </a:t>
            </a:r>
            <a:r>
              <a:rPr dirty="0" sz="2800" spc="-55">
                <a:latin typeface="Tahoma"/>
                <a:cs typeface="Tahoma"/>
              </a:rPr>
              <a:t>that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are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presented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 spc="-10" i="1">
                <a:latin typeface="Arial"/>
                <a:cs typeface="Arial"/>
              </a:rPr>
              <a:t>sequentially</a:t>
            </a:r>
            <a:r>
              <a:rPr dirty="0" sz="2800" spc="-10">
                <a:latin typeface="Tahoma"/>
                <a:cs typeface="Tahoma"/>
              </a:rPr>
              <a:t>,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as</a:t>
            </a:r>
            <a:r>
              <a:rPr dirty="0" sz="2800" spc="-12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they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would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almost </a:t>
            </a:r>
            <a:r>
              <a:rPr dirty="0" sz="2800">
                <a:latin typeface="Tahoma"/>
                <a:cs typeface="Tahoma"/>
              </a:rPr>
              <a:t>always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be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real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problems.</a:t>
            </a:r>
            <a:endParaRPr sz="2800">
              <a:latin typeface="Tahoma"/>
              <a:cs typeface="Tahoma"/>
            </a:endParaRPr>
          </a:p>
          <a:p>
            <a:pPr marL="12700" marR="5080" indent="310515">
              <a:lnSpc>
                <a:spcPct val="100000"/>
              </a:lnSpc>
              <a:spcBef>
                <a:spcPts val="670"/>
              </a:spcBef>
              <a:buSzPct val="80357"/>
              <a:buChar char="■"/>
              <a:tabLst>
                <a:tab pos="323215" algn="l"/>
              </a:tabLst>
            </a:pPr>
            <a:r>
              <a:rPr dirty="0" sz="2800">
                <a:latin typeface="Tahoma"/>
                <a:cs typeface="Tahoma"/>
              </a:rPr>
              <a:t>Recurrent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networks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are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fundamentally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 spc="-45">
                <a:latin typeface="Tahoma"/>
                <a:cs typeface="Tahoma"/>
              </a:rPr>
              <a:t>different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from </a:t>
            </a:r>
            <a:r>
              <a:rPr dirty="0" sz="2800">
                <a:latin typeface="Tahoma"/>
                <a:cs typeface="Tahoma"/>
              </a:rPr>
              <a:t>feed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-30">
                <a:latin typeface="Tahoma"/>
                <a:cs typeface="Tahoma"/>
              </a:rPr>
              <a:t>forward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networks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-55">
                <a:latin typeface="Tahoma"/>
                <a:cs typeface="Tahoma"/>
              </a:rPr>
              <a:t>that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they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FF0000"/>
                </a:solidFill>
                <a:latin typeface="Tahoma"/>
                <a:cs typeface="Tahoma"/>
              </a:rPr>
              <a:t>not</a:t>
            </a:r>
            <a:r>
              <a:rPr dirty="0" sz="2800" spc="-100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40" b="1">
                <a:solidFill>
                  <a:srgbClr val="FF0000"/>
                </a:solidFill>
                <a:latin typeface="Tahoma"/>
                <a:cs typeface="Tahoma"/>
              </a:rPr>
              <a:t>only</a:t>
            </a:r>
            <a:r>
              <a:rPr dirty="0" sz="2800" spc="-90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Tahoma"/>
                <a:cs typeface="Tahoma"/>
              </a:rPr>
              <a:t>operate </a:t>
            </a:r>
            <a:r>
              <a:rPr dirty="0" sz="2800" spc="-45" b="1">
                <a:solidFill>
                  <a:srgbClr val="FF0000"/>
                </a:solidFill>
                <a:latin typeface="Tahoma"/>
                <a:cs typeface="Tahoma"/>
              </a:rPr>
              <a:t>upon</a:t>
            </a:r>
            <a:r>
              <a:rPr dirty="0" sz="2800" spc="-16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60" b="1">
                <a:solidFill>
                  <a:srgbClr val="FF0000"/>
                </a:solidFill>
                <a:latin typeface="Tahoma"/>
                <a:cs typeface="Tahoma"/>
              </a:rPr>
              <a:t>an</a:t>
            </a:r>
            <a:r>
              <a:rPr dirty="0" sz="2800" spc="-14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100" b="1">
                <a:solidFill>
                  <a:srgbClr val="FF0000"/>
                </a:solidFill>
                <a:latin typeface="Tahoma"/>
                <a:cs typeface="Tahoma"/>
              </a:rPr>
              <a:t>input</a:t>
            </a:r>
            <a:r>
              <a:rPr dirty="0" sz="2800" spc="-10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120" b="1">
                <a:solidFill>
                  <a:srgbClr val="FF0000"/>
                </a:solidFill>
                <a:latin typeface="Tahoma"/>
                <a:cs typeface="Tahoma"/>
              </a:rPr>
              <a:t>but</a:t>
            </a:r>
            <a:r>
              <a:rPr dirty="0" sz="2800" spc="-8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ahoma"/>
                <a:cs typeface="Tahoma"/>
              </a:rPr>
              <a:t>also</a:t>
            </a:r>
            <a:r>
              <a:rPr dirty="0" sz="2800" spc="-180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ahoma"/>
                <a:cs typeface="Tahoma"/>
              </a:rPr>
              <a:t>a</a:t>
            </a:r>
            <a:r>
              <a:rPr dirty="0" sz="2800" spc="-13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10" b="1" i="1">
                <a:solidFill>
                  <a:srgbClr val="0000FF"/>
                </a:solidFill>
                <a:latin typeface="Arial"/>
                <a:cs typeface="Arial"/>
              </a:rPr>
              <a:t>state</a:t>
            </a:r>
            <a:r>
              <a:rPr dirty="0" sz="2800" spc="-10">
                <a:solidFill>
                  <a:srgbClr val="FF0000"/>
                </a:solidFill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  <a:p>
            <a:pPr marL="12700" marR="772160" indent="303530">
              <a:lnSpc>
                <a:spcPct val="100000"/>
              </a:lnSpc>
              <a:spcBef>
                <a:spcPts val="670"/>
              </a:spcBef>
              <a:buSzPct val="80357"/>
              <a:buChar char="■"/>
              <a:tabLst>
                <a:tab pos="316230" algn="l"/>
              </a:tabLst>
            </a:pP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1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ability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net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-30">
                <a:latin typeface="Tahoma"/>
                <a:cs typeface="Tahoma"/>
              </a:rPr>
              <a:t>to</a:t>
            </a:r>
            <a:r>
              <a:rPr dirty="0" sz="2800" spc="-1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reverberate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sustain </a:t>
            </a:r>
            <a:r>
              <a:rPr dirty="0" sz="2800" spc="-20">
                <a:latin typeface="Tahoma"/>
                <a:cs typeface="Tahoma"/>
              </a:rPr>
              <a:t>activity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spc="50">
                <a:latin typeface="Tahoma"/>
                <a:cs typeface="Tahoma"/>
              </a:rPr>
              <a:t>can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serve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as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spc="70">
                <a:latin typeface="Tahoma"/>
                <a:cs typeface="Tahoma"/>
              </a:rPr>
              <a:t>a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 spc="-120" b="1">
                <a:latin typeface="Tahoma"/>
                <a:cs typeface="Tahoma"/>
              </a:rPr>
              <a:t>working</a:t>
            </a:r>
            <a:r>
              <a:rPr dirty="0" sz="2800" spc="-25" b="1">
                <a:latin typeface="Tahoma"/>
                <a:cs typeface="Tahoma"/>
              </a:rPr>
              <a:t> </a:t>
            </a:r>
            <a:r>
              <a:rPr dirty="0" sz="2800" spc="-10" b="1">
                <a:latin typeface="Tahoma"/>
                <a:cs typeface="Tahoma"/>
              </a:rPr>
              <a:t>memory</a:t>
            </a:r>
            <a:r>
              <a:rPr dirty="0" sz="2800" spc="-10">
                <a:solidFill>
                  <a:srgbClr val="EC0000"/>
                </a:solidFill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  <a:p>
            <a:pPr marL="323215" indent="-310515">
              <a:lnSpc>
                <a:spcPct val="100000"/>
              </a:lnSpc>
              <a:spcBef>
                <a:spcPts val="670"/>
              </a:spcBef>
              <a:buClr>
                <a:srgbClr val="000000"/>
              </a:buClr>
              <a:buSzPct val="80357"/>
              <a:buChar char="■"/>
              <a:tabLst>
                <a:tab pos="323215" algn="l"/>
              </a:tabLst>
            </a:pPr>
            <a:r>
              <a:rPr dirty="0" sz="2800" spc="90">
                <a:solidFill>
                  <a:srgbClr val="0000FF"/>
                </a:solidFill>
                <a:latin typeface="Tahoma"/>
                <a:cs typeface="Tahoma"/>
              </a:rPr>
              <a:t>Such</a:t>
            </a:r>
            <a:r>
              <a:rPr dirty="0" sz="2800" spc="-10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nets</a:t>
            </a:r>
            <a:r>
              <a:rPr dirty="0" sz="2800" spc="-10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are</a:t>
            </a:r>
            <a:r>
              <a:rPr dirty="0" sz="2800" spc="-10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85" b="1">
                <a:solidFill>
                  <a:srgbClr val="0000FF"/>
                </a:solidFill>
                <a:latin typeface="Tahoma"/>
                <a:cs typeface="Tahoma"/>
              </a:rPr>
              <a:t>Dynamical</a:t>
            </a:r>
            <a:r>
              <a:rPr dirty="0" sz="2800" spc="-4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110" b="1">
                <a:solidFill>
                  <a:srgbClr val="0000FF"/>
                </a:solidFill>
                <a:latin typeface="Tahoma"/>
                <a:cs typeface="Tahoma"/>
              </a:rPr>
              <a:t>Neural</a:t>
            </a:r>
            <a:r>
              <a:rPr dirty="0" sz="2800" spc="-4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FF"/>
                </a:solidFill>
                <a:latin typeface="Tahoma"/>
                <a:cs typeface="Tahoma"/>
              </a:rPr>
              <a:t>Networks</a:t>
            </a:r>
            <a:r>
              <a:rPr dirty="0" sz="2800" spc="-10">
                <a:solidFill>
                  <a:srgbClr val="0000FF"/>
                </a:solidFill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0385" y="322973"/>
            <a:ext cx="436562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Tahoma"/>
                <a:cs typeface="Tahoma"/>
              </a:rPr>
              <a:t>From</a:t>
            </a:r>
            <a:r>
              <a:rPr dirty="0" sz="3600" spc="-55">
                <a:latin typeface="Tahoma"/>
                <a:cs typeface="Tahoma"/>
              </a:rPr>
              <a:t> </a:t>
            </a:r>
            <a:r>
              <a:rPr dirty="0" sz="3600" spc="-10">
                <a:latin typeface="Tahoma"/>
                <a:cs typeface="Tahoma"/>
              </a:rPr>
              <a:t>feed-forward </a:t>
            </a:r>
            <a:r>
              <a:rPr dirty="0" sz="3600">
                <a:latin typeface="Tahoma"/>
                <a:cs typeface="Tahoma"/>
              </a:rPr>
              <a:t>to</a:t>
            </a:r>
            <a:r>
              <a:rPr dirty="0" sz="3600" spc="-75">
                <a:latin typeface="Tahoma"/>
                <a:cs typeface="Tahoma"/>
              </a:rPr>
              <a:t> </a:t>
            </a:r>
            <a:r>
              <a:rPr dirty="0" sz="3600">
                <a:latin typeface="Tahoma"/>
                <a:cs typeface="Tahoma"/>
              </a:rPr>
              <a:t>recurrent</a:t>
            </a:r>
            <a:r>
              <a:rPr dirty="0" sz="3600" spc="-75">
                <a:latin typeface="Tahoma"/>
                <a:cs typeface="Tahoma"/>
              </a:rPr>
              <a:t> </a:t>
            </a:r>
            <a:r>
              <a:rPr dirty="0" sz="3600" spc="-35">
                <a:latin typeface="Tahoma"/>
                <a:cs typeface="Tahoma"/>
              </a:rPr>
              <a:t>NN</a:t>
            </a:r>
            <a:endParaRPr sz="36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196" y="1943100"/>
            <a:ext cx="2880360" cy="178308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8831" y="2125395"/>
            <a:ext cx="2777896" cy="154785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772431" y="4070006"/>
            <a:ext cx="4064635" cy="1855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dirty="0" sz="2000">
                <a:latin typeface="Tahoma"/>
                <a:cs typeface="Tahoma"/>
              </a:rPr>
              <a:t>At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least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one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connection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cycle</a:t>
            </a:r>
            <a:endParaRPr sz="2000">
              <a:latin typeface="Tahoma"/>
              <a:cs typeface="Tahoma"/>
            </a:endParaRPr>
          </a:p>
          <a:p>
            <a:pPr marL="355600" marR="490855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Activation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can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"reverberate", </a:t>
            </a:r>
            <a:r>
              <a:rPr dirty="0" sz="2000">
                <a:latin typeface="Tahoma"/>
                <a:cs typeface="Tahoma"/>
              </a:rPr>
              <a:t>persist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even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with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no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input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 sz="2000">
                <a:latin typeface="Tahoma"/>
                <a:cs typeface="Tahoma"/>
              </a:rPr>
              <a:t>System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with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memory</a:t>
            </a:r>
            <a:endParaRPr sz="20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Mathematically,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RNNs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implement </a:t>
            </a:r>
            <a:r>
              <a:rPr dirty="0" sz="2000">
                <a:latin typeface="Tahoma"/>
                <a:cs typeface="Tahoma"/>
              </a:rPr>
              <a:t>dynamical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systems.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4557712" y="1988845"/>
            <a:ext cx="28575" cy="4572000"/>
          </a:xfrm>
          <a:custGeom>
            <a:avLst/>
            <a:gdLst/>
            <a:ahLst/>
            <a:cxnLst/>
            <a:rect l="l" t="t" r="r" b="b"/>
            <a:pathLst>
              <a:path w="28575" h="4572000">
                <a:moveTo>
                  <a:pt x="28575" y="0"/>
                </a:moveTo>
                <a:lnTo>
                  <a:pt x="0" y="0"/>
                </a:lnTo>
                <a:lnTo>
                  <a:pt x="0" y="4572000"/>
                </a:lnTo>
                <a:lnTo>
                  <a:pt x="28575" y="4572000"/>
                </a:lnTo>
                <a:lnTo>
                  <a:pt x="2857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02272" y="4070006"/>
            <a:ext cx="3714115" cy="1855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Connections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only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"from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left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to </a:t>
            </a:r>
            <a:r>
              <a:rPr dirty="0" sz="2000">
                <a:latin typeface="Tahoma"/>
                <a:cs typeface="Tahoma"/>
              </a:rPr>
              <a:t>right",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no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connection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cycle</a:t>
            </a:r>
            <a:endParaRPr sz="2000">
              <a:latin typeface="Tahoma"/>
              <a:cs typeface="Tahoma"/>
            </a:endParaRPr>
          </a:p>
          <a:p>
            <a:pPr marL="355600" marR="4064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Activation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fed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forward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from </a:t>
            </a:r>
            <a:r>
              <a:rPr dirty="0" sz="2000">
                <a:latin typeface="Tahoma"/>
                <a:cs typeface="Tahoma"/>
              </a:rPr>
              <a:t>input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output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through </a:t>
            </a:r>
            <a:r>
              <a:rPr dirty="0" sz="2000">
                <a:latin typeface="Tahoma"/>
                <a:cs typeface="Tahoma"/>
              </a:rPr>
              <a:t>"hidden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layers"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 sz="2000">
                <a:latin typeface="Tahoma"/>
                <a:cs typeface="Tahoma"/>
              </a:rPr>
              <a:t>No</a:t>
            </a:r>
            <a:r>
              <a:rPr dirty="0" sz="2000" spc="-10">
                <a:latin typeface="Tahoma"/>
                <a:cs typeface="Tahoma"/>
              </a:rPr>
              <a:t> memory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54945" y="4480002"/>
            <a:ext cx="492584" cy="21031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971162" y="240709"/>
            <a:ext cx="2955925" cy="1078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065">
              <a:lnSpc>
                <a:spcPct val="115700"/>
              </a:lnSpc>
              <a:spcBef>
                <a:spcPts val="100"/>
              </a:spcBef>
            </a:pPr>
            <a:r>
              <a:rPr dirty="0" sz="1100" spc="65">
                <a:latin typeface="Microsoft JhengHei UI Light"/>
                <a:cs typeface="Microsoft JhengHei UI Light"/>
              </a:rPr>
              <a:t>在 </a:t>
            </a:r>
            <a:r>
              <a:rPr dirty="0" sz="1100">
                <a:latin typeface="Microsoft JhengHei UI Light"/>
                <a:cs typeface="Microsoft JhengHei UI Light"/>
              </a:rPr>
              <a:t>t</a:t>
            </a:r>
            <a:r>
              <a:rPr dirty="0" sz="1100" spc="-75">
                <a:latin typeface="Microsoft JhengHei UI Light"/>
                <a:cs typeface="Microsoft JhengHei UI Light"/>
              </a:rPr>
              <a:t> 时刻，隐藏层计算出⼀个“激活值”（</a:t>
            </a:r>
            <a:r>
              <a:rPr dirty="0" sz="1100" spc="-70">
                <a:latin typeface="Microsoft JhengHei UI Light"/>
                <a:cs typeface="Microsoft JhengHei UI Light"/>
              </a:rPr>
              <a:t>即它的</a:t>
            </a:r>
            <a:r>
              <a:rPr dirty="0" sz="1100" spc="-50">
                <a:latin typeface="Microsoft JhengHei UI Light"/>
                <a:cs typeface="Microsoft JhengHei UI Light"/>
              </a:rPr>
              <a:t> </a:t>
            </a:r>
            <a:r>
              <a:rPr dirty="0" sz="1100" spc="-150">
                <a:latin typeface="Microsoft JhengHei UI Light"/>
                <a:cs typeface="Microsoft JhengHei UI Light"/>
              </a:rPr>
              <a:t>“思考结果”）</a:t>
            </a:r>
            <a:r>
              <a:rPr dirty="0" sz="1100" spc="-50">
                <a:latin typeface="Microsoft JhengHei UI Light"/>
                <a:cs typeface="Microsoft JhengHei UI Light"/>
              </a:rPr>
              <a:t>。</a:t>
            </a:r>
            <a:endParaRPr sz="1100">
              <a:latin typeface="Microsoft JhengHei UI Light"/>
              <a:cs typeface="Microsoft JhengHei UI Light"/>
            </a:endParaRPr>
          </a:p>
          <a:p>
            <a:pPr marL="12700" marR="5080">
              <a:lnSpc>
                <a:spcPct val="115700"/>
              </a:lnSpc>
              <a:spcBef>
                <a:spcPts val="655"/>
              </a:spcBef>
            </a:pPr>
            <a:r>
              <a:rPr dirty="0" sz="1100" spc="-105">
                <a:latin typeface="Microsoft JhengHei UI Light"/>
                <a:cs typeface="Microsoft JhengHei UI Light"/>
              </a:rPr>
              <a:t>因为有这个“循环”，这个“思考结果”不会在 </a:t>
            </a:r>
            <a:r>
              <a:rPr dirty="0" sz="1100" spc="-25">
                <a:latin typeface="Microsoft JhengHei UI Light"/>
                <a:cs typeface="Microsoft JhengHei UI Light"/>
              </a:rPr>
              <a:t>t+1</a:t>
            </a:r>
            <a:r>
              <a:rPr dirty="0" sz="1100" spc="-105">
                <a:latin typeface="Microsoft JhengHei UI Light"/>
                <a:cs typeface="Microsoft JhengHei UI Light"/>
              </a:rPr>
              <a:t>时刻消失，⽽是会被“拷⻉”并“反馈”回隐藏层，</a:t>
            </a:r>
            <a:r>
              <a:rPr dirty="0" sz="1100">
                <a:latin typeface="Microsoft JhengHei UI Light"/>
                <a:cs typeface="Microsoft JhengHei UI Light"/>
              </a:rPr>
              <a:t>作为 t+1</a:t>
            </a:r>
            <a:r>
              <a:rPr dirty="0" sz="1100" spc="-125">
                <a:latin typeface="Microsoft JhengHei UI Light"/>
                <a:cs typeface="Microsoft JhengHei UI Light"/>
              </a:rPr>
              <a:t> 时刻的“额外输⼊”。</a:t>
            </a:r>
            <a:endParaRPr sz="1100">
              <a:latin typeface="Microsoft JhengHei UI Light"/>
              <a:cs typeface="Microsoft JhengHei UI Light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6061" rIns="0" bIns="0" rtlCol="0" vert="horz">
            <a:spAutoFit/>
          </a:bodyPr>
          <a:lstStyle/>
          <a:p>
            <a:pPr marL="1001394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latin typeface="Tahoma"/>
                <a:cs typeface="Tahoma"/>
              </a:rPr>
              <a:t>Elman</a:t>
            </a:r>
            <a:r>
              <a:rPr dirty="0" sz="4400" spc="-85">
                <a:latin typeface="Tahoma"/>
                <a:cs typeface="Tahoma"/>
              </a:rPr>
              <a:t> </a:t>
            </a:r>
            <a:r>
              <a:rPr dirty="0" sz="4400" spc="-10">
                <a:latin typeface="Tahoma"/>
                <a:cs typeface="Tahoma"/>
              </a:rPr>
              <a:t>Network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47052" y="2022157"/>
            <a:ext cx="4190365" cy="36087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Elman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neural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network </a:t>
            </a:r>
            <a:r>
              <a:rPr dirty="0" sz="2800">
                <a:latin typeface="Tahoma"/>
                <a:cs typeface="Tahoma"/>
              </a:rPr>
              <a:t>was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proposed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by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Jeffrey</a:t>
            </a:r>
            <a:endParaRPr sz="28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dirty="0" sz="2800">
                <a:latin typeface="Tahoma"/>
                <a:cs typeface="Tahoma"/>
              </a:rPr>
              <a:t>L.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Elman,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1990.</a:t>
            </a:r>
            <a:endParaRPr sz="2800">
              <a:latin typeface="Tahoma"/>
              <a:cs typeface="Tahoma"/>
            </a:endParaRPr>
          </a:p>
          <a:p>
            <a:pPr marL="355600" marR="261620" indent="-34290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It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simple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recurrent </a:t>
            </a:r>
            <a:r>
              <a:rPr dirty="0" sz="2800">
                <a:latin typeface="Tahoma"/>
                <a:cs typeface="Tahoma"/>
              </a:rPr>
              <a:t>neural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network</a:t>
            </a:r>
            <a:endParaRPr sz="2800">
              <a:latin typeface="Tahoma"/>
              <a:cs typeface="Tahoma"/>
            </a:endParaRPr>
          </a:p>
          <a:p>
            <a:pPr marL="355600" marR="532130" indent="-34290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Elman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network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has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50">
                <a:latin typeface="Tahoma"/>
                <a:cs typeface="Tahoma"/>
              </a:rPr>
              <a:t>a </a:t>
            </a:r>
            <a:r>
              <a:rPr dirty="0" sz="2800">
                <a:latin typeface="Tahoma"/>
                <a:cs typeface="Tahoma"/>
              </a:rPr>
              <a:t>powerful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prediction capability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6044" y="2383536"/>
            <a:ext cx="2729483" cy="338480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5904" y="5432363"/>
            <a:ext cx="4131945" cy="113792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algn="just" marL="12700" marR="5080">
              <a:lnSpc>
                <a:spcPts val="2880"/>
              </a:lnSpc>
              <a:spcBef>
                <a:spcPts val="315"/>
              </a:spcBef>
            </a:pPr>
            <a:r>
              <a:rPr dirty="0" sz="2400">
                <a:latin typeface="Tahoma"/>
                <a:cs typeface="Tahoma"/>
              </a:rPr>
              <a:t>where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500" i="1">
                <a:latin typeface="Palatino Linotype"/>
                <a:cs typeface="Palatino Linotype"/>
              </a:rPr>
              <a:t>y</a:t>
            </a:r>
            <a:r>
              <a:rPr dirty="0" sz="2500" spc="90" i="1">
                <a:latin typeface="Palatino Linotype"/>
                <a:cs typeface="Palatino Linotype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output,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500" i="1">
                <a:latin typeface="Palatino Linotype"/>
                <a:cs typeface="Palatino Linotype"/>
              </a:rPr>
              <a:t>x</a:t>
            </a:r>
            <a:r>
              <a:rPr dirty="0" sz="2500" spc="95" i="1">
                <a:latin typeface="Palatino Linotype"/>
                <a:cs typeface="Palatino Linotype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500" i="1">
                <a:solidFill>
                  <a:srgbClr val="0000FF"/>
                </a:solidFill>
                <a:latin typeface="Palatino Linotype"/>
                <a:cs typeface="Palatino Linotype"/>
              </a:rPr>
              <a:t>z</a:t>
            </a:r>
            <a:r>
              <a:rPr dirty="0" sz="2500" spc="100" i="1">
                <a:solidFill>
                  <a:srgbClr val="0000FF"/>
                </a:solidFill>
                <a:latin typeface="Palatino Linotype"/>
                <a:cs typeface="Palatino Linotype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is</a:t>
            </a:r>
            <a:r>
              <a:rPr dirty="0" sz="2400" spc="-3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dirty="0" sz="2400" spc="-2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state</a:t>
            </a:r>
            <a:r>
              <a:rPr dirty="0" sz="2400">
                <a:latin typeface="Tahoma"/>
                <a:cs typeface="Tahoma"/>
              </a:rPr>
              <a:t>.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500" i="1">
                <a:latin typeface="Palatino Linotype"/>
                <a:cs typeface="Palatino Linotype"/>
              </a:rPr>
              <a:t>t</a:t>
            </a:r>
            <a:r>
              <a:rPr dirty="0" sz="2500" spc="105" i="1">
                <a:latin typeface="Palatino Linotype"/>
                <a:cs typeface="Palatino Linotype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an </a:t>
            </a:r>
            <a:r>
              <a:rPr dirty="0" sz="2400">
                <a:latin typeface="Tahoma"/>
                <a:cs typeface="Tahoma"/>
              </a:rPr>
              <a:t>index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time.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3291" y="2205228"/>
            <a:ext cx="3774948" cy="4104132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359408" y="4096511"/>
            <a:ext cx="2087880" cy="1102360"/>
          </a:xfrm>
          <a:custGeom>
            <a:avLst/>
            <a:gdLst/>
            <a:ahLst/>
            <a:cxnLst/>
            <a:rect l="l" t="t" r="r" b="b"/>
            <a:pathLst>
              <a:path w="2087879" h="1102360">
                <a:moveTo>
                  <a:pt x="2087879" y="0"/>
                </a:moveTo>
                <a:lnTo>
                  <a:pt x="0" y="0"/>
                </a:lnTo>
                <a:lnTo>
                  <a:pt x="0" y="1101852"/>
                </a:lnTo>
                <a:lnTo>
                  <a:pt x="2087879" y="1101852"/>
                </a:lnTo>
                <a:lnTo>
                  <a:pt x="208787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241829" y="4896535"/>
            <a:ext cx="102870" cy="2679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600" spc="-50" i="1">
                <a:latin typeface="Times New Roman"/>
                <a:cs typeface="Times New Roman"/>
              </a:rPr>
              <a:t>v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02664" y="4665281"/>
            <a:ext cx="2037080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369570" algn="l"/>
              </a:tabLst>
            </a:pPr>
            <a:r>
              <a:rPr dirty="0" sz="2700" spc="70" i="1">
                <a:latin typeface="Times New Roman"/>
                <a:cs typeface="Times New Roman"/>
              </a:rPr>
              <a:t>z</a:t>
            </a:r>
            <a:r>
              <a:rPr dirty="0" baseline="43402" sz="2400" spc="104" i="1">
                <a:latin typeface="Times New Roman"/>
                <a:cs typeface="Times New Roman"/>
              </a:rPr>
              <a:t>t</a:t>
            </a:r>
            <a:r>
              <a:rPr dirty="0" baseline="43402" sz="2400" i="1">
                <a:latin typeface="Times New Roman"/>
                <a:cs typeface="Times New Roman"/>
              </a:rPr>
              <a:t>	</a:t>
            </a:r>
            <a:r>
              <a:rPr dirty="0" sz="2700">
                <a:latin typeface="Times New Roman"/>
                <a:cs typeface="Times New Roman"/>
              </a:rPr>
              <a:t>=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 i="1">
                <a:latin typeface="Times New Roman"/>
                <a:cs typeface="Times New Roman"/>
              </a:rPr>
              <a:t>F</a:t>
            </a:r>
            <a:r>
              <a:rPr dirty="0" sz="2700" spc="185" i="1">
                <a:latin typeface="Times New Roman"/>
                <a:cs typeface="Times New Roman"/>
              </a:rPr>
              <a:t> </a:t>
            </a:r>
            <a:r>
              <a:rPr dirty="0" sz="2700" spc="130">
                <a:latin typeface="Times New Roman"/>
                <a:cs typeface="Times New Roman"/>
              </a:rPr>
              <a:t>(</a:t>
            </a:r>
            <a:r>
              <a:rPr dirty="0" sz="2700" spc="130" i="1">
                <a:latin typeface="Times New Roman"/>
                <a:cs typeface="Times New Roman"/>
              </a:rPr>
              <a:t>z</a:t>
            </a:r>
            <a:r>
              <a:rPr dirty="0" baseline="43402" sz="2400" spc="195" i="1">
                <a:latin typeface="Times New Roman"/>
                <a:cs typeface="Times New Roman"/>
              </a:rPr>
              <a:t>t</a:t>
            </a:r>
            <a:r>
              <a:rPr dirty="0" baseline="43402" sz="2400" spc="-337" i="1">
                <a:latin typeface="Times New Roman"/>
                <a:cs typeface="Times New Roman"/>
              </a:rPr>
              <a:t> </a:t>
            </a:r>
            <a:r>
              <a:rPr dirty="0" baseline="43402" sz="2400" spc="-30">
                <a:latin typeface="Times New Roman"/>
                <a:cs typeface="Times New Roman"/>
              </a:rPr>
              <a:t>–1</a:t>
            </a:r>
            <a:r>
              <a:rPr dirty="0" baseline="43402" sz="2400" spc="-382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,</a:t>
            </a:r>
            <a:r>
              <a:rPr dirty="0" sz="2700" spc="-204">
                <a:latin typeface="Times New Roman"/>
                <a:cs typeface="Times New Roman"/>
              </a:rPr>
              <a:t> </a:t>
            </a:r>
            <a:r>
              <a:rPr dirty="0" sz="2700" spc="-25" i="1">
                <a:latin typeface="Times New Roman"/>
                <a:cs typeface="Times New Roman"/>
              </a:rPr>
              <a:t>x</a:t>
            </a:r>
            <a:r>
              <a:rPr dirty="0" sz="2700" spc="-25">
                <a:latin typeface="Times New Roman"/>
                <a:cs typeface="Times New Roman"/>
              </a:rPr>
              <a:t>)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4757" y="2412301"/>
            <a:ext cx="4453890" cy="2119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300" marR="177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Char char="■"/>
              <a:tabLst>
                <a:tab pos="368300" algn="l"/>
              </a:tabLst>
            </a:pPr>
            <a:r>
              <a:rPr dirty="0" sz="2400">
                <a:latin typeface="Tahoma"/>
                <a:cs typeface="Tahoma"/>
              </a:rPr>
              <a:t>Elman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which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typically </a:t>
            </a:r>
            <a:r>
              <a:rPr dirty="0" sz="2400">
                <a:latin typeface="Tahoma"/>
                <a:cs typeface="Tahoma"/>
              </a:rPr>
              <a:t>distinguishes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between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spc="-50" b="1">
                <a:latin typeface="Tahoma"/>
                <a:cs typeface="Tahoma"/>
              </a:rPr>
              <a:t>a </a:t>
            </a:r>
            <a:r>
              <a:rPr dirty="0" sz="2400" spc="-20" b="1">
                <a:latin typeface="Tahoma"/>
                <a:cs typeface="Tahoma"/>
              </a:rPr>
              <a:t>state-</a:t>
            </a:r>
            <a:r>
              <a:rPr dirty="0" sz="2400" b="1">
                <a:latin typeface="Tahoma"/>
                <a:cs typeface="Tahoma"/>
              </a:rPr>
              <a:t>output</a:t>
            </a:r>
            <a:r>
              <a:rPr dirty="0" sz="2400" spc="-9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function</a:t>
            </a:r>
            <a:r>
              <a:rPr dirty="0" sz="2400" spc="-85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and </a:t>
            </a:r>
            <a:r>
              <a:rPr dirty="0" sz="2400" b="1">
                <a:latin typeface="Tahoma"/>
                <a:cs typeface="Tahoma"/>
              </a:rPr>
              <a:t>an</a:t>
            </a:r>
            <a:r>
              <a:rPr dirty="0" sz="2400" spc="-25" b="1">
                <a:latin typeface="Tahoma"/>
                <a:cs typeface="Tahoma"/>
              </a:rPr>
              <a:t> input-</a:t>
            </a:r>
            <a:r>
              <a:rPr dirty="0" sz="2400" b="1">
                <a:latin typeface="Tahoma"/>
                <a:cs typeface="Tahoma"/>
              </a:rPr>
              <a:t>state</a:t>
            </a:r>
            <a:r>
              <a:rPr dirty="0" sz="2400" spc="-2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mapping</a:t>
            </a:r>
            <a:r>
              <a:rPr dirty="0" sz="2400" spc="-10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  <a:p>
            <a:pPr algn="ctr" marR="584835">
              <a:lnSpc>
                <a:spcPct val="100000"/>
              </a:lnSpc>
              <a:spcBef>
                <a:spcPts val="1720"/>
              </a:spcBef>
            </a:pPr>
            <a:r>
              <a:rPr dirty="0" sz="2700" i="1">
                <a:latin typeface="Times New Roman"/>
                <a:cs typeface="Times New Roman"/>
              </a:rPr>
              <a:t>y</a:t>
            </a:r>
            <a:r>
              <a:rPr dirty="0" sz="2700" spc="30" i="1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=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 spc="-90" i="1">
                <a:latin typeface="Times New Roman"/>
                <a:cs typeface="Times New Roman"/>
              </a:rPr>
              <a:t>F</a:t>
            </a:r>
            <a:r>
              <a:rPr dirty="0" baseline="-24305" sz="2400" spc="-135" i="1">
                <a:latin typeface="Times New Roman"/>
                <a:cs typeface="Times New Roman"/>
              </a:rPr>
              <a:t>w</a:t>
            </a:r>
            <a:r>
              <a:rPr dirty="0" baseline="-24305" sz="2400" spc="-165" i="1">
                <a:latin typeface="Times New Roman"/>
                <a:cs typeface="Times New Roman"/>
              </a:rPr>
              <a:t> </a:t>
            </a:r>
            <a:r>
              <a:rPr dirty="0" sz="2700" spc="90">
                <a:latin typeface="Times New Roman"/>
                <a:cs typeface="Times New Roman"/>
              </a:rPr>
              <a:t>(</a:t>
            </a:r>
            <a:r>
              <a:rPr dirty="0" sz="2700" spc="90" i="1">
                <a:latin typeface="Times New Roman"/>
                <a:cs typeface="Times New Roman"/>
              </a:rPr>
              <a:t>z</a:t>
            </a:r>
            <a:r>
              <a:rPr dirty="0" sz="2700" spc="90">
                <a:latin typeface="Times New Roman"/>
                <a:cs typeface="Times New Roman"/>
              </a:rPr>
              <a:t>)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349883" y="4086986"/>
            <a:ext cx="2106930" cy="1121410"/>
          </a:xfrm>
          <a:custGeom>
            <a:avLst/>
            <a:gdLst/>
            <a:ahLst/>
            <a:cxnLst/>
            <a:rect l="l" t="t" r="r" b="b"/>
            <a:pathLst>
              <a:path w="2106929" h="1121410">
                <a:moveTo>
                  <a:pt x="2106929" y="0"/>
                </a:moveTo>
                <a:lnTo>
                  <a:pt x="0" y="0"/>
                </a:lnTo>
                <a:lnTo>
                  <a:pt x="0" y="1120902"/>
                </a:lnTo>
                <a:lnTo>
                  <a:pt x="2106929" y="1120902"/>
                </a:lnTo>
                <a:lnTo>
                  <a:pt x="2106929" y="1116139"/>
                </a:lnTo>
                <a:lnTo>
                  <a:pt x="9525" y="1116139"/>
                </a:lnTo>
                <a:lnTo>
                  <a:pt x="4762" y="1111377"/>
                </a:lnTo>
                <a:lnTo>
                  <a:pt x="9525" y="1111377"/>
                </a:lnTo>
                <a:lnTo>
                  <a:pt x="9525" y="9525"/>
                </a:lnTo>
                <a:lnTo>
                  <a:pt x="4762" y="9525"/>
                </a:lnTo>
                <a:lnTo>
                  <a:pt x="9525" y="4762"/>
                </a:lnTo>
                <a:lnTo>
                  <a:pt x="2106929" y="4762"/>
                </a:lnTo>
                <a:lnTo>
                  <a:pt x="2106929" y="0"/>
                </a:lnTo>
                <a:close/>
              </a:path>
              <a:path w="2106929" h="1121410">
                <a:moveTo>
                  <a:pt x="9525" y="1111377"/>
                </a:moveTo>
                <a:lnTo>
                  <a:pt x="4762" y="1111377"/>
                </a:lnTo>
                <a:lnTo>
                  <a:pt x="9525" y="1116139"/>
                </a:lnTo>
                <a:lnTo>
                  <a:pt x="9525" y="1111377"/>
                </a:lnTo>
                <a:close/>
              </a:path>
              <a:path w="2106929" h="1121410">
                <a:moveTo>
                  <a:pt x="2097404" y="1111377"/>
                </a:moveTo>
                <a:lnTo>
                  <a:pt x="9525" y="1111377"/>
                </a:lnTo>
                <a:lnTo>
                  <a:pt x="9525" y="1116139"/>
                </a:lnTo>
                <a:lnTo>
                  <a:pt x="2097404" y="1116139"/>
                </a:lnTo>
                <a:lnTo>
                  <a:pt x="2097404" y="1111377"/>
                </a:lnTo>
                <a:close/>
              </a:path>
              <a:path w="2106929" h="1121410">
                <a:moveTo>
                  <a:pt x="2097404" y="4762"/>
                </a:moveTo>
                <a:lnTo>
                  <a:pt x="2097404" y="1116139"/>
                </a:lnTo>
                <a:lnTo>
                  <a:pt x="2102167" y="1111377"/>
                </a:lnTo>
                <a:lnTo>
                  <a:pt x="2106929" y="1111377"/>
                </a:lnTo>
                <a:lnTo>
                  <a:pt x="2106929" y="9525"/>
                </a:lnTo>
                <a:lnTo>
                  <a:pt x="2102167" y="9525"/>
                </a:lnTo>
                <a:lnTo>
                  <a:pt x="2097404" y="4762"/>
                </a:lnTo>
                <a:close/>
              </a:path>
              <a:path w="2106929" h="1121410">
                <a:moveTo>
                  <a:pt x="2106929" y="1111377"/>
                </a:moveTo>
                <a:lnTo>
                  <a:pt x="2102167" y="1111377"/>
                </a:lnTo>
                <a:lnTo>
                  <a:pt x="2097404" y="1116139"/>
                </a:lnTo>
                <a:lnTo>
                  <a:pt x="2106929" y="1116139"/>
                </a:lnTo>
                <a:lnTo>
                  <a:pt x="2106929" y="1111377"/>
                </a:lnTo>
                <a:close/>
              </a:path>
              <a:path w="2106929" h="1121410">
                <a:moveTo>
                  <a:pt x="9525" y="4762"/>
                </a:moveTo>
                <a:lnTo>
                  <a:pt x="4762" y="9525"/>
                </a:lnTo>
                <a:lnTo>
                  <a:pt x="9525" y="9525"/>
                </a:lnTo>
                <a:lnTo>
                  <a:pt x="9525" y="4762"/>
                </a:lnTo>
                <a:close/>
              </a:path>
              <a:path w="2106929" h="1121410">
                <a:moveTo>
                  <a:pt x="2097404" y="4762"/>
                </a:moveTo>
                <a:lnTo>
                  <a:pt x="9525" y="4762"/>
                </a:lnTo>
                <a:lnTo>
                  <a:pt x="9525" y="9525"/>
                </a:lnTo>
                <a:lnTo>
                  <a:pt x="2097404" y="9525"/>
                </a:lnTo>
                <a:lnTo>
                  <a:pt x="2097404" y="4762"/>
                </a:lnTo>
                <a:close/>
              </a:path>
              <a:path w="2106929" h="1121410">
                <a:moveTo>
                  <a:pt x="2106929" y="4762"/>
                </a:moveTo>
                <a:lnTo>
                  <a:pt x="2097404" y="4762"/>
                </a:lnTo>
                <a:lnTo>
                  <a:pt x="2102167" y="9525"/>
                </a:lnTo>
                <a:lnTo>
                  <a:pt x="2106929" y="9525"/>
                </a:lnTo>
                <a:lnTo>
                  <a:pt x="2106929" y="476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6891591" y="4245495"/>
            <a:ext cx="1725930" cy="2073910"/>
            <a:chOff x="6891591" y="4245495"/>
            <a:chExt cx="1725930" cy="2073910"/>
          </a:xfrm>
        </p:grpSpPr>
        <p:sp>
          <p:nvSpPr>
            <p:cNvPr id="10" name="object 10" descr=""/>
            <p:cNvSpPr/>
            <p:nvPr/>
          </p:nvSpPr>
          <p:spPr>
            <a:xfrm>
              <a:off x="7235952" y="5806440"/>
              <a:ext cx="1080770" cy="502920"/>
            </a:xfrm>
            <a:custGeom>
              <a:avLst/>
              <a:gdLst/>
              <a:ahLst/>
              <a:cxnLst/>
              <a:rect l="l" t="t" r="r" b="b"/>
              <a:pathLst>
                <a:path w="1080770" h="502920">
                  <a:moveTo>
                    <a:pt x="1080516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080516" y="502920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00E4A8">
                <a:alpha val="187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226554" y="5796559"/>
              <a:ext cx="1100455" cy="522605"/>
            </a:xfrm>
            <a:custGeom>
              <a:avLst/>
              <a:gdLst/>
              <a:ahLst/>
              <a:cxnLst/>
              <a:rect l="l" t="t" r="r" b="b"/>
              <a:pathLst>
                <a:path w="1100454" h="522604">
                  <a:moveTo>
                    <a:pt x="1090612" y="0"/>
                  </a:moveTo>
                  <a:lnTo>
                    <a:pt x="9525" y="0"/>
                  </a:lnTo>
                  <a:lnTo>
                    <a:pt x="7404" y="241"/>
                  </a:lnTo>
                  <a:lnTo>
                    <a:pt x="0" y="9525"/>
                  </a:lnTo>
                  <a:lnTo>
                    <a:pt x="0" y="512762"/>
                  </a:lnTo>
                  <a:lnTo>
                    <a:pt x="9525" y="522287"/>
                  </a:lnTo>
                  <a:lnTo>
                    <a:pt x="1090612" y="522287"/>
                  </a:lnTo>
                  <a:lnTo>
                    <a:pt x="1100137" y="512762"/>
                  </a:lnTo>
                  <a:lnTo>
                    <a:pt x="19050" y="512762"/>
                  </a:lnTo>
                  <a:lnTo>
                    <a:pt x="9525" y="503237"/>
                  </a:lnTo>
                  <a:lnTo>
                    <a:pt x="19050" y="503237"/>
                  </a:lnTo>
                  <a:lnTo>
                    <a:pt x="19050" y="19050"/>
                  </a:lnTo>
                  <a:lnTo>
                    <a:pt x="9525" y="19050"/>
                  </a:lnTo>
                  <a:lnTo>
                    <a:pt x="19050" y="9525"/>
                  </a:lnTo>
                  <a:lnTo>
                    <a:pt x="1100137" y="9525"/>
                  </a:lnTo>
                  <a:lnTo>
                    <a:pt x="1099896" y="7404"/>
                  </a:lnTo>
                  <a:lnTo>
                    <a:pt x="1092720" y="241"/>
                  </a:lnTo>
                  <a:lnTo>
                    <a:pt x="1090612" y="0"/>
                  </a:lnTo>
                  <a:close/>
                </a:path>
                <a:path w="1100454" h="522604">
                  <a:moveTo>
                    <a:pt x="19050" y="503237"/>
                  </a:moveTo>
                  <a:lnTo>
                    <a:pt x="9525" y="503237"/>
                  </a:lnTo>
                  <a:lnTo>
                    <a:pt x="19050" y="512762"/>
                  </a:lnTo>
                  <a:lnTo>
                    <a:pt x="19050" y="503237"/>
                  </a:lnTo>
                  <a:close/>
                </a:path>
                <a:path w="1100454" h="522604">
                  <a:moveTo>
                    <a:pt x="1081087" y="503237"/>
                  </a:moveTo>
                  <a:lnTo>
                    <a:pt x="19050" y="503237"/>
                  </a:lnTo>
                  <a:lnTo>
                    <a:pt x="19050" y="512762"/>
                  </a:lnTo>
                  <a:lnTo>
                    <a:pt x="1081087" y="512762"/>
                  </a:lnTo>
                  <a:lnTo>
                    <a:pt x="1081087" y="503237"/>
                  </a:lnTo>
                  <a:close/>
                </a:path>
                <a:path w="1100454" h="522604">
                  <a:moveTo>
                    <a:pt x="1081087" y="9525"/>
                  </a:moveTo>
                  <a:lnTo>
                    <a:pt x="1081087" y="512762"/>
                  </a:lnTo>
                  <a:lnTo>
                    <a:pt x="1090612" y="503237"/>
                  </a:lnTo>
                  <a:lnTo>
                    <a:pt x="1100137" y="503237"/>
                  </a:lnTo>
                  <a:lnTo>
                    <a:pt x="1100137" y="19050"/>
                  </a:lnTo>
                  <a:lnTo>
                    <a:pt x="1090612" y="19050"/>
                  </a:lnTo>
                  <a:lnTo>
                    <a:pt x="1081087" y="9525"/>
                  </a:lnTo>
                  <a:close/>
                </a:path>
                <a:path w="1100454" h="522604">
                  <a:moveTo>
                    <a:pt x="1100137" y="503237"/>
                  </a:moveTo>
                  <a:lnTo>
                    <a:pt x="1090612" y="503237"/>
                  </a:lnTo>
                  <a:lnTo>
                    <a:pt x="1081087" y="512762"/>
                  </a:lnTo>
                  <a:lnTo>
                    <a:pt x="1100137" y="512762"/>
                  </a:lnTo>
                  <a:lnTo>
                    <a:pt x="1100137" y="503237"/>
                  </a:lnTo>
                  <a:close/>
                </a:path>
                <a:path w="1100454" h="522604">
                  <a:moveTo>
                    <a:pt x="19050" y="9525"/>
                  </a:moveTo>
                  <a:lnTo>
                    <a:pt x="9525" y="19050"/>
                  </a:lnTo>
                  <a:lnTo>
                    <a:pt x="19050" y="19050"/>
                  </a:lnTo>
                  <a:lnTo>
                    <a:pt x="19050" y="9525"/>
                  </a:lnTo>
                  <a:close/>
                </a:path>
                <a:path w="1100454" h="522604">
                  <a:moveTo>
                    <a:pt x="1081087" y="9525"/>
                  </a:moveTo>
                  <a:lnTo>
                    <a:pt x="19050" y="9525"/>
                  </a:lnTo>
                  <a:lnTo>
                    <a:pt x="19050" y="19050"/>
                  </a:lnTo>
                  <a:lnTo>
                    <a:pt x="1081087" y="19050"/>
                  </a:lnTo>
                  <a:lnTo>
                    <a:pt x="1081087" y="9525"/>
                  </a:lnTo>
                  <a:close/>
                </a:path>
                <a:path w="1100454" h="522604">
                  <a:moveTo>
                    <a:pt x="1100137" y="9525"/>
                  </a:moveTo>
                  <a:lnTo>
                    <a:pt x="1081087" y="9525"/>
                  </a:lnTo>
                  <a:lnTo>
                    <a:pt x="1090612" y="19050"/>
                  </a:lnTo>
                  <a:lnTo>
                    <a:pt x="1100137" y="19050"/>
                  </a:lnTo>
                  <a:lnTo>
                    <a:pt x="1100137" y="952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891592" y="4245495"/>
              <a:ext cx="1725930" cy="1887220"/>
            </a:xfrm>
            <a:custGeom>
              <a:avLst/>
              <a:gdLst/>
              <a:ahLst/>
              <a:cxnLst/>
              <a:rect l="l" t="t" r="r" b="b"/>
              <a:pathLst>
                <a:path w="1725929" h="1887220">
                  <a:moveTo>
                    <a:pt x="894676" y="1553375"/>
                  </a:moveTo>
                  <a:lnTo>
                    <a:pt x="51498" y="334784"/>
                  </a:lnTo>
                  <a:lnTo>
                    <a:pt x="29095" y="302399"/>
                  </a:lnTo>
                  <a:lnTo>
                    <a:pt x="51384" y="334606"/>
                  </a:lnTo>
                  <a:lnTo>
                    <a:pt x="51498" y="334784"/>
                  </a:lnTo>
                  <a:lnTo>
                    <a:pt x="88861" y="352247"/>
                  </a:lnTo>
                  <a:lnTo>
                    <a:pt x="91630" y="353212"/>
                  </a:lnTo>
                  <a:lnTo>
                    <a:pt x="92100" y="353212"/>
                  </a:lnTo>
                  <a:lnTo>
                    <a:pt x="94005" y="353441"/>
                  </a:lnTo>
                  <a:lnTo>
                    <a:pt x="106895" y="339648"/>
                  </a:lnTo>
                  <a:lnTo>
                    <a:pt x="106400" y="337045"/>
                  </a:lnTo>
                  <a:lnTo>
                    <a:pt x="105422" y="334784"/>
                  </a:lnTo>
                  <a:lnTo>
                    <a:pt x="105359" y="334606"/>
                  </a:lnTo>
                  <a:lnTo>
                    <a:pt x="103835" y="332422"/>
                  </a:lnTo>
                  <a:lnTo>
                    <a:pt x="101904" y="330606"/>
                  </a:lnTo>
                  <a:lnTo>
                    <a:pt x="99631" y="329247"/>
                  </a:lnTo>
                  <a:lnTo>
                    <a:pt x="28854" y="296151"/>
                  </a:lnTo>
                  <a:lnTo>
                    <a:pt x="0" y="282651"/>
                  </a:lnTo>
                  <a:lnTo>
                    <a:pt x="8483" y="392315"/>
                  </a:lnTo>
                  <a:lnTo>
                    <a:pt x="20789" y="404025"/>
                  </a:lnTo>
                  <a:lnTo>
                    <a:pt x="23444" y="403821"/>
                  </a:lnTo>
                  <a:lnTo>
                    <a:pt x="33807" y="390347"/>
                  </a:lnTo>
                  <a:lnTo>
                    <a:pt x="30632" y="349415"/>
                  </a:lnTo>
                  <a:lnTo>
                    <a:pt x="30619" y="349250"/>
                  </a:lnTo>
                  <a:lnTo>
                    <a:pt x="873785" y="1567827"/>
                  </a:lnTo>
                  <a:lnTo>
                    <a:pt x="894676" y="1553375"/>
                  </a:lnTo>
                  <a:close/>
                </a:path>
                <a:path w="1725929" h="1887220">
                  <a:moveTo>
                    <a:pt x="1425575" y="552538"/>
                  </a:moveTo>
                  <a:lnTo>
                    <a:pt x="1368094" y="458749"/>
                  </a:lnTo>
                  <a:lnTo>
                    <a:pt x="1356931" y="452691"/>
                  </a:lnTo>
                  <a:lnTo>
                    <a:pt x="1354289" y="453034"/>
                  </a:lnTo>
                  <a:lnTo>
                    <a:pt x="1344599" y="464388"/>
                  </a:lnTo>
                  <a:lnTo>
                    <a:pt x="1344663" y="467042"/>
                  </a:lnTo>
                  <a:lnTo>
                    <a:pt x="1345285" y="469633"/>
                  </a:lnTo>
                  <a:lnTo>
                    <a:pt x="1346428" y="472020"/>
                  </a:lnTo>
                  <a:lnTo>
                    <a:pt x="1367993" y="507199"/>
                  </a:lnTo>
                  <a:lnTo>
                    <a:pt x="423519" y="0"/>
                  </a:lnTo>
                  <a:lnTo>
                    <a:pt x="411492" y="22377"/>
                  </a:lnTo>
                  <a:lnTo>
                    <a:pt x="1355966" y="529564"/>
                  </a:lnTo>
                  <a:lnTo>
                    <a:pt x="1314754" y="531012"/>
                  </a:lnTo>
                  <a:lnTo>
                    <a:pt x="1302537" y="542823"/>
                  </a:lnTo>
                  <a:lnTo>
                    <a:pt x="1302626" y="545477"/>
                  </a:lnTo>
                  <a:lnTo>
                    <a:pt x="1315643" y="556399"/>
                  </a:lnTo>
                  <a:lnTo>
                    <a:pt x="1425206" y="552538"/>
                  </a:lnTo>
                  <a:lnTo>
                    <a:pt x="1425575" y="552538"/>
                  </a:lnTo>
                  <a:close/>
                </a:path>
                <a:path w="1725929" h="1887220">
                  <a:moveTo>
                    <a:pt x="1725612" y="839863"/>
                  </a:moveTo>
                  <a:lnTo>
                    <a:pt x="1700212" y="839863"/>
                  </a:lnTo>
                  <a:lnTo>
                    <a:pt x="1700212" y="1851609"/>
                  </a:lnTo>
                  <a:lnTo>
                    <a:pt x="1498828" y="1812658"/>
                  </a:lnTo>
                  <a:lnTo>
                    <a:pt x="1524279" y="1803742"/>
                  </a:lnTo>
                  <a:lnTo>
                    <a:pt x="1537766" y="1799018"/>
                  </a:lnTo>
                  <a:lnTo>
                    <a:pt x="1540167" y="1797888"/>
                  </a:lnTo>
                  <a:lnTo>
                    <a:pt x="1546263" y="1786750"/>
                  </a:lnTo>
                  <a:lnTo>
                    <a:pt x="1545932" y="1784108"/>
                  </a:lnTo>
                  <a:lnTo>
                    <a:pt x="1534934" y="1774444"/>
                  </a:lnTo>
                  <a:lnTo>
                    <a:pt x="1531950" y="1774444"/>
                  </a:lnTo>
                  <a:lnTo>
                    <a:pt x="1529372" y="1775053"/>
                  </a:lnTo>
                  <a:lnTo>
                    <a:pt x="1425575" y="1811426"/>
                  </a:lnTo>
                  <a:lnTo>
                    <a:pt x="1508328" y="1883879"/>
                  </a:lnTo>
                  <a:lnTo>
                    <a:pt x="1510499" y="1885403"/>
                  </a:lnTo>
                  <a:lnTo>
                    <a:pt x="1512938" y="1886445"/>
                  </a:lnTo>
                  <a:lnTo>
                    <a:pt x="1515541" y="1886966"/>
                  </a:lnTo>
                  <a:lnTo>
                    <a:pt x="1518018" y="1886966"/>
                  </a:lnTo>
                  <a:lnTo>
                    <a:pt x="1520329" y="1886445"/>
                  </a:lnTo>
                  <a:lnTo>
                    <a:pt x="1520558" y="1886445"/>
                  </a:lnTo>
                  <a:lnTo>
                    <a:pt x="1523199" y="1885226"/>
                  </a:lnTo>
                  <a:lnTo>
                    <a:pt x="1525320" y="1883638"/>
                  </a:lnTo>
                  <a:lnTo>
                    <a:pt x="1527073" y="1881644"/>
                  </a:lnTo>
                  <a:lnTo>
                    <a:pt x="1528279" y="1879460"/>
                  </a:lnTo>
                  <a:lnTo>
                    <a:pt x="1528368" y="1879320"/>
                  </a:lnTo>
                  <a:lnTo>
                    <a:pt x="1529143" y="1876780"/>
                  </a:lnTo>
                  <a:lnTo>
                    <a:pt x="1529384" y="1874139"/>
                  </a:lnTo>
                  <a:lnTo>
                    <a:pt x="1529080" y="1871510"/>
                  </a:lnTo>
                  <a:lnTo>
                    <a:pt x="1528216" y="1868995"/>
                  </a:lnTo>
                  <a:lnTo>
                    <a:pt x="1526857" y="1866709"/>
                  </a:lnTo>
                  <a:lnTo>
                    <a:pt x="1525054" y="1864766"/>
                  </a:lnTo>
                  <a:lnTo>
                    <a:pt x="1494015" y="1837588"/>
                  </a:lnTo>
                  <a:lnTo>
                    <a:pt x="1710499" y="1879460"/>
                  </a:lnTo>
                  <a:lnTo>
                    <a:pt x="1712899" y="1866988"/>
                  </a:lnTo>
                  <a:lnTo>
                    <a:pt x="1725612" y="1866988"/>
                  </a:lnTo>
                  <a:lnTo>
                    <a:pt x="1725612" y="839863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194752" y="773430"/>
            <a:ext cx="434340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latin typeface="Tahoma"/>
                <a:cs typeface="Tahoma"/>
              </a:rPr>
              <a:t>Elman</a:t>
            </a:r>
            <a:r>
              <a:rPr dirty="0" sz="4400" spc="-85">
                <a:latin typeface="Tahoma"/>
                <a:cs typeface="Tahoma"/>
              </a:rPr>
              <a:t> </a:t>
            </a:r>
            <a:r>
              <a:rPr dirty="0" sz="4400" spc="-10">
                <a:latin typeface="Tahoma"/>
                <a:cs typeface="Tahoma"/>
              </a:rPr>
              <a:t>Network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5335" y="214283"/>
            <a:ext cx="4563110" cy="4133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Elman </a:t>
            </a:r>
            <a:r>
              <a:rPr dirty="0" sz="1100" spc="-20">
                <a:latin typeface="Microsoft JhengHei UI Light"/>
                <a:cs typeface="Microsoft JhengHei UI Light"/>
              </a:rPr>
              <a:t>⽹络的核⼼思想是，它的输出不仅取决于</a:t>
            </a:r>
            <a:r>
              <a:rPr dirty="0" sz="1100" spc="-10">
                <a:latin typeface="Times New Roman"/>
                <a:cs typeface="Times New Roman"/>
              </a:rPr>
              <a:t>“</a:t>
            </a:r>
            <a:r>
              <a:rPr dirty="0" sz="1100" spc="-20">
                <a:latin typeface="Microsoft JhengHei UI Light"/>
                <a:cs typeface="Microsoft JhengHei UI Light"/>
              </a:rPr>
              <a:t>当前的输⼊</a:t>
            </a:r>
            <a:r>
              <a:rPr dirty="0" sz="1100" spc="-10">
                <a:latin typeface="Times New Roman"/>
                <a:cs typeface="Times New Roman"/>
              </a:rPr>
              <a:t>”</a:t>
            </a:r>
            <a:r>
              <a:rPr dirty="0" sz="1100" spc="-25">
                <a:latin typeface="Microsoft JhengHei UI Light"/>
                <a:cs typeface="Microsoft JhengHei UI Light"/>
              </a:rPr>
              <a:t>，还取决于⼀</a:t>
            </a:r>
            <a:r>
              <a:rPr dirty="0" sz="1100" spc="-20">
                <a:latin typeface="Microsoft JhengHei UI Light"/>
                <a:cs typeface="Microsoft JhengHei UI Light"/>
              </a:rPr>
              <a:t>个</a:t>
            </a:r>
            <a:r>
              <a:rPr dirty="0" sz="1100" spc="-10">
                <a:latin typeface="Times New Roman"/>
                <a:cs typeface="Times New Roman"/>
              </a:rPr>
              <a:t>“</a:t>
            </a:r>
            <a:r>
              <a:rPr dirty="0" sz="1100" spc="-20">
                <a:latin typeface="Microsoft JhengHei UI Light"/>
                <a:cs typeface="Microsoft JhengHei UI Light"/>
              </a:rPr>
              <a:t>内部状态</a:t>
            </a:r>
            <a:r>
              <a:rPr dirty="0" sz="1100" spc="-10">
                <a:latin typeface="Times New Roman"/>
                <a:cs typeface="Times New Roman"/>
              </a:rPr>
              <a:t>”</a:t>
            </a:r>
            <a:r>
              <a:rPr dirty="0" sz="1100" spc="-10">
                <a:latin typeface="Microsoft JhengHei UI Light"/>
                <a:cs typeface="Microsoft JhengHei UI Light"/>
              </a:rPr>
              <a:t>（</a:t>
            </a:r>
            <a:r>
              <a:rPr dirty="0" sz="1100" spc="-20">
                <a:latin typeface="Microsoft JhengHei UI Light"/>
                <a:cs typeface="Microsoft JhengHei UI Light"/>
              </a:rPr>
              <a:t>即</a:t>
            </a:r>
            <a:r>
              <a:rPr dirty="0" sz="1100" spc="-10">
                <a:latin typeface="Times New Roman"/>
                <a:cs typeface="Times New Roman"/>
              </a:rPr>
              <a:t>“</a:t>
            </a:r>
            <a:r>
              <a:rPr dirty="0" sz="1100" spc="-20">
                <a:latin typeface="Microsoft JhengHei UI Light"/>
                <a:cs typeface="Microsoft JhengHei UI Light"/>
              </a:rPr>
              <a:t>记忆</a:t>
            </a:r>
            <a:r>
              <a:rPr dirty="0" sz="1100" spc="-10">
                <a:latin typeface="Times New Roman"/>
                <a:cs typeface="Times New Roman"/>
              </a:rPr>
              <a:t>”</a:t>
            </a:r>
            <a:r>
              <a:rPr dirty="0" sz="1100" spc="-10">
                <a:latin typeface="Microsoft JhengHei UI Light"/>
                <a:cs typeface="Microsoft JhengHei UI Light"/>
              </a:rPr>
              <a:t>），</a:t>
            </a:r>
            <a:r>
              <a:rPr dirty="0" sz="1100" spc="-20">
                <a:latin typeface="Microsoft JhengHei UI Light"/>
                <a:cs typeface="Microsoft JhengHei UI Light"/>
              </a:rPr>
              <a:t>这个</a:t>
            </a:r>
            <a:r>
              <a:rPr dirty="0" sz="1100" spc="-10">
                <a:latin typeface="Times New Roman"/>
                <a:cs typeface="Times New Roman"/>
              </a:rPr>
              <a:t>“</a:t>
            </a:r>
            <a:r>
              <a:rPr dirty="0" sz="1100" spc="-20">
                <a:latin typeface="Microsoft JhengHei UI Light"/>
                <a:cs typeface="Microsoft JhengHei UI Light"/>
              </a:rPr>
              <a:t>内部状态</a:t>
            </a:r>
            <a:r>
              <a:rPr dirty="0" sz="1100" spc="-10">
                <a:latin typeface="Times New Roman"/>
                <a:cs typeface="Times New Roman"/>
              </a:rPr>
              <a:t>”</a:t>
            </a:r>
            <a:r>
              <a:rPr dirty="0" sz="1100" spc="-25">
                <a:latin typeface="Microsoft JhengHei UI Light"/>
                <a:cs typeface="Microsoft JhengHei UI Light"/>
              </a:rPr>
              <a:t>会随时间不断更新。</a:t>
            </a:r>
            <a:endParaRPr sz="1100">
              <a:latin typeface="Microsoft JhengHei UI Light"/>
              <a:cs typeface="Microsoft JhengHei UI Ligh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8280534" y="216314"/>
            <a:ext cx="29209" cy="17780"/>
          </a:xfrm>
          <a:custGeom>
            <a:avLst/>
            <a:gdLst/>
            <a:ahLst/>
            <a:cxnLst/>
            <a:rect l="l" t="t" r="r" b="b"/>
            <a:pathLst>
              <a:path w="29209" h="17779">
                <a:moveTo>
                  <a:pt x="5491" y="0"/>
                </a:moveTo>
                <a:lnTo>
                  <a:pt x="1343" y="890"/>
                </a:lnTo>
                <a:lnTo>
                  <a:pt x="0" y="2800"/>
                </a:lnTo>
                <a:lnTo>
                  <a:pt x="760" y="8453"/>
                </a:lnTo>
                <a:lnTo>
                  <a:pt x="784" y="8627"/>
                </a:lnTo>
                <a:lnTo>
                  <a:pt x="900" y="9493"/>
                </a:lnTo>
                <a:lnTo>
                  <a:pt x="967" y="9992"/>
                </a:lnTo>
                <a:lnTo>
                  <a:pt x="4145" y="14262"/>
                </a:lnTo>
                <a:lnTo>
                  <a:pt x="14621" y="17506"/>
                </a:lnTo>
                <a:lnTo>
                  <a:pt x="20654" y="16196"/>
                </a:lnTo>
                <a:lnTo>
                  <a:pt x="27759" y="13954"/>
                </a:lnTo>
                <a:lnTo>
                  <a:pt x="28778" y="11998"/>
                </a:lnTo>
                <a:lnTo>
                  <a:pt x="27987" y="9493"/>
                </a:lnTo>
                <a:lnTo>
                  <a:pt x="15617" y="9493"/>
                </a:lnTo>
                <a:lnTo>
                  <a:pt x="9845" y="7432"/>
                </a:lnTo>
                <a:lnTo>
                  <a:pt x="9673" y="7432"/>
                </a:lnTo>
                <a:lnTo>
                  <a:pt x="8511" y="5651"/>
                </a:lnTo>
                <a:lnTo>
                  <a:pt x="7590" y="1357"/>
                </a:lnTo>
                <a:lnTo>
                  <a:pt x="5491" y="0"/>
                </a:lnTo>
                <a:close/>
              </a:path>
              <a:path w="29209" h="17779">
                <a:moveTo>
                  <a:pt x="25909" y="7432"/>
                </a:moveTo>
                <a:lnTo>
                  <a:pt x="20279" y="8627"/>
                </a:lnTo>
                <a:lnTo>
                  <a:pt x="15617" y="9493"/>
                </a:lnTo>
                <a:lnTo>
                  <a:pt x="27987" y="9493"/>
                </a:lnTo>
                <a:lnTo>
                  <a:pt x="27714" y="8627"/>
                </a:lnTo>
                <a:lnTo>
                  <a:pt x="27659" y="8453"/>
                </a:lnTo>
                <a:lnTo>
                  <a:pt x="25909" y="74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05252" y="934010"/>
            <a:ext cx="46396" cy="42275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84659" y="1552646"/>
            <a:ext cx="36821" cy="53031"/>
          </a:xfrm>
          <a:prstGeom prst="rect">
            <a:avLst/>
          </a:prstGeom>
        </p:spPr>
      </p:pic>
      <p:grpSp>
        <p:nvGrpSpPr>
          <p:cNvPr id="18" name="object 18" descr=""/>
          <p:cNvGrpSpPr/>
          <p:nvPr/>
        </p:nvGrpSpPr>
        <p:grpSpPr>
          <a:xfrm>
            <a:off x="1318911" y="54757"/>
            <a:ext cx="7475855" cy="3259454"/>
            <a:chOff x="1318911" y="54757"/>
            <a:chExt cx="7475855" cy="3259454"/>
          </a:xfrm>
        </p:grpSpPr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80067" y="54757"/>
              <a:ext cx="1107461" cy="297723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63885" y="467523"/>
              <a:ext cx="224175" cy="227103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5860554" y="578548"/>
              <a:ext cx="89535" cy="74295"/>
            </a:xfrm>
            <a:custGeom>
              <a:avLst/>
              <a:gdLst/>
              <a:ahLst/>
              <a:cxnLst/>
              <a:rect l="l" t="t" r="r" b="b"/>
              <a:pathLst>
                <a:path w="89535" h="74295">
                  <a:moveTo>
                    <a:pt x="66281" y="2743"/>
                  </a:moveTo>
                  <a:lnTo>
                    <a:pt x="63804" y="0"/>
                  </a:lnTo>
                  <a:lnTo>
                    <a:pt x="41516" y="0"/>
                  </a:lnTo>
                  <a:lnTo>
                    <a:pt x="1828" y="368"/>
                  </a:lnTo>
                  <a:lnTo>
                    <a:pt x="0" y="2235"/>
                  </a:lnTo>
                  <a:lnTo>
                    <a:pt x="38" y="6680"/>
                  </a:lnTo>
                  <a:lnTo>
                    <a:pt x="1854" y="8572"/>
                  </a:lnTo>
                  <a:lnTo>
                    <a:pt x="3924" y="8572"/>
                  </a:lnTo>
                  <a:lnTo>
                    <a:pt x="63207" y="11658"/>
                  </a:lnTo>
                  <a:lnTo>
                    <a:pt x="65951" y="9182"/>
                  </a:lnTo>
                  <a:lnTo>
                    <a:pt x="66281" y="2743"/>
                  </a:lnTo>
                  <a:close/>
                </a:path>
                <a:path w="89535" h="74295">
                  <a:moveTo>
                    <a:pt x="89077" y="48831"/>
                  </a:moveTo>
                  <a:lnTo>
                    <a:pt x="87985" y="46685"/>
                  </a:lnTo>
                  <a:lnTo>
                    <a:pt x="86741" y="46228"/>
                  </a:lnTo>
                  <a:lnTo>
                    <a:pt x="79006" y="49390"/>
                  </a:lnTo>
                  <a:lnTo>
                    <a:pt x="72326" y="52019"/>
                  </a:lnTo>
                  <a:lnTo>
                    <a:pt x="65582" y="54533"/>
                  </a:lnTo>
                  <a:lnTo>
                    <a:pt x="58801" y="56896"/>
                  </a:lnTo>
                  <a:lnTo>
                    <a:pt x="48958" y="60185"/>
                  </a:lnTo>
                  <a:lnTo>
                    <a:pt x="48958" y="66827"/>
                  </a:lnTo>
                  <a:lnTo>
                    <a:pt x="47421" y="62077"/>
                  </a:lnTo>
                  <a:lnTo>
                    <a:pt x="48844" y="66471"/>
                  </a:lnTo>
                  <a:lnTo>
                    <a:pt x="48958" y="66827"/>
                  </a:lnTo>
                  <a:lnTo>
                    <a:pt x="48958" y="60185"/>
                  </a:lnTo>
                  <a:lnTo>
                    <a:pt x="48056" y="60477"/>
                  </a:lnTo>
                  <a:lnTo>
                    <a:pt x="47371" y="60477"/>
                  </a:lnTo>
                  <a:lnTo>
                    <a:pt x="45288" y="60693"/>
                  </a:lnTo>
                  <a:lnTo>
                    <a:pt x="38950" y="61341"/>
                  </a:lnTo>
                  <a:lnTo>
                    <a:pt x="38950" y="68948"/>
                  </a:lnTo>
                  <a:lnTo>
                    <a:pt x="38430" y="64020"/>
                  </a:lnTo>
                  <a:lnTo>
                    <a:pt x="38912" y="68567"/>
                  </a:lnTo>
                  <a:lnTo>
                    <a:pt x="38950" y="68948"/>
                  </a:lnTo>
                  <a:lnTo>
                    <a:pt x="38950" y="61341"/>
                  </a:lnTo>
                  <a:lnTo>
                    <a:pt x="34836" y="61747"/>
                  </a:lnTo>
                  <a:lnTo>
                    <a:pt x="7505" y="64020"/>
                  </a:lnTo>
                  <a:lnTo>
                    <a:pt x="5410" y="66471"/>
                  </a:lnTo>
                  <a:lnTo>
                    <a:pt x="5575" y="68567"/>
                  </a:lnTo>
                  <a:lnTo>
                    <a:pt x="5651" y="69570"/>
                  </a:lnTo>
                  <a:lnTo>
                    <a:pt x="5740" y="70637"/>
                  </a:lnTo>
                  <a:lnTo>
                    <a:pt x="5829" y="71882"/>
                  </a:lnTo>
                  <a:lnTo>
                    <a:pt x="8064" y="73977"/>
                  </a:lnTo>
                  <a:lnTo>
                    <a:pt x="19253" y="73977"/>
                  </a:lnTo>
                  <a:lnTo>
                    <a:pt x="27978" y="73571"/>
                  </a:lnTo>
                  <a:lnTo>
                    <a:pt x="36614" y="72478"/>
                  </a:lnTo>
                  <a:lnTo>
                    <a:pt x="43027" y="70891"/>
                  </a:lnTo>
                  <a:lnTo>
                    <a:pt x="44030" y="70637"/>
                  </a:lnTo>
                  <a:lnTo>
                    <a:pt x="44259" y="70637"/>
                  </a:lnTo>
                  <a:lnTo>
                    <a:pt x="88646" y="50177"/>
                  </a:lnTo>
                  <a:lnTo>
                    <a:pt x="89077" y="48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77978" y="72638"/>
              <a:ext cx="2112266" cy="713907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10364" y="825737"/>
              <a:ext cx="3063235" cy="131920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62961" y="1851676"/>
              <a:ext cx="204388" cy="176646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86759" y="2755595"/>
              <a:ext cx="374058" cy="222441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7346289" y="2879326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39">
                  <a:moveTo>
                    <a:pt x="4674" y="0"/>
                  </a:moveTo>
                  <a:lnTo>
                    <a:pt x="1074" y="2730"/>
                  </a:lnTo>
                  <a:lnTo>
                    <a:pt x="0" y="10539"/>
                  </a:lnTo>
                  <a:lnTo>
                    <a:pt x="2730" y="14140"/>
                  </a:lnTo>
                  <a:lnTo>
                    <a:pt x="9204" y="15030"/>
                  </a:lnTo>
                  <a:lnTo>
                    <a:pt x="11764" y="13962"/>
                  </a:lnTo>
                  <a:lnTo>
                    <a:pt x="18390" y="5119"/>
                  </a:lnTo>
                  <a:lnTo>
                    <a:pt x="18105" y="3116"/>
                  </a:lnTo>
                  <a:lnTo>
                    <a:pt x="16258" y="1732"/>
                  </a:lnTo>
                  <a:lnTo>
                    <a:pt x="15749" y="1522"/>
                  </a:lnTo>
                  <a:lnTo>
                    <a:pt x="46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45941" y="2727437"/>
              <a:ext cx="1348661" cy="586190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41292" y="1565321"/>
              <a:ext cx="67338" cy="91566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81672" y="1486466"/>
              <a:ext cx="480378" cy="257506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95667" y="1451801"/>
              <a:ext cx="1165134" cy="441565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18911" y="1457741"/>
              <a:ext cx="3666966" cy="1041690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86511" y="1335354"/>
            <a:ext cx="6553200" cy="4838700"/>
            <a:chOff x="286511" y="1335354"/>
            <a:chExt cx="6553200" cy="48387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511" y="1845564"/>
              <a:ext cx="6553200" cy="432816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431291" y="1339596"/>
              <a:ext cx="2952115" cy="506095"/>
            </a:xfrm>
            <a:custGeom>
              <a:avLst/>
              <a:gdLst/>
              <a:ahLst/>
              <a:cxnLst/>
              <a:rect l="l" t="t" r="r" b="b"/>
              <a:pathLst>
                <a:path w="2952115" h="506094">
                  <a:moveTo>
                    <a:pt x="2951987" y="0"/>
                  </a:moveTo>
                  <a:lnTo>
                    <a:pt x="0" y="0"/>
                  </a:lnTo>
                  <a:lnTo>
                    <a:pt x="0" y="505967"/>
                  </a:lnTo>
                  <a:lnTo>
                    <a:pt x="2951987" y="505967"/>
                  </a:lnTo>
                  <a:lnTo>
                    <a:pt x="29519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26338" y="1335354"/>
              <a:ext cx="2962275" cy="514350"/>
            </a:xfrm>
            <a:custGeom>
              <a:avLst/>
              <a:gdLst/>
              <a:ahLst/>
              <a:cxnLst/>
              <a:rect l="l" t="t" r="r" b="b"/>
              <a:pathLst>
                <a:path w="2962275" h="514350">
                  <a:moveTo>
                    <a:pt x="2962275" y="0"/>
                  </a:moveTo>
                  <a:lnTo>
                    <a:pt x="0" y="0"/>
                  </a:lnTo>
                  <a:lnTo>
                    <a:pt x="0" y="514350"/>
                  </a:lnTo>
                  <a:lnTo>
                    <a:pt x="2962275" y="514350"/>
                  </a:lnTo>
                  <a:lnTo>
                    <a:pt x="2962275" y="509587"/>
                  </a:lnTo>
                  <a:lnTo>
                    <a:pt x="9525" y="509587"/>
                  </a:lnTo>
                  <a:lnTo>
                    <a:pt x="4762" y="504825"/>
                  </a:lnTo>
                  <a:lnTo>
                    <a:pt x="9525" y="504825"/>
                  </a:lnTo>
                  <a:lnTo>
                    <a:pt x="9525" y="9525"/>
                  </a:lnTo>
                  <a:lnTo>
                    <a:pt x="4762" y="9525"/>
                  </a:lnTo>
                  <a:lnTo>
                    <a:pt x="9525" y="4762"/>
                  </a:lnTo>
                  <a:lnTo>
                    <a:pt x="2962275" y="4762"/>
                  </a:lnTo>
                  <a:lnTo>
                    <a:pt x="2962275" y="0"/>
                  </a:lnTo>
                  <a:close/>
                </a:path>
                <a:path w="2962275" h="514350">
                  <a:moveTo>
                    <a:pt x="9525" y="504825"/>
                  </a:moveTo>
                  <a:lnTo>
                    <a:pt x="4762" y="504825"/>
                  </a:lnTo>
                  <a:lnTo>
                    <a:pt x="9525" y="509587"/>
                  </a:lnTo>
                  <a:lnTo>
                    <a:pt x="9525" y="504825"/>
                  </a:lnTo>
                  <a:close/>
                </a:path>
                <a:path w="2962275" h="514350">
                  <a:moveTo>
                    <a:pt x="2952750" y="504825"/>
                  </a:moveTo>
                  <a:lnTo>
                    <a:pt x="9525" y="504825"/>
                  </a:lnTo>
                  <a:lnTo>
                    <a:pt x="9525" y="509587"/>
                  </a:lnTo>
                  <a:lnTo>
                    <a:pt x="2952750" y="509587"/>
                  </a:lnTo>
                  <a:lnTo>
                    <a:pt x="2952750" y="504825"/>
                  </a:lnTo>
                  <a:close/>
                </a:path>
                <a:path w="2962275" h="514350">
                  <a:moveTo>
                    <a:pt x="2952750" y="4762"/>
                  </a:moveTo>
                  <a:lnTo>
                    <a:pt x="2952750" y="509587"/>
                  </a:lnTo>
                  <a:lnTo>
                    <a:pt x="2957512" y="504825"/>
                  </a:lnTo>
                  <a:lnTo>
                    <a:pt x="2962275" y="504825"/>
                  </a:lnTo>
                  <a:lnTo>
                    <a:pt x="2962275" y="9525"/>
                  </a:lnTo>
                  <a:lnTo>
                    <a:pt x="2957512" y="9525"/>
                  </a:lnTo>
                  <a:lnTo>
                    <a:pt x="2952750" y="4762"/>
                  </a:lnTo>
                  <a:close/>
                </a:path>
                <a:path w="2962275" h="514350">
                  <a:moveTo>
                    <a:pt x="2962275" y="504825"/>
                  </a:moveTo>
                  <a:lnTo>
                    <a:pt x="2957512" y="504825"/>
                  </a:lnTo>
                  <a:lnTo>
                    <a:pt x="2952750" y="509587"/>
                  </a:lnTo>
                  <a:lnTo>
                    <a:pt x="2962275" y="509587"/>
                  </a:lnTo>
                  <a:lnTo>
                    <a:pt x="2962275" y="504825"/>
                  </a:lnTo>
                  <a:close/>
                </a:path>
                <a:path w="2962275" h="514350">
                  <a:moveTo>
                    <a:pt x="9525" y="4762"/>
                  </a:moveTo>
                  <a:lnTo>
                    <a:pt x="4762" y="9525"/>
                  </a:lnTo>
                  <a:lnTo>
                    <a:pt x="9525" y="9525"/>
                  </a:lnTo>
                  <a:lnTo>
                    <a:pt x="9525" y="4762"/>
                  </a:lnTo>
                  <a:close/>
                </a:path>
                <a:path w="2962275" h="514350">
                  <a:moveTo>
                    <a:pt x="2952750" y="4762"/>
                  </a:moveTo>
                  <a:lnTo>
                    <a:pt x="9525" y="4762"/>
                  </a:lnTo>
                  <a:lnTo>
                    <a:pt x="9525" y="9525"/>
                  </a:lnTo>
                  <a:lnTo>
                    <a:pt x="2952750" y="9525"/>
                  </a:lnTo>
                  <a:lnTo>
                    <a:pt x="2952750" y="4762"/>
                  </a:lnTo>
                  <a:close/>
                </a:path>
                <a:path w="2962275" h="514350">
                  <a:moveTo>
                    <a:pt x="2962275" y="4762"/>
                  </a:moveTo>
                  <a:lnTo>
                    <a:pt x="2952750" y="4762"/>
                  </a:lnTo>
                  <a:lnTo>
                    <a:pt x="2957512" y="9525"/>
                  </a:lnTo>
                  <a:lnTo>
                    <a:pt x="2962275" y="9525"/>
                  </a:lnTo>
                  <a:lnTo>
                    <a:pt x="2962275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344866" y="1348371"/>
            <a:ext cx="11252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60">
                <a:latin typeface="Segoe UI Symbol"/>
                <a:cs typeface="Segoe UI Symbol"/>
              </a:rPr>
              <a:t>Output</a:t>
            </a:r>
            <a:endParaRPr sz="2400">
              <a:latin typeface="Segoe UI Symbol"/>
              <a:cs typeface="Segoe UI Symbo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10438" y="6159767"/>
            <a:ext cx="3538854" cy="514350"/>
          </a:xfrm>
          <a:custGeom>
            <a:avLst/>
            <a:gdLst/>
            <a:ahLst/>
            <a:cxnLst/>
            <a:rect l="l" t="t" r="r" b="b"/>
            <a:pathLst>
              <a:path w="3538854" h="514350">
                <a:moveTo>
                  <a:pt x="3538537" y="0"/>
                </a:moveTo>
                <a:lnTo>
                  <a:pt x="0" y="0"/>
                </a:lnTo>
                <a:lnTo>
                  <a:pt x="0" y="514350"/>
                </a:lnTo>
                <a:lnTo>
                  <a:pt x="3538537" y="514350"/>
                </a:lnTo>
                <a:lnTo>
                  <a:pt x="3538537" y="509587"/>
                </a:lnTo>
                <a:lnTo>
                  <a:pt x="9525" y="509587"/>
                </a:lnTo>
                <a:lnTo>
                  <a:pt x="4762" y="504825"/>
                </a:lnTo>
                <a:lnTo>
                  <a:pt x="9525" y="504825"/>
                </a:lnTo>
                <a:lnTo>
                  <a:pt x="9525" y="9525"/>
                </a:lnTo>
                <a:lnTo>
                  <a:pt x="4762" y="9525"/>
                </a:lnTo>
                <a:lnTo>
                  <a:pt x="9525" y="4762"/>
                </a:lnTo>
                <a:lnTo>
                  <a:pt x="3538537" y="4762"/>
                </a:lnTo>
                <a:lnTo>
                  <a:pt x="3538537" y="0"/>
                </a:lnTo>
                <a:close/>
              </a:path>
              <a:path w="3538854" h="514350">
                <a:moveTo>
                  <a:pt x="9525" y="504825"/>
                </a:moveTo>
                <a:lnTo>
                  <a:pt x="4762" y="504825"/>
                </a:lnTo>
                <a:lnTo>
                  <a:pt x="9525" y="509587"/>
                </a:lnTo>
                <a:lnTo>
                  <a:pt x="9525" y="504825"/>
                </a:lnTo>
                <a:close/>
              </a:path>
              <a:path w="3538854" h="514350">
                <a:moveTo>
                  <a:pt x="3529012" y="504825"/>
                </a:moveTo>
                <a:lnTo>
                  <a:pt x="9525" y="504825"/>
                </a:lnTo>
                <a:lnTo>
                  <a:pt x="9525" y="509587"/>
                </a:lnTo>
                <a:lnTo>
                  <a:pt x="3529012" y="509587"/>
                </a:lnTo>
                <a:lnTo>
                  <a:pt x="3529012" y="504825"/>
                </a:lnTo>
                <a:close/>
              </a:path>
              <a:path w="3538854" h="514350">
                <a:moveTo>
                  <a:pt x="3529012" y="4762"/>
                </a:moveTo>
                <a:lnTo>
                  <a:pt x="3529012" y="509587"/>
                </a:lnTo>
                <a:lnTo>
                  <a:pt x="3533775" y="504825"/>
                </a:lnTo>
                <a:lnTo>
                  <a:pt x="3538537" y="504825"/>
                </a:lnTo>
                <a:lnTo>
                  <a:pt x="3538537" y="9525"/>
                </a:lnTo>
                <a:lnTo>
                  <a:pt x="3533775" y="9525"/>
                </a:lnTo>
                <a:lnTo>
                  <a:pt x="3529012" y="4762"/>
                </a:lnTo>
                <a:close/>
              </a:path>
              <a:path w="3538854" h="514350">
                <a:moveTo>
                  <a:pt x="3538537" y="504825"/>
                </a:moveTo>
                <a:lnTo>
                  <a:pt x="3533775" y="504825"/>
                </a:lnTo>
                <a:lnTo>
                  <a:pt x="3529012" y="509587"/>
                </a:lnTo>
                <a:lnTo>
                  <a:pt x="3538537" y="509587"/>
                </a:lnTo>
                <a:lnTo>
                  <a:pt x="3538537" y="504825"/>
                </a:lnTo>
                <a:close/>
              </a:path>
              <a:path w="3538854" h="514350">
                <a:moveTo>
                  <a:pt x="9525" y="4762"/>
                </a:moveTo>
                <a:lnTo>
                  <a:pt x="4762" y="9525"/>
                </a:lnTo>
                <a:lnTo>
                  <a:pt x="9525" y="9525"/>
                </a:lnTo>
                <a:lnTo>
                  <a:pt x="9525" y="4762"/>
                </a:lnTo>
                <a:close/>
              </a:path>
              <a:path w="3538854" h="514350">
                <a:moveTo>
                  <a:pt x="3529012" y="4762"/>
                </a:moveTo>
                <a:lnTo>
                  <a:pt x="9525" y="4762"/>
                </a:lnTo>
                <a:lnTo>
                  <a:pt x="9525" y="9525"/>
                </a:lnTo>
                <a:lnTo>
                  <a:pt x="3529012" y="9525"/>
                </a:lnTo>
                <a:lnTo>
                  <a:pt x="3529012" y="4762"/>
                </a:lnTo>
                <a:close/>
              </a:path>
              <a:path w="3538854" h="514350">
                <a:moveTo>
                  <a:pt x="3538537" y="4762"/>
                </a:moveTo>
                <a:lnTo>
                  <a:pt x="3529012" y="4762"/>
                </a:lnTo>
                <a:lnTo>
                  <a:pt x="3533775" y="9525"/>
                </a:lnTo>
                <a:lnTo>
                  <a:pt x="3538537" y="9525"/>
                </a:lnTo>
                <a:lnTo>
                  <a:pt x="3538537" y="4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554416" y="6172784"/>
            <a:ext cx="849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60">
                <a:latin typeface="Segoe UI Symbol"/>
                <a:cs typeface="Segoe UI Symbol"/>
              </a:rPr>
              <a:t>Input</a:t>
            </a:r>
            <a:endParaRPr sz="2400">
              <a:latin typeface="Segoe UI Symbol"/>
              <a:cs typeface="Segoe UI Symbo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35736" y="330708"/>
            <a:ext cx="7920355" cy="792480"/>
          </a:xfrm>
          <a:custGeom>
            <a:avLst/>
            <a:gdLst/>
            <a:ahLst/>
            <a:cxnLst/>
            <a:rect l="l" t="t" r="r" b="b"/>
            <a:pathLst>
              <a:path w="7920355" h="792480">
                <a:moveTo>
                  <a:pt x="7920228" y="0"/>
                </a:moveTo>
                <a:lnTo>
                  <a:pt x="0" y="0"/>
                </a:lnTo>
                <a:lnTo>
                  <a:pt x="0" y="792480"/>
                </a:lnTo>
                <a:lnTo>
                  <a:pt x="7920228" y="792480"/>
                </a:lnTo>
                <a:lnTo>
                  <a:pt x="79202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14996" y="290703"/>
            <a:ext cx="6841490" cy="902969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dirty="0" sz="2400" b="0">
                <a:solidFill>
                  <a:srgbClr val="000000"/>
                </a:solidFill>
                <a:latin typeface="Tahoma"/>
                <a:cs typeface="Tahoma"/>
              </a:rPr>
              <a:t>In</a:t>
            </a:r>
            <a:r>
              <a:rPr dirty="0" sz="2400" spc="-3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400" b="0">
                <a:solidFill>
                  <a:srgbClr val="000000"/>
                </a:solidFill>
                <a:latin typeface="Tahoma"/>
                <a:cs typeface="Tahoma"/>
              </a:rPr>
              <a:t>Elman</a:t>
            </a:r>
            <a:r>
              <a:rPr dirty="0" sz="2400" spc="-3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400" b="0">
                <a:solidFill>
                  <a:srgbClr val="000000"/>
                </a:solidFill>
                <a:latin typeface="Tahoma"/>
                <a:cs typeface="Tahoma"/>
              </a:rPr>
              <a:t>net,</a:t>
            </a:r>
            <a:r>
              <a:rPr dirty="0" sz="2400" spc="-3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400" b="0">
                <a:solidFill>
                  <a:srgbClr val="000000"/>
                </a:solidFill>
                <a:latin typeface="Tahoma"/>
                <a:cs typeface="Tahoma"/>
              </a:rPr>
              <a:t>the</a:t>
            </a:r>
            <a:r>
              <a:rPr dirty="0" sz="2400" spc="-3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400" b="0">
                <a:solidFill>
                  <a:srgbClr val="000000"/>
                </a:solidFill>
                <a:latin typeface="Tahoma"/>
                <a:cs typeface="Tahoma"/>
              </a:rPr>
              <a:t>internal</a:t>
            </a:r>
            <a:r>
              <a:rPr dirty="0" sz="2400" spc="-2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400" b="0">
                <a:solidFill>
                  <a:srgbClr val="000000"/>
                </a:solidFill>
                <a:latin typeface="Tahoma"/>
                <a:cs typeface="Tahoma"/>
              </a:rPr>
              <a:t>representations</a:t>
            </a:r>
            <a:r>
              <a:rPr dirty="0" sz="2400" spc="-3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400" b="0">
                <a:solidFill>
                  <a:srgbClr val="000000"/>
                </a:solidFill>
                <a:latin typeface="Tahoma"/>
                <a:cs typeface="Tahoma"/>
              </a:rPr>
              <a:t>are</a:t>
            </a:r>
            <a:r>
              <a:rPr dirty="0" sz="2400" spc="-3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400" spc="-25" b="0">
                <a:solidFill>
                  <a:srgbClr val="000000"/>
                </a:solidFill>
                <a:latin typeface="Tahoma"/>
                <a:cs typeface="Tahoma"/>
              </a:rPr>
              <a:t>now </a:t>
            </a:r>
            <a:r>
              <a:rPr dirty="0" sz="2400" b="0">
                <a:solidFill>
                  <a:srgbClr val="000000"/>
                </a:solidFill>
                <a:latin typeface="Tahoma"/>
                <a:cs typeface="Tahoma"/>
              </a:rPr>
              <a:t>engaged</a:t>
            </a:r>
            <a:r>
              <a:rPr dirty="0" sz="2400" spc="-2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400" b="0">
                <a:solidFill>
                  <a:srgbClr val="000000"/>
                </a:solidFill>
                <a:latin typeface="Tahoma"/>
                <a:cs typeface="Tahoma"/>
              </a:rPr>
              <a:t>in</a:t>
            </a:r>
            <a:r>
              <a:rPr dirty="0" sz="2400" spc="-1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400" b="0">
                <a:solidFill>
                  <a:srgbClr val="000000"/>
                </a:solidFill>
                <a:latin typeface="Tahoma"/>
                <a:cs typeface="Tahoma"/>
              </a:rPr>
              <a:t>the</a:t>
            </a:r>
            <a:r>
              <a:rPr dirty="0" sz="2400" spc="-1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400" b="0">
                <a:solidFill>
                  <a:srgbClr val="000000"/>
                </a:solidFill>
                <a:latin typeface="Tahoma"/>
                <a:cs typeface="Tahoma"/>
              </a:rPr>
              <a:t>next</a:t>
            </a:r>
            <a:r>
              <a:rPr dirty="0" sz="2400" spc="-2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400" b="0">
                <a:solidFill>
                  <a:srgbClr val="000000"/>
                </a:solidFill>
                <a:latin typeface="Tahoma"/>
                <a:cs typeface="Tahoma"/>
              </a:rPr>
              <a:t>step</a:t>
            </a:r>
            <a:r>
              <a:rPr dirty="0" sz="2400" spc="-2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400" b="0">
                <a:solidFill>
                  <a:srgbClr val="000000"/>
                </a:solidFill>
                <a:latin typeface="Tahoma"/>
                <a:cs typeface="Tahoma"/>
              </a:rPr>
              <a:t>as</a:t>
            </a:r>
            <a:r>
              <a:rPr dirty="0" sz="2400" spc="-2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400" b="0">
                <a:solidFill>
                  <a:srgbClr val="000000"/>
                </a:solidFill>
                <a:latin typeface="Tahoma"/>
                <a:cs typeface="Tahoma"/>
              </a:rPr>
              <a:t>an</a:t>
            </a:r>
            <a:r>
              <a:rPr dirty="0" sz="2400" spc="-2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400" b="0">
                <a:solidFill>
                  <a:srgbClr val="000000"/>
                </a:solidFill>
                <a:latin typeface="Tahoma"/>
                <a:cs typeface="Tahoma"/>
              </a:rPr>
              <a:t>additional</a:t>
            </a:r>
            <a:r>
              <a:rPr dirty="0" sz="2400" spc="-1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400" spc="-10" b="0">
                <a:solidFill>
                  <a:srgbClr val="000000"/>
                </a:solidFill>
                <a:latin typeface="Tahoma"/>
                <a:cs typeface="Tahoma"/>
              </a:rPr>
              <a:t>input.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755576" y="1814779"/>
            <a:ext cx="3141980" cy="3159125"/>
          </a:xfrm>
          <a:custGeom>
            <a:avLst/>
            <a:gdLst/>
            <a:ahLst/>
            <a:cxnLst/>
            <a:rect l="l" t="t" r="r" b="b"/>
            <a:pathLst>
              <a:path w="3141979" h="3159125">
                <a:moveTo>
                  <a:pt x="3141662" y="0"/>
                </a:moveTo>
                <a:lnTo>
                  <a:pt x="0" y="0"/>
                </a:lnTo>
                <a:lnTo>
                  <a:pt x="0" y="3159124"/>
                </a:lnTo>
                <a:lnTo>
                  <a:pt x="3141662" y="3159124"/>
                </a:lnTo>
                <a:lnTo>
                  <a:pt x="3141662" y="3154362"/>
                </a:lnTo>
                <a:lnTo>
                  <a:pt x="9525" y="3154362"/>
                </a:lnTo>
                <a:lnTo>
                  <a:pt x="4762" y="3149599"/>
                </a:lnTo>
                <a:lnTo>
                  <a:pt x="9525" y="3149599"/>
                </a:lnTo>
                <a:lnTo>
                  <a:pt x="9525" y="9525"/>
                </a:lnTo>
                <a:lnTo>
                  <a:pt x="4762" y="9525"/>
                </a:lnTo>
                <a:lnTo>
                  <a:pt x="9525" y="4762"/>
                </a:lnTo>
                <a:lnTo>
                  <a:pt x="3141662" y="4762"/>
                </a:lnTo>
                <a:lnTo>
                  <a:pt x="3141662" y="0"/>
                </a:lnTo>
                <a:close/>
              </a:path>
              <a:path w="3141979" h="3159125">
                <a:moveTo>
                  <a:pt x="9525" y="3149599"/>
                </a:moveTo>
                <a:lnTo>
                  <a:pt x="4762" y="3149599"/>
                </a:lnTo>
                <a:lnTo>
                  <a:pt x="9525" y="3154362"/>
                </a:lnTo>
                <a:lnTo>
                  <a:pt x="9525" y="3149599"/>
                </a:lnTo>
                <a:close/>
              </a:path>
              <a:path w="3141979" h="3159125">
                <a:moveTo>
                  <a:pt x="3132137" y="3149599"/>
                </a:moveTo>
                <a:lnTo>
                  <a:pt x="9525" y="3149599"/>
                </a:lnTo>
                <a:lnTo>
                  <a:pt x="9525" y="3154362"/>
                </a:lnTo>
                <a:lnTo>
                  <a:pt x="3132137" y="3154362"/>
                </a:lnTo>
                <a:lnTo>
                  <a:pt x="3132137" y="3149599"/>
                </a:lnTo>
                <a:close/>
              </a:path>
              <a:path w="3141979" h="3159125">
                <a:moveTo>
                  <a:pt x="3132137" y="4762"/>
                </a:moveTo>
                <a:lnTo>
                  <a:pt x="3132137" y="3154362"/>
                </a:lnTo>
                <a:lnTo>
                  <a:pt x="3136900" y="3149599"/>
                </a:lnTo>
                <a:lnTo>
                  <a:pt x="3141662" y="3149599"/>
                </a:lnTo>
                <a:lnTo>
                  <a:pt x="3141662" y="9525"/>
                </a:lnTo>
                <a:lnTo>
                  <a:pt x="3136900" y="9525"/>
                </a:lnTo>
                <a:lnTo>
                  <a:pt x="3132137" y="4762"/>
                </a:lnTo>
                <a:close/>
              </a:path>
              <a:path w="3141979" h="3159125">
                <a:moveTo>
                  <a:pt x="3141662" y="3149599"/>
                </a:moveTo>
                <a:lnTo>
                  <a:pt x="3136900" y="3149599"/>
                </a:lnTo>
                <a:lnTo>
                  <a:pt x="3132137" y="3154362"/>
                </a:lnTo>
                <a:lnTo>
                  <a:pt x="3141662" y="3154362"/>
                </a:lnTo>
                <a:lnTo>
                  <a:pt x="3141662" y="3149599"/>
                </a:lnTo>
                <a:close/>
              </a:path>
              <a:path w="3141979" h="3159125">
                <a:moveTo>
                  <a:pt x="9525" y="4762"/>
                </a:moveTo>
                <a:lnTo>
                  <a:pt x="4762" y="9525"/>
                </a:lnTo>
                <a:lnTo>
                  <a:pt x="9525" y="9525"/>
                </a:lnTo>
                <a:lnTo>
                  <a:pt x="9525" y="4762"/>
                </a:lnTo>
                <a:close/>
              </a:path>
              <a:path w="3141979" h="3159125">
                <a:moveTo>
                  <a:pt x="3132137" y="4762"/>
                </a:moveTo>
                <a:lnTo>
                  <a:pt x="9525" y="4762"/>
                </a:lnTo>
                <a:lnTo>
                  <a:pt x="9525" y="9525"/>
                </a:lnTo>
                <a:lnTo>
                  <a:pt x="3132137" y="9525"/>
                </a:lnTo>
                <a:lnTo>
                  <a:pt x="3132137" y="4762"/>
                </a:lnTo>
                <a:close/>
              </a:path>
              <a:path w="3141979" h="3159125">
                <a:moveTo>
                  <a:pt x="3141662" y="4762"/>
                </a:moveTo>
                <a:lnTo>
                  <a:pt x="3132137" y="4762"/>
                </a:lnTo>
                <a:lnTo>
                  <a:pt x="3136900" y="9525"/>
                </a:lnTo>
                <a:lnTo>
                  <a:pt x="3141662" y="9525"/>
                </a:lnTo>
                <a:lnTo>
                  <a:pt x="3141662" y="4762"/>
                </a:lnTo>
                <a:close/>
              </a:path>
            </a:pathLst>
          </a:custGeom>
          <a:solidFill>
            <a:srgbClr val="00E4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5839078" y="1851291"/>
            <a:ext cx="3044190" cy="3074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3987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ahoma"/>
                <a:cs typeface="Tahoma"/>
              </a:rPr>
              <a:t>Note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that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all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equations </a:t>
            </a:r>
            <a:r>
              <a:rPr dirty="0" sz="2000">
                <a:latin typeface="Tahoma"/>
                <a:cs typeface="Tahoma"/>
              </a:rPr>
              <a:t>are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same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for</a:t>
            </a:r>
            <a:r>
              <a:rPr dirty="0" sz="2000" spc="-25">
                <a:latin typeface="Tahoma"/>
                <a:cs typeface="Tahoma"/>
              </a:rPr>
              <a:t> the </a:t>
            </a:r>
            <a:r>
              <a:rPr dirty="0" sz="2000">
                <a:latin typeface="Tahoma"/>
                <a:cs typeface="Tahoma"/>
              </a:rPr>
              <a:t>feed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forward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case.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The </a:t>
            </a:r>
            <a:r>
              <a:rPr dirty="0" sz="2000">
                <a:latin typeface="Tahoma"/>
                <a:cs typeface="Tahoma"/>
              </a:rPr>
              <a:t>only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difference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that </a:t>
            </a:r>
            <a:r>
              <a:rPr dirty="0" sz="2000">
                <a:latin typeface="Tahoma"/>
                <a:cs typeface="Tahoma"/>
              </a:rPr>
              <a:t>we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have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another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set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of </a:t>
            </a:r>
            <a:r>
              <a:rPr dirty="0" sz="2000">
                <a:latin typeface="Tahoma"/>
                <a:cs typeface="Tahoma"/>
              </a:rPr>
              <a:t>weights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(U)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which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feed </a:t>
            </a:r>
            <a:r>
              <a:rPr dirty="0" sz="2000">
                <a:latin typeface="Tahoma"/>
                <a:cs typeface="Tahoma"/>
              </a:rPr>
              <a:t>activations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from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the </a:t>
            </a:r>
            <a:r>
              <a:rPr dirty="0" sz="2000">
                <a:latin typeface="Tahoma"/>
                <a:cs typeface="Tahoma"/>
              </a:rPr>
              <a:t>hidden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nodes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25">
                <a:latin typeface="Tahoma"/>
                <a:cs typeface="Tahoma"/>
              </a:rPr>
              <a:t> the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dirty="0" sz="2000">
                <a:latin typeface="Tahoma"/>
                <a:cs typeface="Tahoma"/>
              </a:rPr>
              <a:t>hidden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nodes.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Importantly,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feedback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delayed.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960876" y="3427476"/>
            <a:ext cx="1564005" cy="8305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5085" rIns="0" bIns="0" rtlCol="0" vert="horz">
            <a:spAutoFit/>
          </a:bodyPr>
          <a:lstStyle/>
          <a:p>
            <a:pPr marL="90170" marR="99060">
              <a:lnSpc>
                <a:spcPct val="100000"/>
              </a:lnSpc>
              <a:spcBef>
                <a:spcPts val="355"/>
              </a:spcBef>
            </a:pP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Weights</a:t>
            </a:r>
            <a:r>
              <a:rPr dirty="0" sz="2400" spc="-12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 spc="-50">
                <a:solidFill>
                  <a:srgbClr val="FF0000"/>
                </a:solidFill>
                <a:latin typeface="Tahoma"/>
                <a:cs typeface="Tahoma"/>
              </a:rPr>
              <a:t>U 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(delayed)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88136" y="3872484"/>
            <a:ext cx="1783080" cy="37973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18745" rIns="0" bIns="0" rtlCol="0" vert="horz">
            <a:spAutoFit/>
          </a:bodyPr>
          <a:lstStyle/>
          <a:p>
            <a:pPr marL="91440">
              <a:lnSpc>
                <a:spcPts val="2050"/>
              </a:lnSpc>
              <a:spcBef>
                <a:spcPts val="935"/>
              </a:spcBef>
            </a:pPr>
            <a:r>
              <a:rPr dirty="0" sz="1800" spc="-10" b="1">
                <a:latin typeface="Tahoma"/>
                <a:cs typeface="Tahoma"/>
              </a:rPr>
              <a:t>State/hidden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22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3647725" y="1343690"/>
            <a:ext cx="5320030" cy="5438140"/>
            <a:chOff x="3647725" y="1343690"/>
            <a:chExt cx="5320030" cy="5438140"/>
          </a:xfrm>
        </p:grpSpPr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47725" y="1343690"/>
              <a:ext cx="4015374" cy="1498658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3257" y="5070741"/>
              <a:ext cx="3790483" cy="1710673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06870" y="5016821"/>
              <a:ext cx="1960435" cy="8959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6245" y="2151126"/>
            <a:ext cx="4486910" cy="4245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515"/>
              </a:lnSpc>
              <a:spcBef>
                <a:spcPts val="100"/>
              </a:spcBef>
            </a:pPr>
            <a:r>
              <a:rPr dirty="0" sz="2100" b="1">
                <a:latin typeface="Tahoma"/>
                <a:cs typeface="Tahoma"/>
              </a:rPr>
              <a:t>Four</a:t>
            </a:r>
            <a:r>
              <a:rPr dirty="0" sz="2100" spc="-55" b="1">
                <a:latin typeface="Tahoma"/>
                <a:cs typeface="Tahoma"/>
              </a:rPr>
              <a:t> </a:t>
            </a:r>
            <a:r>
              <a:rPr dirty="0" sz="2100" b="1">
                <a:latin typeface="Tahoma"/>
                <a:cs typeface="Tahoma"/>
              </a:rPr>
              <a:t>layers</a:t>
            </a:r>
            <a:r>
              <a:rPr dirty="0" sz="2100" spc="-50" b="1">
                <a:latin typeface="Tahoma"/>
                <a:cs typeface="Tahoma"/>
              </a:rPr>
              <a:t> </a:t>
            </a:r>
            <a:r>
              <a:rPr dirty="0" sz="2100" b="1">
                <a:latin typeface="Tahoma"/>
                <a:cs typeface="Tahoma"/>
              </a:rPr>
              <a:t>of</a:t>
            </a:r>
            <a:r>
              <a:rPr dirty="0" sz="2100" spc="-45" b="1">
                <a:latin typeface="Tahoma"/>
                <a:cs typeface="Tahoma"/>
              </a:rPr>
              <a:t> </a:t>
            </a:r>
            <a:r>
              <a:rPr dirty="0" sz="2100" b="1">
                <a:latin typeface="Tahoma"/>
                <a:cs typeface="Tahoma"/>
              </a:rPr>
              <a:t>Elman</a:t>
            </a:r>
            <a:r>
              <a:rPr dirty="0" sz="2100" spc="-50" b="1">
                <a:latin typeface="Tahoma"/>
                <a:cs typeface="Tahoma"/>
              </a:rPr>
              <a:t> </a:t>
            </a:r>
            <a:r>
              <a:rPr dirty="0" sz="2100" spc="-10" b="1">
                <a:latin typeface="Tahoma"/>
                <a:cs typeface="Tahoma"/>
              </a:rPr>
              <a:t>network</a:t>
            </a:r>
            <a:endParaRPr sz="2100">
              <a:latin typeface="Tahoma"/>
              <a:cs typeface="Tahoma"/>
            </a:endParaRPr>
          </a:p>
          <a:p>
            <a:pPr marL="354965" indent="-342265">
              <a:lnSpc>
                <a:spcPts val="2515"/>
              </a:lnSpc>
              <a:buClr>
                <a:srgbClr val="3333CC"/>
              </a:buClr>
              <a:buSzPct val="59523"/>
              <a:buFont typeface="Tahoma"/>
              <a:buChar char="■"/>
              <a:tabLst>
                <a:tab pos="354965" algn="l"/>
              </a:tabLst>
            </a:pPr>
            <a:r>
              <a:rPr dirty="0" sz="2100" b="1">
                <a:latin typeface="Tahoma"/>
                <a:cs typeface="Tahoma"/>
              </a:rPr>
              <a:t>Input</a:t>
            </a:r>
            <a:r>
              <a:rPr dirty="0" sz="2100" spc="-60" b="1">
                <a:latin typeface="Tahoma"/>
                <a:cs typeface="Tahoma"/>
              </a:rPr>
              <a:t> </a:t>
            </a:r>
            <a:r>
              <a:rPr dirty="0" sz="2100" spc="-20" b="1">
                <a:latin typeface="Tahoma"/>
                <a:cs typeface="Tahoma"/>
              </a:rPr>
              <a:t>layer</a:t>
            </a:r>
            <a:endParaRPr sz="2100">
              <a:latin typeface="Tahoma"/>
              <a:cs typeface="Tahoma"/>
            </a:endParaRPr>
          </a:p>
          <a:p>
            <a:pPr marL="355600" marR="5080" indent="-342900">
              <a:lnSpc>
                <a:spcPct val="80000"/>
              </a:lnSpc>
              <a:spcBef>
                <a:spcPts val="500"/>
              </a:spcBef>
              <a:buClr>
                <a:srgbClr val="3333CC"/>
              </a:buClr>
              <a:buSzPct val="59523"/>
              <a:buFont typeface="Tahoma"/>
              <a:buChar char="■"/>
              <a:tabLst>
                <a:tab pos="355600" algn="l"/>
              </a:tabLst>
            </a:pPr>
            <a:r>
              <a:rPr dirty="0" sz="2100" spc="95" b="1">
                <a:latin typeface="Tahoma"/>
                <a:cs typeface="Tahoma"/>
              </a:rPr>
              <a:t>Hidden</a:t>
            </a:r>
            <a:r>
              <a:rPr dirty="0" sz="2100" spc="265" b="1">
                <a:latin typeface="Tahoma"/>
                <a:cs typeface="Tahoma"/>
              </a:rPr>
              <a:t> </a:t>
            </a:r>
            <a:r>
              <a:rPr dirty="0" sz="2100" spc="90" b="1">
                <a:latin typeface="Tahoma"/>
                <a:cs typeface="Tahoma"/>
              </a:rPr>
              <a:t>layer</a:t>
            </a:r>
            <a:r>
              <a:rPr dirty="0" sz="2100" spc="300" b="1">
                <a:latin typeface="Tahoma"/>
                <a:cs typeface="Tahoma"/>
              </a:rPr>
              <a:t> </a:t>
            </a:r>
            <a:r>
              <a:rPr dirty="0" sz="2100" spc="105">
                <a:latin typeface="Tahoma"/>
                <a:cs typeface="Tahoma"/>
              </a:rPr>
              <a:t>forming</a:t>
            </a:r>
            <a:r>
              <a:rPr dirty="0" sz="2100" spc="260">
                <a:latin typeface="Tahoma"/>
                <a:cs typeface="Tahoma"/>
              </a:rPr>
              <a:t> </a:t>
            </a:r>
            <a:r>
              <a:rPr dirty="0" sz="2100" spc="100">
                <a:latin typeface="Tahoma"/>
                <a:cs typeface="Tahoma"/>
              </a:rPr>
              <a:t>internal </a:t>
            </a:r>
            <a:r>
              <a:rPr dirty="0" sz="2100" spc="-10">
                <a:latin typeface="Tahoma"/>
                <a:cs typeface="Tahoma"/>
              </a:rPr>
              <a:t>representation</a:t>
            </a:r>
            <a:endParaRPr sz="2100">
              <a:latin typeface="Tahoma"/>
              <a:cs typeface="Tahoma"/>
            </a:endParaRPr>
          </a:p>
          <a:p>
            <a:pPr marL="354965" indent="-342265">
              <a:lnSpc>
                <a:spcPts val="2510"/>
              </a:lnSpc>
              <a:buClr>
                <a:srgbClr val="3333CC"/>
              </a:buClr>
              <a:buSzPct val="59523"/>
              <a:buFont typeface="Tahoma"/>
              <a:buChar char="■"/>
              <a:tabLst>
                <a:tab pos="354965" algn="l"/>
              </a:tabLst>
            </a:pPr>
            <a:r>
              <a:rPr dirty="0" sz="2100" b="1">
                <a:solidFill>
                  <a:srgbClr val="FF0000"/>
                </a:solidFill>
                <a:latin typeface="Tahoma"/>
                <a:cs typeface="Tahoma"/>
              </a:rPr>
              <a:t>Context</a:t>
            </a:r>
            <a:r>
              <a:rPr dirty="0" sz="2100" spc="-8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F0000"/>
                </a:solidFill>
                <a:latin typeface="Tahoma"/>
                <a:cs typeface="Tahoma"/>
              </a:rPr>
              <a:t>layer</a:t>
            </a:r>
            <a:endParaRPr sz="2100">
              <a:latin typeface="Tahoma"/>
              <a:cs typeface="Tahoma"/>
            </a:endParaRPr>
          </a:p>
          <a:p>
            <a:pPr algn="just" marL="355600" marR="5080">
              <a:lnSpc>
                <a:spcPct val="80000"/>
              </a:lnSpc>
              <a:spcBef>
                <a:spcPts val="500"/>
              </a:spcBef>
            </a:pPr>
            <a:r>
              <a:rPr dirty="0" sz="2100" spc="-10">
                <a:latin typeface="Tahoma"/>
                <a:cs typeface="Tahoma"/>
              </a:rPr>
              <a:t>The</a:t>
            </a:r>
            <a:r>
              <a:rPr dirty="0" sz="2100" spc="-5">
                <a:latin typeface="Tahoma"/>
                <a:cs typeface="Tahoma"/>
              </a:rPr>
              <a:t> </a:t>
            </a:r>
            <a:r>
              <a:rPr dirty="0" sz="2100" spc="-10">
                <a:latin typeface="Tahoma"/>
                <a:cs typeface="Tahoma"/>
              </a:rPr>
              <a:t>value</a:t>
            </a:r>
            <a:r>
              <a:rPr dirty="0" sz="2100" spc="-5">
                <a:latin typeface="Tahoma"/>
                <a:cs typeface="Tahoma"/>
              </a:rPr>
              <a:t> o</a:t>
            </a:r>
            <a:r>
              <a:rPr dirty="0" sz="2100">
                <a:latin typeface="Tahoma"/>
                <a:cs typeface="Tahoma"/>
              </a:rPr>
              <a:t>f </a:t>
            </a:r>
            <a:r>
              <a:rPr dirty="0" sz="2100" spc="-10">
                <a:latin typeface="Tahoma"/>
                <a:cs typeface="Tahoma"/>
              </a:rPr>
              <a:t>the</a:t>
            </a:r>
            <a:r>
              <a:rPr dirty="0" sz="2100" spc="-5">
                <a:latin typeface="Tahoma"/>
                <a:cs typeface="Tahoma"/>
              </a:rPr>
              <a:t> </a:t>
            </a:r>
            <a:r>
              <a:rPr dirty="0" sz="2100" spc="-10">
                <a:latin typeface="Tahoma"/>
                <a:cs typeface="Tahoma"/>
              </a:rPr>
              <a:t>context</a:t>
            </a:r>
            <a:r>
              <a:rPr dirty="0" sz="2100" spc="-5">
                <a:latin typeface="Tahoma"/>
                <a:cs typeface="Tahoma"/>
              </a:rPr>
              <a:t> </a:t>
            </a:r>
            <a:r>
              <a:rPr dirty="0" sz="2100" spc="-15">
                <a:latin typeface="Tahoma"/>
                <a:cs typeface="Tahoma"/>
              </a:rPr>
              <a:t>neuron</a:t>
            </a:r>
            <a:r>
              <a:rPr dirty="0" sz="2100" spc="-5">
                <a:latin typeface="Tahoma"/>
                <a:cs typeface="Tahoma"/>
              </a:rPr>
              <a:t> is</a:t>
            </a:r>
            <a:r>
              <a:rPr dirty="0" sz="2100" spc="-10">
                <a:latin typeface="Tahoma"/>
                <a:cs typeface="Tahoma"/>
              </a:rPr>
              <a:t> </a:t>
            </a:r>
            <a:r>
              <a:rPr dirty="0" sz="2100" spc="45">
                <a:latin typeface="Tahoma"/>
                <a:cs typeface="Tahoma"/>
              </a:rPr>
              <a:t>used</a:t>
            </a:r>
            <a:r>
              <a:rPr dirty="0" sz="2100" spc="155">
                <a:latin typeface="Tahoma"/>
                <a:cs typeface="Tahoma"/>
              </a:rPr>
              <a:t> </a:t>
            </a:r>
            <a:r>
              <a:rPr dirty="0" sz="2100" spc="30">
                <a:latin typeface="Tahoma"/>
                <a:cs typeface="Tahoma"/>
              </a:rPr>
              <a:t>as</a:t>
            </a:r>
            <a:r>
              <a:rPr dirty="0" sz="2100" spc="155">
                <a:latin typeface="Tahoma"/>
                <a:cs typeface="Tahoma"/>
              </a:rPr>
              <a:t> </a:t>
            </a:r>
            <a:r>
              <a:rPr dirty="0" sz="2100" spc="30">
                <a:latin typeface="Tahoma"/>
                <a:cs typeface="Tahoma"/>
              </a:rPr>
              <a:t>an</a:t>
            </a:r>
            <a:r>
              <a:rPr dirty="0" sz="2100" spc="155">
                <a:latin typeface="Tahoma"/>
                <a:cs typeface="Tahoma"/>
              </a:rPr>
              <a:t> </a:t>
            </a:r>
            <a:r>
              <a:rPr dirty="0" sz="2100" spc="55">
                <a:latin typeface="Tahoma"/>
                <a:cs typeface="Tahoma"/>
              </a:rPr>
              <a:t>extra</a:t>
            </a:r>
            <a:r>
              <a:rPr dirty="0" sz="2100" spc="155">
                <a:latin typeface="Tahoma"/>
                <a:cs typeface="Tahoma"/>
              </a:rPr>
              <a:t> </a:t>
            </a:r>
            <a:r>
              <a:rPr dirty="0" sz="2100" spc="50">
                <a:latin typeface="Tahoma"/>
                <a:cs typeface="Tahoma"/>
              </a:rPr>
              <a:t>input</a:t>
            </a:r>
            <a:r>
              <a:rPr dirty="0" sz="2100" spc="155">
                <a:latin typeface="Tahoma"/>
                <a:cs typeface="Tahoma"/>
              </a:rPr>
              <a:t> </a:t>
            </a:r>
            <a:r>
              <a:rPr dirty="0" sz="2100" spc="55">
                <a:latin typeface="Tahoma"/>
                <a:cs typeface="Tahoma"/>
              </a:rPr>
              <a:t>signal</a:t>
            </a:r>
            <a:r>
              <a:rPr dirty="0" sz="2100" spc="155">
                <a:latin typeface="Tahoma"/>
                <a:cs typeface="Tahoma"/>
              </a:rPr>
              <a:t> </a:t>
            </a:r>
            <a:r>
              <a:rPr dirty="0" sz="2100" spc="45">
                <a:latin typeface="Tahoma"/>
                <a:cs typeface="Tahoma"/>
              </a:rPr>
              <a:t>for</a:t>
            </a:r>
            <a:r>
              <a:rPr dirty="0" sz="2100" spc="-10">
                <a:latin typeface="Tahoma"/>
                <a:cs typeface="Tahoma"/>
              </a:rPr>
              <a:t> </a:t>
            </a:r>
            <a:r>
              <a:rPr dirty="0" sz="2100" spc="10">
                <a:latin typeface="Tahoma"/>
                <a:cs typeface="Tahoma"/>
              </a:rPr>
              <a:t>all</a:t>
            </a:r>
            <a:r>
              <a:rPr dirty="0" sz="2100" spc="25">
                <a:latin typeface="Tahoma"/>
                <a:cs typeface="Tahoma"/>
              </a:rPr>
              <a:t> </a:t>
            </a:r>
            <a:r>
              <a:rPr dirty="0" sz="2100" spc="5">
                <a:latin typeface="Tahoma"/>
                <a:cs typeface="Tahoma"/>
              </a:rPr>
              <a:t>the</a:t>
            </a:r>
            <a:r>
              <a:rPr dirty="0" sz="2100" spc="35">
                <a:latin typeface="Tahoma"/>
                <a:cs typeface="Tahoma"/>
              </a:rPr>
              <a:t> </a:t>
            </a:r>
            <a:r>
              <a:rPr dirty="0" sz="2100" spc="5">
                <a:latin typeface="Tahoma"/>
                <a:cs typeface="Tahoma"/>
              </a:rPr>
              <a:t>neurons</a:t>
            </a:r>
            <a:r>
              <a:rPr dirty="0" sz="2100" spc="35">
                <a:latin typeface="Tahoma"/>
                <a:cs typeface="Tahoma"/>
              </a:rPr>
              <a:t> </a:t>
            </a:r>
            <a:r>
              <a:rPr dirty="0" sz="2100" spc="5">
                <a:latin typeface="Tahoma"/>
                <a:cs typeface="Tahoma"/>
              </a:rPr>
              <a:t>in</a:t>
            </a:r>
            <a:r>
              <a:rPr dirty="0" sz="2100" spc="35">
                <a:latin typeface="Tahoma"/>
                <a:cs typeface="Tahoma"/>
              </a:rPr>
              <a:t> </a:t>
            </a:r>
            <a:r>
              <a:rPr dirty="0" sz="2100" spc="5">
                <a:latin typeface="Tahoma"/>
                <a:cs typeface="Tahoma"/>
              </a:rPr>
              <a:t>the</a:t>
            </a:r>
            <a:r>
              <a:rPr dirty="0" sz="2100" spc="35">
                <a:latin typeface="Tahoma"/>
                <a:cs typeface="Tahoma"/>
              </a:rPr>
              <a:t> </a:t>
            </a:r>
            <a:r>
              <a:rPr dirty="0" sz="2100" spc="5">
                <a:latin typeface="Tahoma"/>
                <a:cs typeface="Tahoma"/>
              </a:rPr>
              <a:t>hidden</a:t>
            </a:r>
            <a:r>
              <a:rPr dirty="0" sz="2100" spc="35">
                <a:latin typeface="Tahoma"/>
                <a:cs typeface="Tahoma"/>
              </a:rPr>
              <a:t> </a:t>
            </a:r>
            <a:r>
              <a:rPr dirty="0" sz="2100" spc="10">
                <a:latin typeface="Tahoma"/>
                <a:cs typeface="Tahoma"/>
              </a:rPr>
              <a:t>layer</a:t>
            </a:r>
            <a:r>
              <a:rPr dirty="0" sz="2100" spc="-10">
                <a:latin typeface="Tahoma"/>
                <a:cs typeface="Tahoma"/>
              </a:rPr>
              <a:t> </a:t>
            </a:r>
            <a:r>
              <a:rPr dirty="0" sz="2100" spc="40">
                <a:latin typeface="Tahoma"/>
                <a:cs typeface="Tahoma"/>
              </a:rPr>
              <a:t>one</a:t>
            </a:r>
            <a:r>
              <a:rPr dirty="0" sz="2100" spc="145">
                <a:latin typeface="Tahoma"/>
                <a:cs typeface="Tahoma"/>
              </a:rPr>
              <a:t> </a:t>
            </a:r>
            <a:r>
              <a:rPr dirty="0" sz="2100" spc="55">
                <a:latin typeface="Tahoma"/>
                <a:cs typeface="Tahoma"/>
              </a:rPr>
              <a:t>time</a:t>
            </a:r>
            <a:r>
              <a:rPr dirty="0" sz="2100" spc="145">
                <a:latin typeface="Tahoma"/>
                <a:cs typeface="Tahoma"/>
              </a:rPr>
              <a:t> </a:t>
            </a:r>
            <a:r>
              <a:rPr dirty="0" sz="2100" spc="50">
                <a:latin typeface="Tahoma"/>
                <a:cs typeface="Tahoma"/>
              </a:rPr>
              <a:t>step</a:t>
            </a:r>
            <a:r>
              <a:rPr dirty="0" sz="2100" spc="155">
                <a:latin typeface="Tahoma"/>
                <a:cs typeface="Tahoma"/>
              </a:rPr>
              <a:t> </a:t>
            </a:r>
            <a:r>
              <a:rPr dirty="0" sz="2100" spc="60">
                <a:latin typeface="Tahoma"/>
                <a:cs typeface="Tahoma"/>
              </a:rPr>
              <a:t>later.</a:t>
            </a:r>
            <a:r>
              <a:rPr dirty="0" sz="2100" spc="155">
                <a:latin typeface="Tahoma"/>
                <a:cs typeface="Tahoma"/>
              </a:rPr>
              <a:t> </a:t>
            </a:r>
            <a:r>
              <a:rPr dirty="0" sz="2100" spc="30">
                <a:latin typeface="Tahoma"/>
                <a:cs typeface="Tahoma"/>
              </a:rPr>
              <a:t>In</a:t>
            </a:r>
            <a:r>
              <a:rPr dirty="0" sz="2100" spc="155">
                <a:latin typeface="Tahoma"/>
                <a:cs typeface="Tahoma"/>
              </a:rPr>
              <a:t> </a:t>
            </a:r>
            <a:r>
              <a:rPr dirty="0" sz="2100" spc="30">
                <a:latin typeface="Tahoma"/>
                <a:cs typeface="Tahoma"/>
              </a:rPr>
              <a:t>an</a:t>
            </a:r>
            <a:r>
              <a:rPr dirty="0" sz="2100" spc="155">
                <a:latin typeface="Tahoma"/>
                <a:cs typeface="Tahoma"/>
              </a:rPr>
              <a:t> </a:t>
            </a:r>
            <a:r>
              <a:rPr dirty="0" sz="2100" spc="60">
                <a:latin typeface="Tahoma"/>
                <a:cs typeface="Tahoma"/>
              </a:rPr>
              <a:t>Elman</a:t>
            </a:r>
            <a:r>
              <a:rPr dirty="0" sz="2100" spc="-10">
                <a:latin typeface="Tahoma"/>
                <a:cs typeface="Tahoma"/>
              </a:rPr>
              <a:t> </a:t>
            </a:r>
            <a:r>
              <a:rPr dirty="0" sz="2100" spc="120">
                <a:latin typeface="Tahoma"/>
                <a:cs typeface="Tahoma"/>
              </a:rPr>
              <a:t>network,</a:t>
            </a:r>
            <a:r>
              <a:rPr dirty="0" sz="2100" spc="305">
                <a:latin typeface="Tahoma"/>
                <a:cs typeface="Tahoma"/>
              </a:rPr>
              <a:t> </a:t>
            </a:r>
            <a:r>
              <a:rPr dirty="0" sz="2100" spc="95">
                <a:latin typeface="Tahoma"/>
                <a:cs typeface="Tahoma"/>
              </a:rPr>
              <a:t>the</a:t>
            </a:r>
            <a:r>
              <a:rPr dirty="0" sz="2100" spc="305">
                <a:latin typeface="Tahoma"/>
                <a:cs typeface="Tahoma"/>
              </a:rPr>
              <a:t> </a:t>
            </a:r>
            <a:r>
              <a:rPr dirty="0" sz="2100" spc="120">
                <a:latin typeface="Tahoma"/>
                <a:cs typeface="Tahoma"/>
              </a:rPr>
              <a:t>weights</a:t>
            </a:r>
            <a:r>
              <a:rPr dirty="0" sz="2100" spc="305">
                <a:latin typeface="Tahoma"/>
                <a:cs typeface="Tahoma"/>
              </a:rPr>
              <a:t> </a:t>
            </a:r>
            <a:r>
              <a:rPr dirty="0" sz="2100" spc="110">
                <a:latin typeface="Tahoma"/>
                <a:cs typeface="Tahoma"/>
              </a:rPr>
              <a:t>from</a:t>
            </a:r>
            <a:r>
              <a:rPr dirty="0" sz="2100" spc="310">
                <a:latin typeface="Tahoma"/>
                <a:cs typeface="Tahoma"/>
              </a:rPr>
              <a:t> </a:t>
            </a:r>
            <a:r>
              <a:rPr dirty="0" sz="2100" spc="95">
                <a:latin typeface="Tahoma"/>
                <a:cs typeface="Tahoma"/>
              </a:rPr>
              <a:t>the</a:t>
            </a:r>
            <a:r>
              <a:rPr dirty="0" sz="2100">
                <a:latin typeface="Tahoma"/>
                <a:cs typeface="Tahoma"/>
              </a:rPr>
              <a:t> </a:t>
            </a:r>
            <a:r>
              <a:rPr dirty="0" sz="2100" spc="45">
                <a:latin typeface="Tahoma"/>
                <a:cs typeface="Tahoma"/>
              </a:rPr>
              <a:t>hidden</a:t>
            </a:r>
            <a:r>
              <a:rPr dirty="0" sz="2100" spc="135">
                <a:latin typeface="Tahoma"/>
                <a:cs typeface="Tahoma"/>
              </a:rPr>
              <a:t> </a:t>
            </a:r>
            <a:r>
              <a:rPr dirty="0" sz="2100" spc="50">
                <a:latin typeface="Tahoma"/>
                <a:cs typeface="Tahoma"/>
              </a:rPr>
              <a:t>layer</a:t>
            </a:r>
            <a:r>
              <a:rPr dirty="0" sz="2100" spc="135">
                <a:latin typeface="Tahoma"/>
                <a:cs typeface="Tahoma"/>
              </a:rPr>
              <a:t> </a:t>
            </a:r>
            <a:r>
              <a:rPr dirty="0" sz="2100" spc="65">
                <a:latin typeface="Tahoma"/>
                <a:cs typeface="Tahoma"/>
              </a:rPr>
              <a:t>t</a:t>
            </a:r>
            <a:r>
              <a:rPr dirty="0" sz="2100">
                <a:latin typeface="Tahoma"/>
                <a:cs typeface="Tahoma"/>
              </a:rPr>
              <a:t>o</a:t>
            </a:r>
            <a:r>
              <a:rPr dirty="0" sz="2100" spc="135">
                <a:latin typeface="Tahoma"/>
                <a:cs typeface="Tahoma"/>
              </a:rPr>
              <a:t> </a:t>
            </a:r>
            <a:r>
              <a:rPr dirty="0" sz="2100" spc="35">
                <a:latin typeface="Tahoma"/>
                <a:cs typeface="Tahoma"/>
              </a:rPr>
              <a:t>the</a:t>
            </a:r>
            <a:r>
              <a:rPr dirty="0" sz="2100" spc="135">
                <a:latin typeface="Tahoma"/>
                <a:cs typeface="Tahoma"/>
              </a:rPr>
              <a:t> </a:t>
            </a:r>
            <a:r>
              <a:rPr dirty="0" sz="2100" spc="55">
                <a:latin typeface="Tahoma"/>
                <a:cs typeface="Tahoma"/>
              </a:rPr>
              <a:t>context</a:t>
            </a:r>
            <a:r>
              <a:rPr dirty="0" sz="2100" spc="145">
                <a:latin typeface="Tahoma"/>
                <a:cs typeface="Tahoma"/>
              </a:rPr>
              <a:t> </a:t>
            </a:r>
            <a:r>
              <a:rPr dirty="0" sz="2100" spc="50">
                <a:latin typeface="Tahoma"/>
                <a:cs typeface="Tahoma"/>
              </a:rPr>
              <a:t>layer</a:t>
            </a:r>
            <a:r>
              <a:rPr dirty="0" sz="2100" spc="-10">
                <a:latin typeface="Tahoma"/>
                <a:cs typeface="Tahoma"/>
              </a:rPr>
              <a:t> </a:t>
            </a:r>
            <a:r>
              <a:rPr dirty="0" sz="2100" spc="155">
                <a:latin typeface="Tahoma"/>
                <a:cs typeface="Tahoma"/>
              </a:rPr>
              <a:t>are</a:t>
            </a:r>
            <a:r>
              <a:rPr dirty="0" sz="2100" spc="490">
                <a:latin typeface="Tahoma"/>
                <a:cs typeface="Tahoma"/>
              </a:rPr>
              <a:t> </a:t>
            </a:r>
            <a:r>
              <a:rPr dirty="0" sz="2100" spc="155">
                <a:latin typeface="Tahoma"/>
                <a:cs typeface="Tahoma"/>
              </a:rPr>
              <a:t>set</a:t>
            </a:r>
            <a:r>
              <a:rPr dirty="0" sz="2100" spc="490">
                <a:latin typeface="Tahoma"/>
                <a:cs typeface="Tahoma"/>
              </a:rPr>
              <a:t> </a:t>
            </a:r>
            <a:r>
              <a:rPr dirty="0" sz="2100" spc="240">
                <a:latin typeface="Tahoma"/>
                <a:cs typeface="Tahoma"/>
              </a:rPr>
              <a:t>t</a:t>
            </a:r>
            <a:r>
              <a:rPr dirty="0" sz="2100">
                <a:latin typeface="Tahoma"/>
                <a:cs typeface="Tahoma"/>
              </a:rPr>
              <a:t>o</a:t>
            </a:r>
            <a:r>
              <a:rPr dirty="0" sz="2100" spc="490">
                <a:latin typeface="Tahoma"/>
                <a:cs typeface="Tahoma"/>
              </a:rPr>
              <a:t> </a:t>
            </a:r>
            <a:r>
              <a:rPr dirty="0" sz="2100" spc="155">
                <a:latin typeface="Tahoma"/>
                <a:cs typeface="Tahoma"/>
              </a:rPr>
              <a:t>one</a:t>
            </a:r>
            <a:r>
              <a:rPr dirty="0" sz="2100" spc="500">
                <a:latin typeface="Tahoma"/>
                <a:cs typeface="Tahoma"/>
              </a:rPr>
              <a:t> </a:t>
            </a:r>
            <a:r>
              <a:rPr dirty="0" sz="2100" spc="155">
                <a:latin typeface="Tahoma"/>
                <a:cs typeface="Tahoma"/>
              </a:rPr>
              <a:t>and</a:t>
            </a:r>
            <a:r>
              <a:rPr dirty="0" sz="2100" spc="500">
                <a:latin typeface="Tahoma"/>
                <a:cs typeface="Tahoma"/>
              </a:rPr>
              <a:t> </a:t>
            </a:r>
            <a:r>
              <a:rPr dirty="0" sz="2100" spc="160">
                <a:latin typeface="Tahoma"/>
                <a:cs typeface="Tahoma"/>
              </a:rPr>
              <a:t>are</a:t>
            </a:r>
            <a:r>
              <a:rPr dirty="0" sz="2100" spc="50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f</a:t>
            </a:r>
            <a:r>
              <a:rPr dirty="0" sz="2100" spc="-40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i</a:t>
            </a:r>
            <a:r>
              <a:rPr dirty="0" sz="2100" spc="-409">
                <a:latin typeface="Tahoma"/>
                <a:cs typeface="Tahoma"/>
              </a:rPr>
              <a:t> </a:t>
            </a:r>
            <a:r>
              <a:rPr dirty="0" sz="2100" spc="135">
                <a:latin typeface="Tahoma"/>
                <a:cs typeface="Tahoma"/>
              </a:rPr>
              <a:t>xed</a:t>
            </a:r>
            <a:r>
              <a:rPr dirty="0" sz="2100" spc="-10">
                <a:latin typeface="Tahoma"/>
                <a:cs typeface="Tahoma"/>
              </a:rPr>
              <a:t> </a:t>
            </a:r>
            <a:r>
              <a:rPr dirty="0" sz="2100" spc="20">
                <a:latin typeface="Tahoma"/>
                <a:cs typeface="Tahoma"/>
              </a:rPr>
              <a:t>because</a:t>
            </a:r>
            <a:r>
              <a:rPr dirty="0" sz="2100" spc="65">
                <a:latin typeface="Tahoma"/>
                <a:cs typeface="Tahoma"/>
              </a:rPr>
              <a:t> </a:t>
            </a:r>
            <a:r>
              <a:rPr dirty="0" sz="2100" spc="15">
                <a:latin typeface="Tahoma"/>
                <a:cs typeface="Tahoma"/>
              </a:rPr>
              <a:t>the</a:t>
            </a:r>
            <a:r>
              <a:rPr dirty="0" sz="2100" spc="65">
                <a:latin typeface="Tahoma"/>
                <a:cs typeface="Tahoma"/>
              </a:rPr>
              <a:t> </a:t>
            </a:r>
            <a:r>
              <a:rPr dirty="0" sz="2100" spc="20">
                <a:latin typeface="Tahoma"/>
                <a:cs typeface="Tahoma"/>
              </a:rPr>
              <a:t>values</a:t>
            </a:r>
            <a:r>
              <a:rPr dirty="0" sz="2100" spc="65">
                <a:latin typeface="Tahoma"/>
                <a:cs typeface="Tahoma"/>
              </a:rPr>
              <a:t> </a:t>
            </a:r>
            <a:r>
              <a:rPr dirty="0" sz="2100" spc="35">
                <a:latin typeface="Tahoma"/>
                <a:cs typeface="Tahoma"/>
              </a:rPr>
              <a:t>o</a:t>
            </a:r>
            <a:r>
              <a:rPr dirty="0" sz="2100">
                <a:latin typeface="Tahoma"/>
                <a:cs typeface="Tahoma"/>
              </a:rPr>
              <a:t>f</a:t>
            </a:r>
            <a:r>
              <a:rPr dirty="0" sz="2100" spc="80">
                <a:latin typeface="Tahoma"/>
                <a:cs typeface="Tahoma"/>
              </a:rPr>
              <a:t> </a:t>
            </a:r>
            <a:r>
              <a:rPr dirty="0" sz="2100" spc="15">
                <a:latin typeface="Tahoma"/>
                <a:cs typeface="Tahoma"/>
              </a:rPr>
              <a:t>the</a:t>
            </a:r>
            <a:r>
              <a:rPr dirty="0" sz="2100" spc="75">
                <a:latin typeface="Tahoma"/>
                <a:cs typeface="Tahoma"/>
              </a:rPr>
              <a:t> </a:t>
            </a:r>
            <a:r>
              <a:rPr dirty="0" sz="2100" spc="25">
                <a:latin typeface="Tahoma"/>
                <a:cs typeface="Tahoma"/>
              </a:rPr>
              <a:t>context</a:t>
            </a:r>
            <a:r>
              <a:rPr dirty="0" sz="2100">
                <a:latin typeface="Tahoma"/>
                <a:cs typeface="Tahoma"/>
              </a:rPr>
              <a:t> </a:t>
            </a:r>
            <a:r>
              <a:rPr dirty="0" sz="2100" spc="-15">
                <a:latin typeface="Tahoma"/>
                <a:cs typeface="Tahoma"/>
              </a:rPr>
              <a:t>neurons</a:t>
            </a:r>
            <a:r>
              <a:rPr dirty="0" sz="2100" spc="-5">
                <a:latin typeface="Tahoma"/>
                <a:cs typeface="Tahoma"/>
              </a:rPr>
              <a:t> </a:t>
            </a:r>
            <a:r>
              <a:rPr dirty="0" sz="2100" spc="-10">
                <a:latin typeface="Tahoma"/>
                <a:cs typeface="Tahoma"/>
              </a:rPr>
              <a:t>have</a:t>
            </a:r>
            <a:r>
              <a:rPr dirty="0" sz="2100" spc="-5">
                <a:latin typeface="Tahoma"/>
                <a:cs typeface="Tahoma"/>
              </a:rPr>
              <a:t> t</a:t>
            </a:r>
            <a:r>
              <a:rPr dirty="0" sz="2100">
                <a:latin typeface="Tahoma"/>
                <a:cs typeface="Tahoma"/>
              </a:rPr>
              <a:t>o</a:t>
            </a:r>
            <a:r>
              <a:rPr dirty="0" sz="2100" spc="-5">
                <a:latin typeface="Tahoma"/>
                <a:cs typeface="Tahoma"/>
              </a:rPr>
              <a:t> </a:t>
            </a:r>
            <a:r>
              <a:rPr dirty="0" sz="2100" spc="-10">
                <a:latin typeface="Tahoma"/>
                <a:cs typeface="Tahoma"/>
              </a:rPr>
              <a:t>be</a:t>
            </a:r>
            <a:r>
              <a:rPr dirty="0" sz="2100" spc="-5">
                <a:latin typeface="Tahoma"/>
                <a:cs typeface="Tahoma"/>
              </a:rPr>
              <a:t> </a:t>
            </a:r>
            <a:r>
              <a:rPr dirty="0" sz="2100" spc="-10">
                <a:latin typeface="Tahoma"/>
                <a:cs typeface="Tahoma"/>
              </a:rPr>
              <a:t>copied</a:t>
            </a:r>
            <a:r>
              <a:rPr dirty="0" sz="2100" spc="-5">
                <a:latin typeface="Tahoma"/>
                <a:cs typeface="Tahoma"/>
              </a:rPr>
              <a:t> exactly</a:t>
            </a:r>
            <a:endParaRPr sz="2100">
              <a:latin typeface="Tahoma"/>
              <a:cs typeface="Tahoma"/>
            </a:endParaRPr>
          </a:p>
          <a:p>
            <a:pPr algn="just" marL="353060" indent="-340360">
              <a:lnSpc>
                <a:spcPts val="2515"/>
              </a:lnSpc>
              <a:buClr>
                <a:srgbClr val="3333CC"/>
              </a:buClr>
              <a:buSzPct val="59523"/>
              <a:buFont typeface="Tahoma"/>
              <a:buChar char="■"/>
              <a:tabLst>
                <a:tab pos="353060" algn="l"/>
              </a:tabLst>
            </a:pPr>
            <a:r>
              <a:rPr dirty="0" sz="2100" b="1">
                <a:latin typeface="Tahoma"/>
                <a:cs typeface="Tahoma"/>
              </a:rPr>
              <a:t>Output</a:t>
            </a:r>
            <a:r>
              <a:rPr dirty="0" sz="2100" spc="-50" b="1">
                <a:latin typeface="Tahoma"/>
                <a:cs typeface="Tahoma"/>
              </a:rPr>
              <a:t> </a:t>
            </a:r>
            <a:r>
              <a:rPr dirty="0" sz="2100" b="1">
                <a:latin typeface="Tahoma"/>
                <a:cs typeface="Tahoma"/>
              </a:rPr>
              <a:t>layer</a:t>
            </a:r>
            <a:r>
              <a:rPr dirty="0" sz="2100" spc="-20" b="1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linear</a:t>
            </a:r>
            <a:r>
              <a:rPr dirty="0" sz="2100" spc="-60">
                <a:latin typeface="Tahoma"/>
                <a:cs typeface="Tahoma"/>
              </a:rPr>
              <a:t> </a:t>
            </a:r>
            <a:r>
              <a:rPr dirty="0" sz="2100" spc="-10">
                <a:latin typeface="Tahoma"/>
                <a:cs typeface="Tahoma"/>
              </a:rPr>
              <a:t>combination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035" y="2133600"/>
            <a:ext cx="4283964" cy="34655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6061" rIns="0" bIns="0" rtlCol="0" vert="horz">
            <a:spAutoFit/>
          </a:bodyPr>
          <a:lstStyle/>
          <a:p>
            <a:pPr marL="1001394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latin typeface="Tahoma"/>
                <a:cs typeface="Tahoma"/>
              </a:rPr>
              <a:t>Elman</a:t>
            </a:r>
            <a:r>
              <a:rPr dirty="0" sz="4400" spc="-85">
                <a:latin typeface="Tahoma"/>
                <a:cs typeface="Tahoma"/>
              </a:rPr>
              <a:t> </a:t>
            </a:r>
            <a:r>
              <a:rPr dirty="0" sz="4400" spc="-10">
                <a:latin typeface="Tahoma"/>
                <a:cs typeface="Tahoma"/>
              </a:rPr>
              <a:t>Network</a:t>
            </a:r>
            <a:endParaRPr sz="44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169" y="36622"/>
            <a:ext cx="3204402" cy="32810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88994" y="100294"/>
            <a:ext cx="140020" cy="21717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04846" y="36129"/>
            <a:ext cx="1103415" cy="31752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27179" y="91453"/>
            <a:ext cx="1165407" cy="27897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82497" y="124946"/>
            <a:ext cx="489979" cy="217888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12223" y="90773"/>
            <a:ext cx="565113" cy="291231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50136" y="139531"/>
            <a:ext cx="255804" cy="25250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90017" y="90482"/>
            <a:ext cx="807766" cy="29046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01678" y="503021"/>
            <a:ext cx="555141" cy="31862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22095" y="465527"/>
            <a:ext cx="636092" cy="303886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92997" y="476041"/>
            <a:ext cx="691533" cy="297149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55374" y="527183"/>
            <a:ext cx="369748" cy="23367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109214" y="491529"/>
            <a:ext cx="517260" cy="251020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3691675" y="688249"/>
            <a:ext cx="34290" cy="39370"/>
          </a:xfrm>
          <a:custGeom>
            <a:avLst/>
            <a:gdLst/>
            <a:ahLst/>
            <a:cxnLst/>
            <a:rect l="l" t="t" r="r" b="b"/>
            <a:pathLst>
              <a:path w="34289" h="39370">
                <a:moveTo>
                  <a:pt x="31696" y="0"/>
                </a:moveTo>
                <a:lnTo>
                  <a:pt x="3732" y="27859"/>
                </a:lnTo>
                <a:lnTo>
                  <a:pt x="0" y="35684"/>
                </a:lnTo>
                <a:lnTo>
                  <a:pt x="632" y="37419"/>
                </a:lnTo>
                <a:lnTo>
                  <a:pt x="3478" y="38742"/>
                </a:lnTo>
                <a:lnTo>
                  <a:pt x="5124" y="38210"/>
                </a:lnTo>
                <a:lnTo>
                  <a:pt x="9180" y="31093"/>
                </a:lnTo>
                <a:lnTo>
                  <a:pt x="12690" y="25392"/>
                </a:lnTo>
                <a:lnTo>
                  <a:pt x="32335" y="7523"/>
                </a:lnTo>
                <a:lnTo>
                  <a:pt x="33867" y="5629"/>
                </a:lnTo>
                <a:lnTo>
                  <a:pt x="33432" y="1503"/>
                </a:lnTo>
                <a:lnTo>
                  <a:pt x="31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855594" y="522939"/>
            <a:ext cx="345990" cy="226529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265444" y="566929"/>
            <a:ext cx="278131" cy="214023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418914" y="3425172"/>
            <a:ext cx="1628875" cy="302882"/>
          </a:xfrm>
          <a:prstGeom prst="rect">
            <a:avLst/>
          </a:prstGeom>
        </p:spPr>
      </p:pic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088" y="205500"/>
            <a:ext cx="6628170" cy="28884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846" y="3341532"/>
            <a:ext cx="756780" cy="22168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728" y="3384178"/>
            <a:ext cx="199153" cy="16187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5816" y="3360715"/>
            <a:ext cx="205922" cy="166793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228262" y="3273129"/>
            <a:ext cx="3971290" cy="908050"/>
            <a:chOff x="228262" y="3273129"/>
            <a:chExt cx="3971290" cy="908050"/>
          </a:xfrm>
        </p:grpSpPr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48935" y="3273129"/>
              <a:ext cx="1074217" cy="27553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2757" y="3531488"/>
              <a:ext cx="3956265" cy="63853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8262" y="3982941"/>
              <a:ext cx="415262" cy="18655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6048" y="3945105"/>
              <a:ext cx="1576747" cy="23574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412514" y="4124128"/>
              <a:ext cx="23495" cy="30480"/>
            </a:xfrm>
            <a:custGeom>
              <a:avLst/>
              <a:gdLst/>
              <a:ahLst/>
              <a:cxnLst/>
              <a:rect l="l" t="t" r="r" b="b"/>
              <a:pathLst>
                <a:path w="23494" h="30479">
                  <a:moveTo>
                    <a:pt x="18770" y="0"/>
                  </a:moveTo>
                  <a:lnTo>
                    <a:pt x="0" y="28024"/>
                  </a:lnTo>
                  <a:lnTo>
                    <a:pt x="815" y="29412"/>
                  </a:lnTo>
                  <a:lnTo>
                    <a:pt x="3364" y="30074"/>
                  </a:lnTo>
                  <a:lnTo>
                    <a:pt x="4606" y="29488"/>
                  </a:lnTo>
                  <a:lnTo>
                    <a:pt x="5122" y="28371"/>
                  </a:lnTo>
                  <a:lnTo>
                    <a:pt x="8072" y="22432"/>
                  </a:lnTo>
                  <a:lnTo>
                    <a:pt x="11576" y="16666"/>
                  </a:lnTo>
                  <a:lnTo>
                    <a:pt x="15787" y="11454"/>
                  </a:lnTo>
                  <a:lnTo>
                    <a:pt x="20862" y="7178"/>
                  </a:lnTo>
                  <a:lnTo>
                    <a:pt x="22549" y="6061"/>
                  </a:lnTo>
                  <a:lnTo>
                    <a:pt x="23011" y="3788"/>
                  </a:lnTo>
                  <a:lnTo>
                    <a:pt x="20849" y="521"/>
                  </a:lnTo>
                  <a:lnTo>
                    <a:pt x="187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4284384" y="3581517"/>
            <a:ext cx="2490470" cy="955040"/>
            <a:chOff x="4284384" y="3581517"/>
            <a:chExt cx="2490470" cy="955040"/>
          </a:xfrm>
        </p:grpSpPr>
        <p:sp>
          <p:nvSpPr>
            <p:cNvPr id="13" name="object 13" descr=""/>
            <p:cNvSpPr/>
            <p:nvPr/>
          </p:nvSpPr>
          <p:spPr>
            <a:xfrm>
              <a:off x="4284384" y="4105646"/>
              <a:ext cx="36830" cy="38735"/>
            </a:xfrm>
            <a:custGeom>
              <a:avLst/>
              <a:gdLst/>
              <a:ahLst/>
              <a:cxnLst/>
              <a:rect l="l" t="t" r="r" b="b"/>
              <a:pathLst>
                <a:path w="36829" h="38735">
                  <a:moveTo>
                    <a:pt x="11292" y="20598"/>
                  </a:moveTo>
                  <a:lnTo>
                    <a:pt x="10061" y="22509"/>
                  </a:lnTo>
                  <a:lnTo>
                    <a:pt x="7740" y="26042"/>
                  </a:lnTo>
                  <a:lnTo>
                    <a:pt x="3906" y="31303"/>
                  </a:lnTo>
                  <a:lnTo>
                    <a:pt x="2528" y="33232"/>
                  </a:lnTo>
                  <a:lnTo>
                    <a:pt x="45" y="35554"/>
                  </a:lnTo>
                  <a:lnTo>
                    <a:pt x="0" y="36788"/>
                  </a:lnTo>
                  <a:lnTo>
                    <a:pt x="1178" y="38056"/>
                  </a:lnTo>
                  <a:lnTo>
                    <a:pt x="1816" y="38284"/>
                  </a:lnTo>
                  <a:lnTo>
                    <a:pt x="5416" y="37799"/>
                  </a:lnTo>
                  <a:lnTo>
                    <a:pt x="7985" y="35554"/>
                  </a:lnTo>
                  <a:lnTo>
                    <a:pt x="13204" y="30315"/>
                  </a:lnTo>
                  <a:lnTo>
                    <a:pt x="15840" y="26566"/>
                  </a:lnTo>
                  <a:lnTo>
                    <a:pt x="16919" y="24889"/>
                  </a:lnTo>
                  <a:lnTo>
                    <a:pt x="15041" y="24889"/>
                  </a:lnTo>
                  <a:lnTo>
                    <a:pt x="11766" y="22781"/>
                  </a:lnTo>
                  <a:lnTo>
                    <a:pt x="11409" y="21139"/>
                  </a:lnTo>
                  <a:lnTo>
                    <a:pt x="11292" y="20598"/>
                  </a:lnTo>
                  <a:close/>
                </a:path>
                <a:path w="36829" h="38735">
                  <a:moveTo>
                    <a:pt x="15582" y="16849"/>
                  </a:moveTo>
                  <a:lnTo>
                    <a:pt x="13400" y="17322"/>
                  </a:lnTo>
                  <a:lnTo>
                    <a:pt x="11292" y="20598"/>
                  </a:lnTo>
                  <a:lnTo>
                    <a:pt x="11707" y="22509"/>
                  </a:lnTo>
                  <a:lnTo>
                    <a:pt x="11766" y="22781"/>
                  </a:lnTo>
                  <a:lnTo>
                    <a:pt x="15041" y="24889"/>
                  </a:lnTo>
                  <a:lnTo>
                    <a:pt x="17224" y="24416"/>
                  </a:lnTo>
                  <a:lnTo>
                    <a:pt x="19332" y="21139"/>
                  </a:lnTo>
                  <a:lnTo>
                    <a:pt x="18860" y="18960"/>
                  </a:lnTo>
                  <a:lnTo>
                    <a:pt x="15582" y="16849"/>
                  </a:lnTo>
                  <a:close/>
                </a:path>
                <a:path w="36829" h="38735">
                  <a:moveTo>
                    <a:pt x="17224" y="24416"/>
                  </a:moveTo>
                  <a:lnTo>
                    <a:pt x="15041" y="24889"/>
                  </a:lnTo>
                  <a:lnTo>
                    <a:pt x="16919" y="24889"/>
                  </a:lnTo>
                  <a:lnTo>
                    <a:pt x="17224" y="24416"/>
                  </a:lnTo>
                  <a:close/>
                </a:path>
                <a:path w="36829" h="38735">
                  <a:moveTo>
                    <a:pt x="22093" y="16849"/>
                  </a:moveTo>
                  <a:lnTo>
                    <a:pt x="15582" y="16849"/>
                  </a:lnTo>
                  <a:lnTo>
                    <a:pt x="18860" y="18960"/>
                  </a:lnTo>
                  <a:lnTo>
                    <a:pt x="19215" y="20598"/>
                  </a:lnTo>
                  <a:lnTo>
                    <a:pt x="19333" y="21139"/>
                  </a:lnTo>
                  <a:lnTo>
                    <a:pt x="22093" y="16849"/>
                  </a:lnTo>
                  <a:close/>
                </a:path>
                <a:path w="36829" h="38735">
                  <a:moveTo>
                    <a:pt x="32719" y="0"/>
                  </a:moveTo>
                  <a:lnTo>
                    <a:pt x="13500" y="17322"/>
                  </a:lnTo>
                  <a:lnTo>
                    <a:pt x="15582" y="16849"/>
                  </a:lnTo>
                  <a:lnTo>
                    <a:pt x="22093" y="16849"/>
                  </a:lnTo>
                  <a:lnTo>
                    <a:pt x="22344" y="16458"/>
                  </a:lnTo>
                  <a:lnTo>
                    <a:pt x="27410" y="10270"/>
                  </a:lnTo>
                  <a:lnTo>
                    <a:pt x="35739" y="5787"/>
                  </a:lnTo>
                  <a:lnTo>
                    <a:pt x="36339" y="3785"/>
                  </a:lnTo>
                  <a:lnTo>
                    <a:pt x="34717" y="771"/>
                  </a:lnTo>
                  <a:lnTo>
                    <a:pt x="34636" y="620"/>
                  </a:lnTo>
                  <a:lnTo>
                    <a:pt x="327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41887" y="3581517"/>
              <a:ext cx="2432610" cy="954460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66132" y="3904512"/>
            <a:ext cx="1900589" cy="271087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65682" y="4269088"/>
            <a:ext cx="572207" cy="226072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03950" y="4257815"/>
            <a:ext cx="754177" cy="260269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39832" y="4305610"/>
            <a:ext cx="211073" cy="18133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952405" y="4288138"/>
            <a:ext cx="373831" cy="192998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396649" y="4238596"/>
            <a:ext cx="782342" cy="281431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21315" y="4665089"/>
            <a:ext cx="828332" cy="253277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32167" y="4640887"/>
            <a:ext cx="1151461" cy="308429"/>
          </a:xfrm>
          <a:prstGeom prst="rect">
            <a:avLst/>
          </a:prstGeom>
        </p:spPr>
      </p:pic>
      <p:sp>
        <p:nvSpPr>
          <p:cNvPr id="23" name="object 23" descr=""/>
          <p:cNvSpPr/>
          <p:nvPr/>
        </p:nvSpPr>
        <p:spPr>
          <a:xfrm>
            <a:off x="2473906" y="4837493"/>
            <a:ext cx="40640" cy="51435"/>
          </a:xfrm>
          <a:custGeom>
            <a:avLst/>
            <a:gdLst/>
            <a:ahLst/>
            <a:cxnLst/>
            <a:rect l="l" t="t" r="r" b="b"/>
            <a:pathLst>
              <a:path w="40639" h="51435">
                <a:moveTo>
                  <a:pt x="12727" y="9339"/>
                </a:moveTo>
                <a:lnTo>
                  <a:pt x="11573" y="11442"/>
                </a:lnTo>
                <a:lnTo>
                  <a:pt x="11475" y="11621"/>
                </a:lnTo>
                <a:lnTo>
                  <a:pt x="9791" y="16706"/>
                </a:lnTo>
                <a:lnTo>
                  <a:pt x="8127" y="21649"/>
                </a:lnTo>
                <a:lnTo>
                  <a:pt x="6080" y="27936"/>
                </a:lnTo>
                <a:lnTo>
                  <a:pt x="4140" y="34257"/>
                </a:lnTo>
                <a:lnTo>
                  <a:pt x="2283" y="40602"/>
                </a:lnTo>
                <a:lnTo>
                  <a:pt x="0" y="48679"/>
                </a:lnTo>
                <a:lnTo>
                  <a:pt x="1060" y="50563"/>
                </a:lnTo>
                <a:lnTo>
                  <a:pt x="1373" y="50563"/>
                </a:lnTo>
                <a:lnTo>
                  <a:pt x="4302" y="51383"/>
                </a:lnTo>
                <a:lnTo>
                  <a:pt x="5967" y="50563"/>
                </a:lnTo>
                <a:lnTo>
                  <a:pt x="11487" y="36907"/>
                </a:lnTo>
                <a:lnTo>
                  <a:pt x="13976" y="30857"/>
                </a:lnTo>
                <a:lnTo>
                  <a:pt x="20281" y="15814"/>
                </a:lnTo>
                <a:lnTo>
                  <a:pt x="20797" y="14773"/>
                </a:lnTo>
                <a:lnTo>
                  <a:pt x="18187" y="14773"/>
                </a:lnTo>
                <a:lnTo>
                  <a:pt x="13571" y="12237"/>
                </a:lnTo>
                <a:lnTo>
                  <a:pt x="12816" y="9644"/>
                </a:lnTo>
                <a:lnTo>
                  <a:pt x="12727" y="9339"/>
                </a:lnTo>
                <a:close/>
              </a:path>
              <a:path w="40639" h="51435">
                <a:moveTo>
                  <a:pt x="18003" y="3916"/>
                </a:moveTo>
                <a:lnTo>
                  <a:pt x="15225" y="4789"/>
                </a:lnTo>
                <a:lnTo>
                  <a:pt x="12867" y="9084"/>
                </a:lnTo>
                <a:lnTo>
                  <a:pt x="12816" y="9644"/>
                </a:lnTo>
                <a:lnTo>
                  <a:pt x="13571" y="12237"/>
                </a:lnTo>
                <a:lnTo>
                  <a:pt x="18187" y="14773"/>
                </a:lnTo>
                <a:lnTo>
                  <a:pt x="21168" y="13905"/>
                </a:lnTo>
                <a:lnTo>
                  <a:pt x="22354" y="11621"/>
                </a:lnTo>
                <a:lnTo>
                  <a:pt x="23491" y="9339"/>
                </a:lnTo>
                <a:lnTo>
                  <a:pt x="23617" y="9084"/>
                </a:lnTo>
                <a:lnTo>
                  <a:pt x="22653" y="6222"/>
                </a:lnTo>
                <a:lnTo>
                  <a:pt x="18003" y="3916"/>
                </a:lnTo>
                <a:close/>
              </a:path>
              <a:path w="40639" h="51435">
                <a:moveTo>
                  <a:pt x="21227" y="13905"/>
                </a:moveTo>
                <a:lnTo>
                  <a:pt x="18187" y="14773"/>
                </a:lnTo>
                <a:lnTo>
                  <a:pt x="20797" y="14773"/>
                </a:lnTo>
                <a:lnTo>
                  <a:pt x="21227" y="13905"/>
                </a:lnTo>
                <a:close/>
              </a:path>
              <a:path w="40639" h="51435">
                <a:moveTo>
                  <a:pt x="39318" y="8538"/>
                </a:moveTo>
                <a:lnTo>
                  <a:pt x="28458" y="8538"/>
                </a:lnTo>
                <a:lnTo>
                  <a:pt x="31720" y="9644"/>
                </a:lnTo>
                <a:lnTo>
                  <a:pt x="36424" y="11442"/>
                </a:lnTo>
                <a:lnTo>
                  <a:pt x="38584" y="10457"/>
                </a:lnTo>
                <a:lnTo>
                  <a:pt x="39318" y="8538"/>
                </a:lnTo>
                <a:close/>
              </a:path>
              <a:path w="40639" h="51435">
                <a:moveTo>
                  <a:pt x="37753" y="3916"/>
                </a:moveTo>
                <a:lnTo>
                  <a:pt x="18003" y="3916"/>
                </a:lnTo>
                <a:lnTo>
                  <a:pt x="22653" y="6222"/>
                </a:lnTo>
                <a:lnTo>
                  <a:pt x="23433" y="8538"/>
                </a:lnTo>
                <a:lnTo>
                  <a:pt x="23491" y="9339"/>
                </a:lnTo>
                <a:lnTo>
                  <a:pt x="23086" y="10155"/>
                </a:lnTo>
                <a:lnTo>
                  <a:pt x="24049" y="9339"/>
                </a:lnTo>
                <a:lnTo>
                  <a:pt x="28458" y="8538"/>
                </a:lnTo>
                <a:lnTo>
                  <a:pt x="39318" y="8538"/>
                </a:lnTo>
                <a:lnTo>
                  <a:pt x="40017" y="6707"/>
                </a:lnTo>
                <a:lnTo>
                  <a:pt x="39281" y="4789"/>
                </a:lnTo>
                <a:lnTo>
                  <a:pt x="39456" y="4789"/>
                </a:lnTo>
                <a:lnTo>
                  <a:pt x="37753" y="3916"/>
                </a:lnTo>
                <a:close/>
              </a:path>
              <a:path w="40639" h="51435">
                <a:moveTo>
                  <a:pt x="28994" y="0"/>
                </a:moveTo>
                <a:lnTo>
                  <a:pt x="19947" y="600"/>
                </a:lnTo>
                <a:lnTo>
                  <a:pt x="16140" y="3123"/>
                </a:lnTo>
                <a:lnTo>
                  <a:pt x="15225" y="4789"/>
                </a:lnTo>
                <a:lnTo>
                  <a:pt x="18003" y="3916"/>
                </a:lnTo>
                <a:lnTo>
                  <a:pt x="37753" y="3916"/>
                </a:lnTo>
                <a:lnTo>
                  <a:pt x="33516" y="1744"/>
                </a:lnTo>
                <a:lnTo>
                  <a:pt x="289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610155" y="4669711"/>
            <a:ext cx="517865" cy="196850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203478" y="4675654"/>
            <a:ext cx="131614" cy="189230"/>
          </a:xfrm>
          <a:prstGeom prst="rect">
            <a:avLst/>
          </a:prstGeom>
        </p:spPr>
      </p:pic>
      <p:grpSp>
        <p:nvGrpSpPr>
          <p:cNvPr id="26" name="object 26" descr=""/>
          <p:cNvGrpSpPr/>
          <p:nvPr/>
        </p:nvGrpSpPr>
        <p:grpSpPr>
          <a:xfrm>
            <a:off x="3007902" y="4641881"/>
            <a:ext cx="2523490" cy="629285"/>
            <a:chOff x="3007902" y="4641881"/>
            <a:chExt cx="2523490" cy="629285"/>
          </a:xfrm>
        </p:grpSpPr>
        <p:pic>
          <p:nvPicPr>
            <p:cNvPr id="27" name="object 2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412705" y="4691861"/>
              <a:ext cx="320856" cy="188211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007902" y="4641881"/>
              <a:ext cx="2523323" cy="628736"/>
            </a:xfrm>
            <a:prstGeom prst="rect">
              <a:avLst/>
            </a:prstGeom>
          </p:spPr>
        </p:pic>
      </p:grpSp>
      <p:pic>
        <p:nvPicPr>
          <p:cNvPr id="29" name="object 29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662354" y="4652748"/>
            <a:ext cx="897038" cy="253579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715851" y="4743823"/>
            <a:ext cx="520074" cy="216361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661311" y="5015234"/>
            <a:ext cx="265450" cy="19022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0140" rIns="0" bIns="0" rtlCol="0" vert="horz">
            <a:spAutoFit/>
          </a:bodyPr>
          <a:lstStyle/>
          <a:p>
            <a:pPr marL="857250">
              <a:lnSpc>
                <a:spcPct val="100000"/>
              </a:lnSpc>
              <a:spcBef>
                <a:spcPts val="105"/>
              </a:spcBef>
            </a:pPr>
            <a:r>
              <a:rPr dirty="0"/>
              <a:t>Learning</a:t>
            </a:r>
            <a:r>
              <a:rPr dirty="0" spc="-105"/>
              <a:t> </a:t>
            </a:r>
            <a:r>
              <a:rPr dirty="0" spc="-20"/>
              <a:t>algorithm</a:t>
            </a:r>
            <a:r>
              <a:rPr dirty="0" spc="-105"/>
              <a:t> </a:t>
            </a:r>
            <a:r>
              <a:rPr dirty="0"/>
              <a:t>for</a:t>
            </a:r>
            <a:r>
              <a:rPr dirty="0" spc="-100"/>
              <a:t> </a:t>
            </a:r>
            <a:r>
              <a:rPr dirty="0"/>
              <a:t>Elman</a:t>
            </a:r>
            <a:r>
              <a:rPr dirty="0" spc="-100"/>
              <a:t> </a:t>
            </a:r>
            <a:r>
              <a:rPr dirty="0" spc="-10"/>
              <a:t>Network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87018" y="4788852"/>
            <a:ext cx="671449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00" spc="-100">
                <a:latin typeface="Microsoft YaHei UI"/>
                <a:cs typeface="Microsoft YaHei UI"/>
              </a:rPr>
              <a:t>where</a:t>
            </a:r>
            <a:r>
              <a:rPr dirty="0" u="heavy" baseline="2923" sz="4275" spc="-33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2923" sz="427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dirty="0" baseline="2923" sz="4275" spc="-600" i="1">
                <a:latin typeface="Times New Roman"/>
                <a:cs typeface="Times New Roman"/>
              </a:rPr>
              <a:t> </a:t>
            </a:r>
            <a:r>
              <a:rPr dirty="0" u="heavy" baseline="2923" sz="4275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(</a:t>
            </a:r>
            <a:r>
              <a:rPr dirty="0" u="heavy" baseline="2923" sz="427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</a:t>
            </a:r>
            <a:r>
              <a:rPr dirty="0" baseline="2923" sz="4275" spc="-697" i="1">
                <a:latin typeface="Times New Roman"/>
                <a:cs typeface="Times New Roman"/>
              </a:rPr>
              <a:t> </a:t>
            </a:r>
            <a:r>
              <a:rPr dirty="0" u="heavy" baseline="2923" sz="4275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)</a:t>
            </a:r>
            <a:r>
              <a:rPr dirty="0" u="heavy" baseline="2923" sz="4275" spc="89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 </a:t>
            </a:r>
            <a:r>
              <a:rPr dirty="0" u="heavy" sz="2800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is</a:t>
            </a:r>
            <a:r>
              <a:rPr dirty="0" u="heavy" sz="2800" spc="5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 </a:t>
            </a:r>
            <a:r>
              <a:rPr dirty="0" u="heavy" sz="2800" spc="-80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the</a:t>
            </a:r>
            <a:r>
              <a:rPr dirty="0" u="heavy" sz="2800" spc="10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 </a:t>
            </a:r>
            <a:r>
              <a:rPr dirty="0" u="heavy" sz="2800" spc="-130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expected</a:t>
            </a:r>
            <a:r>
              <a:rPr dirty="0" u="heavy" sz="2800" spc="10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 </a:t>
            </a:r>
            <a:r>
              <a:rPr dirty="0" u="heavy" sz="2800" spc="-185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output</a:t>
            </a:r>
            <a:r>
              <a:rPr dirty="0" u="heavy" sz="2800" spc="-360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 </a:t>
            </a:r>
            <a:r>
              <a:rPr dirty="0" sz="2800" spc="-430">
                <a:latin typeface="Microsoft YaHei UI"/>
                <a:cs typeface="Microsoft YaHei UI"/>
              </a:rPr>
              <a:t> </a:t>
            </a:r>
            <a:r>
              <a:rPr dirty="0" sz="2800" spc="-20">
                <a:latin typeface="Microsoft YaHei UI"/>
                <a:cs typeface="Microsoft YaHei UI"/>
              </a:rPr>
              <a:t>(target)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14841" y="3520046"/>
            <a:ext cx="13716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50" i="1">
                <a:latin typeface="Times New Roman"/>
                <a:cs typeface="Times New Roman"/>
              </a:rPr>
              <a:t>n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3293" y="2229040"/>
            <a:ext cx="6033770" cy="234442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300"/>
              </a:spcBef>
              <a:buClr>
                <a:srgbClr val="3333CC"/>
              </a:buClr>
              <a:buSzPct val="58928"/>
              <a:buChar char="■"/>
              <a:tabLst>
                <a:tab pos="380365" algn="l"/>
              </a:tabLst>
            </a:pPr>
            <a:r>
              <a:rPr dirty="0" sz="2800" spc="-105">
                <a:latin typeface="Microsoft YaHei UI"/>
                <a:cs typeface="Microsoft YaHei UI"/>
              </a:rPr>
              <a:t>Elman </a:t>
            </a:r>
            <a:r>
              <a:rPr dirty="0" sz="2800" spc="-135">
                <a:latin typeface="Microsoft YaHei UI"/>
                <a:cs typeface="Microsoft YaHei UI"/>
              </a:rPr>
              <a:t>network</a:t>
            </a:r>
            <a:r>
              <a:rPr dirty="0" sz="2800" spc="-70">
                <a:latin typeface="Microsoft YaHei UI"/>
                <a:cs typeface="Microsoft YaHei UI"/>
              </a:rPr>
              <a:t> </a:t>
            </a:r>
            <a:r>
              <a:rPr dirty="0" sz="2800" spc="-155">
                <a:latin typeface="Microsoft YaHei UI"/>
                <a:cs typeface="Microsoft YaHei UI"/>
              </a:rPr>
              <a:t>adopts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60">
                <a:latin typeface="Microsoft YaHei UI"/>
                <a:cs typeface="Microsoft YaHei UI"/>
              </a:rPr>
              <a:t>BP</a:t>
            </a:r>
            <a:r>
              <a:rPr dirty="0" sz="2800" spc="-85">
                <a:latin typeface="Microsoft YaHei UI"/>
                <a:cs typeface="Microsoft YaHei UI"/>
              </a:rPr>
              <a:t> </a:t>
            </a:r>
            <a:r>
              <a:rPr dirty="0" sz="2800" spc="-110">
                <a:latin typeface="Microsoft YaHei UI"/>
                <a:cs typeface="Microsoft YaHei UI"/>
              </a:rPr>
              <a:t>algorithm</a:t>
            </a:r>
            <a:endParaRPr sz="2800">
              <a:latin typeface="Microsoft YaHei UI"/>
              <a:cs typeface="Microsoft YaHei UI"/>
            </a:endParaRPr>
          </a:p>
          <a:p>
            <a:pPr lvl="1" marL="780415" indent="-285750">
              <a:lnSpc>
                <a:spcPct val="100000"/>
              </a:lnSpc>
              <a:spcBef>
                <a:spcPts val="1200"/>
              </a:spcBef>
              <a:buClr>
                <a:srgbClr val="FF0000"/>
              </a:buClr>
              <a:buSzPct val="53571"/>
              <a:buChar char="■"/>
              <a:tabLst>
                <a:tab pos="780415" algn="l"/>
              </a:tabLst>
            </a:pPr>
            <a:r>
              <a:rPr dirty="0" sz="2800" spc="-10">
                <a:latin typeface="Microsoft YaHei UI"/>
                <a:cs typeface="Microsoft YaHei UI"/>
              </a:rPr>
              <a:t>The</a:t>
            </a:r>
            <a:r>
              <a:rPr dirty="0" sz="2800" spc="-180">
                <a:latin typeface="Microsoft YaHei UI"/>
                <a:cs typeface="Microsoft YaHei UI"/>
              </a:rPr>
              <a:t> </a:t>
            </a:r>
            <a:r>
              <a:rPr dirty="0" sz="2800" spc="-95">
                <a:latin typeface="Microsoft YaHei UI"/>
                <a:cs typeface="Microsoft YaHei UI"/>
              </a:rPr>
              <a:t>error</a:t>
            </a:r>
            <a:r>
              <a:rPr dirty="0" sz="2800" spc="-110">
                <a:latin typeface="Microsoft YaHei UI"/>
                <a:cs typeface="Microsoft YaHei UI"/>
              </a:rPr>
              <a:t> </a:t>
            </a:r>
            <a:r>
              <a:rPr dirty="0" sz="2800" spc="-25">
                <a:latin typeface="Microsoft YaHei UI"/>
                <a:cs typeface="Microsoft YaHei UI"/>
              </a:rPr>
              <a:t>function：</a:t>
            </a:r>
            <a:endParaRPr sz="2800">
              <a:latin typeface="Microsoft YaHei UI"/>
              <a:cs typeface="Microsoft YaHei UI"/>
            </a:endParaRPr>
          </a:p>
          <a:p>
            <a:pPr algn="ctr" marR="344805">
              <a:lnSpc>
                <a:spcPct val="100000"/>
              </a:lnSpc>
              <a:spcBef>
                <a:spcPts val="1345"/>
              </a:spcBef>
            </a:pPr>
            <a:r>
              <a:rPr dirty="0" sz="3000" i="1">
                <a:latin typeface="Times New Roman"/>
                <a:cs typeface="Times New Roman"/>
              </a:rPr>
              <a:t>E</a:t>
            </a:r>
            <a:r>
              <a:rPr dirty="0" sz="3000" spc="130" i="1">
                <a:latin typeface="Times New Roman"/>
                <a:cs typeface="Times New Roman"/>
              </a:rPr>
              <a:t> </a:t>
            </a:r>
            <a:r>
              <a:rPr dirty="0" sz="3000" spc="-580">
                <a:latin typeface="Microsoft YaHei UI"/>
                <a:cs typeface="Microsoft YaHei UI"/>
              </a:rPr>
              <a:t>=</a:t>
            </a:r>
            <a:r>
              <a:rPr dirty="0" sz="3000" spc="-180">
                <a:latin typeface="Microsoft YaHei UI"/>
                <a:cs typeface="Microsoft YaHei UI"/>
              </a:rPr>
              <a:t> </a:t>
            </a:r>
            <a:r>
              <a:rPr dirty="0" baseline="-8547" sz="6825" spc="637">
                <a:latin typeface="Microsoft YaHei UI"/>
                <a:cs typeface="Microsoft YaHei UI"/>
              </a:rPr>
              <a:t>Σ</a:t>
            </a:r>
            <a:r>
              <a:rPr dirty="0" sz="3000" spc="425">
                <a:latin typeface="Microsoft YaHei UI"/>
                <a:cs typeface="Microsoft YaHei UI"/>
              </a:rPr>
              <a:t>[</a:t>
            </a:r>
            <a:r>
              <a:rPr dirty="0" sz="3000" spc="-550">
                <a:latin typeface="Microsoft YaHei UI"/>
                <a:cs typeface="Microsoft YaHei UI"/>
              </a:rPr>
              <a:t> </a:t>
            </a:r>
            <a:r>
              <a:rPr dirty="0" sz="3000" spc="70" i="1">
                <a:latin typeface="Times New Roman"/>
                <a:cs typeface="Times New Roman"/>
              </a:rPr>
              <a:t>y</a:t>
            </a:r>
            <a:r>
              <a:rPr dirty="0" sz="3000" spc="70">
                <a:latin typeface="Microsoft YaHei UI"/>
                <a:cs typeface="Microsoft YaHei UI"/>
              </a:rPr>
              <a:t>(</a:t>
            </a:r>
            <a:r>
              <a:rPr dirty="0" sz="3000" spc="70" i="1">
                <a:latin typeface="Times New Roman"/>
                <a:cs typeface="Times New Roman"/>
              </a:rPr>
              <a:t>k</a:t>
            </a:r>
            <a:r>
              <a:rPr dirty="0" sz="3000" spc="-445" i="1">
                <a:latin typeface="Times New Roman"/>
                <a:cs typeface="Times New Roman"/>
              </a:rPr>
              <a:t> </a:t>
            </a:r>
            <a:r>
              <a:rPr dirty="0" sz="3000">
                <a:latin typeface="Microsoft YaHei UI"/>
                <a:cs typeface="Microsoft YaHei UI"/>
              </a:rPr>
              <a:t>)</a:t>
            </a:r>
            <a:r>
              <a:rPr dirty="0" sz="3000" spc="-390">
                <a:latin typeface="Microsoft YaHei UI"/>
                <a:cs typeface="Microsoft YaHei UI"/>
              </a:rPr>
              <a:t> </a:t>
            </a:r>
            <a:r>
              <a:rPr dirty="0" sz="3000">
                <a:latin typeface="Microsoft YaHei UI"/>
                <a:cs typeface="Microsoft YaHei UI"/>
              </a:rPr>
              <a:t>–</a:t>
            </a:r>
            <a:r>
              <a:rPr dirty="0" sz="3000" spc="-370">
                <a:latin typeface="Microsoft YaHei UI"/>
                <a:cs typeface="Microsoft YaHei UI"/>
              </a:rPr>
              <a:t> </a:t>
            </a:r>
            <a:r>
              <a:rPr dirty="0" sz="3000" i="1">
                <a:latin typeface="Times New Roman"/>
                <a:cs typeface="Times New Roman"/>
              </a:rPr>
              <a:t>d</a:t>
            </a:r>
            <a:r>
              <a:rPr dirty="0" sz="3000" spc="-370" i="1">
                <a:latin typeface="Times New Roman"/>
                <a:cs typeface="Times New Roman"/>
              </a:rPr>
              <a:t> </a:t>
            </a:r>
            <a:r>
              <a:rPr dirty="0" sz="3000">
                <a:latin typeface="Microsoft YaHei UI"/>
                <a:cs typeface="Microsoft YaHei UI"/>
              </a:rPr>
              <a:t>(</a:t>
            </a:r>
            <a:r>
              <a:rPr dirty="0" sz="3000" i="1">
                <a:latin typeface="Times New Roman"/>
                <a:cs typeface="Times New Roman"/>
              </a:rPr>
              <a:t>k</a:t>
            </a:r>
            <a:r>
              <a:rPr dirty="0" sz="3000" spc="-445" i="1">
                <a:latin typeface="Times New Roman"/>
                <a:cs typeface="Times New Roman"/>
              </a:rPr>
              <a:t> </a:t>
            </a:r>
            <a:r>
              <a:rPr dirty="0" sz="3000" spc="-25">
                <a:latin typeface="Microsoft YaHei UI"/>
                <a:cs typeface="Microsoft YaHei UI"/>
              </a:rPr>
              <a:t>)]</a:t>
            </a:r>
            <a:r>
              <a:rPr dirty="0" baseline="42857" sz="2625" spc="-37">
                <a:latin typeface="Microsoft YaHei UI"/>
                <a:cs typeface="Microsoft YaHei UI"/>
              </a:rPr>
              <a:t>2</a:t>
            </a:r>
            <a:endParaRPr baseline="42857" sz="2625">
              <a:latin typeface="Microsoft YaHei UI"/>
              <a:cs typeface="Microsoft YaHei UI"/>
            </a:endParaRPr>
          </a:p>
          <a:p>
            <a:pPr marL="1924050">
              <a:lnSpc>
                <a:spcPct val="100000"/>
              </a:lnSpc>
              <a:spcBef>
                <a:spcPts val="229"/>
              </a:spcBef>
            </a:pPr>
            <a:r>
              <a:rPr dirty="0" sz="1750" i="1">
                <a:latin typeface="Times New Roman"/>
                <a:cs typeface="Times New Roman"/>
              </a:rPr>
              <a:t>k</a:t>
            </a:r>
            <a:r>
              <a:rPr dirty="0" sz="1750" spc="-204" i="1">
                <a:latin typeface="Times New Roman"/>
                <a:cs typeface="Times New Roman"/>
              </a:rPr>
              <a:t> </a:t>
            </a:r>
            <a:r>
              <a:rPr dirty="0" sz="1750" spc="-315">
                <a:latin typeface="Microsoft YaHei UI"/>
                <a:cs typeface="Microsoft YaHei UI"/>
              </a:rPr>
              <a:t>=1</a:t>
            </a:r>
            <a:endParaRPr sz="1750">
              <a:latin typeface="Microsoft YaHei UI"/>
              <a:cs typeface="Microsoft YaHei U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6418" y="2831583"/>
            <a:ext cx="2806507" cy="101376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3772" y="3916057"/>
            <a:ext cx="699766" cy="25051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69121" y="3909281"/>
            <a:ext cx="1146689" cy="29011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80684" y="3947634"/>
            <a:ext cx="648920" cy="34672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08047" y="4298022"/>
            <a:ext cx="791661" cy="29842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39878" y="4345256"/>
            <a:ext cx="784084" cy="266567"/>
          </a:xfrm>
          <a:prstGeom prst="rect">
            <a:avLst/>
          </a:prstGeom>
        </p:spPr>
      </p:pic>
      <p:sp>
        <p:nvSpPr>
          <p:cNvPr id="12" name="object 12" descr=""/>
          <p:cNvSpPr/>
          <p:nvPr/>
        </p:nvSpPr>
        <p:spPr>
          <a:xfrm>
            <a:off x="8032643" y="4573921"/>
            <a:ext cx="15240" cy="19685"/>
          </a:xfrm>
          <a:custGeom>
            <a:avLst/>
            <a:gdLst/>
            <a:ahLst/>
            <a:cxnLst/>
            <a:rect l="l" t="t" r="r" b="b"/>
            <a:pathLst>
              <a:path w="15240" h="19685">
                <a:moveTo>
                  <a:pt x="6022" y="0"/>
                </a:moveTo>
                <a:lnTo>
                  <a:pt x="4489" y="0"/>
                </a:lnTo>
                <a:lnTo>
                  <a:pt x="3252" y="1192"/>
                </a:lnTo>
                <a:lnTo>
                  <a:pt x="3026" y="1584"/>
                </a:lnTo>
                <a:lnTo>
                  <a:pt x="0" y="13578"/>
                </a:lnTo>
                <a:lnTo>
                  <a:pt x="2236" y="17325"/>
                </a:lnTo>
                <a:lnTo>
                  <a:pt x="9617" y="19187"/>
                </a:lnTo>
                <a:lnTo>
                  <a:pt x="13364" y="16950"/>
                </a:lnTo>
                <a:lnTo>
                  <a:pt x="14876" y="10951"/>
                </a:lnTo>
                <a:lnTo>
                  <a:pt x="14226" y="8505"/>
                </a:lnTo>
                <a:lnTo>
                  <a:pt x="60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3390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641541"/>
            <a:ext cx="9144000" cy="21645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536189" y="5018087"/>
            <a:ext cx="1087755" cy="5422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80" b="1">
                <a:solidFill>
                  <a:srgbClr val="000044"/>
                </a:solidFill>
                <a:latin typeface="Microsoft YaHei UI"/>
                <a:cs typeface="Microsoft YaHei UI"/>
              </a:rPr>
              <a:t>VISIT</a:t>
            </a:r>
            <a:r>
              <a:rPr dirty="0" sz="1550" spc="-10" b="1">
                <a:solidFill>
                  <a:srgbClr val="000044"/>
                </a:solidFill>
                <a:latin typeface="Microsoft YaHei UI"/>
                <a:cs typeface="Microsoft YaHei UI"/>
              </a:rPr>
              <a:t> </a:t>
            </a:r>
            <a:r>
              <a:rPr dirty="0" sz="1550" spc="-25" b="1">
                <a:solidFill>
                  <a:srgbClr val="000044"/>
                </a:solidFill>
                <a:latin typeface="Microsoft YaHei UI"/>
                <a:cs typeface="Microsoft YaHei UI"/>
              </a:rPr>
              <a:t>US</a:t>
            </a:r>
            <a:endParaRPr sz="1550">
              <a:latin typeface="Microsoft YaHei UI"/>
              <a:cs typeface="Microsoft YaHei UI"/>
            </a:endParaRPr>
          </a:p>
          <a:p>
            <a:pPr marL="17145">
              <a:lnSpc>
                <a:spcPct val="100000"/>
              </a:lnSpc>
              <a:spcBef>
                <a:spcPts val="1290"/>
              </a:spcBef>
            </a:pPr>
            <a:r>
              <a:rPr dirty="0" u="sng" sz="7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YaHei UI"/>
                <a:cs typeface="Microsoft YaHei UI"/>
                <a:hlinkClick r:id="rId4"/>
              </a:rPr>
              <a:t>WWW.XJTLU.EDU.CN</a:t>
            </a:r>
            <a:endParaRPr sz="750">
              <a:latin typeface="Microsoft YaHei UI"/>
              <a:cs typeface="Microsoft YaHei U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5467" y="4603759"/>
            <a:ext cx="898658" cy="89865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77817" y="5968276"/>
            <a:ext cx="1815007" cy="37664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68623" y="5953061"/>
            <a:ext cx="324332" cy="40802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99132" y="2828544"/>
            <a:ext cx="4732020" cy="1146175"/>
          </a:xfrm>
          <a:prstGeom prst="rect"/>
          <a:solidFill>
            <a:srgbClr val="000544"/>
          </a:solidFill>
        </p:spPr>
        <p:txBody>
          <a:bodyPr wrap="square" lIns="0" tIns="286385" rIns="0" bIns="0" rtlCol="0" vert="horz">
            <a:spAutoFit/>
          </a:bodyPr>
          <a:lstStyle/>
          <a:p>
            <a:pPr marL="1145540">
              <a:lnSpc>
                <a:spcPct val="100000"/>
              </a:lnSpc>
              <a:spcBef>
                <a:spcPts val="2255"/>
              </a:spcBef>
            </a:pPr>
            <a:r>
              <a:rPr dirty="0" sz="3900" spc="-650">
                <a:solidFill>
                  <a:srgbClr val="FFFFFF"/>
                </a:solidFill>
              </a:rPr>
              <a:t>THANK</a:t>
            </a:r>
            <a:r>
              <a:rPr dirty="0" sz="3900" spc="-265">
                <a:solidFill>
                  <a:srgbClr val="FFFFFF"/>
                </a:solidFill>
              </a:rPr>
              <a:t> </a:t>
            </a:r>
            <a:r>
              <a:rPr dirty="0" sz="3900" spc="-630">
                <a:solidFill>
                  <a:srgbClr val="FFFFFF"/>
                </a:solidFill>
              </a:rPr>
              <a:t>YOU</a:t>
            </a:r>
            <a:endParaRPr sz="3900"/>
          </a:p>
        </p:txBody>
      </p:sp>
      <p:sp>
        <p:nvSpPr>
          <p:cNvPr id="9" name="object 9" descr=""/>
          <p:cNvSpPr/>
          <p:nvPr/>
        </p:nvSpPr>
        <p:spPr>
          <a:xfrm>
            <a:off x="2558795" y="4643628"/>
            <a:ext cx="289560" cy="66040"/>
          </a:xfrm>
          <a:custGeom>
            <a:avLst/>
            <a:gdLst/>
            <a:ahLst/>
            <a:cxnLst/>
            <a:rect l="l" t="t" r="r" b="b"/>
            <a:pathLst>
              <a:path w="289560" h="66039">
                <a:moveTo>
                  <a:pt x="289560" y="0"/>
                </a:moveTo>
                <a:lnTo>
                  <a:pt x="0" y="0"/>
                </a:lnTo>
                <a:lnTo>
                  <a:pt x="0" y="65532"/>
                </a:lnTo>
                <a:lnTo>
                  <a:pt x="289560" y="65532"/>
                </a:lnTo>
                <a:lnTo>
                  <a:pt x="289560" y="0"/>
                </a:lnTo>
                <a:close/>
              </a:path>
            </a:pathLst>
          </a:custGeom>
          <a:solidFill>
            <a:srgbClr val="BA55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728777" y="5011737"/>
            <a:ext cx="1205865" cy="5486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b="1">
                <a:solidFill>
                  <a:srgbClr val="000044"/>
                </a:solidFill>
                <a:latin typeface="Microsoft YaHei UI"/>
                <a:cs typeface="Microsoft YaHei UI"/>
              </a:rPr>
              <a:t>FOLLOW</a:t>
            </a:r>
            <a:r>
              <a:rPr dirty="0" sz="1550" spc="-90" b="1">
                <a:solidFill>
                  <a:srgbClr val="000044"/>
                </a:solidFill>
                <a:latin typeface="Microsoft YaHei UI"/>
                <a:cs typeface="Microsoft YaHei UI"/>
              </a:rPr>
              <a:t> </a:t>
            </a:r>
            <a:r>
              <a:rPr dirty="0" sz="1550" spc="-25" b="1">
                <a:solidFill>
                  <a:srgbClr val="000044"/>
                </a:solidFill>
                <a:latin typeface="Microsoft YaHei UI"/>
                <a:cs typeface="Microsoft YaHei UI"/>
              </a:rPr>
              <a:t>US</a:t>
            </a:r>
            <a:endParaRPr sz="1550">
              <a:latin typeface="Microsoft YaHei UI"/>
              <a:cs typeface="Microsoft YaHei UI"/>
            </a:endParaRPr>
          </a:p>
          <a:p>
            <a:pPr marL="33020">
              <a:lnSpc>
                <a:spcPct val="100000"/>
              </a:lnSpc>
              <a:spcBef>
                <a:spcPts val="1340"/>
              </a:spcBef>
            </a:pPr>
            <a:r>
              <a:rPr dirty="0" sz="750" spc="-10" b="1">
                <a:solidFill>
                  <a:srgbClr val="BA55A0"/>
                </a:solidFill>
                <a:latin typeface="Microsoft YaHei UI"/>
                <a:cs typeface="Microsoft YaHei UI"/>
              </a:rPr>
              <a:t>@XJTLU</a:t>
            </a:r>
            <a:endParaRPr sz="750">
              <a:latin typeface="Microsoft YaHei UI"/>
              <a:cs typeface="Microsoft YaHei U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751319" y="4643628"/>
            <a:ext cx="289560" cy="66040"/>
          </a:xfrm>
          <a:custGeom>
            <a:avLst/>
            <a:gdLst/>
            <a:ahLst/>
            <a:cxnLst/>
            <a:rect l="l" t="t" r="r" b="b"/>
            <a:pathLst>
              <a:path w="289559" h="66039">
                <a:moveTo>
                  <a:pt x="289559" y="0"/>
                </a:moveTo>
                <a:lnTo>
                  <a:pt x="0" y="0"/>
                </a:lnTo>
                <a:lnTo>
                  <a:pt x="0" y="65532"/>
                </a:lnTo>
                <a:lnTo>
                  <a:pt x="289559" y="65532"/>
                </a:lnTo>
                <a:lnTo>
                  <a:pt x="289559" y="0"/>
                </a:lnTo>
                <a:close/>
              </a:path>
            </a:pathLst>
          </a:custGeom>
          <a:solidFill>
            <a:srgbClr val="BA55A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5622035" y="4570476"/>
            <a:ext cx="1036319" cy="975360"/>
            <a:chOff x="5622035" y="4570476"/>
            <a:chExt cx="1036319" cy="975360"/>
          </a:xfrm>
        </p:grpSpPr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22035" y="4570476"/>
              <a:ext cx="1036319" cy="49228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29655" y="5077968"/>
              <a:ext cx="492251" cy="46786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73723" y="5053584"/>
              <a:ext cx="483107" cy="4922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2025-12-08T08:17:29Z</dcterms:created>
  <dcterms:modified xsi:type="dcterms:W3CDTF">2025-12-08T08:17:29Z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2025-12-08T00:00:00Z</vt:filetime>
  </property>
  <property fmtid="{D5CDD505-2E9C-101B-9397-08002B2CF9AE}" pid="3" name="LastSaved">
    <vt:filetime>2025-12-08T00:00:00Z</vt:filetime>
  </property>
  <property fmtid="{D5CDD505-2E9C-101B-9397-08002B2CF9AE}" pid="4" name="Producer">
    <vt:lpwstr>iOS Version 26.1 (Build 23B85) Quartz PDFContext</vt:lpwstr>
  </property>
</Properties>
</file>