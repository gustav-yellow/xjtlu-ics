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6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00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19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1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2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3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9677" y="395922"/>
            <a:ext cx="7550150" cy="12683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2748" y="2853144"/>
            <a:ext cx="376047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11.jp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76.png"/><Relationship Id="rId19" Type="http://schemas.openxmlformats.org/officeDocument/2006/relationships/image" Target="../media/image77.png"/><Relationship Id="rId20" Type="http://schemas.openxmlformats.org/officeDocument/2006/relationships/image" Target="../media/image7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jp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1.jp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125.png"/><Relationship Id="rId17" Type="http://schemas.openxmlformats.org/officeDocument/2006/relationships/image" Target="../media/image126.png"/><Relationship Id="rId18" Type="http://schemas.openxmlformats.org/officeDocument/2006/relationships/image" Target="../media/image127.png"/><Relationship Id="rId19" Type="http://schemas.openxmlformats.org/officeDocument/2006/relationships/image" Target="../media/image12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12.png"/><Relationship Id="rId4" Type="http://schemas.openxmlformats.org/officeDocument/2006/relationships/image" Target="../media/image130.png"/><Relationship Id="rId5" Type="http://schemas.openxmlformats.org/officeDocument/2006/relationships/image" Target="../media/image131.jp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Relationship Id="rId11" Type="http://schemas.openxmlformats.org/officeDocument/2006/relationships/image" Target="../media/image137.png"/><Relationship Id="rId12" Type="http://schemas.openxmlformats.org/officeDocument/2006/relationships/image" Target="../media/image138.png"/><Relationship Id="rId13" Type="http://schemas.openxmlformats.org/officeDocument/2006/relationships/image" Target="../media/image139.png"/><Relationship Id="rId14" Type="http://schemas.openxmlformats.org/officeDocument/2006/relationships/image" Target="../media/image140.png"/><Relationship Id="rId15" Type="http://schemas.openxmlformats.org/officeDocument/2006/relationships/image" Target="../media/image141.png"/><Relationship Id="rId16" Type="http://schemas.openxmlformats.org/officeDocument/2006/relationships/image" Target="../media/image14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1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Relationship Id="rId10" Type="http://schemas.openxmlformats.org/officeDocument/2006/relationships/image" Target="../media/image149.png"/><Relationship Id="rId11" Type="http://schemas.openxmlformats.org/officeDocument/2006/relationships/image" Target="../media/image150.png"/><Relationship Id="rId12" Type="http://schemas.openxmlformats.org/officeDocument/2006/relationships/image" Target="../media/image151.jpg"/><Relationship Id="rId13" Type="http://schemas.openxmlformats.org/officeDocument/2006/relationships/image" Target="../media/image152.png"/><Relationship Id="rId14" Type="http://schemas.openxmlformats.org/officeDocument/2006/relationships/image" Target="../media/image15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12.png"/><Relationship Id="rId4" Type="http://schemas.openxmlformats.org/officeDocument/2006/relationships/image" Target="../media/image154.png"/><Relationship Id="rId5" Type="http://schemas.openxmlformats.org/officeDocument/2006/relationships/image" Target="../media/image155.jpg"/><Relationship Id="rId6" Type="http://schemas.openxmlformats.org/officeDocument/2006/relationships/image" Target="../media/image156.jp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12.png"/><Relationship Id="rId4" Type="http://schemas.openxmlformats.org/officeDocument/2006/relationships/image" Target="../media/image170.png"/><Relationship Id="rId5" Type="http://schemas.openxmlformats.org/officeDocument/2006/relationships/image" Target="../media/image171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12.png"/><Relationship Id="rId4" Type="http://schemas.openxmlformats.org/officeDocument/2006/relationships/image" Target="../media/image172.png"/><Relationship Id="rId5" Type="http://schemas.openxmlformats.org/officeDocument/2006/relationships/image" Target="../media/image173.jpg"/><Relationship Id="rId6" Type="http://schemas.openxmlformats.org/officeDocument/2006/relationships/image" Target="../media/image15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Relationship Id="rId17" Type="http://schemas.openxmlformats.org/officeDocument/2006/relationships/image" Target="../media/image189.png"/><Relationship Id="rId18" Type="http://schemas.openxmlformats.org/officeDocument/2006/relationships/image" Target="../media/image190.png"/><Relationship Id="rId19" Type="http://schemas.openxmlformats.org/officeDocument/2006/relationships/image" Target="../media/image191.png"/><Relationship Id="rId20" Type="http://schemas.openxmlformats.org/officeDocument/2006/relationships/image" Target="../media/image192.png"/><Relationship Id="rId21" Type="http://schemas.openxmlformats.org/officeDocument/2006/relationships/image" Target="../media/image193.png"/><Relationship Id="rId22" Type="http://schemas.openxmlformats.org/officeDocument/2006/relationships/image" Target="../media/image194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5.jpg"/><Relationship Id="rId3" Type="http://schemas.openxmlformats.org/officeDocument/2006/relationships/image" Target="../media/image129.jpg"/><Relationship Id="rId4" Type="http://schemas.openxmlformats.org/officeDocument/2006/relationships/image" Target="../media/image112.png"/><Relationship Id="rId5" Type="http://schemas.openxmlformats.org/officeDocument/2006/relationships/image" Target="../media/image19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Relationship Id="rId12" Type="http://schemas.openxmlformats.org/officeDocument/2006/relationships/image" Target="../media/image207.png"/><Relationship Id="rId13" Type="http://schemas.openxmlformats.org/officeDocument/2006/relationships/image" Target="../media/image208.png"/><Relationship Id="rId14" Type="http://schemas.openxmlformats.org/officeDocument/2006/relationships/image" Target="../media/image209.png"/><Relationship Id="rId15" Type="http://schemas.openxmlformats.org/officeDocument/2006/relationships/image" Target="../media/image210.png"/><Relationship Id="rId16" Type="http://schemas.openxmlformats.org/officeDocument/2006/relationships/image" Target="../media/image211.png"/><Relationship Id="rId17" Type="http://schemas.openxmlformats.org/officeDocument/2006/relationships/image" Target="../media/image212.png"/><Relationship Id="rId18" Type="http://schemas.openxmlformats.org/officeDocument/2006/relationships/image" Target="../media/image213.png"/><Relationship Id="rId19" Type="http://schemas.openxmlformats.org/officeDocument/2006/relationships/image" Target="../media/image214.png"/><Relationship Id="rId20" Type="http://schemas.openxmlformats.org/officeDocument/2006/relationships/image" Target="../media/image215.png"/><Relationship Id="rId21" Type="http://schemas.openxmlformats.org/officeDocument/2006/relationships/image" Target="../media/image216.png"/><Relationship Id="rId22" Type="http://schemas.openxmlformats.org/officeDocument/2006/relationships/image" Target="../media/image217.png"/><Relationship Id="rId23" Type="http://schemas.openxmlformats.org/officeDocument/2006/relationships/image" Target="../media/image218.png"/><Relationship Id="rId24" Type="http://schemas.openxmlformats.org/officeDocument/2006/relationships/image" Target="../media/image219.png"/><Relationship Id="rId25" Type="http://schemas.openxmlformats.org/officeDocument/2006/relationships/image" Target="../media/image220.png"/><Relationship Id="rId26" Type="http://schemas.openxmlformats.org/officeDocument/2006/relationships/image" Target="../media/image221.png"/><Relationship Id="rId27" Type="http://schemas.openxmlformats.org/officeDocument/2006/relationships/image" Target="../media/image222.png"/><Relationship Id="rId28" Type="http://schemas.openxmlformats.org/officeDocument/2006/relationships/image" Target="../media/image223.png"/><Relationship Id="rId29" Type="http://schemas.openxmlformats.org/officeDocument/2006/relationships/image" Target="../media/image224.png"/><Relationship Id="rId30" Type="http://schemas.openxmlformats.org/officeDocument/2006/relationships/image" Target="../media/image225.png"/><Relationship Id="rId31" Type="http://schemas.openxmlformats.org/officeDocument/2006/relationships/image" Target="../media/image226.png"/><Relationship Id="rId32" Type="http://schemas.openxmlformats.org/officeDocument/2006/relationships/image" Target="../media/image227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jp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7.jpg"/><Relationship Id="rId3" Type="http://schemas.openxmlformats.org/officeDocument/2006/relationships/image" Target="../media/image5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238.jpg"/><Relationship Id="rId6" Type="http://schemas.openxmlformats.org/officeDocument/2006/relationships/image" Target="../media/image239.png"/><Relationship Id="rId7" Type="http://schemas.openxmlformats.org/officeDocument/2006/relationships/image" Target="../media/image240.png"/><Relationship Id="rId8" Type="http://schemas.openxmlformats.org/officeDocument/2006/relationships/image" Target="../media/image241.jpg"/><Relationship Id="rId9" Type="http://schemas.openxmlformats.org/officeDocument/2006/relationships/image" Target="../media/image242.jpg"/><Relationship Id="rId10" Type="http://schemas.openxmlformats.org/officeDocument/2006/relationships/image" Target="../media/image24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5073332"/>
            <a:ext cx="3115945" cy="6229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25"/>
              </a:spcBef>
            </a:pPr>
            <a:r>
              <a:rPr dirty="0" sz="1800" spc="-254" b="1">
                <a:solidFill>
                  <a:srgbClr val="000044"/>
                </a:solidFill>
                <a:latin typeface="Arial"/>
                <a:cs typeface="Arial"/>
              </a:rPr>
              <a:t>RECURRENT</a:t>
            </a:r>
            <a:r>
              <a:rPr dirty="0" sz="1800" spc="-8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229" b="1">
                <a:solidFill>
                  <a:srgbClr val="000044"/>
                </a:solidFill>
                <a:latin typeface="Arial"/>
                <a:cs typeface="Arial"/>
              </a:rPr>
              <a:t>NEURAL</a:t>
            </a:r>
            <a:r>
              <a:rPr dirty="0" sz="1800" spc="-8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190" b="1">
                <a:solidFill>
                  <a:srgbClr val="000044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150" b="1">
                <a:latin typeface="Arial"/>
                <a:cs typeface="Arial"/>
              </a:rPr>
              <a:t>INT301</a:t>
            </a:r>
            <a:r>
              <a:rPr dirty="0" sz="1150" spc="37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Bio-computation,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Week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9,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2025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8876" y="5112423"/>
            <a:ext cx="1294156" cy="4322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87200" y="5167223"/>
            <a:ext cx="234391" cy="35306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86191" y="5139245"/>
            <a:ext cx="285704" cy="373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61427" y="1965540"/>
            <a:ext cx="7376159" cy="309689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RNN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were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introduced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late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80’s.</a:t>
            </a:r>
            <a:endParaRPr sz="2800">
              <a:latin typeface="Tahoma"/>
              <a:cs typeface="Tahoma"/>
            </a:endParaRPr>
          </a:p>
          <a:p>
            <a:pPr lvl="1" marL="755015" marR="52451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Hochreiter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discovers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‘vanishing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gradients’ </a:t>
            </a:r>
            <a:r>
              <a:rPr dirty="0" sz="2400">
                <a:latin typeface="Tahoma"/>
                <a:cs typeface="Tahoma"/>
              </a:rPr>
              <a:t>problem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1991.</a:t>
            </a: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Clr>
                <a:srgbClr val="FF0000"/>
              </a:buClr>
              <a:buFont typeface="Tahoma"/>
              <a:buChar char="■"/>
            </a:pP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Long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Short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Term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published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1997.</a:t>
            </a:r>
            <a:endParaRPr sz="2800">
              <a:latin typeface="Tahoma"/>
              <a:cs typeface="Tahoma"/>
            </a:endParaRPr>
          </a:p>
          <a:p>
            <a:pPr lvl="1" marL="755015" marR="66167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LSTM: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recurrent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overcome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this </a:t>
            </a:r>
            <a:r>
              <a:rPr dirty="0" sz="2400" spc="-10">
                <a:latin typeface="Tahoma"/>
                <a:cs typeface="Tahoma"/>
              </a:rPr>
              <a:t>problem.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Motivation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61427" y="1995487"/>
            <a:ext cx="6684009" cy="36658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2635"/>
              </a:lnSpc>
              <a:spcBef>
                <a:spcPts val="95"/>
              </a:spcBef>
              <a:buClr>
                <a:srgbClr val="3333CC"/>
              </a:buClr>
              <a:buSzPct val="59090"/>
              <a:buChar char="■"/>
              <a:tabLst>
                <a:tab pos="354965" algn="l"/>
              </a:tabLst>
            </a:pPr>
            <a:r>
              <a:rPr dirty="0" sz="2200">
                <a:latin typeface="Tahoma"/>
                <a:cs typeface="Tahoma"/>
              </a:rPr>
              <a:t>Feed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forward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networks</a:t>
            </a:r>
            <a:endParaRPr sz="2200">
              <a:latin typeface="Tahoma"/>
              <a:cs typeface="Tahoma"/>
            </a:endParaRPr>
          </a:p>
          <a:p>
            <a:pPr lvl="1" marL="755015" indent="-285750">
              <a:lnSpc>
                <a:spcPts val="2270"/>
              </a:lnSpc>
              <a:buClr>
                <a:srgbClr val="FF0000"/>
              </a:buClr>
              <a:buSzPct val="52631"/>
              <a:buChar char="■"/>
              <a:tabLst>
                <a:tab pos="755015" algn="l"/>
              </a:tabLst>
            </a:pPr>
            <a:r>
              <a:rPr dirty="0" sz="1900">
                <a:latin typeface="Tahoma"/>
                <a:cs typeface="Tahoma"/>
              </a:rPr>
              <a:t>accept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fixed-</a:t>
            </a:r>
            <a:r>
              <a:rPr dirty="0" sz="1900">
                <a:latin typeface="Tahoma"/>
                <a:cs typeface="Tahoma"/>
              </a:rPr>
              <a:t>sized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vector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as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input</a:t>
            </a:r>
            <a:endParaRPr sz="1900">
              <a:latin typeface="Tahoma"/>
              <a:cs typeface="Tahoma"/>
            </a:endParaRPr>
          </a:p>
          <a:p>
            <a:pPr lvl="1" marL="755015" indent="-285750">
              <a:lnSpc>
                <a:spcPts val="2275"/>
              </a:lnSpc>
              <a:buClr>
                <a:srgbClr val="FF0000"/>
              </a:buClr>
              <a:buSzPct val="52631"/>
              <a:buChar char="■"/>
              <a:tabLst>
                <a:tab pos="755015" algn="l"/>
              </a:tabLst>
            </a:pPr>
            <a:r>
              <a:rPr dirty="0" sz="1900">
                <a:latin typeface="Tahoma"/>
                <a:cs typeface="Tahoma"/>
              </a:rPr>
              <a:t>produce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fixed-</a:t>
            </a:r>
            <a:r>
              <a:rPr dirty="0" sz="1900">
                <a:latin typeface="Tahoma"/>
                <a:cs typeface="Tahoma"/>
              </a:rPr>
              <a:t>sized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vector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as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output</a:t>
            </a:r>
            <a:endParaRPr sz="1900">
              <a:latin typeface="Tahoma"/>
              <a:cs typeface="Tahoma"/>
            </a:endParaRPr>
          </a:p>
          <a:p>
            <a:pPr lvl="1" marL="755015" indent="-285750">
              <a:lnSpc>
                <a:spcPts val="2280"/>
              </a:lnSpc>
              <a:buClr>
                <a:srgbClr val="FF0000"/>
              </a:buClr>
              <a:buSzPct val="52631"/>
              <a:buChar char="■"/>
              <a:tabLst>
                <a:tab pos="755015" algn="l"/>
              </a:tabLst>
            </a:pPr>
            <a:r>
              <a:rPr dirty="0" sz="1900">
                <a:latin typeface="Tahoma"/>
                <a:cs typeface="Tahoma"/>
              </a:rPr>
              <a:t>usually</a:t>
            </a:r>
            <a:r>
              <a:rPr dirty="0" sz="1900" spc="-6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fixed</a:t>
            </a:r>
            <a:r>
              <a:rPr dirty="0" sz="1900" spc="-6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amount</a:t>
            </a:r>
            <a:r>
              <a:rPr dirty="0" sz="1900" spc="-6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of</a:t>
            </a:r>
            <a:r>
              <a:rPr dirty="0" sz="1900" spc="-6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computational</a:t>
            </a:r>
            <a:r>
              <a:rPr dirty="0" sz="1900" spc="-6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steps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869"/>
              </a:spcBef>
              <a:buClr>
                <a:srgbClr val="FF0000"/>
              </a:buClr>
              <a:buFont typeface="Tahoma"/>
              <a:buChar char="■"/>
            </a:pPr>
            <a:endParaRPr sz="1900">
              <a:latin typeface="Tahoma"/>
              <a:cs typeface="Tahoma"/>
            </a:endParaRPr>
          </a:p>
          <a:p>
            <a:pPr marL="355600" marR="830580" indent="-342900">
              <a:lnSpc>
                <a:spcPct val="79900"/>
              </a:lnSpc>
              <a:buClr>
                <a:srgbClr val="3333CC"/>
              </a:buClr>
              <a:buSzPct val="59090"/>
              <a:buChar char="■"/>
              <a:tabLst>
                <a:tab pos="355600" algn="l"/>
              </a:tabLst>
            </a:pPr>
            <a:r>
              <a:rPr dirty="0" sz="2200">
                <a:latin typeface="Tahoma"/>
                <a:cs typeface="Tahoma"/>
              </a:rPr>
              <a:t>Recurrent</a:t>
            </a:r>
            <a:r>
              <a:rPr dirty="0" sz="2200" spc="-4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networks</a:t>
            </a:r>
            <a:r>
              <a:rPr dirty="0" sz="2200" spc="-4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allow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us</a:t>
            </a:r>
            <a:r>
              <a:rPr dirty="0" sz="2200" spc="-4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to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operate</a:t>
            </a:r>
            <a:r>
              <a:rPr dirty="0" sz="2200" spc="-40">
                <a:latin typeface="Tahoma"/>
                <a:cs typeface="Tahoma"/>
              </a:rPr>
              <a:t> </a:t>
            </a:r>
            <a:r>
              <a:rPr dirty="0" sz="2200" spc="-20">
                <a:latin typeface="Tahoma"/>
                <a:cs typeface="Tahoma"/>
              </a:rPr>
              <a:t>over </a:t>
            </a:r>
            <a:r>
              <a:rPr dirty="0" sz="2200">
                <a:latin typeface="Tahoma"/>
                <a:cs typeface="Tahoma"/>
              </a:rPr>
              <a:t>sequences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of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vectors</a:t>
            </a:r>
            <a:endParaRPr sz="2200">
              <a:latin typeface="Tahoma"/>
              <a:cs typeface="Tahoma"/>
            </a:endParaRPr>
          </a:p>
          <a:p>
            <a:pPr lvl="1" marL="755015" marR="5080" indent="-285750">
              <a:lnSpc>
                <a:spcPct val="79800"/>
              </a:lnSpc>
              <a:spcBef>
                <a:spcPts val="450"/>
              </a:spcBef>
              <a:buClr>
                <a:srgbClr val="FF0000"/>
              </a:buClr>
              <a:buSzPct val="52631"/>
              <a:buChar char="■"/>
              <a:tabLst>
                <a:tab pos="755015" algn="l"/>
              </a:tabLst>
            </a:pPr>
            <a:r>
              <a:rPr dirty="0" sz="1900">
                <a:latin typeface="Tahoma"/>
                <a:cs typeface="Tahoma"/>
              </a:rPr>
              <a:t>the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idea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behind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RNNs</a:t>
            </a:r>
            <a:r>
              <a:rPr dirty="0" sz="1900" spc="-2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is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to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make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use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of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sequential </a:t>
            </a:r>
            <a:r>
              <a:rPr dirty="0" sz="1900">
                <a:latin typeface="Tahoma"/>
                <a:cs typeface="Tahoma"/>
              </a:rPr>
              <a:t>information,</a:t>
            </a:r>
            <a:r>
              <a:rPr dirty="0" sz="1900" spc="-5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as</a:t>
            </a:r>
            <a:r>
              <a:rPr dirty="0" sz="1900" spc="-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in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traditional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neural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network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all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inputs </a:t>
            </a:r>
            <a:r>
              <a:rPr dirty="0" sz="1900">
                <a:latin typeface="Tahoma"/>
                <a:cs typeface="Tahoma"/>
              </a:rPr>
              <a:t>(and</a:t>
            </a:r>
            <a:r>
              <a:rPr dirty="0" sz="1900" spc="-5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outputs)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are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assumed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independent</a:t>
            </a:r>
            <a:r>
              <a:rPr dirty="0" sz="1900" spc="-5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of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each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other</a:t>
            </a:r>
            <a:endParaRPr sz="1900">
              <a:latin typeface="Tahoma"/>
              <a:cs typeface="Tahoma"/>
            </a:endParaRPr>
          </a:p>
          <a:p>
            <a:pPr lvl="1" marL="755015" marR="39370" indent="-285750">
              <a:lnSpc>
                <a:spcPct val="79800"/>
              </a:lnSpc>
              <a:spcBef>
                <a:spcPts val="455"/>
              </a:spcBef>
              <a:buClr>
                <a:srgbClr val="FF0000"/>
              </a:buClr>
              <a:buSzPct val="52631"/>
              <a:buChar char="■"/>
              <a:tabLst>
                <a:tab pos="755015" algn="l"/>
              </a:tabLst>
            </a:pPr>
            <a:r>
              <a:rPr dirty="0" sz="1900">
                <a:latin typeface="Tahoma"/>
                <a:cs typeface="Tahoma"/>
              </a:rPr>
              <a:t>but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for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many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tasks</a:t>
            </a:r>
            <a:r>
              <a:rPr dirty="0" sz="1900" spc="-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that’s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very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bad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idea: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if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you</a:t>
            </a:r>
            <a:r>
              <a:rPr dirty="0" sz="1900" spc="-30">
                <a:latin typeface="Tahoma"/>
                <a:cs typeface="Tahoma"/>
              </a:rPr>
              <a:t> </a:t>
            </a:r>
            <a:r>
              <a:rPr dirty="0" sz="1900" spc="-20">
                <a:latin typeface="Tahoma"/>
                <a:cs typeface="Tahoma"/>
              </a:rPr>
              <a:t>want </a:t>
            </a:r>
            <a:r>
              <a:rPr dirty="0" sz="1900">
                <a:latin typeface="Tahoma"/>
                <a:cs typeface="Tahoma"/>
              </a:rPr>
              <a:t>to</a:t>
            </a:r>
            <a:r>
              <a:rPr dirty="0" sz="1900" spc="-4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predict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the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next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word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in</a:t>
            </a:r>
            <a:r>
              <a:rPr dirty="0" sz="1900" spc="-4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sentence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you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better</a:t>
            </a:r>
            <a:r>
              <a:rPr dirty="0" sz="1900" spc="-35">
                <a:latin typeface="Tahoma"/>
                <a:cs typeface="Tahoma"/>
              </a:rPr>
              <a:t> </a:t>
            </a:r>
            <a:r>
              <a:rPr dirty="0" sz="1900" spc="-20">
                <a:latin typeface="Tahoma"/>
                <a:cs typeface="Tahoma"/>
              </a:rPr>
              <a:t>know </a:t>
            </a:r>
            <a:r>
              <a:rPr dirty="0" sz="1900">
                <a:latin typeface="Tahoma"/>
                <a:cs typeface="Tahoma"/>
              </a:rPr>
              <a:t>which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words</a:t>
            </a:r>
            <a:r>
              <a:rPr dirty="0" sz="1900" spc="-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came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before</a:t>
            </a:r>
            <a:r>
              <a:rPr dirty="0" sz="1900" spc="-50">
                <a:latin typeface="Tahoma"/>
                <a:cs typeface="Tahoma"/>
              </a:rPr>
              <a:t> </a:t>
            </a:r>
            <a:r>
              <a:rPr dirty="0" sz="1900" spc="-25">
                <a:latin typeface="Tahoma"/>
                <a:cs typeface="Tahoma"/>
              </a:rPr>
              <a:t>it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4780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5600" y="2296185"/>
            <a:ext cx="4640580" cy="419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1390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perform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same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for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every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element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sequence,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output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being </a:t>
            </a:r>
            <a:r>
              <a:rPr dirty="0" sz="1800">
                <a:latin typeface="Tahoma"/>
                <a:cs typeface="Tahoma"/>
              </a:rPr>
              <a:t>depended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previous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computations (memory).</a:t>
            </a:r>
            <a:endParaRPr sz="1800">
              <a:latin typeface="Tahoma"/>
              <a:cs typeface="Tahoma"/>
            </a:endParaRPr>
          </a:p>
          <a:p>
            <a:pPr marL="755015" indent="-285115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015" algn="l"/>
              </a:tabLst>
            </a:pPr>
            <a:r>
              <a:rPr dirty="0" sz="1600">
                <a:latin typeface="Tahoma"/>
                <a:cs typeface="Tahoma"/>
              </a:rPr>
              <a:t>inputs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x(t)</a:t>
            </a:r>
            <a:endParaRPr sz="1600">
              <a:latin typeface="Tahoma"/>
              <a:cs typeface="Tahoma"/>
            </a:endParaRPr>
          </a:p>
          <a:p>
            <a:pPr marL="755015" indent="-285115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015" algn="l"/>
              </a:tabLst>
            </a:pPr>
            <a:r>
              <a:rPr dirty="0" sz="1600">
                <a:latin typeface="Tahoma"/>
                <a:cs typeface="Tahoma"/>
              </a:rPr>
              <a:t>outputs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y(t)</a:t>
            </a:r>
            <a:endParaRPr sz="1600">
              <a:latin typeface="Tahoma"/>
              <a:cs typeface="Tahoma"/>
            </a:endParaRPr>
          </a:p>
          <a:p>
            <a:pPr marL="755015" indent="-285115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015" algn="l"/>
              </a:tabLst>
            </a:pPr>
            <a:r>
              <a:rPr dirty="0" sz="1600">
                <a:latin typeface="Tahoma"/>
                <a:cs typeface="Tahoma"/>
              </a:rPr>
              <a:t>hidden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state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s(t):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memory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network</a:t>
            </a:r>
            <a:endParaRPr sz="1600">
              <a:latin typeface="Tahoma"/>
              <a:cs typeface="Tahoma"/>
            </a:endParaRPr>
          </a:p>
          <a:p>
            <a:pPr marL="755650" marR="5080" indent="-28575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delay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unit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is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introduced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hold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activation </a:t>
            </a:r>
            <a:r>
              <a:rPr dirty="0" sz="1600">
                <a:latin typeface="Tahoma"/>
                <a:cs typeface="Tahoma"/>
              </a:rPr>
              <a:t>until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they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are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processed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at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next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step</a:t>
            </a:r>
            <a:endParaRPr sz="1600">
              <a:latin typeface="Tahoma"/>
              <a:cs typeface="Tahoma"/>
            </a:endParaRPr>
          </a:p>
          <a:p>
            <a:pPr marL="354965" marR="288925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decision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reached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at </a:t>
            </a:r>
            <a:r>
              <a:rPr dirty="0" sz="1800">
                <a:latin typeface="Tahoma"/>
                <a:cs typeface="Tahoma"/>
              </a:rPr>
              <a:t>time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step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t-</a:t>
            </a:r>
            <a:r>
              <a:rPr dirty="0" sz="1800">
                <a:latin typeface="Tahoma"/>
                <a:cs typeface="Tahoma"/>
              </a:rPr>
              <a:t>1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affects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decision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will </a:t>
            </a:r>
            <a:r>
              <a:rPr dirty="0" sz="1800">
                <a:latin typeface="Tahoma"/>
                <a:cs typeface="Tahoma"/>
              </a:rPr>
              <a:t>reach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moment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later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time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step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t</a:t>
            </a:r>
            <a:endParaRPr sz="1800">
              <a:latin typeface="Tahoma"/>
              <a:cs typeface="Tahoma"/>
            </a:endParaRPr>
          </a:p>
          <a:p>
            <a:pPr algn="just" lvl="1" marL="752475" marR="146050" indent="-282575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53125"/>
              <a:buChar char="■"/>
              <a:tabLst>
                <a:tab pos="755650" algn="l"/>
              </a:tabLst>
            </a:pPr>
            <a:r>
              <a:rPr dirty="0" sz="1600">
                <a:latin typeface="Tahoma"/>
                <a:cs typeface="Tahoma"/>
              </a:rPr>
              <a:t>two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sources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input: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present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25">
                <a:latin typeface="Tahoma"/>
                <a:cs typeface="Tahoma"/>
              </a:rPr>
              <a:t> the </a:t>
            </a:r>
            <a:r>
              <a:rPr dirty="0" sz="1600" spc="-25">
                <a:latin typeface="Tahoma"/>
                <a:cs typeface="Tahoma"/>
              </a:rPr>
              <a:t>	</a:t>
            </a:r>
            <a:r>
              <a:rPr dirty="0" sz="1600">
                <a:latin typeface="Tahoma"/>
                <a:cs typeface="Tahoma"/>
              </a:rPr>
              <a:t>recent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past,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which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combine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determine </a:t>
            </a:r>
            <a:r>
              <a:rPr dirty="0" sz="1600" spc="-10">
                <a:latin typeface="Tahoma"/>
                <a:cs typeface="Tahoma"/>
              </a:rPr>
              <a:t>	</a:t>
            </a:r>
            <a:r>
              <a:rPr dirty="0" sz="1600">
                <a:latin typeface="Tahoma"/>
                <a:cs typeface="Tahoma"/>
              </a:rPr>
              <a:t>how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they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respond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new</a:t>
            </a:r>
            <a:r>
              <a:rPr dirty="0" sz="1600" spc="-20">
                <a:latin typeface="Tahoma"/>
                <a:cs typeface="Tahoma"/>
              </a:rPr>
              <a:t> data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008" y="2622519"/>
            <a:ext cx="3810416" cy="328478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818" y="360095"/>
            <a:ext cx="588017" cy="27369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263" y="278060"/>
            <a:ext cx="2717549" cy="42456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3358" y="310464"/>
            <a:ext cx="519449" cy="38202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2144" y="1879980"/>
            <a:ext cx="511924" cy="24293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4739" y="1809229"/>
            <a:ext cx="1677187" cy="32762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51611" y="1874862"/>
            <a:ext cx="1467243" cy="29281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55600" y="2021865"/>
            <a:ext cx="8204834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02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RNNs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called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because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they</a:t>
            </a:r>
            <a:endParaRPr sz="1800">
              <a:latin typeface="Tahoma"/>
              <a:cs typeface="Tahoma"/>
            </a:endParaRPr>
          </a:p>
          <a:p>
            <a:pPr marL="4643120">
              <a:lnSpc>
                <a:spcPts val="1180"/>
              </a:lnSpc>
            </a:pPr>
            <a:r>
              <a:rPr dirty="0" sz="1100" spc="-5">
                <a:latin typeface="Microsoft JhengHei UI"/>
                <a:cs typeface="Microsoft JhengHei UI"/>
              </a:rPr>
              <a:t>它的输出不仅取决于“当前的输⼊”，还取决于“上⼀步的计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86652" y="2455842"/>
            <a:ext cx="22872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latin typeface="Microsoft JhengHei UI"/>
                <a:cs typeface="Microsoft JhengHei UI"/>
              </a:rPr>
              <a:t>算结果”——这就是“记忆” </a:t>
            </a:r>
            <a:r>
              <a:rPr dirty="0" sz="1100" spc="-35">
                <a:latin typeface="Microsoft JhengHei UI"/>
                <a:cs typeface="Microsoft JhengHei UI"/>
              </a:rPr>
              <a:t>(memory)</a:t>
            </a:r>
            <a:endParaRPr sz="1100">
              <a:latin typeface="Microsoft JhengHei UI"/>
              <a:cs typeface="Microsoft JhengHei U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837376" y="3115373"/>
            <a:ext cx="2807335" cy="929640"/>
            <a:chOff x="1837376" y="3115373"/>
            <a:chExt cx="2807335" cy="929640"/>
          </a:xfrm>
        </p:grpSpPr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37376" y="3165386"/>
              <a:ext cx="568485" cy="17924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50439" y="3119831"/>
              <a:ext cx="646658" cy="21841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5760" y="3115373"/>
              <a:ext cx="2648921" cy="92938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90481" y="3875912"/>
              <a:ext cx="364149" cy="16757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24162" y="3893235"/>
              <a:ext cx="283298" cy="110375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4712499" y="3424770"/>
            <a:ext cx="4343400" cy="3331845"/>
            <a:chOff x="4712499" y="3424770"/>
            <a:chExt cx="4343400" cy="3331845"/>
          </a:xfrm>
        </p:grpSpPr>
        <p:pic>
          <p:nvPicPr>
            <p:cNvPr id="20" name="object 2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12499" y="3424770"/>
              <a:ext cx="487629" cy="19231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02031" y="5243842"/>
              <a:ext cx="342607" cy="21807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7081202" y="5350255"/>
              <a:ext cx="12700" cy="55244"/>
            </a:xfrm>
            <a:custGeom>
              <a:avLst/>
              <a:gdLst/>
              <a:ahLst/>
              <a:cxnLst/>
              <a:rect l="l" t="t" r="r" b="b"/>
              <a:pathLst>
                <a:path w="12700" h="55245">
                  <a:moveTo>
                    <a:pt x="9118" y="51231"/>
                  </a:moveTo>
                  <a:lnTo>
                    <a:pt x="8305" y="49999"/>
                  </a:lnTo>
                  <a:lnTo>
                    <a:pt x="8191" y="49822"/>
                  </a:lnTo>
                  <a:lnTo>
                    <a:pt x="7899" y="49504"/>
                  </a:lnTo>
                  <a:lnTo>
                    <a:pt x="7861" y="46951"/>
                  </a:lnTo>
                  <a:lnTo>
                    <a:pt x="6184" y="45300"/>
                  </a:lnTo>
                  <a:lnTo>
                    <a:pt x="2362" y="45300"/>
                  </a:lnTo>
                  <a:lnTo>
                    <a:pt x="863" y="46507"/>
                  </a:lnTo>
                  <a:lnTo>
                    <a:pt x="177" y="49504"/>
                  </a:lnTo>
                  <a:lnTo>
                    <a:pt x="114" y="49822"/>
                  </a:lnTo>
                  <a:lnTo>
                    <a:pt x="0" y="50342"/>
                  </a:lnTo>
                  <a:lnTo>
                    <a:pt x="698" y="52705"/>
                  </a:lnTo>
                  <a:lnTo>
                    <a:pt x="3924" y="54648"/>
                  </a:lnTo>
                  <a:lnTo>
                    <a:pt x="6057" y="54648"/>
                  </a:lnTo>
                  <a:lnTo>
                    <a:pt x="8763" y="52895"/>
                  </a:lnTo>
                  <a:lnTo>
                    <a:pt x="9118" y="51231"/>
                  </a:lnTo>
                  <a:close/>
                </a:path>
                <a:path w="12700" h="55245">
                  <a:moveTo>
                    <a:pt x="12649" y="8890"/>
                  </a:moveTo>
                  <a:lnTo>
                    <a:pt x="12014" y="4940"/>
                  </a:lnTo>
                  <a:lnTo>
                    <a:pt x="11290" y="3784"/>
                  </a:lnTo>
                  <a:lnTo>
                    <a:pt x="5930" y="0"/>
                  </a:lnTo>
                  <a:lnTo>
                    <a:pt x="3759" y="368"/>
                  </a:lnTo>
                  <a:lnTo>
                    <a:pt x="2120" y="2692"/>
                  </a:lnTo>
                  <a:lnTo>
                    <a:pt x="1905" y="3606"/>
                  </a:lnTo>
                  <a:lnTo>
                    <a:pt x="3009" y="10452"/>
                  </a:lnTo>
                  <a:lnTo>
                    <a:pt x="5511" y="12255"/>
                  </a:lnTo>
                  <a:lnTo>
                    <a:pt x="10833" y="11404"/>
                  </a:lnTo>
                  <a:lnTo>
                    <a:pt x="12649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35469" y="5844196"/>
              <a:ext cx="119125" cy="10474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971195" y="5917192"/>
              <a:ext cx="13335" cy="14604"/>
            </a:xfrm>
            <a:custGeom>
              <a:avLst/>
              <a:gdLst/>
              <a:ahLst/>
              <a:cxnLst/>
              <a:rect l="l" t="t" r="r" b="b"/>
              <a:pathLst>
                <a:path w="13334" h="14604">
                  <a:moveTo>
                    <a:pt x="5130" y="0"/>
                  </a:moveTo>
                  <a:lnTo>
                    <a:pt x="2807" y="0"/>
                  </a:lnTo>
                  <a:lnTo>
                    <a:pt x="279" y="2280"/>
                  </a:lnTo>
                  <a:lnTo>
                    <a:pt x="0" y="4097"/>
                  </a:lnTo>
                  <a:lnTo>
                    <a:pt x="5575" y="13622"/>
                  </a:lnTo>
                  <a:lnTo>
                    <a:pt x="8153" y="14296"/>
                  </a:lnTo>
                  <a:lnTo>
                    <a:pt x="12153" y="11948"/>
                  </a:lnTo>
                  <a:lnTo>
                    <a:pt x="12826" y="9371"/>
                  </a:lnTo>
                  <a:lnTo>
                    <a:pt x="11518" y="7118"/>
                  </a:lnTo>
                  <a:lnTo>
                    <a:pt x="11150" y="6673"/>
                  </a:lnTo>
                  <a:lnTo>
                    <a:pt x="51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01624" y="5527116"/>
              <a:ext cx="2454071" cy="12294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4780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</a:t>
            </a:r>
            <a:r>
              <a:rPr dirty="0" spc="-10"/>
              <a:t>Architecture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1941108"/>
            <a:ext cx="5925626" cy="224528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90295" y="4351896"/>
            <a:ext cx="7829550" cy="2196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706120">
              <a:lnSpc>
                <a:spcPct val="100000"/>
              </a:lnSpc>
              <a:spcBef>
                <a:spcPts val="110"/>
              </a:spcBef>
              <a:tabLst>
                <a:tab pos="2866390" algn="l"/>
                <a:tab pos="4924425" algn="l"/>
              </a:tabLst>
            </a:pPr>
            <a:r>
              <a:rPr dirty="0" sz="1550">
                <a:latin typeface="Tahoma"/>
                <a:cs typeface="Tahoma"/>
              </a:rPr>
              <a:t>feed</a:t>
            </a:r>
            <a:r>
              <a:rPr dirty="0" sz="1550" spc="-6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forward</a:t>
            </a:r>
            <a:r>
              <a:rPr dirty="0" sz="1550" spc="-60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NN</a:t>
            </a:r>
            <a:r>
              <a:rPr dirty="0" sz="1550">
                <a:latin typeface="Tahoma"/>
                <a:cs typeface="Tahoma"/>
              </a:rPr>
              <a:t>	a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simple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RNN</a:t>
            </a:r>
            <a:r>
              <a:rPr dirty="0" sz="1550">
                <a:latin typeface="Tahoma"/>
                <a:cs typeface="Tahoma"/>
              </a:rPr>
              <a:t>	fully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connected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RNN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550">
              <a:latin typeface="Tahoma"/>
              <a:cs typeface="Tahoma"/>
            </a:endParaRPr>
          </a:p>
          <a:p>
            <a:pPr marL="355600" marR="610870" indent="-342900">
              <a:lnSpc>
                <a:spcPct val="100000"/>
              </a:lnSpc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RNN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topologies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range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partly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recurrent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fully recurrent</a:t>
            </a:r>
            <a:endParaRPr sz="2400">
              <a:latin typeface="Tahoma"/>
              <a:cs typeface="Tahoma"/>
            </a:endParaRPr>
          </a:p>
          <a:p>
            <a:pPr lvl="1" marL="755650" marR="344805" indent="-28575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55555"/>
              <a:buChar char="■"/>
              <a:tabLst>
                <a:tab pos="755650" algn="l"/>
              </a:tabLst>
            </a:pPr>
            <a:r>
              <a:rPr dirty="0" sz="1800">
                <a:latin typeface="Tahoma"/>
                <a:cs typeface="Tahoma"/>
              </a:rPr>
              <a:t>partly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layered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network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distinct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output </a:t>
            </a:r>
            <a:r>
              <a:rPr dirty="0" sz="1800">
                <a:latin typeface="Tahoma"/>
                <a:cs typeface="Tahoma"/>
              </a:rPr>
              <a:t>layers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where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recurrence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limited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hidden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layer</a:t>
            </a:r>
            <a:endParaRPr sz="1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55555"/>
              <a:buChar char="■"/>
              <a:tabLst>
                <a:tab pos="755015" algn="l"/>
              </a:tabLst>
            </a:pP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fully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networks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node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gets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from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all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other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nodes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4720" y="586864"/>
            <a:ext cx="695580" cy="28453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7897" y="587501"/>
            <a:ext cx="631319" cy="30534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5157" y="488289"/>
            <a:ext cx="1958200" cy="38662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053647" y="557466"/>
            <a:ext cx="1275715" cy="356235"/>
            <a:chOff x="5053647" y="557466"/>
            <a:chExt cx="1275715" cy="356235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3647" y="557466"/>
              <a:ext cx="1274966" cy="3562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313499" y="852220"/>
              <a:ext cx="15875" cy="32384"/>
            </a:xfrm>
            <a:custGeom>
              <a:avLst/>
              <a:gdLst/>
              <a:ahLst/>
              <a:cxnLst/>
              <a:rect l="l" t="t" r="r" b="b"/>
              <a:pathLst>
                <a:path w="15875" h="32384">
                  <a:moveTo>
                    <a:pt x="10642" y="0"/>
                  </a:moveTo>
                  <a:lnTo>
                    <a:pt x="8813" y="1231"/>
                  </a:lnTo>
                  <a:lnTo>
                    <a:pt x="6868" y="11083"/>
                  </a:lnTo>
                  <a:lnTo>
                    <a:pt x="6807" y="11391"/>
                  </a:lnTo>
                  <a:lnTo>
                    <a:pt x="4381" y="19545"/>
                  </a:lnTo>
                  <a:lnTo>
                    <a:pt x="0" y="28778"/>
                  </a:lnTo>
                  <a:lnTo>
                    <a:pt x="685" y="30708"/>
                  </a:lnTo>
                  <a:lnTo>
                    <a:pt x="3848" y="32207"/>
                  </a:lnTo>
                  <a:lnTo>
                    <a:pt x="5715" y="31584"/>
                  </a:lnTo>
                  <a:lnTo>
                    <a:pt x="6515" y="30060"/>
                  </a:lnTo>
                  <a:lnTo>
                    <a:pt x="9427" y="23933"/>
                  </a:lnTo>
                  <a:lnTo>
                    <a:pt x="11830" y="17589"/>
                  </a:lnTo>
                  <a:lnTo>
                    <a:pt x="13674" y="11391"/>
                  </a:lnTo>
                  <a:lnTo>
                    <a:pt x="13766" y="11083"/>
                  </a:lnTo>
                  <a:lnTo>
                    <a:pt x="15278" y="4470"/>
                  </a:lnTo>
                  <a:lnTo>
                    <a:pt x="15646" y="2578"/>
                  </a:lnTo>
                  <a:lnTo>
                    <a:pt x="14427" y="749"/>
                  </a:lnTo>
                  <a:lnTo>
                    <a:pt x="106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95864" y="4663821"/>
            <a:ext cx="536841" cy="20819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06326" y="544563"/>
            <a:ext cx="2375011" cy="36252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9110" y="4647907"/>
            <a:ext cx="323532" cy="20060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17344" y="4630763"/>
            <a:ext cx="568236" cy="2772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1717548"/>
            <a:ext cx="8281416" cy="25923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85991" y="4813045"/>
            <a:ext cx="1183640" cy="160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20">
                <a:latin typeface="Tahoma"/>
                <a:cs typeface="Tahoma"/>
              </a:rPr>
              <a:t>Vanilla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mode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of </a:t>
            </a:r>
            <a:r>
              <a:rPr dirty="0" sz="1300" spc="-10">
                <a:latin typeface="Tahoma"/>
                <a:cs typeface="Tahoma"/>
              </a:rPr>
              <a:t>processing </a:t>
            </a:r>
            <a:r>
              <a:rPr dirty="0" sz="1300">
                <a:latin typeface="Tahoma"/>
                <a:cs typeface="Tahoma"/>
              </a:rPr>
              <a:t>without</a:t>
            </a:r>
            <a:r>
              <a:rPr dirty="0" sz="1300" spc="-4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RNN, </a:t>
            </a:r>
            <a:r>
              <a:rPr dirty="0" sz="1300">
                <a:latin typeface="Tahoma"/>
                <a:cs typeface="Tahoma"/>
              </a:rPr>
              <a:t>from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fixed-</a:t>
            </a:r>
            <a:r>
              <a:rPr dirty="0" sz="1300" spc="-20">
                <a:latin typeface="Tahoma"/>
                <a:cs typeface="Tahoma"/>
              </a:rPr>
              <a:t>sized </a:t>
            </a:r>
            <a:r>
              <a:rPr dirty="0" sz="1300">
                <a:latin typeface="Tahoma"/>
                <a:cs typeface="Tahoma"/>
              </a:rPr>
              <a:t>input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to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fixed- </a:t>
            </a:r>
            <a:r>
              <a:rPr dirty="0" sz="1300">
                <a:latin typeface="Tahoma"/>
                <a:cs typeface="Tahoma"/>
              </a:rPr>
              <a:t>sized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output </a:t>
            </a:r>
            <a:r>
              <a:rPr dirty="0" sz="1300">
                <a:latin typeface="Tahoma"/>
                <a:cs typeface="Tahoma"/>
              </a:rPr>
              <a:t>(e.g.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image classification).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49006" y="4813045"/>
            <a:ext cx="1257300" cy="1411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Sequence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output </a:t>
            </a:r>
            <a:r>
              <a:rPr dirty="0" sz="1300">
                <a:latin typeface="Tahoma"/>
                <a:cs typeface="Tahoma"/>
              </a:rPr>
              <a:t>(e.g.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image </a:t>
            </a:r>
            <a:r>
              <a:rPr dirty="0" sz="1300">
                <a:latin typeface="Tahoma"/>
                <a:cs typeface="Tahoma"/>
              </a:rPr>
              <a:t>captioning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takes </a:t>
            </a:r>
            <a:r>
              <a:rPr dirty="0" sz="1300">
                <a:latin typeface="Tahoma"/>
                <a:cs typeface="Tahoma"/>
              </a:rPr>
              <a:t>an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image</a:t>
            </a:r>
            <a:r>
              <a:rPr dirty="0" sz="1300" spc="-25">
                <a:latin typeface="Tahoma"/>
                <a:cs typeface="Tahoma"/>
              </a:rPr>
              <a:t> and </a:t>
            </a:r>
            <a:r>
              <a:rPr dirty="0" sz="1300">
                <a:latin typeface="Tahoma"/>
                <a:cs typeface="Tahoma"/>
              </a:rPr>
              <a:t>outputs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a </a:t>
            </a:r>
            <a:r>
              <a:rPr dirty="0" sz="1300">
                <a:latin typeface="Tahoma"/>
                <a:cs typeface="Tahoma"/>
              </a:rPr>
              <a:t>sentence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of </a:t>
            </a:r>
            <a:r>
              <a:rPr dirty="0" sz="1300" spc="-10">
                <a:latin typeface="Tahoma"/>
                <a:cs typeface="Tahoma"/>
              </a:rPr>
              <a:t>words).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30270" y="4813045"/>
            <a:ext cx="1402080" cy="160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Sequence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input </a:t>
            </a:r>
            <a:r>
              <a:rPr dirty="0" sz="1300">
                <a:latin typeface="Tahoma"/>
                <a:cs typeface="Tahoma"/>
              </a:rPr>
              <a:t>(e.g.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sentiment </a:t>
            </a:r>
            <a:r>
              <a:rPr dirty="0" sz="1300">
                <a:latin typeface="Tahoma"/>
                <a:cs typeface="Tahoma"/>
              </a:rPr>
              <a:t>analysis</a:t>
            </a:r>
            <a:r>
              <a:rPr dirty="0" sz="1300" spc="-5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where</a:t>
            </a:r>
            <a:r>
              <a:rPr dirty="0" sz="1300" spc="-50">
                <a:latin typeface="Tahoma"/>
                <a:cs typeface="Tahoma"/>
              </a:rPr>
              <a:t> a </a:t>
            </a:r>
            <a:r>
              <a:rPr dirty="0" sz="1300">
                <a:latin typeface="Tahoma"/>
                <a:cs typeface="Tahoma"/>
              </a:rPr>
              <a:t>given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sentence</a:t>
            </a:r>
            <a:r>
              <a:rPr dirty="0" sz="1300" spc="-5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is </a:t>
            </a:r>
            <a:r>
              <a:rPr dirty="0" sz="1300">
                <a:latin typeface="Tahoma"/>
                <a:cs typeface="Tahoma"/>
              </a:rPr>
              <a:t>classified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as </a:t>
            </a:r>
            <a:r>
              <a:rPr dirty="0" sz="1300">
                <a:latin typeface="Tahoma"/>
                <a:cs typeface="Tahoma"/>
              </a:rPr>
              <a:t>expressing</a:t>
            </a:r>
            <a:r>
              <a:rPr dirty="0" sz="1300" spc="-4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positive </a:t>
            </a:r>
            <a:r>
              <a:rPr dirty="0" sz="1300">
                <a:latin typeface="Tahoma"/>
                <a:cs typeface="Tahoma"/>
              </a:rPr>
              <a:t>or</a:t>
            </a:r>
            <a:r>
              <a:rPr dirty="0" sz="1300" spc="-10">
                <a:latin typeface="Tahoma"/>
                <a:cs typeface="Tahoma"/>
              </a:rPr>
              <a:t> negative sentiment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55120" y="4808448"/>
            <a:ext cx="1632585" cy="1411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Sequence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input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and </a:t>
            </a:r>
            <a:r>
              <a:rPr dirty="0" sz="1300">
                <a:latin typeface="Tahoma"/>
                <a:cs typeface="Tahoma"/>
              </a:rPr>
              <a:t>sequence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output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(e.g. </a:t>
            </a:r>
            <a:r>
              <a:rPr dirty="0" sz="1300">
                <a:latin typeface="Tahoma"/>
                <a:cs typeface="Tahoma"/>
              </a:rPr>
              <a:t>machine</a:t>
            </a:r>
            <a:r>
              <a:rPr dirty="0" sz="1300" spc="-5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translation: </a:t>
            </a:r>
            <a:r>
              <a:rPr dirty="0" sz="1300">
                <a:latin typeface="Tahoma"/>
                <a:cs typeface="Tahoma"/>
              </a:rPr>
              <a:t>an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RNN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reads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a </a:t>
            </a:r>
            <a:r>
              <a:rPr dirty="0" sz="1300">
                <a:latin typeface="Tahoma"/>
                <a:cs typeface="Tahoma"/>
              </a:rPr>
              <a:t>sentence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in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English </a:t>
            </a:r>
            <a:r>
              <a:rPr dirty="0" sz="1300">
                <a:latin typeface="Tahoma"/>
                <a:cs typeface="Tahoma"/>
              </a:rPr>
              <a:t>and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then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outputs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 spc="-50">
                <a:latin typeface="Tahoma"/>
                <a:cs typeface="Tahoma"/>
              </a:rPr>
              <a:t>a </a:t>
            </a:r>
            <a:r>
              <a:rPr dirty="0" sz="1300">
                <a:latin typeface="Tahoma"/>
                <a:cs typeface="Tahoma"/>
              </a:rPr>
              <a:t>sentence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in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French).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48334" y="4808448"/>
            <a:ext cx="1306830" cy="1411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Synced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sequence </a:t>
            </a:r>
            <a:r>
              <a:rPr dirty="0" sz="1300">
                <a:latin typeface="Tahoma"/>
                <a:cs typeface="Tahoma"/>
              </a:rPr>
              <a:t>input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and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output </a:t>
            </a:r>
            <a:r>
              <a:rPr dirty="0" sz="1300">
                <a:latin typeface="Tahoma"/>
                <a:cs typeface="Tahoma"/>
              </a:rPr>
              <a:t>(e.g.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video classification </a:t>
            </a:r>
            <a:r>
              <a:rPr dirty="0" sz="1300">
                <a:latin typeface="Tahoma"/>
                <a:cs typeface="Tahoma"/>
              </a:rPr>
              <a:t>where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we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wish</a:t>
            </a:r>
            <a:r>
              <a:rPr dirty="0" sz="1300" spc="-25">
                <a:latin typeface="Tahoma"/>
                <a:cs typeface="Tahoma"/>
              </a:rPr>
              <a:t> to </a:t>
            </a:r>
            <a:r>
              <a:rPr dirty="0" sz="1300">
                <a:latin typeface="Tahoma"/>
                <a:cs typeface="Tahoma"/>
              </a:rPr>
              <a:t>label</a:t>
            </a:r>
            <a:r>
              <a:rPr dirty="0" sz="1300" spc="-4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each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frame </a:t>
            </a:r>
            <a:r>
              <a:rPr dirty="0" sz="1300">
                <a:latin typeface="Tahoma"/>
                <a:cs typeface="Tahoma"/>
              </a:rPr>
              <a:t>of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10">
                <a:latin typeface="Tahoma"/>
                <a:cs typeface="Tahoma"/>
              </a:rPr>
              <a:t> video).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91349" y="4293095"/>
            <a:ext cx="7185659" cy="534670"/>
          </a:xfrm>
          <a:custGeom>
            <a:avLst/>
            <a:gdLst/>
            <a:ahLst/>
            <a:cxnLst/>
            <a:rect l="l" t="t" r="r" b="b"/>
            <a:pathLst>
              <a:path w="7185659" h="534670">
                <a:moveTo>
                  <a:pt x="128447" y="418795"/>
                </a:moveTo>
                <a:lnTo>
                  <a:pt x="114300" y="405942"/>
                </a:lnTo>
                <a:lnTo>
                  <a:pt x="111061" y="406260"/>
                </a:lnTo>
                <a:lnTo>
                  <a:pt x="111239" y="406260"/>
                </a:lnTo>
                <a:lnTo>
                  <a:pt x="108381" y="407200"/>
                </a:lnTo>
                <a:lnTo>
                  <a:pt x="105791" y="408711"/>
                </a:lnTo>
                <a:lnTo>
                  <a:pt x="103581" y="410718"/>
                </a:lnTo>
                <a:lnTo>
                  <a:pt x="101815" y="413143"/>
                </a:lnTo>
                <a:lnTo>
                  <a:pt x="78511" y="453110"/>
                </a:lnTo>
                <a:lnTo>
                  <a:pt x="78511" y="21869"/>
                </a:lnTo>
                <a:lnTo>
                  <a:pt x="49936" y="21869"/>
                </a:lnTo>
                <a:lnTo>
                  <a:pt x="49936" y="453110"/>
                </a:lnTo>
                <a:lnTo>
                  <a:pt x="26619" y="413143"/>
                </a:lnTo>
                <a:lnTo>
                  <a:pt x="24853" y="410718"/>
                </a:lnTo>
                <a:lnTo>
                  <a:pt x="22644" y="408711"/>
                </a:lnTo>
                <a:lnTo>
                  <a:pt x="20053" y="407200"/>
                </a:lnTo>
                <a:lnTo>
                  <a:pt x="17208" y="406260"/>
                </a:lnTo>
                <a:lnTo>
                  <a:pt x="17386" y="406260"/>
                </a:lnTo>
                <a:lnTo>
                  <a:pt x="14160" y="405942"/>
                </a:lnTo>
                <a:lnTo>
                  <a:pt x="11188" y="406260"/>
                </a:lnTo>
                <a:lnTo>
                  <a:pt x="8356" y="407200"/>
                </a:lnTo>
                <a:lnTo>
                  <a:pt x="0" y="418795"/>
                </a:lnTo>
                <a:lnTo>
                  <a:pt x="12" y="421779"/>
                </a:lnTo>
                <a:lnTo>
                  <a:pt x="647" y="424700"/>
                </a:lnTo>
                <a:lnTo>
                  <a:pt x="1879" y="427431"/>
                </a:lnTo>
                <a:lnTo>
                  <a:pt x="64223" y="534301"/>
                </a:lnTo>
                <a:lnTo>
                  <a:pt x="80759" y="505955"/>
                </a:lnTo>
                <a:lnTo>
                  <a:pt x="126568" y="427431"/>
                </a:lnTo>
                <a:lnTo>
                  <a:pt x="127800" y="424700"/>
                </a:lnTo>
                <a:lnTo>
                  <a:pt x="128435" y="421779"/>
                </a:lnTo>
                <a:lnTo>
                  <a:pt x="128447" y="418795"/>
                </a:lnTo>
                <a:close/>
              </a:path>
              <a:path w="7185659" h="534670">
                <a:moveTo>
                  <a:pt x="1496606" y="414324"/>
                </a:moveTo>
                <a:lnTo>
                  <a:pt x="1482445" y="401472"/>
                </a:lnTo>
                <a:lnTo>
                  <a:pt x="1479207" y="401789"/>
                </a:lnTo>
                <a:lnTo>
                  <a:pt x="1479384" y="401789"/>
                </a:lnTo>
                <a:lnTo>
                  <a:pt x="1476540" y="402729"/>
                </a:lnTo>
                <a:lnTo>
                  <a:pt x="1473949" y="404241"/>
                </a:lnTo>
                <a:lnTo>
                  <a:pt x="1471739" y="406247"/>
                </a:lnTo>
                <a:lnTo>
                  <a:pt x="1469961" y="408673"/>
                </a:lnTo>
                <a:lnTo>
                  <a:pt x="1446669" y="448652"/>
                </a:lnTo>
                <a:lnTo>
                  <a:pt x="1432369" y="473138"/>
                </a:lnTo>
                <a:lnTo>
                  <a:pt x="1446644" y="448652"/>
                </a:lnTo>
                <a:lnTo>
                  <a:pt x="1446669" y="17399"/>
                </a:lnTo>
                <a:lnTo>
                  <a:pt x="1418094" y="17399"/>
                </a:lnTo>
                <a:lnTo>
                  <a:pt x="1418094" y="448652"/>
                </a:lnTo>
                <a:lnTo>
                  <a:pt x="1394777" y="408673"/>
                </a:lnTo>
                <a:lnTo>
                  <a:pt x="1393012" y="406247"/>
                </a:lnTo>
                <a:lnTo>
                  <a:pt x="1390789" y="404241"/>
                </a:lnTo>
                <a:lnTo>
                  <a:pt x="1388198" y="402729"/>
                </a:lnTo>
                <a:lnTo>
                  <a:pt x="1385354" y="401789"/>
                </a:lnTo>
                <a:lnTo>
                  <a:pt x="1385531" y="401789"/>
                </a:lnTo>
                <a:lnTo>
                  <a:pt x="1382306" y="401472"/>
                </a:lnTo>
                <a:lnTo>
                  <a:pt x="1379334" y="401789"/>
                </a:lnTo>
                <a:lnTo>
                  <a:pt x="1376502" y="402729"/>
                </a:lnTo>
                <a:lnTo>
                  <a:pt x="1368158" y="414324"/>
                </a:lnTo>
                <a:lnTo>
                  <a:pt x="1368171" y="417309"/>
                </a:lnTo>
                <a:lnTo>
                  <a:pt x="1368806" y="420230"/>
                </a:lnTo>
                <a:lnTo>
                  <a:pt x="1370025" y="422960"/>
                </a:lnTo>
                <a:lnTo>
                  <a:pt x="1432382" y="529844"/>
                </a:lnTo>
                <a:lnTo>
                  <a:pt x="1448917" y="501484"/>
                </a:lnTo>
                <a:lnTo>
                  <a:pt x="1494726" y="422960"/>
                </a:lnTo>
                <a:lnTo>
                  <a:pt x="1495958" y="420230"/>
                </a:lnTo>
                <a:lnTo>
                  <a:pt x="1496580" y="417309"/>
                </a:lnTo>
                <a:lnTo>
                  <a:pt x="1496606" y="414324"/>
                </a:lnTo>
                <a:close/>
              </a:path>
              <a:path w="7185659" h="534670">
                <a:moveTo>
                  <a:pt x="3080778" y="396925"/>
                </a:moveTo>
                <a:lnTo>
                  <a:pt x="3066618" y="384073"/>
                </a:lnTo>
                <a:lnTo>
                  <a:pt x="3063379" y="384390"/>
                </a:lnTo>
                <a:lnTo>
                  <a:pt x="3063557" y="384390"/>
                </a:lnTo>
                <a:lnTo>
                  <a:pt x="3060700" y="385330"/>
                </a:lnTo>
                <a:lnTo>
                  <a:pt x="3058122" y="386829"/>
                </a:lnTo>
                <a:lnTo>
                  <a:pt x="3055912" y="388848"/>
                </a:lnTo>
                <a:lnTo>
                  <a:pt x="3054159" y="391261"/>
                </a:lnTo>
                <a:lnTo>
                  <a:pt x="3030842" y="431241"/>
                </a:lnTo>
                <a:lnTo>
                  <a:pt x="3016554" y="455726"/>
                </a:lnTo>
                <a:lnTo>
                  <a:pt x="3030829" y="431241"/>
                </a:lnTo>
                <a:lnTo>
                  <a:pt x="3030842" y="0"/>
                </a:lnTo>
                <a:lnTo>
                  <a:pt x="3002267" y="0"/>
                </a:lnTo>
                <a:lnTo>
                  <a:pt x="3002267" y="431241"/>
                </a:lnTo>
                <a:lnTo>
                  <a:pt x="2978937" y="391261"/>
                </a:lnTo>
                <a:lnTo>
                  <a:pt x="2977184" y="388848"/>
                </a:lnTo>
                <a:lnTo>
                  <a:pt x="2974975" y="386829"/>
                </a:lnTo>
                <a:lnTo>
                  <a:pt x="2972384" y="385330"/>
                </a:lnTo>
                <a:lnTo>
                  <a:pt x="2969526" y="384390"/>
                </a:lnTo>
                <a:lnTo>
                  <a:pt x="2969704" y="384390"/>
                </a:lnTo>
                <a:lnTo>
                  <a:pt x="2966478" y="384073"/>
                </a:lnTo>
                <a:lnTo>
                  <a:pt x="2963519" y="384390"/>
                </a:lnTo>
                <a:lnTo>
                  <a:pt x="2960674" y="385330"/>
                </a:lnTo>
                <a:lnTo>
                  <a:pt x="2952331" y="396925"/>
                </a:lnTo>
                <a:lnTo>
                  <a:pt x="2952343" y="399910"/>
                </a:lnTo>
                <a:lnTo>
                  <a:pt x="2952978" y="402831"/>
                </a:lnTo>
                <a:lnTo>
                  <a:pt x="2954210" y="405549"/>
                </a:lnTo>
                <a:lnTo>
                  <a:pt x="3016554" y="512432"/>
                </a:lnTo>
                <a:lnTo>
                  <a:pt x="3033077" y="484085"/>
                </a:lnTo>
                <a:lnTo>
                  <a:pt x="3078899" y="405549"/>
                </a:lnTo>
                <a:lnTo>
                  <a:pt x="3080131" y="402831"/>
                </a:lnTo>
                <a:lnTo>
                  <a:pt x="3080766" y="399910"/>
                </a:lnTo>
                <a:lnTo>
                  <a:pt x="3080778" y="396925"/>
                </a:lnTo>
                <a:close/>
              </a:path>
              <a:path w="7185659" h="534670">
                <a:moveTo>
                  <a:pt x="5169001" y="396925"/>
                </a:moveTo>
                <a:lnTo>
                  <a:pt x="5154854" y="384073"/>
                </a:lnTo>
                <a:lnTo>
                  <a:pt x="5151615" y="384390"/>
                </a:lnTo>
                <a:lnTo>
                  <a:pt x="5151793" y="384390"/>
                </a:lnTo>
                <a:lnTo>
                  <a:pt x="5148935" y="385330"/>
                </a:lnTo>
                <a:lnTo>
                  <a:pt x="5146357" y="386829"/>
                </a:lnTo>
                <a:lnTo>
                  <a:pt x="5144135" y="388848"/>
                </a:lnTo>
                <a:lnTo>
                  <a:pt x="5142382" y="391261"/>
                </a:lnTo>
                <a:lnTo>
                  <a:pt x="5119078" y="431253"/>
                </a:lnTo>
                <a:lnTo>
                  <a:pt x="5104777" y="455739"/>
                </a:lnTo>
                <a:lnTo>
                  <a:pt x="5119065" y="431253"/>
                </a:lnTo>
                <a:lnTo>
                  <a:pt x="5119078" y="0"/>
                </a:lnTo>
                <a:lnTo>
                  <a:pt x="5090503" y="0"/>
                </a:lnTo>
                <a:lnTo>
                  <a:pt x="5090503" y="431253"/>
                </a:lnTo>
                <a:lnTo>
                  <a:pt x="5067173" y="391261"/>
                </a:lnTo>
                <a:lnTo>
                  <a:pt x="5065420" y="388848"/>
                </a:lnTo>
                <a:lnTo>
                  <a:pt x="5063198" y="386829"/>
                </a:lnTo>
                <a:lnTo>
                  <a:pt x="5060620" y="385330"/>
                </a:lnTo>
                <a:lnTo>
                  <a:pt x="5057762" y="384390"/>
                </a:lnTo>
                <a:lnTo>
                  <a:pt x="5057940" y="384390"/>
                </a:lnTo>
                <a:lnTo>
                  <a:pt x="5054714" y="384073"/>
                </a:lnTo>
                <a:lnTo>
                  <a:pt x="5051742" y="384390"/>
                </a:lnTo>
                <a:lnTo>
                  <a:pt x="5048910" y="385330"/>
                </a:lnTo>
                <a:lnTo>
                  <a:pt x="5040566" y="396925"/>
                </a:lnTo>
                <a:lnTo>
                  <a:pt x="5040579" y="399910"/>
                </a:lnTo>
                <a:lnTo>
                  <a:pt x="5041214" y="402831"/>
                </a:lnTo>
                <a:lnTo>
                  <a:pt x="5042433" y="405549"/>
                </a:lnTo>
                <a:lnTo>
                  <a:pt x="5104790" y="512432"/>
                </a:lnTo>
                <a:lnTo>
                  <a:pt x="5121313" y="484085"/>
                </a:lnTo>
                <a:lnTo>
                  <a:pt x="5167134" y="405549"/>
                </a:lnTo>
                <a:lnTo>
                  <a:pt x="5168366" y="402831"/>
                </a:lnTo>
                <a:lnTo>
                  <a:pt x="5168989" y="399910"/>
                </a:lnTo>
                <a:lnTo>
                  <a:pt x="5169001" y="396925"/>
                </a:lnTo>
                <a:close/>
              </a:path>
              <a:path w="7185659" h="534670">
                <a:moveTo>
                  <a:pt x="7185228" y="414324"/>
                </a:moveTo>
                <a:lnTo>
                  <a:pt x="7171080" y="401472"/>
                </a:lnTo>
                <a:lnTo>
                  <a:pt x="7167842" y="401789"/>
                </a:lnTo>
                <a:lnTo>
                  <a:pt x="7168020" y="401789"/>
                </a:lnTo>
                <a:lnTo>
                  <a:pt x="7165175" y="402729"/>
                </a:lnTo>
                <a:lnTo>
                  <a:pt x="7162584" y="404241"/>
                </a:lnTo>
                <a:lnTo>
                  <a:pt x="7160361" y="406247"/>
                </a:lnTo>
                <a:lnTo>
                  <a:pt x="7158596" y="408673"/>
                </a:lnTo>
                <a:lnTo>
                  <a:pt x="7135292" y="448652"/>
                </a:lnTo>
                <a:lnTo>
                  <a:pt x="7135292" y="17399"/>
                </a:lnTo>
                <a:lnTo>
                  <a:pt x="7106717" y="17399"/>
                </a:lnTo>
                <a:lnTo>
                  <a:pt x="7106717" y="448652"/>
                </a:lnTo>
                <a:lnTo>
                  <a:pt x="7106717" y="501484"/>
                </a:lnTo>
                <a:lnTo>
                  <a:pt x="7106717" y="448652"/>
                </a:lnTo>
                <a:lnTo>
                  <a:pt x="7083412" y="408673"/>
                </a:lnTo>
                <a:lnTo>
                  <a:pt x="7081647" y="406247"/>
                </a:lnTo>
                <a:lnTo>
                  <a:pt x="7079424" y="404241"/>
                </a:lnTo>
                <a:lnTo>
                  <a:pt x="7076834" y="402729"/>
                </a:lnTo>
                <a:lnTo>
                  <a:pt x="7073989" y="401789"/>
                </a:lnTo>
                <a:lnTo>
                  <a:pt x="7074167" y="401789"/>
                </a:lnTo>
                <a:lnTo>
                  <a:pt x="7070941" y="401472"/>
                </a:lnTo>
                <a:lnTo>
                  <a:pt x="7067969" y="401789"/>
                </a:lnTo>
                <a:lnTo>
                  <a:pt x="7065137" y="402729"/>
                </a:lnTo>
                <a:lnTo>
                  <a:pt x="7056793" y="414324"/>
                </a:lnTo>
                <a:lnTo>
                  <a:pt x="7056806" y="417309"/>
                </a:lnTo>
                <a:lnTo>
                  <a:pt x="7057441" y="420230"/>
                </a:lnTo>
                <a:lnTo>
                  <a:pt x="7058660" y="422960"/>
                </a:lnTo>
                <a:lnTo>
                  <a:pt x="7121004" y="529844"/>
                </a:lnTo>
                <a:lnTo>
                  <a:pt x="7137540" y="501484"/>
                </a:lnTo>
                <a:lnTo>
                  <a:pt x="7183361" y="422960"/>
                </a:lnTo>
                <a:lnTo>
                  <a:pt x="7184580" y="420230"/>
                </a:lnTo>
                <a:lnTo>
                  <a:pt x="7185215" y="417309"/>
                </a:lnTo>
                <a:lnTo>
                  <a:pt x="7185228" y="4143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4780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</a:t>
            </a:r>
            <a:r>
              <a:rPr dirty="0" spc="-10"/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76123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Forward</a:t>
            </a:r>
            <a:r>
              <a:rPr dirty="0" spc="-140"/>
              <a:t> </a:t>
            </a:r>
            <a:r>
              <a:rPr dirty="0" spc="-20"/>
              <a:t>Pass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0877" y="2144572"/>
            <a:ext cx="4758690" cy="390461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60"/>
              </a:spcBef>
              <a:buClr>
                <a:srgbClr val="3333CC"/>
              </a:buClr>
              <a:buSzPct val="60000"/>
              <a:buChar char="■"/>
              <a:tabLst>
                <a:tab pos="38036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input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t:</a:t>
            </a:r>
            <a:endParaRPr sz="2000">
              <a:latin typeface="Tahoma"/>
              <a:cs typeface="Tahoma"/>
            </a:endParaRPr>
          </a:p>
          <a:p>
            <a:pPr marL="928369">
              <a:lnSpc>
                <a:spcPct val="100000"/>
              </a:lnSpc>
              <a:spcBef>
                <a:spcPts val="965"/>
              </a:spcBef>
            </a:pPr>
            <a:r>
              <a:rPr dirty="0" sz="2000" spc="-370">
                <a:latin typeface="Cambria"/>
                <a:cs typeface="Cambria"/>
              </a:rPr>
              <a:t/>
            </a:r>
            <a:r>
              <a:rPr dirty="0" baseline="-15325" sz="2175" spc="-555">
                <a:latin typeface="Cambria"/>
                <a:cs typeface="Cambria"/>
              </a:rPr>
              <a:t>ℎ</a:t>
            </a:r>
            <a:r>
              <a:rPr dirty="0" sz="2000" spc="-370">
                <a:latin typeface="Cambria"/>
                <a:cs typeface="Cambria"/>
              </a:rPr>
              <a:t>()</a:t>
            </a:r>
            <a:r>
              <a:rPr dirty="0" sz="2000" spc="120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=</a:t>
            </a:r>
            <a:r>
              <a:rPr dirty="0" sz="2000" spc="125">
                <a:latin typeface="Cambria"/>
                <a:cs typeface="Cambria"/>
              </a:rPr>
              <a:t> </a:t>
            </a:r>
            <a:r>
              <a:rPr dirty="0" sz="2000" spc="-535">
                <a:latin typeface="Cambria"/>
                <a:cs typeface="Cambria"/>
              </a:rPr>
              <a:t>𝑈()</a:t>
            </a:r>
            <a:r>
              <a:rPr dirty="0" sz="2000" spc="15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+</a:t>
            </a:r>
            <a:r>
              <a:rPr dirty="0" sz="2000" spc="10">
                <a:latin typeface="Cambria"/>
                <a:cs typeface="Cambria"/>
              </a:rPr>
              <a:t> </a:t>
            </a:r>
            <a:r>
              <a:rPr dirty="0" sz="2000" spc="-590">
                <a:latin typeface="Cambria"/>
                <a:cs typeface="Cambria"/>
              </a:rPr>
              <a:t>𝑊(</a:t>
            </a:r>
            <a:r>
              <a:rPr dirty="0" sz="2000" spc="455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−</a:t>
            </a:r>
            <a:r>
              <a:rPr dirty="0" sz="2000" spc="10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1)</a:t>
            </a:r>
            <a:endParaRPr sz="2000">
              <a:latin typeface="Cambria"/>
              <a:cs typeface="Cambria"/>
            </a:endParaRPr>
          </a:p>
          <a:p>
            <a:pPr marL="380365" indent="-342265">
              <a:lnSpc>
                <a:spcPct val="100000"/>
              </a:lnSpc>
              <a:spcBef>
                <a:spcPts val="1635"/>
              </a:spcBef>
              <a:buClr>
                <a:srgbClr val="3333CC"/>
              </a:buClr>
              <a:buSzPct val="60000"/>
              <a:buChar char="■"/>
              <a:tabLst>
                <a:tab pos="38036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activation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hidden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unit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t:</a:t>
            </a:r>
            <a:endParaRPr sz="2000">
              <a:latin typeface="Tahoma"/>
              <a:cs typeface="Tahoma"/>
            </a:endParaRPr>
          </a:p>
          <a:p>
            <a:pPr marL="1059180">
              <a:lnSpc>
                <a:spcPct val="100000"/>
              </a:lnSpc>
              <a:spcBef>
                <a:spcPts val="1670"/>
              </a:spcBef>
            </a:pPr>
            <a:r>
              <a:rPr dirty="0" sz="2000" spc="-550">
                <a:latin typeface="Cambria"/>
                <a:cs typeface="Cambria"/>
              </a:rPr>
              <a:t/>
            </a:r>
            <a:r>
              <a:rPr dirty="0" baseline="2777" sz="3000" spc="-825">
                <a:latin typeface="Cambria"/>
                <a:cs typeface="Cambria"/>
              </a:rPr>
              <a:t>(</a:t>
            </a:r>
            <a:r>
              <a:rPr dirty="0" sz="2000" spc="-550">
                <a:latin typeface="Cambria"/>
                <a:cs typeface="Cambria"/>
              </a:rPr>
              <a:t/>
            </a:r>
            <a:r>
              <a:rPr dirty="0" baseline="2777" sz="3000" spc="-825">
                <a:latin typeface="Cambria"/>
                <a:cs typeface="Cambria"/>
              </a:rPr>
              <a:t>)</a:t>
            </a:r>
            <a:r>
              <a:rPr dirty="0" baseline="2777" sz="3000" spc="195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=</a:t>
            </a:r>
            <a:r>
              <a:rPr dirty="0" sz="2000" spc="125">
                <a:latin typeface="Cambria"/>
                <a:cs typeface="Cambria"/>
              </a:rPr>
              <a:t> </a:t>
            </a:r>
            <a:r>
              <a:rPr dirty="0" sz="2000" spc="-270">
                <a:latin typeface="Cambria"/>
                <a:cs typeface="Cambria"/>
              </a:rPr>
              <a:t/>
            </a:r>
            <a:r>
              <a:rPr dirty="0" baseline="-15325" sz="2175" spc="-405">
                <a:latin typeface="Cambria"/>
                <a:cs typeface="Cambria"/>
              </a:rPr>
              <a:t>ℎ</a:t>
            </a:r>
            <a:r>
              <a:rPr dirty="0" sz="2000" spc="-270">
                <a:latin typeface="Cambria"/>
                <a:cs typeface="Cambria"/>
              </a:rPr>
              <a:t>(</a:t>
            </a:r>
            <a:r>
              <a:rPr dirty="0" baseline="-15325" sz="2175" spc="-405">
                <a:latin typeface="Cambria"/>
                <a:cs typeface="Cambria"/>
              </a:rPr>
              <a:t>ℎ</a:t>
            </a:r>
            <a:r>
              <a:rPr dirty="0" baseline="2777" sz="3000" spc="-405">
                <a:latin typeface="Cambria"/>
                <a:cs typeface="Cambria"/>
              </a:rPr>
              <a:t>(</a:t>
            </a:r>
            <a:r>
              <a:rPr dirty="0" sz="2000" spc="-270">
                <a:latin typeface="Cambria"/>
                <a:cs typeface="Cambria"/>
              </a:rPr>
              <a:t/>
            </a:r>
            <a:r>
              <a:rPr dirty="0" baseline="2777" sz="3000" spc="-405">
                <a:latin typeface="Cambria"/>
                <a:cs typeface="Cambria"/>
              </a:rPr>
              <a:t>)</a:t>
            </a:r>
            <a:r>
              <a:rPr dirty="0" sz="2000" spc="-27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380365" indent="-342265">
              <a:lnSpc>
                <a:spcPct val="100000"/>
              </a:lnSpc>
              <a:spcBef>
                <a:spcPts val="1900"/>
              </a:spcBef>
              <a:buClr>
                <a:srgbClr val="3333CC"/>
              </a:buClr>
              <a:buSzPct val="60000"/>
              <a:buChar char="■"/>
              <a:tabLst>
                <a:tab pos="38036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hidden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25">
                <a:latin typeface="Tahoma"/>
                <a:cs typeface="Tahoma"/>
              </a:rPr>
              <a:t> t:</a:t>
            </a:r>
            <a:endParaRPr sz="2000">
              <a:latin typeface="Tahoma"/>
              <a:cs typeface="Tahoma"/>
            </a:endParaRPr>
          </a:p>
          <a:p>
            <a:pPr algn="ctr" marL="101600">
              <a:lnSpc>
                <a:spcPct val="100000"/>
              </a:lnSpc>
              <a:spcBef>
                <a:spcPts val="965"/>
              </a:spcBef>
            </a:pPr>
            <a:r>
              <a:rPr dirty="0" sz="2000" spc="-509">
                <a:latin typeface="Cambria"/>
                <a:cs typeface="Cambria"/>
              </a:rPr>
              <a:t/>
            </a:r>
            <a:r>
              <a:rPr dirty="0" baseline="-15325" sz="2175" spc="-765">
                <a:latin typeface="Cambria"/>
                <a:cs typeface="Cambria"/>
              </a:rPr>
              <a:t/>
            </a:r>
            <a:r>
              <a:rPr dirty="0" baseline="2777" sz="3000" spc="-765">
                <a:latin typeface="Cambria"/>
                <a:cs typeface="Cambria"/>
              </a:rPr>
              <a:t>(</a:t>
            </a:r>
            <a:r>
              <a:rPr dirty="0" sz="2000" spc="-509">
                <a:latin typeface="Cambria"/>
                <a:cs typeface="Cambria"/>
              </a:rPr>
              <a:t/>
            </a:r>
            <a:r>
              <a:rPr dirty="0" baseline="2777" sz="3000" spc="-765">
                <a:latin typeface="Cambria"/>
                <a:cs typeface="Cambria"/>
              </a:rPr>
              <a:t>)</a:t>
            </a:r>
            <a:r>
              <a:rPr dirty="0" baseline="2777" sz="3000" spc="187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=</a:t>
            </a:r>
            <a:r>
              <a:rPr dirty="0" sz="2000" spc="125">
                <a:latin typeface="Cambria"/>
                <a:cs typeface="Cambria"/>
              </a:rPr>
              <a:t> </a:t>
            </a:r>
            <a:r>
              <a:rPr dirty="0" sz="2000" spc="-610">
                <a:latin typeface="Cambria"/>
                <a:cs typeface="Cambria"/>
              </a:rPr>
              <a:t>𝑊</a:t>
            </a:r>
            <a:r>
              <a:rPr dirty="0" baseline="2777" sz="3000" spc="-914">
                <a:latin typeface="Cambria"/>
                <a:cs typeface="Cambria"/>
              </a:rPr>
              <a:t>(</a:t>
            </a:r>
            <a:r>
              <a:rPr dirty="0" sz="2000" spc="-610">
                <a:latin typeface="Cambria"/>
                <a:cs typeface="Cambria"/>
              </a:rPr>
              <a:t/>
            </a:r>
            <a:r>
              <a:rPr dirty="0" baseline="2777" sz="3000" spc="-914">
                <a:latin typeface="Cambria"/>
                <a:cs typeface="Cambria"/>
              </a:rPr>
              <a:t>)</a:t>
            </a:r>
            <a:endParaRPr baseline="2777" sz="3000">
              <a:latin typeface="Cambria"/>
              <a:cs typeface="Cambria"/>
            </a:endParaRPr>
          </a:p>
          <a:p>
            <a:pPr marL="380365" indent="-342265">
              <a:lnSpc>
                <a:spcPct val="100000"/>
              </a:lnSpc>
              <a:spcBef>
                <a:spcPts val="1635"/>
              </a:spcBef>
              <a:buClr>
                <a:srgbClr val="3333CC"/>
              </a:buClr>
              <a:buSzPct val="60000"/>
              <a:buChar char="■"/>
              <a:tabLst>
                <a:tab pos="38036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output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time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</a:t>
            </a:r>
            <a:r>
              <a:rPr dirty="0" sz="2000" spc="-25">
                <a:latin typeface="Tahoma"/>
                <a:cs typeface="Tahoma"/>
              </a:rPr>
              <a:t> is:</a:t>
            </a:r>
            <a:endParaRPr sz="2000">
              <a:latin typeface="Tahoma"/>
              <a:cs typeface="Tahoma"/>
            </a:endParaRPr>
          </a:p>
          <a:p>
            <a:pPr algn="ctr" marL="102870">
              <a:lnSpc>
                <a:spcPct val="100000"/>
              </a:lnSpc>
              <a:spcBef>
                <a:spcPts val="1610"/>
              </a:spcBef>
            </a:pPr>
            <a:r>
              <a:rPr dirty="0" sz="2000" spc="-515">
                <a:latin typeface="Cambria"/>
                <a:cs typeface="Cambria"/>
              </a:rPr>
              <a:t/>
            </a:r>
            <a:r>
              <a:rPr dirty="0" baseline="2777" sz="3000" spc="-772">
                <a:latin typeface="Cambria"/>
                <a:cs typeface="Cambria"/>
              </a:rPr>
              <a:t>(</a:t>
            </a:r>
            <a:r>
              <a:rPr dirty="0" sz="2000" spc="-515">
                <a:latin typeface="Cambria"/>
                <a:cs typeface="Cambria"/>
              </a:rPr>
              <a:t/>
            </a:r>
            <a:r>
              <a:rPr dirty="0" baseline="2777" sz="3000" spc="-772">
                <a:latin typeface="Cambria"/>
                <a:cs typeface="Cambria"/>
              </a:rPr>
              <a:t>)</a:t>
            </a:r>
            <a:r>
              <a:rPr dirty="0" baseline="2777" sz="3000" spc="195">
                <a:latin typeface="Cambria"/>
                <a:cs typeface="Cambria"/>
              </a:rPr>
              <a:t> </a:t>
            </a:r>
            <a:r>
              <a:rPr dirty="0" sz="2000" spc="375">
                <a:latin typeface="Cambria"/>
                <a:cs typeface="Cambria"/>
              </a:rPr>
              <a:t>=</a:t>
            </a:r>
            <a:r>
              <a:rPr dirty="0" sz="2000" spc="125">
                <a:latin typeface="Cambria"/>
                <a:cs typeface="Cambria"/>
              </a:rPr>
              <a:t> </a:t>
            </a:r>
            <a:r>
              <a:rPr dirty="0" sz="2000" spc="-425">
                <a:latin typeface="Cambria"/>
                <a:cs typeface="Cambria"/>
              </a:rPr>
              <a:t/>
            </a:r>
            <a:r>
              <a:rPr dirty="0" baseline="-15325" sz="2175" spc="-637">
                <a:latin typeface="Cambria"/>
                <a:cs typeface="Cambria"/>
              </a:rPr>
              <a:t/>
            </a:r>
            <a:r>
              <a:rPr dirty="0" sz="2000" spc="-425">
                <a:latin typeface="Cambria"/>
                <a:cs typeface="Cambria"/>
              </a:rPr>
              <a:t>(</a:t>
            </a:r>
            <a:r>
              <a:rPr dirty="0" baseline="-15325" sz="2175" spc="-637">
                <a:latin typeface="Cambria"/>
                <a:cs typeface="Cambria"/>
              </a:rPr>
              <a:t/>
            </a:r>
            <a:r>
              <a:rPr dirty="0" baseline="2777" sz="3000" spc="-637">
                <a:latin typeface="Cambria"/>
                <a:cs typeface="Cambria"/>
              </a:rPr>
              <a:t>(</a:t>
            </a:r>
            <a:r>
              <a:rPr dirty="0" sz="2000" spc="-425">
                <a:latin typeface="Cambria"/>
                <a:cs typeface="Cambria"/>
              </a:rPr>
              <a:t/>
            </a:r>
            <a:r>
              <a:rPr dirty="0" baseline="2777" sz="3000" spc="-637">
                <a:latin typeface="Cambria"/>
                <a:cs typeface="Cambria"/>
              </a:rPr>
              <a:t>)</a:t>
            </a:r>
            <a:r>
              <a:rPr dirty="0" sz="2000" spc="-425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622" y="1858374"/>
            <a:ext cx="489937" cy="23621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979472" y="1926361"/>
            <a:ext cx="29209" cy="63500"/>
          </a:xfrm>
          <a:custGeom>
            <a:avLst/>
            <a:gdLst/>
            <a:ahLst/>
            <a:cxnLst/>
            <a:rect l="l" t="t" r="r" b="b"/>
            <a:pathLst>
              <a:path w="29210" h="63500">
                <a:moveTo>
                  <a:pt x="13754" y="14351"/>
                </a:moveTo>
                <a:lnTo>
                  <a:pt x="7099" y="812"/>
                </a:lnTo>
                <a:lnTo>
                  <a:pt x="4724" y="0"/>
                </a:lnTo>
                <a:lnTo>
                  <a:pt x="812" y="1930"/>
                </a:lnTo>
                <a:lnTo>
                  <a:pt x="0" y="4305"/>
                </a:lnTo>
                <a:lnTo>
                  <a:pt x="965" y="6261"/>
                </a:lnTo>
                <a:lnTo>
                  <a:pt x="1155" y="6604"/>
                </a:lnTo>
                <a:lnTo>
                  <a:pt x="8026" y="17678"/>
                </a:lnTo>
                <a:lnTo>
                  <a:pt x="10121" y="18173"/>
                </a:lnTo>
                <a:lnTo>
                  <a:pt x="13208" y="16256"/>
                </a:lnTo>
                <a:lnTo>
                  <a:pt x="13754" y="14351"/>
                </a:lnTo>
                <a:close/>
              </a:path>
              <a:path w="29210" h="63500">
                <a:moveTo>
                  <a:pt x="28829" y="59651"/>
                </a:moveTo>
                <a:lnTo>
                  <a:pt x="28308" y="56235"/>
                </a:lnTo>
                <a:lnTo>
                  <a:pt x="27127" y="55054"/>
                </a:lnTo>
                <a:lnTo>
                  <a:pt x="14541" y="53136"/>
                </a:lnTo>
                <a:lnTo>
                  <a:pt x="11912" y="55054"/>
                </a:lnTo>
                <a:lnTo>
                  <a:pt x="12065" y="55054"/>
                </a:lnTo>
                <a:lnTo>
                  <a:pt x="11366" y="59651"/>
                </a:lnTo>
                <a:lnTo>
                  <a:pt x="11290" y="60159"/>
                </a:lnTo>
                <a:lnTo>
                  <a:pt x="13093" y="62611"/>
                </a:lnTo>
                <a:lnTo>
                  <a:pt x="15709" y="63017"/>
                </a:lnTo>
                <a:lnTo>
                  <a:pt x="17157" y="63017"/>
                </a:lnTo>
                <a:lnTo>
                  <a:pt x="27533" y="61429"/>
                </a:lnTo>
                <a:lnTo>
                  <a:pt x="28829" y="59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7413" y="1809303"/>
            <a:ext cx="2150334" cy="32414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4295" y="1802244"/>
            <a:ext cx="1313663" cy="31102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0099" y="1864321"/>
            <a:ext cx="283195" cy="20886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2763" y="4583544"/>
            <a:ext cx="1382320" cy="568007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3416493" y="2129497"/>
            <a:ext cx="5619115" cy="4364990"/>
            <a:chOff x="3416493" y="2129497"/>
            <a:chExt cx="5619115" cy="4364990"/>
          </a:xfrm>
        </p:grpSpPr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6108" y="2498920"/>
              <a:ext cx="3598980" cy="310221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63654" y="2198484"/>
              <a:ext cx="2548302" cy="2620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07192" y="2129497"/>
              <a:ext cx="2197196" cy="67240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16493" y="3448710"/>
              <a:ext cx="2414737" cy="144191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887250" y="4791227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4" h="12700">
                  <a:moveTo>
                    <a:pt x="6489" y="0"/>
                  </a:moveTo>
                  <a:lnTo>
                    <a:pt x="4394" y="1143"/>
                  </a:lnTo>
                  <a:lnTo>
                    <a:pt x="330" y="4483"/>
                  </a:lnTo>
                  <a:lnTo>
                    <a:pt x="0" y="7785"/>
                  </a:lnTo>
                  <a:lnTo>
                    <a:pt x="3670" y="12255"/>
                  </a:lnTo>
                  <a:lnTo>
                    <a:pt x="6972" y="12585"/>
                  </a:lnTo>
                  <a:lnTo>
                    <a:pt x="11137" y="9169"/>
                  </a:lnTo>
                  <a:lnTo>
                    <a:pt x="11684" y="6438"/>
                  </a:lnTo>
                  <a:lnTo>
                    <a:pt x="8597" y="647"/>
                  </a:lnTo>
                  <a:lnTo>
                    <a:pt x="64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40581" y="5566854"/>
              <a:ext cx="2667571" cy="92744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94235" y="5891649"/>
              <a:ext cx="587870" cy="23001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564884" y="6100500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4">
                  <a:moveTo>
                    <a:pt x="9700" y="0"/>
                  </a:moveTo>
                  <a:lnTo>
                    <a:pt x="6121" y="0"/>
                  </a:lnTo>
                  <a:lnTo>
                    <a:pt x="4787" y="1066"/>
                  </a:lnTo>
                  <a:lnTo>
                    <a:pt x="53" y="19479"/>
                  </a:lnTo>
                  <a:lnTo>
                    <a:pt x="0" y="19686"/>
                  </a:lnTo>
                  <a:lnTo>
                    <a:pt x="1790" y="22716"/>
                  </a:lnTo>
                  <a:lnTo>
                    <a:pt x="7734" y="24244"/>
                  </a:lnTo>
                  <a:lnTo>
                    <a:pt x="10769" y="22452"/>
                  </a:lnTo>
                  <a:lnTo>
                    <a:pt x="11478" y="19686"/>
                  </a:lnTo>
                  <a:lnTo>
                    <a:pt x="11531" y="19479"/>
                  </a:lnTo>
                  <a:lnTo>
                    <a:pt x="11658" y="18972"/>
                  </a:lnTo>
                  <a:lnTo>
                    <a:pt x="11709" y="17926"/>
                  </a:lnTo>
                  <a:lnTo>
                    <a:pt x="11252" y="3328"/>
                  </a:lnTo>
                  <a:lnTo>
                    <a:pt x="11201" y="1405"/>
                  </a:lnTo>
                  <a:lnTo>
                    <a:pt x="9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4780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0540" y="2306713"/>
            <a:ext cx="7331709" cy="1490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0" marR="30480" indent="-342900">
              <a:lnSpc>
                <a:spcPct val="100200"/>
              </a:lnSpc>
              <a:spcBef>
                <a:spcPts val="95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sequence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starts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720">
                <a:latin typeface="Cambria"/>
                <a:cs typeface="Cambria"/>
              </a:rPr>
              <a:t/>
            </a:r>
            <a:r>
              <a:rPr dirty="0" baseline="-15873" sz="2625" spc="-1080">
                <a:latin typeface="Cambria"/>
                <a:cs typeface="Cambria"/>
              </a:rPr>
              <a:t>0</a:t>
            </a:r>
            <a:r>
              <a:rPr dirty="0" baseline="-15873" sz="2625" spc="142">
                <a:latin typeface="Cambria"/>
                <a:cs typeface="Cambria"/>
              </a:rPr>
              <a:t> </a:t>
            </a:r>
            <a:r>
              <a:rPr dirty="0" sz="2400" spc="-25">
                <a:latin typeface="Tahoma"/>
                <a:cs typeface="Tahoma"/>
              </a:rPr>
              <a:t>and </a:t>
            </a:r>
            <a:r>
              <a:rPr dirty="0" sz="2400">
                <a:latin typeface="Tahoma"/>
                <a:cs typeface="Tahoma"/>
              </a:rPr>
              <a:t>ends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450">
                <a:latin typeface="Cambria"/>
                <a:cs typeface="Cambria"/>
              </a:rPr>
              <a:t/>
            </a:r>
            <a:r>
              <a:rPr dirty="0" baseline="-15873" sz="2625" spc="-675">
                <a:latin typeface="Cambria"/>
                <a:cs typeface="Cambria"/>
              </a:rPr>
              <a:t>1</a:t>
            </a:r>
            <a:r>
              <a:rPr dirty="0" sz="2400" spc="-450">
                <a:latin typeface="Tahoma"/>
                <a:cs typeface="Tahoma"/>
              </a:rPr>
              <a:t>,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possible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choice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total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loss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over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square</a:t>
            </a:r>
            <a:r>
              <a:rPr dirty="0" sz="2400" spc="-10">
                <a:latin typeface="Tahoma"/>
                <a:cs typeface="Tahoma"/>
              </a:rPr>
              <a:t> error function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9974" y="3936491"/>
            <a:ext cx="2971434" cy="190500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81996" y="3047"/>
            <a:ext cx="3497579" cy="654050"/>
            <a:chOff x="581996" y="3047"/>
            <a:chExt cx="3497579" cy="6540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996" y="3047"/>
              <a:ext cx="2518657" cy="29968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1163" y="337350"/>
              <a:ext cx="908131" cy="31930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941775" y="511835"/>
              <a:ext cx="137795" cy="13970"/>
            </a:xfrm>
            <a:custGeom>
              <a:avLst/>
              <a:gdLst/>
              <a:ahLst/>
              <a:cxnLst/>
              <a:rect l="l" t="t" r="r" b="b"/>
              <a:pathLst>
                <a:path w="137795" h="13970">
                  <a:moveTo>
                    <a:pt x="58750" y="0"/>
                  </a:moveTo>
                  <a:lnTo>
                    <a:pt x="42823" y="0"/>
                  </a:lnTo>
                  <a:lnTo>
                    <a:pt x="32092" y="158"/>
                  </a:lnTo>
                  <a:lnTo>
                    <a:pt x="18770" y="689"/>
                  </a:lnTo>
                  <a:lnTo>
                    <a:pt x="3780" y="1773"/>
                  </a:lnTo>
                  <a:lnTo>
                    <a:pt x="4153" y="1773"/>
                  </a:lnTo>
                  <a:lnTo>
                    <a:pt x="2324" y="1943"/>
                  </a:lnTo>
                  <a:lnTo>
                    <a:pt x="0" y="4724"/>
                  </a:lnTo>
                  <a:lnTo>
                    <a:pt x="546" y="10794"/>
                  </a:lnTo>
                  <a:lnTo>
                    <a:pt x="3026" y="13093"/>
                  </a:lnTo>
                  <a:lnTo>
                    <a:pt x="5905" y="13093"/>
                  </a:lnTo>
                  <a:lnTo>
                    <a:pt x="41230" y="13481"/>
                  </a:lnTo>
                  <a:lnTo>
                    <a:pt x="135085" y="13481"/>
                  </a:lnTo>
                  <a:lnTo>
                    <a:pt x="137591" y="10947"/>
                  </a:lnTo>
                  <a:lnTo>
                    <a:pt x="95696" y="935"/>
                  </a:lnTo>
                  <a:lnTo>
                    <a:pt x="77226" y="327"/>
                  </a:lnTo>
                  <a:lnTo>
                    <a:pt x="587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74022" y="2793"/>
            <a:ext cx="1088186" cy="25745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4974" y="397929"/>
            <a:ext cx="1013295" cy="25504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95296" y="441604"/>
            <a:ext cx="575538" cy="18498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86961" y="382270"/>
            <a:ext cx="1269009" cy="27031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7653" y="787789"/>
            <a:ext cx="549678" cy="26145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7598" y="764286"/>
            <a:ext cx="1046740" cy="301739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2986887" y="1050772"/>
            <a:ext cx="22225" cy="27305"/>
          </a:xfrm>
          <a:custGeom>
            <a:avLst/>
            <a:gdLst/>
            <a:ahLst/>
            <a:cxnLst/>
            <a:rect l="l" t="t" r="r" b="b"/>
            <a:pathLst>
              <a:path w="22225" h="27305">
                <a:moveTo>
                  <a:pt x="5473" y="0"/>
                </a:moveTo>
                <a:lnTo>
                  <a:pt x="1130" y="1765"/>
                </a:lnTo>
                <a:lnTo>
                  <a:pt x="0" y="3975"/>
                </a:lnTo>
                <a:lnTo>
                  <a:pt x="2590" y="14592"/>
                </a:lnTo>
                <a:lnTo>
                  <a:pt x="7404" y="23139"/>
                </a:lnTo>
                <a:lnTo>
                  <a:pt x="18135" y="27000"/>
                </a:lnTo>
                <a:lnTo>
                  <a:pt x="20485" y="25895"/>
                </a:lnTo>
                <a:lnTo>
                  <a:pt x="21856" y="22072"/>
                </a:lnTo>
                <a:lnTo>
                  <a:pt x="21272" y="20167"/>
                </a:lnTo>
                <a:lnTo>
                  <a:pt x="14592" y="15278"/>
                </a:lnTo>
                <a:lnTo>
                  <a:pt x="11379" y="9271"/>
                </a:lnTo>
                <a:lnTo>
                  <a:pt x="8077" y="1104"/>
                </a:lnTo>
                <a:lnTo>
                  <a:pt x="54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23220" y="216255"/>
            <a:ext cx="469006" cy="252158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6132004" y="154622"/>
            <a:ext cx="2915285" cy="727710"/>
            <a:chOff x="6132004" y="154622"/>
            <a:chExt cx="2915285" cy="727710"/>
          </a:xfrm>
        </p:grpSpPr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6501" y="154622"/>
              <a:ext cx="2390592" cy="72729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32004" y="580631"/>
              <a:ext cx="842149" cy="2518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644" y="1939430"/>
            <a:ext cx="4828676" cy="173653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40205" y="480752"/>
            <a:ext cx="5516880" cy="115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随时间展开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20">
                <a:latin typeface="Microsoft JhengHei UI"/>
                <a:cs typeface="Microsoft JhengHei UI"/>
              </a:rPr>
              <a:t>展开</a:t>
            </a:r>
            <a:r>
              <a:rPr dirty="0" sz="1100">
                <a:latin typeface="Times New Roman"/>
                <a:cs typeface="Times New Roman"/>
              </a:rPr>
              <a:t>” (Unfolding / </a:t>
            </a:r>
            <a:r>
              <a:rPr dirty="0" sz="1100" spc="-10">
                <a:latin typeface="Times New Roman"/>
                <a:cs typeface="Times New Roman"/>
              </a:rPr>
              <a:t>Unrolling)</a:t>
            </a:r>
            <a:r>
              <a:rPr dirty="0" sz="1100" spc="-10">
                <a:latin typeface="Microsoft JhengHei UI"/>
                <a:cs typeface="Microsoft JhengHei UI"/>
              </a:rPr>
              <a:t>！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展开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是⼀种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概念上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5">
                <a:latin typeface="Microsoft JhengHei UI"/>
                <a:cs typeface="Microsoft JhengHei UI"/>
              </a:rPr>
              <a:t>的转换。我们把那个带循</a:t>
            </a:r>
            <a:r>
              <a:rPr dirty="0" sz="1100" spc="75">
                <a:latin typeface="Microsoft JhengHei UI"/>
                <a:cs typeface="Microsoft JhengHei UI"/>
              </a:rPr>
              <a:t>环的 </a:t>
            </a:r>
            <a:r>
              <a:rPr dirty="0" sz="1100" spc="-25">
                <a:latin typeface="Times New Roman"/>
                <a:cs typeface="Times New Roman"/>
              </a:rPr>
              <a:t>RNN</a:t>
            </a:r>
            <a:r>
              <a:rPr dirty="0" sz="1100" spc="-25">
                <a:latin typeface="Microsoft JhengHei UI"/>
                <a:cs typeface="Microsoft JhengHei UI"/>
              </a:rPr>
              <a:t>（</a:t>
            </a:r>
            <a:r>
              <a:rPr dirty="0" sz="1100" spc="-20">
                <a:latin typeface="Microsoft JhengHei UI"/>
                <a:cs typeface="Microsoft JhengHei UI"/>
              </a:rPr>
              <a:t>左图</a:t>
            </a:r>
            <a:r>
              <a:rPr dirty="0" sz="1100" spc="-10">
                <a:latin typeface="Microsoft JhengHei UI"/>
                <a:cs typeface="Microsoft JhengHei UI"/>
              </a:rPr>
              <a:t>），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复制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成⼀个没有循环的、⾮常深的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前馈⽹络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0">
                <a:latin typeface="Microsoft JhengHei UI"/>
                <a:cs typeface="Microsoft JhengHei UI"/>
              </a:rPr>
              <a:t>（</a:t>
            </a:r>
            <a:r>
              <a:rPr dirty="0" sz="1100" spc="-20">
                <a:latin typeface="Microsoft JhengHei UI"/>
                <a:cs typeface="Microsoft JhengHei UI"/>
              </a:rPr>
              <a:t>右图）</a:t>
            </a:r>
            <a:r>
              <a:rPr dirty="0" sz="1100" spc="-5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  <a:p>
            <a:pPr marL="501650">
              <a:lnSpc>
                <a:spcPct val="100000"/>
              </a:lnSpc>
              <a:spcBef>
                <a:spcPts val="1070"/>
              </a:spcBef>
              <a:tabLst>
                <a:tab pos="1801495" algn="l"/>
              </a:tabLst>
            </a:pPr>
            <a:r>
              <a:rPr dirty="0" sz="4000" spc="-25" b="1">
                <a:solidFill>
                  <a:srgbClr val="800000"/>
                </a:solidFill>
                <a:latin typeface="Tahoma"/>
                <a:cs typeface="Tahoma"/>
              </a:rPr>
              <a:t>RNN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	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Architecture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22349" y="3723208"/>
            <a:ext cx="1847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00">
                <a:solidFill>
                  <a:srgbClr val="3333CC"/>
                </a:solidFill>
                <a:latin typeface="Tahoma"/>
                <a:cs typeface="Tahoma"/>
              </a:rPr>
              <a:t>■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39849" y="3775912"/>
            <a:ext cx="6898005" cy="2215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 marR="725170">
              <a:lnSpc>
                <a:spcPct val="100899"/>
              </a:lnSpc>
              <a:spcBef>
                <a:spcPts val="105"/>
              </a:spcBef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network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converted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into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feed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forward </a:t>
            </a:r>
            <a:r>
              <a:rPr dirty="0" sz="1800">
                <a:latin typeface="Tahoma"/>
                <a:cs typeface="Tahoma"/>
              </a:rPr>
              <a:t>network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unfolding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over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time</a:t>
            </a:r>
            <a:endParaRPr sz="1800">
              <a:latin typeface="Tahoma"/>
              <a:cs typeface="Tahoma"/>
            </a:endParaRPr>
          </a:p>
          <a:p>
            <a:pPr marL="38100" marR="76200">
              <a:lnSpc>
                <a:spcPct val="100899"/>
              </a:lnSpc>
              <a:spcBef>
                <a:spcPts val="434"/>
              </a:spcBef>
            </a:pPr>
            <a:r>
              <a:rPr dirty="0" sz="1800">
                <a:latin typeface="Tahoma"/>
                <a:cs typeface="Tahoma"/>
              </a:rPr>
              <a:t>The above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diagram shows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 RNN being unrolled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(or unfolded) </a:t>
            </a:r>
            <a:r>
              <a:rPr dirty="0" sz="1800" spc="-20">
                <a:latin typeface="Tahoma"/>
                <a:cs typeface="Tahoma"/>
              </a:rPr>
              <a:t>into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full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network.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unrolling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we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simply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mean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we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write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out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network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for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complete</a:t>
            </a:r>
            <a:r>
              <a:rPr dirty="0" sz="1800" spc="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sequence.</a:t>
            </a:r>
            <a:endParaRPr sz="1800">
              <a:latin typeface="Tahoma"/>
              <a:cs typeface="Tahoma"/>
            </a:endParaRPr>
          </a:p>
          <a:p>
            <a:pPr marL="438150" marR="30480" indent="-285750">
              <a:lnSpc>
                <a:spcPct val="100000"/>
              </a:lnSpc>
              <a:spcBef>
                <a:spcPts val="300"/>
              </a:spcBef>
              <a:buClr>
                <a:srgbClr val="FF0000"/>
              </a:buClr>
              <a:buSzPct val="83870"/>
              <a:buChar char="■"/>
              <a:tabLst>
                <a:tab pos="438150" algn="l"/>
              </a:tabLst>
            </a:pPr>
            <a:r>
              <a:rPr dirty="0" sz="1550">
                <a:latin typeface="Tahoma"/>
                <a:cs typeface="Tahoma"/>
              </a:rPr>
              <a:t>For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example,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if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sequence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care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about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is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 sentence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of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5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words,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the </a:t>
            </a:r>
            <a:r>
              <a:rPr dirty="0" sz="1550">
                <a:latin typeface="Tahoma"/>
                <a:cs typeface="Tahoma"/>
              </a:rPr>
              <a:t>network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would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be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unrolled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into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5-</a:t>
            </a:r>
            <a:r>
              <a:rPr dirty="0" sz="1550">
                <a:latin typeface="Tahoma"/>
                <a:cs typeface="Tahoma"/>
              </a:rPr>
              <a:t>layer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neural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network,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one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layer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for </a:t>
            </a:r>
            <a:r>
              <a:rPr dirty="0" sz="1550">
                <a:latin typeface="Tahoma"/>
                <a:cs typeface="Tahoma"/>
              </a:rPr>
              <a:t>each</a:t>
            </a:r>
            <a:r>
              <a:rPr dirty="0" sz="1550" spc="15">
                <a:latin typeface="Tahoma"/>
                <a:cs typeface="Tahoma"/>
              </a:rPr>
              <a:t> </a:t>
            </a:r>
            <a:r>
              <a:rPr dirty="0" sz="1550" spc="-20">
                <a:latin typeface="Tahoma"/>
                <a:cs typeface="Tahoma"/>
              </a:rPr>
              <a:t>word.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22349" y="4332173"/>
            <a:ext cx="1847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00">
                <a:solidFill>
                  <a:srgbClr val="3333CC"/>
                </a:solidFill>
                <a:latin typeface="Tahoma"/>
                <a:cs typeface="Tahoma"/>
              </a:rPr>
              <a:t>■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22349" y="5977458"/>
            <a:ext cx="1847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00">
                <a:solidFill>
                  <a:srgbClr val="3333CC"/>
                </a:solidFill>
                <a:latin typeface="Tahoma"/>
                <a:cs typeface="Tahoma"/>
              </a:rPr>
              <a:t>■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65249" y="6030163"/>
            <a:ext cx="6337300" cy="580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dirty="0" sz="1800">
                <a:latin typeface="Tahoma"/>
                <a:cs typeface="Tahoma"/>
              </a:rPr>
              <a:t>This means all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earlier theory about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feed forward </a:t>
            </a:r>
            <a:r>
              <a:rPr dirty="0" sz="1800" spc="-10">
                <a:latin typeface="Tahoma"/>
                <a:cs typeface="Tahoma"/>
              </a:rPr>
              <a:t>networks </a:t>
            </a:r>
            <a:r>
              <a:rPr dirty="0" sz="1800">
                <a:latin typeface="Tahoma"/>
                <a:cs typeface="Tahoma"/>
              </a:rPr>
              <a:t>learning follows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through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45663" y="142579"/>
            <a:ext cx="4836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>
                <a:latin typeface="Microsoft JhengHei UI"/>
                <a:cs typeface="Microsoft JhengHei UI"/>
              </a:rPr>
              <a:t>像 </a:t>
            </a:r>
            <a:r>
              <a:rPr dirty="0" sz="1100">
                <a:latin typeface="Microsoft JhengHei UI"/>
                <a:cs typeface="Microsoft JhengHei UI"/>
              </a:rPr>
              <a:t>BP（反向传播）这样的标准算法⽆法在“带循环”的⽹络（如左图）</a:t>
            </a:r>
            <a:r>
              <a:rPr dirty="0" sz="1100" spc="-15">
                <a:latin typeface="Microsoft JhengHei UI"/>
                <a:cs typeface="Microsoft JhengHei UI"/>
              </a:rPr>
              <a:t>上⼯作。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45663" y="171709"/>
            <a:ext cx="2463800" cy="1134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Microsoft JhengHei UI"/>
                <a:cs typeface="Microsoft JhengHei UI"/>
              </a:rPr>
              <a:t>展开⽅式：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100" spc="-20">
                <a:latin typeface="Microsoft JhengHei UI"/>
                <a:cs typeface="Microsoft JhengHei UI"/>
              </a:rPr>
              <a:t>序列中的每⼀个时间点</a:t>
            </a:r>
            <a:r>
              <a:rPr dirty="0" sz="1100" spc="-10">
                <a:latin typeface="Microsoft JhengHei UI"/>
                <a:cs typeface="Microsoft JhengHei UI"/>
              </a:rPr>
              <a:t>（t-</a:t>
            </a:r>
            <a:r>
              <a:rPr dirty="0" sz="1100">
                <a:latin typeface="Microsoft JhengHei UI"/>
                <a:cs typeface="Microsoft JhengHei UI"/>
              </a:rPr>
              <a:t>1,</a:t>
            </a:r>
            <a:r>
              <a:rPr dirty="0" sz="1100" spc="140">
                <a:latin typeface="Microsoft JhengHei UI"/>
                <a:cs typeface="Microsoft JhengHei UI"/>
              </a:rPr>
              <a:t> </a:t>
            </a:r>
            <a:r>
              <a:rPr dirty="0" sz="1100">
                <a:latin typeface="Microsoft JhengHei UI"/>
                <a:cs typeface="Microsoft JhengHei UI"/>
              </a:rPr>
              <a:t>t,</a:t>
            </a:r>
            <a:r>
              <a:rPr dirty="0" sz="1100" spc="140">
                <a:latin typeface="Microsoft JhengHei UI"/>
                <a:cs typeface="Microsoft JhengHei UI"/>
              </a:rPr>
              <a:t> </a:t>
            </a:r>
            <a:r>
              <a:rPr dirty="0" sz="1100" spc="-20">
                <a:latin typeface="Microsoft JhengHei UI"/>
                <a:cs typeface="Microsoft JhengHei UI"/>
              </a:rPr>
              <a:t>t+1,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100">
                <a:latin typeface="Microsoft JhengHei UI"/>
                <a:cs typeface="Microsoft JhengHei UI"/>
              </a:rPr>
              <a:t>….），</a:t>
            </a:r>
            <a:r>
              <a:rPr dirty="0" sz="1100" spc="-5">
                <a:latin typeface="Microsoft JhengHei UI"/>
                <a:cs typeface="Microsoft JhengHei UI"/>
              </a:rPr>
              <a:t>都对应这个“深”⽹络中的⼀层。</a:t>
            </a:r>
            <a:endParaRPr sz="11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5700"/>
              </a:lnSpc>
              <a:spcBef>
                <a:spcPts val="655"/>
              </a:spcBef>
            </a:pPr>
            <a:r>
              <a:rPr dirty="0" sz="1100" spc="-20">
                <a:latin typeface="Microsoft JhengHei UI"/>
                <a:cs typeface="Microsoft JhengHei UI"/>
              </a:rPr>
              <a:t>例⼦： 如果⼀个句⼦有 </a:t>
            </a:r>
            <a:r>
              <a:rPr dirty="0" sz="1100">
                <a:latin typeface="Microsoft JhengHei UI"/>
                <a:cs typeface="Microsoft JhengHei UI"/>
              </a:rPr>
              <a:t>5</a:t>
            </a:r>
            <a:r>
              <a:rPr dirty="0" sz="1100" spc="-25">
                <a:latin typeface="Microsoft JhengHei UI"/>
                <a:cs typeface="Microsoft JhengHei UI"/>
              </a:rPr>
              <a:t> 个词，我们就</a:t>
            </a:r>
            <a:r>
              <a:rPr dirty="0" sz="1100" spc="35">
                <a:latin typeface="Microsoft JhengHei UI"/>
                <a:cs typeface="Microsoft JhengHei UI"/>
              </a:rPr>
              <a:t>把 </a:t>
            </a:r>
            <a:r>
              <a:rPr dirty="0" sz="1100" spc="-30">
                <a:latin typeface="Microsoft JhengHei UI"/>
                <a:cs typeface="Microsoft JhengHei UI"/>
              </a:rPr>
              <a:t>RNN</a:t>
            </a:r>
            <a:r>
              <a:rPr dirty="0" sz="1100" spc="5">
                <a:latin typeface="Microsoft JhengHei UI"/>
                <a:cs typeface="Microsoft JhengHei UI"/>
              </a:rPr>
              <a:t> 展开成⼀个 </a:t>
            </a:r>
            <a:r>
              <a:rPr dirty="0" sz="1100">
                <a:latin typeface="Microsoft JhengHei UI"/>
                <a:cs typeface="Microsoft JhengHei UI"/>
              </a:rPr>
              <a:t>5</a:t>
            </a:r>
            <a:r>
              <a:rPr dirty="0" sz="1100" spc="-20">
                <a:latin typeface="Microsoft JhengHei UI"/>
                <a:cs typeface="Microsoft JhengHei UI"/>
              </a:rPr>
              <a:t> 层的神经⽹络。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447802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1910" algn="l"/>
              </a:tabLst>
            </a:pPr>
            <a:r>
              <a:rPr dirty="0" spc="-25"/>
              <a:t>RNN</a:t>
            </a:r>
            <a:r>
              <a:rPr dirty="0"/>
              <a:t>	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0340" y="3596436"/>
            <a:ext cx="1847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00">
                <a:solidFill>
                  <a:srgbClr val="3333CC"/>
                </a:solidFill>
                <a:latin typeface="Tahoma"/>
                <a:cs typeface="Tahoma"/>
              </a:rPr>
              <a:t>■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3240" y="3649141"/>
            <a:ext cx="6546215" cy="580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dirty="0" sz="1800">
                <a:latin typeface="Tahoma"/>
                <a:cs typeface="Tahoma"/>
              </a:rPr>
              <a:t>In RNN errors can be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propagated more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than 2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layers in order </a:t>
            </a:r>
            <a:r>
              <a:rPr dirty="0" sz="1800" spc="-25">
                <a:latin typeface="Tahoma"/>
                <a:cs typeface="Tahoma"/>
              </a:rPr>
              <a:t>to </a:t>
            </a:r>
            <a:r>
              <a:rPr dirty="0" sz="1800">
                <a:latin typeface="Tahoma"/>
                <a:cs typeface="Tahoma"/>
              </a:rPr>
              <a:t>capture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longer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history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information.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07540" y="4126534"/>
            <a:ext cx="151130" cy="59436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300" spc="145">
                <a:solidFill>
                  <a:srgbClr val="FF0000"/>
                </a:solidFill>
                <a:latin typeface="Tahoma"/>
                <a:cs typeface="Tahoma"/>
              </a:rPr>
              <a:t>■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300" spc="145">
                <a:solidFill>
                  <a:srgbClr val="FF0000"/>
                </a:solidFill>
                <a:latin typeface="Tahoma"/>
                <a:cs typeface="Tahoma"/>
              </a:rPr>
              <a:t>■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93290" y="4240326"/>
            <a:ext cx="345694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latin typeface="Tahoma"/>
                <a:cs typeface="Tahoma"/>
              </a:rPr>
              <a:t>This process is usually called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unfolding.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93290" y="4524806"/>
            <a:ext cx="6530975" cy="5010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latin typeface="Tahoma"/>
                <a:cs typeface="Tahoma"/>
              </a:rPr>
              <a:t>In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an</a:t>
            </a:r>
            <a:r>
              <a:rPr dirty="0" sz="1550" spc="-2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unfolded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RNN,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recurrent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weight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is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duplicated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for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arbitrary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number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of </a:t>
            </a:r>
            <a:r>
              <a:rPr dirty="0" sz="1550">
                <a:latin typeface="Tahoma"/>
                <a:cs typeface="Tahoma"/>
              </a:rPr>
              <a:t>time </a:t>
            </a:r>
            <a:r>
              <a:rPr dirty="0" sz="1550" spc="-10">
                <a:latin typeface="Tahoma"/>
                <a:cs typeface="Tahoma"/>
              </a:rPr>
              <a:t>steps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50340" y="5011851"/>
            <a:ext cx="18478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200">
                <a:solidFill>
                  <a:srgbClr val="3333CC"/>
                </a:solidFill>
                <a:latin typeface="Tahoma"/>
                <a:cs typeface="Tahoma"/>
              </a:rPr>
              <a:t>■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67840" y="5064556"/>
            <a:ext cx="6935470" cy="1567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 marR="211454">
              <a:lnSpc>
                <a:spcPct val="100899"/>
              </a:lnSpc>
              <a:spcBef>
                <a:spcPts val="105"/>
              </a:spcBef>
            </a:pPr>
            <a:r>
              <a:rPr dirty="0" sz="1800">
                <a:latin typeface="Tahoma"/>
                <a:cs typeface="Tahoma"/>
              </a:rPr>
              <a:t>The above diagram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has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outputs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at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time step, but </a:t>
            </a:r>
            <a:r>
              <a:rPr dirty="0" sz="1800" spc="-10">
                <a:latin typeface="Tahoma"/>
                <a:cs typeface="Tahoma"/>
              </a:rPr>
              <a:t>depending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task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this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may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not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necessary.</a:t>
            </a:r>
            <a:endParaRPr sz="1800">
              <a:latin typeface="Tahoma"/>
              <a:cs typeface="Tahoma"/>
            </a:endParaRPr>
          </a:p>
          <a:p>
            <a:pPr marL="438150" marR="30480" indent="-285750">
              <a:lnSpc>
                <a:spcPct val="100499"/>
              </a:lnSpc>
              <a:spcBef>
                <a:spcPts val="290"/>
              </a:spcBef>
              <a:buClr>
                <a:srgbClr val="FF0000"/>
              </a:buClr>
              <a:buSzPct val="83870"/>
              <a:buChar char="■"/>
              <a:tabLst>
                <a:tab pos="438150" algn="l"/>
              </a:tabLst>
            </a:pPr>
            <a:r>
              <a:rPr dirty="0" sz="1550">
                <a:latin typeface="Tahoma"/>
                <a:cs typeface="Tahoma"/>
              </a:rPr>
              <a:t>For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example: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when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predicting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the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sentiment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of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 sentence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we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may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-20">
                <a:latin typeface="Tahoma"/>
                <a:cs typeface="Tahoma"/>
              </a:rPr>
              <a:t>only </a:t>
            </a:r>
            <a:r>
              <a:rPr dirty="0" sz="1550">
                <a:latin typeface="Tahoma"/>
                <a:cs typeface="Tahoma"/>
              </a:rPr>
              <a:t>care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about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the final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output, not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the sentiment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after each word. </a:t>
            </a:r>
            <a:r>
              <a:rPr dirty="0" sz="1550" spc="-10">
                <a:latin typeface="Tahoma"/>
                <a:cs typeface="Tahoma"/>
              </a:rPr>
              <a:t>Similarly, </a:t>
            </a:r>
            <a:r>
              <a:rPr dirty="0" sz="1550">
                <a:latin typeface="Tahoma"/>
                <a:cs typeface="Tahoma"/>
              </a:rPr>
              <a:t>we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may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not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need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inputs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at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each time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step.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The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main feature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of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an RNN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is </a:t>
            </a:r>
            <a:r>
              <a:rPr dirty="0" sz="1550">
                <a:latin typeface="Tahoma"/>
                <a:cs typeface="Tahoma"/>
              </a:rPr>
              <a:t>its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hidden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state,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which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captures</a:t>
            </a:r>
            <a:r>
              <a:rPr dirty="0" sz="1550" spc="-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some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information about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a </a:t>
            </a:r>
            <a:r>
              <a:rPr dirty="0" sz="1550" spc="-10">
                <a:latin typeface="Tahoma"/>
                <a:cs typeface="Tahoma"/>
              </a:rPr>
              <a:t>sequence.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196083" y="1815782"/>
            <a:ext cx="6838950" cy="2023110"/>
            <a:chOff x="2196083" y="1815782"/>
            <a:chExt cx="6838950" cy="202311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6083" y="1845564"/>
              <a:ext cx="4946904" cy="187147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7387" y="1815782"/>
              <a:ext cx="1847164" cy="10352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073" y="2919437"/>
              <a:ext cx="728441" cy="23766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1436" y="2942526"/>
              <a:ext cx="223570" cy="22381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67276" y="3296729"/>
              <a:ext cx="211652" cy="17609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9414" y="2940710"/>
              <a:ext cx="938034" cy="5983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31747" y="3303193"/>
              <a:ext cx="292925" cy="21744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52998" y="3614737"/>
              <a:ext cx="180018" cy="20095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11586" y="3641407"/>
              <a:ext cx="157446" cy="17026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53885" y="3664432"/>
              <a:ext cx="277288" cy="174002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175" y="4914226"/>
            <a:ext cx="1766824" cy="187147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320396" y="4233507"/>
            <a:ext cx="3576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5">
                <a:latin typeface="Microsoft JhengHei UI"/>
                <a:cs typeface="Microsoft JhengHei UI"/>
              </a:rPr>
              <a:t>循环权重 </a:t>
            </a:r>
            <a:r>
              <a:rPr dirty="0" sz="1100">
                <a:latin typeface="Times New Roman"/>
                <a:cs typeface="Times New Roman"/>
              </a:rPr>
              <a:t>W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Microsoft JhengHei UI"/>
                <a:cs typeface="Microsoft JhengHei UI"/>
              </a:rPr>
              <a:t>在所有时间步中是被</a:t>
            </a:r>
            <a:r>
              <a:rPr dirty="0" sz="1100">
                <a:latin typeface="Times New Roman"/>
                <a:cs typeface="Times New Roman"/>
              </a:rPr>
              <a:t>‘</a:t>
            </a:r>
            <a:r>
              <a:rPr dirty="0" sz="1100" spc="-20">
                <a:latin typeface="Microsoft JhengHei UI"/>
                <a:cs typeface="Microsoft JhengHei UI"/>
              </a:rPr>
              <a:t>复制</a:t>
            </a:r>
            <a:r>
              <a:rPr dirty="0" sz="1100" spc="-10">
                <a:latin typeface="Times New Roman"/>
                <a:cs typeface="Times New Roman"/>
              </a:rPr>
              <a:t>’</a:t>
            </a:r>
            <a:r>
              <a:rPr dirty="0" sz="1100" spc="-10">
                <a:latin typeface="Microsoft JhengHei UI"/>
                <a:cs typeface="Microsoft JhengHei UI"/>
              </a:rPr>
              <a:t>（</a:t>
            </a:r>
            <a:r>
              <a:rPr dirty="0" sz="1100" spc="-20">
                <a:latin typeface="Microsoft JhengHei UI"/>
                <a:cs typeface="Microsoft JhengHei UI"/>
              </a:rPr>
              <a:t>即</a:t>
            </a:r>
            <a:r>
              <a:rPr dirty="0" sz="1100">
                <a:latin typeface="Times New Roman"/>
                <a:cs typeface="Times New Roman"/>
              </a:rPr>
              <a:t>‘</a:t>
            </a:r>
            <a:r>
              <a:rPr dirty="0" sz="1100" spc="-20">
                <a:latin typeface="Microsoft JhengHei UI"/>
                <a:cs typeface="Microsoft JhengHei UI"/>
              </a:rPr>
              <a:t>共享</a:t>
            </a:r>
            <a:r>
              <a:rPr dirty="0" sz="1100" spc="-10">
                <a:latin typeface="Times New Roman"/>
                <a:cs typeface="Times New Roman"/>
              </a:rPr>
              <a:t>’</a:t>
            </a:r>
            <a:r>
              <a:rPr dirty="0" sz="1100" spc="-10">
                <a:latin typeface="Microsoft JhengHei UI"/>
                <a:cs typeface="Microsoft JhengHei UI"/>
              </a:rPr>
              <a:t>）</a:t>
            </a:r>
            <a:r>
              <a:rPr dirty="0" sz="1100" spc="-20">
                <a:latin typeface="Microsoft JhengHei UI"/>
                <a:cs typeface="Microsoft JhengHei UI"/>
              </a:rPr>
              <a:t>的。</a:t>
            </a:r>
            <a:r>
              <a:rPr dirty="0" sz="1100" spc="-50">
                <a:latin typeface="Times New Roman"/>
                <a:cs typeface="Times New Roman"/>
              </a:rPr>
              <a:t>”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471" y="175120"/>
            <a:ext cx="228337" cy="21644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7028" y="244047"/>
            <a:ext cx="284923" cy="15135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7286" y="185236"/>
            <a:ext cx="962458" cy="21613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72588" y="147281"/>
            <a:ext cx="392595" cy="215861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741834" y="162521"/>
            <a:ext cx="437381" cy="24411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93097" y="179654"/>
            <a:ext cx="311912" cy="240118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675202" y="136527"/>
            <a:ext cx="421906" cy="245081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13288" y="135801"/>
            <a:ext cx="945718" cy="2628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Back</a:t>
            </a:r>
            <a:r>
              <a:rPr dirty="0" spc="-135"/>
              <a:t> </a:t>
            </a:r>
            <a:r>
              <a:rPr dirty="0"/>
              <a:t>Propagation</a:t>
            </a:r>
            <a:r>
              <a:rPr dirty="0" spc="-130"/>
              <a:t> </a:t>
            </a:r>
            <a:r>
              <a:rPr dirty="0" spc="-10"/>
              <a:t>Through </a:t>
            </a:r>
            <a:r>
              <a:rPr dirty="0"/>
              <a:t>Time</a:t>
            </a:r>
            <a:r>
              <a:rPr dirty="0" spc="-100"/>
              <a:t> </a:t>
            </a:r>
            <a:r>
              <a:rPr dirty="0" spc="-10"/>
              <a:t>(BPTT)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61427" y="2050097"/>
            <a:ext cx="7512050" cy="4267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695" marR="86995" indent="-34099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BPTT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learning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algorithm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extension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standard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backpropagation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performs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gradients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descent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on </a:t>
            </a:r>
            <a:r>
              <a:rPr dirty="0" sz="2400" spc="-25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unfolded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network.</a:t>
            </a:r>
            <a:endParaRPr sz="2400">
              <a:latin typeface="Tahoma"/>
              <a:cs typeface="Tahoma"/>
            </a:endParaRPr>
          </a:p>
          <a:p>
            <a:pPr marL="355600" marR="141097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gradient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descent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updates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have </a:t>
            </a:r>
            <a:r>
              <a:rPr dirty="0" sz="2400">
                <a:latin typeface="Tahoma"/>
                <a:cs typeface="Tahoma"/>
              </a:rPr>
              <a:t>contributions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step.</a:t>
            </a:r>
            <a:endParaRPr sz="2400">
              <a:latin typeface="Tahoma"/>
              <a:cs typeface="Tahoma"/>
            </a:endParaRPr>
          </a:p>
          <a:p>
            <a:pPr marL="355600" marR="3429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errors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back-</a:t>
            </a:r>
            <a:r>
              <a:rPr dirty="0" sz="2400">
                <a:latin typeface="Tahoma"/>
                <a:cs typeface="Tahoma"/>
              </a:rPr>
              <a:t>propagated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through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time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well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through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recurrent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networks,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loss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depends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on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activation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through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its </a:t>
            </a:r>
            <a:r>
              <a:rPr dirty="0" sz="2400">
                <a:latin typeface="Tahoma"/>
                <a:cs typeface="Tahoma"/>
              </a:rPr>
              <a:t>influence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through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its </a:t>
            </a:r>
            <a:r>
              <a:rPr dirty="0" sz="2400">
                <a:latin typeface="Tahoma"/>
                <a:cs typeface="Tahoma"/>
              </a:rPr>
              <a:t>influence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hidden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next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step.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587709" y="1147521"/>
            <a:ext cx="4515485" cy="738505"/>
            <a:chOff x="4587709" y="1147521"/>
            <a:chExt cx="4515485" cy="7385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7709" y="1147521"/>
              <a:ext cx="1324912" cy="37254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1253" y="1171968"/>
              <a:ext cx="4461578" cy="713701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7404" y="4350143"/>
            <a:ext cx="2885900" cy="52503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06784" y="3453269"/>
            <a:ext cx="1483360" cy="989330"/>
            <a:chOff x="106784" y="3453269"/>
            <a:chExt cx="1483360" cy="989330"/>
          </a:xfrm>
        </p:grpSpPr>
        <p:sp>
          <p:nvSpPr>
            <p:cNvPr id="9" name="object 9" descr=""/>
            <p:cNvSpPr/>
            <p:nvPr/>
          </p:nvSpPr>
          <p:spPr>
            <a:xfrm>
              <a:off x="718972" y="3551974"/>
              <a:ext cx="23495" cy="75565"/>
            </a:xfrm>
            <a:custGeom>
              <a:avLst/>
              <a:gdLst/>
              <a:ahLst/>
              <a:cxnLst/>
              <a:rect l="l" t="t" r="r" b="b"/>
              <a:pathLst>
                <a:path w="23495" h="75564">
                  <a:moveTo>
                    <a:pt x="12865" y="4673"/>
                  </a:moveTo>
                  <a:lnTo>
                    <a:pt x="11836" y="2667"/>
                  </a:lnTo>
                  <a:lnTo>
                    <a:pt x="8064" y="1092"/>
                  </a:lnTo>
                  <a:lnTo>
                    <a:pt x="5778" y="0"/>
                  </a:lnTo>
                  <a:lnTo>
                    <a:pt x="0" y="5067"/>
                  </a:lnTo>
                  <a:lnTo>
                    <a:pt x="1422" y="7200"/>
                  </a:lnTo>
                  <a:lnTo>
                    <a:pt x="1752" y="7569"/>
                  </a:lnTo>
                  <a:lnTo>
                    <a:pt x="3149" y="9017"/>
                  </a:lnTo>
                  <a:lnTo>
                    <a:pt x="5562" y="9334"/>
                  </a:lnTo>
                  <a:lnTo>
                    <a:pt x="9677" y="10287"/>
                  </a:lnTo>
                  <a:lnTo>
                    <a:pt x="11899" y="8877"/>
                  </a:lnTo>
                  <a:lnTo>
                    <a:pt x="12776" y="5067"/>
                  </a:lnTo>
                  <a:lnTo>
                    <a:pt x="12865" y="4673"/>
                  </a:lnTo>
                  <a:close/>
                </a:path>
                <a:path w="23495" h="75564">
                  <a:moveTo>
                    <a:pt x="23241" y="68618"/>
                  </a:moveTo>
                  <a:lnTo>
                    <a:pt x="21374" y="64325"/>
                  </a:lnTo>
                  <a:lnTo>
                    <a:pt x="19177" y="63233"/>
                  </a:lnTo>
                  <a:lnTo>
                    <a:pt x="13411" y="64681"/>
                  </a:lnTo>
                  <a:lnTo>
                    <a:pt x="9791" y="65900"/>
                  </a:lnTo>
                  <a:lnTo>
                    <a:pt x="7848" y="66713"/>
                  </a:lnTo>
                  <a:lnTo>
                    <a:pt x="5892" y="70789"/>
                  </a:lnTo>
                  <a:lnTo>
                    <a:pt x="6794" y="73431"/>
                  </a:lnTo>
                  <a:lnTo>
                    <a:pt x="10820" y="75488"/>
                  </a:lnTo>
                  <a:lnTo>
                    <a:pt x="12852" y="74968"/>
                  </a:lnTo>
                  <a:lnTo>
                    <a:pt x="16471" y="73736"/>
                  </a:lnTo>
                  <a:lnTo>
                    <a:pt x="22199" y="71259"/>
                  </a:lnTo>
                  <a:lnTo>
                    <a:pt x="23241" y="686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784" y="3453269"/>
              <a:ext cx="1482965" cy="988796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677" y="4284802"/>
            <a:ext cx="1663111" cy="45248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563" y="4552950"/>
            <a:ext cx="1402172" cy="109464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73060" y="5179199"/>
            <a:ext cx="1237513" cy="62471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48681" y="6230365"/>
            <a:ext cx="744043" cy="24347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12467" y="6240166"/>
            <a:ext cx="2827630" cy="514269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947232" y="6257446"/>
            <a:ext cx="494665" cy="200660"/>
            <a:chOff x="5947232" y="6257446"/>
            <a:chExt cx="494665" cy="200660"/>
          </a:xfrm>
        </p:grpSpPr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7232" y="6257446"/>
              <a:ext cx="443179" cy="20029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421170" y="6426828"/>
              <a:ext cx="20955" cy="25400"/>
            </a:xfrm>
            <a:custGeom>
              <a:avLst/>
              <a:gdLst/>
              <a:ahLst/>
              <a:cxnLst/>
              <a:rect l="l" t="t" r="r" b="b"/>
              <a:pathLst>
                <a:path w="20954" h="25400">
                  <a:moveTo>
                    <a:pt x="3073" y="0"/>
                  </a:moveTo>
                  <a:lnTo>
                    <a:pt x="330" y="2319"/>
                  </a:lnTo>
                  <a:lnTo>
                    <a:pt x="0" y="4149"/>
                  </a:lnTo>
                  <a:lnTo>
                    <a:pt x="11226" y="24190"/>
                  </a:lnTo>
                  <a:lnTo>
                    <a:pt x="14427" y="25092"/>
                  </a:lnTo>
                  <a:lnTo>
                    <a:pt x="19481" y="22260"/>
                  </a:lnTo>
                  <a:lnTo>
                    <a:pt x="20383" y="19062"/>
                  </a:lnTo>
                  <a:lnTo>
                    <a:pt x="18808" y="16243"/>
                  </a:lnTo>
                  <a:lnTo>
                    <a:pt x="18389" y="15712"/>
                  </a:lnTo>
                  <a:lnTo>
                    <a:pt x="5283" y="18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6548716" y="6269902"/>
            <a:ext cx="2302510" cy="271780"/>
            <a:chOff x="6548716" y="6269902"/>
            <a:chExt cx="2302510" cy="271780"/>
          </a:xfrm>
        </p:grpSpPr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48716" y="6320193"/>
              <a:ext cx="1045996" cy="17026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8401" y="6269902"/>
              <a:ext cx="1212729" cy="271359"/>
            </a:xfrm>
            <a:prstGeom prst="rect">
              <a:avLst/>
            </a:prstGeom>
          </p:spPr>
        </p:pic>
      </p:grpSp>
      <p:pic>
        <p:nvPicPr>
          <p:cNvPr id="22" name="object 2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05363" y="6292928"/>
            <a:ext cx="882434" cy="453057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4908512" y="2878277"/>
            <a:ext cx="9525" cy="26670"/>
          </a:xfrm>
          <a:custGeom>
            <a:avLst/>
            <a:gdLst/>
            <a:ahLst/>
            <a:cxnLst/>
            <a:rect l="l" t="t" r="r" b="b"/>
            <a:pathLst>
              <a:path w="9525" h="26669">
                <a:moveTo>
                  <a:pt x="6248" y="0"/>
                </a:moveTo>
                <a:lnTo>
                  <a:pt x="2016" y="0"/>
                </a:lnTo>
                <a:lnTo>
                  <a:pt x="622" y="1206"/>
                </a:lnTo>
                <a:lnTo>
                  <a:pt x="100" y="7899"/>
                </a:lnTo>
                <a:lnTo>
                  <a:pt x="0" y="12661"/>
                </a:lnTo>
                <a:lnTo>
                  <a:pt x="1587" y="20446"/>
                </a:lnTo>
                <a:lnTo>
                  <a:pt x="2751" y="23736"/>
                </a:lnTo>
                <a:lnTo>
                  <a:pt x="2832" y="23964"/>
                </a:lnTo>
                <a:lnTo>
                  <a:pt x="6616" y="26581"/>
                </a:lnTo>
                <a:lnTo>
                  <a:pt x="8013" y="26327"/>
                </a:lnTo>
                <a:lnTo>
                  <a:pt x="9182" y="24625"/>
                </a:lnTo>
                <a:lnTo>
                  <a:pt x="9232" y="23736"/>
                </a:lnTo>
                <a:lnTo>
                  <a:pt x="7810" y="21018"/>
                </a:lnTo>
                <a:lnTo>
                  <a:pt x="7442" y="16395"/>
                </a:lnTo>
                <a:lnTo>
                  <a:pt x="7173" y="12661"/>
                </a:lnTo>
                <a:lnTo>
                  <a:pt x="7137" y="12166"/>
                </a:lnTo>
                <a:lnTo>
                  <a:pt x="7327" y="7899"/>
                </a:lnTo>
                <a:lnTo>
                  <a:pt x="7747" y="1701"/>
                </a:lnTo>
                <a:lnTo>
                  <a:pt x="62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93402" y="2717571"/>
            <a:ext cx="4312569" cy="657847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370110" y="3556660"/>
            <a:ext cx="2421816" cy="4401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Vanishing</a:t>
            </a:r>
            <a:r>
              <a:rPr dirty="0" spc="-185"/>
              <a:t> </a:t>
            </a:r>
            <a:r>
              <a:rPr dirty="0" spc="-10"/>
              <a:t>Gradients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8286" y="2164600"/>
            <a:ext cx="4506595" cy="441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252095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RNNs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trained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BPTT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have </a:t>
            </a:r>
            <a:r>
              <a:rPr dirty="0" sz="2000">
                <a:latin typeface="Tahoma"/>
                <a:cs typeface="Tahoma"/>
              </a:rPr>
              <a:t>difficulties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learning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long-</a:t>
            </a:r>
            <a:r>
              <a:rPr dirty="0" sz="2000" spc="-20">
                <a:latin typeface="Tahoma"/>
                <a:cs typeface="Tahoma"/>
              </a:rPr>
              <a:t>term </a:t>
            </a:r>
            <a:r>
              <a:rPr dirty="0" sz="2000">
                <a:latin typeface="Tahoma"/>
                <a:cs typeface="Tahoma"/>
              </a:rPr>
              <a:t>dependencies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(e.g.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dependencies </a:t>
            </a:r>
            <a:r>
              <a:rPr dirty="0" sz="2000">
                <a:latin typeface="Tahoma"/>
                <a:cs typeface="Tahoma"/>
              </a:rPr>
              <a:t>between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steps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that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far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apart) </a:t>
            </a:r>
            <a:r>
              <a:rPr dirty="0" sz="2000">
                <a:latin typeface="Tahoma"/>
                <a:cs typeface="Tahoma"/>
              </a:rPr>
              <a:t>due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what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called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vanishing </a:t>
            </a:r>
            <a:r>
              <a:rPr dirty="0" sz="2000">
                <a:latin typeface="Tahoma"/>
                <a:cs typeface="Tahoma"/>
              </a:rPr>
              <a:t>gradients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problem.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figure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shows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effects</a:t>
            </a:r>
            <a:r>
              <a:rPr dirty="0" sz="2000" spc="-25">
                <a:latin typeface="Tahoma"/>
                <a:cs typeface="Tahoma"/>
              </a:rPr>
              <a:t> of </a:t>
            </a:r>
            <a:r>
              <a:rPr dirty="0" sz="2000">
                <a:latin typeface="Tahoma"/>
                <a:cs typeface="Tahoma"/>
              </a:rPr>
              <a:t>applying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sigmoid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over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and </a:t>
            </a:r>
            <a:r>
              <a:rPr dirty="0" sz="2000">
                <a:latin typeface="Tahoma"/>
                <a:cs typeface="Tahoma"/>
              </a:rPr>
              <a:t>over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again.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flattened </a:t>
            </a:r>
            <a:r>
              <a:rPr dirty="0" sz="2000">
                <a:latin typeface="Tahoma"/>
                <a:cs typeface="Tahoma"/>
              </a:rPr>
              <a:t>until,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large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stretches,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no </a:t>
            </a:r>
            <a:r>
              <a:rPr dirty="0" sz="2000">
                <a:latin typeface="Tahoma"/>
                <a:cs typeface="Tahoma"/>
              </a:rPr>
              <a:t>detectable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slope.</a:t>
            </a:r>
            <a:endParaRPr sz="2000">
              <a:latin typeface="Tahoma"/>
              <a:cs typeface="Tahoma"/>
            </a:endParaRPr>
          </a:p>
          <a:p>
            <a:pPr algn="just" marL="355600" marR="7747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Vanishing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gradients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become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too </a:t>
            </a:r>
            <a:r>
              <a:rPr dirty="0" sz="2000">
                <a:latin typeface="Tahoma"/>
                <a:cs typeface="Tahoma"/>
              </a:rPr>
              <a:t>small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computers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work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with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or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learn.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822" y="2885014"/>
            <a:ext cx="3659935" cy="29223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173" y="123901"/>
            <a:ext cx="667207" cy="21221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969" y="94703"/>
            <a:ext cx="514335" cy="23816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7570" y="110718"/>
            <a:ext cx="404952" cy="2015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89441" y="28206"/>
            <a:ext cx="1693290" cy="26070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60406" y="88264"/>
            <a:ext cx="957581" cy="26398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89994" y="101600"/>
            <a:ext cx="661593" cy="2526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Vanishing</a:t>
            </a:r>
            <a:r>
              <a:rPr dirty="0" spc="-185"/>
              <a:t> </a:t>
            </a:r>
            <a:r>
              <a:rPr dirty="0" spc="-10"/>
              <a:t>Gradients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0295" y="2164600"/>
            <a:ext cx="4511040" cy="4342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940435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Sigmoid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have </a:t>
            </a:r>
            <a:r>
              <a:rPr dirty="0" sz="2000">
                <a:latin typeface="Tahoma"/>
                <a:cs typeface="Tahoma"/>
              </a:rPr>
              <a:t>derivatives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0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both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ends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When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happens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say</a:t>
            </a:r>
            <a:r>
              <a:rPr dirty="0" sz="2000" spc="-25">
                <a:latin typeface="Tahoma"/>
                <a:cs typeface="Tahoma"/>
              </a:rPr>
              <a:t> the </a:t>
            </a:r>
            <a:r>
              <a:rPr dirty="0" sz="2000">
                <a:latin typeface="Tahoma"/>
                <a:cs typeface="Tahoma"/>
              </a:rPr>
              <a:t>corresponding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neurons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saturated</a:t>
            </a:r>
            <a:endParaRPr sz="2000">
              <a:latin typeface="Tahoma"/>
              <a:cs typeface="Tahoma"/>
            </a:endParaRPr>
          </a:p>
          <a:p>
            <a:pPr lvl="1" marL="755650" marR="149860" indent="-28575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55555"/>
              <a:buChar char="■"/>
              <a:tabLst>
                <a:tab pos="755650" algn="l"/>
              </a:tabLst>
            </a:pPr>
            <a:r>
              <a:rPr dirty="0" sz="1800">
                <a:latin typeface="Tahoma"/>
                <a:cs typeface="Tahoma"/>
              </a:rPr>
              <a:t>they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have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zero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gradient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drive </a:t>
            </a:r>
            <a:r>
              <a:rPr dirty="0" sz="1800">
                <a:latin typeface="Tahoma"/>
                <a:cs typeface="Tahoma"/>
              </a:rPr>
              <a:t>other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gradients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previous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layers </a:t>
            </a:r>
            <a:r>
              <a:rPr dirty="0" sz="1800">
                <a:latin typeface="Tahoma"/>
                <a:cs typeface="Tahoma"/>
              </a:rPr>
              <a:t>towards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0.</a:t>
            </a:r>
            <a:endParaRPr sz="1800">
              <a:latin typeface="Tahoma"/>
              <a:cs typeface="Tahoma"/>
            </a:endParaRPr>
          </a:p>
          <a:p>
            <a:pPr marL="355600" marR="184150" indent="-342900">
              <a:lnSpc>
                <a:spcPct val="100000"/>
              </a:lnSpc>
              <a:spcBef>
                <a:spcPts val="475"/>
              </a:spcBef>
              <a:buClr>
                <a:srgbClr val="3333CC"/>
              </a:buClr>
              <a:buSzPct val="60000"/>
              <a:buChar char="■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Gradient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contributions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“far </a:t>
            </a:r>
            <a:r>
              <a:rPr dirty="0" sz="2000">
                <a:latin typeface="Tahoma"/>
                <a:cs typeface="Tahoma"/>
              </a:rPr>
              <a:t>away”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steps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become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zero,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25">
                <a:latin typeface="Tahoma"/>
                <a:cs typeface="Tahoma"/>
              </a:rPr>
              <a:t> the </a:t>
            </a: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those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steps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doesn’t </a:t>
            </a:r>
            <a:r>
              <a:rPr dirty="0" sz="2000">
                <a:latin typeface="Tahoma"/>
                <a:cs typeface="Tahoma"/>
              </a:rPr>
              <a:t>contribute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what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you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learning</a:t>
            </a:r>
            <a:endParaRPr sz="2000">
              <a:latin typeface="Tahoma"/>
              <a:cs typeface="Tahoma"/>
            </a:endParaRPr>
          </a:p>
          <a:p>
            <a:pPr lvl="1" marL="755650" marR="696595" indent="-28575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55555"/>
              <a:buChar char="■"/>
              <a:tabLst>
                <a:tab pos="755650" algn="l"/>
              </a:tabLst>
            </a:pPr>
            <a:r>
              <a:rPr dirty="0" sz="1800">
                <a:latin typeface="Tahoma"/>
                <a:cs typeface="Tahoma"/>
              </a:rPr>
              <a:t>forget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old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information: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up </a:t>
            </a:r>
            <a:r>
              <a:rPr dirty="0" sz="1800">
                <a:latin typeface="Tahoma"/>
                <a:cs typeface="Tahoma"/>
              </a:rPr>
              <a:t>without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learning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long-</a:t>
            </a:r>
            <a:r>
              <a:rPr dirty="0" sz="1800" spc="-20">
                <a:latin typeface="Tahoma"/>
                <a:cs typeface="Tahoma"/>
              </a:rPr>
              <a:t>range </a:t>
            </a:r>
            <a:r>
              <a:rPr dirty="0" sz="1800" spc="-10">
                <a:latin typeface="Tahoma"/>
                <a:cs typeface="Tahoma"/>
              </a:rPr>
              <a:t>dependencies.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575" y="2588717"/>
            <a:ext cx="3627917" cy="29729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8457" y="336305"/>
            <a:ext cx="5037455" cy="1021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76605">
              <a:lnSpc>
                <a:spcPct val="120900"/>
              </a:lnSpc>
              <a:spcBef>
                <a:spcPts val="90"/>
              </a:spcBef>
            </a:pPr>
            <a:r>
              <a:rPr dirty="0" sz="900" spc="125">
                <a:latin typeface="Microsoft JhengHei UI"/>
                <a:cs typeface="Microsoft JhengHei UI"/>
              </a:rPr>
              <a:t>⽤ </a:t>
            </a:r>
            <a:r>
              <a:rPr dirty="0" sz="900" spc="70">
                <a:latin typeface="Microsoft JhengHei UI"/>
                <a:cs typeface="Microsoft JhengHei UI"/>
              </a:rPr>
              <a:t>BPTT</a:t>
            </a:r>
            <a:r>
              <a:rPr dirty="0" sz="900" spc="95">
                <a:latin typeface="Microsoft JhengHei UI"/>
                <a:cs typeface="Microsoft JhengHei UI"/>
              </a:rPr>
              <a:t> 训练的 </a:t>
            </a:r>
            <a:r>
              <a:rPr dirty="0" sz="900">
                <a:latin typeface="Microsoft JhengHei UI"/>
                <a:cs typeface="Microsoft JhengHei UI"/>
              </a:rPr>
              <a:t>RNN，</a:t>
            </a:r>
            <a:r>
              <a:rPr dirty="0" sz="900" spc="10">
                <a:latin typeface="Microsoft JhengHei UI"/>
                <a:cs typeface="Microsoft JhengHei UI"/>
              </a:rPr>
              <a:t>在学习“⻓期依赖”时会遇到困难. “⻓期依赖” </a:t>
            </a:r>
            <a:r>
              <a:rPr dirty="0" sz="900">
                <a:latin typeface="Microsoft JhengHei UI"/>
                <a:cs typeface="Microsoft JhengHei UI"/>
              </a:rPr>
              <a:t>(long-</a:t>
            </a:r>
            <a:r>
              <a:rPr dirty="0" sz="900" spc="-20">
                <a:latin typeface="Microsoft JhengHei UI"/>
                <a:cs typeface="Microsoft JhengHei UI"/>
              </a:rPr>
              <a:t>term </a:t>
            </a:r>
            <a:r>
              <a:rPr dirty="0" sz="900">
                <a:latin typeface="Microsoft JhengHei UI"/>
                <a:cs typeface="Microsoft JhengHei UI"/>
              </a:rPr>
              <a:t>dependencies)：</a:t>
            </a:r>
            <a:r>
              <a:rPr dirty="0" sz="900" spc="-5">
                <a:latin typeface="Microsoft JhengHei UI"/>
                <a:cs typeface="Microsoft JhengHei UI"/>
              </a:rPr>
              <a:t>  就是指时间序列中，相隔很远的两个数据点之间的关联。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00" b="1">
                <a:latin typeface="Microsoft JhengHei UI"/>
                <a:cs typeface="Microsoft JhengHei UI"/>
              </a:rPr>
              <a:t>例⼦</a:t>
            </a:r>
            <a:r>
              <a:rPr dirty="0" sz="900" spc="105">
                <a:latin typeface="Microsoft JhengHei UI"/>
                <a:cs typeface="Microsoft JhengHei UI"/>
              </a:rPr>
              <a:t>： 在句⼦“我 </a:t>
            </a:r>
            <a:r>
              <a:rPr dirty="0" sz="900">
                <a:latin typeface="Microsoft JhengHei UI"/>
                <a:cs typeface="Microsoft JhengHei UI"/>
              </a:rPr>
              <a:t>30</a:t>
            </a:r>
            <a:r>
              <a:rPr dirty="0" sz="900" spc="35">
                <a:latin typeface="Microsoft JhengHei UI"/>
                <a:cs typeface="Microsoft JhengHei UI"/>
              </a:rPr>
              <a:t> 年前出⽣在法国</a:t>
            </a:r>
            <a:r>
              <a:rPr dirty="0" sz="900">
                <a:latin typeface="Microsoft JhengHei UI"/>
                <a:cs typeface="Microsoft JhengHei UI"/>
              </a:rPr>
              <a:t>...（</a:t>
            </a:r>
            <a:r>
              <a:rPr dirty="0" sz="900" spc="65">
                <a:latin typeface="Microsoft JhengHei UI"/>
                <a:cs typeface="Microsoft JhengHei UI"/>
              </a:rPr>
              <a:t>此处省略 </a:t>
            </a:r>
            <a:r>
              <a:rPr dirty="0" sz="900">
                <a:latin typeface="Microsoft JhengHei UI"/>
                <a:cs typeface="Microsoft JhengHei UI"/>
              </a:rPr>
              <a:t>100</a:t>
            </a:r>
            <a:r>
              <a:rPr dirty="0" sz="900" spc="110">
                <a:latin typeface="Microsoft JhengHei UI"/>
                <a:cs typeface="Microsoft JhengHei UI"/>
              </a:rPr>
              <a:t> 个词</a:t>
            </a:r>
            <a:r>
              <a:rPr dirty="0" sz="900">
                <a:latin typeface="Microsoft JhengHei UI"/>
                <a:cs typeface="Microsoft JhengHei UI"/>
              </a:rPr>
              <a:t>）...</a:t>
            </a:r>
            <a:r>
              <a:rPr dirty="0" sz="900" spc="-5">
                <a:latin typeface="Microsoft JhengHei UI"/>
                <a:cs typeface="Microsoft JhengHei UI"/>
              </a:rPr>
              <a:t>所以我能说⼀⼝流利的法语。”</a:t>
            </a:r>
            <a:endParaRPr sz="9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0900"/>
              </a:lnSpc>
            </a:pPr>
            <a:r>
              <a:rPr dirty="0" sz="900" spc="70">
                <a:latin typeface="Microsoft JhengHei UI"/>
                <a:cs typeface="Microsoft JhengHei UI"/>
              </a:rPr>
              <a:t>模型必须“记住” </a:t>
            </a:r>
            <a:r>
              <a:rPr dirty="0" sz="900">
                <a:latin typeface="Microsoft JhengHei UI"/>
                <a:cs typeface="Microsoft JhengHei UI"/>
              </a:rPr>
              <a:t>100</a:t>
            </a:r>
            <a:r>
              <a:rPr dirty="0" sz="900" spc="20">
                <a:latin typeface="Microsoft JhengHei UI"/>
                <a:cs typeface="Microsoft JhengHei UI"/>
              </a:rPr>
              <a:t> 个词之前的“法国”，才能在最后正确预测出“法语”。这就是“⻓期依赖”。</a:t>
            </a:r>
            <a:r>
              <a:rPr dirty="0" sz="900" b="1">
                <a:latin typeface="Microsoft JhengHei UI"/>
                <a:cs typeface="Microsoft JhengHei UI"/>
              </a:rPr>
              <a:t>问题</a:t>
            </a:r>
            <a:r>
              <a:rPr dirty="0" sz="900" spc="100">
                <a:latin typeface="Microsoft JhengHei UI"/>
                <a:cs typeface="Microsoft JhengHei UI"/>
              </a:rPr>
              <a:t>： 简单的 </a:t>
            </a:r>
            <a:r>
              <a:rPr dirty="0" sz="900">
                <a:latin typeface="Microsoft JhengHei UI"/>
                <a:cs typeface="Microsoft JhengHei UI"/>
              </a:rPr>
              <a:t>RNN（</a:t>
            </a:r>
            <a:r>
              <a:rPr dirty="0" sz="900" spc="150">
                <a:latin typeface="Microsoft JhengHei UI"/>
                <a:cs typeface="Microsoft JhengHei UI"/>
              </a:rPr>
              <a:t>如 </a:t>
            </a:r>
            <a:r>
              <a:rPr dirty="0" sz="900">
                <a:latin typeface="Microsoft JhengHei UI"/>
                <a:cs typeface="Microsoft JhengHei UI"/>
              </a:rPr>
              <a:t>Elman</a:t>
            </a:r>
            <a:r>
              <a:rPr dirty="0" sz="900" spc="100">
                <a:latin typeface="Microsoft JhengHei UI"/>
                <a:cs typeface="Microsoft JhengHei UI"/>
              </a:rPr>
              <a:t> ⽹络</a:t>
            </a:r>
            <a:r>
              <a:rPr dirty="0" sz="900">
                <a:latin typeface="Microsoft JhengHei UI"/>
                <a:cs typeface="Microsoft JhengHei UI"/>
              </a:rPr>
              <a:t>）做不到这⼀点。它很快就会“忘记”100</a:t>
            </a:r>
            <a:r>
              <a:rPr dirty="0" sz="900" spc="20">
                <a:latin typeface="Microsoft JhengHei UI"/>
                <a:cs typeface="Microsoft JhengHei UI"/>
              </a:rPr>
              <a:t> 个词之前发⽣过什么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54857" y="1429028"/>
            <a:ext cx="5827395" cy="568960"/>
            <a:chOff x="354857" y="1429028"/>
            <a:chExt cx="5827395" cy="5689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857" y="1429028"/>
              <a:ext cx="3395736" cy="51329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697578" y="1659375"/>
              <a:ext cx="10795" cy="9525"/>
            </a:xfrm>
            <a:custGeom>
              <a:avLst/>
              <a:gdLst/>
              <a:ahLst/>
              <a:cxnLst/>
              <a:rect l="l" t="t" r="r" b="b"/>
              <a:pathLst>
                <a:path w="10795" h="9525">
                  <a:moveTo>
                    <a:pt x="4616" y="0"/>
                  </a:moveTo>
                  <a:lnTo>
                    <a:pt x="2302" y="304"/>
                  </a:lnTo>
                  <a:lnTo>
                    <a:pt x="673" y="2432"/>
                  </a:lnTo>
                  <a:lnTo>
                    <a:pt x="423" y="3052"/>
                  </a:lnTo>
                  <a:lnTo>
                    <a:pt x="0" y="6516"/>
                  </a:lnTo>
                  <a:lnTo>
                    <a:pt x="2226" y="9090"/>
                  </a:lnTo>
                  <a:lnTo>
                    <a:pt x="6940" y="8862"/>
                  </a:lnTo>
                  <a:lnTo>
                    <a:pt x="8450" y="7722"/>
                  </a:lnTo>
                  <a:lnTo>
                    <a:pt x="9438" y="6245"/>
                  </a:lnTo>
                  <a:lnTo>
                    <a:pt x="10437" y="4757"/>
                  </a:lnTo>
                  <a:lnTo>
                    <a:pt x="10035" y="2747"/>
                  </a:lnTo>
                  <a:lnTo>
                    <a:pt x="7928" y="1325"/>
                  </a:lnTo>
                  <a:lnTo>
                    <a:pt x="7179" y="1140"/>
                  </a:lnTo>
                  <a:lnTo>
                    <a:pt x="6212" y="1238"/>
                  </a:lnTo>
                  <a:lnTo>
                    <a:pt x="4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3394" y="1487962"/>
              <a:ext cx="2568623" cy="50966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85828" y="2078632"/>
            <a:ext cx="5112385" cy="123444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900" spc="114">
                <a:latin typeface="Microsoft JhengHei UI"/>
                <a:cs typeface="Microsoft JhengHei UI"/>
              </a:rPr>
              <a:t>当 </a:t>
            </a:r>
            <a:r>
              <a:rPr dirty="0" sz="900" spc="70">
                <a:latin typeface="Microsoft JhengHei UI"/>
                <a:cs typeface="Microsoft JhengHei UI"/>
              </a:rPr>
              <a:t>BPTT</a:t>
            </a:r>
            <a:r>
              <a:rPr dirty="0" sz="900" spc="35">
                <a:latin typeface="Microsoft JhengHei UI"/>
                <a:cs typeface="Microsoft JhengHei UI"/>
              </a:rPr>
              <a:t> 算法试图把误差从 </a:t>
            </a:r>
            <a:r>
              <a:rPr dirty="0" sz="900">
                <a:latin typeface="Microsoft JhengHei UI"/>
                <a:cs typeface="Microsoft JhengHei UI"/>
              </a:rPr>
              <a:t>t100（“法语”）</a:t>
            </a:r>
            <a:r>
              <a:rPr dirty="0" sz="900" spc="75">
                <a:latin typeface="Microsoft JhengHei UI"/>
                <a:cs typeface="Microsoft JhengHei UI"/>
              </a:rPr>
              <a:t>传回 </a:t>
            </a:r>
            <a:r>
              <a:rPr dirty="0" sz="900">
                <a:latin typeface="Microsoft JhengHei UI"/>
                <a:cs typeface="Microsoft JhengHei UI"/>
              </a:rPr>
              <a:t>t1（“法国”）</a:t>
            </a:r>
            <a:r>
              <a:rPr dirty="0" sz="900" spc="65">
                <a:latin typeface="Microsoft JhengHei UI"/>
                <a:cs typeface="Microsoft JhengHei UI"/>
              </a:rPr>
              <a:t>时，它需要 “穿过” </a:t>
            </a:r>
            <a:r>
              <a:rPr dirty="0" sz="900">
                <a:latin typeface="Microsoft JhengHei UI"/>
                <a:cs typeface="Microsoft JhengHei UI"/>
              </a:rPr>
              <a:t>100</a:t>
            </a:r>
            <a:r>
              <a:rPr dirty="0" sz="900" spc="30">
                <a:latin typeface="Microsoft JhengHei UI"/>
                <a:cs typeface="Microsoft JhengHei UI"/>
              </a:rPr>
              <a:t> 个时间步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70">
                <a:latin typeface="Microsoft JhengHei UI"/>
                <a:cs typeface="Microsoft JhengHei UI"/>
              </a:rPr>
              <a:t>（</a:t>
            </a:r>
            <a:r>
              <a:rPr dirty="0" sz="900" spc="50">
                <a:latin typeface="Microsoft JhengHei UI"/>
                <a:cs typeface="Microsoft JhengHei UI"/>
              </a:rPr>
              <a:t>即“展开后”的 </a:t>
            </a:r>
            <a:r>
              <a:rPr dirty="0" sz="900">
                <a:latin typeface="Microsoft JhengHei UI"/>
                <a:cs typeface="Microsoft JhengHei UI"/>
              </a:rPr>
              <a:t>100</a:t>
            </a:r>
            <a:r>
              <a:rPr dirty="0" sz="900" spc="30">
                <a:latin typeface="Microsoft JhengHei UI"/>
                <a:cs typeface="Microsoft JhengHei UI"/>
              </a:rPr>
              <a:t> 层⽹络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在每⼀步，它都需要乘以当前激活函数的“梯度”（</a:t>
            </a:r>
            <a:r>
              <a:rPr dirty="0" sz="900" spc="100">
                <a:latin typeface="Microsoft JhengHei UI"/>
                <a:cs typeface="Microsoft JhengHei UI"/>
              </a:rPr>
              <a:t>即绿线  </a:t>
            </a:r>
            <a:r>
              <a:rPr dirty="0" sz="900">
                <a:latin typeface="Microsoft JhengHei UI"/>
                <a:cs typeface="Microsoft JhengHei UI"/>
              </a:rPr>
              <a:t>df/dx</a:t>
            </a:r>
            <a:r>
              <a:rPr dirty="0" sz="900" spc="125">
                <a:latin typeface="Microsoft JhengHei UI"/>
                <a:cs typeface="Microsoft JhengHei UI"/>
              </a:rPr>
              <a:t>  的值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225425" marR="5080" indent="-213360">
              <a:lnSpc>
                <a:spcPct val="120900"/>
              </a:lnSpc>
              <a:spcBef>
                <a:spcPts val="560"/>
              </a:spcBef>
            </a:pPr>
            <a:r>
              <a:rPr dirty="0" sz="900">
                <a:latin typeface="Microsoft JhengHei UI"/>
                <a:cs typeface="Microsoft JhengHei UI"/>
              </a:rPr>
              <a:t>梯度（绿线）的最⼤值：即使在最理想的中⼼点，tanh</a:t>
            </a:r>
            <a:r>
              <a:rPr dirty="0" sz="900" spc="70">
                <a:latin typeface="Microsoft JhengHei UI"/>
                <a:cs typeface="Microsoft JhengHei UI"/>
              </a:rPr>
              <a:t> 的梯度也最多只有 </a:t>
            </a:r>
            <a:r>
              <a:rPr dirty="0" sz="900" spc="-10">
                <a:latin typeface="Microsoft JhengHei UI"/>
                <a:cs typeface="Microsoft JhengHei UI"/>
              </a:rPr>
              <a:t>1.0（sigmoid</a:t>
            </a:r>
            <a:r>
              <a:rPr dirty="0" sz="900" spc="65">
                <a:latin typeface="Microsoft JhengHei UI"/>
                <a:cs typeface="Microsoft JhengHei UI"/>
              </a:rPr>
              <a:t> 更惨，最</a:t>
            </a:r>
            <a:r>
              <a:rPr dirty="0" sz="900" spc="75">
                <a:latin typeface="Microsoft JhengHei UI"/>
                <a:cs typeface="Microsoft JhengHei UI"/>
              </a:rPr>
              <a:t>多只有 </a:t>
            </a:r>
            <a:r>
              <a:rPr dirty="0" sz="900">
                <a:latin typeface="Microsoft JhengHei UI"/>
                <a:cs typeface="Microsoft JhengHei UI"/>
              </a:rPr>
              <a:t>0.25）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50">
                <a:latin typeface="Microsoft JhengHei UI"/>
                <a:cs typeface="Microsoft JhengHei UI"/>
              </a:rPr>
              <a:t>梯度（绿线）</a:t>
            </a:r>
            <a:r>
              <a:rPr dirty="0" sz="900" spc="30">
                <a:latin typeface="Microsoft JhengHei UI"/>
                <a:cs typeface="Microsoft JhengHei UI"/>
              </a:rPr>
              <a:t>的“常规”值：在“饱和区”，梯度接近 </a:t>
            </a:r>
            <a:r>
              <a:rPr dirty="0" sz="900">
                <a:latin typeface="Microsoft JhengHei UI"/>
                <a:cs typeface="Microsoft JhengHei UI"/>
              </a:rPr>
              <a:t>0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044" y="3438256"/>
            <a:ext cx="1189847" cy="23490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6377" y="3475532"/>
            <a:ext cx="1027390" cy="20541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51247" y="3472556"/>
            <a:ext cx="882845" cy="210306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3815848" y="3660396"/>
            <a:ext cx="27940" cy="20955"/>
          </a:xfrm>
          <a:custGeom>
            <a:avLst/>
            <a:gdLst/>
            <a:ahLst/>
            <a:cxnLst/>
            <a:rect l="l" t="t" r="r" b="b"/>
            <a:pathLst>
              <a:path w="27939" h="20954">
                <a:moveTo>
                  <a:pt x="5413" y="13088"/>
                </a:moveTo>
                <a:lnTo>
                  <a:pt x="5509" y="13527"/>
                </a:lnTo>
                <a:lnTo>
                  <a:pt x="5959" y="14494"/>
                </a:lnTo>
                <a:lnTo>
                  <a:pt x="6029" y="14885"/>
                </a:lnTo>
                <a:lnTo>
                  <a:pt x="5452" y="18122"/>
                </a:lnTo>
                <a:lnTo>
                  <a:pt x="6723" y="19946"/>
                </a:lnTo>
                <a:lnTo>
                  <a:pt x="10535" y="20620"/>
                </a:lnTo>
                <a:lnTo>
                  <a:pt x="12360" y="19349"/>
                </a:lnTo>
                <a:lnTo>
                  <a:pt x="13149" y="14885"/>
                </a:lnTo>
                <a:lnTo>
                  <a:pt x="13218" y="14494"/>
                </a:lnTo>
                <a:lnTo>
                  <a:pt x="9430" y="14494"/>
                </a:lnTo>
                <a:lnTo>
                  <a:pt x="6093" y="14005"/>
                </a:lnTo>
                <a:lnTo>
                  <a:pt x="5413" y="13088"/>
                </a:lnTo>
                <a:close/>
              </a:path>
              <a:path w="27939" h="20954">
                <a:moveTo>
                  <a:pt x="27587" y="10302"/>
                </a:moveTo>
                <a:lnTo>
                  <a:pt x="12519" y="10302"/>
                </a:lnTo>
                <a:lnTo>
                  <a:pt x="12583" y="10535"/>
                </a:lnTo>
                <a:lnTo>
                  <a:pt x="12705" y="10979"/>
                </a:lnTo>
                <a:lnTo>
                  <a:pt x="12816" y="11290"/>
                </a:lnTo>
                <a:lnTo>
                  <a:pt x="12893" y="11909"/>
                </a:lnTo>
                <a:lnTo>
                  <a:pt x="13006" y="12804"/>
                </a:lnTo>
                <a:lnTo>
                  <a:pt x="17823" y="13527"/>
                </a:lnTo>
                <a:lnTo>
                  <a:pt x="25176" y="14885"/>
                </a:lnTo>
                <a:lnTo>
                  <a:pt x="26968" y="13658"/>
                </a:lnTo>
                <a:lnTo>
                  <a:pt x="27073" y="13088"/>
                </a:lnTo>
                <a:lnTo>
                  <a:pt x="27199" y="12407"/>
                </a:lnTo>
                <a:lnTo>
                  <a:pt x="27291" y="11909"/>
                </a:lnTo>
                <a:lnTo>
                  <a:pt x="27405" y="11290"/>
                </a:lnTo>
                <a:lnTo>
                  <a:pt x="27489" y="10834"/>
                </a:lnTo>
                <a:lnTo>
                  <a:pt x="27587" y="10302"/>
                </a:lnTo>
                <a:close/>
              </a:path>
              <a:path w="27939" h="20954">
                <a:moveTo>
                  <a:pt x="7240" y="10979"/>
                </a:moveTo>
                <a:lnTo>
                  <a:pt x="5398" y="11290"/>
                </a:lnTo>
                <a:lnTo>
                  <a:pt x="4213" y="11290"/>
                </a:lnTo>
                <a:lnTo>
                  <a:pt x="4408" y="11681"/>
                </a:lnTo>
                <a:lnTo>
                  <a:pt x="4550" y="11909"/>
                </a:lnTo>
                <a:lnTo>
                  <a:pt x="6093" y="14005"/>
                </a:lnTo>
                <a:lnTo>
                  <a:pt x="9430" y="14494"/>
                </a:lnTo>
                <a:lnTo>
                  <a:pt x="8542" y="14494"/>
                </a:lnTo>
                <a:lnTo>
                  <a:pt x="11354" y="12407"/>
                </a:lnTo>
                <a:lnTo>
                  <a:pt x="7240" y="10979"/>
                </a:lnTo>
                <a:close/>
              </a:path>
              <a:path w="27939" h="20954">
                <a:moveTo>
                  <a:pt x="11354" y="12407"/>
                </a:moveTo>
                <a:lnTo>
                  <a:pt x="8542" y="14494"/>
                </a:lnTo>
                <a:lnTo>
                  <a:pt x="13218" y="14494"/>
                </a:lnTo>
                <a:lnTo>
                  <a:pt x="13096" y="13527"/>
                </a:lnTo>
                <a:lnTo>
                  <a:pt x="13006" y="12804"/>
                </a:lnTo>
                <a:lnTo>
                  <a:pt x="12498" y="12804"/>
                </a:lnTo>
                <a:lnTo>
                  <a:pt x="11354" y="12407"/>
                </a:lnTo>
                <a:close/>
              </a:path>
              <a:path w="27939" h="20954">
                <a:moveTo>
                  <a:pt x="12878" y="1732"/>
                </a:moveTo>
                <a:lnTo>
                  <a:pt x="14230" y="4241"/>
                </a:lnTo>
                <a:lnTo>
                  <a:pt x="14347" y="4458"/>
                </a:lnTo>
                <a:lnTo>
                  <a:pt x="12968" y="9954"/>
                </a:lnTo>
                <a:lnTo>
                  <a:pt x="12391" y="10302"/>
                </a:lnTo>
                <a:lnTo>
                  <a:pt x="12286" y="10834"/>
                </a:lnTo>
                <a:lnTo>
                  <a:pt x="11957" y="11681"/>
                </a:lnTo>
                <a:lnTo>
                  <a:pt x="11869" y="11909"/>
                </a:lnTo>
                <a:lnTo>
                  <a:pt x="11806" y="12072"/>
                </a:lnTo>
                <a:lnTo>
                  <a:pt x="11354" y="12407"/>
                </a:lnTo>
                <a:lnTo>
                  <a:pt x="12498" y="12804"/>
                </a:lnTo>
                <a:lnTo>
                  <a:pt x="13006" y="12804"/>
                </a:lnTo>
                <a:lnTo>
                  <a:pt x="12893" y="11909"/>
                </a:lnTo>
                <a:lnTo>
                  <a:pt x="12816" y="11290"/>
                </a:lnTo>
                <a:lnTo>
                  <a:pt x="12705" y="10979"/>
                </a:lnTo>
                <a:lnTo>
                  <a:pt x="12583" y="10535"/>
                </a:lnTo>
                <a:lnTo>
                  <a:pt x="12519" y="10302"/>
                </a:lnTo>
                <a:lnTo>
                  <a:pt x="12424" y="9954"/>
                </a:lnTo>
                <a:lnTo>
                  <a:pt x="27587" y="10302"/>
                </a:lnTo>
                <a:lnTo>
                  <a:pt x="26964" y="9009"/>
                </a:lnTo>
                <a:lnTo>
                  <a:pt x="26870" y="8814"/>
                </a:lnTo>
                <a:lnTo>
                  <a:pt x="20592" y="5512"/>
                </a:lnTo>
                <a:lnTo>
                  <a:pt x="15575" y="2666"/>
                </a:lnTo>
                <a:lnTo>
                  <a:pt x="12878" y="1732"/>
                </a:lnTo>
                <a:close/>
              </a:path>
              <a:path w="27939" h="20954">
                <a:moveTo>
                  <a:pt x="7283" y="10979"/>
                </a:moveTo>
                <a:lnTo>
                  <a:pt x="11354" y="12407"/>
                </a:lnTo>
                <a:lnTo>
                  <a:pt x="11806" y="12072"/>
                </a:lnTo>
                <a:lnTo>
                  <a:pt x="11869" y="11909"/>
                </a:lnTo>
                <a:lnTo>
                  <a:pt x="11957" y="11681"/>
                </a:lnTo>
                <a:lnTo>
                  <a:pt x="10100" y="11681"/>
                </a:lnTo>
                <a:lnTo>
                  <a:pt x="7283" y="10979"/>
                </a:lnTo>
                <a:close/>
              </a:path>
              <a:path w="27939" h="20954">
                <a:moveTo>
                  <a:pt x="7259" y="0"/>
                </a:moveTo>
                <a:lnTo>
                  <a:pt x="578" y="1341"/>
                </a:lnTo>
                <a:lnTo>
                  <a:pt x="4019" y="1341"/>
                </a:lnTo>
                <a:lnTo>
                  <a:pt x="2737" y="1591"/>
                </a:lnTo>
                <a:lnTo>
                  <a:pt x="955" y="4241"/>
                </a:lnTo>
                <a:lnTo>
                  <a:pt x="1629" y="7706"/>
                </a:lnTo>
                <a:lnTo>
                  <a:pt x="1933" y="8401"/>
                </a:lnTo>
                <a:lnTo>
                  <a:pt x="3520" y="10535"/>
                </a:lnTo>
                <a:lnTo>
                  <a:pt x="4264" y="10834"/>
                </a:lnTo>
                <a:lnTo>
                  <a:pt x="3742" y="10834"/>
                </a:lnTo>
                <a:lnTo>
                  <a:pt x="4370" y="11681"/>
                </a:lnTo>
                <a:lnTo>
                  <a:pt x="4213" y="11290"/>
                </a:lnTo>
                <a:lnTo>
                  <a:pt x="4111" y="10979"/>
                </a:lnTo>
                <a:lnTo>
                  <a:pt x="4071" y="10834"/>
                </a:lnTo>
                <a:lnTo>
                  <a:pt x="4264" y="10834"/>
                </a:lnTo>
                <a:lnTo>
                  <a:pt x="3520" y="10535"/>
                </a:lnTo>
                <a:lnTo>
                  <a:pt x="3988" y="10535"/>
                </a:lnTo>
                <a:lnTo>
                  <a:pt x="3567" y="9009"/>
                </a:lnTo>
                <a:lnTo>
                  <a:pt x="3513" y="8814"/>
                </a:lnTo>
                <a:lnTo>
                  <a:pt x="3399" y="8401"/>
                </a:lnTo>
                <a:lnTo>
                  <a:pt x="2992" y="7706"/>
                </a:lnTo>
                <a:lnTo>
                  <a:pt x="2584" y="6869"/>
                </a:lnTo>
                <a:lnTo>
                  <a:pt x="4361" y="1732"/>
                </a:lnTo>
                <a:lnTo>
                  <a:pt x="4410" y="1591"/>
                </a:lnTo>
                <a:lnTo>
                  <a:pt x="4496" y="1341"/>
                </a:lnTo>
                <a:lnTo>
                  <a:pt x="7259" y="0"/>
                </a:lnTo>
                <a:close/>
              </a:path>
              <a:path w="27939" h="20954">
                <a:moveTo>
                  <a:pt x="9407" y="1341"/>
                </a:moveTo>
                <a:lnTo>
                  <a:pt x="4496" y="1341"/>
                </a:lnTo>
                <a:lnTo>
                  <a:pt x="2584" y="6869"/>
                </a:lnTo>
                <a:lnTo>
                  <a:pt x="4088" y="9954"/>
                </a:lnTo>
                <a:lnTo>
                  <a:pt x="4271" y="9954"/>
                </a:lnTo>
                <a:lnTo>
                  <a:pt x="7283" y="10979"/>
                </a:lnTo>
                <a:lnTo>
                  <a:pt x="10100" y="11681"/>
                </a:lnTo>
                <a:lnTo>
                  <a:pt x="12391" y="10302"/>
                </a:lnTo>
                <a:lnTo>
                  <a:pt x="12140" y="9009"/>
                </a:lnTo>
                <a:lnTo>
                  <a:pt x="12022" y="8401"/>
                </a:lnTo>
                <a:lnTo>
                  <a:pt x="3565" y="8401"/>
                </a:lnTo>
                <a:lnTo>
                  <a:pt x="4713" y="6392"/>
                </a:lnTo>
                <a:lnTo>
                  <a:pt x="4481" y="6392"/>
                </a:lnTo>
                <a:lnTo>
                  <a:pt x="9166" y="5099"/>
                </a:lnTo>
                <a:lnTo>
                  <a:pt x="11381" y="5099"/>
                </a:lnTo>
                <a:lnTo>
                  <a:pt x="10909" y="2666"/>
                </a:lnTo>
                <a:lnTo>
                  <a:pt x="10839" y="2308"/>
                </a:lnTo>
                <a:lnTo>
                  <a:pt x="9407" y="1341"/>
                </a:lnTo>
                <a:close/>
              </a:path>
              <a:path w="27939" h="20954">
                <a:moveTo>
                  <a:pt x="12391" y="10302"/>
                </a:moveTo>
                <a:lnTo>
                  <a:pt x="10100" y="11681"/>
                </a:lnTo>
                <a:lnTo>
                  <a:pt x="11957" y="11681"/>
                </a:lnTo>
                <a:lnTo>
                  <a:pt x="12109" y="11290"/>
                </a:lnTo>
                <a:lnTo>
                  <a:pt x="12229" y="10979"/>
                </a:lnTo>
                <a:lnTo>
                  <a:pt x="12286" y="10834"/>
                </a:lnTo>
                <a:lnTo>
                  <a:pt x="12391" y="10302"/>
                </a:lnTo>
                <a:close/>
              </a:path>
              <a:path w="27939" h="20954">
                <a:moveTo>
                  <a:pt x="3627" y="9009"/>
                </a:moveTo>
                <a:lnTo>
                  <a:pt x="4197" y="11290"/>
                </a:lnTo>
                <a:lnTo>
                  <a:pt x="5398" y="11290"/>
                </a:lnTo>
                <a:lnTo>
                  <a:pt x="4264" y="10834"/>
                </a:lnTo>
                <a:lnTo>
                  <a:pt x="6820" y="10834"/>
                </a:lnTo>
                <a:lnTo>
                  <a:pt x="4271" y="9954"/>
                </a:lnTo>
                <a:lnTo>
                  <a:pt x="4088" y="9954"/>
                </a:lnTo>
                <a:lnTo>
                  <a:pt x="3627" y="9009"/>
                </a:lnTo>
                <a:close/>
              </a:path>
              <a:path w="27939" h="20954">
                <a:moveTo>
                  <a:pt x="6820" y="10834"/>
                </a:moveTo>
                <a:lnTo>
                  <a:pt x="4264" y="10834"/>
                </a:lnTo>
                <a:lnTo>
                  <a:pt x="5398" y="11290"/>
                </a:lnTo>
                <a:lnTo>
                  <a:pt x="7240" y="10979"/>
                </a:lnTo>
                <a:lnTo>
                  <a:pt x="6820" y="10834"/>
                </a:lnTo>
                <a:close/>
              </a:path>
              <a:path w="27939" h="20954">
                <a:moveTo>
                  <a:pt x="9402" y="526"/>
                </a:moveTo>
                <a:lnTo>
                  <a:pt x="8200" y="526"/>
                </a:lnTo>
                <a:lnTo>
                  <a:pt x="10839" y="2308"/>
                </a:lnTo>
                <a:lnTo>
                  <a:pt x="11887" y="7706"/>
                </a:lnTo>
                <a:lnTo>
                  <a:pt x="11998" y="8401"/>
                </a:lnTo>
                <a:lnTo>
                  <a:pt x="12424" y="9954"/>
                </a:lnTo>
                <a:lnTo>
                  <a:pt x="12519" y="10302"/>
                </a:lnTo>
                <a:lnTo>
                  <a:pt x="12391" y="10302"/>
                </a:lnTo>
                <a:lnTo>
                  <a:pt x="12968" y="9954"/>
                </a:lnTo>
                <a:lnTo>
                  <a:pt x="14015" y="5783"/>
                </a:lnTo>
                <a:lnTo>
                  <a:pt x="14083" y="5512"/>
                </a:lnTo>
                <a:lnTo>
                  <a:pt x="14186" y="5099"/>
                </a:lnTo>
                <a:lnTo>
                  <a:pt x="14230" y="4241"/>
                </a:lnTo>
                <a:lnTo>
                  <a:pt x="12870" y="1732"/>
                </a:lnTo>
                <a:lnTo>
                  <a:pt x="9402" y="526"/>
                </a:lnTo>
                <a:close/>
              </a:path>
              <a:path w="27939" h="20954">
                <a:moveTo>
                  <a:pt x="7259" y="0"/>
                </a:moveTo>
                <a:lnTo>
                  <a:pt x="4496" y="1341"/>
                </a:lnTo>
                <a:lnTo>
                  <a:pt x="1621" y="1341"/>
                </a:lnTo>
                <a:lnTo>
                  <a:pt x="99" y="5512"/>
                </a:lnTo>
                <a:lnTo>
                  <a:pt x="0" y="5783"/>
                </a:lnTo>
                <a:lnTo>
                  <a:pt x="1930" y="8401"/>
                </a:lnTo>
                <a:lnTo>
                  <a:pt x="1629" y="7706"/>
                </a:lnTo>
                <a:lnTo>
                  <a:pt x="1466" y="6869"/>
                </a:lnTo>
                <a:lnTo>
                  <a:pt x="1373" y="6392"/>
                </a:lnTo>
                <a:lnTo>
                  <a:pt x="1255" y="5783"/>
                </a:lnTo>
                <a:lnTo>
                  <a:pt x="1202" y="5512"/>
                </a:lnTo>
                <a:lnTo>
                  <a:pt x="1122" y="5099"/>
                </a:lnTo>
                <a:lnTo>
                  <a:pt x="998" y="4458"/>
                </a:lnTo>
                <a:lnTo>
                  <a:pt x="955" y="4241"/>
                </a:lnTo>
                <a:lnTo>
                  <a:pt x="2642" y="1732"/>
                </a:lnTo>
                <a:lnTo>
                  <a:pt x="2737" y="1591"/>
                </a:lnTo>
                <a:lnTo>
                  <a:pt x="8200" y="526"/>
                </a:lnTo>
                <a:lnTo>
                  <a:pt x="9397" y="526"/>
                </a:lnTo>
                <a:lnTo>
                  <a:pt x="8801" y="320"/>
                </a:lnTo>
                <a:lnTo>
                  <a:pt x="7259" y="0"/>
                </a:lnTo>
                <a:close/>
              </a:path>
              <a:path w="27939" h="20954">
                <a:moveTo>
                  <a:pt x="9166" y="5099"/>
                </a:moveTo>
                <a:lnTo>
                  <a:pt x="4481" y="6392"/>
                </a:lnTo>
                <a:lnTo>
                  <a:pt x="4713" y="6392"/>
                </a:lnTo>
                <a:lnTo>
                  <a:pt x="3565" y="8401"/>
                </a:lnTo>
                <a:lnTo>
                  <a:pt x="11998" y="8401"/>
                </a:lnTo>
                <a:lnTo>
                  <a:pt x="11447" y="6392"/>
                </a:lnTo>
                <a:lnTo>
                  <a:pt x="9166" y="5099"/>
                </a:lnTo>
                <a:close/>
              </a:path>
              <a:path w="27939" h="20954">
                <a:moveTo>
                  <a:pt x="11381" y="5099"/>
                </a:moveTo>
                <a:lnTo>
                  <a:pt x="9166" y="5099"/>
                </a:lnTo>
                <a:lnTo>
                  <a:pt x="11447" y="6392"/>
                </a:lnTo>
                <a:lnTo>
                  <a:pt x="11807" y="7706"/>
                </a:lnTo>
                <a:lnTo>
                  <a:pt x="11725" y="6869"/>
                </a:lnTo>
                <a:lnTo>
                  <a:pt x="11632" y="6392"/>
                </a:lnTo>
                <a:lnTo>
                  <a:pt x="11514" y="5783"/>
                </a:lnTo>
                <a:lnTo>
                  <a:pt x="11461" y="5512"/>
                </a:lnTo>
                <a:lnTo>
                  <a:pt x="11381" y="5099"/>
                </a:lnTo>
                <a:close/>
              </a:path>
              <a:path w="27939" h="20954">
                <a:moveTo>
                  <a:pt x="8200" y="526"/>
                </a:moveTo>
                <a:lnTo>
                  <a:pt x="4019" y="1341"/>
                </a:lnTo>
                <a:lnTo>
                  <a:pt x="9407" y="1341"/>
                </a:lnTo>
                <a:lnTo>
                  <a:pt x="8200" y="526"/>
                </a:lnTo>
                <a:close/>
              </a:path>
              <a:path w="27939" h="20954">
                <a:moveTo>
                  <a:pt x="7876" y="0"/>
                </a:moveTo>
                <a:lnTo>
                  <a:pt x="7259" y="0"/>
                </a:lnTo>
                <a:lnTo>
                  <a:pt x="8808" y="320"/>
                </a:lnTo>
                <a:lnTo>
                  <a:pt x="7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89895" y="3662617"/>
            <a:ext cx="67310" cy="17780"/>
          </a:xfrm>
          <a:custGeom>
            <a:avLst/>
            <a:gdLst/>
            <a:ahLst/>
            <a:cxnLst/>
            <a:rect l="l" t="t" r="r" b="b"/>
            <a:pathLst>
              <a:path w="67310" h="17779">
                <a:moveTo>
                  <a:pt x="11823" y="14986"/>
                </a:moveTo>
                <a:lnTo>
                  <a:pt x="11188" y="12763"/>
                </a:lnTo>
                <a:lnTo>
                  <a:pt x="10414" y="12090"/>
                </a:lnTo>
                <a:lnTo>
                  <a:pt x="8851" y="11861"/>
                </a:lnTo>
                <a:lnTo>
                  <a:pt x="8242" y="11734"/>
                </a:lnTo>
                <a:lnTo>
                  <a:pt x="7670" y="11557"/>
                </a:lnTo>
                <a:lnTo>
                  <a:pt x="8178" y="9753"/>
                </a:lnTo>
                <a:lnTo>
                  <a:pt x="7124" y="7874"/>
                </a:lnTo>
                <a:lnTo>
                  <a:pt x="3797" y="6921"/>
                </a:lnTo>
                <a:lnTo>
                  <a:pt x="2171" y="7594"/>
                </a:lnTo>
                <a:lnTo>
                  <a:pt x="0" y="11582"/>
                </a:lnTo>
                <a:lnTo>
                  <a:pt x="228" y="15011"/>
                </a:lnTo>
                <a:lnTo>
                  <a:pt x="5092" y="17729"/>
                </a:lnTo>
                <a:lnTo>
                  <a:pt x="7607" y="17322"/>
                </a:lnTo>
                <a:lnTo>
                  <a:pt x="9779" y="16700"/>
                </a:lnTo>
                <a:lnTo>
                  <a:pt x="11074" y="16332"/>
                </a:lnTo>
                <a:lnTo>
                  <a:pt x="11823" y="14986"/>
                </a:lnTo>
                <a:close/>
              </a:path>
              <a:path w="67310" h="17779">
                <a:moveTo>
                  <a:pt x="67017" y="6489"/>
                </a:moveTo>
                <a:lnTo>
                  <a:pt x="65608" y="3975"/>
                </a:lnTo>
                <a:lnTo>
                  <a:pt x="64566" y="3352"/>
                </a:lnTo>
                <a:lnTo>
                  <a:pt x="61429" y="3289"/>
                </a:lnTo>
                <a:lnTo>
                  <a:pt x="60464" y="3060"/>
                </a:lnTo>
                <a:lnTo>
                  <a:pt x="59601" y="990"/>
                </a:lnTo>
                <a:lnTo>
                  <a:pt x="57226" y="0"/>
                </a:lnTo>
                <a:lnTo>
                  <a:pt x="53975" y="1358"/>
                </a:lnTo>
                <a:lnTo>
                  <a:pt x="53086" y="2374"/>
                </a:lnTo>
                <a:lnTo>
                  <a:pt x="51866" y="7137"/>
                </a:lnTo>
                <a:lnTo>
                  <a:pt x="54140" y="10591"/>
                </a:lnTo>
                <a:lnTo>
                  <a:pt x="60274" y="11493"/>
                </a:lnTo>
                <a:lnTo>
                  <a:pt x="62788" y="10490"/>
                </a:lnTo>
                <a:lnTo>
                  <a:pt x="64947" y="9283"/>
                </a:lnTo>
                <a:lnTo>
                  <a:pt x="66484" y="8420"/>
                </a:lnTo>
                <a:lnTo>
                  <a:pt x="67017" y="6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006265" y="3665919"/>
            <a:ext cx="59055" cy="12700"/>
          </a:xfrm>
          <a:custGeom>
            <a:avLst/>
            <a:gdLst/>
            <a:ahLst/>
            <a:cxnLst/>
            <a:rect l="l" t="t" r="r" b="b"/>
            <a:pathLst>
              <a:path w="59054" h="12700">
                <a:moveTo>
                  <a:pt x="18948" y="4927"/>
                </a:moveTo>
                <a:lnTo>
                  <a:pt x="17564" y="1016"/>
                </a:lnTo>
                <a:lnTo>
                  <a:pt x="15405" y="0"/>
                </a:lnTo>
                <a:lnTo>
                  <a:pt x="13144" y="812"/>
                </a:lnTo>
                <a:lnTo>
                  <a:pt x="584" y="7188"/>
                </a:lnTo>
                <a:lnTo>
                  <a:pt x="0" y="8978"/>
                </a:lnTo>
                <a:lnTo>
                  <a:pt x="1473" y="11899"/>
                </a:lnTo>
                <a:lnTo>
                  <a:pt x="1701" y="11899"/>
                </a:lnTo>
                <a:lnTo>
                  <a:pt x="2984" y="12407"/>
                </a:lnTo>
                <a:lnTo>
                  <a:pt x="17653" y="7188"/>
                </a:lnTo>
                <a:lnTo>
                  <a:pt x="17881" y="7188"/>
                </a:lnTo>
                <a:lnTo>
                  <a:pt x="18948" y="4927"/>
                </a:lnTo>
                <a:close/>
              </a:path>
              <a:path w="59054" h="12700">
                <a:moveTo>
                  <a:pt x="58534" y="8801"/>
                </a:moveTo>
                <a:lnTo>
                  <a:pt x="57912" y="6756"/>
                </a:lnTo>
                <a:lnTo>
                  <a:pt x="57480" y="6210"/>
                </a:lnTo>
                <a:lnTo>
                  <a:pt x="56451" y="5613"/>
                </a:lnTo>
                <a:lnTo>
                  <a:pt x="56184" y="3187"/>
                </a:lnTo>
                <a:lnTo>
                  <a:pt x="56172" y="3022"/>
                </a:lnTo>
                <a:lnTo>
                  <a:pt x="54521" y="1701"/>
                </a:lnTo>
                <a:lnTo>
                  <a:pt x="51193" y="2044"/>
                </a:lnTo>
                <a:lnTo>
                  <a:pt x="49999" y="3187"/>
                </a:lnTo>
                <a:lnTo>
                  <a:pt x="49098" y="8572"/>
                </a:lnTo>
                <a:lnTo>
                  <a:pt x="52438" y="11874"/>
                </a:lnTo>
                <a:lnTo>
                  <a:pt x="57734" y="10287"/>
                </a:lnTo>
                <a:lnTo>
                  <a:pt x="58534" y="8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80679" y="3543751"/>
            <a:ext cx="945501" cy="18190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5270439" y="3533857"/>
            <a:ext cx="755015" cy="218440"/>
            <a:chOff x="5270439" y="3533857"/>
            <a:chExt cx="755015" cy="21844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0439" y="3533857"/>
              <a:ext cx="707041" cy="21819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016940" y="3729479"/>
              <a:ext cx="8255" cy="10795"/>
            </a:xfrm>
            <a:custGeom>
              <a:avLst/>
              <a:gdLst/>
              <a:ahLst/>
              <a:cxnLst/>
              <a:rect l="l" t="t" r="r" b="b"/>
              <a:pathLst>
                <a:path w="8254" h="10795">
                  <a:moveTo>
                    <a:pt x="5745" y="0"/>
                  </a:moveTo>
                  <a:lnTo>
                    <a:pt x="3095" y="434"/>
                  </a:lnTo>
                  <a:lnTo>
                    <a:pt x="2237" y="1129"/>
                  </a:lnTo>
                  <a:lnTo>
                    <a:pt x="0" y="6636"/>
                  </a:lnTo>
                  <a:lnTo>
                    <a:pt x="934" y="8841"/>
                  </a:lnTo>
                  <a:lnTo>
                    <a:pt x="4800" y="10405"/>
                  </a:lnTo>
                  <a:lnTo>
                    <a:pt x="6994" y="9471"/>
                  </a:lnTo>
                  <a:lnTo>
                    <a:pt x="8048" y="6896"/>
                  </a:lnTo>
                  <a:lnTo>
                    <a:pt x="8004" y="5506"/>
                  </a:lnTo>
                  <a:lnTo>
                    <a:pt x="7282" y="1129"/>
                  </a:lnTo>
                  <a:lnTo>
                    <a:pt x="5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49921" y="3827123"/>
            <a:ext cx="5321300" cy="17557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50">
                <a:latin typeface="Microsoft JhengHei UI"/>
                <a:cs typeface="Microsoft JhengHei UI"/>
              </a:rPr>
              <a:t>梯度为 </a:t>
            </a:r>
            <a:r>
              <a:rPr dirty="0" sz="900">
                <a:latin typeface="Microsoft JhengHei UI"/>
                <a:cs typeface="Microsoft JhengHei UI"/>
              </a:rPr>
              <a:t>0</a:t>
            </a:r>
            <a:r>
              <a:rPr dirty="0" sz="900" spc="15">
                <a:latin typeface="Microsoft JhengHei UI"/>
                <a:cs typeface="Microsoft JhengHei UI"/>
              </a:rPr>
              <a:t> 意味着什么？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80">
                <a:latin typeface="Microsoft JhengHei UI"/>
                <a:cs typeface="Microsoft JhengHei UI"/>
              </a:rPr>
              <a:t>当 </a:t>
            </a:r>
            <a:r>
              <a:rPr dirty="0" sz="900" spc="70">
                <a:latin typeface="Microsoft JhengHei UI"/>
                <a:cs typeface="Microsoft JhengHei UI"/>
              </a:rPr>
              <a:t>BPTT</a:t>
            </a:r>
            <a:r>
              <a:rPr dirty="0" sz="900" spc="45">
                <a:latin typeface="Microsoft JhengHei UI"/>
                <a:cs typeface="Microsoft JhengHei UI"/>
              </a:rPr>
              <a:t> 算法算出 </a:t>
            </a:r>
            <a:r>
              <a:rPr dirty="0" sz="900" spc="-90">
                <a:latin typeface="Microsoft JhengHei UI"/>
                <a:cs typeface="Microsoft JhengHei UI"/>
              </a:rPr>
              <a:t>t=11</a:t>
            </a:r>
            <a:r>
              <a:rPr dirty="0" sz="900" spc="40">
                <a:latin typeface="Microsoft JhengHei UI"/>
                <a:cs typeface="Microsoft JhengHei UI"/>
              </a:rPr>
              <a:t> 处的梯度为 </a:t>
            </a:r>
            <a:r>
              <a:rPr dirty="0" sz="900">
                <a:latin typeface="Microsoft JhengHei UI"/>
                <a:cs typeface="Microsoft JhengHei UI"/>
              </a:rPr>
              <a:t>0 时，它等于在说：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900">
                <a:latin typeface="Microsoft JhengHei UI"/>
                <a:cs typeface="Microsoft JhengHei UI"/>
              </a:rPr>
              <a:t>“（t=1000</a:t>
            </a:r>
            <a:r>
              <a:rPr dirty="0" sz="900" spc="75">
                <a:latin typeface="Microsoft JhengHei UI"/>
                <a:cs typeface="Microsoft JhengHei UI"/>
              </a:rPr>
              <a:t> 处的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30">
                <a:latin typeface="Microsoft JhengHei UI"/>
                <a:cs typeface="Microsoft JhengHei UI"/>
              </a:rPr>
              <a:t>最终误差，与 </a:t>
            </a:r>
            <a:r>
              <a:rPr dirty="0" sz="900" spc="-65">
                <a:latin typeface="Microsoft JhengHei UI"/>
                <a:cs typeface="Microsoft JhengHei UI"/>
              </a:rPr>
              <a:t>t=1</a:t>
            </a:r>
            <a:r>
              <a:rPr dirty="0" sz="900" spc="140">
                <a:latin typeface="Microsoft JhengHei UI"/>
                <a:cs typeface="Microsoft JhengHei UI"/>
              </a:rPr>
              <a:t> 处</a:t>
            </a:r>
            <a:r>
              <a:rPr dirty="0" sz="900">
                <a:latin typeface="Microsoft JhengHei UI"/>
                <a:cs typeface="Microsoft JhengHei UI"/>
              </a:rPr>
              <a:t>（“</a:t>
            </a:r>
            <a:r>
              <a:rPr dirty="0" sz="900" spc="50">
                <a:latin typeface="Microsoft JhengHei UI"/>
                <a:cs typeface="Microsoft JhengHei UI"/>
              </a:rPr>
              <a:t>法国</a:t>
            </a:r>
            <a:r>
              <a:rPr dirty="0" sz="900">
                <a:latin typeface="Microsoft JhengHei UI"/>
                <a:cs typeface="Microsoft JhengHei UI"/>
              </a:rPr>
              <a:t>”）</a:t>
            </a:r>
            <a:r>
              <a:rPr dirty="0" sz="900" spc="40">
                <a:latin typeface="Microsoft JhengHei UI"/>
                <a:cs typeface="Microsoft JhengHei UI"/>
              </a:rPr>
              <a:t>发⽣了什么，完全没有关系。”</a:t>
            </a:r>
            <a:endParaRPr sz="900">
              <a:latin typeface="Microsoft JhengHei UI"/>
              <a:cs typeface="Microsoft JhengHei U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Microsoft JhengHei UI"/>
                <a:cs typeface="Microsoft JhengHei UI"/>
              </a:rPr>
              <a:t>学习失败：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 spc="70">
                <a:latin typeface="Microsoft JhengHei UI"/>
                <a:cs typeface="Microsoft JhengHei UI"/>
              </a:rPr>
              <a:t>既然“梯度为 </a:t>
            </a:r>
            <a:r>
              <a:rPr dirty="0" sz="900">
                <a:latin typeface="Microsoft JhengHei UI"/>
                <a:cs typeface="Microsoft JhengHei UI"/>
              </a:rPr>
              <a:t>0”，算法就不会（也⽆法）</a:t>
            </a:r>
            <a:r>
              <a:rPr dirty="0" sz="900" spc="90">
                <a:latin typeface="Microsoft JhengHei UI"/>
                <a:cs typeface="Microsoft JhengHei UI"/>
              </a:rPr>
              <a:t>更新 </a:t>
            </a:r>
            <a:r>
              <a:rPr dirty="0" sz="900" spc="-65">
                <a:latin typeface="Microsoft JhengHei UI"/>
                <a:cs typeface="Microsoft JhengHei UI"/>
              </a:rPr>
              <a:t>t=1</a:t>
            </a:r>
            <a:r>
              <a:rPr dirty="0" sz="900" spc="30">
                <a:latin typeface="Microsoft JhengHei UI"/>
                <a:cs typeface="Microsoft JhengHei UI"/>
              </a:rPr>
              <a:t> 时的权重。</a:t>
            </a:r>
            <a:endParaRPr sz="9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72800"/>
              </a:lnSpc>
            </a:pPr>
            <a:r>
              <a:rPr dirty="0" sz="900">
                <a:latin typeface="Microsoft JhengHei UI"/>
                <a:cs typeface="Microsoft JhengHei UI"/>
              </a:rPr>
              <a:t>"Gradient</a:t>
            </a:r>
            <a:r>
              <a:rPr dirty="0" sz="900" spc="16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contributions</a:t>
            </a:r>
            <a:r>
              <a:rPr dirty="0" sz="900" spc="17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from</a:t>
            </a:r>
            <a:r>
              <a:rPr dirty="0" sz="900" spc="17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'far</a:t>
            </a:r>
            <a:r>
              <a:rPr dirty="0" sz="900" spc="17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away'</a:t>
            </a:r>
            <a:r>
              <a:rPr dirty="0" sz="900" spc="17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steps</a:t>
            </a:r>
            <a:r>
              <a:rPr dirty="0" sz="900" spc="16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become</a:t>
            </a:r>
            <a:r>
              <a:rPr dirty="0" sz="900" spc="17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zero"（</a:t>
            </a:r>
            <a:r>
              <a:rPr dirty="0" sz="900" spc="10">
                <a:latin typeface="Microsoft JhengHei UI"/>
                <a:cs typeface="Microsoft JhengHei UI"/>
              </a:rPr>
              <a:t>来⾃遥远步骤的梯度贡献变为 </a:t>
            </a:r>
            <a:r>
              <a:rPr dirty="0" sz="900">
                <a:latin typeface="Microsoft JhengHei UI"/>
                <a:cs typeface="Microsoft JhengHei UI"/>
              </a:rPr>
              <a:t>0）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r>
              <a:rPr dirty="0" sz="900">
                <a:latin typeface="Microsoft JhengHei UI"/>
                <a:cs typeface="Microsoft JhengHei UI"/>
              </a:rPr>
              <a:t> "forget</a:t>
            </a:r>
            <a:r>
              <a:rPr dirty="0" sz="900" spc="24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old</a:t>
            </a:r>
            <a:r>
              <a:rPr dirty="0" sz="900" spc="24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information"（（算法被迫）忘记了旧信息）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505777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65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34668" y="2274328"/>
            <a:ext cx="7030084" cy="34766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5600" marR="99060" indent="-342900">
              <a:lnSpc>
                <a:spcPts val="3020"/>
              </a:lnSpc>
              <a:spcBef>
                <a:spcPts val="47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LSTM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was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invented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solve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vanishing </a:t>
            </a:r>
            <a:r>
              <a:rPr dirty="0" sz="2800">
                <a:latin typeface="Tahoma"/>
                <a:cs typeface="Tahoma"/>
              </a:rPr>
              <a:t>gradients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problem.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47625" indent="-342900">
              <a:lnSpc>
                <a:spcPts val="302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LSTM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maintain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more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constant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error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flow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back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propagation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process.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ts val="302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LSTM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can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handle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large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sequences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are </a:t>
            </a:r>
            <a:r>
              <a:rPr dirty="0" sz="2800">
                <a:latin typeface="Tahoma"/>
                <a:cs typeface="Tahoma"/>
              </a:rPr>
              <a:t>linked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remotely.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0013" y="232487"/>
            <a:ext cx="8422640" cy="801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 spc="-15">
                <a:latin typeface="Times New Roman"/>
                <a:cs typeface="Times New Roman"/>
              </a:rPr>
              <a:t>LSTM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被发明出来，就是为了解决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梯度消失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问题。</a:t>
            </a:r>
            <a:r>
              <a:rPr dirty="0" sz="1100" spc="-15">
                <a:latin typeface="Times New Roman"/>
                <a:cs typeface="Times New Roman"/>
              </a:rPr>
              <a:t>LSTM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在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反向传播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过程中，能够维持⼀个更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恒定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的误差流。在 </a:t>
            </a:r>
            <a:r>
              <a:rPr dirty="0" sz="1100" spc="-10">
                <a:latin typeface="Times New Roman"/>
                <a:cs typeface="Times New Roman"/>
              </a:rPr>
              <a:t>Elman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⽹络中，梯度会连乘 </a:t>
            </a:r>
            <a:r>
              <a:rPr dirty="0" sz="1100" spc="-5">
                <a:latin typeface="Times New Roman"/>
                <a:cs typeface="Times New Roman"/>
              </a:rPr>
              <a:t>0.1 </a:t>
            </a:r>
            <a:r>
              <a:rPr dirty="0" sz="1100" spc="-10">
                <a:latin typeface="Times New Roman"/>
                <a:cs typeface="Times New Roman"/>
              </a:rPr>
              <a:t>*</a:t>
            </a:r>
            <a:r>
              <a:rPr dirty="0" sz="1100" spc="-5">
                <a:latin typeface="Times New Roman"/>
                <a:cs typeface="Times New Roman"/>
              </a:rPr>
              <a:t> 0.1 </a:t>
            </a:r>
            <a:r>
              <a:rPr dirty="0" sz="1100" spc="-10">
                <a:latin typeface="Times New Roman"/>
                <a:cs typeface="Times New Roman"/>
              </a:rPr>
              <a:t>*</a:t>
            </a:r>
            <a:r>
              <a:rPr dirty="0" sz="1100" spc="-5">
                <a:latin typeface="Times New Roman"/>
                <a:cs typeface="Times New Roman"/>
              </a:rPr>
              <a:t> ... </a:t>
            </a:r>
            <a:r>
              <a:rPr dirty="0" sz="1100" spc="-15">
                <a:latin typeface="Microsoft JhengHei UI"/>
                <a:cs typeface="Microsoft JhengHei UI"/>
              </a:rPr>
              <a:t>然后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消失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；⽽在 </a:t>
            </a:r>
            <a:r>
              <a:rPr dirty="0" sz="1100" spc="-15">
                <a:latin typeface="Times New Roman"/>
                <a:cs typeface="Times New Roman"/>
              </a:rPr>
              <a:t>LSTM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中，它被设计为可以像 </a:t>
            </a:r>
            <a:r>
              <a:rPr dirty="0" sz="1100" spc="-5">
                <a:latin typeface="Times New Roman"/>
                <a:cs typeface="Times New Roman"/>
              </a:rPr>
              <a:t>1.0 </a:t>
            </a:r>
            <a:r>
              <a:rPr dirty="0" sz="1100" spc="-10">
                <a:latin typeface="Times New Roman"/>
                <a:cs typeface="Times New Roman"/>
              </a:rPr>
              <a:t>*</a:t>
            </a:r>
            <a:r>
              <a:rPr dirty="0" sz="1100" spc="-5">
                <a:latin typeface="Times New Roman"/>
                <a:cs typeface="Times New Roman"/>
              </a:rPr>
              <a:t> 1.0 </a:t>
            </a:r>
            <a:r>
              <a:rPr dirty="0" sz="1100" spc="-10">
                <a:latin typeface="Times New Roman"/>
                <a:cs typeface="Times New Roman"/>
              </a:rPr>
              <a:t>*</a:t>
            </a:r>
            <a:r>
              <a:rPr dirty="0" sz="1100" spc="-5">
                <a:latin typeface="Times New Roman"/>
                <a:cs typeface="Times New Roman"/>
              </a:rPr>
              <a:t> ... </a:t>
            </a:r>
            <a:r>
              <a:rPr dirty="0" sz="1100" spc="-15">
                <a:latin typeface="Microsoft JhengHei UI"/>
                <a:cs typeface="Microsoft JhengHei UI"/>
              </a:rPr>
              <a:t>⼀样流动，不会消失。</a:t>
            </a:r>
            <a:r>
              <a:rPr dirty="0" sz="1100" spc="-10">
                <a:latin typeface="Times New Roman"/>
                <a:cs typeface="Times New Roman"/>
              </a:rPr>
              <a:t>Elman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⽹络（简单 </a:t>
            </a:r>
            <a:r>
              <a:rPr dirty="0" sz="1100" spc="-20">
                <a:latin typeface="Times New Roman"/>
                <a:cs typeface="Times New Roman"/>
              </a:rPr>
              <a:t>RNN</a:t>
            </a:r>
            <a:r>
              <a:rPr dirty="0" sz="1100" spc="-20">
                <a:latin typeface="Microsoft JhengHei UI"/>
                <a:cs typeface="Microsoft JhengHei UI"/>
              </a:rPr>
              <a:t>）</a:t>
            </a:r>
            <a:r>
              <a:rPr dirty="0" sz="1100" spc="-15">
                <a:latin typeface="Microsoft JhengHei UI"/>
                <a:cs typeface="Microsoft JhengHei UI"/>
              </a:rPr>
              <a:t>的梯度传不回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法国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；⽽ </a:t>
            </a:r>
            <a:r>
              <a:rPr dirty="0" sz="1100" spc="-15">
                <a:latin typeface="Times New Roman"/>
                <a:cs typeface="Times New Roman"/>
              </a:rPr>
              <a:t>LSTM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的梯度（误差）可以轻松地从</a:t>
            </a: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法语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⼀路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恒定地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传播回 </a:t>
            </a:r>
            <a:r>
              <a:rPr dirty="0" sz="1100" spc="-10">
                <a:latin typeface="Times New Roman"/>
                <a:cs typeface="Times New Roman"/>
              </a:rPr>
              <a:t>100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Microsoft JhengHei UI"/>
                <a:cs typeface="Microsoft JhengHei UI"/>
              </a:rPr>
              <a:t>个词之前的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法国</a:t>
            </a:r>
            <a:r>
              <a:rPr dirty="0" sz="1100" spc="-10">
                <a:latin typeface="Times New Roman"/>
                <a:cs typeface="Times New Roman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，从⽽让⽹络学会这个</a:t>
            </a:r>
            <a:r>
              <a:rPr dirty="0" sz="1100" spc="-5">
                <a:latin typeface="Times New Roman"/>
                <a:cs typeface="Times New Roman"/>
              </a:rPr>
              <a:t>“</a:t>
            </a:r>
            <a:r>
              <a:rPr dirty="0" sz="1100" spc="-15">
                <a:latin typeface="Microsoft JhengHei UI"/>
                <a:cs typeface="Microsoft JhengHei UI"/>
              </a:rPr>
              <a:t>⻓期</a:t>
            </a:r>
            <a:r>
              <a:rPr dirty="0" sz="1100" spc="-5">
                <a:latin typeface="Times New Roman"/>
                <a:cs typeface="Times New Roman"/>
              </a:rPr>
              <a:t>”</a:t>
            </a:r>
            <a:r>
              <a:rPr dirty="0" sz="1100" spc="-15">
                <a:latin typeface="Microsoft JhengHei UI"/>
                <a:cs typeface="Microsoft JhengHei UI"/>
              </a:rPr>
              <a:t>的关联。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31262" y="1143656"/>
            <a:ext cx="2327275" cy="413384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100" b="1">
                <a:latin typeface="Times New Roman"/>
                <a:cs typeface="Times New Roman"/>
              </a:rPr>
              <a:t>"LSTM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-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same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idea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as</a:t>
            </a:r>
            <a:r>
              <a:rPr dirty="0" sz="1100" spc="-3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RNN"</a:t>
            </a:r>
            <a:r>
              <a:rPr dirty="0" sz="1100" spc="-3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Microsoft JhengHei UI"/>
                <a:cs typeface="Microsoft JhengHei UI"/>
              </a:rPr>
              <a:t>（</a:t>
            </a:r>
            <a:r>
              <a:rPr dirty="0" sz="1100" spc="-20" b="1">
                <a:latin typeface="Times New Roman"/>
                <a:cs typeface="Times New Roman"/>
              </a:rPr>
              <a:t>LSTM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00" spc="-10" b="1">
                <a:latin typeface="Times New Roman"/>
                <a:cs typeface="Times New Roman"/>
              </a:rPr>
              <a:t>— </a:t>
            </a:r>
            <a:r>
              <a:rPr dirty="0" sz="1100" spc="-5" b="1">
                <a:latin typeface="Microsoft JhengHei UI"/>
                <a:cs typeface="Microsoft JhengHei UI"/>
              </a:rPr>
              <a:t>和 </a:t>
            </a:r>
            <a:r>
              <a:rPr dirty="0" sz="1100" b="1">
                <a:latin typeface="Times New Roman"/>
                <a:cs typeface="Times New Roman"/>
              </a:rPr>
              <a:t>RNN</a:t>
            </a:r>
            <a:r>
              <a:rPr dirty="0" sz="1100" spc="-10" b="1">
                <a:latin typeface="Times New Roman"/>
                <a:cs typeface="Times New Roman"/>
              </a:rPr>
              <a:t> </a:t>
            </a:r>
            <a:r>
              <a:rPr dirty="0" sz="1100" spc="-20" b="1">
                <a:latin typeface="Microsoft JhengHei UI"/>
                <a:cs typeface="Microsoft JhengHei UI"/>
              </a:rPr>
              <a:t>是同样的想法</a:t>
            </a:r>
            <a:r>
              <a:rPr dirty="0" sz="1100" spc="-50" b="1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80"/>
              <a:t> </a:t>
            </a:r>
            <a:r>
              <a:rPr dirty="0"/>
              <a:t>–</a:t>
            </a:r>
            <a:r>
              <a:rPr dirty="0" spc="-70"/>
              <a:t> </a:t>
            </a:r>
            <a:r>
              <a:rPr dirty="0"/>
              <a:t>same</a:t>
            </a:r>
            <a:r>
              <a:rPr dirty="0" spc="-70"/>
              <a:t> </a:t>
            </a:r>
            <a:r>
              <a:rPr dirty="0"/>
              <a:t>idea</a:t>
            </a:r>
            <a:r>
              <a:rPr dirty="0" spc="-65"/>
              <a:t> </a:t>
            </a:r>
            <a:r>
              <a:rPr dirty="0"/>
              <a:t>as</a:t>
            </a:r>
            <a:r>
              <a:rPr dirty="0" spc="-65"/>
              <a:t> </a:t>
            </a:r>
            <a:r>
              <a:rPr dirty="0" spc="-25"/>
              <a:t>RNN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70" y="2060448"/>
            <a:ext cx="6715881" cy="44958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74094" y="2306760"/>
            <a:ext cx="360299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25" b="1">
                <a:latin typeface="Microsoft JhengHei UI"/>
                <a:cs typeface="Microsoft JhengHei UI"/>
              </a:rPr>
              <a:t>它“吃”进 </a:t>
            </a:r>
            <a:r>
              <a:rPr dirty="0" sz="1000" b="1">
                <a:latin typeface="Microsoft JhengHei UI"/>
                <a:cs typeface="Microsoft JhengHei UI"/>
              </a:rPr>
              <a:t>2</a:t>
            </a:r>
            <a:r>
              <a:rPr dirty="0" sz="1000" spc="45" b="1">
                <a:latin typeface="Microsoft JhengHei UI"/>
                <a:cs typeface="Microsoft JhengHei UI"/>
              </a:rPr>
              <a:t> 个东⻄</a:t>
            </a:r>
            <a:r>
              <a:rPr dirty="0" sz="1000" b="1">
                <a:latin typeface="Microsoft JhengHei UI"/>
                <a:cs typeface="Microsoft JhengHei UI"/>
              </a:rPr>
              <a:t>（输⼊</a:t>
            </a:r>
            <a:r>
              <a:rPr dirty="0" sz="1000" spc="-25" b="1">
                <a:latin typeface="Microsoft JhengHei UI"/>
                <a:cs typeface="Microsoft JhengHei UI"/>
              </a:rPr>
              <a:t>）：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000" b="1">
                <a:latin typeface="Microsoft JhengHei UI"/>
                <a:cs typeface="Microsoft JhengHei UI"/>
              </a:rPr>
              <a:t>x_t：</a:t>
            </a:r>
            <a:r>
              <a:rPr dirty="0" sz="1000" spc="60" b="1">
                <a:latin typeface="Microsoft JhengHei UI"/>
                <a:cs typeface="Microsoft JhengHei UI"/>
              </a:rPr>
              <a:t>当前时刻的输⼊（</a:t>
            </a:r>
            <a:r>
              <a:rPr dirty="0" sz="1000" spc="50" b="1">
                <a:latin typeface="Microsoft JhengHei UI"/>
                <a:cs typeface="Microsoft JhengHei UI"/>
              </a:rPr>
              <a:t>⽐如，当前的词“法语</a:t>
            </a:r>
            <a:r>
              <a:rPr dirty="0" sz="1000" b="1">
                <a:latin typeface="Microsoft JhengHei UI"/>
                <a:cs typeface="Microsoft JhengHei UI"/>
              </a:rPr>
              <a:t>”）</a:t>
            </a:r>
            <a:r>
              <a:rPr dirty="0" sz="1000" spc="10" b="1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  <a:p>
            <a:pPr marL="254635" marR="5080" indent="-242570">
              <a:lnSpc>
                <a:spcPct val="120900"/>
              </a:lnSpc>
              <a:spcBef>
                <a:spcPts val="655"/>
              </a:spcBef>
            </a:pPr>
            <a:r>
              <a:rPr dirty="0" sz="1000" b="1">
                <a:latin typeface="Microsoft JhengHei UI"/>
                <a:cs typeface="Microsoft JhengHei UI"/>
              </a:rPr>
              <a:t>s_{t-</a:t>
            </a:r>
            <a:r>
              <a:rPr dirty="0" sz="1000" spc="50" b="1">
                <a:latin typeface="Microsoft JhengHei UI"/>
                <a:cs typeface="Microsoft JhengHei UI"/>
              </a:rPr>
              <a:t>1}：</a:t>
            </a:r>
            <a:r>
              <a:rPr dirty="0" sz="1000" spc="60" b="1">
                <a:latin typeface="Microsoft JhengHei UI"/>
                <a:cs typeface="Microsoft JhengHei UI"/>
              </a:rPr>
              <a:t>上⼀刻的“状态</a:t>
            </a:r>
            <a:r>
              <a:rPr dirty="0" sz="1000" spc="55" b="1">
                <a:latin typeface="Microsoft JhengHei UI"/>
                <a:cs typeface="Microsoft JhengHei UI"/>
              </a:rPr>
              <a:t>”（即“旧记忆”，⽐如 </a:t>
            </a:r>
            <a:r>
              <a:rPr dirty="0" sz="1000" b="1">
                <a:latin typeface="Microsoft JhengHei UI"/>
                <a:cs typeface="Microsoft JhengHei UI"/>
              </a:rPr>
              <a:t>t-1</a:t>
            </a:r>
            <a:r>
              <a:rPr dirty="0" sz="1000" spc="45" b="1">
                <a:latin typeface="Microsoft JhengHei UI"/>
                <a:cs typeface="Microsoft JhengHei UI"/>
              </a:rPr>
              <a:t> 时刻的“思</a:t>
            </a:r>
            <a:r>
              <a:rPr dirty="0" sz="1000" spc="80" b="1">
                <a:latin typeface="Microsoft JhengHei UI"/>
                <a:cs typeface="Microsoft JhengHei UI"/>
              </a:rPr>
              <a:t>考结果</a:t>
            </a:r>
            <a:r>
              <a:rPr dirty="0" sz="1000" spc="55" b="1">
                <a:latin typeface="Microsoft JhengHei UI"/>
                <a:cs typeface="Microsoft JhengHei UI"/>
              </a:rPr>
              <a:t>”）</a:t>
            </a:r>
            <a:r>
              <a:rPr dirty="0" sz="1000" spc="30" b="1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12271" y="2095083"/>
            <a:ext cx="180149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25" b="1">
                <a:latin typeface="Microsoft JhengHei UI"/>
                <a:cs typeface="Microsoft JhengHei UI"/>
              </a:rPr>
              <a:t>它“吐”出 </a:t>
            </a:r>
            <a:r>
              <a:rPr dirty="0" sz="1000" b="1">
                <a:latin typeface="Microsoft JhengHei UI"/>
                <a:cs typeface="Microsoft JhengHei UI"/>
              </a:rPr>
              <a:t>2</a:t>
            </a:r>
            <a:r>
              <a:rPr dirty="0" sz="1000" spc="45" b="1">
                <a:latin typeface="Microsoft JhengHei UI"/>
                <a:cs typeface="Microsoft JhengHei UI"/>
              </a:rPr>
              <a:t> 个东⻄</a:t>
            </a:r>
            <a:r>
              <a:rPr dirty="0" sz="1000" b="1">
                <a:latin typeface="Microsoft JhengHei UI"/>
                <a:cs typeface="Microsoft JhengHei UI"/>
              </a:rPr>
              <a:t>（输出</a:t>
            </a:r>
            <a:r>
              <a:rPr dirty="0" sz="1000" spc="-25" b="1">
                <a:latin typeface="Microsoft JhengHei UI"/>
                <a:cs typeface="Microsoft JhengHei UI"/>
              </a:rPr>
              <a:t>）：</a:t>
            </a:r>
            <a:endParaRPr sz="1000">
              <a:latin typeface="Microsoft JhengHei UI"/>
              <a:cs typeface="Microsoft Jheng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12271" y="2362476"/>
            <a:ext cx="3696335" cy="1087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b="1">
                <a:latin typeface="Microsoft JhengHei UI"/>
                <a:cs typeface="Microsoft JhengHei UI"/>
              </a:rPr>
              <a:t>y_t：</a:t>
            </a:r>
            <a:r>
              <a:rPr dirty="0" sz="1000" spc="50" b="1">
                <a:latin typeface="Microsoft JhengHei UI"/>
                <a:cs typeface="Microsoft JhengHei UI"/>
              </a:rPr>
              <a:t>当前时刻的输出（</a:t>
            </a:r>
            <a:r>
              <a:rPr dirty="0" sz="1000" spc="45" b="1">
                <a:latin typeface="Microsoft JhengHei UI"/>
                <a:cs typeface="Microsoft JhengHei UI"/>
              </a:rPr>
              <a:t>⽐如，对下⼀个词的“预测</a:t>
            </a:r>
            <a:r>
              <a:rPr dirty="0" sz="1000" b="1">
                <a:latin typeface="Microsoft JhengHei UI"/>
                <a:cs typeface="Microsoft JhengHei UI"/>
              </a:rPr>
              <a:t>”）。</a:t>
            </a:r>
            <a:endParaRPr sz="1000">
              <a:latin typeface="Microsoft JhengHei UI"/>
              <a:cs typeface="Microsoft JhengHei UI"/>
            </a:endParaRPr>
          </a:p>
          <a:p>
            <a:pPr marL="254635" marR="5080" indent="-242570">
              <a:lnSpc>
                <a:spcPct val="120900"/>
              </a:lnSpc>
              <a:spcBef>
                <a:spcPts val="655"/>
              </a:spcBef>
            </a:pPr>
            <a:r>
              <a:rPr dirty="0" sz="1000" b="1">
                <a:latin typeface="Microsoft JhengHei UI"/>
                <a:cs typeface="Microsoft JhengHei UI"/>
              </a:rPr>
              <a:t>s_t：</a:t>
            </a:r>
            <a:r>
              <a:rPr dirty="0" sz="1000" spc="65" b="1">
                <a:latin typeface="Microsoft JhengHei UI"/>
                <a:cs typeface="Microsoft JhengHei UI"/>
              </a:rPr>
              <a:t>当前时刻的“新状态</a:t>
            </a:r>
            <a:r>
              <a:rPr dirty="0" sz="1000" spc="55" b="1">
                <a:latin typeface="Microsoft JhengHei UI"/>
                <a:cs typeface="Microsoft JhengHei UI"/>
              </a:rPr>
              <a:t>”（即“新记忆”，它将被传递到 </a:t>
            </a:r>
            <a:r>
              <a:rPr dirty="0" sz="1000" spc="-80" b="1">
                <a:latin typeface="Microsoft JhengHei UI"/>
                <a:cs typeface="Microsoft JhengHei UI"/>
              </a:rPr>
              <a:t>t+1</a:t>
            </a:r>
            <a:r>
              <a:rPr dirty="0" sz="1000" spc="45" b="1">
                <a:latin typeface="Microsoft JhengHei UI"/>
                <a:cs typeface="Microsoft JhengHei UI"/>
              </a:rPr>
              <a:t> 时</a:t>
            </a:r>
            <a:r>
              <a:rPr dirty="0" sz="1000" b="1">
                <a:latin typeface="Microsoft JhengHei UI"/>
                <a:cs typeface="Microsoft JhengHei UI"/>
              </a:rPr>
              <a:t>刻）</a:t>
            </a:r>
            <a:r>
              <a:rPr dirty="0" sz="1000" spc="-50" b="1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  <a:p>
            <a:pPr marL="254635" marR="82550" indent="-242570">
              <a:lnSpc>
                <a:spcPct val="120900"/>
              </a:lnSpc>
              <a:spcBef>
                <a:spcPts val="655"/>
              </a:spcBef>
            </a:pPr>
            <a:r>
              <a:rPr dirty="0" sz="1000" b="1">
                <a:latin typeface="Microsoft JhengHei UI"/>
                <a:cs typeface="Microsoft JhengHei UI"/>
              </a:rPr>
              <a:t>(注：图中的 </a:t>
            </a:r>
            <a:r>
              <a:rPr dirty="0" sz="1000" spc="-20" b="1">
                <a:latin typeface="Microsoft JhengHei UI"/>
                <a:cs typeface="Microsoft JhengHei UI"/>
              </a:rPr>
              <a:t>s_{t+1}</a:t>
            </a:r>
            <a:r>
              <a:rPr dirty="0" sz="1000" spc="20" b="1">
                <a:latin typeface="Microsoft JhengHei UI"/>
                <a:cs typeface="Microsoft JhengHei UI"/>
              </a:rPr>
              <a:t> 应该是指“将被传到下⼀刻”的状态，我们</a:t>
            </a:r>
            <a:r>
              <a:rPr dirty="0" sz="1000" spc="45" b="1">
                <a:latin typeface="Microsoft JhengHei UI"/>
                <a:cs typeface="Microsoft JhengHei UI"/>
              </a:rPr>
              <a:t>通常把它记为 </a:t>
            </a:r>
            <a:r>
              <a:rPr dirty="0" sz="1000" b="1">
                <a:latin typeface="Microsoft JhengHei UI"/>
                <a:cs typeface="Microsoft JhengHei UI"/>
              </a:rPr>
              <a:t>s_t。)</a:t>
            </a:r>
            <a:endParaRPr sz="10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5253" y="2358245"/>
            <a:ext cx="5256596" cy="285267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39242" y="2165870"/>
            <a:ext cx="3181350" cy="452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basic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unit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hidden </a:t>
            </a:r>
            <a:r>
              <a:rPr dirty="0" sz="1800">
                <a:latin typeface="Tahoma"/>
                <a:cs typeface="Tahoma"/>
              </a:rPr>
              <a:t>layer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LSTM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network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is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block,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replaces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hidden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unit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a </a:t>
            </a:r>
            <a:r>
              <a:rPr dirty="0" sz="1800">
                <a:latin typeface="Tahoma"/>
                <a:cs typeface="Tahoma"/>
              </a:rPr>
              <a:t>traditional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RNN.</a:t>
            </a:r>
            <a:endParaRPr sz="1800">
              <a:latin typeface="Tahoma"/>
              <a:cs typeface="Tahoma"/>
            </a:endParaRPr>
          </a:p>
          <a:p>
            <a:pPr marL="355600" marR="24257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block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contains </a:t>
            </a:r>
            <a:r>
              <a:rPr dirty="0" sz="1800">
                <a:latin typeface="Tahoma"/>
                <a:cs typeface="Tahoma"/>
              </a:rPr>
              <a:t>one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more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cell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pair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adaptive </a:t>
            </a:r>
            <a:r>
              <a:rPr dirty="0" sz="1800">
                <a:latin typeface="Tahoma"/>
                <a:cs typeface="Tahoma"/>
              </a:rPr>
              <a:t>multiplicative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gating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units </a:t>
            </a:r>
            <a:r>
              <a:rPr dirty="0" sz="1800">
                <a:latin typeface="Tahoma"/>
                <a:cs typeface="Tahoma"/>
              </a:rPr>
              <a:t>which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gates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and </a:t>
            </a:r>
            <a:r>
              <a:rPr dirty="0" sz="1800">
                <a:latin typeface="Tahoma"/>
                <a:cs typeface="Tahoma"/>
              </a:rPr>
              <a:t>output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 spc="-10">
                <a:latin typeface="Tahoma"/>
                <a:cs typeface="Tahoma"/>
              </a:rPr>
              <a:t>block.</a:t>
            </a:r>
            <a:endParaRPr sz="1800">
              <a:latin typeface="Tahoma"/>
              <a:cs typeface="Tahoma"/>
            </a:endParaRPr>
          </a:p>
          <a:p>
            <a:pPr marL="355600" marR="201295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blocks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allow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cells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share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same</a:t>
            </a:r>
            <a:r>
              <a:rPr dirty="0" sz="1800" spc="-20">
                <a:latin typeface="Tahoma"/>
                <a:cs typeface="Tahoma"/>
              </a:rPr>
              <a:t> gates </a:t>
            </a:r>
            <a:r>
              <a:rPr dirty="0" sz="1800">
                <a:latin typeface="Tahoma"/>
                <a:cs typeface="Tahoma"/>
              </a:rPr>
              <a:t>thus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reducing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number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parameters.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98608" y="5426633"/>
            <a:ext cx="220662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RNN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with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one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FC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hidden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layer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57188" y="5374601"/>
            <a:ext cx="206756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015" marR="5080" indent="-234315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Tahoma"/>
                <a:cs typeface="Tahoma"/>
              </a:rPr>
              <a:t>LSTM</a:t>
            </a:r>
            <a:r>
              <a:rPr dirty="0" sz="1300" spc="-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network</a:t>
            </a:r>
            <a:r>
              <a:rPr dirty="0" sz="1300" spc="-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with</a:t>
            </a:r>
            <a:r>
              <a:rPr dirty="0" sz="1300" spc="-3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memory </a:t>
            </a:r>
            <a:r>
              <a:rPr dirty="0" sz="1300">
                <a:latin typeface="Tahoma"/>
                <a:cs typeface="Tahoma"/>
              </a:rPr>
              <a:t>blocks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in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hidden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layer </a:t>
            </a:r>
            <a:r>
              <a:rPr dirty="0" sz="1300">
                <a:latin typeface="Tahoma"/>
                <a:cs typeface="Tahoma"/>
              </a:rPr>
              <a:t>(only</a:t>
            </a:r>
            <a:r>
              <a:rPr dirty="0" sz="1300" spc="-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one</a:t>
            </a:r>
            <a:r>
              <a:rPr dirty="0" sz="1300" spc="-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is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shown)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4954" y="108201"/>
            <a:ext cx="7668895" cy="632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4610">
              <a:lnSpc>
                <a:spcPct val="120600"/>
              </a:lnSpc>
              <a:spcBef>
                <a:spcPts val="90"/>
              </a:spcBef>
            </a:pPr>
            <a:r>
              <a:rPr dirty="0" sz="950" b="1">
                <a:latin typeface="Times New Roman"/>
                <a:cs typeface="Times New Roman"/>
              </a:rPr>
              <a:t>Elman</a:t>
            </a:r>
            <a:r>
              <a:rPr dirty="0" sz="950" spc="235" b="1">
                <a:latin typeface="Times New Roman"/>
                <a:cs typeface="Times New Roman"/>
              </a:rPr>
              <a:t> </a:t>
            </a:r>
            <a:r>
              <a:rPr dirty="0" sz="950" spc="75" b="1">
                <a:latin typeface="Microsoft JhengHei UI"/>
                <a:cs typeface="Microsoft JhengHei UI"/>
              </a:rPr>
              <a:t>⽹络 </a:t>
            </a:r>
            <a:r>
              <a:rPr dirty="0" sz="950" b="1">
                <a:latin typeface="Times New Roman"/>
                <a:cs typeface="Times New Roman"/>
              </a:rPr>
              <a:t>(RNN)</a:t>
            </a:r>
            <a:r>
              <a:rPr dirty="0" sz="950" spc="20">
                <a:latin typeface="Microsoft JhengHei UI"/>
                <a:cs typeface="Microsoft JhengHei UI"/>
              </a:rPr>
              <a:t>： 隐藏层是⼀个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简单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>
                <a:latin typeface="Microsoft JhengHei UI"/>
                <a:cs typeface="Microsoft JhengHei UI"/>
              </a:rPr>
              <a:t>的单元（</a:t>
            </a:r>
            <a:r>
              <a:rPr dirty="0" sz="950" spc="45">
                <a:latin typeface="Microsoft JhengHei UI"/>
                <a:cs typeface="Microsoft JhengHei UI"/>
              </a:rPr>
              <a:t>⽐如⼀个 </a:t>
            </a:r>
            <a:r>
              <a:rPr dirty="0" sz="950">
                <a:latin typeface="Times New Roman"/>
                <a:cs typeface="Times New Roman"/>
              </a:rPr>
              <a:t>tanh</a:t>
            </a:r>
            <a:r>
              <a:rPr dirty="0" sz="950" spc="235">
                <a:latin typeface="Times New Roman"/>
                <a:cs typeface="Times New Roman"/>
              </a:rPr>
              <a:t> </a:t>
            </a:r>
            <a:r>
              <a:rPr dirty="0" sz="950">
                <a:latin typeface="Microsoft JhengHei UI"/>
                <a:cs typeface="Microsoft JhengHei UI"/>
              </a:rPr>
              <a:t>激活函数）</a:t>
            </a:r>
            <a:r>
              <a:rPr dirty="0" sz="950" spc="10">
                <a:latin typeface="Microsoft JhengHei UI"/>
                <a:cs typeface="Microsoft JhengHei UI"/>
              </a:rPr>
              <a:t>。我们已经知道，这种简单结构在 </a:t>
            </a:r>
            <a:r>
              <a:rPr dirty="0" sz="950">
                <a:latin typeface="Times New Roman"/>
                <a:cs typeface="Times New Roman"/>
              </a:rPr>
              <a:t>BPTT</a:t>
            </a:r>
            <a:r>
              <a:rPr dirty="0" sz="950" spc="210">
                <a:latin typeface="Times New Roman"/>
                <a:cs typeface="Times New Roman"/>
              </a:rPr>
              <a:t> </a:t>
            </a:r>
            <a:r>
              <a:rPr dirty="0" sz="950">
                <a:latin typeface="Microsoft JhengHei UI"/>
                <a:cs typeface="Microsoft JhengHei UI"/>
              </a:rPr>
              <a:t>训练中会导致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 spc="-20">
                <a:latin typeface="Microsoft JhengHei UI"/>
                <a:cs typeface="Microsoft JhengHei UI"/>
              </a:rPr>
              <a:t>梯度消</a:t>
            </a:r>
            <a:r>
              <a:rPr dirty="0" sz="950">
                <a:latin typeface="Microsoft JhengHei UI"/>
                <a:cs typeface="Microsoft JhengHei UI"/>
              </a:rPr>
              <a:t>失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 spc="-50">
                <a:latin typeface="Microsoft JhengHei UI"/>
                <a:cs typeface="Microsoft JhengHei UI"/>
              </a:rPr>
              <a:t>。</a:t>
            </a:r>
            <a:endParaRPr sz="9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950" b="1">
                <a:latin typeface="Times New Roman"/>
                <a:cs typeface="Times New Roman"/>
              </a:rPr>
              <a:t>LSTM</a:t>
            </a:r>
            <a:r>
              <a:rPr dirty="0" sz="950" spc="315" b="1">
                <a:latin typeface="Times New Roman"/>
                <a:cs typeface="Times New Roman"/>
              </a:rPr>
              <a:t> </a:t>
            </a:r>
            <a:r>
              <a:rPr dirty="0" sz="950" b="1">
                <a:latin typeface="Microsoft JhengHei UI"/>
                <a:cs typeface="Microsoft JhengHei UI"/>
              </a:rPr>
              <a:t>⽹络</a:t>
            </a:r>
            <a:r>
              <a:rPr dirty="0" sz="950">
                <a:latin typeface="Microsoft JhengHei UI"/>
                <a:cs typeface="Microsoft JhengHei UI"/>
              </a:rPr>
              <a:t>：它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替换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 spc="160">
                <a:latin typeface="Microsoft JhengHei UI"/>
                <a:cs typeface="Microsoft JhengHei UI"/>
              </a:rPr>
              <a:t>了 </a:t>
            </a:r>
            <a:r>
              <a:rPr dirty="0" sz="950">
                <a:latin typeface="Times New Roman"/>
                <a:cs typeface="Times New Roman"/>
              </a:rPr>
              <a:t>RNN</a:t>
            </a:r>
            <a:r>
              <a:rPr dirty="0" sz="950" spc="315">
                <a:latin typeface="Times New Roman"/>
                <a:cs typeface="Times New Roman"/>
              </a:rPr>
              <a:t> </a:t>
            </a:r>
            <a:r>
              <a:rPr dirty="0" sz="950">
                <a:latin typeface="Microsoft JhengHei UI"/>
                <a:cs typeface="Microsoft JhengHei UI"/>
              </a:rPr>
              <a:t>的那个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简单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>
                <a:latin typeface="Microsoft JhengHei UI"/>
                <a:cs typeface="Microsoft JhengHei UI"/>
              </a:rPr>
              <a:t>隐藏单元。取⽽代之的是⼀个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复杂的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>
                <a:latin typeface="Microsoft JhengHei UI"/>
                <a:cs typeface="Microsoft JhengHei UI"/>
              </a:rPr>
              <a:t>、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内存块</a:t>
            </a:r>
            <a:r>
              <a:rPr dirty="0" sz="950" spc="105">
                <a:latin typeface="Times New Roman"/>
                <a:cs typeface="Times New Roman"/>
              </a:rPr>
              <a:t>” (</a:t>
            </a:r>
            <a:r>
              <a:rPr dirty="0" sz="950">
                <a:latin typeface="Times New Roman"/>
                <a:cs typeface="Times New Roman"/>
              </a:rPr>
              <a:t>memory</a:t>
            </a:r>
            <a:r>
              <a:rPr dirty="0" sz="950" spc="32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block)</a:t>
            </a:r>
            <a:r>
              <a:rPr dirty="0" sz="950">
                <a:latin typeface="Microsoft JhengHei UI"/>
                <a:cs typeface="Microsoft JhengHei UI"/>
              </a:rPr>
              <a:t>。这个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内存块</a:t>
            </a:r>
            <a:r>
              <a:rPr dirty="0" sz="950">
                <a:latin typeface="Times New Roman"/>
                <a:cs typeface="Times New Roman"/>
              </a:rPr>
              <a:t>”</a:t>
            </a:r>
            <a:r>
              <a:rPr dirty="0" sz="950">
                <a:latin typeface="Microsoft JhengHei UI"/>
                <a:cs typeface="Microsoft JhengHei UI"/>
              </a:rPr>
              <a:t>的核⼼是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 spc="-25">
                <a:latin typeface="Microsoft JhengHei UI"/>
                <a:cs typeface="Microsoft JhengHei UI"/>
              </a:rPr>
              <a:t>记忆</a:t>
            </a:r>
            <a:endParaRPr sz="950">
              <a:latin typeface="Microsoft JhengHei UI"/>
              <a:cs typeface="Microsoft JhengHei U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4954" y="711480"/>
            <a:ext cx="5298440" cy="928369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950">
                <a:latin typeface="Microsoft JhengHei UI"/>
                <a:cs typeface="Microsoft JhengHei UI"/>
              </a:rPr>
              <a:t>细胞</a:t>
            </a:r>
            <a:r>
              <a:rPr dirty="0" sz="950" spc="50">
                <a:latin typeface="Times New Roman"/>
                <a:cs typeface="Times New Roman"/>
              </a:rPr>
              <a:t>” (</a:t>
            </a:r>
            <a:r>
              <a:rPr dirty="0" sz="950">
                <a:latin typeface="Times New Roman"/>
                <a:cs typeface="Times New Roman"/>
              </a:rPr>
              <a:t>memory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cell</a:t>
            </a:r>
            <a:r>
              <a:rPr dirty="0" sz="950" spc="75">
                <a:latin typeface="Times New Roman"/>
                <a:cs typeface="Times New Roman"/>
              </a:rPr>
              <a:t>) </a:t>
            </a:r>
            <a:r>
              <a:rPr dirty="0" sz="950">
                <a:latin typeface="Microsoft JhengHei UI"/>
                <a:cs typeface="Microsoft JhengHei UI"/>
              </a:rPr>
              <a:t>和</a:t>
            </a:r>
            <a:r>
              <a:rPr dirty="0" sz="950">
                <a:latin typeface="Times New Roman"/>
                <a:cs typeface="Times New Roman"/>
              </a:rPr>
              <a:t>“</a:t>
            </a:r>
            <a:r>
              <a:rPr dirty="0" sz="950">
                <a:latin typeface="Microsoft JhengHei UI"/>
                <a:cs typeface="Microsoft JhengHei UI"/>
              </a:rPr>
              <a:t>⾃适应⻔控单元</a:t>
            </a:r>
            <a:r>
              <a:rPr dirty="0" sz="950" spc="50">
                <a:latin typeface="Times New Roman"/>
                <a:cs typeface="Times New Roman"/>
              </a:rPr>
              <a:t>” (</a:t>
            </a:r>
            <a:r>
              <a:rPr dirty="0" sz="950">
                <a:latin typeface="Times New Roman"/>
                <a:cs typeface="Times New Roman"/>
              </a:rPr>
              <a:t>adaptive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gating</a:t>
            </a:r>
            <a:r>
              <a:rPr dirty="0" sz="950" spc="150">
                <a:latin typeface="Times New Roman"/>
                <a:cs typeface="Times New Roman"/>
              </a:rPr>
              <a:t> </a:t>
            </a:r>
            <a:r>
              <a:rPr dirty="0" sz="950">
                <a:latin typeface="Times New Roman"/>
                <a:cs typeface="Times New Roman"/>
              </a:rPr>
              <a:t>units)</a:t>
            </a:r>
            <a:r>
              <a:rPr dirty="0" sz="950">
                <a:latin typeface="Microsoft JhengHei UI"/>
                <a:cs typeface="Microsoft JhengHei UI"/>
              </a:rPr>
              <a:t>（即输⼊⻔和输出⻔）</a:t>
            </a:r>
            <a:r>
              <a:rPr dirty="0" sz="950" spc="-50">
                <a:latin typeface="Microsoft JhengHei UI"/>
                <a:cs typeface="Microsoft JhengHei UI"/>
              </a:rPr>
              <a:t>。</a:t>
            </a:r>
            <a:endParaRPr sz="950">
              <a:latin typeface="Microsoft JhengHei UI"/>
              <a:cs typeface="Microsoft JhengHei UI"/>
            </a:endParaRPr>
          </a:p>
          <a:p>
            <a:pPr marL="607060">
              <a:lnSpc>
                <a:spcPct val="100000"/>
              </a:lnSpc>
              <a:spcBef>
                <a:spcPts val="915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LSTM</a:t>
            </a:r>
            <a:r>
              <a:rPr dirty="0" sz="4000" spc="-10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Architecture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15854" y="851678"/>
            <a:ext cx="252539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latin typeface="Microsoft JhengHei UI"/>
                <a:cs typeface="Microsoft JhengHei UI"/>
              </a:rPr>
              <a:t>LSTM</a:t>
            </a:r>
            <a:r>
              <a:rPr dirty="0" sz="750" spc="15">
                <a:latin typeface="Microsoft JhengHei UI"/>
                <a:cs typeface="Microsoft JhengHei UI"/>
              </a:rPr>
              <a:t>的隐藏层被⼀个“内存块” </a:t>
            </a:r>
            <a:r>
              <a:rPr dirty="0" sz="750" spc="-10">
                <a:latin typeface="Microsoft JhengHei UI"/>
                <a:cs typeface="Microsoft JhengHei UI"/>
              </a:rPr>
              <a:t>(Memory</a:t>
            </a:r>
            <a:r>
              <a:rPr dirty="0" sz="750" spc="240">
                <a:latin typeface="Microsoft JhengHei UI"/>
                <a:cs typeface="Microsoft JhengHei UI"/>
              </a:rPr>
              <a:t> </a:t>
            </a:r>
            <a:r>
              <a:rPr dirty="0" sz="750">
                <a:latin typeface="Microsoft JhengHei UI"/>
                <a:cs typeface="Microsoft JhengHei UI"/>
              </a:rPr>
              <a:t>Block)</a:t>
            </a:r>
            <a:r>
              <a:rPr dirty="0" sz="750" spc="35">
                <a:latin typeface="Microsoft JhengHei UI"/>
                <a:cs typeface="Microsoft JhengHei UI"/>
              </a:rPr>
              <a:t> 取代了。</a:t>
            </a:r>
            <a:endParaRPr sz="750">
              <a:latin typeface="Microsoft JhengHei UI"/>
              <a:cs typeface="Microsoft JhengHei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15854" y="1070580"/>
            <a:ext cx="1875789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5">
                <a:latin typeface="Microsoft JhengHei UI"/>
                <a:cs typeface="Microsoft JhengHei UI"/>
              </a:rPr>
              <a:t>这个“内存块”的内部要复杂得多，它包含：</a:t>
            </a:r>
            <a:endParaRPr sz="750">
              <a:latin typeface="Microsoft JhengHei UI"/>
              <a:cs typeface="Microsoft JhengHei U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15854" y="1270086"/>
            <a:ext cx="2867660" cy="297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2405" marR="5080" indent="-180340">
              <a:lnSpc>
                <a:spcPct val="118800"/>
              </a:lnSpc>
              <a:spcBef>
                <a:spcPts val="95"/>
              </a:spcBef>
            </a:pPr>
            <a:r>
              <a:rPr dirty="0" sz="750" spc="50">
                <a:latin typeface="Microsoft JhengHei UI"/>
                <a:cs typeface="Microsoft JhengHei UI"/>
              </a:rPr>
              <a:t>“记忆细胞” </a:t>
            </a:r>
            <a:r>
              <a:rPr dirty="0" sz="750" spc="-10">
                <a:latin typeface="Microsoft JhengHei UI"/>
                <a:cs typeface="Microsoft JhengHei UI"/>
              </a:rPr>
              <a:t>(Memory</a:t>
            </a:r>
            <a:r>
              <a:rPr dirty="0" sz="750" spc="175">
                <a:latin typeface="Microsoft JhengHei UI"/>
                <a:cs typeface="Microsoft JhengHei UI"/>
              </a:rPr>
              <a:t> </a:t>
            </a:r>
            <a:r>
              <a:rPr dirty="0" sz="750">
                <a:latin typeface="Microsoft JhengHei UI"/>
                <a:cs typeface="Microsoft JhengHei UI"/>
              </a:rPr>
              <a:t>Cell)： 真正存储“⻓期记忆”的地⽅（</a:t>
            </a:r>
            <a:r>
              <a:rPr dirty="0" sz="750" spc="-20">
                <a:latin typeface="Microsoft JhengHei UI"/>
                <a:cs typeface="Microsoft JhengHei UI"/>
              </a:rPr>
              <a:t>即我们</a:t>
            </a:r>
            <a:r>
              <a:rPr dirty="0" sz="750" spc="30">
                <a:latin typeface="Microsoft JhengHei UI"/>
                <a:cs typeface="Microsoft JhengHei UI"/>
              </a:rPr>
              <a:t>之前讨论的 </a:t>
            </a:r>
            <a:r>
              <a:rPr dirty="0" sz="750">
                <a:latin typeface="Microsoft JhengHei UI"/>
                <a:cs typeface="Microsoft JhengHei UI"/>
              </a:rPr>
              <a:t>c(t)，</a:t>
            </a:r>
            <a:r>
              <a:rPr dirty="0" sz="750" spc="100">
                <a:latin typeface="Microsoft JhengHei UI"/>
                <a:cs typeface="Microsoft JhengHei UI"/>
              </a:rPr>
              <a:t>或 </a:t>
            </a:r>
            <a:r>
              <a:rPr dirty="0" sz="750">
                <a:latin typeface="Microsoft JhengHei UI"/>
                <a:cs typeface="Microsoft JhengHei UI"/>
              </a:rPr>
              <a:t>CEC）。</a:t>
            </a:r>
            <a:endParaRPr sz="750">
              <a:latin typeface="Microsoft JhengHei UI"/>
              <a:cs typeface="Microsoft JhengHei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015854" y="1644159"/>
            <a:ext cx="2865755" cy="4965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75">
                <a:latin typeface="Microsoft JhengHei UI"/>
                <a:cs typeface="Microsoft JhengHei UI"/>
              </a:rPr>
              <a:t>“输⼊⻔” </a:t>
            </a:r>
            <a:r>
              <a:rPr dirty="0" sz="750" spc="-10">
                <a:latin typeface="Microsoft JhengHei UI"/>
                <a:cs typeface="Microsoft JhengHei UI"/>
              </a:rPr>
              <a:t>(Input</a:t>
            </a:r>
            <a:r>
              <a:rPr dirty="0" sz="750" spc="260">
                <a:latin typeface="Microsoft JhengHei UI"/>
                <a:cs typeface="Microsoft JhengHei UI"/>
              </a:rPr>
              <a:t> </a:t>
            </a:r>
            <a:r>
              <a:rPr dirty="0" sz="750">
                <a:latin typeface="Microsoft JhengHei UI"/>
                <a:cs typeface="Microsoft JhengHei UI"/>
              </a:rPr>
              <a:t>Gate)：</a:t>
            </a:r>
            <a:r>
              <a:rPr dirty="0" sz="750" spc="-5">
                <a:latin typeface="Microsoft JhengHei UI"/>
                <a:cs typeface="Microsoft JhengHei UI"/>
              </a:rPr>
              <a:t> 控制“新信息”何时可以“写⼊”记忆。</a:t>
            </a:r>
            <a:endParaRPr sz="750">
              <a:latin typeface="Microsoft JhengHei UI"/>
              <a:cs typeface="Microsoft JhengHei UI"/>
            </a:endParaRPr>
          </a:p>
          <a:p>
            <a:pPr marL="192405" marR="5080" indent="-180340">
              <a:lnSpc>
                <a:spcPct val="118800"/>
              </a:lnSpc>
              <a:spcBef>
                <a:spcPts val="655"/>
              </a:spcBef>
            </a:pPr>
            <a:r>
              <a:rPr dirty="0" sz="750" spc="75">
                <a:latin typeface="Microsoft JhengHei UI"/>
                <a:cs typeface="Microsoft JhengHei UI"/>
              </a:rPr>
              <a:t>“输出⻔” </a:t>
            </a:r>
            <a:r>
              <a:rPr dirty="0" sz="750" spc="-10">
                <a:latin typeface="Microsoft JhengHei UI"/>
                <a:cs typeface="Microsoft JhengHei UI"/>
              </a:rPr>
              <a:t>(Output</a:t>
            </a:r>
            <a:r>
              <a:rPr dirty="0" sz="750" spc="270">
                <a:latin typeface="Microsoft JhengHei UI"/>
                <a:cs typeface="Microsoft JhengHei UI"/>
              </a:rPr>
              <a:t> </a:t>
            </a:r>
            <a:r>
              <a:rPr dirty="0" sz="750">
                <a:latin typeface="Microsoft JhengHei UI"/>
                <a:cs typeface="Microsoft JhengHei UI"/>
              </a:rPr>
              <a:t>Gate)：</a:t>
            </a:r>
            <a:r>
              <a:rPr dirty="0" sz="750" spc="-5">
                <a:latin typeface="Microsoft JhengHei UI"/>
                <a:cs typeface="Microsoft JhengHei UI"/>
              </a:rPr>
              <a:t> 控制“内部记忆”何时可以“读取”并影响</a:t>
            </a:r>
            <a:r>
              <a:rPr dirty="0" sz="750" spc="-20">
                <a:latin typeface="Microsoft JhengHei UI"/>
                <a:cs typeface="Microsoft JhengHei UI"/>
              </a:rPr>
              <a:t>输出。</a:t>
            </a:r>
            <a:endParaRPr sz="7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25"/>
              <a:t> </a:t>
            </a:r>
            <a:r>
              <a:rPr dirty="0"/>
              <a:t>Architecture</a:t>
            </a:r>
            <a:r>
              <a:rPr dirty="0" spc="-125"/>
              <a:t> </a:t>
            </a:r>
            <a:r>
              <a:rPr dirty="0"/>
              <a:t>-</a:t>
            </a:r>
            <a:r>
              <a:rPr dirty="0" spc="-120"/>
              <a:t> </a:t>
            </a:r>
            <a:r>
              <a:rPr dirty="0" spc="-10"/>
              <a:t>overview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8610" y="2139422"/>
            <a:ext cx="6497955" cy="4516120"/>
            <a:chOff x="78610" y="2139422"/>
            <a:chExt cx="6497955" cy="45161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707" y="2139422"/>
              <a:ext cx="4116264" cy="451597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00" y="4104131"/>
              <a:ext cx="187451" cy="12191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5561" y="4005097"/>
              <a:ext cx="295097" cy="2396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094" y="2180958"/>
              <a:ext cx="3179969" cy="34643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24" y="2610205"/>
              <a:ext cx="577824" cy="28665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610" y="2627553"/>
              <a:ext cx="2823924" cy="100101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551825" y="3741712"/>
              <a:ext cx="24765" cy="43815"/>
            </a:xfrm>
            <a:custGeom>
              <a:avLst/>
              <a:gdLst/>
              <a:ahLst/>
              <a:cxnLst/>
              <a:rect l="l" t="t" r="r" b="b"/>
              <a:pathLst>
                <a:path w="24765" h="43814">
                  <a:moveTo>
                    <a:pt x="2753" y="41464"/>
                  </a:moveTo>
                  <a:lnTo>
                    <a:pt x="3601" y="42240"/>
                  </a:lnTo>
                  <a:lnTo>
                    <a:pt x="5251" y="43700"/>
                  </a:lnTo>
                  <a:lnTo>
                    <a:pt x="6048" y="43700"/>
                  </a:lnTo>
                  <a:lnTo>
                    <a:pt x="2753" y="41464"/>
                  </a:lnTo>
                  <a:close/>
                </a:path>
                <a:path w="24765" h="43814">
                  <a:moveTo>
                    <a:pt x="3264" y="31359"/>
                  </a:moveTo>
                  <a:lnTo>
                    <a:pt x="3010" y="31864"/>
                  </a:lnTo>
                  <a:lnTo>
                    <a:pt x="1673" y="33781"/>
                  </a:lnTo>
                  <a:lnTo>
                    <a:pt x="1429" y="34162"/>
                  </a:lnTo>
                  <a:lnTo>
                    <a:pt x="2521" y="40741"/>
                  </a:lnTo>
                  <a:lnTo>
                    <a:pt x="2753" y="41464"/>
                  </a:lnTo>
                  <a:lnTo>
                    <a:pt x="6048" y="43700"/>
                  </a:lnTo>
                  <a:lnTo>
                    <a:pt x="5014" y="43700"/>
                  </a:lnTo>
                  <a:lnTo>
                    <a:pt x="9375" y="43167"/>
                  </a:lnTo>
                  <a:lnTo>
                    <a:pt x="13141" y="42580"/>
                  </a:lnTo>
                  <a:lnTo>
                    <a:pt x="15611" y="39433"/>
                  </a:lnTo>
                  <a:lnTo>
                    <a:pt x="15273" y="36626"/>
                  </a:lnTo>
                  <a:lnTo>
                    <a:pt x="15239" y="36347"/>
                  </a:lnTo>
                  <a:lnTo>
                    <a:pt x="14912" y="36347"/>
                  </a:lnTo>
                  <a:lnTo>
                    <a:pt x="14375" y="36068"/>
                  </a:lnTo>
                  <a:lnTo>
                    <a:pt x="10399" y="36068"/>
                  </a:lnTo>
                  <a:lnTo>
                    <a:pt x="10152" y="35941"/>
                  </a:lnTo>
                  <a:lnTo>
                    <a:pt x="9496" y="35714"/>
                  </a:lnTo>
                  <a:lnTo>
                    <a:pt x="6702" y="34620"/>
                  </a:lnTo>
                  <a:lnTo>
                    <a:pt x="5903" y="34620"/>
                  </a:lnTo>
                  <a:lnTo>
                    <a:pt x="5463" y="34162"/>
                  </a:lnTo>
                  <a:lnTo>
                    <a:pt x="4562" y="33781"/>
                  </a:lnTo>
                  <a:lnTo>
                    <a:pt x="4045" y="32739"/>
                  </a:lnTo>
                  <a:lnTo>
                    <a:pt x="3775" y="32375"/>
                  </a:lnTo>
                  <a:lnTo>
                    <a:pt x="3254" y="31864"/>
                  </a:lnTo>
                  <a:lnTo>
                    <a:pt x="3264" y="31359"/>
                  </a:lnTo>
                  <a:close/>
                </a:path>
                <a:path w="24765" h="43814">
                  <a:moveTo>
                    <a:pt x="9454" y="43167"/>
                  </a:moveTo>
                  <a:lnTo>
                    <a:pt x="5014" y="43700"/>
                  </a:lnTo>
                  <a:lnTo>
                    <a:pt x="6048" y="43700"/>
                  </a:lnTo>
                  <a:lnTo>
                    <a:pt x="9454" y="43167"/>
                  </a:lnTo>
                  <a:close/>
                </a:path>
                <a:path w="24765" h="43814">
                  <a:moveTo>
                    <a:pt x="13141" y="42580"/>
                  </a:moveTo>
                  <a:lnTo>
                    <a:pt x="9457" y="43167"/>
                  </a:lnTo>
                  <a:lnTo>
                    <a:pt x="13020" y="42735"/>
                  </a:lnTo>
                  <a:lnTo>
                    <a:pt x="13141" y="42580"/>
                  </a:lnTo>
                  <a:close/>
                </a:path>
                <a:path w="24765" h="43814">
                  <a:moveTo>
                    <a:pt x="20313" y="26032"/>
                  </a:moveTo>
                  <a:lnTo>
                    <a:pt x="17541" y="26568"/>
                  </a:lnTo>
                  <a:lnTo>
                    <a:pt x="14978" y="31168"/>
                  </a:lnTo>
                  <a:lnTo>
                    <a:pt x="14774" y="31359"/>
                  </a:lnTo>
                  <a:lnTo>
                    <a:pt x="14764" y="31864"/>
                  </a:lnTo>
                  <a:lnTo>
                    <a:pt x="14998" y="31864"/>
                  </a:lnTo>
                  <a:lnTo>
                    <a:pt x="14088" y="32739"/>
                  </a:lnTo>
                  <a:lnTo>
                    <a:pt x="14216" y="32739"/>
                  </a:lnTo>
                  <a:lnTo>
                    <a:pt x="14976" y="34162"/>
                  </a:lnTo>
                  <a:lnTo>
                    <a:pt x="15611" y="39433"/>
                  </a:lnTo>
                  <a:lnTo>
                    <a:pt x="13141" y="42580"/>
                  </a:lnTo>
                  <a:lnTo>
                    <a:pt x="15281" y="42240"/>
                  </a:lnTo>
                  <a:lnTo>
                    <a:pt x="18240" y="36626"/>
                  </a:lnTo>
                  <a:lnTo>
                    <a:pt x="18355" y="36347"/>
                  </a:lnTo>
                  <a:lnTo>
                    <a:pt x="14912" y="36347"/>
                  </a:lnTo>
                  <a:lnTo>
                    <a:pt x="18494" y="35229"/>
                  </a:lnTo>
                  <a:lnTo>
                    <a:pt x="19990" y="32375"/>
                  </a:lnTo>
                  <a:lnTo>
                    <a:pt x="20222" y="31864"/>
                  </a:lnTo>
                  <a:lnTo>
                    <a:pt x="21261" y="29311"/>
                  </a:lnTo>
                  <a:lnTo>
                    <a:pt x="21350" y="29095"/>
                  </a:lnTo>
                  <a:lnTo>
                    <a:pt x="21581" y="29095"/>
                  </a:lnTo>
                  <a:lnTo>
                    <a:pt x="20313" y="26032"/>
                  </a:lnTo>
                  <a:close/>
                </a:path>
                <a:path w="24765" h="43814">
                  <a:moveTo>
                    <a:pt x="9058" y="0"/>
                  </a:moveTo>
                  <a:lnTo>
                    <a:pt x="3482" y="0"/>
                  </a:lnTo>
                  <a:lnTo>
                    <a:pt x="1247" y="2006"/>
                  </a:lnTo>
                  <a:lnTo>
                    <a:pt x="168" y="11684"/>
                  </a:lnTo>
                  <a:lnTo>
                    <a:pt x="122" y="12099"/>
                  </a:lnTo>
                  <a:lnTo>
                    <a:pt x="0" y="35229"/>
                  </a:lnTo>
                  <a:lnTo>
                    <a:pt x="1907" y="40741"/>
                  </a:lnTo>
                  <a:lnTo>
                    <a:pt x="2724" y="41464"/>
                  </a:lnTo>
                  <a:lnTo>
                    <a:pt x="2521" y="40741"/>
                  </a:lnTo>
                  <a:lnTo>
                    <a:pt x="1838" y="36626"/>
                  </a:lnTo>
                  <a:lnTo>
                    <a:pt x="1724" y="35941"/>
                  </a:lnTo>
                  <a:lnTo>
                    <a:pt x="1606" y="35229"/>
                  </a:lnTo>
                  <a:lnTo>
                    <a:pt x="1505" y="34620"/>
                  </a:lnTo>
                  <a:lnTo>
                    <a:pt x="1429" y="34162"/>
                  </a:lnTo>
                  <a:lnTo>
                    <a:pt x="1673" y="33781"/>
                  </a:lnTo>
                  <a:lnTo>
                    <a:pt x="3362" y="31359"/>
                  </a:lnTo>
                  <a:lnTo>
                    <a:pt x="3296" y="29743"/>
                  </a:lnTo>
                  <a:lnTo>
                    <a:pt x="3096" y="29311"/>
                  </a:lnTo>
                  <a:lnTo>
                    <a:pt x="3036" y="29095"/>
                  </a:lnTo>
                  <a:lnTo>
                    <a:pt x="2887" y="29095"/>
                  </a:lnTo>
                  <a:lnTo>
                    <a:pt x="3324" y="28320"/>
                  </a:lnTo>
                  <a:lnTo>
                    <a:pt x="3353" y="23240"/>
                  </a:lnTo>
                  <a:lnTo>
                    <a:pt x="2814" y="22452"/>
                  </a:lnTo>
                  <a:lnTo>
                    <a:pt x="2563" y="22124"/>
                  </a:lnTo>
                  <a:lnTo>
                    <a:pt x="2671" y="21161"/>
                  </a:lnTo>
                  <a:lnTo>
                    <a:pt x="2734" y="20700"/>
                  </a:lnTo>
                  <a:lnTo>
                    <a:pt x="2800" y="20218"/>
                  </a:lnTo>
                  <a:lnTo>
                    <a:pt x="2899" y="19495"/>
                  </a:lnTo>
                  <a:lnTo>
                    <a:pt x="2991" y="18262"/>
                  </a:lnTo>
                  <a:lnTo>
                    <a:pt x="2649" y="16929"/>
                  </a:lnTo>
                  <a:lnTo>
                    <a:pt x="2887" y="16929"/>
                  </a:lnTo>
                  <a:lnTo>
                    <a:pt x="3804" y="15392"/>
                  </a:lnTo>
                  <a:lnTo>
                    <a:pt x="3817" y="15188"/>
                  </a:lnTo>
                  <a:lnTo>
                    <a:pt x="4196" y="14071"/>
                  </a:lnTo>
                  <a:lnTo>
                    <a:pt x="4295" y="13779"/>
                  </a:lnTo>
                  <a:lnTo>
                    <a:pt x="6301" y="12462"/>
                  </a:lnTo>
                  <a:lnTo>
                    <a:pt x="6799" y="12462"/>
                  </a:lnTo>
                  <a:lnTo>
                    <a:pt x="8169" y="12099"/>
                  </a:lnTo>
                  <a:lnTo>
                    <a:pt x="9337" y="11684"/>
                  </a:lnTo>
                  <a:lnTo>
                    <a:pt x="11452" y="11684"/>
                  </a:lnTo>
                  <a:lnTo>
                    <a:pt x="11394" y="2336"/>
                  </a:lnTo>
                  <a:lnTo>
                    <a:pt x="9058" y="0"/>
                  </a:lnTo>
                  <a:close/>
                </a:path>
                <a:path w="24765" h="43814">
                  <a:moveTo>
                    <a:pt x="15067" y="34920"/>
                  </a:moveTo>
                  <a:lnTo>
                    <a:pt x="12166" y="34920"/>
                  </a:lnTo>
                  <a:lnTo>
                    <a:pt x="14912" y="36347"/>
                  </a:lnTo>
                  <a:lnTo>
                    <a:pt x="15239" y="36347"/>
                  </a:lnTo>
                  <a:lnTo>
                    <a:pt x="15163" y="35714"/>
                  </a:lnTo>
                  <a:lnTo>
                    <a:pt x="15067" y="34920"/>
                  </a:lnTo>
                  <a:close/>
                </a:path>
                <a:path w="24765" h="43814">
                  <a:moveTo>
                    <a:pt x="19603" y="33324"/>
                  </a:moveTo>
                  <a:lnTo>
                    <a:pt x="19253" y="33781"/>
                  </a:lnTo>
                  <a:lnTo>
                    <a:pt x="18494" y="35229"/>
                  </a:lnTo>
                  <a:lnTo>
                    <a:pt x="14912" y="36347"/>
                  </a:lnTo>
                  <a:lnTo>
                    <a:pt x="18355" y="36347"/>
                  </a:lnTo>
                  <a:lnTo>
                    <a:pt x="19603" y="33324"/>
                  </a:lnTo>
                  <a:close/>
                </a:path>
                <a:path w="24765" h="43814">
                  <a:moveTo>
                    <a:pt x="12166" y="34920"/>
                  </a:moveTo>
                  <a:lnTo>
                    <a:pt x="10074" y="35941"/>
                  </a:lnTo>
                  <a:lnTo>
                    <a:pt x="10399" y="36068"/>
                  </a:lnTo>
                  <a:lnTo>
                    <a:pt x="14375" y="36068"/>
                  </a:lnTo>
                  <a:lnTo>
                    <a:pt x="12166" y="34920"/>
                  </a:lnTo>
                  <a:close/>
                </a:path>
                <a:path w="24765" h="43814">
                  <a:moveTo>
                    <a:pt x="3745" y="32375"/>
                  </a:moveTo>
                  <a:lnTo>
                    <a:pt x="5097" y="33781"/>
                  </a:lnTo>
                  <a:lnTo>
                    <a:pt x="5534" y="34162"/>
                  </a:lnTo>
                  <a:lnTo>
                    <a:pt x="10074" y="35941"/>
                  </a:lnTo>
                  <a:lnTo>
                    <a:pt x="9713" y="35714"/>
                  </a:lnTo>
                  <a:lnTo>
                    <a:pt x="7590" y="34620"/>
                  </a:lnTo>
                  <a:lnTo>
                    <a:pt x="3745" y="32375"/>
                  </a:lnTo>
                  <a:close/>
                </a:path>
                <a:path w="24765" h="43814">
                  <a:moveTo>
                    <a:pt x="8911" y="32739"/>
                  </a:moveTo>
                  <a:lnTo>
                    <a:pt x="4364" y="32739"/>
                  </a:lnTo>
                  <a:lnTo>
                    <a:pt x="7590" y="34620"/>
                  </a:lnTo>
                  <a:lnTo>
                    <a:pt x="10152" y="35941"/>
                  </a:lnTo>
                  <a:lnTo>
                    <a:pt x="10537" y="35714"/>
                  </a:lnTo>
                  <a:lnTo>
                    <a:pt x="9114" y="35714"/>
                  </a:lnTo>
                  <a:lnTo>
                    <a:pt x="11989" y="34920"/>
                  </a:lnTo>
                  <a:lnTo>
                    <a:pt x="12166" y="34920"/>
                  </a:lnTo>
                  <a:lnTo>
                    <a:pt x="9096" y="33324"/>
                  </a:lnTo>
                  <a:lnTo>
                    <a:pt x="8911" y="32739"/>
                  </a:lnTo>
                  <a:close/>
                </a:path>
                <a:path w="24765" h="43814">
                  <a:moveTo>
                    <a:pt x="14216" y="32739"/>
                  </a:moveTo>
                  <a:lnTo>
                    <a:pt x="13773" y="33324"/>
                  </a:lnTo>
                  <a:lnTo>
                    <a:pt x="13303" y="34162"/>
                  </a:lnTo>
                  <a:lnTo>
                    <a:pt x="12965" y="34620"/>
                  </a:lnTo>
                  <a:lnTo>
                    <a:pt x="11989" y="34920"/>
                  </a:lnTo>
                  <a:lnTo>
                    <a:pt x="9114" y="35714"/>
                  </a:lnTo>
                  <a:lnTo>
                    <a:pt x="10537" y="35714"/>
                  </a:lnTo>
                  <a:lnTo>
                    <a:pt x="12166" y="34920"/>
                  </a:lnTo>
                  <a:lnTo>
                    <a:pt x="15067" y="34920"/>
                  </a:lnTo>
                  <a:lnTo>
                    <a:pt x="14976" y="34162"/>
                  </a:lnTo>
                  <a:lnTo>
                    <a:pt x="14216" y="32739"/>
                  </a:lnTo>
                  <a:close/>
                </a:path>
                <a:path w="24765" h="43814">
                  <a:moveTo>
                    <a:pt x="8779" y="28187"/>
                  </a:moveTo>
                  <a:lnTo>
                    <a:pt x="7965" y="29743"/>
                  </a:lnTo>
                  <a:lnTo>
                    <a:pt x="9096" y="33324"/>
                  </a:lnTo>
                  <a:lnTo>
                    <a:pt x="12166" y="34920"/>
                  </a:lnTo>
                  <a:lnTo>
                    <a:pt x="12782" y="34620"/>
                  </a:lnTo>
                  <a:lnTo>
                    <a:pt x="12131" y="34620"/>
                  </a:lnTo>
                  <a:lnTo>
                    <a:pt x="14088" y="32739"/>
                  </a:lnTo>
                  <a:lnTo>
                    <a:pt x="14262" y="32739"/>
                  </a:lnTo>
                  <a:lnTo>
                    <a:pt x="12671" y="31359"/>
                  </a:lnTo>
                  <a:lnTo>
                    <a:pt x="12877" y="31359"/>
                  </a:lnTo>
                  <a:lnTo>
                    <a:pt x="12832" y="31168"/>
                  </a:lnTo>
                  <a:lnTo>
                    <a:pt x="12719" y="30695"/>
                  </a:lnTo>
                  <a:lnTo>
                    <a:pt x="12620" y="30276"/>
                  </a:lnTo>
                  <a:lnTo>
                    <a:pt x="12474" y="30276"/>
                  </a:lnTo>
                  <a:lnTo>
                    <a:pt x="8779" y="28187"/>
                  </a:lnTo>
                  <a:close/>
                </a:path>
                <a:path w="24765" h="43814">
                  <a:moveTo>
                    <a:pt x="14092" y="32739"/>
                  </a:moveTo>
                  <a:lnTo>
                    <a:pt x="12131" y="34620"/>
                  </a:lnTo>
                  <a:lnTo>
                    <a:pt x="12782" y="34620"/>
                  </a:lnTo>
                  <a:lnTo>
                    <a:pt x="12166" y="34920"/>
                  </a:lnTo>
                  <a:lnTo>
                    <a:pt x="12013" y="34920"/>
                  </a:lnTo>
                  <a:lnTo>
                    <a:pt x="12965" y="34620"/>
                  </a:lnTo>
                  <a:lnTo>
                    <a:pt x="13289" y="34162"/>
                  </a:lnTo>
                  <a:lnTo>
                    <a:pt x="14092" y="32739"/>
                  </a:lnTo>
                  <a:close/>
                </a:path>
                <a:path w="24765" h="43814">
                  <a:moveTo>
                    <a:pt x="5534" y="34162"/>
                  </a:moveTo>
                  <a:lnTo>
                    <a:pt x="5903" y="34620"/>
                  </a:lnTo>
                  <a:lnTo>
                    <a:pt x="6702" y="34620"/>
                  </a:lnTo>
                  <a:lnTo>
                    <a:pt x="5534" y="34162"/>
                  </a:lnTo>
                  <a:close/>
                </a:path>
                <a:path w="24765" h="43814">
                  <a:moveTo>
                    <a:pt x="4095" y="32739"/>
                  </a:moveTo>
                  <a:lnTo>
                    <a:pt x="4335" y="33324"/>
                  </a:lnTo>
                  <a:lnTo>
                    <a:pt x="4562" y="33781"/>
                  </a:lnTo>
                  <a:lnTo>
                    <a:pt x="5534" y="34162"/>
                  </a:lnTo>
                  <a:lnTo>
                    <a:pt x="5097" y="33781"/>
                  </a:lnTo>
                  <a:lnTo>
                    <a:pt x="4095" y="32739"/>
                  </a:lnTo>
                  <a:close/>
                </a:path>
                <a:path w="24765" h="43814">
                  <a:moveTo>
                    <a:pt x="3355" y="31359"/>
                  </a:moveTo>
                  <a:lnTo>
                    <a:pt x="3254" y="31864"/>
                  </a:lnTo>
                  <a:lnTo>
                    <a:pt x="3745" y="32375"/>
                  </a:lnTo>
                  <a:lnTo>
                    <a:pt x="4364" y="32739"/>
                  </a:lnTo>
                  <a:lnTo>
                    <a:pt x="4045" y="32739"/>
                  </a:lnTo>
                  <a:lnTo>
                    <a:pt x="3945" y="32375"/>
                  </a:lnTo>
                  <a:lnTo>
                    <a:pt x="3586" y="31864"/>
                  </a:lnTo>
                  <a:lnTo>
                    <a:pt x="3355" y="31359"/>
                  </a:lnTo>
                  <a:close/>
                </a:path>
                <a:path w="24765" h="43814">
                  <a:moveTo>
                    <a:pt x="8191" y="29311"/>
                  </a:moveTo>
                  <a:lnTo>
                    <a:pt x="7703" y="29743"/>
                  </a:lnTo>
                  <a:lnTo>
                    <a:pt x="7247" y="30276"/>
                  </a:lnTo>
                  <a:lnTo>
                    <a:pt x="6206" y="30276"/>
                  </a:lnTo>
                  <a:lnTo>
                    <a:pt x="3825" y="30695"/>
                  </a:lnTo>
                  <a:lnTo>
                    <a:pt x="3610" y="31168"/>
                  </a:lnTo>
                  <a:lnTo>
                    <a:pt x="3945" y="32375"/>
                  </a:lnTo>
                  <a:lnTo>
                    <a:pt x="4045" y="32739"/>
                  </a:lnTo>
                  <a:lnTo>
                    <a:pt x="8911" y="32739"/>
                  </a:lnTo>
                  <a:lnTo>
                    <a:pt x="7965" y="29743"/>
                  </a:lnTo>
                  <a:lnTo>
                    <a:pt x="8191" y="29311"/>
                  </a:lnTo>
                  <a:close/>
                </a:path>
                <a:path w="24765" h="43814">
                  <a:moveTo>
                    <a:pt x="12796" y="24155"/>
                  </a:moveTo>
                  <a:lnTo>
                    <a:pt x="11948" y="24155"/>
                  </a:lnTo>
                  <a:lnTo>
                    <a:pt x="12045" y="25692"/>
                  </a:lnTo>
                  <a:lnTo>
                    <a:pt x="12154" y="28320"/>
                  </a:lnTo>
                  <a:lnTo>
                    <a:pt x="12338" y="29095"/>
                  </a:lnTo>
                  <a:lnTo>
                    <a:pt x="12390" y="29311"/>
                  </a:lnTo>
                  <a:lnTo>
                    <a:pt x="12493" y="29743"/>
                  </a:lnTo>
                  <a:lnTo>
                    <a:pt x="12620" y="30276"/>
                  </a:lnTo>
                  <a:lnTo>
                    <a:pt x="12719" y="30695"/>
                  </a:lnTo>
                  <a:lnTo>
                    <a:pt x="12832" y="31168"/>
                  </a:lnTo>
                  <a:lnTo>
                    <a:pt x="12877" y="31359"/>
                  </a:lnTo>
                  <a:lnTo>
                    <a:pt x="12671" y="31359"/>
                  </a:lnTo>
                  <a:lnTo>
                    <a:pt x="14262" y="32739"/>
                  </a:lnTo>
                  <a:lnTo>
                    <a:pt x="14092" y="32739"/>
                  </a:lnTo>
                  <a:lnTo>
                    <a:pt x="14866" y="31359"/>
                  </a:lnTo>
                  <a:lnTo>
                    <a:pt x="14794" y="30276"/>
                  </a:lnTo>
                  <a:lnTo>
                    <a:pt x="12474" y="30276"/>
                  </a:lnTo>
                  <a:lnTo>
                    <a:pt x="14411" y="29743"/>
                  </a:lnTo>
                  <a:lnTo>
                    <a:pt x="14804" y="29743"/>
                  </a:lnTo>
                  <a:lnTo>
                    <a:pt x="14817" y="29095"/>
                  </a:lnTo>
                  <a:lnTo>
                    <a:pt x="16208" y="29095"/>
                  </a:lnTo>
                  <a:lnTo>
                    <a:pt x="15987" y="28320"/>
                  </a:lnTo>
                  <a:lnTo>
                    <a:pt x="14815" y="28320"/>
                  </a:lnTo>
                  <a:lnTo>
                    <a:pt x="14812" y="28187"/>
                  </a:lnTo>
                  <a:lnTo>
                    <a:pt x="12035" y="28187"/>
                  </a:lnTo>
                  <a:lnTo>
                    <a:pt x="14620" y="25692"/>
                  </a:lnTo>
                  <a:lnTo>
                    <a:pt x="15542" y="25692"/>
                  </a:lnTo>
                  <a:lnTo>
                    <a:pt x="12796" y="24155"/>
                  </a:lnTo>
                  <a:close/>
                </a:path>
                <a:path w="24765" h="43814">
                  <a:moveTo>
                    <a:pt x="14774" y="31359"/>
                  </a:moveTo>
                  <a:lnTo>
                    <a:pt x="14590" y="31864"/>
                  </a:lnTo>
                  <a:lnTo>
                    <a:pt x="14100" y="32739"/>
                  </a:lnTo>
                  <a:lnTo>
                    <a:pt x="14998" y="31864"/>
                  </a:lnTo>
                  <a:lnTo>
                    <a:pt x="14764" y="31864"/>
                  </a:lnTo>
                  <a:lnTo>
                    <a:pt x="14774" y="31359"/>
                  </a:lnTo>
                  <a:close/>
                </a:path>
                <a:path w="24765" h="43814">
                  <a:moveTo>
                    <a:pt x="3610" y="31168"/>
                  </a:moveTo>
                  <a:lnTo>
                    <a:pt x="3355" y="31359"/>
                  </a:lnTo>
                  <a:lnTo>
                    <a:pt x="3820" y="32375"/>
                  </a:lnTo>
                  <a:lnTo>
                    <a:pt x="3803" y="31864"/>
                  </a:lnTo>
                  <a:lnTo>
                    <a:pt x="3663" y="31359"/>
                  </a:lnTo>
                  <a:lnTo>
                    <a:pt x="3610" y="31168"/>
                  </a:lnTo>
                  <a:close/>
                </a:path>
                <a:path w="24765" h="43814">
                  <a:moveTo>
                    <a:pt x="15769" y="29743"/>
                  </a:moveTo>
                  <a:lnTo>
                    <a:pt x="14804" y="29743"/>
                  </a:lnTo>
                  <a:lnTo>
                    <a:pt x="14774" y="31359"/>
                  </a:lnTo>
                  <a:lnTo>
                    <a:pt x="14973" y="31168"/>
                  </a:lnTo>
                  <a:lnTo>
                    <a:pt x="15769" y="29743"/>
                  </a:lnTo>
                  <a:close/>
                </a:path>
                <a:path w="24765" h="43814">
                  <a:moveTo>
                    <a:pt x="4430" y="26568"/>
                  </a:moveTo>
                  <a:lnTo>
                    <a:pt x="3983" y="27152"/>
                  </a:lnTo>
                  <a:lnTo>
                    <a:pt x="3782" y="27508"/>
                  </a:lnTo>
                  <a:lnTo>
                    <a:pt x="3664" y="27717"/>
                  </a:lnTo>
                  <a:lnTo>
                    <a:pt x="3326" y="28187"/>
                  </a:lnTo>
                  <a:lnTo>
                    <a:pt x="3216" y="29743"/>
                  </a:lnTo>
                  <a:lnTo>
                    <a:pt x="3610" y="31168"/>
                  </a:lnTo>
                  <a:lnTo>
                    <a:pt x="3825" y="30695"/>
                  </a:lnTo>
                  <a:lnTo>
                    <a:pt x="6206" y="30276"/>
                  </a:lnTo>
                  <a:lnTo>
                    <a:pt x="7247" y="30276"/>
                  </a:lnTo>
                  <a:lnTo>
                    <a:pt x="8257" y="29095"/>
                  </a:lnTo>
                  <a:lnTo>
                    <a:pt x="8693" y="28320"/>
                  </a:lnTo>
                  <a:lnTo>
                    <a:pt x="8768" y="28187"/>
                  </a:lnTo>
                  <a:lnTo>
                    <a:pt x="5984" y="28187"/>
                  </a:lnTo>
                  <a:lnTo>
                    <a:pt x="4430" y="26568"/>
                  </a:lnTo>
                  <a:close/>
                </a:path>
                <a:path w="24765" h="43814">
                  <a:moveTo>
                    <a:pt x="11804" y="21883"/>
                  </a:moveTo>
                  <a:lnTo>
                    <a:pt x="10967" y="22452"/>
                  </a:lnTo>
                  <a:lnTo>
                    <a:pt x="11255" y="23240"/>
                  </a:lnTo>
                  <a:lnTo>
                    <a:pt x="11071" y="23240"/>
                  </a:lnTo>
                  <a:lnTo>
                    <a:pt x="10879" y="24155"/>
                  </a:lnTo>
                  <a:lnTo>
                    <a:pt x="10549" y="24741"/>
                  </a:lnTo>
                  <a:lnTo>
                    <a:pt x="10084" y="25692"/>
                  </a:lnTo>
                  <a:lnTo>
                    <a:pt x="8779" y="28187"/>
                  </a:lnTo>
                  <a:lnTo>
                    <a:pt x="12474" y="30276"/>
                  </a:lnTo>
                  <a:lnTo>
                    <a:pt x="12390" y="29311"/>
                  </a:lnTo>
                  <a:lnTo>
                    <a:pt x="12154" y="28320"/>
                  </a:lnTo>
                  <a:lnTo>
                    <a:pt x="12045" y="25692"/>
                  </a:lnTo>
                  <a:lnTo>
                    <a:pt x="11948" y="24155"/>
                  </a:lnTo>
                  <a:lnTo>
                    <a:pt x="11840" y="22452"/>
                  </a:lnTo>
                  <a:lnTo>
                    <a:pt x="11804" y="21883"/>
                  </a:lnTo>
                  <a:close/>
                </a:path>
                <a:path w="24765" h="43814">
                  <a:moveTo>
                    <a:pt x="16010" y="29311"/>
                  </a:moveTo>
                  <a:lnTo>
                    <a:pt x="12474" y="30276"/>
                  </a:lnTo>
                  <a:lnTo>
                    <a:pt x="14794" y="30276"/>
                  </a:lnTo>
                  <a:lnTo>
                    <a:pt x="14804" y="29743"/>
                  </a:lnTo>
                  <a:lnTo>
                    <a:pt x="15769" y="29743"/>
                  </a:lnTo>
                  <a:lnTo>
                    <a:pt x="16010" y="29311"/>
                  </a:lnTo>
                  <a:close/>
                </a:path>
                <a:path w="24765" h="43814">
                  <a:moveTo>
                    <a:pt x="3325" y="28320"/>
                  </a:moveTo>
                  <a:lnTo>
                    <a:pt x="2887" y="29095"/>
                  </a:lnTo>
                  <a:lnTo>
                    <a:pt x="3036" y="29095"/>
                  </a:lnTo>
                  <a:lnTo>
                    <a:pt x="3096" y="29311"/>
                  </a:lnTo>
                  <a:lnTo>
                    <a:pt x="3216" y="29743"/>
                  </a:lnTo>
                  <a:lnTo>
                    <a:pt x="3325" y="28320"/>
                  </a:lnTo>
                  <a:close/>
                </a:path>
                <a:path w="24765" h="43814">
                  <a:moveTo>
                    <a:pt x="16101" y="29095"/>
                  </a:moveTo>
                  <a:lnTo>
                    <a:pt x="14817" y="29095"/>
                  </a:lnTo>
                  <a:lnTo>
                    <a:pt x="14804" y="29743"/>
                  </a:lnTo>
                  <a:lnTo>
                    <a:pt x="14411" y="29743"/>
                  </a:lnTo>
                  <a:lnTo>
                    <a:pt x="15979" y="29311"/>
                  </a:lnTo>
                  <a:lnTo>
                    <a:pt x="16101" y="29095"/>
                  </a:lnTo>
                  <a:close/>
                </a:path>
                <a:path w="24765" h="43814">
                  <a:moveTo>
                    <a:pt x="18030" y="25692"/>
                  </a:moveTo>
                  <a:lnTo>
                    <a:pt x="15237" y="25692"/>
                  </a:lnTo>
                  <a:lnTo>
                    <a:pt x="16208" y="29095"/>
                  </a:lnTo>
                  <a:lnTo>
                    <a:pt x="16541" y="28320"/>
                  </a:lnTo>
                  <a:lnTo>
                    <a:pt x="18030" y="25692"/>
                  </a:lnTo>
                  <a:close/>
                </a:path>
                <a:path w="24765" h="43814">
                  <a:moveTo>
                    <a:pt x="20817" y="25692"/>
                  </a:moveTo>
                  <a:lnTo>
                    <a:pt x="20172" y="25692"/>
                  </a:lnTo>
                  <a:lnTo>
                    <a:pt x="21581" y="29095"/>
                  </a:lnTo>
                  <a:lnTo>
                    <a:pt x="21357" y="29095"/>
                  </a:lnTo>
                  <a:lnTo>
                    <a:pt x="21925" y="27717"/>
                  </a:lnTo>
                  <a:lnTo>
                    <a:pt x="22568" y="26032"/>
                  </a:lnTo>
                  <a:lnTo>
                    <a:pt x="20586" y="26032"/>
                  </a:lnTo>
                  <a:lnTo>
                    <a:pt x="20817" y="25692"/>
                  </a:lnTo>
                  <a:close/>
                </a:path>
                <a:path w="24765" h="43814">
                  <a:moveTo>
                    <a:pt x="14443" y="18262"/>
                  </a:moveTo>
                  <a:lnTo>
                    <a:pt x="14492" y="18729"/>
                  </a:lnTo>
                  <a:lnTo>
                    <a:pt x="14613" y="19495"/>
                  </a:lnTo>
                  <a:lnTo>
                    <a:pt x="14695" y="23240"/>
                  </a:lnTo>
                  <a:lnTo>
                    <a:pt x="14815" y="28320"/>
                  </a:lnTo>
                  <a:lnTo>
                    <a:pt x="15987" y="28320"/>
                  </a:lnTo>
                  <a:lnTo>
                    <a:pt x="15334" y="26032"/>
                  </a:lnTo>
                  <a:lnTo>
                    <a:pt x="15237" y="25692"/>
                  </a:lnTo>
                  <a:lnTo>
                    <a:pt x="18030" y="25692"/>
                  </a:lnTo>
                  <a:lnTo>
                    <a:pt x="18560" y="24741"/>
                  </a:lnTo>
                  <a:lnTo>
                    <a:pt x="14931" y="23240"/>
                  </a:lnTo>
                  <a:lnTo>
                    <a:pt x="18990" y="23240"/>
                  </a:lnTo>
                  <a:lnTo>
                    <a:pt x="18125" y="20218"/>
                  </a:lnTo>
                  <a:lnTo>
                    <a:pt x="14443" y="18262"/>
                  </a:lnTo>
                  <a:close/>
                </a:path>
                <a:path w="24765" h="43814">
                  <a:moveTo>
                    <a:pt x="3915" y="26032"/>
                  </a:moveTo>
                  <a:lnTo>
                    <a:pt x="3521" y="27152"/>
                  </a:lnTo>
                  <a:lnTo>
                    <a:pt x="3338" y="27508"/>
                  </a:lnTo>
                  <a:lnTo>
                    <a:pt x="3326" y="28187"/>
                  </a:lnTo>
                  <a:lnTo>
                    <a:pt x="3664" y="27717"/>
                  </a:lnTo>
                  <a:lnTo>
                    <a:pt x="4312" y="26568"/>
                  </a:lnTo>
                  <a:lnTo>
                    <a:pt x="3915" y="26032"/>
                  </a:lnTo>
                  <a:close/>
                </a:path>
                <a:path w="24765" h="43814">
                  <a:moveTo>
                    <a:pt x="8303" y="19495"/>
                  </a:moveTo>
                  <a:lnTo>
                    <a:pt x="3492" y="19495"/>
                  </a:lnTo>
                  <a:lnTo>
                    <a:pt x="3418" y="23240"/>
                  </a:lnTo>
                  <a:lnTo>
                    <a:pt x="4118" y="24155"/>
                  </a:lnTo>
                  <a:lnTo>
                    <a:pt x="5673" y="24155"/>
                  </a:lnTo>
                  <a:lnTo>
                    <a:pt x="4615" y="26032"/>
                  </a:lnTo>
                  <a:lnTo>
                    <a:pt x="4430" y="26568"/>
                  </a:lnTo>
                  <a:lnTo>
                    <a:pt x="5984" y="28187"/>
                  </a:lnTo>
                  <a:lnTo>
                    <a:pt x="8779" y="28187"/>
                  </a:lnTo>
                  <a:lnTo>
                    <a:pt x="6949" y="27152"/>
                  </a:lnTo>
                  <a:lnTo>
                    <a:pt x="5848" y="23240"/>
                  </a:lnTo>
                  <a:lnTo>
                    <a:pt x="6182" y="23240"/>
                  </a:lnTo>
                  <a:lnTo>
                    <a:pt x="6814" y="22124"/>
                  </a:lnTo>
                  <a:lnTo>
                    <a:pt x="3619" y="20218"/>
                  </a:lnTo>
                  <a:lnTo>
                    <a:pt x="7893" y="20218"/>
                  </a:lnTo>
                  <a:lnTo>
                    <a:pt x="8303" y="19495"/>
                  </a:lnTo>
                  <a:close/>
                </a:path>
                <a:path w="24765" h="43814">
                  <a:moveTo>
                    <a:pt x="12901" y="15188"/>
                  </a:moveTo>
                  <a:lnTo>
                    <a:pt x="10262" y="16929"/>
                  </a:lnTo>
                  <a:lnTo>
                    <a:pt x="10022" y="16929"/>
                  </a:lnTo>
                  <a:lnTo>
                    <a:pt x="8963" y="18459"/>
                  </a:lnTo>
                  <a:lnTo>
                    <a:pt x="8734" y="18729"/>
                  </a:lnTo>
                  <a:lnTo>
                    <a:pt x="6189" y="23240"/>
                  </a:lnTo>
                  <a:lnTo>
                    <a:pt x="5848" y="23240"/>
                  </a:lnTo>
                  <a:lnTo>
                    <a:pt x="6949" y="27152"/>
                  </a:lnTo>
                  <a:lnTo>
                    <a:pt x="8779" y="28187"/>
                  </a:lnTo>
                  <a:lnTo>
                    <a:pt x="10574" y="24741"/>
                  </a:lnTo>
                  <a:lnTo>
                    <a:pt x="10679" y="24472"/>
                  </a:lnTo>
                  <a:lnTo>
                    <a:pt x="10804" y="24155"/>
                  </a:lnTo>
                  <a:lnTo>
                    <a:pt x="4047" y="24155"/>
                  </a:lnTo>
                  <a:lnTo>
                    <a:pt x="7750" y="22452"/>
                  </a:lnTo>
                  <a:lnTo>
                    <a:pt x="8460" y="22452"/>
                  </a:lnTo>
                  <a:lnTo>
                    <a:pt x="9777" y="21883"/>
                  </a:lnTo>
                  <a:lnTo>
                    <a:pt x="10642" y="21563"/>
                  </a:lnTo>
                  <a:lnTo>
                    <a:pt x="10496" y="21161"/>
                  </a:lnTo>
                  <a:lnTo>
                    <a:pt x="10402" y="20904"/>
                  </a:lnTo>
                  <a:lnTo>
                    <a:pt x="10328" y="20700"/>
                  </a:lnTo>
                  <a:lnTo>
                    <a:pt x="10647" y="19495"/>
                  </a:lnTo>
                  <a:lnTo>
                    <a:pt x="10764" y="19054"/>
                  </a:lnTo>
                  <a:lnTo>
                    <a:pt x="10850" y="18729"/>
                  </a:lnTo>
                  <a:lnTo>
                    <a:pt x="10974" y="18262"/>
                  </a:lnTo>
                  <a:lnTo>
                    <a:pt x="8502" y="18262"/>
                  </a:lnTo>
                  <a:lnTo>
                    <a:pt x="11351" y="17515"/>
                  </a:lnTo>
                  <a:lnTo>
                    <a:pt x="11528" y="17515"/>
                  </a:lnTo>
                  <a:lnTo>
                    <a:pt x="11480" y="16272"/>
                  </a:lnTo>
                  <a:lnTo>
                    <a:pt x="13289" y="16272"/>
                  </a:lnTo>
                  <a:lnTo>
                    <a:pt x="12974" y="15392"/>
                  </a:lnTo>
                  <a:lnTo>
                    <a:pt x="12901" y="15188"/>
                  </a:lnTo>
                  <a:close/>
                </a:path>
                <a:path w="24765" h="43814">
                  <a:moveTo>
                    <a:pt x="14729" y="24741"/>
                  </a:moveTo>
                  <a:lnTo>
                    <a:pt x="14620" y="25692"/>
                  </a:lnTo>
                  <a:lnTo>
                    <a:pt x="12035" y="28187"/>
                  </a:lnTo>
                  <a:lnTo>
                    <a:pt x="14812" y="28187"/>
                  </a:lnTo>
                  <a:lnTo>
                    <a:pt x="14729" y="24741"/>
                  </a:lnTo>
                  <a:close/>
                </a:path>
                <a:path w="24765" h="43814">
                  <a:moveTo>
                    <a:pt x="3418" y="23240"/>
                  </a:moveTo>
                  <a:lnTo>
                    <a:pt x="3338" y="27508"/>
                  </a:lnTo>
                  <a:lnTo>
                    <a:pt x="3521" y="27152"/>
                  </a:lnTo>
                  <a:lnTo>
                    <a:pt x="3891" y="26032"/>
                  </a:lnTo>
                  <a:lnTo>
                    <a:pt x="3588" y="25692"/>
                  </a:lnTo>
                  <a:lnTo>
                    <a:pt x="4024" y="25692"/>
                  </a:lnTo>
                  <a:lnTo>
                    <a:pt x="4401" y="24741"/>
                  </a:lnTo>
                  <a:lnTo>
                    <a:pt x="4508" y="24472"/>
                  </a:lnTo>
                  <a:lnTo>
                    <a:pt x="4634" y="24155"/>
                  </a:lnTo>
                  <a:lnTo>
                    <a:pt x="4118" y="24155"/>
                  </a:lnTo>
                  <a:lnTo>
                    <a:pt x="3418" y="23240"/>
                  </a:lnTo>
                  <a:close/>
                </a:path>
                <a:path w="24765" h="43814">
                  <a:moveTo>
                    <a:pt x="8489" y="22452"/>
                  </a:moveTo>
                  <a:lnTo>
                    <a:pt x="7750" y="22452"/>
                  </a:lnTo>
                  <a:lnTo>
                    <a:pt x="4047" y="24155"/>
                  </a:lnTo>
                  <a:lnTo>
                    <a:pt x="4634" y="24155"/>
                  </a:lnTo>
                  <a:lnTo>
                    <a:pt x="4024" y="25692"/>
                  </a:lnTo>
                  <a:lnTo>
                    <a:pt x="3915" y="26032"/>
                  </a:lnTo>
                  <a:lnTo>
                    <a:pt x="4430" y="26568"/>
                  </a:lnTo>
                  <a:lnTo>
                    <a:pt x="4615" y="26032"/>
                  </a:lnTo>
                  <a:lnTo>
                    <a:pt x="6189" y="23240"/>
                  </a:lnTo>
                  <a:lnTo>
                    <a:pt x="10618" y="23240"/>
                  </a:lnTo>
                  <a:lnTo>
                    <a:pt x="8489" y="22452"/>
                  </a:lnTo>
                  <a:close/>
                </a:path>
                <a:path w="24765" h="43814">
                  <a:moveTo>
                    <a:pt x="18560" y="24741"/>
                  </a:moveTo>
                  <a:lnTo>
                    <a:pt x="17541" y="26568"/>
                  </a:lnTo>
                  <a:lnTo>
                    <a:pt x="20313" y="26032"/>
                  </a:lnTo>
                  <a:lnTo>
                    <a:pt x="20172" y="25692"/>
                  </a:lnTo>
                  <a:lnTo>
                    <a:pt x="20860" y="25692"/>
                  </a:lnTo>
                  <a:lnTo>
                    <a:pt x="18560" y="24741"/>
                  </a:lnTo>
                  <a:close/>
                </a:path>
                <a:path w="24765" h="43814">
                  <a:moveTo>
                    <a:pt x="4024" y="25692"/>
                  </a:moveTo>
                  <a:lnTo>
                    <a:pt x="3588" y="25692"/>
                  </a:lnTo>
                  <a:lnTo>
                    <a:pt x="3915" y="26032"/>
                  </a:lnTo>
                  <a:lnTo>
                    <a:pt x="4024" y="25692"/>
                  </a:lnTo>
                  <a:close/>
                </a:path>
                <a:path w="24765" h="43814">
                  <a:moveTo>
                    <a:pt x="21744" y="18459"/>
                  </a:moveTo>
                  <a:lnTo>
                    <a:pt x="21749" y="18729"/>
                  </a:lnTo>
                  <a:lnTo>
                    <a:pt x="21885" y="19054"/>
                  </a:lnTo>
                  <a:lnTo>
                    <a:pt x="22693" y="23240"/>
                  </a:lnTo>
                  <a:lnTo>
                    <a:pt x="22483" y="23240"/>
                  </a:lnTo>
                  <a:lnTo>
                    <a:pt x="20586" y="26032"/>
                  </a:lnTo>
                  <a:lnTo>
                    <a:pt x="22568" y="26032"/>
                  </a:lnTo>
                  <a:lnTo>
                    <a:pt x="23918" y="22452"/>
                  </a:lnTo>
                  <a:lnTo>
                    <a:pt x="24042" y="22124"/>
                  </a:lnTo>
                  <a:lnTo>
                    <a:pt x="24133" y="21883"/>
                  </a:lnTo>
                  <a:lnTo>
                    <a:pt x="24254" y="21563"/>
                  </a:lnTo>
                  <a:lnTo>
                    <a:pt x="23980" y="21161"/>
                  </a:lnTo>
                  <a:lnTo>
                    <a:pt x="21744" y="18459"/>
                  </a:lnTo>
                  <a:close/>
                </a:path>
                <a:path w="24765" h="43814">
                  <a:moveTo>
                    <a:pt x="14650" y="24155"/>
                  </a:moveTo>
                  <a:lnTo>
                    <a:pt x="12796" y="24155"/>
                  </a:lnTo>
                  <a:lnTo>
                    <a:pt x="15542" y="25692"/>
                  </a:lnTo>
                  <a:lnTo>
                    <a:pt x="14620" y="25692"/>
                  </a:lnTo>
                  <a:lnTo>
                    <a:pt x="14650" y="24155"/>
                  </a:lnTo>
                  <a:close/>
                </a:path>
                <a:path w="24765" h="43814">
                  <a:moveTo>
                    <a:pt x="19584" y="15849"/>
                  </a:moveTo>
                  <a:lnTo>
                    <a:pt x="14047" y="15849"/>
                  </a:lnTo>
                  <a:lnTo>
                    <a:pt x="14467" y="16272"/>
                  </a:lnTo>
                  <a:lnTo>
                    <a:pt x="14340" y="16929"/>
                  </a:lnTo>
                  <a:lnTo>
                    <a:pt x="14266" y="17715"/>
                  </a:lnTo>
                  <a:lnTo>
                    <a:pt x="14443" y="18262"/>
                  </a:lnTo>
                  <a:lnTo>
                    <a:pt x="18125" y="20218"/>
                  </a:lnTo>
                  <a:lnTo>
                    <a:pt x="19252" y="24155"/>
                  </a:lnTo>
                  <a:lnTo>
                    <a:pt x="18888" y="24155"/>
                  </a:lnTo>
                  <a:lnTo>
                    <a:pt x="18560" y="24741"/>
                  </a:lnTo>
                  <a:lnTo>
                    <a:pt x="20860" y="25692"/>
                  </a:lnTo>
                  <a:lnTo>
                    <a:pt x="21646" y="24472"/>
                  </a:lnTo>
                  <a:lnTo>
                    <a:pt x="22483" y="23240"/>
                  </a:lnTo>
                  <a:lnTo>
                    <a:pt x="22693" y="23240"/>
                  </a:lnTo>
                  <a:lnTo>
                    <a:pt x="21970" y="19495"/>
                  </a:lnTo>
                  <a:lnTo>
                    <a:pt x="21885" y="19054"/>
                  </a:lnTo>
                  <a:lnTo>
                    <a:pt x="21620" y="18459"/>
                  </a:lnTo>
                  <a:lnTo>
                    <a:pt x="21526" y="18262"/>
                  </a:lnTo>
                  <a:lnTo>
                    <a:pt x="21127" y="17715"/>
                  </a:lnTo>
                  <a:lnTo>
                    <a:pt x="19584" y="15849"/>
                  </a:lnTo>
                  <a:close/>
                </a:path>
                <a:path w="24765" h="43814">
                  <a:moveTo>
                    <a:pt x="18990" y="23240"/>
                  </a:moveTo>
                  <a:lnTo>
                    <a:pt x="14931" y="23240"/>
                  </a:lnTo>
                  <a:lnTo>
                    <a:pt x="18560" y="24741"/>
                  </a:lnTo>
                  <a:lnTo>
                    <a:pt x="18710" y="24472"/>
                  </a:lnTo>
                  <a:lnTo>
                    <a:pt x="18803" y="24307"/>
                  </a:lnTo>
                  <a:lnTo>
                    <a:pt x="18888" y="24155"/>
                  </a:lnTo>
                  <a:lnTo>
                    <a:pt x="19252" y="24155"/>
                  </a:lnTo>
                  <a:lnTo>
                    <a:pt x="18990" y="23240"/>
                  </a:lnTo>
                  <a:close/>
                </a:path>
                <a:path w="24765" h="43814">
                  <a:moveTo>
                    <a:pt x="10003" y="23240"/>
                  </a:moveTo>
                  <a:lnTo>
                    <a:pt x="6189" y="23240"/>
                  </a:lnTo>
                  <a:lnTo>
                    <a:pt x="5673" y="24155"/>
                  </a:lnTo>
                  <a:lnTo>
                    <a:pt x="7393" y="24155"/>
                  </a:lnTo>
                  <a:lnTo>
                    <a:pt x="10003" y="23240"/>
                  </a:lnTo>
                  <a:close/>
                </a:path>
                <a:path w="24765" h="43814">
                  <a:moveTo>
                    <a:pt x="10802" y="23240"/>
                  </a:moveTo>
                  <a:lnTo>
                    <a:pt x="10003" y="23240"/>
                  </a:lnTo>
                  <a:lnTo>
                    <a:pt x="7393" y="24155"/>
                  </a:lnTo>
                  <a:lnTo>
                    <a:pt x="13154" y="24155"/>
                  </a:lnTo>
                  <a:lnTo>
                    <a:pt x="10802" y="23240"/>
                  </a:lnTo>
                  <a:close/>
                </a:path>
                <a:path w="24765" h="43814">
                  <a:moveTo>
                    <a:pt x="11071" y="23240"/>
                  </a:moveTo>
                  <a:lnTo>
                    <a:pt x="10802" y="23240"/>
                  </a:lnTo>
                  <a:lnTo>
                    <a:pt x="13154" y="24155"/>
                  </a:lnTo>
                  <a:lnTo>
                    <a:pt x="10804" y="24155"/>
                  </a:lnTo>
                  <a:lnTo>
                    <a:pt x="11071" y="23240"/>
                  </a:lnTo>
                  <a:close/>
                </a:path>
                <a:path w="24765" h="43814">
                  <a:moveTo>
                    <a:pt x="14266" y="17715"/>
                  </a:moveTo>
                  <a:lnTo>
                    <a:pt x="14081" y="18262"/>
                  </a:lnTo>
                  <a:lnTo>
                    <a:pt x="14029" y="18729"/>
                  </a:lnTo>
                  <a:lnTo>
                    <a:pt x="14364" y="19054"/>
                  </a:lnTo>
                  <a:lnTo>
                    <a:pt x="13927" y="19054"/>
                  </a:lnTo>
                  <a:lnTo>
                    <a:pt x="13701" y="20218"/>
                  </a:lnTo>
                  <a:lnTo>
                    <a:pt x="13542" y="20700"/>
                  </a:lnTo>
                  <a:lnTo>
                    <a:pt x="11804" y="21883"/>
                  </a:lnTo>
                  <a:lnTo>
                    <a:pt x="11840" y="22452"/>
                  </a:lnTo>
                  <a:lnTo>
                    <a:pt x="11948" y="24155"/>
                  </a:lnTo>
                  <a:lnTo>
                    <a:pt x="10795" y="24155"/>
                  </a:lnTo>
                  <a:lnTo>
                    <a:pt x="13295" y="23240"/>
                  </a:lnTo>
                  <a:lnTo>
                    <a:pt x="14668" y="23240"/>
                  </a:lnTo>
                  <a:lnTo>
                    <a:pt x="14563" y="19054"/>
                  </a:lnTo>
                  <a:lnTo>
                    <a:pt x="14364" y="19054"/>
                  </a:lnTo>
                  <a:lnTo>
                    <a:pt x="14029" y="18729"/>
                  </a:lnTo>
                  <a:lnTo>
                    <a:pt x="14492" y="18729"/>
                  </a:lnTo>
                  <a:lnTo>
                    <a:pt x="14377" y="18262"/>
                  </a:lnTo>
                  <a:lnTo>
                    <a:pt x="14266" y="17715"/>
                  </a:lnTo>
                  <a:close/>
                </a:path>
                <a:path w="24765" h="43814">
                  <a:moveTo>
                    <a:pt x="14668" y="23240"/>
                  </a:moveTo>
                  <a:lnTo>
                    <a:pt x="13295" y="23240"/>
                  </a:lnTo>
                  <a:lnTo>
                    <a:pt x="10795" y="24155"/>
                  </a:lnTo>
                  <a:lnTo>
                    <a:pt x="14650" y="24155"/>
                  </a:lnTo>
                  <a:lnTo>
                    <a:pt x="14668" y="23240"/>
                  </a:lnTo>
                  <a:close/>
                </a:path>
                <a:path w="24765" h="43814">
                  <a:moveTo>
                    <a:pt x="3110" y="18729"/>
                  </a:moveTo>
                  <a:lnTo>
                    <a:pt x="2959" y="19054"/>
                  </a:lnTo>
                  <a:lnTo>
                    <a:pt x="2899" y="19495"/>
                  </a:lnTo>
                  <a:lnTo>
                    <a:pt x="2800" y="20218"/>
                  </a:lnTo>
                  <a:lnTo>
                    <a:pt x="2734" y="20700"/>
                  </a:lnTo>
                  <a:lnTo>
                    <a:pt x="2671" y="21161"/>
                  </a:lnTo>
                  <a:lnTo>
                    <a:pt x="2563" y="22124"/>
                  </a:lnTo>
                  <a:lnTo>
                    <a:pt x="3418" y="23240"/>
                  </a:lnTo>
                  <a:lnTo>
                    <a:pt x="3301" y="19054"/>
                  </a:lnTo>
                  <a:lnTo>
                    <a:pt x="3110" y="18729"/>
                  </a:lnTo>
                  <a:close/>
                </a:path>
                <a:path w="24765" h="43814">
                  <a:moveTo>
                    <a:pt x="10642" y="21563"/>
                  </a:moveTo>
                  <a:lnTo>
                    <a:pt x="9777" y="21883"/>
                  </a:lnTo>
                  <a:lnTo>
                    <a:pt x="8489" y="22452"/>
                  </a:lnTo>
                  <a:lnTo>
                    <a:pt x="10618" y="23240"/>
                  </a:lnTo>
                  <a:lnTo>
                    <a:pt x="9809" y="23240"/>
                  </a:lnTo>
                  <a:lnTo>
                    <a:pt x="10967" y="22452"/>
                  </a:lnTo>
                  <a:lnTo>
                    <a:pt x="10847" y="22124"/>
                  </a:lnTo>
                  <a:lnTo>
                    <a:pt x="10759" y="21883"/>
                  </a:lnTo>
                  <a:lnTo>
                    <a:pt x="10642" y="21563"/>
                  </a:lnTo>
                  <a:close/>
                </a:path>
                <a:path w="24765" h="43814">
                  <a:moveTo>
                    <a:pt x="10967" y="22452"/>
                  </a:moveTo>
                  <a:lnTo>
                    <a:pt x="9809" y="23240"/>
                  </a:lnTo>
                  <a:lnTo>
                    <a:pt x="11255" y="23240"/>
                  </a:lnTo>
                  <a:lnTo>
                    <a:pt x="10967" y="22452"/>
                  </a:lnTo>
                  <a:close/>
                </a:path>
                <a:path w="24765" h="43814">
                  <a:moveTo>
                    <a:pt x="11758" y="21161"/>
                  </a:moveTo>
                  <a:lnTo>
                    <a:pt x="10642" y="21563"/>
                  </a:lnTo>
                  <a:lnTo>
                    <a:pt x="10759" y="21883"/>
                  </a:lnTo>
                  <a:lnTo>
                    <a:pt x="10847" y="22124"/>
                  </a:lnTo>
                  <a:lnTo>
                    <a:pt x="10967" y="22452"/>
                  </a:lnTo>
                  <a:lnTo>
                    <a:pt x="11804" y="21883"/>
                  </a:lnTo>
                  <a:lnTo>
                    <a:pt x="11758" y="21161"/>
                  </a:lnTo>
                  <a:close/>
                </a:path>
                <a:path w="24765" h="43814">
                  <a:moveTo>
                    <a:pt x="7893" y="20218"/>
                  </a:moveTo>
                  <a:lnTo>
                    <a:pt x="3619" y="20218"/>
                  </a:lnTo>
                  <a:lnTo>
                    <a:pt x="6819" y="22124"/>
                  </a:lnTo>
                  <a:lnTo>
                    <a:pt x="7893" y="20218"/>
                  </a:lnTo>
                  <a:close/>
                </a:path>
                <a:path w="24765" h="43814">
                  <a:moveTo>
                    <a:pt x="13751" y="18459"/>
                  </a:moveTo>
                  <a:lnTo>
                    <a:pt x="12686" y="20700"/>
                  </a:lnTo>
                  <a:lnTo>
                    <a:pt x="12472" y="20904"/>
                  </a:lnTo>
                  <a:lnTo>
                    <a:pt x="11758" y="21161"/>
                  </a:lnTo>
                  <a:lnTo>
                    <a:pt x="11804" y="21883"/>
                  </a:lnTo>
                  <a:lnTo>
                    <a:pt x="13542" y="20700"/>
                  </a:lnTo>
                  <a:lnTo>
                    <a:pt x="13701" y="20218"/>
                  </a:lnTo>
                  <a:lnTo>
                    <a:pt x="13841" y="19495"/>
                  </a:lnTo>
                  <a:lnTo>
                    <a:pt x="13927" y="19054"/>
                  </a:lnTo>
                  <a:lnTo>
                    <a:pt x="13990" y="18729"/>
                  </a:lnTo>
                  <a:lnTo>
                    <a:pt x="13751" y="18459"/>
                  </a:lnTo>
                  <a:close/>
                </a:path>
                <a:path w="24765" h="43814">
                  <a:moveTo>
                    <a:pt x="3307" y="19495"/>
                  </a:moveTo>
                  <a:lnTo>
                    <a:pt x="3332" y="21563"/>
                  </a:lnTo>
                  <a:lnTo>
                    <a:pt x="3459" y="21161"/>
                  </a:lnTo>
                  <a:lnTo>
                    <a:pt x="3478" y="20218"/>
                  </a:lnTo>
                  <a:lnTo>
                    <a:pt x="3307" y="19495"/>
                  </a:lnTo>
                  <a:close/>
                </a:path>
                <a:path w="24765" h="43814">
                  <a:moveTo>
                    <a:pt x="11540" y="17715"/>
                  </a:moveTo>
                  <a:lnTo>
                    <a:pt x="10974" y="18262"/>
                  </a:lnTo>
                  <a:lnTo>
                    <a:pt x="10455" y="20218"/>
                  </a:lnTo>
                  <a:lnTo>
                    <a:pt x="10496" y="21161"/>
                  </a:lnTo>
                  <a:lnTo>
                    <a:pt x="10642" y="21563"/>
                  </a:lnTo>
                  <a:lnTo>
                    <a:pt x="11758" y="21161"/>
                  </a:lnTo>
                  <a:lnTo>
                    <a:pt x="11653" y="19495"/>
                  </a:lnTo>
                  <a:lnTo>
                    <a:pt x="11540" y="17715"/>
                  </a:lnTo>
                  <a:close/>
                </a:path>
                <a:path w="24765" h="43814">
                  <a:moveTo>
                    <a:pt x="12778" y="17515"/>
                  </a:moveTo>
                  <a:lnTo>
                    <a:pt x="11783" y="17515"/>
                  </a:lnTo>
                  <a:lnTo>
                    <a:pt x="11540" y="17715"/>
                  </a:lnTo>
                  <a:lnTo>
                    <a:pt x="11653" y="19495"/>
                  </a:lnTo>
                  <a:lnTo>
                    <a:pt x="11758" y="21161"/>
                  </a:lnTo>
                  <a:lnTo>
                    <a:pt x="12472" y="20904"/>
                  </a:lnTo>
                  <a:lnTo>
                    <a:pt x="12686" y="20700"/>
                  </a:lnTo>
                  <a:lnTo>
                    <a:pt x="13751" y="18459"/>
                  </a:lnTo>
                  <a:lnTo>
                    <a:pt x="12778" y="17515"/>
                  </a:lnTo>
                  <a:close/>
                </a:path>
                <a:path w="24765" h="43814">
                  <a:moveTo>
                    <a:pt x="10022" y="16929"/>
                  </a:moveTo>
                  <a:lnTo>
                    <a:pt x="5921" y="16929"/>
                  </a:lnTo>
                  <a:lnTo>
                    <a:pt x="3795" y="19054"/>
                  </a:lnTo>
                  <a:lnTo>
                    <a:pt x="3307" y="19495"/>
                  </a:lnTo>
                  <a:lnTo>
                    <a:pt x="3492" y="20218"/>
                  </a:lnTo>
                  <a:lnTo>
                    <a:pt x="3492" y="19495"/>
                  </a:lnTo>
                  <a:lnTo>
                    <a:pt x="8301" y="19495"/>
                  </a:lnTo>
                  <a:lnTo>
                    <a:pt x="8550" y="19054"/>
                  </a:lnTo>
                  <a:lnTo>
                    <a:pt x="8775" y="18729"/>
                  </a:lnTo>
                  <a:lnTo>
                    <a:pt x="8886" y="18459"/>
                  </a:lnTo>
                  <a:lnTo>
                    <a:pt x="8997" y="18262"/>
                  </a:lnTo>
                  <a:lnTo>
                    <a:pt x="9477" y="17715"/>
                  </a:lnTo>
                  <a:lnTo>
                    <a:pt x="10022" y="16929"/>
                  </a:lnTo>
                  <a:close/>
                </a:path>
                <a:path w="24765" h="43814">
                  <a:moveTo>
                    <a:pt x="10529" y="13123"/>
                  </a:moveTo>
                  <a:lnTo>
                    <a:pt x="5645" y="13123"/>
                  </a:lnTo>
                  <a:lnTo>
                    <a:pt x="5382" y="13347"/>
                  </a:lnTo>
                  <a:lnTo>
                    <a:pt x="4802" y="14071"/>
                  </a:lnTo>
                  <a:lnTo>
                    <a:pt x="4167" y="14791"/>
                  </a:lnTo>
                  <a:lnTo>
                    <a:pt x="3530" y="16929"/>
                  </a:lnTo>
                  <a:lnTo>
                    <a:pt x="3425" y="17515"/>
                  </a:lnTo>
                  <a:lnTo>
                    <a:pt x="3307" y="19495"/>
                  </a:lnTo>
                  <a:lnTo>
                    <a:pt x="3795" y="19054"/>
                  </a:lnTo>
                  <a:lnTo>
                    <a:pt x="5921" y="16929"/>
                  </a:lnTo>
                  <a:lnTo>
                    <a:pt x="10262" y="16929"/>
                  </a:lnTo>
                  <a:lnTo>
                    <a:pt x="11257" y="16272"/>
                  </a:lnTo>
                  <a:lnTo>
                    <a:pt x="11480" y="16272"/>
                  </a:lnTo>
                  <a:lnTo>
                    <a:pt x="11465" y="13779"/>
                  </a:lnTo>
                  <a:lnTo>
                    <a:pt x="11309" y="13601"/>
                  </a:lnTo>
                  <a:lnTo>
                    <a:pt x="10950" y="13347"/>
                  </a:lnTo>
                  <a:lnTo>
                    <a:pt x="10529" y="13123"/>
                  </a:lnTo>
                  <a:close/>
                </a:path>
                <a:path w="24765" h="43814">
                  <a:moveTo>
                    <a:pt x="3975" y="15188"/>
                  </a:moveTo>
                  <a:lnTo>
                    <a:pt x="3748" y="15392"/>
                  </a:lnTo>
                  <a:lnTo>
                    <a:pt x="3226" y="16929"/>
                  </a:lnTo>
                  <a:lnTo>
                    <a:pt x="3194" y="19054"/>
                  </a:lnTo>
                  <a:lnTo>
                    <a:pt x="3292" y="18262"/>
                  </a:lnTo>
                  <a:lnTo>
                    <a:pt x="3390" y="17715"/>
                  </a:lnTo>
                  <a:lnTo>
                    <a:pt x="3425" y="17515"/>
                  </a:lnTo>
                  <a:lnTo>
                    <a:pt x="3530" y="16929"/>
                  </a:lnTo>
                  <a:lnTo>
                    <a:pt x="3648" y="16272"/>
                  </a:lnTo>
                  <a:lnTo>
                    <a:pt x="3724" y="15849"/>
                  </a:lnTo>
                  <a:lnTo>
                    <a:pt x="3876" y="15392"/>
                  </a:lnTo>
                  <a:lnTo>
                    <a:pt x="3926" y="15188"/>
                  </a:lnTo>
                  <a:close/>
                </a:path>
                <a:path w="24765" h="43814">
                  <a:moveTo>
                    <a:pt x="13735" y="17515"/>
                  </a:moveTo>
                  <a:lnTo>
                    <a:pt x="13163" y="17515"/>
                  </a:lnTo>
                  <a:lnTo>
                    <a:pt x="13414" y="17715"/>
                  </a:lnTo>
                  <a:lnTo>
                    <a:pt x="14443" y="18262"/>
                  </a:lnTo>
                  <a:lnTo>
                    <a:pt x="13844" y="18262"/>
                  </a:lnTo>
                  <a:lnTo>
                    <a:pt x="13751" y="18459"/>
                  </a:lnTo>
                  <a:lnTo>
                    <a:pt x="14029" y="18729"/>
                  </a:lnTo>
                  <a:lnTo>
                    <a:pt x="14081" y="18262"/>
                  </a:lnTo>
                  <a:lnTo>
                    <a:pt x="13807" y="17715"/>
                  </a:lnTo>
                  <a:lnTo>
                    <a:pt x="13735" y="17515"/>
                  </a:lnTo>
                  <a:close/>
                </a:path>
                <a:path w="24765" h="43814">
                  <a:moveTo>
                    <a:pt x="12220" y="16929"/>
                  </a:moveTo>
                  <a:lnTo>
                    <a:pt x="12778" y="17515"/>
                  </a:lnTo>
                  <a:lnTo>
                    <a:pt x="13751" y="18459"/>
                  </a:lnTo>
                  <a:lnTo>
                    <a:pt x="13844" y="18262"/>
                  </a:lnTo>
                  <a:lnTo>
                    <a:pt x="14443" y="18262"/>
                  </a:lnTo>
                  <a:lnTo>
                    <a:pt x="13414" y="17715"/>
                  </a:lnTo>
                  <a:lnTo>
                    <a:pt x="13163" y="17515"/>
                  </a:lnTo>
                  <a:lnTo>
                    <a:pt x="12220" y="16929"/>
                  </a:lnTo>
                  <a:close/>
                </a:path>
                <a:path w="24765" h="43814">
                  <a:moveTo>
                    <a:pt x="3592" y="15849"/>
                  </a:moveTo>
                  <a:lnTo>
                    <a:pt x="3279" y="16272"/>
                  </a:lnTo>
                  <a:lnTo>
                    <a:pt x="2887" y="16929"/>
                  </a:lnTo>
                  <a:lnTo>
                    <a:pt x="2649" y="16929"/>
                  </a:lnTo>
                  <a:lnTo>
                    <a:pt x="2991" y="18262"/>
                  </a:lnTo>
                  <a:lnTo>
                    <a:pt x="3113" y="17515"/>
                  </a:lnTo>
                  <a:lnTo>
                    <a:pt x="3226" y="16929"/>
                  </a:lnTo>
                  <a:lnTo>
                    <a:pt x="3592" y="15849"/>
                  </a:lnTo>
                  <a:close/>
                </a:path>
                <a:path w="24765" h="43814">
                  <a:moveTo>
                    <a:pt x="13289" y="16272"/>
                  </a:moveTo>
                  <a:lnTo>
                    <a:pt x="11783" y="17515"/>
                  </a:lnTo>
                  <a:lnTo>
                    <a:pt x="11351" y="17515"/>
                  </a:lnTo>
                  <a:lnTo>
                    <a:pt x="8502" y="18262"/>
                  </a:lnTo>
                  <a:lnTo>
                    <a:pt x="10877" y="18262"/>
                  </a:lnTo>
                  <a:lnTo>
                    <a:pt x="11540" y="17715"/>
                  </a:lnTo>
                  <a:lnTo>
                    <a:pt x="11528" y="17515"/>
                  </a:lnTo>
                  <a:lnTo>
                    <a:pt x="12839" y="16929"/>
                  </a:lnTo>
                  <a:lnTo>
                    <a:pt x="13525" y="16929"/>
                  </a:lnTo>
                  <a:lnTo>
                    <a:pt x="13289" y="16272"/>
                  </a:lnTo>
                  <a:close/>
                </a:path>
                <a:path w="24765" h="43814">
                  <a:moveTo>
                    <a:pt x="13892" y="15849"/>
                  </a:moveTo>
                  <a:lnTo>
                    <a:pt x="13289" y="16272"/>
                  </a:lnTo>
                  <a:lnTo>
                    <a:pt x="14003" y="18262"/>
                  </a:lnTo>
                  <a:lnTo>
                    <a:pt x="14108" y="16929"/>
                  </a:lnTo>
                  <a:lnTo>
                    <a:pt x="13977" y="16272"/>
                  </a:lnTo>
                  <a:lnTo>
                    <a:pt x="13892" y="15849"/>
                  </a:lnTo>
                  <a:close/>
                </a:path>
                <a:path w="24765" h="43814">
                  <a:moveTo>
                    <a:pt x="13289" y="16272"/>
                  </a:moveTo>
                  <a:lnTo>
                    <a:pt x="11480" y="16272"/>
                  </a:lnTo>
                  <a:lnTo>
                    <a:pt x="11540" y="17715"/>
                  </a:lnTo>
                  <a:lnTo>
                    <a:pt x="11783" y="17515"/>
                  </a:lnTo>
                  <a:lnTo>
                    <a:pt x="12778" y="17515"/>
                  </a:lnTo>
                  <a:lnTo>
                    <a:pt x="12173" y="16929"/>
                  </a:lnTo>
                  <a:lnTo>
                    <a:pt x="12494" y="16929"/>
                  </a:lnTo>
                  <a:lnTo>
                    <a:pt x="13289" y="16272"/>
                  </a:lnTo>
                  <a:close/>
                </a:path>
                <a:path w="24765" h="43814">
                  <a:moveTo>
                    <a:pt x="12494" y="16929"/>
                  </a:moveTo>
                  <a:lnTo>
                    <a:pt x="12220" y="16929"/>
                  </a:lnTo>
                  <a:lnTo>
                    <a:pt x="13163" y="17515"/>
                  </a:lnTo>
                  <a:lnTo>
                    <a:pt x="11783" y="17515"/>
                  </a:lnTo>
                  <a:lnTo>
                    <a:pt x="12494" y="16929"/>
                  </a:lnTo>
                  <a:close/>
                </a:path>
                <a:path w="24765" h="43814">
                  <a:moveTo>
                    <a:pt x="13525" y="16929"/>
                  </a:moveTo>
                  <a:lnTo>
                    <a:pt x="12839" y="16929"/>
                  </a:lnTo>
                  <a:lnTo>
                    <a:pt x="11647" y="17515"/>
                  </a:lnTo>
                  <a:lnTo>
                    <a:pt x="13735" y="17515"/>
                  </a:lnTo>
                  <a:lnTo>
                    <a:pt x="13525" y="16929"/>
                  </a:lnTo>
                  <a:close/>
                </a:path>
                <a:path w="24765" h="43814">
                  <a:moveTo>
                    <a:pt x="18709" y="14791"/>
                  </a:moveTo>
                  <a:lnTo>
                    <a:pt x="15085" y="14791"/>
                  </a:lnTo>
                  <a:lnTo>
                    <a:pt x="14357" y="15392"/>
                  </a:lnTo>
                  <a:lnTo>
                    <a:pt x="13892" y="15849"/>
                  </a:lnTo>
                  <a:lnTo>
                    <a:pt x="14108" y="16929"/>
                  </a:lnTo>
                  <a:lnTo>
                    <a:pt x="14226" y="17515"/>
                  </a:lnTo>
                  <a:lnTo>
                    <a:pt x="14467" y="16272"/>
                  </a:lnTo>
                  <a:lnTo>
                    <a:pt x="14047" y="15849"/>
                  </a:lnTo>
                  <a:lnTo>
                    <a:pt x="19584" y="15849"/>
                  </a:lnTo>
                  <a:lnTo>
                    <a:pt x="18709" y="14791"/>
                  </a:lnTo>
                  <a:close/>
                </a:path>
                <a:path w="24765" h="43814">
                  <a:moveTo>
                    <a:pt x="11526" y="13779"/>
                  </a:moveTo>
                  <a:lnTo>
                    <a:pt x="11480" y="16272"/>
                  </a:lnTo>
                  <a:lnTo>
                    <a:pt x="11257" y="16272"/>
                  </a:lnTo>
                  <a:lnTo>
                    <a:pt x="12901" y="15188"/>
                  </a:lnTo>
                  <a:lnTo>
                    <a:pt x="12759" y="14791"/>
                  </a:lnTo>
                  <a:lnTo>
                    <a:pt x="11526" y="13779"/>
                  </a:lnTo>
                  <a:close/>
                </a:path>
                <a:path w="24765" h="43814">
                  <a:moveTo>
                    <a:pt x="14595" y="14071"/>
                  </a:moveTo>
                  <a:lnTo>
                    <a:pt x="12901" y="15188"/>
                  </a:lnTo>
                  <a:lnTo>
                    <a:pt x="13289" y="16272"/>
                  </a:lnTo>
                  <a:lnTo>
                    <a:pt x="13803" y="15849"/>
                  </a:lnTo>
                  <a:lnTo>
                    <a:pt x="14047" y="15849"/>
                  </a:lnTo>
                  <a:lnTo>
                    <a:pt x="12759" y="14791"/>
                  </a:lnTo>
                  <a:lnTo>
                    <a:pt x="13759" y="15188"/>
                  </a:lnTo>
                  <a:lnTo>
                    <a:pt x="13680" y="14791"/>
                  </a:lnTo>
                  <a:lnTo>
                    <a:pt x="20056" y="14791"/>
                  </a:lnTo>
                  <a:lnTo>
                    <a:pt x="14595" y="14071"/>
                  </a:lnTo>
                  <a:close/>
                </a:path>
                <a:path w="24765" h="43814">
                  <a:moveTo>
                    <a:pt x="13759" y="15188"/>
                  </a:moveTo>
                  <a:lnTo>
                    <a:pt x="13242" y="15188"/>
                  </a:lnTo>
                  <a:lnTo>
                    <a:pt x="14047" y="15849"/>
                  </a:lnTo>
                  <a:lnTo>
                    <a:pt x="13892" y="15849"/>
                  </a:lnTo>
                  <a:lnTo>
                    <a:pt x="13800" y="15392"/>
                  </a:lnTo>
                  <a:lnTo>
                    <a:pt x="13759" y="15188"/>
                  </a:lnTo>
                  <a:close/>
                </a:path>
                <a:path w="24765" h="43814">
                  <a:moveTo>
                    <a:pt x="15085" y="14791"/>
                  </a:moveTo>
                  <a:lnTo>
                    <a:pt x="13680" y="14791"/>
                  </a:lnTo>
                  <a:lnTo>
                    <a:pt x="13800" y="15392"/>
                  </a:lnTo>
                  <a:lnTo>
                    <a:pt x="13892" y="15849"/>
                  </a:lnTo>
                  <a:lnTo>
                    <a:pt x="14357" y="15392"/>
                  </a:lnTo>
                  <a:lnTo>
                    <a:pt x="15085" y="14791"/>
                  </a:lnTo>
                  <a:close/>
                </a:path>
                <a:path w="24765" h="43814">
                  <a:moveTo>
                    <a:pt x="6747" y="12462"/>
                  </a:moveTo>
                  <a:lnTo>
                    <a:pt x="6301" y="12462"/>
                  </a:lnTo>
                  <a:lnTo>
                    <a:pt x="4295" y="13779"/>
                  </a:lnTo>
                  <a:lnTo>
                    <a:pt x="3817" y="15188"/>
                  </a:lnTo>
                  <a:lnTo>
                    <a:pt x="4163" y="14791"/>
                  </a:lnTo>
                  <a:lnTo>
                    <a:pt x="4839" y="13779"/>
                  </a:lnTo>
                  <a:lnTo>
                    <a:pt x="4955" y="13601"/>
                  </a:lnTo>
                  <a:lnTo>
                    <a:pt x="5441" y="13123"/>
                  </a:lnTo>
                  <a:lnTo>
                    <a:pt x="6747" y="12462"/>
                  </a:lnTo>
                  <a:close/>
                </a:path>
                <a:path w="24765" h="43814">
                  <a:moveTo>
                    <a:pt x="10975" y="12462"/>
                  </a:moveTo>
                  <a:lnTo>
                    <a:pt x="8134" y="12462"/>
                  </a:lnTo>
                  <a:lnTo>
                    <a:pt x="11222" y="13123"/>
                  </a:lnTo>
                  <a:lnTo>
                    <a:pt x="12161" y="13123"/>
                  </a:lnTo>
                  <a:lnTo>
                    <a:pt x="12759" y="14791"/>
                  </a:lnTo>
                  <a:lnTo>
                    <a:pt x="13242" y="15188"/>
                  </a:lnTo>
                  <a:lnTo>
                    <a:pt x="12901" y="15188"/>
                  </a:lnTo>
                  <a:lnTo>
                    <a:pt x="13503" y="14791"/>
                  </a:lnTo>
                  <a:lnTo>
                    <a:pt x="13711" y="14791"/>
                  </a:lnTo>
                  <a:lnTo>
                    <a:pt x="12484" y="13123"/>
                  </a:lnTo>
                  <a:lnTo>
                    <a:pt x="10975" y="12462"/>
                  </a:lnTo>
                  <a:close/>
                </a:path>
                <a:path w="24765" h="43814">
                  <a:moveTo>
                    <a:pt x="5645" y="13123"/>
                  </a:moveTo>
                  <a:lnTo>
                    <a:pt x="5441" y="13123"/>
                  </a:lnTo>
                  <a:lnTo>
                    <a:pt x="4955" y="13601"/>
                  </a:lnTo>
                  <a:lnTo>
                    <a:pt x="4174" y="14791"/>
                  </a:lnTo>
                  <a:lnTo>
                    <a:pt x="4802" y="14071"/>
                  </a:lnTo>
                  <a:lnTo>
                    <a:pt x="5382" y="13347"/>
                  </a:lnTo>
                  <a:lnTo>
                    <a:pt x="5645" y="13123"/>
                  </a:lnTo>
                  <a:close/>
                </a:path>
                <a:path w="24765" h="43814">
                  <a:moveTo>
                    <a:pt x="11729" y="12099"/>
                  </a:moveTo>
                  <a:lnTo>
                    <a:pt x="11454" y="12099"/>
                  </a:lnTo>
                  <a:lnTo>
                    <a:pt x="11526" y="13779"/>
                  </a:lnTo>
                  <a:lnTo>
                    <a:pt x="12759" y="14791"/>
                  </a:lnTo>
                  <a:lnTo>
                    <a:pt x="12501" y="14071"/>
                  </a:lnTo>
                  <a:lnTo>
                    <a:pt x="12396" y="13779"/>
                  </a:lnTo>
                  <a:lnTo>
                    <a:pt x="12332" y="13601"/>
                  </a:lnTo>
                  <a:lnTo>
                    <a:pt x="12241" y="13347"/>
                  </a:lnTo>
                  <a:lnTo>
                    <a:pt x="12161" y="13123"/>
                  </a:lnTo>
                  <a:lnTo>
                    <a:pt x="12484" y="13123"/>
                  </a:lnTo>
                  <a:lnTo>
                    <a:pt x="11729" y="12099"/>
                  </a:lnTo>
                  <a:close/>
                </a:path>
                <a:path w="24765" h="43814">
                  <a:moveTo>
                    <a:pt x="11452" y="11684"/>
                  </a:moveTo>
                  <a:lnTo>
                    <a:pt x="9337" y="11684"/>
                  </a:lnTo>
                  <a:lnTo>
                    <a:pt x="12369" y="13123"/>
                  </a:lnTo>
                  <a:lnTo>
                    <a:pt x="10529" y="13123"/>
                  </a:lnTo>
                  <a:lnTo>
                    <a:pt x="10950" y="13347"/>
                  </a:lnTo>
                  <a:lnTo>
                    <a:pt x="11526" y="13779"/>
                  </a:lnTo>
                  <a:lnTo>
                    <a:pt x="11452" y="11684"/>
                  </a:lnTo>
                  <a:close/>
                </a:path>
                <a:path w="24765" h="43814">
                  <a:moveTo>
                    <a:pt x="8169" y="12099"/>
                  </a:moveTo>
                  <a:lnTo>
                    <a:pt x="6747" y="12462"/>
                  </a:lnTo>
                  <a:lnTo>
                    <a:pt x="5550" y="13123"/>
                  </a:lnTo>
                  <a:lnTo>
                    <a:pt x="5293" y="13123"/>
                  </a:lnTo>
                  <a:lnTo>
                    <a:pt x="8169" y="12099"/>
                  </a:lnTo>
                  <a:close/>
                </a:path>
                <a:path w="24765" h="43814">
                  <a:moveTo>
                    <a:pt x="9337" y="11684"/>
                  </a:moveTo>
                  <a:lnTo>
                    <a:pt x="5293" y="13123"/>
                  </a:lnTo>
                  <a:lnTo>
                    <a:pt x="11222" y="13123"/>
                  </a:lnTo>
                  <a:lnTo>
                    <a:pt x="8134" y="12462"/>
                  </a:lnTo>
                  <a:lnTo>
                    <a:pt x="10975" y="12462"/>
                  </a:lnTo>
                  <a:lnTo>
                    <a:pt x="9337" y="11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3093" y="1948942"/>
            <a:ext cx="1064158" cy="29926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1896" y="2013343"/>
            <a:ext cx="1116793" cy="297980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8952306" y="2323439"/>
            <a:ext cx="23495" cy="13970"/>
          </a:xfrm>
          <a:custGeom>
            <a:avLst/>
            <a:gdLst/>
            <a:ahLst/>
            <a:cxnLst/>
            <a:rect l="l" t="t" r="r" b="b"/>
            <a:pathLst>
              <a:path w="23495" h="13969">
                <a:moveTo>
                  <a:pt x="6337" y="0"/>
                </a:moveTo>
                <a:lnTo>
                  <a:pt x="2112" y="0"/>
                </a:lnTo>
                <a:lnTo>
                  <a:pt x="584" y="1346"/>
                </a:lnTo>
                <a:lnTo>
                  <a:pt x="550" y="1727"/>
                </a:lnTo>
                <a:lnTo>
                  <a:pt x="425" y="3124"/>
                </a:lnTo>
                <a:lnTo>
                  <a:pt x="359" y="3860"/>
                </a:lnTo>
                <a:lnTo>
                  <a:pt x="290" y="4622"/>
                </a:lnTo>
                <a:lnTo>
                  <a:pt x="204" y="5587"/>
                </a:lnTo>
                <a:lnTo>
                  <a:pt x="137" y="6337"/>
                </a:lnTo>
                <a:lnTo>
                  <a:pt x="71" y="7073"/>
                </a:lnTo>
                <a:lnTo>
                  <a:pt x="0" y="7874"/>
                </a:lnTo>
                <a:lnTo>
                  <a:pt x="2171" y="12230"/>
                </a:lnTo>
                <a:lnTo>
                  <a:pt x="11658" y="13931"/>
                </a:lnTo>
                <a:lnTo>
                  <a:pt x="16662" y="11760"/>
                </a:lnTo>
                <a:lnTo>
                  <a:pt x="22453" y="9042"/>
                </a:lnTo>
                <a:lnTo>
                  <a:pt x="23164" y="7073"/>
                </a:lnTo>
                <a:lnTo>
                  <a:pt x="22818" y="6337"/>
                </a:lnTo>
                <a:lnTo>
                  <a:pt x="11722" y="6337"/>
                </a:lnTo>
                <a:lnTo>
                  <a:pt x="7696" y="5587"/>
                </a:lnTo>
                <a:lnTo>
                  <a:pt x="7812" y="4787"/>
                </a:lnTo>
                <a:lnTo>
                  <a:pt x="7937" y="1727"/>
                </a:lnTo>
                <a:lnTo>
                  <a:pt x="6337" y="0"/>
                </a:lnTo>
                <a:close/>
              </a:path>
              <a:path w="23495" h="13969">
                <a:moveTo>
                  <a:pt x="19837" y="3124"/>
                </a:moveTo>
                <a:lnTo>
                  <a:pt x="15417" y="4787"/>
                </a:lnTo>
                <a:lnTo>
                  <a:pt x="11722" y="6337"/>
                </a:lnTo>
                <a:lnTo>
                  <a:pt x="22818" y="6337"/>
                </a:lnTo>
                <a:lnTo>
                  <a:pt x="21653" y="3860"/>
                </a:lnTo>
                <a:lnTo>
                  <a:pt x="19837" y="3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30796" y="2464790"/>
            <a:ext cx="938085" cy="27260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33919" y="2520022"/>
            <a:ext cx="146111" cy="192595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7903768" y="2676639"/>
            <a:ext cx="20955" cy="55244"/>
          </a:xfrm>
          <a:custGeom>
            <a:avLst/>
            <a:gdLst/>
            <a:ahLst/>
            <a:cxnLst/>
            <a:rect l="l" t="t" r="r" b="b"/>
            <a:pathLst>
              <a:path w="20954" h="55244">
                <a:moveTo>
                  <a:pt x="16205" y="0"/>
                </a:moveTo>
                <a:lnTo>
                  <a:pt x="11493" y="927"/>
                </a:lnTo>
                <a:lnTo>
                  <a:pt x="9931" y="3086"/>
                </a:lnTo>
                <a:lnTo>
                  <a:pt x="10236" y="5422"/>
                </a:lnTo>
                <a:lnTo>
                  <a:pt x="11068" y="16852"/>
                </a:lnTo>
                <a:lnTo>
                  <a:pt x="10220" y="28251"/>
                </a:lnTo>
                <a:lnTo>
                  <a:pt x="7128" y="39116"/>
                </a:lnTo>
                <a:lnTo>
                  <a:pt x="1231" y="48945"/>
                </a:lnTo>
                <a:lnTo>
                  <a:pt x="0" y="50444"/>
                </a:lnTo>
                <a:lnTo>
                  <a:pt x="215" y="52666"/>
                </a:lnTo>
                <a:lnTo>
                  <a:pt x="3047" y="54990"/>
                </a:lnTo>
                <a:lnTo>
                  <a:pt x="4949" y="54990"/>
                </a:lnTo>
                <a:lnTo>
                  <a:pt x="20605" y="18345"/>
                </a:lnTo>
                <a:lnTo>
                  <a:pt x="20139" y="11117"/>
                </a:lnTo>
                <a:lnTo>
                  <a:pt x="19024" y="3975"/>
                </a:lnTo>
                <a:lnTo>
                  <a:pt x="18554" y="1562"/>
                </a:lnTo>
                <a:lnTo>
                  <a:pt x="16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29320" y="2531998"/>
            <a:ext cx="1077417" cy="30020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83070" y="2859620"/>
            <a:ext cx="1016520" cy="70664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65808" y="3377806"/>
            <a:ext cx="618032" cy="25166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70489" y="3442576"/>
            <a:ext cx="285056" cy="17401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677528" y="3649154"/>
            <a:ext cx="861306" cy="25730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659534" y="3734460"/>
            <a:ext cx="565226" cy="22975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289209" y="3803891"/>
            <a:ext cx="539008" cy="196062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35572" y="4194746"/>
            <a:ext cx="2464790" cy="7555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395922"/>
            <a:ext cx="470408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05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29677" y="1005522"/>
            <a:ext cx="1831339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–</a:t>
            </a:r>
            <a:r>
              <a:rPr dirty="0" sz="4000" spc="-3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10" b="1">
                <a:solidFill>
                  <a:srgbClr val="800000"/>
                </a:solidFill>
                <a:latin typeface="Tahoma"/>
                <a:cs typeface="Tahoma"/>
              </a:rPr>
              <a:t>input</a:t>
            </a:r>
            <a:endParaRPr sz="40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9831" y="1853527"/>
            <a:ext cx="4274820" cy="4890770"/>
            <a:chOff x="179831" y="1853527"/>
            <a:chExt cx="4274820" cy="48907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1" y="1853527"/>
              <a:ext cx="4274820" cy="489017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6564" y="4030980"/>
              <a:ext cx="190500" cy="12801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810" y="3927030"/>
              <a:ext cx="302133" cy="25026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22996" y="5215623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399" y="0"/>
                  </a:lnTo>
                  <a:lnTo>
                    <a:pt x="21424" y="317"/>
                  </a:lnTo>
                  <a:lnTo>
                    <a:pt x="0" y="25400"/>
                  </a:lnTo>
                  <a:lnTo>
                    <a:pt x="0" y="1489786"/>
                  </a:lnTo>
                  <a:lnTo>
                    <a:pt x="25399" y="1515186"/>
                  </a:lnTo>
                  <a:lnTo>
                    <a:pt x="1362443" y="1515186"/>
                  </a:lnTo>
                  <a:lnTo>
                    <a:pt x="1387843" y="1489786"/>
                  </a:lnTo>
                  <a:lnTo>
                    <a:pt x="50799" y="1489786"/>
                  </a:lnTo>
                  <a:lnTo>
                    <a:pt x="25400" y="1464386"/>
                  </a:lnTo>
                  <a:lnTo>
                    <a:pt x="50799" y="1464386"/>
                  </a:lnTo>
                  <a:lnTo>
                    <a:pt x="50799" y="50800"/>
                  </a:lnTo>
                  <a:lnTo>
                    <a:pt x="25399" y="50800"/>
                  </a:lnTo>
                  <a:lnTo>
                    <a:pt x="50799" y="25400"/>
                  </a:lnTo>
                  <a:lnTo>
                    <a:pt x="1387843" y="25400"/>
                  </a:lnTo>
                  <a:lnTo>
                    <a:pt x="1387525" y="21424"/>
                  </a:lnTo>
                  <a:lnTo>
                    <a:pt x="1366418" y="317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799" y="1464386"/>
                  </a:moveTo>
                  <a:lnTo>
                    <a:pt x="25400" y="1464386"/>
                  </a:lnTo>
                  <a:lnTo>
                    <a:pt x="50799" y="1489786"/>
                  </a:lnTo>
                  <a:lnTo>
                    <a:pt x="50799" y="1464386"/>
                  </a:lnTo>
                  <a:close/>
                </a:path>
                <a:path w="1388110" h="1515745">
                  <a:moveTo>
                    <a:pt x="1337043" y="1464386"/>
                  </a:moveTo>
                  <a:lnTo>
                    <a:pt x="50799" y="1464386"/>
                  </a:lnTo>
                  <a:lnTo>
                    <a:pt x="50799" y="1489786"/>
                  </a:lnTo>
                  <a:lnTo>
                    <a:pt x="1337043" y="1489786"/>
                  </a:lnTo>
                  <a:lnTo>
                    <a:pt x="1337043" y="1464386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1337043" y="1489786"/>
                  </a:lnTo>
                  <a:lnTo>
                    <a:pt x="1362443" y="1464386"/>
                  </a:lnTo>
                  <a:lnTo>
                    <a:pt x="1387843" y="1464386"/>
                  </a:lnTo>
                  <a:lnTo>
                    <a:pt x="1387843" y="50800"/>
                  </a:lnTo>
                  <a:lnTo>
                    <a:pt x="13624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1464386"/>
                  </a:moveTo>
                  <a:lnTo>
                    <a:pt x="1362443" y="1464386"/>
                  </a:lnTo>
                  <a:lnTo>
                    <a:pt x="1337043" y="1489786"/>
                  </a:lnTo>
                  <a:lnTo>
                    <a:pt x="1387843" y="1489786"/>
                  </a:lnTo>
                  <a:lnTo>
                    <a:pt x="1387843" y="1464386"/>
                  </a:lnTo>
                  <a:close/>
                </a:path>
                <a:path w="1388110" h="1515745">
                  <a:moveTo>
                    <a:pt x="50799" y="25400"/>
                  </a:moveTo>
                  <a:lnTo>
                    <a:pt x="25399" y="50800"/>
                  </a:lnTo>
                  <a:lnTo>
                    <a:pt x="50799" y="50800"/>
                  </a:lnTo>
                  <a:lnTo>
                    <a:pt x="50799" y="25400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50799" y="25400"/>
                  </a:lnTo>
                  <a:lnTo>
                    <a:pt x="50799" y="50800"/>
                  </a:lnTo>
                  <a:lnTo>
                    <a:pt x="13370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25400"/>
                  </a:moveTo>
                  <a:lnTo>
                    <a:pt x="1337043" y="25400"/>
                  </a:lnTo>
                  <a:lnTo>
                    <a:pt x="1362443" y="50800"/>
                  </a:lnTo>
                  <a:lnTo>
                    <a:pt x="1387843" y="50800"/>
                  </a:lnTo>
                  <a:lnTo>
                    <a:pt x="1387843" y="25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987887" y="2309888"/>
            <a:ext cx="3408045" cy="315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2382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layer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decides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which </a:t>
            </a:r>
            <a:r>
              <a:rPr dirty="0" sz="1800">
                <a:latin typeface="Tahoma"/>
                <a:cs typeface="Tahoma"/>
              </a:rPr>
              <a:t>information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from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input </a:t>
            </a:r>
            <a:r>
              <a:rPr dirty="0" sz="1800">
                <a:latin typeface="Tahoma"/>
                <a:cs typeface="Tahoma"/>
              </a:rPr>
              <a:t>should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forwarded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LSTM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cell.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3333CC"/>
              </a:buClr>
              <a:buFont typeface="Tahoma"/>
              <a:buChar char="■"/>
            </a:pP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multiplying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y(t−1)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weight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matrix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Rz,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layer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decides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which </a:t>
            </a:r>
            <a:r>
              <a:rPr dirty="0" sz="1800">
                <a:latin typeface="Tahoma"/>
                <a:cs typeface="Tahoma"/>
              </a:rPr>
              <a:t>information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from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previous </a:t>
            </a:r>
            <a:r>
              <a:rPr dirty="0" sz="1800">
                <a:latin typeface="Tahoma"/>
                <a:cs typeface="Tahoma"/>
              </a:rPr>
              <a:t>time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step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should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be</a:t>
            </a:r>
            <a:r>
              <a:rPr dirty="0" sz="1800">
                <a:latin typeface="Tahoma"/>
                <a:cs typeface="Tahoma"/>
              </a:rPr>
              <a:t> forwarded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into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LSTM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cell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581476" y="3166414"/>
            <a:ext cx="5393690" cy="3609340"/>
            <a:chOff x="3581476" y="3166414"/>
            <a:chExt cx="5393690" cy="360934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73980" y="5687568"/>
              <a:ext cx="3276977" cy="6477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1476" y="6029825"/>
              <a:ext cx="2362304" cy="74534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004636" y="6754535"/>
              <a:ext cx="13335" cy="12700"/>
            </a:xfrm>
            <a:custGeom>
              <a:avLst/>
              <a:gdLst/>
              <a:ahLst/>
              <a:cxnLst/>
              <a:rect l="l" t="t" r="r" b="b"/>
              <a:pathLst>
                <a:path w="13335" h="12700">
                  <a:moveTo>
                    <a:pt x="5346" y="0"/>
                  </a:moveTo>
                  <a:lnTo>
                    <a:pt x="3238" y="717"/>
                  </a:lnTo>
                  <a:lnTo>
                    <a:pt x="1727" y="2983"/>
                  </a:lnTo>
                  <a:lnTo>
                    <a:pt x="1384" y="3600"/>
                  </a:lnTo>
                  <a:lnTo>
                    <a:pt x="0" y="7342"/>
                  </a:lnTo>
                  <a:lnTo>
                    <a:pt x="1358" y="10982"/>
                  </a:lnTo>
                  <a:lnTo>
                    <a:pt x="5406" y="12496"/>
                  </a:lnTo>
                  <a:lnTo>
                    <a:pt x="8039" y="12496"/>
                  </a:lnTo>
                  <a:lnTo>
                    <a:pt x="8946" y="12191"/>
                  </a:lnTo>
                  <a:lnTo>
                    <a:pt x="9931" y="11568"/>
                  </a:lnTo>
                  <a:lnTo>
                    <a:pt x="12255" y="8485"/>
                  </a:lnTo>
                  <a:lnTo>
                    <a:pt x="12865" y="6564"/>
                  </a:lnTo>
                  <a:lnTo>
                    <a:pt x="12446" y="4463"/>
                  </a:lnTo>
                  <a:lnTo>
                    <a:pt x="10109" y="1718"/>
                  </a:lnTo>
                  <a:lnTo>
                    <a:pt x="8712" y="1145"/>
                  </a:lnTo>
                  <a:lnTo>
                    <a:pt x="5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0865" y="6334177"/>
              <a:ext cx="403551" cy="12775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6090" y="6293901"/>
              <a:ext cx="2716777" cy="47591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2249" y="3535921"/>
              <a:ext cx="1004989" cy="25354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61162" y="3166414"/>
              <a:ext cx="2313959" cy="67329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13123" y="4534204"/>
              <a:ext cx="1164033" cy="60229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87977" y="5201945"/>
              <a:ext cx="179844" cy="18177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147896" y="5173497"/>
              <a:ext cx="290195" cy="183515"/>
            </a:xfrm>
            <a:custGeom>
              <a:avLst/>
              <a:gdLst/>
              <a:ahLst/>
              <a:cxnLst/>
              <a:rect l="l" t="t" r="r" b="b"/>
              <a:pathLst>
                <a:path w="290195" h="183514">
                  <a:moveTo>
                    <a:pt x="11722" y="3022"/>
                  </a:moveTo>
                  <a:lnTo>
                    <a:pt x="10083" y="736"/>
                  </a:lnTo>
                  <a:lnTo>
                    <a:pt x="5600" y="0"/>
                  </a:lnTo>
                  <a:lnTo>
                    <a:pt x="3581" y="1143"/>
                  </a:lnTo>
                  <a:lnTo>
                    <a:pt x="1130" y="7353"/>
                  </a:lnTo>
                  <a:lnTo>
                    <a:pt x="647" y="12077"/>
                  </a:lnTo>
                  <a:lnTo>
                    <a:pt x="0" y="23152"/>
                  </a:lnTo>
                  <a:lnTo>
                    <a:pt x="241" y="29718"/>
                  </a:lnTo>
                  <a:lnTo>
                    <a:pt x="685" y="36258"/>
                  </a:lnTo>
                  <a:lnTo>
                    <a:pt x="800" y="37973"/>
                  </a:lnTo>
                  <a:lnTo>
                    <a:pt x="2298" y="39293"/>
                  </a:lnTo>
                  <a:lnTo>
                    <a:pt x="5295" y="39293"/>
                  </a:lnTo>
                  <a:lnTo>
                    <a:pt x="6667" y="37973"/>
                  </a:lnTo>
                  <a:lnTo>
                    <a:pt x="6946" y="36258"/>
                  </a:lnTo>
                  <a:lnTo>
                    <a:pt x="9004" y="20929"/>
                  </a:lnTo>
                  <a:lnTo>
                    <a:pt x="10109" y="13182"/>
                  </a:lnTo>
                  <a:lnTo>
                    <a:pt x="11315" y="5448"/>
                  </a:lnTo>
                  <a:lnTo>
                    <a:pt x="11722" y="3022"/>
                  </a:lnTo>
                  <a:close/>
                </a:path>
                <a:path w="290195" h="183514">
                  <a:moveTo>
                    <a:pt x="32854" y="7988"/>
                  </a:moveTo>
                  <a:lnTo>
                    <a:pt x="32016" y="5842"/>
                  </a:lnTo>
                  <a:lnTo>
                    <a:pt x="28359" y="4241"/>
                  </a:lnTo>
                  <a:lnTo>
                    <a:pt x="26250" y="5041"/>
                  </a:lnTo>
                  <a:lnTo>
                    <a:pt x="25425" y="6819"/>
                  </a:lnTo>
                  <a:lnTo>
                    <a:pt x="23177" y="13881"/>
                  </a:lnTo>
                  <a:lnTo>
                    <a:pt x="22694" y="21196"/>
                  </a:lnTo>
                  <a:lnTo>
                    <a:pt x="23647" y="28536"/>
                  </a:lnTo>
                  <a:lnTo>
                    <a:pt x="25717" y="35636"/>
                  </a:lnTo>
                  <a:lnTo>
                    <a:pt x="26098" y="36677"/>
                  </a:lnTo>
                  <a:lnTo>
                    <a:pt x="26187" y="36893"/>
                  </a:lnTo>
                  <a:lnTo>
                    <a:pt x="27571" y="37553"/>
                  </a:lnTo>
                  <a:lnTo>
                    <a:pt x="29946" y="36677"/>
                  </a:lnTo>
                  <a:lnTo>
                    <a:pt x="30530" y="35636"/>
                  </a:lnTo>
                  <a:lnTo>
                    <a:pt x="29324" y="28536"/>
                  </a:lnTo>
                  <a:lnTo>
                    <a:pt x="28917" y="26250"/>
                  </a:lnTo>
                  <a:lnTo>
                    <a:pt x="28765" y="21196"/>
                  </a:lnTo>
                  <a:lnTo>
                    <a:pt x="28676" y="17526"/>
                  </a:lnTo>
                  <a:lnTo>
                    <a:pt x="32854" y="7988"/>
                  </a:lnTo>
                  <a:close/>
                </a:path>
                <a:path w="290195" h="183514">
                  <a:moveTo>
                    <a:pt x="289763" y="176911"/>
                  </a:moveTo>
                  <a:lnTo>
                    <a:pt x="288798" y="174701"/>
                  </a:lnTo>
                  <a:lnTo>
                    <a:pt x="286854" y="173939"/>
                  </a:lnTo>
                  <a:lnTo>
                    <a:pt x="285305" y="171742"/>
                  </a:lnTo>
                  <a:lnTo>
                    <a:pt x="282270" y="171221"/>
                  </a:lnTo>
                  <a:lnTo>
                    <a:pt x="279107" y="173456"/>
                  </a:lnTo>
                  <a:lnTo>
                    <a:pt x="278422" y="174472"/>
                  </a:lnTo>
                  <a:lnTo>
                    <a:pt x="277253" y="179412"/>
                  </a:lnTo>
                  <a:lnTo>
                    <a:pt x="280123" y="183438"/>
                  </a:lnTo>
                  <a:lnTo>
                    <a:pt x="286537" y="182600"/>
                  </a:lnTo>
                  <a:lnTo>
                    <a:pt x="288201" y="180924"/>
                  </a:lnTo>
                  <a:lnTo>
                    <a:pt x="289001" y="178854"/>
                  </a:lnTo>
                  <a:lnTo>
                    <a:pt x="289763" y="1769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461551" y="963291"/>
            <a:ext cx="5433695" cy="47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z="1250">
                <a:latin typeface="Arial MT"/>
                <a:cs typeface="Arial MT"/>
              </a:rPr>
              <a:t>LSTM </a:t>
            </a:r>
            <a:r>
              <a:rPr dirty="0" sz="1250">
                <a:latin typeface="Microsoft JhengHei UI"/>
                <a:cs typeface="Microsoft JhengHei UI"/>
              </a:rPr>
              <a:t>单元如何决定</a:t>
            </a: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写⼊</a:t>
            </a:r>
            <a:r>
              <a:rPr dirty="0" sz="1250">
                <a:latin typeface="Arial MT"/>
                <a:cs typeface="Arial MT"/>
              </a:rPr>
              <a:t>”</a:t>
            </a:r>
            <a:r>
              <a:rPr dirty="0" sz="1250">
                <a:latin typeface="Microsoft JhengHei UI"/>
                <a:cs typeface="Microsoft JhengHei UI"/>
              </a:rPr>
              <a:t>什么新信息到它的</a:t>
            </a: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⻓期记忆</a:t>
            </a:r>
            <a:r>
              <a:rPr dirty="0" sz="1250">
                <a:latin typeface="Arial MT"/>
                <a:cs typeface="Arial MT"/>
              </a:rPr>
              <a:t>” c(t) </a:t>
            </a:r>
            <a:r>
              <a:rPr dirty="0" sz="1250">
                <a:latin typeface="Microsoft JhengHei UI"/>
                <a:cs typeface="Microsoft JhengHei UI"/>
              </a:rPr>
              <a:t>中。这个</a:t>
            </a: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写⼊</a:t>
            </a:r>
            <a:r>
              <a:rPr dirty="0" sz="1250">
                <a:latin typeface="Arial MT"/>
                <a:cs typeface="Arial MT"/>
              </a:rPr>
              <a:t>”</a:t>
            </a:r>
            <a:r>
              <a:rPr dirty="0" sz="1250" spc="-50">
                <a:latin typeface="Microsoft JhengHei UI"/>
                <a:cs typeface="Microsoft JhengHei UI"/>
              </a:rPr>
              <a:t>操</a:t>
            </a:r>
            <a:r>
              <a:rPr dirty="0" sz="1250" spc="-5">
                <a:latin typeface="Microsoft JhengHei UI"/>
                <a:cs typeface="Microsoft JhengHei UI"/>
              </a:rPr>
              <a:t>作被分成了两个独⽴的部分：</a:t>
            </a:r>
            <a:endParaRPr sz="1250">
              <a:latin typeface="Microsoft JhengHei UI"/>
              <a:cs typeface="Microsoft JhengHei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461551" y="1524400"/>
            <a:ext cx="2787015" cy="523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候选信息</a:t>
            </a:r>
            <a:r>
              <a:rPr dirty="0" sz="1250">
                <a:latin typeface="Arial MT"/>
                <a:cs typeface="Arial MT"/>
              </a:rPr>
              <a:t>” z(t)</a:t>
            </a:r>
            <a:r>
              <a:rPr dirty="0" sz="1250" spc="5">
                <a:latin typeface="Microsoft JhengHei UI"/>
                <a:cs typeface="Microsoft JhengHei UI"/>
              </a:rPr>
              <a:t>： 我们</a:t>
            </a: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可能</a:t>
            </a:r>
            <a:r>
              <a:rPr dirty="0" sz="1250">
                <a:latin typeface="Arial MT"/>
                <a:cs typeface="Arial MT"/>
              </a:rPr>
              <a:t>”</a:t>
            </a:r>
            <a:r>
              <a:rPr dirty="0" sz="1250" spc="-10">
                <a:latin typeface="Microsoft JhengHei UI"/>
                <a:cs typeface="Microsoft JhengHei UI"/>
              </a:rPr>
              <a:t>想写什么？</a:t>
            </a:r>
            <a:endParaRPr sz="12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输⼊⻔</a:t>
            </a:r>
            <a:r>
              <a:rPr dirty="0" sz="1250">
                <a:latin typeface="Arial MT"/>
                <a:cs typeface="Arial MT"/>
              </a:rPr>
              <a:t>” i(t)</a:t>
            </a:r>
            <a:r>
              <a:rPr dirty="0" sz="1250" spc="5">
                <a:latin typeface="Microsoft JhengHei UI"/>
                <a:cs typeface="Microsoft JhengHei UI"/>
              </a:rPr>
              <a:t>： 我们</a:t>
            </a:r>
            <a:r>
              <a:rPr dirty="0" sz="1250">
                <a:latin typeface="Arial MT"/>
                <a:cs typeface="Arial MT"/>
              </a:rPr>
              <a:t>“</a:t>
            </a:r>
            <a:r>
              <a:rPr dirty="0" sz="1250">
                <a:latin typeface="Microsoft JhengHei UI"/>
                <a:cs typeface="Microsoft JhengHei UI"/>
              </a:rPr>
              <a:t>允许</a:t>
            </a:r>
            <a:r>
              <a:rPr dirty="0" sz="1250">
                <a:latin typeface="Arial MT"/>
                <a:cs typeface="Arial MT"/>
              </a:rPr>
              <a:t>”</a:t>
            </a:r>
            <a:r>
              <a:rPr dirty="0" sz="1250" spc="-10">
                <a:latin typeface="Microsoft JhengHei UI"/>
                <a:cs typeface="Microsoft JhengHei UI"/>
              </a:rPr>
              <a:t>写⼊多少？</a:t>
            </a:r>
            <a:endParaRPr sz="1250">
              <a:latin typeface="Microsoft JhengHei UI"/>
              <a:cs typeface="Microsoft JhengHei U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77856" y="348780"/>
            <a:ext cx="1147702" cy="42096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28815" y="591070"/>
            <a:ext cx="275639" cy="133781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02525" y="399846"/>
            <a:ext cx="297239" cy="380847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964462" y="455942"/>
            <a:ext cx="1124750" cy="336575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6503139" y="1602513"/>
            <a:ext cx="2249805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z(t</a:t>
            </a:r>
            <a:r>
              <a:rPr dirty="0" sz="1100" spc="-5">
                <a:latin typeface="Arial MT"/>
                <a:cs typeface="Arial MT"/>
              </a:rPr>
              <a:t>) </a:t>
            </a:r>
            <a:r>
              <a:rPr dirty="0" sz="1100" spc="-20">
                <a:latin typeface="Microsoft JhengHei UI"/>
                <a:cs typeface="Microsoft JhengHei UI"/>
              </a:rPr>
              <a:t>代表了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5">
                <a:latin typeface="Microsoft JhengHei UI"/>
                <a:cs typeface="Microsoft JhengHei UI"/>
              </a:rPr>
              <a:t>基于当前输⼊，我们新⽣</a:t>
            </a:r>
            <a:r>
              <a:rPr dirty="0" sz="1100" spc="-20">
                <a:latin typeface="Microsoft JhengHei UI"/>
                <a:cs typeface="Microsoft JhengHei UI"/>
              </a:rPr>
              <a:t>成的、可能要存⼊记忆的</a:t>
            </a:r>
            <a:r>
              <a:rPr dirty="0" sz="1100" spc="-15">
                <a:latin typeface="Arial MT"/>
                <a:cs typeface="Arial MT"/>
              </a:rPr>
              <a:t>‘</a:t>
            </a:r>
            <a:r>
              <a:rPr dirty="0" sz="1100" spc="-20">
                <a:latin typeface="Microsoft JhengHei UI"/>
                <a:cs typeface="Microsoft JhengHei UI"/>
              </a:rPr>
              <a:t>想法</a:t>
            </a:r>
            <a:r>
              <a:rPr dirty="0" sz="1100" spc="-10">
                <a:latin typeface="Arial MT"/>
                <a:cs typeface="Arial MT"/>
              </a:rPr>
              <a:t>’”</a:t>
            </a:r>
            <a:r>
              <a:rPr dirty="0" sz="1100" spc="-50">
                <a:latin typeface="Microsoft JhengHei UI"/>
                <a:cs typeface="Microsoft JhengHei UI"/>
              </a:rPr>
              <a:t>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420331"/>
            <a:ext cx="4704080" cy="12439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05"/>
              <a:t> </a:t>
            </a:r>
            <a:r>
              <a:rPr dirty="0" spc="-10"/>
              <a:t>Architecture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/>
              <a:t>input</a:t>
            </a:r>
            <a:r>
              <a:rPr dirty="0" spc="-60"/>
              <a:t> </a:t>
            </a:r>
            <a:r>
              <a:rPr dirty="0" spc="-20"/>
              <a:t>gate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79831" y="1923631"/>
            <a:ext cx="4274820" cy="4890770"/>
            <a:chOff x="179831" y="1923631"/>
            <a:chExt cx="4274820" cy="48907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1" y="1923631"/>
              <a:ext cx="4274820" cy="48901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6564" y="4102607"/>
              <a:ext cx="190500" cy="1280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810" y="3997591"/>
              <a:ext cx="302133" cy="2502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746400" y="4228934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400" y="0"/>
                  </a:lnTo>
                  <a:lnTo>
                    <a:pt x="21424" y="304"/>
                  </a:lnTo>
                  <a:lnTo>
                    <a:pt x="0" y="25400"/>
                  </a:lnTo>
                  <a:lnTo>
                    <a:pt x="0" y="1489773"/>
                  </a:lnTo>
                  <a:lnTo>
                    <a:pt x="25400" y="1515173"/>
                  </a:lnTo>
                  <a:lnTo>
                    <a:pt x="1362443" y="1515173"/>
                  </a:lnTo>
                  <a:lnTo>
                    <a:pt x="1387843" y="1489773"/>
                  </a:lnTo>
                  <a:lnTo>
                    <a:pt x="50800" y="1489773"/>
                  </a:lnTo>
                  <a:lnTo>
                    <a:pt x="25400" y="1464373"/>
                  </a:lnTo>
                  <a:lnTo>
                    <a:pt x="50800" y="1464373"/>
                  </a:lnTo>
                  <a:lnTo>
                    <a:pt x="50800" y="50800"/>
                  </a:lnTo>
                  <a:lnTo>
                    <a:pt x="25400" y="50800"/>
                  </a:lnTo>
                  <a:lnTo>
                    <a:pt x="50800" y="25400"/>
                  </a:lnTo>
                  <a:lnTo>
                    <a:pt x="1387843" y="25400"/>
                  </a:lnTo>
                  <a:lnTo>
                    <a:pt x="1387525" y="21424"/>
                  </a:lnTo>
                  <a:lnTo>
                    <a:pt x="1366418" y="304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800" y="1464373"/>
                  </a:moveTo>
                  <a:lnTo>
                    <a:pt x="25400" y="1464373"/>
                  </a:lnTo>
                  <a:lnTo>
                    <a:pt x="50800" y="1489773"/>
                  </a:lnTo>
                  <a:lnTo>
                    <a:pt x="50800" y="1464373"/>
                  </a:lnTo>
                  <a:close/>
                </a:path>
                <a:path w="1388110" h="1515745">
                  <a:moveTo>
                    <a:pt x="1337043" y="1464373"/>
                  </a:moveTo>
                  <a:lnTo>
                    <a:pt x="50800" y="1464373"/>
                  </a:lnTo>
                  <a:lnTo>
                    <a:pt x="50800" y="1489773"/>
                  </a:lnTo>
                  <a:lnTo>
                    <a:pt x="1337043" y="1489773"/>
                  </a:lnTo>
                  <a:lnTo>
                    <a:pt x="1337043" y="1464373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1337043" y="1489773"/>
                  </a:lnTo>
                  <a:lnTo>
                    <a:pt x="1362443" y="1464373"/>
                  </a:lnTo>
                  <a:lnTo>
                    <a:pt x="1387843" y="1464373"/>
                  </a:lnTo>
                  <a:lnTo>
                    <a:pt x="1387843" y="50800"/>
                  </a:lnTo>
                  <a:lnTo>
                    <a:pt x="13624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1464373"/>
                  </a:moveTo>
                  <a:lnTo>
                    <a:pt x="1362443" y="1464373"/>
                  </a:lnTo>
                  <a:lnTo>
                    <a:pt x="1337043" y="1489773"/>
                  </a:lnTo>
                  <a:lnTo>
                    <a:pt x="1387843" y="1489773"/>
                  </a:lnTo>
                  <a:lnTo>
                    <a:pt x="1387843" y="1464373"/>
                  </a:lnTo>
                  <a:close/>
                </a:path>
                <a:path w="1388110" h="1515745">
                  <a:moveTo>
                    <a:pt x="50800" y="25400"/>
                  </a:moveTo>
                  <a:lnTo>
                    <a:pt x="25400" y="50800"/>
                  </a:lnTo>
                  <a:lnTo>
                    <a:pt x="50800" y="50800"/>
                  </a:lnTo>
                  <a:lnTo>
                    <a:pt x="50800" y="25400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13370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25400"/>
                  </a:moveTo>
                  <a:lnTo>
                    <a:pt x="1337043" y="25400"/>
                  </a:lnTo>
                  <a:lnTo>
                    <a:pt x="1362443" y="50800"/>
                  </a:lnTo>
                  <a:lnTo>
                    <a:pt x="1387843" y="50800"/>
                  </a:lnTo>
                  <a:lnTo>
                    <a:pt x="1387843" y="25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871" y="3277057"/>
              <a:ext cx="413372" cy="16107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722894" y="3426917"/>
              <a:ext cx="17145" cy="28575"/>
            </a:xfrm>
            <a:custGeom>
              <a:avLst/>
              <a:gdLst/>
              <a:ahLst/>
              <a:cxnLst/>
              <a:rect l="l" t="t" r="r" b="b"/>
              <a:pathLst>
                <a:path w="17144" h="28575">
                  <a:moveTo>
                    <a:pt x="11582" y="0"/>
                  </a:moveTo>
                  <a:lnTo>
                    <a:pt x="7213" y="1676"/>
                  </a:lnTo>
                  <a:lnTo>
                    <a:pt x="6019" y="3810"/>
                  </a:lnTo>
                  <a:lnTo>
                    <a:pt x="7569" y="12026"/>
                  </a:lnTo>
                  <a:lnTo>
                    <a:pt x="5549" y="17233"/>
                  </a:lnTo>
                  <a:lnTo>
                    <a:pt x="0" y="23113"/>
                  </a:lnTo>
                  <a:lnTo>
                    <a:pt x="63" y="25400"/>
                  </a:lnTo>
                  <a:lnTo>
                    <a:pt x="2667" y="27863"/>
                  </a:lnTo>
                  <a:lnTo>
                    <a:pt x="4381" y="28079"/>
                  </a:lnTo>
                  <a:lnTo>
                    <a:pt x="9842" y="25044"/>
                  </a:lnTo>
                  <a:lnTo>
                    <a:pt x="13398" y="21704"/>
                  </a:lnTo>
                  <a:lnTo>
                    <a:pt x="17030" y="12877"/>
                  </a:lnTo>
                  <a:lnTo>
                    <a:pt x="16802" y="7937"/>
                  </a:lnTo>
                  <a:lnTo>
                    <a:pt x="14198" y="1168"/>
                  </a:lnTo>
                  <a:lnTo>
                    <a:pt x="115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434" y="3240290"/>
              <a:ext cx="1315760" cy="62895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768" y="4066031"/>
              <a:ext cx="372849" cy="16220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277" y="4045889"/>
              <a:ext cx="1362245" cy="70039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8466" y="4994821"/>
              <a:ext cx="557517" cy="16892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5128" y="4963083"/>
              <a:ext cx="918857" cy="23510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334" y="5278796"/>
              <a:ext cx="1347164" cy="773455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995164" y="1877847"/>
            <a:ext cx="3291204" cy="402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270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gate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controls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write </a:t>
            </a:r>
            <a:r>
              <a:rPr dirty="0" sz="1800">
                <a:latin typeface="Tahoma"/>
                <a:cs typeface="Tahoma"/>
              </a:rPr>
              <a:t>accesses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cells.</a:t>
            </a: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This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realized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result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squashing </a:t>
            </a:r>
            <a:r>
              <a:rPr dirty="0" sz="1800">
                <a:latin typeface="Tahoma"/>
                <a:cs typeface="Tahoma"/>
              </a:rPr>
              <a:t>function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σ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factor</a:t>
            </a:r>
            <a:r>
              <a:rPr dirty="0" sz="1800" spc="-20">
                <a:latin typeface="Tahoma"/>
                <a:cs typeface="Tahoma"/>
              </a:rPr>
              <a:t> which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later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multiplied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squashed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input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z(t).</a:t>
            </a:r>
            <a:endParaRPr sz="1800">
              <a:latin typeface="Tahoma"/>
              <a:cs typeface="Tahoma"/>
            </a:endParaRPr>
          </a:p>
          <a:p>
            <a:pPr marL="355600" marR="6223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range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function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σ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is </a:t>
            </a:r>
            <a:r>
              <a:rPr dirty="0" sz="1800">
                <a:latin typeface="Tahoma"/>
                <a:cs typeface="Tahoma"/>
              </a:rPr>
              <a:t>(0,1)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interpreted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case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0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write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access </a:t>
            </a:r>
            <a:r>
              <a:rPr dirty="0" sz="1800">
                <a:latin typeface="Tahoma"/>
                <a:cs typeface="Tahoma"/>
              </a:rPr>
              <a:t>denied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case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</a:t>
            </a:r>
            <a:r>
              <a:rPr dirty="0" sz="1800" spc="-25">
                <a:latin typeface="Tahoma"/>
                <a:cs typeface="Tahoma"/>
              </a:rPr>
              <a:t> as </a:t>
            </a:r>
            <a:r>
              <a:rPr dirty="0" sz="1800">
                <a:latin typeface="Tahoma"/>
                <a:cs typeface="Tahoma"/>
              </a:rPr>
              <a:t>write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access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granted.</a:t>
            </a:r>
            <a:endParaRPr sz="1800">
              <a:latin typeface="Tahoma"/>
              <a:cs typeface="Tahoma"/>
            </a:endParaRPr>
          </a:p>
          <a:p>
            <a:pPr marL="355600" marR="257175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Note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all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values</a:t>
            </a:r>
            <a:r>
              <a:rPr dirty="0" sz="1800" spc="-25">
                <a:latin typeface="Tahoma"/>
                <a:cs typeface="Tahoma"/>
              </a:rPr>
              <a:t> in </a:t>
            </a:r>
            <a:r>
              <a:rPr dirty="0" sz="1800">
                <a:latin typeface="Tahoma"/>
                <a:cs typeface="Tahoma"/>
              </a:rPr>
              <a:t>between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also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possible.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47488" y="5981700"/>
            <a:ext cx="3505200" cy="6858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446915" y="49324"/>
            <a:ext cx="7433309" cy="413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sz="1100" spc="-10">
                <a:latin typeface="Times New Roman"/>
                <a:cs typeface="Times New Roman"/>
              </a:rPr>
              <a:t>“</a:t>
            </a:r>
            <a:r>
              <a:rPr dirty="0" sz="1100" spc="55">
                <a:latin typeface="Microsoft JhengHei UI"/>
                <a:cs typeface="Microsoft JhengHei UI"/>
              </a:rPr>
              <a:t>输⼊⻔” </a:t>
            </a:r>
            <a:r>
              <a:rPr dirty="0" sz="1100">
                <a:latin typeface="Microsoft JhengHei UI"/>
                <a:cs typeface="Microsoft JhengHei UI"/>
              </a:rPr>
              <a:t>i(t)</a:t>
            </a:r>
            <a:r>
              <a:rPr dirty="0" sz="1100" spc="35">
                <a:latin typeface="Microsoft JhengHei UI"/>
                <a:cs typeface="Microsoft JhengHei UI"/>
              </a:rPr>
              <a:t> 的计算。</a:t>
            </a:r>
            <a:r>
              <a:rPr dirty="0" sz="1100">
                <a:latin typeface="Microsoft JhengHei UI"/>
                <a:cs typeface="Microsoft JhengHei UI"/>
              </a:rPr>
              <a:t>i(t)</a:t>
            </a:r>
            <a:r>
              <a:rPr dirty="0" sz="1100" spc="15">
                <a:latin typeface="Microsoft JhengHei UI"/>
                <a:cs typeface="Microsoft JhengHei UI"/>
              </a:rPr>
              <a:t> 是⼀个“阀⻔”，它决定了 </a:t>
            </a:r>
            <a:r>
              <a:rPr dirty="0" sz="1100">
                <a:latin typeface="Microsoft JhengHei UI"/>
                <a:cs typeface="Microsoft JhengHei UI"/>
              </a:rPr>
              <a:t>z(t) 这个“新想法”有多⼤⽐例（百分之⼏）</a:t>
            </a:r>
            <a:r>
              <a:rPr dirty="0" sz="1100" spc="-5">
                <a:latin typeface="Microsoft JhengHei UI"/>
                <a:cs typeface="Microsoft JhengHei UI"/>
              </a:rPr>
              <a:t>可以被“允许”写⼊“⻓期记忆”。输⼊⻔控制着对“记忆细胞”的“写⼊权限”。</a:t>
            </a:r>
            <a:endParaRPr sz="1100">
              <a:latin typeface="Microsoft JhengHei UI"/>
              <a:cs typeface="Microsoft JhengHei U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61735" y="381000"/>
            <a:ext cx="2910941" cy="170107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60582" y="1608928"/>
            <a:ext cx="1226366" cy="1969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395922"/>
            <a:ext cx="4704080" cy="12439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1290" marR="5080" indent="-14859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05"/>
              <a:t> </a:t>
            </a:r>
            <a:r>
              <a:rPr dirty="0" spc="-10"/>
              <a:t>Architecture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25"/>
              <a:t>CEC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51459" y="1934299"/>
            <a:ext cx="4274820" cy="4890770"/>
            <a:chOff x="251459" y="1934299"/>
            <a:chExt cx="4274820" cy="48907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59" y="1934299"/>
              <a:ext cx="4274820" cy="48901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8192" y="4113276"/>
              <a:ext cx="190500" cy="1280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819" y="4009047"/>
              <a:ext cx="302387" cy="2502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670977" y="3686835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400" y="0"/>
                  </a:lnTo>
                  <a:lnTo>
                    <a:pt x="21424" y="317"/>
                  </a:lnTo>
                  <a:lnTo>
                    <a:pt x="0" y="25399"/>
                  </a:lnTo>
                  <a:lnTo>
                    <a:pt x="0" y="1489786"/>
                  </a:lnTo>
                  <a:lnTo>
                    <a:pt x="25400" y="1515186"/>
                  </a:lnTo>
                  <a:lnTo>
                    <a:pt x="1362443" y="1515186"/>
                  </a:lnTo>
                  <a:lnTo>
                    <a:pt x="1387843" y="1489786"/>
                  </a:lnTo>
                  <a:lnTo>
                    <a:pt x="50800" y="1489786"/>
                  </a:lnTo>
                  <a:lnTo>
                    <a:pt x="25400" y="1464386"/>
                  </a:lnTo>
                  <a:lnTo>
                    <a:pt x="50800" y="1464386"/>
                  </a:lnTo>
                  <a:lnTo>
                    <a:pt x="50800" y="50799"/>
                  </a:lnTo>
                  <a:lnTo>
                    <a:pt x="25400" y="50799"/>
                  </a:lnTo>
                  <a:lnTo>
                    <a:pt x="50800" y="25399"/>
                  </a:lnTo>
                  <a:lnTo>
                    <a:pt x="1387843" y="25399"/>
                  </a:lnTo>
                  <a:lnTo>
                    <a:pt x="1387525" y="21424"/>
                  </a:lnTo>
                  <a:lnTo>
                    <a:pt x="1366418" y="317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800" y="1464386"/>
                  </a:moveTo>
                  <a:lnTo>
                    <a:pt x="25400" y="1464386"/>
                  </a:lnTo>
                  <a:lnTo>
                    <a:pt x="50800" y="1489786"/>
                  </a:lnTo>
                  <a:lnTo>
                    <a:pt x="50800" y="1464386"/>
                  </a:lnTo>
                  <a:close/>
                </a:path>
                <a:path w="1388110" h="1515745">
                  <a:moveTo>
                    <a:pt x="1337043" y="1464386"/>
                  </a:moveTo>
                  <a:lnTo>
                    <a:pt x="50800" y="1464386"/>
                  </a:lnTo>
                  <a:lnTo>
                    <a:pt x="50800" y="1489786"/>
                  </a:lnTo>
                  <a:lnTo>
                    <a:pt x="1337043" y="1489786"/>
                  </a:lnTo>
                  <a:lnTo>
                    <a:pt x="1337043" y="1464386"/>
                  </a:lnTo>
                  <a:close/>
                </a:path>
                <a:path w="1388110" h="1515745">
                  <a:moveTo>
                    <a:pt x="1337043" y="25399"/>
                  </a:moveTo>
                  <a:lnTo>
                    <a:pt x="1337043" y="1489786"/>
                  </a:lnTo>
                  <a:lnTo>
                    <a:pt x="1362443" y="1464386"/>
                  </a:lnTo>
                  <a:lnTo>
                    <a:pt x="1387843" y="1464386"/>
                  </a:lnTo>
                  <a:lnTo>
                    <a:pt x="1387843" y="50799"/>
                  </a:lnTo>
                  <a:lnTo>
                    <a:pt x="1362443" y="50799"/>
                  </a:lnTo>
                  <a:lnTo>
                    <a:pt x="1337043" y="25399"/>
                  </a:lnTo>
                  <a:close/>
                </a:path>
                <a:path w="1388110" h="1515745">
                  <a:moveTo>
                    <a:pt x="1387843" y="1464386"/>
                  </a:moveTo>
                  <a:lnTo>
                    <a:pt x="1362443" y="1464386"/>
                  </a:lnTo>
                  <a:lnTo>
                    <a:pt x="1337043" y="1489786"/>
                  </a:lnTo>
                  <a:lnTo>
                    <a:pt x="1387843" y="1489786"/>
                  </a:lnTo>
                  <a:lnTo>
                    <a:pt x="1387843" y="1464386"/>
                  </a:lnTo>
                  <a:close/>
                </a:path>
                <a:path w="1388110" h="1515745">
                  <a:moveTo>
                    <a:pt x="50800" y="25399"/>
                  </a:moveTo>
                  <a:lnTo>
                    <a:pt x="25400" y="50799"/>
                  </a:lnTo>
                  <a:lnTo>
                    <a:pt x="50800" y="50799"/>
                  </a:lnTo>
                  <a:lnTo>
                    <a:pt x="50800" y="25399"/>
                  </a:lnTo>
                  <a:close/>
                </a:path>
                <a:path w="1388110" h="1515745">
                  <a:moveTo>
                    <a:pt x="1337043" y="25399"/>
                  </a:moveTo>
                  <a:lnTo>
                    <a:pt x="50800" y="25399"/>
                  </a:lnTo>
                  <a:lnTo>
                    <a:pt x="50800" y="50799"/>
                  </a:lnTo>
                  <a:lnTo>
                    <a:pt x="1337043" y="50799"/>
                  </a:lnTo>
                  <a:lnTo>
                    <a:pt x="1337043" y="25399"/>
                  </a:lnTo>
                  <a:close/>
                </a:path>
                <a:path w="1388110" h="1515745">
                  <a:moveTo>
                    <a:pt x="1387843" y="25399"/>
                  </a:moveTo>
                  <a:lnTo>
                    <a:pt x="1337043" y="25399"/>
                  </a:lnTo>
                  <a:lnTo>
                    <a:pt x="1362443" y="50799"/>
                  </a:lnTo>
                  <a:lnTo>
                    <a:pt x="1387843" y="50799"/>
                  </a:lnTo>
                  <a:lnTo>
                    <a:pt x="1387843" y="2539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686236" y="2300782"/>
            <a:ext cx="4356735" cy="342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953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Each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contains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node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with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self-</a:t>
            </a:r>
            <a:r>
              <a:rPr dirty="0" sz="1800">
                <a:latin typeface="Tahoma"/>
                <a:cs typeface="Tahoma"/>
              </a:rPr>
              <a:t>connected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recurrent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edge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of </a:t>
            </a:r>
            <a:r>
              <a:rPr dirty="0" sz="1800">
                <a:latin typeface="Tahoma"/>
                <a:cs typeface="Tahoma"/>
              </a:rPr>
              <a:t>fixed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weight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one,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ensuring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gradient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pass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across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many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time </a:t>
            </a:r>
            <a:r>
              <a:rPr dirty="0" sz="1800">
                <a:latin typeface="Tahoma"/>
                <a:cs typeface="Tahoma"/>
              </a:rPr>
              <a:t>steps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without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vanishing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–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which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is </a:t>
            </a:r>
            <a:r>
              <a:rPr dirty="0" sz="1800">
                <a:latin typeface="Tahoma"/>
                <a:cs typeface="Tahoma"/>
              </a:rPr>
              <a:t>called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CEC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(constant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error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carousel)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3333CC"/>
              </a:buClr>
              <a:buFont typeface="Tahoma"/>
              <a:buChar char="■"/>
            </a:pP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CEC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solves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vanishing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error </a:t>
            </a:r>
            <a:r>
              <a:rPr dirty="0" sz="1800">
                <a:latin typeface="Tahoma"/>
                <a:cs typeface="Tahoma"/>
              </a:rPr>
              <a:t>problem.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absence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new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input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error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signals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CEC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local </a:t>
            </a:r>
            <a:r>
              <a:rPr dirty="0" sz="1800">
                <a:latin typeface="Tahoma"/>
                <a:cs typeface="Tahoma"/>
              </a:rPr>
              <a:t>error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back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flow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remains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constant, </a:t>
            </a:r>
            <a:r>
              <a:rPr dirty="0" sz="1800">
                <a:latin typeface="Tahoma"/>
                <a:cs typeface="Tahoma"/>
              </a:rPr>
              <a:t>neither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growing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or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decaying.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43796" y="2114448"/>
            <a:ext cx="8634095" cy="4534535"/>
            <a:chOff x="443796" y="2114448"/>
            <a:chExt cx="8634095" cy="453453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3620" y="5946541"/>
              <a:ext cx="3200745" cy="30458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4460" y="6344344"/>
              <a:ext cx="3352799" cy="30452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949" y="3310280"/>
              <a:ext cx="1465126" cy="2596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796" y="3634003"/>
              <a:ext cx="1193525" cy="49916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75395" y="5633784"/>
              <a:ext cx="2260090" cy="73196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49153" y="3988765"/>
              <a:ext cx="343750" cy="16781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1060" y="3951871"/>
              <a:ext cx="1445272" cy="22492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1940" y="3953243"/>
              <a:ext cx="707080" cy="25970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700405" y="4114190"/>
              <a:ext cx="65405" cy="52705"/>
            </a:xfrm>
            <a:custGeom>
              <a:avLst/>
              <a:gdLst/>
              <a:ahLst/>
              <a:cxnLst/>
              <a:rect l="l" t="t" r="r" b="b"/>
              <a:pathLst>
                <a:path w="65404" h="52704">
                  <a:moveTo>
                    <a:pt x="52311" y="5511"/>
                  </a:moveTo>
                  <a:lnTo>
                    <a:pt x="50673" y="3441"/>
                  </a:lnTo>
                  <a:lnTo>
                    <a:pt x="40335" y="1701"/>
                  </a:lnTo>
                  <a:lnTo>
                    <a:pt x="32207" y="596"/>
                  </a:lnTo>
                  <a:lnTo>
                    <a:pt x="24053" y="0"/>
                  </a:lnTo>
                  <a:lnTo>
                    <a:pt x="15938" y="139"/>
                  </a:lnTo>
                  <a:lnTo>
                    <a:pt x="12280" y="419"/>
                  </a:lnTo>
                  <a:lnTo>
                    <a:pt x="8407" y="1041"/>
                  </a:lnTo>
                  <a:lnTo>
                    <a:pt x="2032" y="5041"/>
                  </a:lnTo>
                  <a:lnTo>
                    <a:pt x="0" y="8674"/>
                  </a:lnTo>
                  <a:lnTo>
                    <a:pt x="1422" y="14973"/>
                  </a:lnTo>
                  <a:lnTo>
                    <a:pt x="1524" y="15367"/>
                  </a:lnTo>
                  <a:lnTo>
                    <a:pt x="4368" y="17157"/>
                  </a:lnTo>
                  <a:lnTo>
                    <a:pt x="8877" y="16129"/>
                  </a:lnTo>
                  <a:lnTo>
                    <a:pt x="10248" y="14973"/>
                  </a:lnTo>
                  <a:lnTo>
                    <a:pt x="10922" y="13411"/>
                  </a:lnTo>
                  <a:lnTo>
                    <a:pt x="14389" y="12014"/>
                  </a:lnTo>
                  <a:lnTo>
                    <a:pt x="17360" y="12014"/>
                  </a:lnTo>
                  <a:lnTo>
                    <a:pt x="30568" y="11442"/>
                  </a:lnTo>
                  <a:lnTo>
                    <a:pt x="38963" y="11785"/>
                  </a:lnTo>
                  <a:lnTo>
                    <a:pt x="49860" y="12382"/>
                  </a:lnTo>
                  <a:lnTo>
                    <a:pt x="50901" y="11442"/>
                  </a:lnTo>
                  <a:lnTo>
                    <a:pt x="52044" y="10414"/>
                  </a:lnTo>
                  <a:lnTo>
                    <a:pt x="52133" y="8674"/>
                  </a:lnTo>
                  <a:lnTo>
                    <a:pt x="52184" y="7861"/>
                  </a:lnTo>
                  <a:lnTo>
                    <a:pt x="52311" y="5511"/>
                  </a:lnTo>
                  <a:close/>
                </a:path>
                <a:path w="65404" h="52704">
                  <a:moveTo>
                    <a:pt x="64909" y="45351"/>
                  </a:moveTo>
                  <a:lnTo>
                    <a:pt x="64414" y="39077"/>
                  </a:lnTo>
                  <a:lnTo>
                    <a:pt x="61671" y="36741"/>
                  </a:lnTo>
                  <a:lnTo>
                    <a:pt x="58534" y="36982"/>
                  </a:lnTo>
                  <a:lnTo>
                    <a:pt x="3124" y="44272"/>
                  </a:lnTo>
                  <a:lnTo>
                    <a:pt x="1473" y="46431"/>
                  </a:lnTo>
                  <a:lnTo>
                    <a:pt x="2082" y="51041"/>
                  </a:lnTo>
                  <a:lnTo>
                    <a:pt x="4102" y="52679"/>
                  </a:lnTo>
                  <a:lnTo>
                    <a:pt x="62560" y="48094"/>
                  </a:lnTo>
                  <a:lnTo>
                    <a:pt x="64909" y="45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9310" y="3957472"/>
              <a:ext cx="716305" cy="24601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69633" y="4000715"/>
              <a:ext cx="1011134" cy="21817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8622" y="2114448"/>
              <a:ext cx="1780937" cy="24099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075273" y="2194737"/>
              <a:ext cx="848994" cy="157480"/>
            </a:xfrm>
            <a:custGeom>
              <a:avLst/>
              <a:gdLst/>
              <a:ahLst/>
              <a:cxnLst/>
              <a:rect l="l" t="t" r="r" b="b"/>
              <a:pathLst>
                <a:path w="848995" h="157480">
                  <a:moveTo>
                    <a:pt x="11290" y="4140"/>
                  </a:moveTo>
                  <a:lnTo>
                    <a:pt x="10439" y="1892"/>
                  </a:lnTo>
                  <a:lnTo>
                    <a:pt x="8191" y="863"/>
                  </a:lnTo>
                  <a:lnTo>
                    <a:pt x="8597" y="863"/>
                  </a:lnTo>
                  <a:lnTo>
                    <a:pt x="2070" y="0"/>
                  </a:lnTo>
                  <a:lnTo>
                    <a:pt x="431" y="1257"/>
                  </a:lnTo>
                  <a:lnTo>
                    <a:pt x="38" y="4140"/>
                  </a:lnTo>
                  <a:lnTo>
                    <a:pt x="0" y="4470"/>
                  </a:lnTo>
                  <a:lnTo>
                    <a:pt x="762" y="5867"/>
                  </a:lnTo>
                  <a:lnTo>
                    <a:pt x="7302" y="8813"/>
                  </a:lnTo>
                  <a:lnTo>
                    <a:pt x="9563" y="7975"/>
                  </a:lnTo>
                  <a:lnTo>
                    <a:pt x="11290" y="4140"/>
                  </a:lnTo>
                  <a:close/>
                </a:path>
                <a:path w="848995" h="157480">
                  <a:moveTo>
                    <a:pt x="766114" y="102870"/>
                  </a:moveTo>
                  <a:lnTo>
                    <a:pt x="723658" y="87236"/>
                  </a:lnTo>
                  <a:lnTo>
                    <a:pt x="721169" y="88722"/>
                  </a:lnTo>
                  <a:lnTo>
                    <a:pt x="719950" y="93497"/>
                  </a:lnTo>
                  <a:lnTo>
                    <a:pt x="721245" y="95872"/>
                  </a:lnTo>
                  <a:lnTo>
                    <a:pt x="731291" y="99250"/>
                  </a:lnTo>
                  <a:lnTo>
                    <a:pt x="739165" y="101688"/>
                  </a:lnTo>
                  <a:lnTo>
                    <a:pt x="752779" y="104533"/>
                  </a:lnTo>
                  <a:lnTo>
                    <a:pt x="757796" y="105460"/>
                  </a:lnTo>
                  <a:lnTo>
                    <a:pt x="764844" y="104533"/>
                  </a:lnTo>
                  <a:lnTo>
                    <a:pt x="766114" y="102870"/>
                  </a:lnTo>
                  <a:close/>
                </a:path>
                <a:path w="848995" h="157480">
                  <a:moveTo>
                    <a:pt x="819226" y="12103"/>
                  </a:moveTo>
                  <a:lnTo>
                    <a:pt x="818946" y="12471"/>
                  </a:lnTo>
                  <a:lnTo>
                    <a:pt x="818959" y="12788"/>
                  </a:lnTo>
                  <a:lnTo>
                    <a:pt x="819226" y="12103"/>
                  </a:lnTo>
                  <a:close/>
                </a:path>
                <a:path w="848995" h="157480">
                  <a:moveTo>
                    <a:pt x="831138" y="9918"/>
                  </a:moveTo>
                  <a:lnTo>
                    <a:pt x="831049" y="9740"/>
                  </a:lnTo>
                  <a:lnTo>
                    <a:pt x="830351" y="9347"/>
                  </a:lnTo>
                  <a:lnTo>
                    <a:pt x="831138" y="9918"/>
                  </a:lnTo>
                  <a:close/>
                </a:path>
                <a:path w="848995" h="157480">
                  <a:moveTo>
                    <a:pt x="832294" y="11925"/>
                  </a:moveTo>
                  <a:lnTo>
                    <a:pt x="832002" y="10502"/>
                  </a:lnTo>
                  <a:lnTo>
                    <a:pt x="831138" y="9918"/>
                  </a:lnTo>
                  <a:lnTo>
                    <a:pt x="832294" y="11925"/>
                  </a:lnTo>
                  <a:close/>
                </a:path>
                <a:path w="848995" h="157480">
                  <a:moveTo>
                    <a:pt x="848931" y="152196"/>
                  </a:moveTo>
                  <a:lnTo>
                    <a:pt x="848245" y="150393"/>
                  </a:lnTo>
                  <a:lnTo>
                    <a:pt x="846035" y="144322"/>
                  </a:lnTo>
                  <a:lnTo>
                    <a:pt x="844054" y="138150"/>
                  </a:lnTo>
                  <a:lnTo>
                    <a:pt x="843470" y="135940"/>
                  </a:lnTo>
                  <a:lnTo>
                    <a:pt x="843419" y="135750"/>
                  </a:lnTo>
                  <a:lnTo>
                    <a:pt x="842403" y="131902"/>
                  </a:lnTo>
                  <a:lnTo>
                    <a:pt x="841743" y="128587"/>
                  </a:lnTo>
                  <a:lnTo>
                    <a:pt x="841654" y="128104"/>
                  </a:lnTo>
                  <a:lnTo>
                    <a:pt x="841603" y="128587"/>
                  </a:lnTo>
                  <a:lnTo>
                    <a:pt x="841171" y="125641"/>
                  </a:lnTo>
                  <a:lnTo>
                    <a:pt x="840930" y="123761"/>
                  </a:lnTo>
                  <a:lnTo>
                    <a:pt x="840790" y="123037"/>
                  </a:lnTo>
                  <a:lnTo>
                    <a:pt x="840613" y="121145"/>
                  </a:lnTo>
                  <a:lnTo>
                    <a:pt x="840409" y="119494"/>
                  </a:lnTo>
                  <a:lnTo>
                    <a:pt x="840308" y="118643"/>
                  </a:lnTo>
                  <a:lnTo>
                    <a:pt x="840257" y="118084"/>
                  </a:lnTo>
                  <a:lnTo>
                    <a:pt x="839711" y="111594"/>
                  </a:lnTo>
                  <a:lnTo>
                    <a:pt x="839419" y="106629"/>
                  </a:lnTo>
                  <a:lnTo>
                    <a:pt x="839368" y="105981"/>
                  </a:lnTo>
                  <a:lnTo>
                    <a:pt x="839279" y="104533"/>
                  </a:lnTo>
                  <a:lnTo>
                    <a:pt x="839203" y="103073"/>
                  </a:lnTo>
                  <a:lnTo>
                    <a:pt x="839152" y="102146"/>
                  </a:lnTo>
                  <a:lnTo>
                    <a:pt x="838708" y="93776"/>
                  </a:lnTo>
                  <a:lnTo>
                    <a:pt x="838657" y="92849"/>
                  </a:lnTo>
                  <a:lnTo>
                    <a:pt x="838492" y="89801"/>
                  </a:lnTo>
                  <a:lnTo>
                    <a:pt x="838466" y="89281"/>
                  </a:lnTo>
                  <a:lnTo>
                    <a:pt x="837907" y="77520"/>
                  </a:lnTo>
                  <a:lnTo>
                    <a:pt x="837488" y="67056"/>
                  </a:lnTo>
                  <a:lnTo>
                    <a:pt x="837412" y="64719"/>
                  </a:lnTo>
                  <a:lnTo>
                    <a:pt x="837145" y="56591"/>
                  </a:lnTo>
                  <a:lnTo>
                    <a:pt x="837095" y="61125"/>
                  </a:lnTo>
                  <a:lnTo>
                    <a:pt x="837006" y="51854"/>
                  </a:lnTo>
                  <a:lnTo>
                    <a:pt x="836904" y="48666"/>
                  </a:lnTo>
                  <a:lnTo>
                    <a:pt x="836587" y="42075"/>
                  </a:lnTo>
                  <a:lnTo>
                    <a:pt x="836523" y="40970"/>
                  </a:lnTo>
                  <a:lnTo>
                    <a:pt x="835990" y="34823"/>
                  </a:lnTo>
                  <a:lnTo>
                    <a:pt x="835977" y="34683"/>
                  </a:lnTo>
                  <a:lnTo>
                    <a:pt x="835863" y="33286"/>
                  </a:lnTo>
                  <a:lnTo>
                    <a:pt x="835037" y="27660"/>
                  </a:lnTo>
                  <a:lnTo>
                    <a:pt x="835177" y="30480"/>
                  </a:lnTo>
                  <a:lnTo>
                    <a:pt x="834948" y="27660"/>
                  </a:lnTo>
                  <a:lnTo>
                    <a:pt x="834859" y="26416"/>
                  </a:lnTo>
                  <a:lnTo>
                    <a:pt x="834758" y="25679"/>
                  </a:lnTo>
                  <a:lnTo>
                    <a:pt x="834224" y="22745"/>
                  </a:lnTo>
                  <a:lnTo>
                    <a:pt x="834097" y="22098"/>
                  </a:lnTo>
                  <a:lnTo>
                    <a:pt x="834021" y="21666"/>
                  </a:lnTo>
                  <a:lnTo>
                    <a:pt x="832827" y="15113"/>
                  </a:lnTo>
                  <a:lnTo>
                    <a:pt x="832789" y="15938"/>
                  </a:lnTo>
                  <a:lnTo>
                    <a:pt x="832688" y="14287"/>
                  </a:lnTo>
                  <a:lnTo>
                    <a:pt x="832408" y="12788"/>
                  </a:lnTo>
                  <a:lnTo>
                    <a:pt x="832281" y="12103"/>
                  </a:lnTo>
                  <a:lnTo>
                    <a:pt x="832256" y="11925"/>
                  </a:lnTo>
                  <a:lnTo>
                    <a:pt x="831138" y="9918"/>
                  </a:lnTo>
                  <a:lnTo>
                    <a:pt x="830326" y="9347"/>
                  </a:lnTo>
                  <a:lnTo>
                    <a:pt x="828649" y="8191"/>
                  </a:lnTo>
                  <a:lnTo>
                    <a:pt x="828306" y="8191"/>
                  </a:lnTo>
                  <a:lnTo>
                    <a:pt x="825347" y="6515"/>
                  </a:lnTo>
                  <a:lnTo>
                    <a:pt x="824814" y="6718"/>
                  </a:lnTo>
                  <a:lnTo>
                    <a:pt x="824814" y="22098"/>
                  </a:lnTo>
                  <a:lnTo>
                    <a:pt x="824204" y="22263"/>
                  </a:lnTo>
                  <a:lnTo>
                    <a:pt x="824763" y="22098"/>
                  </a:lnTo>
                  <a:lnTo>
                    <a:pt x="824814" y="6718"/>
                  </a:lnTo>
                  <a:lnTo>
                    <a:pt x="820750" y="8191"/>
                  </a:lnTo>
                  <a:lnTo>
                    <a:pt x="819289" y="11925"/>
                  </a:lnTo>
                  <a:lnTo>
                    <a:pt x="820445" y="10515"/>
                  </a:lnTo>
                  <a:lnTo>
                    <a:pt x="819226" y="12103"/>
                  </a:lnTo>
                  <a:lnTo>
                    <a:pt x="819226" y="15938"/>
                  </a:lnTo>
                  <a:lnTo>
                    <a:pt x="819150" y="15113"/>
                  </a:lnTo>
                  <a:lnTo>
                    <a:pt x="819086" y="14287"/>
                  </a:lnTo>
                  <a:lnTo>
                    <a:pt x="818959" y="12788"/>
                  </a:lnTo>
                  <a:lnTo>
                    <a:pt x="818705" y="13462"/>
                  </a:lnTo>
                  <a:lnTo>
                    <a:pt x="818578" y="15113"/>
                  </a:lnTo>
                  <a:lnTo>
                    <a:pt x="818159" y="19011"/>
                  </a:lnTo>
                  <a:lnTo>
                    <a:pt x="818121" y="19469"/>
                  </a:lnTo>
                  <a:lnTo>
                    <a:pt x="819645" y="21348"/>
                  </a:lnTo>
                  <a:lnTo>
                    <a:pt x="819721" y="22263"/>
                  </a:lnTo>
                  <a:lnTo>
                    <a:pt x="819835" y="23825"/>
                  </a:lnTo>
                  <a:lnTo>
                    <a:pt x="821029" y="22263"/>
                  </a:lnTo>
                  <a:lnTo>
                    <a:pt x="821156" y="22098"/>
                  </a:lnTo>
                  <a:lnTo>
                    <a:pt x="822452" y="20421"/>
                  </a:lnTo>
                  <a:lnTo>
                    <a:pt x="819848" y="23825"/>
                  </a:lnTo>
                  <a:lnTo>
                    <a:pt x="820356" y="30480"/>
                  </a:lnTo>
                  <a:lnTo>
                    <a:pt x="820458" y="31648"/>
                  </a:lnTo>
                  <a:lnTo>
                    <a:pt x="820572" y="34823"/>
                  </a:lnTo>
                  <a:lnTo>
                    <a:pt x="820750" y="40970"/>
                  </a:lnTo>
                  <a:lnTo>
                    <a:pt x="820826" y="52222"/>
                  </a:lnTo>
                  <a:lnTo>
                    <a:pt x="821169" y="51866"/>
                  </a:lnTo>
                  <a:lnTo>
                    <a:pt x="820864" y="52222"/>
                  </a:lnTo>
                  <a:lnTo>
                    <a:pt x="820902" y="61125"/>
                  </a:lnTo>
                  <a:lnTo>
                    <a:pt x="820953" y="67056"/>
                  </a:lnTo>
                  <a:lnTo>
                    <a:pt x="821182" y="76923"/>
                  </a:lnTo>
                  <a:lnTo>
                    <a:pt x="821537" y="87210"/>
                  </a:lnTo>
                  <a:lnTo>
                    <a:pt x="821817" y="92849"/>
                  </a:lnTo>
                  <a:lnTo>
                    <a:pt x="821855" y="93776"/>
                  </a:lnTo>
                  <a:lnTo>
                    <a:pt x="822032" y="97485"/>
                  </a:lnTo>
                  <a:lnTo>
                    <a:pt x="822286" y="102146"/>
                  </a:lnTo>
                  <a:lnTo>
                    <a:pt x="822350" y="103073"/>
                  </a:lnTo>
                  <a:lnTo>
                    <a:pt x="822426" y="104533"/>
                  </a:lnTo>
                  <a:lnTo>
                    <a:pt x="822540" y="106629"/>
                  </a:lnTo>
                  <a:lnTo>
                    <a:pt x="823023" y="113588"/>
                  </a:lnTo>
                  <a:lnTo>
                    <a:pt x="823849" y="121145"/>
                  </a:lnTo>
                  <a:lnTo>
                    <a:pt x="824306" y="123761"/>
                  </a:lnTo>
                  <a:lnTo>
                    <a:pt x="826046" y="121361"/>
                  </a:lnTo>
                  <a:lnTo>
                    <a:pt x="824395" y="123761"/>
                  </a:lnTo>
                  <a:lnTo>
                    <a:pt x="824649" y="125641"/>
                  </a:lnTo>
                  <a:lnTo>
                    <a:pt x="825093" y="128104"/>
                  </a:lnTo>
                  <a:lnTo>
                    <a:pt x="825169" y="128587"/>
                  </a:lnTo>
                  <a:lnTo>
                    <a:pt x="825563" y="129870"/>
                  </a:lnTo>
                  <a:lnTo>
                    <a:pt x="825906" y="131902"/>
                  </a:lnTo>
                  <a:lnTo>
                    <a:pt x="826147" y="132969"/>
                  </a:lnTo>
                  <a:lnTo>
                    <a:pt x="826617" y="133273"/>
                  </a:lnTo>
                  <a:lnTo>
                    <a:pt x="827379" y="135750"/>
                  </a:lnTo>
                  <a:lnTo>
                    <a:pt x="827430" y="135940"/>
                  </a:lnTo>
                  <a:lnTo>
                    <a:pt x="830910" y="142913"/>
                  </a:lnTo>
                  <a:lnTo>
                    <a:pt x="835304" y="149390"/>
                  </a:lnTo>
                  <a:lnTo>
                    <a:pt x="840346" y="155321"/>
                  </a:lnTo>
                  <a:lnTo>
                    <a:pt x="842238" y="157340"/>
                  </a:lnTo>
                  <a:lnTo>
                    <a:pt x="845134" y="157340"/>
                  </a:lnTo>
                  <a:lnTo>
                    <a:pt x="848461" y="154241"/>
                  </a:lnTo>
                  <a:lnTo>
                    <a:pt x="848931" y="152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98306" y="2538006"/>
              <a:ext cx="479501" cy="232194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972317" y="184595"/>
            <a:ext cx="5109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Microsoft JhengHei UI"/>
                <a:cs typeface="Microsoft JhengHei UI"/>
              </a:rPr>
              <a:t>每个‘记忆细胞’都包含⼀个节点，这个节点带有⼀个权重固定为 </a:t>
            </a:r>
            <a:r>
              <a:rPr dirty="0" sz="1100" spc="-210">
                <a:latin typeface="Microsoft JhengHei UI"/>
                <a:cs typeface="Microsoft JhengHei UI"/>
              </a:rPr>
              <a:t>1</a:t>
            </a:r>
            <a:r>
              <a:rPr dirty="0" sz="1100" spc="10">
                <a:latin typeface="Microsoft JhengHei UI"/>
                <a:cs typeface="Microsoft JhengHei UI"/>
              </a:rPr>
              <a:t> 的‘⾃我循环’连接.</a:t>
            </a:r>
            <a:endParaRPr sz="1100">
              <a:latin typeface="Microsoft JhengHei UI"/>
              <a:cs typeface="Microsoft JhengHei UI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39334" y="1147051"/>
            <a:ext cx="1201794" cy="280847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4136270" y="436546"/>
            <a:ext cx="812165" cy="0"/>
          </a:xfrm>
          <a:custGeom>
            <a:avLst/>
            <a:gdLst/>
            <a:ahLst/>
            <a:cxnLst/>
            <a:rect l="l" t="t" r="r" b="b"/>
            <a:pathLst>
              <a:path w="812164" h="0">
                <a:moveTo>
                  <a:pt x="0" y="0"/>
                </a:moveTo>
                <a:lnTo>
                  <a:pt x="811572" y="0"/>
                </a:lnTo>
              </a:path>
            </a:pathLst>
          </a:custGeom>
          <a:ln w="14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10623" y="1482001"/>
            <a:ext cx="2122627" cy="315696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26627" y="340410"/>
            <a:ext cx="3567727" cy="2062657"/>
          </a:xfrm>
          <a:prstGeom prst="rect">
            <a:avLst/>
          </a:prstGeom>
        </p:spPr>
      </p:pic>
      <p:sp>
        <p:nvSpPr>
          <p:cNvPr id="29" name="object 29" descr=""/>
          <p:cNvSpPr/>
          <p:nvPr/>
        </p:nvSpPr>
        <p:spPr>
          <a:xfrm>
            <a:off x="7749997" y="2014994"/>
            <a:ext cx="19685" cy="40005"/>
          </a:xfrm>
          <a:custGeom>
            <a:avLst/>
            <a:gdLst/>
            <a:ahLst/>
            <a:cxnLst/>
            <a:rect l="l" t="t" r="r" b="b"/>
            <a:pathLst>
              <a:path w="19684" h="40005">
                <a:moveTo>
                  <a:pt x="13843" y="0"/>
                </a:moveTo>
                <a:lnTo>
                  <a:pt x="68" y="37503"/>
                </a:lnTo>
                <a:lnTo>
                  <a:pt x="0" y="38125"/>
                </a:lnTo>
                <a:lnTo>
                  <a:pt x="1155" y="39560"/>
                </a:lnTo>
                <a:lnTo>
                  <a:pt x="4229" y="39903"/>
                </a:lnTo>
                <a:lnTo>
                  <a:pt x="5588" y="38938"/>
                </a:lnTo>
                <a:lnTo>
                  <a:pt x="7518" y="30581"/>
                </a:lnTo>
                <a:lnTo>
                  <a:pt x="9321" y="23634"/>
                </a:lnTo>
                <a:lnTo>
                  <a:pt x="13233" y="13652"/>
                </a:lnTo>
                <a:lnTo>
                  <a:pt x="14757" y="9829"/>
                </a:lnTo>
                <a:lnTo>
                  <a:pt x="19011" y="5765"/>
                </a:lnTo>
                <a:lnTo>
                  <a:pt x="19062" y="3238"/>
                </a:lnTo>
                <a:lnTo>
                  <a:pt x="16141" y="177"/>
                </a:lnTo>
                <a:lnTo>
                  <a:pt x="138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395922"/>
            <a:ext cx="4704080" cy="12439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1290" marR="5080" indent="-14859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05"/>
              <a:t> </a:t>
            </a:r>
            <a:r>
              <a:rPr dirty="0" spc="-10"/>
              <a:t>Architecture </a:t>
            </a:r>
            <a:r>
              <a:rPr dirty="0"/>
              <a:t>–</a:t>
            </a:r>
            <a:r>
              <a:rPr dirty="0" spc="-70"/>
              <a:t> </a:t>
            </a:r>
            <a:r>
              <a:rPr dirty="0"/>
              <a:t>output</a:t>
            </a:r>
            <a:r>
              <a:rPr dirty="0" spc="-70"/>
              <a:t> </a:t>
            </a:r>
            <a:r>
              <a:rPr dirty="0" spc="-20"/>
              <a:t>gate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5552" y="1925155"/>
            <a:ext cx="4274820" cy="4890770"/>
            <a:chOff x="225552" y="1925155"/>
            <a:chExt cx="4274820" cy="48907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552" y="1925155"/>
              <a:ext cx="4274820" cy="48901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2284" y="4102608"/>
              <a:ext cx="190500" cy="1280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480" y="3999039"/>
              <a:ext cx="302387" cy="2502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842006" y="2352078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400" y="0"/>
                  </a:lnTo>
                  <a:lnTo>
                    <a:pt x="21424" y="317"/>
                  </a:lnTo>
                  <a:lnTo>
                    <a:pt x="0" y="25400"/>
                  </a:lnTo>
                  <a:lnTo>
                    <a:pt x="0" y="1489786"/>
                  </a:lnTo>
                  <a:lnTo>
                    <a:pt x="25400" y="1515186"/>
                  </a:lnTo>
                  <a:lnTo>
                    <a:pt x="1362443" y="1515186"/>
                  </a:lnTo>
                  <a:lnTo>
                    <a:pt x="1387843" y="1489786"/>
                  </a:lnTo>
                  <a:lnTo>
                    <a:pt x="50800" y="1489786"/>
                  </a:lnTo>
                  <a:lnTo>
                    <a:pt x="25400" y="1464386"/>
                  </a:lnTo>
                  <a:lnTo>
                    <a:pt x="50800" y="1464386"/>
                  </a:lnTo>
                  <a:lnTo>
                    <a:pt x="50800" y="50800"/>
                  </a:lnTo>
                  <a:lnTo>
                    <a:pt x="25400" y="50800"/>
                  </a:lnTo>
                  <a:lnTo>
                    <a:pt x="50800" y="25400"/>
                  </a:lnTo>
                  <a:lnTo>
                    <a:pt x="1387843" y="25400"/>
                  </a:lnTo>
                  <a:lnTo>
                    <a:pt x="1387538" y="21424"/>
                  </a:lnTo>
                  <a:lnTo>
                    <a:pt x="1366418" y="317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800" y="1464386"/>
                  </a:moveTo>
                  <a:lnTo>
                    <a:pt x="25400" y="1464386"/>
                  </a:lnTo>
                  <a:lnTo>
                    <a:pt x="50800" y="1489786"/>
                  </a:lnTo>
                  <a:lnTo>
                    <a:pt x="50800" y="1464386"/>
                  </a:lnTo>
                  <a:close/>
                </a:path>
                <a:path w="1388110" h="1515745">
                  <a:moveTo>
                    <a:pt x="1337043" y="1464386"/>
                  </a:moveTo>
                  <a:lnTo>
                    <a:pt x="50800" y="1464386"/>
                  </a:lnTo>
                  <a:lnTo>
                    <a:pt x="50800" y="1489786"/>
                  </a:lnTo>
                  <a:lnTo>
                    <a:pt x="1337043" y="1489786"/>
                  </a:lnTo>
                  <a:lnTo>
                    <a:pt x="1337043" y="1464386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1337043" y="1489786"/>
                  </a:lnTo>
                  <a:lnTo>
                    <a:pt x="1362443" y="1464386"/>
                  </a:lnTo>
                  <a:lnTo>
                    <a:pt x="1387843" y="1464386"/>
                  </a:lnTo>
                  <a:lnTo>
                    <a:pt x="1387843" y="50800"/>
                  </a:lnTo>
                  <a:lnTo>
                    <a:pt x="13624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1464386"/>
                  </a:moveTo>
                  <a:lnTo>
                    <a:pt x="1362443" y="1464386"/>
                  </a:lnTo>
                  <a:lnTo>
                    <a:pt x="1337043" y="1489786"/>
                  </a:lnTo>
                  <a:lnTo>
                    <a:pt x="1387843" y="1489786"/>
                  </a:lnTo>
                  <a:lnTo>
                    <a:pt x="1387843" y="1464386"/>
                  </a:lnTo>
                  <a:close/>
                </a:path>
                <a:path w="1388110" h="1515745">
                  <a:moveTo>
                    <a:pt x="50800" y="25400"/>
                  </a:moveTo>
                  <a:lnTo>
                    <a:pt x="25400" y="50800"/>
                  </a:lnTo>
                  <a:lnTo>
                    <a:pt x="50800" y="50800"/>
                  </a:lnTo>
                  <a:lnTo>
                    <a:pt x="50800" y="25400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13370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25400"/>
                  </a:moveTo>
                  <a:lnTo>
                    <a:pt x="1337043" y="25400"/>
                  </a:lnTo>
                  <a:lnTo>
                    <a:pt x="1362443" y="50800"/>
                  </a:lnTo>
                  <a:lnTo>
                    <a:pt x="1387843" y="50800"/>
                  </a:lnTo>
                  <a:lnTo>
                    <a:pt x="1387843" y="25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578730" y="2283409"/>
            <a:ext cx="4363720" cy="348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937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output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gate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controls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read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accesses </a:t>
            </a:r>
            <a:r>
              <a:rPr dirty="0" sz="1800">
                <a:latin typeface="Tahoma"/>
                <a:cs typeface="Tahoma"/>
              </a:rPr>
              <a:t>from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memory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cells.</a:t>
            </a:r>
            <a:endParaRPr sz="1800">
              <a:latin typeface="Tahoma"/>
              <a:cs typeface="Tahoma"/>
            </a:endParaRPr>
          </a:p>
          <a:p>
            <a:pPr marL="355600" marR="29591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This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realized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result</a:t>
            </a:r>
            <a:r>
              <a:rPr dirty="0" sz="1800" spc="-25">
                <a:latin typeface="Tahoma"/>
                <a:cs typeface="Tahoma"/>
              </a:rPr>
              <a:t> of </a:t>
            </a: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squashing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function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σ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factor </a:t>
            </a:r>
            <a:r>
              <a:rPr dirty="0" sz="1800">
                <a:latin typeface="Tahoma"/>
                <a:cs typeface="Tahoma"/>
              </a:rPr>
              <a:t>which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will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later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multiplied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by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the </a:t>
            </a:r>
            <a:r>
              <a:rPr dirty="0" sz="1800">
                <a:latin typeface="Tahoma"/>
                <a:cs typeface="Tahoma"/>
              </a:rPr>
              <a:t>squashed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content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h(c(t)).</a:t>
            </a:r>
            <a:endParaRPr sz="1800">
              <a:latin typeface="Tahoma"/>
              <a:cs typeface="Tahoma"/>
            </a:endParaRPr>
          </a:p>
          <a:p>
            <a:pPr marL="355600" marR="95885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range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function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σ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(0,1)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and </a:t>
            </a:r>
            <a:r>
              <a:rPr dirty="0" sz="1800">
                <a:latin typeface="Tahoma"/>
                <a:cs typeface="Tahoma"/>
              </a:rPr>
              <a:t>can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interpreted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case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0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read </a:t>
            </a:r>
            <a:r>
              <a:rPr dirty="0" sz="1800">
                <a:latin typeface="Tahoma"/>
                <a:cs typeface="Tahoma"/>
              </a:rPr>
              <a:t>access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denied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case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as</a:t>
            </a:r>
            <a:r>
              <a:rPr dirty="0" sz="1800" spc="-20">
                <a:latin typeface="Tahoma"/>
                <a:cs typeface="Tahoma"/>
              </a:rPr>
              <a:t> read </a:t>
            </a:r>
            <a:r>
              <a:rPr dirty="0" sz="1800">
                <a:latin typeface="Tahoma"/>
                <a:cs typeface="Tahoma"/>
              </a:rPr>
              <a:t>access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granted.</a:t>
            </a: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 sz="1800">
                <a:latin typeface="Tahoma"/>
                <a:cs typeface="Tahoma"/>
              </a:rPr>
              <a:t>Note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that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all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values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between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are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also </a:t>
            </a:r>
            <a:r>
              <a:rPr dirty="0" sz="1800" spc="-10">
                <a:latin typeface="Tahoma"/>
                <a:cs typeface="Tahoma"/>
              </a:rPr>
              <a:t>possible.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64260" y="5881115"/>
            <a:ext cx="3429369" cy="6096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173214" y="120880"/>
            <a:ext cx="279654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419">
              <a:lnSpc>
                <a:spcPct val="1157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LSTM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Microsoft JhengHei UI"/>
                <a:cs typeface="Microsoft JhengHei UI"/>
              </a:rPr>
              <a:t>单元如何决定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对外输出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5">
                <a:latin typeface="Microsoft JhengHei UI"/>
                <a:cs typeface="Microsoft JhengHei UI"/>
              </a:rPr>
              <a:t>什么信息。这</a:t>
            </a:r>
            <a:r>
              <a:rPr dirty="0" sz="1100" spc="-20">
                <a:latin typeface="Microsoft JhengHei UI"/>
                <a:cs typeface="Microsoft JhengHei UI"/>
              </a:rPr>
              <a:t>个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5">
                <a:latin typeface="Microsoft JhengHei UI"/>
                <a:cs typeface="Microsoft JhengHei UI"/>
              </a:rPr>
              <a:t>输出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操作和我们之前看的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写⼊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30">
                <a:latin typeface="Microsoft JhengHei UI"/>
                <a:cs typeface="Microsoft JhengHei UI"/>
              </a:rPr>
              <a:t>操作⼀</a:t>
            </a:r>
            <a:r>
              <a:rPr dirty="0" sz="1100" spc="500">
                <a:latin typeface="Microsoft JhengHei UI"/>
                <a:cs typeface="Microsoft JhengHei UI"/>
              </a:rPr>
              <a:t> </a:t>
            </a:r>
            <a:r>
              <a:rPr dirty="0" sz="1100" spc="-20">
                <a:latin typeface="Microsoft JhengHei UI"/>
                <a:cs typeface="Microsoft JhengHei UI"/>
              </a:rPr>
              <a:t>样，也是⼀个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两步⾛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30">
                <a:latin typeface="Microsoft JhengHei UI"/>
                <a:cs typeface="Microsoft JhengHei UI"/>
              </a:rPr>
              <a:t>的过程：</a:t>
            </a:r>
            <a:endParaRPr sz="1100">
              <a:latin typeface="Microsoft JhengHei UI"/>
              <a:cs typeface="Microsoft JhengHei UI"/>
            </a:endParaRPr>
          </a:p>
          <a:p>
            <a:pPr marL="12700" marR="227965">
              <a:lnSpc>
                <a:spcPct val="115700"/>
              </a:lnSpc>
              <a:spcBef>
                <a:spcPts val="655"/>
              </a:spcBef>
            </a:pP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输出⻔</a:t>
            </a:r>
            <a:r>
              <a:rPr dirty="0" sz="1100" spc="-5">
                <a:latin typeface="Arial MT"/>
                <a:cs typeface="Arial MT"/>
              </a:rPr>
              <a:t>” </a:t>
            </a:r>
            <a:r>
              <a:rPr dirty="0" sz="1100">
                <a:latin typeface="Arial MT"/>
                <a:cs typeface="Arial MT"/>
              </a:rPr>
              <a:t>o(t)</a:t>
            </a:r>
            <a:r>
              <a:rPr dirty="0" sz="1100" spc="-15">
                <a:latin typeface="Microsoft JhengHei UI"/>
                <a:cs typeface="Microsoft JhengHei UI"/>
              </a:rPr>
              <a:t>： 我们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允许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5">
                <a:latin typeface="Microsoft JhengHei UI"/>
                <a:cs typeface="Microsoft JhengHei UI"/>
              </a:rPr>
              <a:t>对外输出多少信</a:t>
            </a:r>
            <a:r>
              <a:rPr dirty="0" sz="1100" spc="-20">
                <a:latin typeface="Microsoft JhengHei UI"/>
                <a:cs typeface="Microsoft JhengHei UI"/>
              </a:rPr>
              <a:t>息？（计算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阀⻔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⼤⼩</a:t>
            </a:r>
            <a:r>
              <a:rPr dirty="0" sz="1100" spc="-50">
                <a:latin typeface="Microsoft JhengHei UI"/>
                <a:cs typeface="Microsoft JhengHei UI"/>
              </a:rPr>
              <a:t>）</a:t>
            </a:r>
            <a:endParaRPr sz="11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5700"/>
              </a:lnSpc>
              <a:spcBef>
                <a:spcPts val="655"/>
              </a:spcBef>
            </a:pP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最终输出</a:t>
            </a:r>
            <a:r>
              <a:rPr dirty="0" sz="1100">
                <a:latin typeface="Arial MT"/>
                <a:cs typeface="Arial MT"/>
              </a:rPr>
              <a:t>” y(t)</a:t>
            </a:r>
            <a:r>
              <a:rPr dirty="0" sz="1100" spc="-15">
                <a:latin typeface="Microsoft JhengHei UI"/>
                <a:cs typeface="Microsoft JhengHei UI"/>
              </a:rPr>
              <a:t>： 结合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阀⻔</a:t>
            </a:r>
            <a:r>
              <a:rPr dirty="0" sz="1100">
                <a:latin typeface="Arial MT"/>
                <a:cs typeface="Arial MT"/>
              </a:rPr>
              <a:t>”</a:t>
            </a:r>
            <a:r>
              <a:rPr dirty="0" sz="1100" spc="-20">
                <a:latin typeface="Microsoft JhengHei UI"/>
                <a:cs typeface="Microsoft JhengHei UI"/>
              </a:rPr>
              <a:t>和</a:t>
            </a:r>
            <a:r>
              <a:rPr dirty="0" sz="1100">
                <a:latin typeface="Arial MT"/>
                <a:cs typeface="Arial MT"/>
              </a:rPr>
              <a:t>“</a:t>
            </a:r>
            <a:r>
              <a:rPr dirty="0" sz="1100" spc="-20">
                <a:latin typeface="Microsoft JhengHei UI"/>
                <a:cs typeface="Microsoft JhengHei UI"/>
              </a:rPr>
              <a:t>内部记忆</a:t>
            </a:r>
            <a:r>
              <a:rPr dirty="0" sz="1100" spc="-10">
                <a:latin typeface="Arial MT"/>
                <a:cs typeface="Arial MT"/>
              </a:rPr>
              <a:t>”</a:t>
            </a:r>
            <a:r>
              <a:rPr dirty="0" sz="1100" spc="-30">
                <a:latin typeface="Microsoft JhengHei UI"/>
                <a:cs typeface="Microsoft JhengHei UI"/>
              </a:rPr>
              <a:t>，计</a:t>
            </a:r>
            <a:r>
              <a:rPr dirty="0" sz="1100" spc="-25">
                <a:latin typeface="Microsoft JhengHei UI"/>
                <a:cs typeface="Microsoft JhengHei UI"/>
              </a:rPr>
              <a:t>算出最终的输出。</a:t>
            </a:r>
            <a:endParaRPr sz="11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395922"/>
            <a:ext cx="4704080" cy="12439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05"/>
              <a:t> </a:t>
            </a:r>
            <a:r>
              <a:rPr dirty="0" spc="-10"/>
              <a:t>Architecture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10"/>
              <a:t>output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51459" y="1967827"/>
            <a:ext cx="4274820" cy="4890770"/>
            <a:chOff x="251459" y="1967827"/>
            <a:chExt cx="4274820" cy="48907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59" y="1967827"/>
              <a:ext cx="4274820" cy="48901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8192" y="4146803"/>
              <a:ext cx="190500" cy="1280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819" y="4042219"/>
              <a:ext cx="302387" cy="25026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695005" y="2295664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400" y="0"/>
                  </a:lnTo>
                  <a:lnTo>
                    <a:pt x="21424" y="317"/>
                  </a:lnTo>
                  <a:lnTo>
                    <a:pt x="0" y="25400"/>
                  </a:lnTo>
                  <a:lnTo>
                    <a:pt x="0" y="1489773"/>
                  </a:lnTo>
                  <a:lnTo>
                    <a:pt x="25400" y="1515173"/>
                  </a:lnTo>
                  <a:lnTo>
                    <a:pt x="1362443" y="1515173"/>
                  </a:lnTo>
                  <a:lnTo>
                    <a:pt x="1387843" y="1489773"/>
                  </a:lnTo>
                  <a:lnTo>
                    <a:pt x="50800" y="1489773"/>
                  </a:lnTo>
                  <a:lnTo>
                    <a:pt x="25400" y="1464373"/>
                  </a:lnTo>
                  <a:lnTo>
                    <a:pt x="50800" y="1464373"/>
                  </a:lnTo>
                  <a:lnTo>
                    <a:pt x="50800" y="50800"/>
                  </a:lnTo>
                  <a:lnTo>
                    <a:pt x="25400" y="50800"/>
                  </a:lnTo>
                  <a:lnTo>
                    <a:pt x="50800" y="25400"/>
                  </a:lnTo>
                  <a:lnTo>
                    <a:pt x="1387843" y="25400"/>
                  </a:lnTo>
                  <a:lnTo>
                    <a:pt x="1387525" y="21424"/>
                  </a:lnTo>
                  <a:lnTo>
                    <a:pt x="1366418" y="317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800" y="1464373"/>
                  </a:moveTo>
                  <a:lnTo>
                    <a:pt x="25400" y="1464373"/>
                  </a:lnTo>
                  <a:lnTo>
                    <a:pt x="50800" y="1489773"/>
                  </a:lnTo>
                  <a:lnTo>
                    <a:pt x="50800" y="1464373"/>
                  </a:lnTo>
                  <a:close/>
                </a:path>
                <a:path w="1388110" h="1515745">
                  <a:moveTo>
                    <a:pt x="1337043" y="1464373"/>
                  </a:moveTo>
                  <a:lnTo>
                    <a:pt x="50800" y="1464373"/>
                  </a:lnTo>
                  <a:lnTo>
                    <a:pt x="50800" y="1489773"/>
                  </a:lnTo>
                  <a:lnTo>
                    <a:pt x="1337043" y="1489773"/>
                  </a:lnTo>
                  <a:lnTo>
                    <a:pt x="1337043" y="1464373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1337043" y="1489773"/>
                  </a:lnTo>
                  <a:lnTo>
                    <a:pt x="1362443" y="1464373"/>
                  </a:lnTo>
                  <a:lnTo>
                    <a:pt x="1387843" y="1464373"/>
                  </a:lnTo>
                  <a:lnTo>
                    <a:pt x="1387843" y="50800"/>
                  </a:lnTo>
                  <a:lnTo>
                    <a:pt x="13624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1464373"/>
                  </a:moveTo>
                  <a:lnTo>
                    <a:pt x="1362443" y="1464373"/>
                  </a:lnTo>
                  <a:lnTo>
                    <a:pt x="1337043" y="1489773"/>
                  </a:lnTo>
                  <a:lnTo>
                    <a:pt x="1387843" y="1489773"/>
                  </a:lnTo>
                  <a:lnTo>
                    <a:pt x="1387843" y="1464373"/>
                  </a:lnTo>
                  <a:close/>
                </a:path>
                <a:path w="1388110" h="1515745">
                  <a:moveTo>
                    <a:pt x="50800" y="25400"/>
                  </a:moveTo>
                  <a:lnTo>
                    <a:pt x="25400" y="50800"/>
                  </a:lnTo>
                  <a:lnTo>
                    <a:pt x="50800" y="50800"/>
                  </a:lnTo>
                  <a:lnTo>
                    <a:pt x="50800" y="25400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50800" y="25400"/>
                  </a:lnTo>
                  <a:lnTo>
                    <a:pt x="50800" y="50800"/>
                  </a:lnTo>
                  <a:lnTo>
                    <a:pt x="13370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25400"/>
                  </a:moveTo>
                  <a:lnTo>
                    <a:pt x="1337043" y="25400"/>
                  </a:lnTo>
                  <a:lnTo>
                    <a:pt x="1362443" y="50800"/>
                  </a:lnTo>
                  <a:lnTo>
                    <a:pt x="1387843" y="50800"/>
                  </a:lnTo>
                  <a:lnTo>
                    <a:pt x="1387843" y="25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55600" algn="l"/>
              </a:tabLst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value</a:t>
            </a:r>
            <a:r>
              <a:rPr dirty="0" spc="-25"/>
              <a:t> </a:t>
            </a:r>
            <a:r>
              <a:rPr dirty="0"/>
              <a:t>stored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cell</a:t>
            </a:r>
            <a:r>
              <a:rPr dirty="0" spc="-25"/>
              <a:t> </a:t>
            </a:r>
            <a:r>
              <a:rPr dirty="0"/>
              <a:t>c(t)</a:t>
            </a:r>
            <a:r>
              <a:rPr dirty="0" spc="-20"/>
              <a:t> </a:t>
            </a:r>
            <a:r>
              <a:rPr dirty="0" spc="-25"/>
              <a:t>is </a:t>
            </a:r>
            <a:r>
              <a:rPr dirty="0"/>
              <a:t>squashed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function</a:t>
            </a:r>
            <a:r>
              <a:rPr dirty="0" spc="-25"/>
              <a:t> </a:t>
            </a:r>
            <a:r>
              <a:rPr dirty="0"/>
              <a:t>h,</a:t>
            </a:r>
            <a:r>
              <a:rPr dirty="0" spc="-25"/>
              <a:t> and </a:t>
            </a:r>
            <a:r>
              <a:rPr dirty="0"/>
              <a:t>whether</a:t>
            </a:r>
            <a:r>
              <a:rPr dirty="0" spc="-50"/>
              <a:t> </a:t>
            </a:r>
            <a:r>
              <a:rPr dirty="0"/>
              <a:t>this</a:t>
            </a:r>
            <a:r>
              <a:rPr dirty="0" spc="-50"/>
              <a:t> </a:t>
            </a:r>
            <a:r>
              <a:rPr dirty="0"/>
              <a:t>information</a:t>
            </a:r>
            <a:r>
              <a:rPr dirty="0" spc="-50"/>
              <a:t> </a:t>
            </a:r>
            <a:r>
              <a:rPr dirty="0" spc="-20"/>
              <a:t>gets </a:t>
            </a:r>
            <a:r>
              <a:rPr dirty="0"/>
              <a:t>output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decided</a:t>
            </a:r>
            <a:r>
              <a:rPr dirty="0" spc="-30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output </a:t>
            </a:r>
            <a:r>
              <a:rPr dirty="0"/>
              <a:t>gate</a:t>
            </a:r>
            <a:r>
              <a:rPr dirty="0" spc="-35"/>
              <a:t> </a:t>
            </a:r>
            <a:r>
              <a:rPr dirty="0"/>
              <a:t>via</a:t>
            </a:r>
            <a:r>
              <a:rPr dirty="0" spc="-35"/>
              <a:t> </a:t>
            </a:r>
            <a:r>
              <a:rPr dirty="0" spc="-20"/>
              <a:t>o(t).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2110" y="4533842"/>
            <a:ext cx="2514960" cy="38071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13603" y="5038276"/>
            <a:ext cx="3352800" cy="3045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0959" y="203845"/>
            <a:ext cx="238950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输出⻔</a:t>
            </a:r>
            <a:r>
              <a:rPr dirty="0" sz="900">
                <a:latin typeface="Times New Roman"/>
                <a:cs typeface="Times New Roman"/>
              </a:rPr>
              <a:t>”(Output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Gate</a:t>
            </a:r>
            <a:r>
              <a:rPr dirty="0" sz="900" spc="145">
                <a:latin typeface="Times New Roman"/>
                <a:cs typeface="Times New Roman"/>
              </a:rPr>
              <a:t>) -&gt; </a:t>
            </a:r>
            <a:r>
              <a:rPr dirty="0" sz="900">
                <a:latin typeface="Microsoft JhengHei UI"/>
                <a:cs typeface="Microsoft JhengHei UI"/>
              </a:rPr>
              <a:t>计算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读取阀⻔</a:t>
            </a:r>
            <a:r>
              <a:rPr dirty="0" sz="900" spc="35">
                <a:latin typeface="Times New Roman"/>
                <a:cs typeface="Times New Roman"/>
              </a:rPr>
              <a:t>” </a:t>
            </a:r>
            <a:r>
              <a:rPr dirty="0" sz="900" spc="-20">
                <a:latin typeface="Times New Roman"/>
                <a:cs typeface="Times New Roman"/>
              </a:rPr>
              <a:t>o(t)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0959" y="482278"/>
            <a:ext cx="4906010" cy="52324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输出⻔</a:t>
            </a:r>
            <a:r>
              <a:rPr dirty="0" sz="900" spc="105">
                <a:latin typeface="Times New Roman"/>
                <a:cs typeface="Times New Roman"/>
              </a:rPr>
              <a:t>” </a:t>
            </a:r>
            <a:r>
              <a:rPr dirty="0" sz="900">
                <a:latin typeface="Times New Roman"/>
                <a:cs typeface="Times New Roman"/>
              </a:rPr>
              <a:t>o(t</a:t>
            </a:r>
            <a:r>
              <a:rPr dirty="0" sz="900" spc="105">
                <a:latin typeface="Times New Roman"/>
                <a:cs typeface="Times New Roman"/>
              </a:rPr>
              <a:t>) </a:t>
            </a:r>
            <a:r>
              <a:rPr dirty="0" sz="900">
                <a:latin typeface="Microsoft JhengHei UI"/>
                <a:cs typeface="Microsoft JhengHei UI"/>
              </a:rPr>
              <a:t>的计算。</a:t>
            </a:r>
            <a:r>
              <a:rPr dirty="0" sz="900">
                <a:latin typeface="Times New Roman"/>
                <a:cs typeface="Times New Roman"/>
              </a:rPr>
              <a:t>o(t</a:t>
            </a:r>
            <a:r>
              <a:rPr dirty="0" sz="900" spc="105">
                <a:latin typeface="Times New Roman"/>
                <a:cs typeface="Times New Roman"/>
              </a:rPr>
              <a:t>) </a:t>
            </a:r>
            <a:r>
              <a:rPr dirty="0" sz="900">
                <a:latin typeface="Microsoft JhengHei UI"/>
                <a:cs typeface="Microsoft JhengHei UI"/>
              </a:rPr>
              <a:t>是⼀个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阀⻔</a:t>
            </a:r>
            <a:r>
              <a:rPr dirty="0" sz="900">
                <a:latin typeface="Times New Roman"/>
                <a:cs typeface="Times New Roman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，它决定了我们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⻓期记忆</a:t>
            </a:r>
            <a:r>
              <a:rPr dirty="0" sz="900" spc="105">
                <a:latin typeface="Times New Roman"/>
                <a:cs typeface="Times New Roman"/>
              </a:rPr>
              <a:t>” </a:t>
            </a:r>
            <a:r>
              <a:rPr dirty="0" sz="900">
                <a:latin typeface="Times New Roman"/>
                <a:cs typeface="Times New Roman"/>
              </a:rPr>
              <a:t>c(t</a:t>
            </a:r>
            <a:r>
              <a:rPr dirty="0" sz="900" spc="105">
                <a:latin typeface="Times New Roman"/>
                <a:cs typeface="Times New Roman"/>
              </a:rPr>
              <a:t>) </a:t>
            </a:r>
            <a:r>
              <a:rPr dirty="0" sz="900" spc="-5">
                <a:latin typeface="Microsoft JhengHei UI"/>
                <a:cs typeface="Microsoft JhengHei UI"/>
              </a:rPr>
              <a:t>中的内容，有多⼤⽐例</a:t>
            </a:r>
            <a:endParaRPr sz="900">
              <a:latin typeface="Microsoft JhengHei UI"/>
              <a:cs typeface="Microsoft JhengHei UI"/>
            </a:endParaRPr>
          </a:p>
          <a:p>
            <a:pPr marL="12700" marR="1275080">
              <a:lnSpc>
                <a:spcPct val="120900"/>
              </a:lnSpc>
            </a:pPr>
            <a:r>
              <a:rPr dirty="0" sz="900">
                <a:latin typeface="Microsoft JhengHei UI"/>
                <a:cs typeface="Microsoft JhengHei UI"/>
              </a:rPr>
              <a:t>（百分之⼏）可以被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允许</a:t>
            </a:r>
            <a:r>
              <a:rPr dirty="0" sz="900">
                <a:latin typeface="Times New Roman"/>
                <a:cs typeface="Times New Roman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在此刻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读取</a:t>
            </a:r>
            <a:r>
              <a:rPr dirty="0" sz="900">
                <a:latin typeface="Times New Roman"/>
                <a:cs typeface="Times New Roman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并发送到外部（</a:t>
            </a:r>
            <a:r>
              <a:rPr dirty="0" sz="900" spc="165">
                <a:latin typeface="Microsoft JhengHei UI"/>
                <a:cs typeface="Microsoft JhengHei UI"/>
              </a:rPr>
              <a:t>作为 </a:t>
            </a:r>
            <a:r>
              <a:rPr dirty="0" sz="900">
                <a:latin typeface="Times New Roman"/>
                <a:cs typeface="Times New Roman"/>
              </a:rPr>
              <a:t>y(t)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r>
              <a:rPr dirty="0" sz="900">
                <a:latin typeface="Microsoft JhengHei UI"/>
                <a:cs typeface="Microsoft JhengHei UI"/>
              </a:rPr>
              <a:t>所以说，输出⻔控制着从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记忆细胞</a:t>
            </a:r>
            <a:r>
              <a:rPr dirty="0" sz="900">
                <a:latin typeface="Times New Roman"/>
                <a:cs typeface="Times New Roman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中</a:t>
            </a:r>
            <a:r>
              <a:rPr dirty="0" sz="900">
                <a:latin typeface="Times New Roman"/>
                <a:cs typeface="Times New Roman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读取</a:t>
            </a:r>
            <a:r>
              <a:rPr dirty="0" sz="900">
                <a:latin typeface="Times New Roman"/>
                <a:cs typeface="Times New Roman"/>
              </a:rPr>
              <a:t>”</a:t>
            </a:r>
            <a:r>
              <a:rPr dirty="0" sz="900" spc="-15">
                <a:latin typeface="Microsoft JhengHei UI"/>
                <a:cs typeface="Microsoft JhengHei UI"/>
              </a:rPr>
              <a:t>的权限。</a:t>
            </a:r>
            <a:endParaRPr sz="900">
              <a:latin typeface="Microsoft JhengHei UI"/>
              <a:cs typeface="Microsoft JhengHei U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77280" y="1180629"/>
            <a:ext cx="4671060" cy="802005"/>
            <a:chOff x="277280" y="1180629"/>
            <a:chExt cx="4671060" cy="8020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0106" y="1210543"/>
              <a:ext cx="463798" cy="16075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280" y="1180629"/>
              <a:ext cx="4670758" cy="801586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1841" y="1508859"/>
            <a:ext cx="131770" cy="2690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124" y="2192435"/>
            <a:ext cx="1398339" cy="20892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1539" y="2120929"/>
            <a:ext cx="1887402" cy="31711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9887" y="2161643"/>
            <a:ext cx="377682" cy="19719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2200" y="3252843"/>
            <a:ext cx="318736" cy="13872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2156" y="2532349"/>
            <a:ext cx="1912817" cy="56873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6747" y="3987391"/>
            <a:ext cx="1330317" cy="23356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9919" y="3212950"/>
            <a:ext cx="1587973" cy="64095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54838" y="2905228"/>
            <a:ext cx="1664018" cy="23085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6396" y="4008897"/>
            <a:ext cx="1383820" cy="224817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92787" y="4031108"/>
            <a:ext cx="1746003" cy="264787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411848" y="206366"/>
            <a:ext cx="3672204" cy="914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</a:t>
            </a:r>
            <a:r>
              <a:rPr dirty="0" sz="900">
                <a:latin typeface="Arial MT"/>
                <a:cs typeface="Arial MT"/>
              </a:rPr>
              <a:t>”(Output</a:t>
            </a:r>
            <a:r>
              <a:rPr dirty="0" sz="900" spc="45">
                <a:latin typeface="Arial MT"/>
                <a:cs typeface="Arial MT"/>
              </a:rPr>
              <a:t>) -&gt; </a:t>
            </a:r>
            <a:r>
              <a:rPr dirty="0" sz="900">
                <a:latin typeface="Microsoft JhengHei UI"/>
                <a:cs typeface="Microsoft JhengHei UI"/>
              </a:rPr>
              <a:t>计算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最终输出</a:t>
            </a:r>
            <a:r>
              <a:rPr dirty="0" sz="900" spc="60">
                <a:latin typeface="Arial MT"/>
                <a:cs typeface="Arial MT"/>
              </a:rPr>
              <a:t>” </a:t>
            </a:r>
            <a:r>
              <a:rPr dirty="0" sz="900" spc="-20">
                <a:latin typeface="Arial MT"/>
                <a:cs typeface="Arial MT"/>
              </a:rPr>
              <a:t>y(t)</a:t>
            </a:r>
            <a:endParaRPr sz="900">
              <a:latin typeface="Arial MT"/>
              <a:cs typeface="Arial MT"/>
            </a:endParaRPr>
          </a:p>
          <a:p>
            <a:pPr marL="12700" marR="44450">
              <a:lnSpc>
                <a:spcPct val="120900"/>
              </a:lnSpc>
              <a:spcBef>
                <a:spcPts val="655"/>
              </a:spcBef>
            </a:pP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最终输出</a:t>
            </a:r>
            <a:r>
              <a:rPr dirty="0" sz="900" spc="50">
                <a:latin typeface="Arial MT"/>
                <a:cs typeface="Arial MT"/>
              </a:rPr>
              <a:t>” </a:t>
            </a:r>
            <a:r>
              <a:rPr dirty="0" sz="900">
                <a:latin typeface="Arial MT"/>
                <a:cs typeface="Arial MT"/>
              </a:rPr>
              <a:t>y(t</a:t>
            </a:r>
            <a:r>
              <a:rPr dirty="0" sz="900" spc="50">
                <a:latin typeface="Arial MT"/>
                <a:cs typeface="Arial MT"/>
              </a:rPr>
              <a:t>) </a:t>
            </a:r>
            <a:r>
              <a:rPr dirty="0" sz="900">
                <a:latin typeface="Microsoft JhengHei UI"/>
                <a:cs typeface="Microsoft JhengHei UI"/>
              </a:rPr>
              <a:t>的计算。</a:t>
            </a:r>
            <a:r>
              <a:rPr dirty="0" sz="900">
                <a:latin typeface="Arial MT"/>
                <a:cs typeface="Arial MT"/>
              </a:rPr>
              <a:t>y(t</a:t>
            </a:r>
            <a:r>
              <a:rPr dirty="0" sz="900" spc="50">
                <a:latin typeface="Arial MT"/>
                <a:cs typeface="Arial MT"/>
              </a:rPr>
              <a:t>) </a:t>
            </a:r>
            <a:r>
              <a:rPr dirty="0" sz="900" spc="40">
                <a:latin typeface="Microsoft JhengHei UI"/>
                <a:cs typeface="Microsoft JhengHei UI"/>
              </a:rPr>
              <a:t>就是 </a:t>
            </a:r>
            <a:r>
              <a:rPr dirty="0" sz="900">
                <a:latin typeface="Arial MT"/>
                <a:cs typeface="Arial MT"/>
              </a:rPr>
              <a:t>LSTM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sz="900" spc="30">
                <a:latin typeface="Microsoft JhengHei UI"/>
                <a:cs typeface="Microsoft JhengHei UI"/>
              </a:rPr>
              <a:t>单元在 </a:t>
            </a:r>
            <a:r>
              <a:rPr dirty="0" sz="900">
                <a:latin typeface="Arial MT"/>
                <a:cs typeface="Arial MT"/>
              </a:rPr>
              <a:t>t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sz="900" spc="-10">
                <a:latin typeface="Microsoft JhengHei UI"/>
                <a:cs typeface="Microsoft JhengHei UI"/>
              </a:rPr>
              <a:t>时刻真正对外输出的</a:t>
            </a:r>
            <a:r>
              <a:rPr dirty="0" sz="900">
                <a:latin typeface="Microsoft JhengHei UI"/>
                <a:cs typeface="Microsoft JhengHei UI"/>
              </a:rPr>
              <a:t>值（⽐如，对下⼀个词的预测）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0900"/>
              </a:lnSpc>
            </a:pPr>
            <a:r>
              <a:rPr dirty="0" sz="900" spc="35">
                <a:latin typeface="Microsoft JhengHei UI"/>
                <a:cs typeface="Microsoft JhengHei UI"/>
              </a:rPr>
              <a:t>存储在细胞 </a:t>
            </a:r>
            <a:r>
              <a:rPr dirty="0" sz="900">
                <a:latin typeface="Arial MT"/>
                <a:cs typeface="Arial MT"/>
              </a:rPr>
              <a:t>c(t</a:t>
            </a:r>
            <a:r>
              <a:rPr dirty="0" sz="900" spc="95">
                <a:latin typeface="Arial MT"/>
                <a:cs typeface="Arial MT"/>
              </a:rPr>
              <a:t>) </a:t>
            </a:r>
            <a:r>
              <a:rPr dirty="0" sz="900" spc="20">
                <a:latin typeface="Microsoft JhengHei UI"/>
                <a:cs typeface="Microsoft JhengHei UI"/>
              </a:rPr>
              <a:t>中的值⾸先被函数 </a:t>
            </a:r>
            <a:r>
              <a:rPr dirty="0" sz="900">
                <a:latin typeface="Arial MT"/>
                <a:cs typeface="Arial MT"/>
              </a:rPr>
              <a:t>h</a:t>
            </a:r>
            <a:r>
              <a:rPr dirty="0" sz="900" spc="95">
                <a:latin typeface="Arial MT"/>
                <a:cs typeface="Arial MT"/>
              </a:rPr>
              <a:t> “</a:t>
            </a:r>
            <a:r>
              <a:rPr dirty="0" sz="900">
                <a:latin typeface="Microsoft JhengHei UI"/>
                <a:cs typeface="Microsoft JhengHei UI"/>
              </a:rPr>
              <a:t>压缩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-5">
                <a:latin typeface="Microsoft JhengHei UI"/>
                <a:cs typeface="Microsoft JhengHei UI"/>
              </a:rPr>
              <a:t>，然后，这个信息是否被允</a:t>
            </a:r>
            <a:r>
              <a:rPr dirty="0" sz="900">
                <a:latin typeface="Microsoft JhengHei UI"/>
                <a:cs typeface="Microsoft JhengHei UI"/>
              </a:rPr>
              <a:t>许输出，由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输出⻔</a:t>
            </a:r>
            <a:r>
              <a:rPr dirty="0" sz="900" spc="90">
                <a:latin typeface="Arial MT"/>
                <a:cs typeface="Arial MT"/>
              </a:rPr>
              <a:t>” </a:t>
            </a:r>
            <a:r>
              <a:rPr dirty="0" sz="900">
                <a:latin typeface="Arial MT"/>
                <a:cs typeface="Arial MT"/>
              </a:rPr>
              <a:t>o(t</a:t>
            </a:r>
            <a:r>
              <a:rPr dirty="0" sz="900" spc="90">
                <a:latin typeface="Arial MT"/>
                <a:cs typeface="Arial MT"/>
              </a:rPr>
              <a:t>) </a:t>
            </a:r>
            <a:r>
              <a:rPr dirty="0" sz="900" spc="-15">
                <a:latin typeface="Microsoft JhengHei UI"/>
                <a:cs typeface="Microsoft JhengHei UI"/>
              </a:rPr>
              <a:t>来决定。</a:t>
            </a:r>
            <a:endParaRPr sz="900">
              <a:latin typeface="Microsoft JhengHei UI"/>
              <a:cs typeface="Microsoft JhengHei U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896673" y="1348203"/>
            <a:ext cx="1687190" cy="283094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5483132" y="1807500"/>
            <a:ext cx="3493135" cy="1323975"/>
            <a:chOff x="5483132" y="1807500"/>
            <a:chExt cx="3493135" cy="1323975"/>
          </a:xfrm>
        </p:grpSpPr>
        <p:pic>
          <p:nvPicPr>
            <p:cNvPr id="21" name="object 2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83132" y="1818910"/>
              <a:ext cx="592832" cy="2265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03732" y="1807500"/>
              <a:ext cx="2972003" cy="132380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96626" y="2842417"/>
              <a:ext cx="361088" cy="142184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469388" y="3275934"/>
            <a:ext cx="426459" cy="17864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12129" y="3238408"/>
            <a:ext cx="766110" cy="288095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6874980" y="3418028"/>
            <a:ext cx="80645" cy="76835"/>
          </a:xfrm>
          <a:custGeom>
            <a:avLst/>
            <a:gdLst/>
            <a:ahLst/>
            <a:cxnLst/>
            <a:rect l="l" t="t" r="r" b="b"/>
            <a:pathLst>
              <a:path w="80645" h="76835">
                <a:moveTo>
                  <a:pt x="74422" y="11518"/>
                </a:moveTo>
                <a:lnTo>
                  <a:pt x="72847" y="9804"/>
                </a:lnTo>
                <a:lnTo>
                  <a:pt x="17335" y="4445"/>
                </a:lnTo>
                <a:lnTo>
                  <a:pt x="17335" y="13614"/>
                </a:lnTo>
                <a:lnTo>
                  <a:pt x="14478" y="15506"/>
                </a:lnTo>
                <a:lnTo>
                  <a:pt x="16065" y="14439"/>
                </a:lnTo>
                <a:lnTo>
                  <a:pt x="17335" y="13614"/>
                </a:lnTo>
                <a:lnTo>
                  <a:pt x="17335" y="4445"/>
                </a:lnTo>
                <a:lnTo>
                  <a:pt x="13652" y="4089"/>
                </a:lnTo>
                <a:lnTo>
                  <a:pt x="13462" y="4089"/>
                </a:lnTo>
                <a:lnTo>
                  <a:pt x="9588" y="4089"/>
                </a:lnTo>
                <a:lnTo>
                  <a:pt x="9194" y="1460"/>
                </a:lnTo>
                <a:lnTo>
                  <a:pt x="7162" y="0"/>
                </a:lnTo>
                <a:lnTo>
                  <a:pt x="7124" y="7988"/>
                </a:lnTo>
                <a:lnTo>
                  <a:pt x="6807" y="11518"/>
                </a:lnTo>
                <a:lnTo>
                  <a:pt x="6769" y="11861"/>
                </a:lnTo>
                <a:lnTo>
                  <a:pt x="7124" y="7988"/>
                </a:lnTo>
                <a:lnTo>
                  <a:pt x="7124" y="12"/>
                </a:lnTo>
                <a:lnTo>
                  <a:pt x="76" y="6794"/>
                </a:lnTo>
                <a:lnTo>
                  <a:pt x="0" y="7988"/>
                </a:lnTo>
                <a:lnTo>
                  <a:pt x="4737" y="13271"/>
                </a:lnTo>
                <a:lnTo>
                  <a:pt x="8686" y="14414"/>
                </a:lnTo>
                <a:lnTo>
                  <a:pt x="11531" y="14960"/>
                </a:lnTo>
                <a:lnTo>
                  <a:pt x="14414" y="15544"/>
                </a:lnTo>
                <a:lnTo>
                  <a:pt x="14732" y="15544"/>
                </a:lnTo>
                <a:lnTo>
                  <a:pt x="18770" y="16281"/>
                </a:lnTo>
                <a:lnTo>
                  <a:pt x="42773" y="17233"/>
                </a:lnTo>
                <a:lnTo>
                  <a:pt x="57721" y="17538"/>
                </a:lnTo>
                <a:lnTo>
                  <a:pt x="72631" y="17538"/>
                </a:lnTo>
                <a:lnTo>
                  <a:pt x="74409" y="15760"/>
                </a:lnTo>
                <a:lnTo>
                  <a:pt x="74409" y="15544"/>
                </a:lnTo>
                <a:lnTo>
                  <a:pt x="74422" y="11518"/>
                </a:lnTo>
                <a:close/>
              </a:path>
              <a:path w="80645" h="76835">
                <a:moveTo>
                  <a:pt x="80479" y="60299"/>
                </a:moveTo>
                <a:lnTo>
                  <a:pt x="79578" y="57073"/>
                </a:lnTo>
                <a:lnTo>
                  <a:pt x="77990" y="56121"/>
                </a:lnTo>
                <a:lnTo>
                  <a:pt x="53555" y="61239"/>
                </a:lnTo>
                <a:lnTo>
                  <a:pt x="42100" y="63423"/>
                </a:lnTo>
                <a:lnTo>
                  <a:pt x="4127" y="68275"/>
                </a:lnTo>
                <a:lnTo>
                  <a:pt x="1879" y="68275"/>
                </a:lnTo>
                <a:lnTo>
                  <a:pt x="76" y="70065"/>
                </a:lnTo>
                <a:lnTo>
                  <a:pt x="50" y="74422"/>
                </a:lnTo>
                <a:lnTo>
                  <a:pt x="1663" y="76187"/>
                </a:lnTo>
                <a:lnTo>
                  <a:pt x="3759" y="76365"/>
                </a:lnTo>
                <a:lnTo>
                  <a:pt x="10858" y="76517"/>
                </a:lnTo>
                <a:lnTo>
                  <a:pt x="17983" y="75946"/>
                </a:lnTo>
                <a:lnTo>
                  <a:pt x="66497" y="65582"/>
                </a:lnTo>
                <a:lnTo>
                  <a:pt x="79527" y="62001"/>
                </a:lnTo>
                <a:lnTo>
                  <a:pt x="80479" y="60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050304" y="3318608"/>
            <a:ext cx="1955366" cy="570999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5338552" y="3998153"/>
            <a:ext cx="3406775" cy="10445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50">
                <a:latin typeface="Microsoft JhengHei UI"/>
                <a:cs typeface="Microsoft JhengHei UI"/>
              </a:rPr>
              <a:t>假设“内部记忆” </a:t>
            </a:r>
            <a:r>
              <a:rPr dirty="0" sz="900">
                <a:latin typeface="Microsoft JhengHei UI"/>
                <a:cs typeface="Microsoft JhengHei UI"/>
              </a:rPr>
              <a:t>h(c(t))</a:t>
            </a:r>
            <a:r>
              <a:rPr dirty="0" sz="900" spc="100">
                <a:latin typeface="Microsoft JhengHei UI"/>
                <a:cs typeface="Microsoft JhengHei UI"/>
              </a:rPr>
              <a:t> 是 </a:t>
            </a:r>
            <a:r>
              <a:rPr dirty="0" sz="900">
                <a:latin typeface="Microsoft JhengHei UI"/>
                <a:cs typeface="Microsoft JhengHei UI"/>
              </a:rPr>
              <a:t>[1.0,</a:t>
            </a:r>
            <a:r>
              <a:rPr dirty="0" sz="900" spc="15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0.8]。</a:t>
            </a:r>
            <a:endParaRPr sz="900">
              <a:latin typeface="Microsoft JhengHei UI"/>
              <a:cs typeface="Microsoft JhengHei UI"/>
            </a:endParaRPr>
          </a:p>
          <a:p>
            <a:pPr marL="12700" marR="42545">
              <a:lnSpc>
                <a:spcPct val="172800"/>
              </a:lnSpc>
              <a:tabLst>
                <a:tab pos="1526540" algn="l"/>
              </a:tabLst>
            </a:pPr>
            <a:r>
              <a:rPr dirty="0" sz="900" spc="80">
                <a:latin typeface="Microsoft JhengHei UI"/>
                <a:cs typeface="Microsoft JhengHei UI"/>
              </a:rPr>
              <a:t>假设</a:t>
            </a:r>
            <a:r>
              <a:rPr dirty="0" sz="900">
                <a:latin typeface="Microsoft JhengHei UI"/>
                <a:cs typeface="Microsoft JhengHei UI"/>
              </a:rPr>
              <a:t>“</a:t>
            </a:r>
            <a:r>
              <a:rPr dirty="0" sz="900" spc="80">
                <a:latin typeface="Microsoft JhengHei UI"/>
                <a:cs typeface="Microsoft JhengHei UI"/>
              </a:rPr>
              <a:t>输出⻔</a:t>
            </a:r>
            <a:r>
              <a:rPr dirty="0" sz="900">
                <a:latin typeface="Microsoft JhengHei UI"/>
                <a:cs typeface="Microsoft JhengHei UI"/>
              </a:rPr>
              <a:t>”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o(t)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学会了只输出第⼆部分，所以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o(t)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是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[0,</a:t>
            </a:r>
            <a:r>
              <a:rPr dirty="0" sz="900" spc="175">
                <a:latin typeface="Microsoft JhengHei UI"/>
                <a:cs typeface="Microsoft JhengHei UI"/>
              </a:rPr>
              <a:t> </a:t>
            </a:r>
            <a:r>
              <a:rPr dirty="0" sz="900" spc="-30">
                <a:latin typeface="Microsoft JhengHei UI"/>
                <a:cs typeface="Microsoft JhengHei UI"/>
              </a:rPr>
              <a:t>1]</a:t>
            </a:r>
            <a:r>
              <a:rPr dirty="0" sz="900" spc="-60">
                <a:latin typeface="Microsoft JhengHei UI"/>
                <a:cs typeface="Microsoft JhengHei UI"/>
              </a:rPr>
              <a:t>。</a:t>
            </a:r>
            <a:r>
              <a:rPr dirty="0" sz="900">
                <a:latin typeface="Microsoft JhengHei UI"/>
                <a:cs typeface="Microsoft JhengHei UI"/>
              </a:rPr>
              <a:t>最终输出</a:t>
            </a:r>
            <a:r>
              <a:rPr dirty="0" sz="900" spc="8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y(t)</a:t>
            </a:r>
            <a:r>
              <a:rPr dirty="0" sz="900" spc="9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=</a:t>
            </a:r>
            <a:r>
              <a:rPr dirty="0" sz="900" spc="9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[1.0,</a:t>
            </a:r>
            <a:r>
              <a:rPr dirty="0" sz="900" spc="85">
                <a:latin typeface="Microsoft JhengHei UI"/>
                <a:cs typeface="Microsoft JhengHei UI"/>
              </a:rPr>
              <a:t> </a:t>
            </a:r>
            <a:r>
              <a:rPr dirty="0" sz="900" spc="-20">
                <a:latin typeface="Microsoft JhengHei UI"/>
                <a:cs typeface="Microsoft JhengHei UI"/>
              </a:rPr>
              <a:t>0.8]</a:t>
            </a:r>
            <a:r>
              <a:rPr dirty="0" sz="900">
                <a:latin typeface="Microsoft JhengHei UI"/>
                <a:cs typeface="Microsoft JhengHei UI"/>
              </a:rPr>
              <a:t>	[0,</a:t>
            </a:r>
            <a:r>
              <a:rPr dirty="0" sz="900" spc="100">
                <a:latin typeface="Microsoft JhengHei UI"/>
                <a:cs typeface="Microsoft JhengHei UI"/>
              </a:rPr>
              <a:t> </a:t>
            </a:r>
            <a:r>
              <a:rPr dirty="0" sz="900" spc="-20">
                <a:latin typeface="Microsoft JhengHei UI"/>
                <a:cs typeface="Microsoft JhengHei UI"/>
              </a:rPr>
              <a:t>1]</a:t>
            </a:r>
            <a:r>
              <a:rPr dirty="0" sz="900" spc="10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=</a:t>
            </a:r>
            <a:r>
              <a:rPr dirty="0" sz="900" spc="105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[0,</a:t>
            </a:r>
            <a:r>
              <a:rPr dirty="0" sz="900" spc="100">
                <a:latin typeface="Microsoft JhengHei UI"/>
                <a:cs typeface="Microsoft JhengHei UI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0.8]。</a:t>
            </a:r>
            <a:endParaRPr sz="9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0900"/>
              </a:lnSpc>
              <a:spcBef>
                <a:spcPts val="560"/>
              </a:spcBef>
            </a:pPr>
            <a:r>
              <a:rPr dirty="0" sz="900">
                <a:latin typeface="Microsoft JhengHei UI"/>
                <a:cs typeface="Microsoft JhengHei UI"/>
              </a:rPr>
              <a:t>结果： LSTM</a:t>
            </a:r>
            <a:r>
              <a:rPr dirty="0" sz="900" spc="10">
                <a:latin typeface="Microsoft JhengHei UI"/>
                <a:cs typeface="Microsoft JhengHei UI"/>
              </a:rPr>
              <a:t> 成功地“隐藏”了它的第⼀部分记忆，只“选择性地”</a:t>
            </a:r>
            <a:r>
              <a:rPr dirty="0" sz="900" spc="-10">
                <a:latin typeface="Microsoft JhengHei UI"/>
                <a:cs typeface="Microsoft JhengHei UI"/>
              </a:rPr>
              <a:t>输出了第⼆部分。</a:t>
            </a:r>
            <a:endParaRPr sz="900">
              <a:latin typeface="Microsoft JhengHei UI"/>
              <a:cs typeface="Microsoft JhengHei U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26982" y="5386551"/>
            <a:ext cx="3632835" cy="973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>
                <a:latin typeface="Arial MT"/>
                <a:cs typeface="Arial MT"/>
              </a:rPr>
              <a:t>LSTM</a:t>
            </a:r>
            <a:r>
              <a:rPr dirty="0" sz="900" spc="180">
                <a:latin typeface="Arial MT"/>
                <a:cs typeface="Arial MT"/>
              </a:rPr>
              <a:t>  </a:t>
            </a:r>
            <a:r>
              <a:rPr dirty="0" sz="900">
                <a:latin typeface="Microsoft JhengHei UI"/>
                <a:cs typeface="Microsoft JhengHei UI"/>
              </a:rPr>
              <a:t>的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机制是⼀个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两步⾛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的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受控读取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-20">
                <a:latin typeface="Microsoft JhengHei UI"/>
                <a:cs typeface="Microsoft JhengHei UI"/>
              </a:rPr>
              <a:t>过程：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计算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阀⻔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：⽹络根据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当前输⼊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和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旧记忆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，计算出⼀个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输出⻔</a:t>
            </a:r>
            <a:r>
              <a:rPr dirty="0" sz="900" spc="170">
                <a:latin typeface="Arial MT"/>
                <a:cs typeface="Arial MT"/>
              </a:rPr>
              <a:t>”  </a:t>
            </a:r>
            <a:r>
              <a:rPr dirty="0" sz="900" spc="-20">
                <a:latin typeface="Arial MT"/>
                <a:cs typeface="Arial MT"/>
              </a:rPr>
              <a:t>o(t)</a:t>
            </a:r>
            <a:endParaRPr sz="900">
              <a:latin typeface="Arial MT"/>
              <a:cs typeface="Arial MT"/>
            </a:endParaRPr>
          </a:p>
          <a:p>
            <a:pPr marL="225425">
              <a:lnSpc>
                <a:spcPct val="100000"/>
              </a:lnSpc>
              <a:spcBef>
                <a:spcPts val="229"/>
              </a:spcBef>
            </a:pP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>
                <a:latin typeface="Arial MT"/>
                <a:cs typeface="Arial MT"/>
              </a:rPr>
              <a:t>0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40">
                <a:latin typeface="Microsoft JhengHei UI"/>
                <a:cs typeface="Microsoft JhengHei UI"/>
              </a:rPr>
              <a:t>到 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之间）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900">
                <a:latin typeface="Microsoft JhengHei UI"/>
                <a:cs typeface="Microsoft JhengHei UI"/>
              </a:rPr>
              <a:t>计算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输出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：⽹络取出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⻓期记忆</a:t>
            </a:r>
            <a:r>
              <a:rPr dirty="0" sz="900" spc="90">
                <a:latin typeface="Arial MT"/>
                <a:cs typeface="Arial MT"/>
              </a:rPr>
              <a:t>” </a:t>
            </a:r>
            <a:r>
              <a:rPr dirty="0" sz="900">
                <a:latin typeface="Arial MT"/>
                <a:cs typeface="Arial MT"/>
              </a:rPr>
              <a:t>c(t)</a:t>
            </a:r>
            <a:r>
              <a:rPr dirty="0" sz="900" spc="70">
                <a:latin typeface="Microsoft JhengHei UI"/>
                <a:cs typeface="Microsoft JhengHei UI"/>
              </a:rPr>
              <a:t>，⽤ </a:t>
            </a:r>
            <a:r>
              <a:rPr dirty="0" sz="900">
                <a:latin typeface="Arial MT"/>
                <a:cs typeface="Arial MT"/>
              </a:rPr>
              <a:t>tanh</a:t>
            </a:r>
            <a:r>
              <a:rPr dirty="0" sz="900" spc="185">
                <a:latin typeface="Arial MT"/>
                <a:cs typeface="Arial MT"/>
              </a:rPr>
              <a:t> </a:t>
            </a:r>
            <a:r>
              <a:rPr dirty="0" sz="900" spc="20">
                <a:latin typeface="Microsoft JhengHei UI"/>
                <a:cs typeface="Microsoft JhengHei UI"/>
              </a:rPr>
              <a:t>压缩它，然后乘以 </a:t>
            </a:r>
            <a:r>
              <a:rPr dirty="0" sz="900" spc="-20">
                <a:latin typeface="Arial MT"/>
                <a:cs typeface="Arial MT"/>
              </a:rPr>
              <a:t>o(t)</a:t>
            </a:r>
            <a:endParaRPr sz="900">
              <a:latin typeface="Arial MT"/>
              <a:cs typeface="Arial MT"/>
            </a:endParaRPr>
          </a:p>
          <a:p>
            <a:pPr marL="225425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Microsoft JhengHei UI"/>
                <a:cs typeface="Microsoft JhengHei UI"/>
              </a:rPr>
              <a:t>这个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阀⻔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40">
                <a:latin typeface="Microsoft JhengHei UI"/>
                <a:cs typeface="Microsoft JhengHei UI"/>
              </a:rPr>
              <a:t>，得到最终的输出 </a:t>
            </a:r>
            <a:r>
              <a:rPr dirty="0" sz="900">
                <a:latin typeface="Arial MT"/>
                <a:cs typeface="Arial MT"/>
              </a:rPr>
              <a:t>y(t)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696646" y="4470210"/>
            <a:ext cx="157362" cy="165100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1673105" y="5890428"/>
            <a:ext cx="3228340" cy="35750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900">
                <a:latin typeface="Arial MT"/>
                <a:cs typeface="Arial MT"/>
              </a:rPr>
              <a:t>y(t</a:t>
            </a:r>
            <a:r>
              <a:rPr dirty="0" sz="900" spc="110">
                <a:latin typeface="Arial MT"/>
                <a:cs typeface="Arial MT"/>
              </a:rPr>
              <a:t>) </a:t>
            </a:r>
            <a:r>
              <a:rPr dirty="0" sz="900">
                <a:latin typeface="Microsoft JhengHei UI"/>
                <a:cs typeface="Microsoft JhengHei UI"/>
              </a:rPr>
              <a:t>既是对外的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预测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30">
                <a:latin typeface="Microsoft JhengHei UI"/>
                <a:cs typeface="Microsoft JhengHei UI"/>
              </a:rPr>
              <a:t>，也会在下⼀刻 </a:t>
            </a:r>
            <a:r>
              <a:rPr dirty="0" sz="900">
                <a:latin typeface="Arial MT"/>
                <a:cs typeface="Arial MT"/>
              </a:rPr>
              <a:t>t+1</a:t>
            </a:r>
            <a:r>
              <a:rPr dirty="0" sz="900" spc="229">
                <a:latin typeface="Arial MT"/>
                <a:cs typeface="Arial MT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作为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循环状态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（</a:t>
            </a:r>
            <a:r>
              <a:rPr dirty="0" sz="900" spc="-50">
                <a:latin typeface="Microsoft JhengHei UI"/>
                <a:cs typeface="Microsoft JhengHei UI"/>
              </a:rPr>
              <a:t>即</a:t>
            </a:r>
            <a:endParaRPr sz="9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y(t-1)</a:t>
            </a:r>
            <a:r>
              <a:rPr dirty="0" sz="900">
                <a:latin typeface="Microsoft JhengHei UI"/>
                <a:cs typeface="Microsoft JhengHei UI"/>
              </a:rPr>
              <a:t>）</a:t>
            </a:r>
            <a:r>
              <a:rPr dirty="0" sz="900" spc="30">
                <a:latin typeface="Microsoft JhengHei UI"/>
                <a:cs typeface="Microsoft JhengHei UI"/>
              </a:rPr>
              <a:t>被反馈回来，⽤于计算 </a:t>
            </a:r>
            <a:r>
              <a:rPr dirty="0" sz="900">
                <a:latin typeface="Arial MT"/>
                <a:cs typeface="Arial MT"/>
              </a:rPr>
              <a:t>t+1</a:t>
            </a:r>
            <a:r>
              <a:rPr dirty="0" sz="900" spc="340">
                <a:latin typeface="Arial MT"/>
                <a:cs typeface="Arial MT"/>
              </a:rPr>
              <a:t> </a:t>
            </a:r>
            <a:r>
              <a:rPr dirty="0" sz="900">
                <a:latin typeface="Microsoft JhengHei UI"/>
                <a:cs typeface="Microsoft JhengHei UI"/>
              </a:rPr>
              <a:t>时刻的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⻔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>
                <a:latin typeface="Microsoft JhengHei UI"/>
                <a:cs typeface="Microsoft JhengHei UI"/>
              </a:rPr>
              <a:t>和</a:t>
            </a:r>
            <a:r>
              <a:rPr dirty="0" sz="900">
                <a:latin typeface="Arial MT"/>
                <a:cs typeface="Arial MT"/>
              </a:rPr>
              <a:t>“</a:t>
            </a:r>
            <a:r>
              <a:rPr dirty="0" sz="900">
                <a:latin typeface="Microsoft JhengHei UI"/>
                <a:cs typeface="Microsoft JhengHei UI"/>
              </a:rPr>
              <a:t>候选信息</a:t>
            </a:r>
            <a:r>
              <a:rPr dirty="0" sz="900">
                <a:latin typeface="Arial MT"/>
                <a:cs typeface="Arial MT"/>
              </a:rPr>
              <a:t>”</a:t>
            </a:r>
            <a:r>
              <a:rPr dirty="0" sz="900" spc="-50">
                <a:latin typeface="Microsoft JhengHei UI"/>
                <a:cs typeface="Microsoft JhengHei UI"/>
              </a:rPr>
              <a:t>。</a:t>
            </a:r>
            <a:endParaRPr sz="9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LSTM</a:t>
            </a:r>
            <a:r>
              <a:rPr dirty="0" spc="-125"/>
              <a:t> </a:t>
            </a:r>
            <a:r>
              <a:rPr dirty="0"/>
              <a:t>Forward</a:t>
            </a:r>
            <a:r>
              <a:rPr dirty="0" spc="-120"/>
              <a:t> </a:t>
            </a:r>
            <a:r>
              <a:rPr dirty="0" spc="-20"/>
              <a:t>Pass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42129" y="2668028"/>
            <a:ext cx="364236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81000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cell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state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990">
                <a:latin typeface="Cambria"/>
                <a:cs typeface="Cambria"/>
              </a:rPr>
              <a:t/>
            </a:r>
            <a:r>
              <a:rPr dirty="0" sz="1800" spc="170">
                <a:latin typeface="Cambria"/>
                <a:cs typeface="Cambri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updated </a:t>
            </a:r>
            <a:r>
              <a:rPr dirty="0" sz="1800">
                <a:latin typeface="Tahoma"/>
                <a:cs typeface="Tahoma"/>
              </a:rPr>
              <a:t>based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on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its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current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state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50">
                <a:latin typeface="Tahoma"/>
                <a:cs typeface="Tahoma"/>
              </a:rPr>
              <a:t>3 </a:t>
            </a:r>
            <a:r>
              <a:rPr dirty="0" sz="1800">
                <a:latin typeface="Tahoma"/>
                <a:cs typeface="Tahoma"/>
              </a:rPr>
              <a:t>inputs: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720">
                <a:latin typeface="Cambria"/>
                <a:cs typeface="Cambria"/>
              </a:rPr>
              <a:t/>
            </a:r>
            <a:r>
              <a:rPr dirty="0" baseline="-14957" sz="1950" spc="-1080">
                <a:latin typeface="Cambria"/>
                <a:cs typeface="Cambria"/>
              </a:rPr>
              <a:t/>
            </a:r>
            <a:r>
              <a:rPr dirty="0" baseline="-14957" sz="1950" spc="525">
                <a:latin typeface="Cambria"/>
                <a:cs typeface="Cambria"/>
              </a:rPr>
              <a:t> </a:t>
            </a:r>
            <a:r>
              <a:rPr dirty="0" sz="1800">
                <a:latin typeface="Tahoma"/>
                <a:cs typeface="Tahoma"/>
              </a:rPr>
              <a:t>,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715">
                <a:latin typeface="Cambria"/>
                <a:cs typeface="Cambria"/>
              </a:rPr>
              <a:t/>
            </a:r>
            <a:r>
              <a:rPr dirty="0" baseline="-14957" sz="1950" spc="-1072">
                <a:latin typeface="Cambria"/>
                <a:cs typeface="Cambria"/>
              </a:rPr>
              <a:t/>
            </a:r>
            <a:r>
              <a:rPr dirty="0" baseline="-14957" sz="1950" spc="525">
                <a:latin typeface="Cambria"/>
                <a:cs typeface="Cambria"/>
              </a:rPr>
              <a:t> </a:t>
            </a:r>
            <a:r>
              <a:rPr dirty="0" sz="1800">
                <a:latin typeface="Tahoma"/>
                <a:cs typeface="Tahoma"/>
              </a:rPr>
              <a:t>,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-665">
                <a:latin typeface="Cambria"/>
                <a:cs typeface="Cambria"/>
              </a:rPr>
              <a:t/>
            </a:r>
            <a:r>
              <a:rPr dirty="0" baseline="-14957" sz="1950" spc="-997">
                <a:latin typeface="Cambria"/>
                <a:cs typeface="Cambria"/>
              </a:rPr>
              <a:t/>
            </a:r>
            <a:endParaRPr baseline="-14957" sz="195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7991" y="4146803"/>
            <a:ext cx="4429168" cy="161391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79831" y="1967827"/>
            <a:ext cx="4274820" cy="4890770"/>
            <a:chOff x="179831" y="1967827"/>
            <a:chExt cx="4274820" cy="489077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31" y="1967827"/>
              <a:ext cx="4274820" cy="489017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6564" y="4146803"/>
              <a:ext cx="190500" cy="12801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3810" y="4042219"/>
              <a:ext cx="302133" cy="25026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22996" y="2295664"/>
              <a:ext cx="1388110" cy="1515745"/>
            </a:xfrm>
            <a:custGeom>
              <a:avLst/>
              <a:gdLst/>
              <a:ahLst/>
              <a:cxnLst/>
              <a:rect l="l" t="t" r="r" b="b"/>
              <a:pathLst>
                <a:path w="1388110" h="1515745">
                  <a:moveTo>
                    <a:pt x="1362443" y="0"/>
                  </a:moveTo>
                  <a:lnTo>
                    <a:pt x="25399" y="0"/>
                  </a:lnTo>
                  <a:lnTo>
                    <a:pt x="21424" y="317"/>
                  </a:lnTo>
                  <a:lnTo>
                    <a:pt x="0" y="25400"/>
                  </a:lnTo>
                  <a:lnTo>
                    <a:pt x="0" y="1489773"/>
                  </a:lnTo>
                  <a:lnTo>
                    <a:pt x="25399" y="1515173"/>
                  </a:lnTo>
                  <a:lnTo>
                    <a:pt x="1362443" y="1515173"/>
                  </a:lnTo>
                  <a:lnTo>
                    <a:pt x="1387843" y="1489773"/>
                  </a:lnTo>
                  <a:lnTo>
                    <a:pt x="50799" y="1489773"/>
                  </a:lnTo>
                  <a:lnTo>
                    <a:pt x="25399" y="1464373"/>
                  </a:lnTo>
                  <a:lnTo>
                    <a:pt x="50799" y="1464373"/>
                  </a:lnTo>
                  <a:lnTo>
                    <a:pt x="50799" y="50800"/>
                  </a:lnTo>
                  <a:lnTo>
                    <a:pt x="25399" y="50800"/>
                  </a:lnTo>
                  <a:lnTo>
                    <a:pt x="50799" y="25400"/>
                  </a:lnTo>
                  <a:lnTo>
                    <a:pt x="1387843" y="25400"/>
                  </a:lnTo>
                  <a:lnTo>
                    <a:pt x="1387525" y="21424"/>
                  </a:lnTo>
                  <a:lnTo>
                    <a:pt x="1366418" y="317"/>
                  </a:lnTo>
                  <a:lnTo>
                    <a:pt x="1362443" y="0"/>
                  </a:lnTo>
                  <a:close/>
                </a:path>
                <a:path w="1388110" h="1515745">
                  <a:moveTo>
                    <a:pt x="50799" y="1464373"/>
                  </a:moveTo>
                  <a:lnTo>
                    <a:pt x="25399" y="1464373"/>
                  </a:lnTo>
                  <a:lnTo>
                    <a:pt x="50799" y="1489773"/>
                  </a:lnTo>
                  <a:lnTo>
                    <a:pt x="50799" y="1464373"/>
                  </a:lnTo>
                  <a:close/>
                </a:path>
                <a:path w="1388110" h="1515745">
                  <a:moveTo>
                    <a:pt x="1337043" y="1464373"/>
                  </a:moveTo>
                  <a:lnTo>
                    <a:pt x="50799" y="1464373"/>
                  </a:lnTo>
                  <a:lnTo>
                    <a:pt x="50799" y="1489773"/>
                  </a:lnTo>
                  <a:lnTo>
                    <a:pt x="1337043" y="1489773"/>
                  </a:lnTo>
                  <a:lnTo>
                    <a:pt x="1337043" y="1464373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1337043" y="1489773"/>
                  </a:lnTo>
                  <a:lnTo>
                    <a:pt x="1362443" y="1464373"/>
                  </a:lnTo>
                  <a:lnTo>
                    <a:pt x="1387843" y="1464373"/>
                  </a:lnTo>
                  <a:lnTo>
                    <a:pt x="1387843" y="50800"/>
                  </a:lnTo>
                  <a:lnTo>
                    <a:pt x="13624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1464373"/>
                  </a:moveTo>
                  <a:lnTo>
                    <a:pt x="1362443" y="1464373"/>
                  </a:lnTo>
                  <a:lnTo>
                    <a:pt x="1337043" y="1489773"/>
                  </a:lnTo>
                  <a:lnTo>
                    <a:pt x="1387843" y="1489773"/>
                  </a:lnTo>
                  <a:lnTo>
                    <a:pt x="1387843" y="1464373"/>
                  </a:lnTo>
                  <a:close/>
                </a:path>
                <a:path w="1388110" h="1515745">
                  <a:moveTo>
                    <a:pt x="50799" y="25400"/>
                  </a:moveTo>
                  <a:lnTo>
                    <a:pt x="25399" y="50800"/>
                  </a:lnTo>
                  <a:lnTo>
                    <a:pt x="50799" y="50800"/>
                  </a:lnTo>
                  <a:lnTo>
                    <a:pt x="50799" y="25400"/>
                  </a:lnTo>
                  <a:close/>
                </a:path>
                <a:path w="1388110" h="1515745">
                  <a:moveTo>
                    <a:pt x="1337043" y="25400"/>
                  </a:moveTo>
                  <a:lnTo>
                    <a:pt x="50799" y="25400"/>
                  </a:lnTo>
                  <a:lnTo>
                    <a:pt x="50799" y="50800"/>
                  </a:lnTo>
                  <a:lnTo>
                    <a:pt x="1337043" y="50800"/>
                  </a:lnTo>
                  <a:lnTo>
                    <a:pt x="1337043" y="25400"/>
                  </a:lnTo>
                  <a:close/>
                </a:path>
                <a:path w="1388110" h="1515745">
                  <a:moveTo>
                    <a:pt x="1387843" y="25400"/>
                  </a:moveTo>
                  <a:lnTo>
                    <a:pt x="1337043" y="25400"/>
                  </a:lnTo>
                  <a:lnTo>
                    <a:pt x="1362443" y="50800"/>
                  </a:lnTo>
                  <a:lnTo>
                    <a:pt x="1387843" y="50800"/>
                  </a:lnTo>
                  <a:lnTo>
                    <a:pt x="1387843" y="254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402" y="57901"/>
            <a:ext cx="4842510" cy="1356360"/>
            <a:chOff x="102402" y="57901"/>
            <a:chExt cx="4842510" cy="1356360"/>
          </a:xfrm>
        </p:grpSpPr>
        <p:sp>
          <p:nvSpPr>
            <p:cNvPr id="3" name="object 3" descr=""/>
            <p:cNvSpPr/>
            <p:nvPr/>
          </p:nvSpPr>
          <p:spPr>
            <a:xfrm>
              <a:off x="102400" y="143625"/>
              <a:ext cx="47625" cy="188595"/>
            </a:xfrm>
            <a:custGeom>
              <a:avLst/>
              <a:gdLst/>
              <a:ahLst/>
              <a:cxnLst/>
              <a:rect l="l" t="t" r="r" b="b"/>
              <a:pathLst>
                <a:path w="47625" h="188595">
                  <a:moveTo>
                    <a:pt x="19380" y="44399"/>
                  </a:moveTo>
                  <a:lnTo>
                    <a:pt x="19050" y="31153"/>
                  </a:lnTo>
                  <a:lnTo>
                    <a:pt x="18402" y="17919"/>
                  </a:lnTo>
                  <a:lnTo>
                    <a:pt x="17399" y="2349"/>
                  </a:lnTo>
                  <a:lnTo>
                    <a:pt x="17386" y="2032"/>
                  </a:lnTo>
                  <a:lnTo>
                    <a:pt x="15062" y="0"/>
                  </a:lnTo>
                  <a:lnTo>
                    <a:pt x="9906" y="355"/>
                  </a:lnTo>
                  <a:lnTo>
                    <a:pt x="7962" y="2349"/>
                  </a:lnTo>
                  <a:lnTo>
                    <a:pt x="6578" y="30988"/>
                  </a:lnTo>
                  <a:lnTo>
                    <a:pt x="5689" y="50584"/>
                  </a:lnTo>
                  <a:lnTo>
                    <a:pt x="5562" y="53378"/>
                  </a:lnTo>
                  <a:lnTo>
                    <a:pt x="5410" y="56705"/>
                  </a:lnTo>
                  <a:lnTo>
                    <a:pt x="5156" y="61010"/>
                  </a:lnTo>
                  <a:lnTo>
                    <a:pt x="4737" y="68135"/>
                  </a:lnTo>
                  <a:lnTo>
                    <a:pt x="3898" y="79121"/>
                  </a:lnTo>
                  <a:lnTo>
                    <a:pt x="2946" y="90106"/>
                  </a:lnTo>
                  <a:lnTo>
                    <a:pt x="2298" y="97104"/>
                  </a:lnTo>
                  <a:lnTo>
                    <a:pt x="1930" y="101079"/>
                  </a:lnTo>
                  <a:lnTo>
                    <a:pt x="1638" y="105168"/>
                  </a:lnTo>
                  <a:lnTo>
                    <a:pt x="469" y="121767"/>
                  </a:lnTo>
                  <a:lnTo>
                    <a:pt x="0" y="142544"/>
                  </a:lnTo>
                  <a:lnTo>
                    <a:pt x="787" y="162928"/>
                  </a:lnTo>
                  <a:lnTo>
                    <a:pt x="812" y="163296"/>
                  </a:lnTo>
                  <a:lnTo>
                    <a:pt x="3098" y="183146"/>
                  </a:lnTo>
                  <a:lnTo>
                    <a:pt x="3175" y="183896"/>
                  </a:lnTo>
                  <a:lnTo>
                    <a:pt x="3581" y="186461"/>
                  </a:lnTo>
                  <a:lnTo>
                    <a:pt x="5994" y="188214"/>
                  </a:lnTo>
                  <a:lnTo>
                    <a:pt x="10845" y="187439"/>
                  </a:lnTo>
                  <a:lnTo>
                    <a:pt x="12534" y="185470"/>
                  </a:lnTo>
                  <a:lnTo>
                    <a:pt x="12522" y="183146"/>
                  </a:lnTo>
                  <a:lnTo>
                    <a:pt x="12750" y="163296"/>
                  </a:lnTo>
                  <a:lnTo>
                    <a:pt x="13550" y="142709"/>
                  </a:lnTo>
                  <a:lnTo>
                    <a:pt x="14795" y="122529"/>
                  </a:lnTo>
                  <a:lnTo>
                    <a:pt x="15849" y="109334"/>
                  </a:lnTo>
                  <a:lnTo>
                    <a:pt x="16078" y="106400"/>
                  </a:lnTo>
                  <a:lnTo>
                    <a:pt x="12496" y="109334"/>
                  </a:lnTo>
                  <a:lnTo>
                    <a:pt x="16040" y="106400"/>
                  </a:lnTo>
                  <a:lnTo>
                    <a:pt x="16395" y="102412"/>
                  </a:lnTo>
                  <a:lnTo>
                    <a:pt x="16751" y="98374"/>
                  </a:lnTo>
                  <a:lnTo>
                    <a:pt x="17043" y="94856"/>
                  </a:lnTo>
                  <a:lnTo>
                    <a:pt x="17106" y="94157"/>
                  </a:lnTo>
                  <a:lnTo>
                    <a:pt x="19164" y="61620"/>
                  </a:lnTo>
                  <a:lnTo>
                    <a:pt x="15887" y="64604"/>
                  </a:lnTo>
                  <a:lnTo>
                    <a:pt x="19138" y="61620"/>
                  </a:lnTo>
                  <a:lnTo>
                    <a:pt x="19304" y="57785"/>
                  </a:lnTo>
                  <a:lnTo>
                    <a:pt x="19329" y="53746"/>
                  </a:lnTo>
                  <a:lnTo>
                    <a:pt x="19024" y="53390"/>
                  </a:lnTo>
                  <a:lnTo>
                    <a:pt x="19380" y="53746"/>
                  </a:lnTo>
                  <a:lnTo>
                    <a:pt x="19354" y="50584"/>
                  </a:lnTo>
                  <a:lnTo>
                    <a:pt x="19380" y="44399"/>
                  </a:lnTo>
                  <a:close/>
                </a:path>
                <a:path w="47625" h="188595">
                  <a:moveTo>
                    <a:pt x="47180" y="120230"/>
                  </a:moveTo>
                  <a:lnTo>
                    <a:pt x="46558" y="118300"/>
                  </a:lnTo>
                  <a:lnTo>
                    <a:pt x="44081" y="117030"/>
                  </a:lnTo>
                  <a:lnTo>
                    <a:pt x="43014" y="117017"/>
                  </a:lnTo>
                  <a:lnTo>
                    <a:pt x="40093" y="118427"/>
                  </a:lnTo>
                  <a:lnTo>
                    <a:pt x="38811" y="120865"/>
                  </a:lnTo>
                  <a:lnTo>
                    <a:pt x="41008" y="124091"/>
                  </a:lnTo>
                  <a:lnTo>
                    <a:pt x="42341" y="124485"/>
                  </a:lnTo>
                  <a:lnTo>
                    <a:pt x="43675" y="124574"/>
                  </a:lnTo>
                  <a:lnTo>
                    <a:pt x="45059" y="124675"/>
                  </a:lnTo>
                  <a:lnTo>
                    <a:pt x="46278" y="123634"/>
                  </a:lnTo>
                  <a:lnTo>
                    <a:pt x="46380" y="122097"/>
                  </a:lnTo>
                  <a:lnTo>
                    <a:pt x="46367" y="121805"/>
                  </a:lnTo>
                  <a:lnTo>
                    <a:pt x="47180" y="120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07" y="57901"/>
              <a:ext cx="4752319" cy="1355986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1376" y="861342"/>
            <a:ext cx="749221" cy="23160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2754" y="709806"/>
            <a:ext cx="3080957" cy="38153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182" y="1720655"/>
            <a:ext cx="192110" cy="12700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486267" y="1659016"/>
            <a:ext cx="360045" cy="202565"/>
            <a:chOff x="1486267" y="1659016"/>
            <a:chExt cx="360045" cy="202565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6267" y="1659016"/>
              <a:ext cx="304562" cy="19440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25661" y="1849490"/>
              <a:ext cx="20320" cy="12065"/>
            </a:xfrm>
            <a:custGeom>
              <a:avLst/>
              <a:gdLst/>
              <a:ahLst/>
              <a:cxnLst/>
              <a:rect l="l" t="t" r="r" b="b"/>
              <a:pathLst>
                <a:path w="20319" h="12064">
                  <a:moveTo>
                    <a:pt x="17269" y="0"/>
                  </a:moveTo>
                  <a:lnTo>
                    <a:pt x="814" y="6169"/>
                  </a:lnTo>
                  <a:lnTo>
                    <a:pt x="0" y="7961"/>
                  </a:lnTo>
                  <a:lnTo>
                    <a:pt x="1205" y="11176"/>
                  </a:lnTo>
                  <a:lnTo>
                    <a:pt x="2997" y="11990"/>
                  </a:lnTo>
                  <a:lnTo>
                    <a:pt x="5142" y="11176"/>
                  </a:lnTo>
                  <a:lnTo>
                    <a:pt x="19419" y="5528"/>
                  </a:lnTo>
                  <a:lnTo>
                    <a:pt x="20169" y="3790"/>
                  </a:lnTo>
                  <a:lnTo>
                    <a:pt x="18963" y="749"/>
                  </a:lnTo>
                  <a:lnTo>
                    <a:pt x="172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1546" y="2029581"/>
            <a:ext cx="357834" cy="2979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393" y="2053096"/>
            <a:ext cx="407210" cy="192603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3386209" y="2193836"/>
            <a:ext cx="42545" cy="71120"/>
          </a:xfrm>
          <a:custGeom>
            <a:avLst/>
            <a:gdLst/>
            <a:ahLst/>
            <a:cxnLst/>
            <a:rect l="l" t="t" r="r" b="b"/>
            <a:pathLst>
              <a:path w="42545" h="71119">
                <a:moveTo>
                  <a:pt x="16552" y="38622"/>
                </a:moveTo>
                <a:lnTo>
                  <a:pt x="16016" y="39676"/>
                </a:lnTo>
                <a:lnTo>
                  <a:pt x="13550" y="44937"/>
                </a:lnTo>
                <a:lnTo>
                  <a:pt x="9507" y="52751"/>
                </a:lnTo>
                <a:lnTo>
                  <a:pt x="5177" y="60409"/>
                </a:lnTo>
                <a:lnTo>
                  <a:pt x="575" y="67904"/>
                </a:lnTo>
                <a:lnTo>
                  <a:pt x="0" y="68806"/>
                </a:lnTo>
                <a:lnTo>
                  <a:pt x="260" y="70011"/>
                </a:lnTo>
                <a:lnTo>
                  <a:pt x="1998" y="71119"/>
                </a:lnTo>
                <a:lnTo>
                  <a:pt x="3084" y="70945"/>
                </a:lnTo>
                <a:lnTo>
                  <a:pt x="3703" y="70196"/>
                </a:lnTo>
                <a:lnTo>
                  <a:pt x="9310" y="63049"/>
                </a:lnTo>
                <a:lnTo>
                  <a:pt x="14456" y="55567"/>
                </a:lnTo>
                <a:lnTo>
                  <a:pt x="19105" y="47770"/>
                </a:lnTo>
                <a:lnTo>
                  <a:pt x="22039" y="42000"/>
                </a:lnTo>
                <a:lnTo>
                  <a:pt x="20560" y="42000"/>
                </a:lnTo>
                <a:lnTo>
                  <a:pt x="17291" y="40545"/>
                </a:lnTo>
                <a:lnTo>
                  <a:pt x="16552" y="38622"/>
                </a:lnTo>
                <a:close/>
              </a:path>
              <a:path w="42545" h="71119">
                <a:moveTo>
                  <a:pt x="20017" y="34582"/>
                </a:moveTo>
                <a:lnTo>
                  <a:pt x="18081" y="35288"/>
                </a:lnTo>
                <a:lnTo>
                  <a:pt x="17291" y="36971"/>
                </a:lnTo>
                <a:lnTo>
                  <a:pt x="16552" y="38622"/>
                </a:lnTo>
                <a:lnTo>
                  <a:pt x="17291" y="40545"/>
                </a:lnTo>
                <a:lnTo>
                  <a:pt x="20560" y="42000"/>
                </a:lnTo>
                <a:lnTo>
                  <a:pt x="22381" y="41327"/>
                </a:lnTo>
                <a:lnTo>
                  <a:pt x="23221" y="39676"/>
                </a:lnTo>
                <a:lnTo>
                  <a:pt x="23731" y="38622"/>
                </a:lnTo>
                <a:lnTo>
                  <a:pt x="23965" y="38080"/>
                </a:lnTo>
                <a:lnTo>
                  <a:pt x="23275" y="36102"/>
                </a:lnTo>
                <a:lnTo>
                  <a:pt x="20017" y="34582"/>
                </a:lnTo>
                <a:close/>
              </a:path>
              <a:path w="42545" h="71119">
                <a:moveTo>
                  <a:pt x="22381" y="41327"/>
                </a:moveTo>
                <a:lnTo>
                  <a:pt x="20560" y="42000"/>
                </a:lnTo>
                <a:lnTo>
                  <a:pt x="22039" y="42000"/>
                </a:lnTo>
                <a:lnTo>
                  <a:pt x="22381" y="41327"/>
                </a:lnTo>
                <a:close/>
              </a:path>
              <a:path w="42545" h="71119">
                <a:moveTo>
                  <a:pt x="25687" y="34582"/>
                </a:moveTo>
                <a:lnTo>
                  <a:pt x="20017" y="34582"/>
                </a:lnTo>
                <a:lnTo>
                  <a:pt x="23275" y="36102"/>
                </a:lnTo>
                <a:lnTo>
                  <a:pt x="23993" y="38080"/>
                </a:lnTo>
                <a:lnTo>
                  <a:pt x="25687" y="34582"/>
                </a:lnTo>
                <a:close/>
              </a:path>
              <a:path w="42545" h="71119">
                <a:moveTo>
                  <a:pt x="38655" y="0"/>
                </a:moveTo>
                <a:lnTo>
                  <a:pt x="18081" y="35288"/>
                </a:lnTo>
                <a:lnTo>
                  <a:pt x="20017" y="34582"/>
                </a:lnTo>
                <a:lnTo>
                  <a:pt x="25687" y="34582"/>
                </a:lnTo>
                <a:lnTo>
                  <a:pt x="27462" y="30917"/>
                </a:lnTo>
                <a:lnTo>
                  <a:pt x="31918" y="22264"/>
                </a:lnTo>
                <a:lnTo>
                  <a:pt x="36558" y="13706"/>
                </a:lnTo>
                <a:lnTo>
                  <a:pt x="42228" y="3703"/>
                </a:lnTo>
                <a:lnTo>
                  <a:pt x="41696" y="1748"/>
                </a:lnTo>
                <a:lnTo>
                  <a:pt x="38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46891" y="2062143"/>
            <a:ext cx="379731" cy="17943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09864" y="2042997"/>
            <a:ext cx="921322" cy="22834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33284" y="2396442"/>
            <a:ext cx="637945" cy="27225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75946" y="2514164"/>
            <a:ext cx="71214" cy="12433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18791" y="2448882"/>
            <a:ext cx="187852" cy="205135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4583284" y="2456375"/>
            <a:ext cx="41910" cy="200025"/>
          </a:xfrm>
          <a:custGeom>
            <a:avLst/>
            <a:gdLst/>
            <a:ahLst/>
            <a:cxnLst/>
            <a:rect l="l" t="t" r="r" b="b"/>
            <a:pathLst>
              <a:path w="41910" h="200025">
                <a:moveTo>
                  <a:pt x="18686" y="166397"/>
                </a:moveTo>
                <a:lnTo>
                  <a:pt x="37482" y="199434"/>
                </a:lnTo>
                <a:lnTo>
                  <a:pt x="41218" y="196719"/>
                </a:lnTo>
                <a:lnTo>
                  <a:pt x="41891" y="194568"/>
                </a:lnTo>
                <a:lnTo>
                  <a:pt x="41207" y="192635"/>
                </a:lnTo>
                <a:lnTo>
                  <a:pt x="38486" y="184435"/>
                </a:lnTo>
                <a:lnTo>
                  <a:pt x="36052" y="176146"/>
                </a:lnTo>
                <a:lnTo>
                  <a:pt x="34185" y="168795"/>
                </a:lnTo>
                <a:lnTo>
                  <a:pt x="22298" y="168795"/>
                </a:lnTo>
                <a:lnTo>
                  <a:pt x="18686" y="166397"/>
                </a:lnTo>
                <a:close/>
              </a:path>
              <a:path w="41910" h="200025">
                <a:moveTo>
                  <a:pt x="27479" y="152676"/>
                </a:moveTo>
                <a:lnTo>
                  <a:pt x="19430" y="154219"/>
                </a:lnTo>
                <a:lnTo>
                  <a:pt x="16830" y="158107"/>
                </a:lnTo>
                <a:lnTo>
                  <a:pt x="17587" y="162180"/>
                </a:lnTo>
                <a:lnTo>
                  <a:pt x="18634" y="166199"/>
                </a:lnTo>
                <a:lnTo>
                  <a:pt x="18686" y="166397"/>
                </a:lnTo>
                <a:lnTo>
                  <a:pt x="22298" y="168795"/>
                </a:lnTo>
                <a:lnTo>
                  <a:pt x="30292" y="167198"/>
                </a:lnTo>
                <a:lnTo>
                  <a:pt x="32887" y="163331"/>
                </a:lnTo>
                <a:lnTo>
                  <a:pt x="31415" y="155613"/>
                </a:lnTo>
                <a:lnTo>
                  <a:pt x="31357" y="155310"/>
                </a:lnTo>
                <a:lnTo>
                  <a:pt x="27479" y="152676"/>
                </a:lnTo>
                <a:close/>
              </a:path>
              <a:path w="41910" h="200025">
                <a:moveTo>
                  <a:pt x="32980" y="163331"/>
                </a:moveTo>
                <a:lnTo>
                  <a:pt x="30962" y="166199"/>
                </a:lnTo>
                <a:lnTo>
                  <a:pt x="30292" y="167198"/>
                </a:lnTo>
                <a:lnTo>
                  <a:pt x="22298" y="168795"/>
                </a:lnTo>
                <a:lnTo>
                  <a:pt x="34185" y="168795"/>
                </a:lnTo>
                <a:lnTo>
                  <a:pt x="33926" y="167774"/>
                </a:lnTo>
                <a:lnTo>
                  <a:pt x="32980" y="163331"/>
                </a:lnTo>
                <a:close/>
              </a:path>
              <a:path w="41910" h="200025">
                <a:moveTo>
                  <a:pt x="17887" y="163331"/>
                </a:moveTo>
                <a:lnTo>
                  <a:pt x="18388" y="166199"/>
                </a:lnTo>
                <a:lnTo>
                  <a:pt x="18686" y="166397"/>
                </a:lnTo>
                <a:lnTo>
                  <a:pt x="17887" y="163331"/>
                </a:lnTo>
                <a:close/>
              </a:path>
              <a:path w="41910" h="200025">
                <a:moveTo>
                  <a:pt x="14153" y="139920"/>
                </a:moveTo>
                <a:lnTo>
                  <a:pt x="14392" y="142000"/>
                </a:lnTo>
                <a:lnTo>
                  <a:pt x="15327" y="149016"/>
                </a:lnTo>
                <a:lnTo>
                  <a:pt x="16320" y="155310"/>
                </a:lnTo>
                <a:lnTo>
                  <a:pt x="16830" y="158107"/>
                </a:lnTo>
                <a:lnTo>
                  <a:pt x="19430" y="154219"/>
                </a:lnTo>
                <a:lnTo>
                  <a:pt x="27479" y="152676"/>
                </a:lnTo>
                <a:lnTo>
                  <a:pt x="30864" y="152676"/>
                </a:lnTo>
                <a:lnTo>
                  <a:pt x="30552" y="151036"/>
                </a:lnTo>
                <a:lnTo>
                  <a:pt x="29498" y="142880"/>
                </a:lnTo>
                <a:lnTo>
                  <a:pt x="17823" y="142880"/>
                </a:lnTo>
                <a:lnTo>
                  <a:pt x="14153" y="139920"/>
                </a:lnTo>
                <a:close/>
              </a:path>
              <a:path w="41910" h="200025">
                <a:moveTo>
                  <a:pt x="30864" y="152676"/>
                </a:moveTo>
                <a:lnTo>
                  <a:pt x="27479" y="152676"/>
                </a:lnTo>
                <a:lnTo>
                  <a:pt x="31364" y="155310"/>
                </a:lnTo>
                <a:lnTo>
                  <a:pt x="30864" y="152676"/>
                </a:lnTo>
                <a:close/>
              </a:path>
              <a:path w="41910" h="200025">
                <a:moveTo>
                  <a:pt x="24546" y="127066"/>
                </a:moveTo>
                <a:lnTo>
                  <a:pt x="16281" y="127891"/>
                </a:lnTo>
                <a:lnTo>
                  <a:pt x="14451" y="130123"/>
                </a:lnTo>
                <a:lnTo>
                  <a:pt x="13289" y="131573"/>
                </a:lnTo>
                <a:lnTo>
                  <a:pt x="13674" y="135755"/>
                </a:lnTo>
                <a:lnTo>
                  <a:pt x="14153" y="139920"/>
                </a:lnTo>
                <a:lnTo>
                  <a:pt x="17823" y="142880"/>
                </a:lnTo>
                <a:lnTo>
                  <a:pt x="26056" y="142000"/>
                </a:lnTo>
                <a:lnTo>
                  <a:pt x="29043" y="138340"/>
                </a:lnTo>
                <a:lnTo>
                  <a:pt x="28232" y="130123"/>
                </a:lnTo>
                <a:lnTo>
                  <a:pt x="24546" y="127066"/>
                </a:lnTo>
                <a:close/>
              </a:path>
              <a:path w="41910" h="200025">
                <a:moveTo>
                  <a:pt x="29043" y="138340"/>
                </a:moveTo>
                <a:lnTo>
                  <a:pt x="26056" y="142000"/>
                </a:lnTo>
                <a:lnTo>
                  <a:pt x="17823" y="142880"/>
                </a:lnTo>
                <a:lnTo>
                  <a:pt x="29498" y="142880"/>
                </a:lnTo>
                <a:lnTo>
                  <a:pt x="29043" y="138340"/>
                </a:lnTo>
                <a:close/>
              </a:path>
              <a:path w="41910" h="200025">
                <a:moveTo>
                  <a:pt x="10702" y="92031"/>
                </a:moveTo>
                <a:lnTo>
                  <a:pt x="13289" y="131573"/>
                </a:lnTo>
                <a:lnTo>
                  <a:pt x="14451" y="130123"/>
                </a:lnTo>
                <a:lnTo>
                  <a:pt x="16281" y="127891"/>
                </a:lnTo>
                <a:lnTo>
                  <a:pt x="24546" y="127066"/>
                </a:lnTo>
                <a:lnTo>
                  <a:pt x="28000" y="127066"/>
                </a:lnTo>
                <a:lnTo>
                  <a:pt x="27711" y="123832"/>
                </a:lnTo>
                <a:lnTo>
                  <a:pt x="27589" y="122472"/>
                </a:lnTo>
                <a:lnTo>
                  <a:pt x="26806" y="111877"/>
                </a:lnTo>
                <a:lnTo>
                  <a:pt x="26029" y="99909"/>
                </a:lnTo>
                <a:lnTo>
                  <a:pt x="25740" y="95166"/>
                </a:lnTo>
                <a:lnTo>
                  <a:pt x="14163" y="95166"/>
                </a:lnTo>
                <a:lnTo>
                  <a:pt x="10702" y="92031"/>
                </a:lnTo>
                <a:close/>
              </a:path>
              <a:path w="41910" h="200025">
                <a:moveTo>
                  <a:pt x="28000" y="127066"/>
                </a:moveTo>
                <a:lnTo>
                  <a:pt x="24546" y="127066"/>
                </a:lnTo>
                <a:lnTo>
                  <a:pt x="28274" y="130123"/>
                </a:lnTo>
                <a:lnTo>
                  <a:pt x="28074" y="127891"/>
                </a:lnTo>
                <a:lnTo>
                  <a:pt x="28000" y="127066"/>
                </a:lnTo>
                <a:close/>
              </a:path>
              <a:path w="41910" h="200025">
                <a:moveTo>
                  <a:pt x="21516" y="79960"/>
                </a:moveTo>
                <a:lnTo>
                  <a:pt x="13402" y="80449"/>
                </a:lnTo>
                <a:lnTo>
                  <a:pt x="10307" y="83912"/>
                </a:lnTo>
                <a:lnTo>
                  <a:pt x="10666" y="91299"/>
                </a:lnTo>
                <a:lnTo>
                  <a:pt x="10702" y="92031"/>
                </a:lnTo>
                <a:lnTo>
                  <a:pt x="14163" y="95166"/>
                </a:lnTo>
                <a:lnTo>
                  <a:pt x="22319" y="94775"/>
                </a:lnTo>
                <a:lnTo>
                  <a:pt x="25458" y="91299"/>
                </a:lnTo>
                <a:lnTo>
                  <a:pt x="25297" y="87943"/>
                </a:lnTo>
                <a:lnTo>
                  <a:pt x="25067" y="83912"/>
                </a:lnTo>
                <a:lnTo>
                  <a:pt x="25013" y="83071"/>
                </a:lnTo>
                <a:lnTo>
                  <a:pt x="21516" y="79960"/>
                </a:lnTo>
                <a:close/>
              </a:path>
              <a:path w="41910" h="200025">
                <a:moveTo>
                  <a:pt x="25508" y="91299"/>
                </a:moveTo>
                <a:lnTo>
                  <a:pt x="24798" y="92031"/>
                </a:lnTo>
                <a:lnTo>
                  <a:pt x="22319" y="94775"/>
                </a:lnTo>
                <a:lnTo>
                  <a:pt x="14163" y="95166"/>
                </a:lnTo>
                <a:lnTo>
                  <a:pt x="25740" y="95166"/>
                </a:lnTo>
                <a:lnTo>
                  <a:pt x="25552" y="92031"/>
                </a:lnTo>
                <a:lnTo>
                  <a:pt x="25508" y="91299"/>
                </a:lnTo>
                <a:close/>
              </a:path>
              <a:path w="41910" h="200025">
                <a:moveTo>
                  <a:pt x="8308" y="46670"/>
                </a:moveTo>
                <a:lnTo>
                  <a:pt x="8439" y="49049"/>
                </a:lnTo>
                <a:lnTo>
                  <a:pt x="8692" y="52977"/>
                </a:lnTo>
                <a:lnTo>
                  <a:pt x="9332" y="64363"/>
                </a:lnTo>
                <a:lnTo>
                  <a:pt x="10258" y="83071"/>
                </a:lnTo>
                <a:lnTo>
                  <a:pt x="10299" y="83912"/>
                </a:lnTo>
                <a:lnTo>
                  <a:pt x="13402" y="80449"/>
                </a:lnTo>
                <a:lnTo>
                  <a:pt x="21516" y="79960"/>
                </a:lnTo>
                <a:lnTo>
                  <a:pt x="24834" y="79960"/>
                </a:lnTo>
                <a:lnTo>
                  <a:pt x="23937" y="65369"/>
                </a:lnTo>
                <a:lnTo>
                  <a:pt x="23130" y="54083"/>
                </a:lnTo>
                <a:lnTo>
                  <a:pt x="23050" y="52977"/>
                </a:lnTo>
                <a:lnTo>
                  <a:pt x="22748" y="49592"/>
                </a:lnTo>
                <a:lnTo>
                  <a:pt x="11665" y="49592"/>
                </a:lnTo>
                <a:lnTo>
                  <a:pt x="8308" y="46670"/>
                </a:lnTo>
                <a:close/>
              </a:path>
              <a:path w="41910" h="200025">
                <a:moveTo>
                  <a:pt x="24834" y="79960"/>
                </a:moveTo>
                <a:lnTo>
                  <a:pt x="21516" y="79960"/>
                </a:lnTo>
                <a:lnTo>
                  <a:pt x="25018" y="83071"/>
                </a:lnTo>
                <a:lnTo>
                  <a:pt x="24863" y="80449"/>
                </a:lnTo>
                <a:lnTo>
                  <a:pt x="24834" y="79960"/>
                </a:lnTo>
                <a:close/>
              </a:path>
              <a:path w="41910" h="200025">
                <a:moveTo>
                  <a:pt x="18203" y="34940"/>
                </a:moveTo>
                <a:lnTo>
                  <a:pt x="10568" y="35701"/>
                </a:lnTo>
                <a:lnTo>
                  <a:pt x="7777" y="39019"/>
                </a:lnTo>
                <a:lnTo>
                  <a:pt x="8240" y="45693"/>
                </a:lnTo>
                <a:lnTo>
                  <a:pt x="8308" y="46670"/>
                </a:lnTo>
                <a:lnTo>
                  <a:pt x="11665" y="49592"/>
                </a:lnTo>
                <a:lnTo>
                  <a:pt x="19409" y="49049"/>
                </a:lnTo>
                <a:lnTo>
                  <a:pt x="22319" y="45693"/>
                </a:lnTo>
                <a:lnTo>
                  <a:pt x="22117" y="42804"/>
                </a:lnTo>
                <a:lnTo>
                  <a:pt x="22026" y="41609"/>
                </a:lnTo>
                <a:lnTo>
                  <a:pt x="21770" y="39019"/>
                </a:lnTo>
                <a:lnTo>
                  <a:pt x="21644" y="37753"/>
                </a:lnTo>
                <a:lnTo>
                  <a:pt x="18203" y="34940"/>
                </a:lnTo>
                <a:close/>
              </a:path>
              <a:path w="41910" h="200025">
                <a:moveTo>
                  <a:pt x="22401" y="45693"/>
                </a:moveTo>
                <a:lnTo>
                  <a:pt x="21472" y="46670"/>
                </a:lnTo>
                <a:lnTo>
                  <a:pt x="19409" y="49049"/>
                </a:lnTo>
                <a:lnTo>
                  <a:pt x="11665" y="49592"/>
                </a:lnTo>
                <a:lnTo>
                  <a:pt x="22748" y="49592"/>
                </a:lnTo>
                <a:lnTo>
                  <a:pt x="22488" y="46670"/>
                </a:lnTo>
                <a:lnTo>
                  <a:pt x="22401" y="45693"/>
                </a:lnTo>
                <a:close/>
              </a:path>
              <a:path w="41910" h="200025">
                <a:moveTo>
                  <a:pt x="5976" y="22701"/>
                </a:moveTo>
                <a:lnTo>
                  <a:pt x="6636" y="27022"/>
                </a:lnTo>
                <a:lnTo>
                  <a:pt x="7485" y="34940"/>
                </a:lnTo>
                <a:lnTo>
                  <a:pt x="7683" y="37753"/>
                </a:lnTo>
                <a:lnTo>
                  <a:pt x="7771" y="39019"/>
                </a:lnTo>
                <a:lnTo>
                  <a:pt x="10568" y="35701"/>
                </a:lnTo>
                <a:lnTo>
                  <a:pt x="18203" y="34940"/>
                </a:lnTo>
                <a:lnTo>
                  <a:pt x="21365" y="34940"/>
                </a:lnTo>
                <a:lnTo>
                  <a:pt x="21201" y="33278"/>
                </a:lnTo>
                <a:lnTo>
                  <a:pt x="19905" y="25111"/>
                </a:lnTo>
                <a:lnTo>
                  <a:pt x="9242" y="25111"/>
                </a:lnTo>
                <a:lnTo>
                  <a:pt x="5976" y="22701"/>
                </a:lnTo>
                <a:close/>
              </a:path>
              <a:path w="41910" h="200025">
                <a:moveTo>
                  <a:pt x="21365" y="34940"/>
                </a:moveTo>
                <a:lnTo>
                  <a:pt x="18203" y="34940"/>
                </a:lnTo>
                <a:lnTo>
                  <a:pt x="21646" y="37753"/>
                </a:lnTo>
                <a:lnTo>
                  <a:pt x="21441" y="35701"/>
                </a:lnTo>
                <a:lnTo>
                  <a:pt x="21365" y="34940"/>
                </a:lnTo>
                <a:close/>
              </a:path>
              <a:path w="41910" h="200025">
                <a:moveTo>
                  <a:pt x="13826" y="11197"/>
                </a:moveTo>
                <a:lnTo>
                  <a:pt x="7092" y="12729"/>
                </a:lnTo>
                <a:lnTo>
                  <a:pt x="4931" y="15894"/>
                </a:lnTo>
                <a:lnTo>
                  <a:pt x="5028" y="16433"/>
                </a:lnTo>
                <a:lnTo>
                  <a:pt x="5976" y="22701"/>
                </a:lnTo>
                <a:lnTo>
                  <a:pt x="9242" y="25111"/>
                </a:lnTo>
                <a:lnTo>
                  <a:pt x="16248" y="24046"/>
                </a:lnTo>
                <a:lnTo>
                  <a:pt x="18659" y="20777"/>
                </a:lnTo>
                <a:lnTo>
                  <a:pt x="18126" y="17276"/>
                </a:lnTo>
                <a:lnTo>
                  <a:pt x="18039" y="16824"/>
                </a:lnTo>
                <a:lnTo>
                  <a:pt x="17312" y="13609"/>
                </a:lnTo>
                <a:lnTo>
                  <a:pt x="17259" y="13372"/>
                </a:lnTo>
                <a:lnTo>
                  <a:pt x="13826" y="11197"/>
                </a:lnTo>
                <a:close/>
              </a:path>
              <a:path w="41910" h="200025">
                <a:moveTo>
                  <a:pt x="18142" y="17276"/>
                </a:moveTo>
                <a:lnTo>
                  <a:pt x="18659" y="20777"/>
                </a:lnTo>
                <a:lnTo>
                  <a:pt x="16248" y="24046"/>
                </a:lnTo>
                <a:lnTo>
                  <a:pt x="9242" y="25111"/>
                </a:lnTo>
                <a:lnTo>
                  <a:pt x="19914" y="25111"/>
                </a:lnTo>
                <a:lnTo>
                  <a:pt x="18142" y="17276"/>
                </a:lnTo>
                <a:close/>
              </a:path>
              <a:path w="41910" h="200025">
                <a:moveTo>
                  <a:pt x="2400" y="0"/>
                </a:moveTo>
                <a:lnTo>
                  <a:pt x="271" y="1868"/>
                </a:lnTo>
                <a:lnTo>
                  <a:pt x="207" y="2780"/>
                </a:lnTo>
                <a:lnTo>
                  <a:pt x="97" y="4333"/>
                </a:lnTo>
                <a:lnTo>
                  <a:pt x="0" y="5854"/>
                </a:lnTo>
                <a:lnTo>
                  <a:pt x="673" y="7320"/>
                </a:lnTo>
                <a:lnTo>
                  <a:pt x="1900" y="8232"/>
                </a:lnTo>
                <a:lnTo>
                  <a:pt x="2780" y="8971"/>
                </a:lnTo>
                <a:lnTo>
                  <a:pt x="3171" y="10057"/>
                </a:lnTo>
                <a:lnTo>
                  <a:pt x="4428" y="13372"/>
                </a:lnTo>
                <a:lnTo>
                  <a:pt x="4518" y="13609"/>
                </a:lnTo>
                <a:lnTo>
                  <a:pt x="4931" y="15894"/>
                </a:lnTo>
                <a:lnTo>
                  <a:pt x="7092" y="12729"/>
                </a:lnTo>
                <a:lnTo>
                  <a:pt x="13826" y="11197"/>
                </a:lnTo>
                <a:lnTo>
                  <a:pt x="16596" y="11197"/>
                </a:lnTo>
                <a:lnTo>
                  <a:pt x="15868" y="8971"/>
                </a:lnTo>
                <a:lnTo>
                  <a:pt x="11512" y="2780"/>
                </a:lnTo>
                <a:lnTo>
                  <a:pt x="8504" y="412"/>
                </a:lnTo>
                <a:lnTo>
                  <a:pt x="2400" y="0"/>
                </a:lnTo>
                <a:close/>
              </a:path>
              <a:path w="41910" h="200025">
                <a:moveTo>
                  <a:pt x="16596" y="11197"/>
                </a:moveTo>
                <a:lnTo>
                  <a:pt x="13826" y="11197"/>
                </a:lnTo>
                <a:lnTo>
                  <a:pt x="17261" y="13372"/>
                </a:lnTo>
                <a:lnTo>
                  <a:pt x="17160" y="12924"/>
                </a:lnTo>
                <a:lnTo>
                  <a:pt x="16596" y="111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07163" y="2405294"/>
            <a:ext cx="1137941" cy="27570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24860" y="2468290"/>
            <a:ext cx="215019" cy="2107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239897" y="2358352"/>
            <a:ext cx="1077105" cy="282338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405511" y="2305018"/>
            <a:ext cx="1413931" cy="339539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137359" y="1538988"/>
            <a:ext cx="4831080" cy="2521585"/>
            <a:chOff x="137359" y="1538988"/>
            <a:chExt cx="4831080" cy="2521585"/>
          </a:xfrm>
        </p:grpSpPr>
        <p:pic>
          <p:nvPicPr>
            <p:cNvPr id="25" name="object 2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4724" y="1538988"/>
              <a:ext cx="4733679" cy="249213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569873" y="2848206"/>
              <a:ext cx="18415" cy="27305"/>
            </a:xfrm>
            <a:custGeom>
              <a:avLst/>
              <a:gdLst/>
              <a:ahLst/>
              <a:cxnLst/>
              <a:rect l="l" t="t" r="r" b="b"/>
              <a:pathLst>
                <a:path w="18414" h="27305">
                  <a:moveTo>
                    <a:pt x="14630" y="0"/>
                  </a:moveTo>
                  <a:lnTo>
                    <a:pt x="12816" y="521"/>
                  </a:lnTo>
                  <a:lnTo>
                    <a:pt x="0" y="23883"/>
                  </a:lnTo>
                  <a:lnTo>
                    <a:pt x="408" y="25306"/>
                  </a:lnTo>
                  <a:lnTo>
                    <a:pt x="521" y="25697"/>
                  </a:lnTo>
                  <a:lnTo>
                    <a:pt x="3410" y="27283"/>
                  </a:lnTo>
                  <a:lnTo>
                    <a:pt x="5224" y="26751"/>
                  </a:lnTo>
                  <a:lnTo>
                    <a:pt x="18040" y="3388"/>
                  </a:lnTo>
                  <a:lnTo>
                    <a:pt x="17519" y="1585"/>
                  </a:lnTo>
                  <a:lnTo>
                    <a:pt x="146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359" y="3199194"/>
              <a:ext cx="79875" cy="17145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32796" y="3343643"/>
              <a:ext cx="6350" cy="8890"/>
            </a:xfrm>
            <a:custGeom>
              <a:avLst/>
              <a:gdLst/>
              <a:ahLst/>
              <a:cxnLst/>
              <a:rect l="l" t="t" r="r" b="b"/>
              <a:pathLst>
                <a:path w="6350" h="8889">
                  <a:moveTo>
                    <a:pt x="4625" y="0"/>
                  </a:moveTo>
                  <a:lnTo>
                    <a:pt x="1333" y="0"/>
                  </a:lnTo>
                  <a:lnTo>
                    <a:pt x="0" y="1335"/>
                  </a:lnTo>
                  <a:lnTo>
                    <a:pt x="0" y="5539"/>
                  </a:lnTo>
                  <a:lnTo>
                    <a:pt x="0" y="7190"/>
                  </a:lnTo>
                  <a:lnTo>
                    <a:pt x="1333" y="8526"/>
                  </a:lnTo>
                  <a:lnTo>
                    <a:pt x="4625" y="8526"/>
                  </a:lnTo>
                  <a:lnTo>
                    <a:pt x="5959" y="7190"/>
                  </a:lnTo>
                  <a:lnTo>
                    <a:pt x="5959" y="1335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0986" y="3783927"/>
              <a:ext cx="1139349" cy="27631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97444" y="3796928"/>
              <a:ext cx="1289911" cy="255891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72856" y="3773435"/>
            <a:ext cx="388627" cy="22854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564362" y="3791277"/>
            <a:ext cx="521794" cy="189131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176254" y="3748465"/>
            <a:ext cx="1142812" cy="219680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2007" y="4238721"/>
            <a:ext cx="169890" cy="19030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3728" y="4175070"/>
            <a:ext cx="523722" cy="26403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402538" y="4281794"/>
            <a:ext cx="266275" cy="127199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54423" y="4510034"/>
            <a:ext cx="1424539" cy="202955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2111896" y="4517748"/>
            <a:ext cx="4365625" cy="500380"/>
            <a:chOff x="2111896" y="4517748"/>
            <a:chExt cx="4365625" cy="500380"/>
          </a:xfrm>
        </p:grpSpPr>
        <p:pic>
          <p:nvPicPr>
            <p:cNvPr id="39" name="object 3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111896" y="4801150"/>
              <a:ext cx="1314825" cy="21650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001492" y="4517748"/>
              <a:ext cx="3475586" cy="450318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106231" y="5159240"/>
            <a:ext cx="145415" cy="132080"/>
            <a:chOff x="106231" y="5159240"/>
            <a:chExt cx="145415" cy="132080"/>
          </a:xfrm>
        </p:grpSpPr>
        <p:pic>
          <p:nvPicPr>
            <p:cNvPr id="42" name="object 4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6231" y="5159240"/>
              <a:ext cx="94231" cy="132080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41199" y="5257085"/>
              <a:ext cx="10795" cy="15240"/>
            </a:xfrm>
            <a:custGeom>
              <a:avLst/>
              <a:gdLst/>
              <a:ahLst/>
              <a:cxnLst/>
              <a:rect l="l" t="t" r="r" b="b"/>
              <a:pathLst>
                <a:path w="10795" h="15239">
                  <a:moveTo>
                    <a:pt x="8817" y="0"/>
                  </a:moveTo>
                  <a:lnTo>
                    <a:pt x="5215" y="0"/>
                  </a:lnTo>
                  <a:lnTo>
                    <a:pt x="3919" y="1129"/>
                  </a:lnTo>
                  <a:lnTo>
                    <a:pt x="3246" y="7678"/>
                  </a:lnTo>
                  <a:lnTo>
                    <a:pt x="3173" y="8384"/>
                  </a:lnTo>
                  <a:lnTo>
                    <a:pt x="134" y="10948"/>
                  </a:lnTo>
                  <a:lnTo>
                    <a:pt x="0" y="12566"/>
                  </a:lnTo>
                  <a:lnTo>
                    <a:pt x="430" y="13076"/>
                  </a:lnTo>
                  <a:lnTo>
                    <a:pt x="1675" y="14456"/>
                  </a:lnTo>
                  <a:lnTo>
                    <a:pt x="2612" y="14738"/>
                  </a:lnTo>
                  <a:lnTo>
                    <a:pt x="8375" y="13076"/>
                  </a:lnTo>
                  <a:lnTo>
                    <a:pt x="9959" y="7678"/>
                  </a:lnTo>
                  <a:lnTo>
                    <a:pt x="10127" y="3247"/>
                  </a:lnTo>
                  <a:lnTo>
                    <a:pt x="10193" y="1477"/>
                  </a:lnTo>
                  <a:lnTo>
                    <a:pt x="88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177484" y="4159456"/>
            <a:ext cx="5791835" cy="2236470"/>
            <a:chOff x="177484" y="4159456"/>
            <a:chExt cx="5791835" cy="2236470"/>
          </a:xfrm>
        </p:grpSpPr>
        <p:sp>
          <p:nvSpPr>
            <p:cNvPr id="45" name="object 45" descr=""/>
            <p:cNvSpPr/>
            <p:nvPr/>
          </p:nvSpPr>
          <p:spPr>
            <a:xfrm>
              <a:off x="2113691" y="5544529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4" h="10160">
                  <a:moveTo>
                    <a:pt x="7809" y="0"/>
                  </a:moveTo>
                  <a:lnTo>
                    <a:pt x="6335" y="0"/>
                  </a:lnTo>
                  <a:lnTo>
                    <a:pt x="597" y="3361"/>
                  </a:lnTo>
                  <a:lnTo>
                    <a:pt x="0" y="5609"/>
                  </a:lnTo>
                  <a:lnTo>
                    <a:pt x="2052" y="9110"/>
                  </a:lnTo>
                  <a:lnTo>
                    <a:pt x="4301" y="9699"/>
                  </a:lnTo>
                  <a:lnTo>
                    <a:pt x="6451" y="8439"/>
                  </a:lnTo>
                  <a:lnTo>
                    <a:pt x="6810" y="8127"/>
                  </a:lnTo>
                  <a:lnTo>
                    <a:pt x="10307" y="3628"/>
                  </a:lnTo>
                  <a:lnTo>
                    <a:pt x="10068" y="1756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7484" y="4159456"/>
              <a:ext cx="5791484" cy="2236359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5111664" y="6032693"/>
              <a:ext cx="13335" cy="12065"/>
            </a:xfrm>
            <a:custGeom>
              <a:avLst/>
              <a:gdLst/>
              <a:ahLst/>
              <a:cxnLst/>
              <a:rect l="l" t="t" r="r" b="b"/>
              <a:pathLst>
                <a:path w="13335" h="12064">
                  <a:moveTo>
                    <a:pt x="3584" y="0"/>
                  </a:moveTo>
                  <a:lnTo>
                    <a:pt x="1737" y="369"/>
                  </a:lnTo>
                  <a:lnTo>
                    <a:pt x="0" y="2982"/>
                  </a:lnTo>
                  <a:lnTo>
                    <a:pt x="217" y="4648"/>
                  </a:lnTo>
                  <a:lnTo>
                    <a:pt x="8287" y="11723"/>
                  </a:lnTo>
                  <a:lnTo>
                    <a:pt x="10481" y="11579"/>
                  </a:lnTo>
                  <a:lnTo>
                    <a:pt x="13000" y="8703"/>
                  </a:lnTo>
                  <a:lnTo>
                    <a:pt x="12848" y="6516"/>
                  </a:lnTo>
                  <a:lnTo>
                    <a:pt x="11187" y="5065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555" y="231395"/>
            <a:ext cx="7202170" cy="6070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10">
                <a:latin typeface="Microsoft JhengHei UI"/>
                <a:cs typeface="Microsoft JhengHei UI"/>
              </a:rPr>
              <a:t>当 </a:t>
            </a:r>
            <a:r>
              <a:rPr dirty="0" sz="1000" spc="75">
                <a:latin typeface="Microsoft JhengHei UI"/>
                <a:cs typeface="Microsoft JhengHei UI"/>
              </a:rPr>
              <a:t>BPTT</a:t>
            </a:r>
            <a:r>
              <a:rPr dirty="0" sz="1000" spc="5">
                <a:latin typeface="Microsoft JhengHei UI"/>
                <a:cs typeface="Microsoft JhengHei UI"/>
              </a:rPr>
              <a:t> 算法在反向传播误差时</a:t>
            </a:r>
            <a:r>
              <a:rPr dirty="0" sz="1000">
                <a:latin typeface="Microsoft JhengHei UI"/>
                <a:cs typeface="Microsoft JhengHei UI"/>
              </a:rPr>
              <a:t>（</a:t>
            </a:r>
            <a:r>
              <a:rPr dirty="0" sz="1000" spc="114">
                <a:latin typeface="Microsoft JhengHei UI"/>
                <a:cs typeface="Microsoft JhengHei UI"/>
              </a:rPr>
              <a:t>从 </a:t>
            </a:r>
            <a:r>
              <a:rPr dirty="0" sz="1000">
                <a:latin typeface="Microsoft JhengHei UI"/>
                <a:cs typeface="Microsoft JhengHei UI"/>
              </a:rPr>
              <a:t>t</a:t>
            </a:r>
            <a:r>
              <a:rPr dirty="0" sz="1000" spc="70">
                <a:latin typeface="Microsoft JhengHei UI"/>
                <a:cs typeface="Microsoft JhengHei UI"/>
              </a:rPr>
              <a:t> 时刻传到 </a:t>
            </a:r>
            <a:r>
              <a:rPr dirty="0" sz="1000">
                <a:latin typeface="Microsoft JhengHei UI"/>
                <a:cs typeface="Microsoft JhengHei UI"/>
              </a:rPr>
              <a:t>t-1</a:t>
            </a:r>
            <a:r>
              <a:rPr dirty="0" sz="1000" spc="120">
                <a:latin typeface="Microsoft JhengHei UI"/>
                <a:cs typeface="Microsoft JhengHei UI"/>
              </a:rPr>
              <a:t> 时刻</a:t>
            </a:r>
            <a:r>
              <a:rPr dirty="0" sz="1000" spc="70">
                <a:latin typeface="Microsoft JhengHei UI"/>
                <a:cs typeface="Microsoft JhengHei UI"/>
              </a:rPr>
              <a:t>），</a:t>
            </a:r>
            <a:r>
              <a:rPr dirty="0" sz="1000" spc="55">
                <a:latin typeface="Microsoft JhengHei UI"/>
                <a:cs typeface="Microsoft JhengHei UI"/>
              </a:rPr>
              <a:t>误差信号会“抵达</a:t>
            </a:r>
            <a:r>
              <a:rPr dirty="0" sz="1000">
                <a:latin typeface="Microsoft JhengHei UI"/>
                <a:cs typeface="Microsoft JhengHei UI"/>
              </a:rPr>
              <a:t>”CEC（</a:t>
            </a:r>
            <a:r>
              <a:rPr dirty="0" sz="1000" spc="145">
                <a:latin typeface="Microsoft JhengHei UI"/>
                <a:cs typeface="Microsoft JhengHei UI"/>
              </a:rPr>
              <a:t>即 </a:t>
            </a:r>
            <a:r>
              <a:rPr dirty="0" sz="1000">
                <a:latin typeface="Microsoft JhengHei UI"/>
                <a:cs typeface="Microsoft JhengHei UI"/>
              </a:rPr>
              <a:t>c(t)）。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000" spc="50">
                <a:latin typeface="Microsoft JhengHei UI"/>
                <a:cs typeface="Microsoft JhengHei UI"/>
              </a:rPr>
              <a:t>因为 </a:t>
            </a:r>
            <a:r>
              <a:rPr dirty="0" sz="1000" spc="90">
                <a:latin typeface="Microsoft JhengHei UI"/>
                <a:cs typeface="Microsoft JhengHei UI"/>
              </a:rPr>
              <a:t>CEC</a:t>
            </a:r>
            <a:r>
              <a:rPr dirty="0" sz="1000" spc="35">
                <a:latin typeface="Microsoft JhengHei UI"/>
                <a:cs typeface="Microsoft JhengHei UI"/>
              </a:rPr>
              <a:t> 的数学本质是“加法”，它的导数</a:t>
            </a:r>
            <a:r>
              <a:rPr dirty="0" sz="1000" spc="50">
                <a:latin typeface="Microsoft JhengHei UI"/>
                <a:cs typeface="Microsoft JhengHei UI"/>
              </a:rPr>
              <a:t>（梯度）</a:t>
            </a:r>
            <a:r>
              <a:rPr dirty="0" sz="1000" spc="75">
                <a:latin typeface="Microsoft JhengHei UI"/>
                <a:cs typeface="Microsoft JhengHei UI"/>
              </a:rPr>
              <a:t>恒定为 </a:t>
            </a:r>
            <a:r>
              <a:rPr dirty="0" sz="1000" spc="-55">
                <a:latin typeface="Microsoft JhengHei UI"/>
                <a:cs typeface="Microsoft JhengHei UI"/>
              </a:rPr>
              <a:t>1</a:t>
            </a:r>
            <a:r>
              <a:rPr dirty="0" sz="1000" spc="-50">
                <a:latin typeface="Microsoft JhengHei UI"/>
                <a:cs typeface="Microsoft JhengHei UI"/>
              </a:rPr>
              <a:t>。</a:t>
            </a:r>
            <a:endParaRPr sz="10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000" spc="60">
                <a:latin typeface="Microsoft JhengHei UI"/>
                <a:cs typeface="Microsoft JhengHei UI"/>
              </a:rPr>
              <a:t>这使得误差信号可以“在 </a:t>
            </a:r>
            <a:r>
              <a:rPr dirty="0" sz="1000" spc="90">
                <a:latin typeface="Microsoft JhengHei UI"/>
                <a:cs typeface="Microsoft JhengHei UI"/>
              </a:rPr>
              <a:t>CEC</a:t>
            </a:r>
            <a:r>
              <a:rPr dirty="0" sz="1000" spc="55">
                <a:latin typeface="Microsoft JhengHei UI"/>
                <a:cs typeface="Microsoft JhengHei UI"/>
              </a:rPr>
              <a:t> 内部停留很⻓时间”，并“不衰减地” </a:t>
            </a:r>
            <a:r>
              <a:rPr dirty="0" sz="1000">
                <a:latin typeface="Microsoft JhengHei UI"/>
                <a:cs typeface="Microsoft JhengHei UI"/>
              </a:rPr>
              <a:t>("non-decaying") 被传播回⾮常遥远的过去。</a:t>
            </a:r>
            <a:endParaRPr sz="1000">
              <a:latin typeface="Microsoft JhengHei UI"/>
              <a:cs typeface="Microsoft JhengHei UI"/>
            </a:endParaRPr>
          </a:p>
          <a:p>
            <a:pPr marL="354330">
              <a:lnSpc>
                <a:spcPct val="100000"/>
              </a:lnSpc>
              <a:spcBef>
                <a:spcPts val="645"/>
              </a:spcBef>
            </a:pP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LSTM</a:t>
            </a:r>
            <a:r>
              <a:rPr dirty="0" sz="4000" spc="-140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b="1">
                <a:solidFill>
                  <a:srgbClr val="800000"/>
                </a:solidFill>
                <a:latin typeface="Tahoma"/>
                <a:cs typeface="Tahoma"/>
              </a:rPr>
              <a:t>Backward</a:t>
            </a:r>
            <a:r>
              <a:rPr dirty="0" sz="4000" spc="-135" b="1">
                <a:solidFill>
                  <a:srgbClr val="800000"/>
                </a:solidFill>
                <a:latin typeface="Tahoma"/>
                <a:cs typeface="Tahoma"/>
              </a:rPr>
              <a:t> </a:t>
            </a:r>
            <a:r>
              <a:rPr dirty="0" sz="4000" spc="-20" b="1">
                <a:solidFill>
                  <a:srgbClr val="800000"/>
                </a:solidFill>
                <a:latin typeface="Tahoma"/>
                <a:cs typeface="Tahoma"/>
              </a:rPr>
              <a:t>Pass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4000">
              <a:latin typeface="Tahoma"/>
              <a:cs typeface="Tahoma"/>
            </a:endParaRPr>
          </a:p>
          <a:p>
            <a:pPr marL="558800" marR="68580" indent="-342900">
              <a:lnSpc>
                <a:spcPct val="100000"/>
              </a:lnSpc>
              <a:buClr>
                <a:srgbClr val="3333CC"/>
              </a:buClr>
              <a:buSzPct val="59615"/>
              <a:buChar char="■"/>
              <a:tabLst>
                <a:tab pos="558800" algn="l"/>
              </a:tabLst>
            </a:pPr>
            <a:r>
              <a:rPr dirty="0" sz="2600">
                <a:latin typeface="Tahoma"/>
                <a:cs typeface="Tahoma"/>
              </a:rPr>
              <a:t>Errors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arriving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cell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outputs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are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propagated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CEC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3333CC"/>
              </a:buClr>
              <a:buFont typeface="Tahoma"/>
              <a:buChar char="■"/>
            </a:pPr>
            <a:endParaRPr sz="2600">
              <a:latin typeface="Tahoma"/>
              <a:cs typeface="Tahoma"/>
            </a:endParaRPr>
          </a:p>
          <a:p>
            <a:pPr marL="558800" indent="-342900">
              <a:lnSpc>
                <a:spcPct val="100000"/>
              </a:lnSpc>
              <a:buClr>
                <a:srgbClr val="3333CC"/>
              </a:buClr>
              <a:buSzPct val="59615"/>
              <a:buChar char="■"/>
              <a:tabLst>
                <a:tab pos="558800" algn="l"/>
              </a:tabLst>
            </a:pPr>
            <a:r>
              <a:rPr dirty="0" sz="2600">
                <a:latin typeface="Tahoma"/>
                <a:cs typeface="Tahoma"/>
              </a:rPr>
              <a:t>Errors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stay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long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time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inside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CEC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3333CC"/>
              </a:buClr>
              <a:buFont typeface="Tahoma"/>
              <a:buChar char="■"/>
            </a:pPr>
            <a:endParaRPr sz="2600">
              <a:latin typeface="Tahoma"/>
              <a:cs typeface="Tahoma"/>
            </a:endParaRPr>
          </a:p>
          <a:p>
            <a:pPr marL="5588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9615"/>
              <a:buChar char="■"/>
              <a:tabLst>
                <a:tab pos="558800" algn="l"/>
              </a:tabLst>
            </a:pPr>
            <a:r>
              <a:rPr dirty="0" sz="2600">
                <a:latin typeface="Tahoma"/>
                <a:cs typeface="Tahoma"/>
              </a:rPr>
              <a:t>This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ensures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non-</a:t>
            </a:r>
            <a:r>
              <a:rPr dirty="0" sz="2600">
                <a:latin typeface="Tahoma"/>
                <a:cs typeface="Tahoma"/>
              </a:rPr>
              <a:t>decaying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error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3333CC"/>
              </a:buClr>
              <a:buFont typeface="Tahoma"/>
              <a:buChar char="■"/>
            </a:pPr>
            <a:endParaRPr sz="2600">
              <a:latin typeface="Tahoma"/>
              <a:cs typeface="Tahoma"/>
            </a:endParaRPr>
          </a:p>
          <a:p>
            <a:pPr marL="558800" marR="391795" indent="-342900">
              <a:lnSpc>
                <a:spcPct val="100000"/>
              </a:lnSpc>
              <a:buClr>
                <a:srgbClr val="3333CC"/>
              </a:buClr>
              <a:buSzPct val="59615"/>
              <a:buChar char="■"/>
              <a:tabLst>
                <a:tab pos="558800" algn="l"/>
              </a:tabLst>
            </a:pP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bridge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time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lags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between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events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target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signals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6820" y="502691"/>
            <a:ext cx="573138" cy="21499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7300" y="511225"/>
            <a:ext cx="1236889" cy="2025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Advantages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20"/>
              <a:t>LSTM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6322" y="2068464"/>
            <a:ext cx="6969125" cy="398081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algn="ctr" marR="2059305">
              <a:lnSpc>
                <a:spcPct val="100000"/>
              </a:lnSpc>
              <a:spcBef>
                <a:spcPts val="384"/>
              </a:spcBef>
            </a:pPr>
            <a:r>
              <a:rPr dirty="0" sz="1400" spc="-5">
                <a:latin typeface="Microsoft JhengHei UI"/>
                <a:cs typeface="Microsoft JhengHei UI"/>
              </a:rPr>
              <a:t>不衰减的误差反向传播</a:t>
            </a:r>
            <a:endParaRPr sz="1400">
              <a:latin typeface="Microsoft JhengHei UI"/>
              <a:cs typeface="Microsoft JhengHei UI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 spc="-10">
                <a:latin typeface="Tahoma"/>
                <a:cs typeface="Tahoma"/>
              </a:rPr>
              <a:t>Non-</a:t>
            </a:r>
            <a:r>
              <a:rPr dirty="0" sz="2600">
                <a:latin typeface="Tahoma"/>
                <a:cs typeface="Tahoma"/>
              </a:rPr>
              <a:t>decaying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error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backpropagation.</a:t>
            </a:r>
            <a:endParaRPr sz="2600">
              <a:latin typeface="Tahoma"/>
              <a:cs typeface="Tahoma"/>
            </a:endParaRPr>
          </a:p>
          <a:p>
            <a:pPr algn="ctr" marR="2066925">
              <a:lnSpc>
                <a:spcPct val="100000"/>
              </a:lnSpc>
              <a:spcBef>
                <a:spcPts val="2125"/>
              </a:spcBef>
            </a:pPr>
            <a:r>
              <a:rPr dirty="0" sz="1400" spc="-10">
                <a:latin typeface="Microsoft JhengHei UI"/>
                <a:cs typeface="Microsoft JhengHei UI"/>
              </a:rPr>
              <a:t>⻓周期的记忆</a:t>
            </a:r>
            <a:endParaRPr sz="1400">
              <a:latin typeface="Microsoft JhengHei UI"/>
              <a:cs typeface="Microsoft JhengHei UI"/>
            </a:endParaRPr>
          </a:p>
          <a:p>
            <a:pPr marL="355600" marR="5080" indent="-342900">
              <a:lnSpc>
                <a:spcPct val="100000"/>
              </a:lnSpc>
              <a:spcBef>
                <a:spcPts val="55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long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time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lag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problems,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LSTM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handle </a:t>
            </a:r>
            <a:r>
              <a:rPr dirty="0" sz="2600">
                <a:latin typeface="Tahoma"/>
                <a:cs typeface="Tahoma"/>
              </a:rPr>
              <a:t>noise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continuous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values.</a:t>
            </a:r>
            <a:endParaRPr sz="2600">
              <a:latin typeface="Tahoma"/>
              <a:cs typeface="Tahoma"/>
            </a:endParaRPr>
          </a:p>
          <a:p>
            <a:pPr marL="974090">
              <a:lnSpc>
                <a:spcPct val="100000"/>
              </a:lnSpc>
              <a:spcBef>
                <a:spcPts val="2540"/>
              </a:spcBef>
            </a:pPr>
            <a:r>
              <a:rPr dirty="0" sz="1400">
                <a:latin typeface="Times New Roman"/>
                <a:cs typeface="Times New Roman"/>
              </a:rPr>
              <a:t>LSTM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Microsoft JhengHei UI"/>
                <a:cs typeface="Microsoft JhengHei UI"/>
              </a:rPr>
              <a:t>可以处理那些</a:t>
            </a:r>
            <a:r>
              <a:rPr dirty="0" sz="1400">
                <a:latin typeface="Times New Roman"/>
                <a:cs typeface="Times New Roman"/>
              </a:rPr>
              <a:t>“</a:t>
            </a:r>
            <a:r>
              <a:rPr dirty="0" sz="1400">
                <a:latin typeface="Microsoft JhengHei UI"/>
                <a:cs typeface="Microsoft JhengHei UI"/>
              </a:rPr>
              <a:t>过去</a:t>
            </a:r>
            <a:r>
              <a:rPr dirty="0" sz="1400">
                <a:latin typeface="Times New Roman"/>
                <a:cs typeface="Times New Roman"/>
              </a:rPr>
              <a:t>”</a:t>
            </a:r>
            <a:r>
              <a:rPr dirty="0" sz="1400">
                <a:latin typeface="Microsoft JhengHei UI"/>
                <a:cs typeface="Microsoft JhengHei UI"/>
              </a:rPr>
              <a:t>和</a:t>
            </a:r>
            <a:r>
              <a:rPr dirty="0" sz="1400">
                <a:latin typeface="Times New Roman"/>
                <a:cs typeface="Times New Roman"/>
              </a:rPr>
              <a:t>“</a:t>
            </a:r>
            <a:r>
              <a:rPr dirty="0" sz="1400">
                <a:latin typeface="Microsoft JhengHei UI"/>
                <a:cs typeface="Microsoft JhengHei UI"/>
              </a:rPr>
              <a:t>现在</a:t>
            </a:r>
            <a:r>
              <a:rPr dirty="0" sz="1400">
                <a:latin typeface="Times New Roman"/>
                <a:cs typeface="Times New Roman"/>
              </a:rPr>
              <a:t>”</a:t>
            </a:r>
            <a:r>
              <a:rPr dirty="0" sz="1400" spc="-10">
                <a:latin typeface="Microsoft JhengHei UI"/>
                <a:cs typeface="Microsoft JhengHei UI"/>
              </a:rPr>
              <a:t>相隔很远的问题。</a:t>
            </a:r>
            <a:endParaRPr sz="1400">
              <a:latin typeface="Microsoft JhengHei UI"/>
              <a:cs typeface="Microsoft JhengHei UI"/>
            </a:endParaRPr>
          </a:p>
          <a:p>
            <a:pPr marL="354965" indent="-342265">
              <a:lnSpc>
                <a:spcPct val="100000"/>
              </a:lnSpc>
              <a:spcBef>
                <a:spcPts val="140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No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parameter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fine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tuning.</a:t>
            </a:r>
            <a:endParaRPr sz="2600">
              <a:latin typeface="Tahoma"/>
              <a:cs typeface="Tahoma"/>
            </a:endParaRPr>
          </a:p>
          <a:p>
            <a:pPr marL="1267460">
              <a:lnSpc>
                <a:spcPct val="100000"/>
              </a:lnSpc>
              <a:spcBef>
                <a:spcPts val="1770"/>
              </a:spcBef>
            </a:pPr>
            <a:r>
              <a:rPr dirty="0" sz="1400" spc="-10">
                <a:latin typeface="Microsoft JhengHei UI"/>
                <a:cs typeface="Microsoft JhengHei UI"/>
              </a:rPr>
              <a:t>⽆需参数微调</a:t>
            </a:r>
            <a:endParaRPr sz="1400">
              <a:latin typeface="Microsoft JhengHei UI"/>
              <a:cs typeface="Microsoft JhengHei UI"/>
            </a:endParaRPr>
          </a:p>
          <a:p>
            <a:pPr marL="354965" indent="-342265">
              <a:lnSpc>
                <a:spcPct val="100000"/>
              </a:lnSpc>
              <a:spcBef>
                <a:spcPts val="910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Memory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long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time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periods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1005522"/>
            <a:ext cx="50685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Limitations</a:t>
            </a:r>
            <a:r>
              <a:rPr dirty="0" spc="-13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0"/>
              <a:t>LSTM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420" y="2404872"/>
            <a:ext cx="3581777" cy="3048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78331" y="1839204"/>
            <a:ext cx="7372350" cy="454977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527175">
              <a:lnSpc>
                <a:spcPct val="100000"/>
              </a:lnSpc>
              <a:spcBef>
                <a:spcPts val="1000"/>
              </a:spcBef>
            </a:pPr>
            <a:r>
              <a:rPr dirty="0" sz="1400" spc="40">
                <a:latin typeface="Microsoft JhengHei UI"/>
                <a:cs typeface="Microsoft JhengHei UI"/>
              </a:rPr>
              <a:t>细胞状态 </a:t>
            </a:r>
            <a:r>
              <a:rPr dirty="0" sz="1400">
                <a:latin typeface="Microsoft JhengHei UI"/>
                <a:cs typeface="Microsoft JhengHei UI"/>
              </a:rPr>
              <a:t>c(t)</a:t>
            </a:r>
            <a:r>
              <a:rPr dirty="0" sz="1400" spc="55">
                <a:latin typeface="Microsoft JhengHei UI"/>
                <a:cs typeface="Microsoft JhengHei UI"/>
              </a:rPr>
              <a:t> 倾向于“线性增⻓”</a:t>
            </a:r>
            <a:endParaRPr sz="1400">
              <a:latin typeface="Microsoft JhengHei UI"/>
              <a:cs typeface="Microsoft JhengHei UI"/>
            </a:endParaRPr>
          </a:p>
          <a:p>
            <a:pPr marL="4558030">
              <a:lnSpc>
                <a:spcPct val="100000"/>
              </a:lnSpc>
              <a:spcBef>
                <a:spcPts val="1315"/>
              </a:spcBef>
            </a:pPr>
            <a:r>
              <a:rPr dirty="0" sz="2050">
                <a:latin typeface="Tahoma"/>
                <a:cs typeface="Tahoma"/>
              </a:rPr>
              <a:t>grows</a:t>
            </a:r>
            <a:r>
              <a:rPr dirty="0" sz="2050" spc="15">
                <a:latin typeface="Tahoma"/>
                <a:cs typeface="Tahoma"/>
              </a:rPr>
              <a:t> </a:t>
            </a:r>
            <a:r>
              <a:rPr dirty="0" sz="2050" spc="-10">
                <a:latin typeface="Tahoma"/>
                <a:cs typeface="Tahoma"/>
              </a:rPr>
              <a:t>linearly</a:t>
            </a:r>
            <a:endParaRPr sz="2050">
              <a:latin typeface="Tahoma"/>
              <a:cs typeface="Tahoma"/>
            </a:endParaRPr>
          </a:p>
          <a:p>
            <a:pPr marL="355600" marR="401955" indent="-342900">
              <a:lnSpc>
                <a:spcPct val="100000"/>
              </a:lnSpc>
              <a:spcBef>
                <a:spcPts val="219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LSTM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allows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information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stored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across </a:t>
            </a:r>
            <a:r>
              <a:rPr dirty="0" sz="2400">
                <a:latin typeface="Tahoma"/>
                <a:cs typeface="Tahoma"/>
              </a:rPr>
              <a:t>arbitrary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lags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error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signals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carried </a:t>
            </a:r>
            <a:r>
              <a:rPr dirty="0" sz="2400">
                <a:latin typeface="Tahoma"/>
                <a:cs typeface="Tahoma"/>
              </a:rPr>
              <a:t>far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back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time.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potential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strength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contribute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weakness: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cells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c(t)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often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tend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grow </a:t>
            </a:r>
            <a:r>
              <a:rPr dirty="0" sz="2400">
                <a:latin typeface="Tahoma"/>
                <a:cs typeface="Tahoma"/>
              </a:rPr>
              <a:t>linearly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during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presentation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series.</a:t>
            </a:r>
            <a:endParaRPr sz="2400">
              <a:latin typeface="Tahoma"/>
              <a:cs typeface="Tahoma"/>
            </a:endParaRPr>
          </a:p>
          <a:p>
            <a:pPr marL="355600" marR="10922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present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continuous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stream,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cell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grow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unbounded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fashion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causing </a:t>
            </a:r>
            <a:r>
              <a:rPr dirty="0" sz="2400">
                <a:latin typeface="Tahoma"/>
                <a:cs typeface="Tahoma"/>
              </a:rPr>
              <a:t>saturation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squashing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h(c(t)).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23072" y="2518"/>
            <a:ext cx="3087370" cy="1034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200"/>
              </a:lnSpc>
              <a:spcBef>
                <a:spcPts val="95"/>
              </a:spcBef>
            </a:pPr>
            <a:r>
              <a:rPr dirty="0" sz="1400">
                <a:latin typeface="Microsoft JhengHei UI"/>
                <a:cs typeface="Microsoft JhengHei UI"/>
              </a:rPr>
              <a:t>如果你持续向⼀个序列输⼊信息（</a:t>
            </a:r>
            <a:r>
              <a:rPr dirty="0" sz="1400" spc="-25">
                <a:latin typeface="Microsoft JhengHei UI"/>
                <a:cs typeface="Microsoft JhengHei UI"/>
              </a:rPr>
              <a:t>⽐如</a:t>
            </a:r>
            <a:r>
              <a:rPr dirty="0" sz="1400">
                <a:latin typeface="Microsoft JhengHei UI"/>
                <a:cs typeface="Microsoft JhengHei UI"/>
              </a:rPr>
              <a:t>读⼀篇很⻓的⼩说），c(t)</a:t>
            </a:r>
            <a:r>
              <a:rPr dirty="0" sz="1400" spc="-10">
                <a:latin typeface="Microsoft JhengHei UI"/>
                <a:cs typeface="Microsoft JhengHei UI"/>
              </a:rPr>
              <a:t> 的值会不断</a:t>
            </a:r>
            <a:r>
              <a:rPr dirty="0" sz="1400" spc="70">
                <a:latin typeface="Microsoft JhengHei UI"/>
                <a:cs typeface="Microsoft JhengHei UI"/>
              </a:rPr>
              <a:t>地“累加”，导致 </a:t>
            </a:r>
            <a:r>
              <a:rPr dirty="0" sz="1400">
                <a:latin typeface="Microsoft JhengHei UI"/>
                <a:cs typeface="Microsoft JhengHei UI"/>
              </a:rPr>
              <a:t>c(t)</a:t>
            </a:r>
            <a:r>
              <a:rPr dirty="0" sz="1400" spc="75">
                <a:latin typeface="Microsoft JhengHei UI"/>
                <a:cs typeface="Microsoft JhengHei UI"/>
              </a:rPr>
              <a:t> 变得“⽆限⼤”</a:t>
            </a:r>
            <a:r>
              <a:rPr dirty="0" sz="1400" spc="-50">
                <a:latin typeface="Microsoft JhengHei UI"/>
                <a:cs typeface="Microsoft JhengHei UI"/>
              </a:rPr>
              <a:t> </a:t>
            </a:r>
            <a:r>
              <a:rPr dirty="0" sz="1400" spc="-30">
                <a:latin typeface="Microsoft JhengHei UI"/>
                <a:cs typeface="Microsoft JhengHei UI"/>
              </a:rPr>
              <a:t>("unbounded</a:t>
            </a:r>
            <a:r>
              <a:rPr dirty="0" sz="1400" spc="10">
                <a:latin typeface="Microsoft JhengHei UI"/>
                <a:cs typeface="Microsoft JhengHei UI"/>
              </a:rPr>
              <a:t> </a:t>
            </a:r>
            <a:r>
              <a:rPr dirty="0" sz="1400">
                <a:latin typeface="Microsoft JhengHei UI"/>
                <a:cs typeface="Microsoft JhengHei UI"/>
              </a:rPr>
              <a:t>fashion")</a:t>
            </a:r>
            <a:r>
              <a:rPr dirty="0" sz="1400" spc="-50">
                <a:latin typeface="Microsoft JhengHei UI"/>
                <a:cs typeface="Microsoft JhengHei UI"/>
              </a:rPr>
              <a:t>。</a:t>
            </a:r>
            <a:endParaRPr sz="1400">
              <a:latin typeface="Microsoft JhengHei UI"/>
              <a:cs typeface="Microsoft JhengHei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04197" y="1126470"/>
            <a:ext cx="2186940" cy="530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200"/>
              </a:lnSpc>
              <a:spcBef>
                <a:spcPts val="95"/>
              </a:spcBef>
            </a:pPr>
            <a:r>
              <a:rPr dirty="0" sz="1400" spc="-5">
                <a:latin typeface="Microsoft JhengHei UI"/>
                <a:cs typeface="Microsoft JhengHei UI"/>
              </a:rPr>
              <a:t>⽆限⼤会导致输出端的压缩</a:t>
            </a:r>
            <a:r>
              <a:rPr dirty="0" sz="1400" spc="55">
                <a:latin typeface="Microsoft JhengHei UI"/>
                <a:cs typeface="Microsoft JhengHei UI"/>
              </a:rPr>
              <a:t>函数 </a:t>
            </a:r>
            <a:r>
              <a:rPr dirty="0" sz="1400">
                <a:latin typeface="Microsoft JhengHei UI"/>
                <a:cs typeface="Microsoft JhengHei UI"/>
              </a:rPr>
              <a:t>h(c(t))</a:t>
            </a:r>
            <a:r>
              <a:rPr dirty="0" sz="1400" spc="120">
                <a:latin typeface="Microsoft JhengHei UI"/>
                <a:cs typeface="Microsoft JhengHei UI"/>
              </a:rPr>
              <a:t> “饱和”</a:t>
            </a:r>
            <a:endParaRPr sz="1400">
              <a:latin typeface="Microsoft JhengHei UI"/>
              <a:cs typeface="Microsoft JhengHei U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3233" y="1797875"/>
            <a:ext cx="776619" cy="27936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6636664" y="2067763"/>
            <a:ext cx="49530" cy="57150"/>
          </a:xfrm>
          <a:custGeom>
            <a:avLst/>
            <a:gdLst/>
            <a:ahLst/>
            <a:cxnLst/>
            <a:rect l="l" t="t" r="r" b="b"/>
            <a:pathLst>
              <a:path w="49529" h="57150">
                <a:moveTo>
                  <a:pt x="44030" y="0"/>
                </a:moveTo>
                <a:lnTo>
                  <a:pt x="41961" y="1155"/>
                </a:lnTo>
                <a:lnTo>
                  <a:pt x="41376" y="2997"/>
                </a:lnTo>
                <a:lnTo>
                  <a:pt x="38990" y="8931"/>
                </a:lnTo>
                <a:lnTo>
                  <a:pt x="15370" y="39139"/>
                </a:lnTo>
                <a:lnTo>
                  <a:pt x="114" y="53073"/>
                </a:lnTo>
                <a:lnTo>
                  <a:pt x="0" y="54660"/>
                </a:lnTo>
                <a:lnTo>
                  <a:pt x="1777" y="56718"/>
                </a:lnTo>
                <a:lnTo>
                  <a:pt x="3276" y="56870"/>
                </a:lnTo>
                <a:lnTo>
                  <a:pt x="4330" y="56070"/>
                </a:lnTo>
                <a:lnTo>
                  <a:pt x="33781" y="29489"/>
                </a:lnTo>
                <a:lnTo>
                  <a:pt x="49060" y="3238"/>
                </a:lnTo>
                <a:lnTo>
                  <a:pt x="47942" y="1155"/>
                </a:lnTo>
                <a:lnTo>
                  <a:pt x="440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0526" y="1894319"/>
            <a:ext cx="355322" cy="24257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47928" y="1816735"/>
            <a:ext cx="1706854" cy="106133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43265" y="3046476"/>
            <a:ext cx="101319" cy="176529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8429002" y="3200031"/>
            <a:ext cx="17145" cy="26670"/>
          </a:xfrm>
          <a:custGeom>
            <a:avLst/>
            <a:gdLst/>
            <a:ahLst/>
            <a:cxnLst/>
            <a:rect l="l" t="t" r="r" b="b"/>
            <a:pathLst>
              <a:path w="17145" h="26669">
                <a:moveTo>
                  <a:pt x="7391" y="0"/>
                </a:moveTo>
                <a:lnTo>
                  <a:pt x="4148" y="0"/>
                </a:lnTo>
                <a:lnTo>
                  <a:pt x="1612" y="2057"/>
                </a:lnTo>
                <a:lnTo>
                  <a:pt x="342" y="9690"/>
                </a:lnTo>
                <a:lnTo>
                  <a:pt x="20" y="14516"/>
                </a:lnTo>
                <a:lnTo>
                  <a:pt x="0" y="14820"/>
                </a:lnTo>
                <a:lnTo>
                  <a:pt x="3873" y="23583"/>
                </a:lnTo>
                <a:lnTo>
                  <a:pt x="8585" y="26479"/>
                </a:lnTo>
                <a:lnTo>
                  <a:pt x="15621" y="23749"/>
                </a:lnTo>
                <a:lnTo>
                  <a:pt x="16763" y="21158"/>
                </a:lnTo>
                <a:lnTo>
                  <a:pt x="15494" y="17868"/>
                </a:lnTo>
                <a:lnTo>
                  <a:pt x="14770" y="17056"/>
                </a:lnTo>
                <a:lnTo>
                  <a:pt x="13855" y="16548"/>
                </a:lnTo>
                <a:lnTo>
                  <a:pt x="13436" y="15621"/>
                </a:lnTo>
                <a:lnTo>
                  <a:pt x="13360" y="14516"/>
                </a:lnTo>
                <a:lnTo>
                  <a:pt x="13068" y="11137"/>
                </a:lnTo>
                <a:lnTo>
                  <a:pt x="13119" y="8737"/>
                </a:lnTo>
                <a:lnTo>
                  <a:pt x="13373" y="2984"/>
                </a:lnTo>
                <a:lnTo>
                  <a:pt x="10756" y="152"/>
                </a:lnTo>
                <a:lnTo>
                  <a:pt x="73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7463708" y="2948304"/>
            <a:ext cx="1139190" cy="451484"/>
            <a:chOff x="7463708" y="2948304"/>
            <a:chExt cx="1139190" cy="451484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3708" y="2948304"/>
              <a:ext cx="686277" cy="31485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5024" y="3294418"/>
              <a:ext cx="1117879" cy="105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1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0340" y="2368054"/>
            <a:ext cx="6991350" cy="24142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RNNs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-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self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connected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endParaRPr sz="2800">
              <a:latin typeface="Tahoma"/>
              <a:cs typeface="Tahoma"/>
            </a:endParaRPr>
          </a:p>
          <a:p>
            <a:pPr marL="355600" marR="68580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Vanishing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gradients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long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memory problems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LSTM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-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solves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vanishing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gradients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long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limitation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problem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5018087"/>
            <a:ext cx="1087755" cy="542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solidFill>
                  <a:srgbClr val="000044"/>
                </a:solidFill>
                <a:latin typeface="Tahoma"/>
                <a:cs typeface="Tahoma"/>
              </a:rPr>
              <a:t>VISIT </a:t>
            </a:r>
            <a:r>
              <a:rPr dirty="0" sz="155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155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1290"/>
              </a:spcBef>
            </a:pPr>
            <a:r>
              <a:rPr dirty="0" u="sng" sz="7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  <a:hlinkClick r:id="rId4"/>
              </a:rPr>
              <a:t>WWW.XJTLU.EDU.CN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183" y="4570476"/>
            <a:ext cx="986028" cy="98602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286385" rIns="0" bIns="0" rtlCol="0" vert="horz">
            <a:spAutoFit/>
          </a:bodyPr>
          <a:lstStyle/>
          <a:p>
            <a:pPr marL="1145540">
              <a:lnSpc>
                <a:spcPct val="100000"/>
              </a:lnSpc>
              <a:spcBef>
                <a:spcPts val="2255"/>
              </a:spcBef>
            </a:pPr>
            <a:r>
              <a:rPr dirty="0" sz="3900" spc="-480">
                <a:solidFill>
                  <a:srgbClr val="FFFFFF"/>
                </a:solidFill>
              </a:rPr>
              <a:t>THANK</a:t>
            </a:r>
            <a:r>
              <a:rPr dirty="0" sz="3900" spc="-260">
                <a:solidFill>
                  <a:srgbClr val="FFFFFF"/>
                </a:solidFill>
              </a:rPr>
              <a:t> </a:t>
            </a:r>
            <a:r>
              <a:rPr dirty="0" sz="3900" spc="-555">
                <a:solidFill>
                  <a:srgbClr val="FFFFFF"/>
                </a:solidFill>
              </a:rPr>
              <a:t>YOU</a:t>
            </a:r>
            <a:endParaRPr sz="3900"/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5011737"/>
            <a:ext cx="1205865" cy="548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solidFill>
                  <a:srgbClr val="000044"/>
                </a:solidFill>
                <a:latin typeface="Tahoma"/>
                <a:cs typeface="Tahoma"/>
              </a:rPr>
              <a:t>FOLLOW</a:t>
            </a:r>
            <a:r>
              <a:rPr dirty="0" sz="1550" spc="2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155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1340"/>
              </a:spcBef>
            </a:pPr>
            <a:r>
              <a:rPr dirty="0" sz="750" spc="50" b="1">
                <a:solidFill>
                  <a:srgbClr val="BA55A0"/>
                </a:solidFill>
                <a:latin typeface="Tahoma"/>
                <a:cs typeface="Tahoma"/>
              </a:rPr>
              <a:t>@XJTLU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2025-12-08T08:21:38Z</dcterms:created>
  <dcterms:modified xsi:type="dcterms:W3CDTF">2025-12-08T08:21:38Z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iLovePDF</vt:lpwstr>
  </property>
</Properties>
</file>